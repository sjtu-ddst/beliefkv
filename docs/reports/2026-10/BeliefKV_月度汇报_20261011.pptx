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FE5"/>
    <a:srgbClr val="FFA6B5"/>
    <a:srgbClr val="CC75E1"/>
    <a:srgbClr val="0169A0"/>
    <a:srgbClr val="162A46"/>
    <a:srgbClr val="88C1EC"/>
    <a:srgbClr val="0553A0"/>
    <a:srgbClr val="006DDA"/>
    <a:srgbClr val="004B95"/>
    <a:srgbClr val="608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5238" autoAdjust="0"/>
  </p:normalViewPr>
  <p:slideViewPr>
    <p:cSldViewPr>
      <p:cViewPr varScale="1">
        <p:scale>
          <a:sx n="95" d="100"/>
          <a:sy n="95" d="100"/>
        </p:scale>
        <p:origin x="104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2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36" d="100"/>
        <a:sy n="13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94" y="10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67A72C1-0D2A-41F5-8ED0-3D3DC9E977B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1883E6-6D95-453C-9681-87383D52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64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E8C108-AB7E-41F9-BE29-EE918610279B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455AFA1-5136-4BEA-AE07-EA9BE3943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1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建议用时：40 秒。</a:t>
            </a:r>
          </a:p>
          <a:p/>
          <a:p>
            <a:r>
              <a:t>BeliefKV 面向动态多 Agent 工作流的 KV 管理与调度。父任务创建子任务、调用工具，等待期间 KV 可以迁到 Host，恢复前再搬回 GPU。</a:t>
            </a:r>
          </a:p>
          <a:p>
            <a:r>
              <a:t>我们根据收尾通知、正文与执行进度提供完成提示；运行时结合容量、缓存副本与准入机会，提前备份、预取并安排执行，减少等待与重复搬运，提高吞吐、缩短完成时间。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秒。汇报周期为 2026 年 8 月 15 日至 10 月 11 日。</a:t>
            </a:r>
          </a:p>
          <a:p/>
          <a:p>
            <a:r>
              <a:t>八月下半月建立因果图、原生子任务与父任务上下文连续性。九月上中旬贯通预测迁移、传输确认与生命周期。</a:t>
            </a:r>
          </a:p>
          <a:p>
            <a:r>
              <a:t>九月下旬适配 FULL / Mamba，完成训练与项目隔离校准；随后转向通知、语义与 decode 进度，分离剩余工作和排队等待。</a:t>
            </a:r>
          </a:p>
          <a:p>
            <a:r>
              <a:t>十月推进原生对照与两波到达，优化增量备份、按页恢复、准入与容量交接。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建议用时：25 秒。</a:t>
            </a:r>
          </a:p>
          <a:p/>
          <a:p>
            <a:r>
              <a:t>这张图展示已经贯通的系统架构。工作流事件维护动态依赖，通知、正文和服务进度提供完成预测。运行时结合有效副本、容量与准入机会决定迁移；SGLang 负责物理缓存与实际 GPU 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秒。</a:t>
            </a:r>
          </a:p>
          <a:p/>
          <a:p>
            <a:r>
              <a:t>左图展示预测与调度协同：用实时完成信号滚动更新，将剩余工作、执行机会和物理恢复依赖分开处理。</a:t>
            </a:r>
          </a:p>
          <a:p>
            <a:r>
              <a:t>右图展示增量迁移与容量交接：FULL 只备份缺失部分，Mamba 恢复必要状态；已返回 child 的私有页及时回收，让 parent 恢复与准入衔接。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建议用时：35 秒。</a:t>
            </a:r>
          </a:p>
          <a:p/>
          <a:p>
            <a:r>
              <a:t>下一步提高实际可复用的预取覆盖；联动回收、驻留与准入，降低重复加载和控制成本；以同版本原生 SGLang 对照和多轮平均，报告吞吐、配对 JCT 与重算。</a:t>
            </a:r>
          </a:p>
          <a:p>
            <a:r>
              <a:t>目标是得到稳定、可归因的端到端收益，形成可写入论文的性能证据。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2590800"/>
          </a:xfrm>
          <a:prstGeom prst="rect">
            <a:avLst/>
          </a:prstGeom>
          <a:solidFill>
            <a:srgbClr val="162A46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400" y="304800"/>
            <a:ext cx="11473200" cy="1981200"/>
          </a:xfrm>
        </p:spPr>
        <p:txBody>
          <a:bodyPr anchor="ctr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56143"/>
            <a:ext cx="8534400" cy="2006781"/>
          </a:xfrm>
        </p:spPr>
        <p:txBody>
          <a:bodyPr>
            <a:normAutofit/>
          </a:bodyPr>
          <a:lstStyle>
            <a:lvl1pPr marL="0" indent="0" algn="ctr">
              <a:buNone/>
              <a:defRPr sz="3000" baseline="0">
                <a:solidFill>
                  <a:srgbClr val="6365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3086100" y="5256000"/>
            <a:ext cx="6019800" cy="1295400"/>
          </a:xfrm>
        </p:spPr>
        <p:txBody>
          <a:bodyPr/>
          <a:lstStyle>
            <a:lvl1pPr marL="0" indent="0" algn="ctr">
              <a:buFontTx/>
              <a:buNone/>
              <a:defRPr kumimoji="0" lang="en-US" sz="2000" b="0" i="1" u="none" strike="noStrike" kern="1200" cap="none" spc="0" normalizeH="0" baseline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68A4E8E0-956F-4B42-BCA0-C4A1FEED84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左字右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9DE355F3-1C7E-453F-8996-4E9C0F0CB8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全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1080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FB50A6-5F13-47F8-8C74-32578AE90B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11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8072A93C-11D2-4FD8-B68A-79E01FF862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609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左字右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7977CF-E535-4706-A621-AB9404772C1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20000" y="1620000"/>
            <a:ext cx="5040000" cy="432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0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B781631F-7FA3-48B1-B02A-BCE65DC72F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473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全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pic>
        <p:nvPicPr>
          <p:cNvPr id="9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C1294E90-04DC-4A40-BC0F-CFC3C9A8C0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125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Logo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D1DFBCB-D8A9-4C0E-856D-452D5BDC22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99656" y="6480663"/>
            <a:ext cx="9144000" cy="3327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3830A5-6239-4FBD-821C-0EBE607A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ctr">
              <a:defRPr sz="4400" b="1" i="0" baseline="0">
                <a:solidFill>
                  <a:srgbClr val="162A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6" name="Picture 4" descr="https://camo.githubusercontent.com/d989358a45a880921c01cfe2a48e8180e5541cdf/68747470733a2f2f7261772e6769746875622e636f6d2f7765696a69616e77656e2f534a54552d6c6f676f2d62616e6e65722f6d61737465722f534a54555f42414e4e45522f504e472f736a747562616e6e6572626c75652e706e67">
            <a:extLst>
              <a:ext uri="{FF2B5EF4-FFF2-40B4-BE49-F238E27FC236}">
                <a16:creationId xmlns:a16="http://schemas.microsoft.com/office/drawing/2014/main" id="{1D6838B1-EEC9-4255-AAD7-AE50C50027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" y="6055200"/>
            <a:ext cx="2880320" cy="75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22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2590800"/>
          </a:xfrm>
          <a:prstGeom prst="rect">
            <a:avLst/>
          </a:prstGeom>
          <a:solidFill>
            <a:srgbClr val="162A46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400" y="304800"/>
            <a:ext cx="11473200" cy="1981200"/>
          </a:xfrm>
        </p:spPr>
        <p:txBody>
          <a:bodyPr anchor="ctr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56143"/>
            <a:ext cx="8534400" cy="2006781"/>
          </a:xfrm>
        </p:spPr>
        <p:txBody>
          <a:bodyPr>
            <a:normAutofit/>
          </a:bodyPr>
          <a:lstStyle>
            <a:lvl1pPr marL="0" indent="0" algn="ctr">
              <a:buNone/>
              <a:defRPr sz="3000" baseline="0">
                <a:solidFill>
                  <a:srgbClr val="6365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3086100" y="5256000"/>
            <a:ext cx="6019800" cy="1295400"/>
          </a:xfrm>
        </p:spPr>
        <p:txBody>
          <a:bodyPr/>
          <a:lstStyle>
            <a:lvl1pPr marL="0" indent="0" algn="ctr">
              <a:buFontTx/>
              <a:buNone/>
              <a:defRPr kumimoji="0" lang="en-US" sz="2000" b="0" i="1" u="none" strike="noStrike" kern="1200" cap="none" spc="0" normalizeH="0" baseline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8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左字右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A274AD-187A-4D93-94F5-764C8215407F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118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全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71D2520-8403-4383-825D-09D4403793D8}"/>
              </a:ext>
            </a:extLst>
          </p:cNvPr>
          <p:cNvSpPr/>
          <p:nvPr userDrawn="1"/>
        </p:nvSpPr>
        <p:spPr>
          <a:xfrm>
            <a:off x="11568608" y="6453336"/>
            <a:ext cx="623392" cy="40466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B8AD1B3-C348-496E-B394-095458C50AB0}"/>
              </a:ext>
            </a:extLst>
          </p:cNvPr>
          <p:cNvSpPr txBox="1"/>
          <p:nvPr userDrawn="1"/>
        </p:nvSpPr>
        <p:spPr>
          <a:xfrm>
            <a:off x="11582424" y="6400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F923FAA-E6BC-4A3B-B771-C476DAE0801B}" type="slidenum">
              <a:rPr lang="en-US" sz="1800" b="0" i="0" smtClean="0">
                <a:solidFill>
                  <a:schemeClr val="tx1"/>
                </a:solidFill>
                <a:latin typeface="Myriad Pro" charset="0"/>
                <a:ea typeface="Myriad Pro" charset="0"/>
                <a:cs typeface="Myriad Pro" charset="0"/>
              </a:rPr>
              <a:pPr/>
              <a:t>‹#›</a:t>
            </a:fld>
            <a:endParaRPr lang="en-US" sz="1800" b="0" i="0" dirty="0">
              <a:solidFill>
                <a:schemeClr val="tx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D8ABD7-7FE0-40F3-AB63-F772B0B8AA7B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1080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8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左字右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 Semibold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7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31B36C-363D-477F-B81C-E3BCBAD8A703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7977CF-E535-4706-A621-AB9404772C1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20000" y="1620000"/>
            <a:ext cx="5040000" cy="5040000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1pPr>
            <a:lvl2pPr>
              <a:defRPr sz="2400" baseline="0">
                <a:solidFill>
                  <a:srgbClr val="0169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2pPr>
            <a:lvl3pPr>
              <a:defRPr sz="20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3pPr>
            <a:lvl4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4pPr>
            <a:lvl5pPr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  <a:cs typeface="Myriad Pro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34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全图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353274"/>
          </a:xfrm>
          <a:prstGeom prst="rect">
            <a:avLst/>
          </a:prstGeom>
          <a:solidFill>
            <a:schemeClr val="tx1"/>
          </a:solidFill>
          <a:ln w="19050">
            <a:noFill/>
          </a:ln>
          <a:effectLst>
            <a:outerShdw blurRad="50800" dist="508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l">
              <a:defRPr sz="4400" b="1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344D62-4B6F-42F9-AA4D-8B3C4ACF68A5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9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Logo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F201BF-3700-48EC-805B-8CA03140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"/>
            <a:ext cx="11113200" cy="1353112"/>
          </a:xfrm>
        </p:spPr>
        <p:txBody>
          <a:bodyPr anchor="ctr">
            <a:noAutofit/>
          </a:bodyPr>
          <a:lstStyle>
            <a:lvl1pPr algn="ctr">
              <a:defRPr sz="4400" b="1" i="0" baseline="0">
                <a:solidFill>
                  <a:srgbClr val="162A4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DB3E73-A622-4F77-9D65-DD58B5389B43}"/>
              </a:ext>
            </a:extLst>
          </p:cNvPr>
          <p:cNvSpPr/>
          <p:nvPr userDrawn="1"/>
        </p:nvSpPr>
        <p:spPr>
          <a:xfrm>
            <a:off x="9336360" y="6124903"/>
            <a:ext cx="2736304" cy="720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343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82424" y="64008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F923FAA-E6BC-4A3B-B771-C476DAE0801B}" type="slidenum">
              <a:rPr lang="en-US" sz="1800" b="0" i="0" smtClean="0">
                <a:solidFill>
                  <a:schemeClr val="tx1"/>
                </a:solidFill>
                <a:latin typeface="Myriad Pro" charset="0"/>
                <a:ea typeface="Myriad Pro" charset="0"/>
                <a:cs typeface="Myriad Pro" charset="0"/>
              </a:rPr>
              <a:pPr/>
              <a:t>‹#›</a:t>
            </a:fld>
            <a:endParaRPr lang="en-US" sz="1800" b="0" i="0" dirty="0">
              <a:solidFill>
                <a:schemeClr val="tx1"/>
              </a:solidFill>
              <a:latin typeface="Myriad Pro" charset="0"/>
              <a:ea typeface="Myriad Pro" charset="0"/>
              <a:cs typeface="Myriad Pro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70" r:id="rId3"/>
    <p:sldLayoutId id="2147483671" r:id="rId4"/>
    <p:sldLayoutId id="2147483672" r:id="rId5"/>
    <p:sldLayoutId id="2147483668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3" r:id="rId12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b="1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b="0" i="0" kern="1200" baseline="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b="0" i="0" kern="1200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lang="zh-CN" spc="0">
                <a:solidFill>
                  <a:srgbClr val="FFFFFF"/>
                </a:solidFill>
                <a:latin typeface="微软雅黑"/>
                <a:ea typeface="微软雅黑"/>
              </a:rPr>
              <a:t>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0" y="621792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596875"/>
                </a:solidFill>
                <a:latin typeface="微软雅黑"/>
                <a:ea typeface="微软雅黑"/>
              </a:rPr>
              <a:t>BeliefKV  |  2026.08.15 - 2026.10.11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lang="zh-CN" spc="0">
                <a:solidFill>
                  <a:srgbClr val="01639C"/>
                </a:solidFill>
                <a:latin typeface="微软雅黑"/>
                <a:ea typeface="微软雅黑"/>
              </a:rPr>
              <a:t>BeliefKV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162A46"/>
                </a:solidFill>
                <a:latin typeface="微软雅黑"/>
                <a:ea typeface="微软雅黑"/>
              </a:rPr>
              <a:t>动态 Agent 工作流的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162A46"/>
                </a:solidFill>
                <a:latin typeface="微软雅黑"/>
                <a:ea typeface="微软雅黑"/>
              </a:rPr>
              <a:t>预测式 KV 管理与调度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272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lang="zh-CN" spc="0">
                <a:solidFill>
                  <a:srgbClr val="01639C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3127248"/>
            <a:ext cx="332841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子任务、工具与 JOIN 交错，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KV 在 HBM / Host 间迁移。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lang="zh-CN" spc="0">
                <a:solidFill>
                  <a:srgbClr val="01639C"/>
                </a:solidFill>
                <a:latin typeface="微软雅黑"/>
                <a:ea typeface="微软雅黑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4069080"/>
            <a:ext cx="332841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依据收尾信号与执行进度，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提前备份、预取并安排执行。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109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lang="zh-CN" spc="0">
                <a:solidFill>
                  <a:srgbClr val="01639C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5010912"/>
            <a:ext cx="332841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减少恢复等待与重复搬运，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lang="zh-CN" spc="0">
                <a:solidFill>
                  <a:srgbClr val="162A46"/>
                </a:solidFill>
                <a:latin typeface="微软雅黑"/>
                <a:ea typeface="微软雅黑"/>
              </a:rPr>
              <a:t>提高吞吐、降低完成时间。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1737360"/>
            <a:ext cx="6473952" cy="1005840"/>
          </a:xfrm>
          <a:prstGeom prst="rect">
            <a:avLst/>
          </a:prstGeom>
          <a:solidFill>
            <a:srgbClr val="EFF5FA"/>
          </a:solidFill>
          <a:ln w="12700">
            <a:solidFill>
              <a:srgbClr val="ADC5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1883664"/>
            <a:ext cx="60990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lang="zh-CN" spc="0">
                <a:solidFill>
                  <a:srgbClr val="01639C"/>
                </a:solidFill>
                <a:latin typeface="微软雅黑"/>
                <a:ea typeface="微软雅黑"/>
              </a:rPr>
              <a:t>动态工作流：子任务与工具调用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313432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lang="zh-CN" spc="0">
                <a:solidFill>
                  <a:srgbClr val="162A46"/>
                </a:solidFill>
                <a:latin typeface="微软雅黑"/>
                <a:ea typeface="微软雅黑"/>
              </a:rPr>
              <a:t>父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2313432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lang="zh-CN" spc="0">
                <a:solidFill>
                  <a:srgbClr val="162A46"/>
                </a:solidFill>
                <a:latin typeface="微软雅黑"/>
                <a:ea typeface="微软雅黑"/>
              </a:rPr>
              <a:t>子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2313432"/>
            <a:ext cx="10241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lang="zh-CN" spc="0">
                <a:solidFill>
                  <a:srgbClr val="162A46"/>
                </a:solidFill>
                <a:latin typeface="微软雅黑"/>
                <a:ea typeface="微软雅黑"/>
              </a:rPr>
              <a:t>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2313432"/>
            <a:ext cx="122529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lang="zh-CN" spc="0">
                <a:solidFill>
                  <a:srgbClr val="162A46"/>
                </a:solidFill>
                <a:latin typeface="微软雅黑"/>
                <a:ea typeface="微软雅黑"/>
              </a:rPr>
              <a:t>父 Agent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19672" y="2459736"/>
            <a:ext cx="356616" cy="0"/>
          </a:xfrm>
          <a:prstGeom prst="line">
            <a:avLst/>
          </a:prstGeom>
          <a:ln w="19050">
            <a:solidFill>
              <a:srgbClr val="01639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47304" y="2459736"/>
            <a:ext cx="356616" cy="0"/>
          </a:xfrm>
          <a:prstGeom prst="line">
            <a:avLst/>
          </a:prstGeom>
          <a:ln w="19050">
            <a:solidFill>
              <a:srgbClr val="01639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74352" y="2459736"/>
            <a:ext cx="356616" cy="0"/>
          </a:xfrm>
          <a:prstGeom prst="line">
            <a:avLst/>
          </a:prstGeom>
          <a:ln w="19050">
            <a:solidFill>
              <a:srgbClr val="01639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29400" y="2761488"/>
            <a:ext cx="0" cy="365760"/>
          </a:xfrm>
          <a:prstGeom prst="line">
            <a:avLst/>
          </a:prstGeom>
          <a:ln w="19050">
            <a:solidFill>
              <a:srgbClr val="01639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3136392"/>
            <a:ext cx="3054096" cy="1005840"/>
          </a:xfrm>
          <a:prstGeom prst="rect">
            <a:avLst/>
          </a:prstGeom>
          <a:solidFill>
            <a:srgbClr val="FBF6EB"/>
          </a:solidFill>
          <a:ln w="12700">
            <a:solidFill>
              <a:srgbClr val="D5BC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3291840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926923"/>
                </a:solidFill>
                <a:latin typeface="微软雅黑"/>
                <a:ea typeface="微软雅黑"/>
              </a:rPr>
              <a:t>完成预测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74903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zh-CN" spc="0">
                <a:solidFill>
                  <a:srgbClr val="596875"/>
                </a:solidFill>
                <a:latin typeface="微软雅黑"/>
                <a:ea typeface="微软雅黑"/>
              </a:rPr>
              <a:t>通知 / 正文 / 执行进度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02168" y="3621024"/>
            <a:ext cx="292608" cy="0"/>
          </a:xfrm>
          <a:prstGeom prst="line">
            <a:avLst/>
          </a:prstGeom>
          <a:ln w="19050">
            <a:solidFill>
              <a:srgbClr val="357B7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549640" y="3136392"/>
            <a:ext cx="3026664" cy="1005840"/>
          </a:xfrm>
          <a:prstGeom prst="rect">
            <a:avLst/>
          </a:prstGeom>
          <a:solidFill>
            <a:srgbClr val="EEF6F3"/>
          </a:solidFill>
          <a:ln w="12700">
            <a:solidFill>
              <a:srgbClr val="ABC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迁移与准入决策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4903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zh-CN" spc="0">
                <a:solidFill>
                  <a:srgbClr val="596875"/>
                </a:solidFill>
                <a:latin typeface="微软雅黑"/>
                <a:ea typeface="微软雅黑"/>
              </a:rPr>
              <a:t>容量 / 缺失页 / 执行机会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58400" y="4160520"/>
            <a:ext cx="0" cy="329184"/>
          </a:xfrm>
          <a:prstGeom prst="line">
            <a:avLst/>
          </a:prstGeom>
          <a:ln w="19050">
            <a:solidFill>
              <a:srgbClr val="357B7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102352" y="4507992"/>
            <a:ext cx="647395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ADC5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2" y="4636008"/>
            <a:ext cx="60990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SGLang 原生缓存与 GPU 执行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85816" y="5202936"/>
            <a:ext cx="2103120" cy="411480"/>
          </a:xfrm>
          <a:prstGeom prst="rect">
            <a:avLst/>
          </a:prstGeom>
          <a:solidFill>
            <a:srgbClr val="EFF5FA"/>
          </a:solidFill>
          <a:ln w="12700">
            <a:solidFill>
              <a:srgbClr val="ADC5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71432" y="5202936"/>
            <a:ext cx="2103120" cy="411480"/>
          </a:xfrm>
          <a:prstGeom prst="rect">
            <a:avLst/>
          </a:prstGeom>
          <a:solidFill>
            <a:srgbClr val="EEF6F3"/>
          </a:solidFill>
          <a:ln w="12700">
            <a:solidFill>
              <a:srgbClr val="ABC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77256" y="52578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01639C"/>
                </a:solidFill>
                <a:latin typeface="微软雅黑"/>
                <a:ea typeface="微软雅黑"/>
              </a:rPr>
              <a:t>GPU / HBM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525780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357B73"/>
                </a:solidFill>
                <a:latin typeface="微软雅黑"/>
                <a:ea typeface="微软雅黑"/>
              </a:rPr>
              <a:t>CPU / Host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1544" y="502005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357B73"/>
                </a:solidFill>
                <a:latin typeface="微软雅黑"/>
                <a:ea typeface="微软雅黑"/>
              </a:rPr>
              <a:t>D2H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544" y="55869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01639C"/>
                </a:solidFill>
                <a:latin typeface="微软雅黑"/>
                <a:ea typeface="微软雅黑"/>
              </a:rPr>
              <a:t>H2D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98664" y="5303520"/>
            <a:ext cx="1463040" cy="0"/>
          </a:xfrm>
          <a:prstGeom prst="line">
            <a:avLst/>
          </a:prstGeom>
          <a:ln w="19050">
            <a:solidFill>
              <a:srgbClr val="357B7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598664" y="5486400"/>
            <a:ext cx="1463040" cy="0"/>
          </a:xfrm>
          <a:prstGeom prst="line">
            <a:avLst/>
          </a:prstGeom>
          <a:ln w="19050">
            <a:solidFill>
              <a:srgbClr val="01639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85232" y="5879592"/>
            <a:ext cx="609904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zh-CN" spc="0">
                <a:solidFill>
                  <a:srgbClr val="596875"/>
                </a:solidFill>
                <a:latin typeface="微软雅黑"/>
                <a:ea typeface="微软雅黑"/>
              </a:rPr>
              <a:t>按缺失页迁移，恢复后及时执行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lang="zh-CN" spc="0">
                <a:solidFill>
                  <a:srgbClr val="FFFFFF"/>
                </a:solidFill>
                <a:latin typeface="微软雅黑"/>
                <a:ea typeface="微软雅黑"/>
              </a:rPr>
              <a:t>上月工作总结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0" y="621792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596875"/>
                </a:solidFill>
                <a:latin typeface="微软雅黑"/>
                <a:ea typeface="微软雅黑"/>
              </a:rPr>
              <a:t>BeliefKV  |  2026.08.15 - 2026.10.11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60904" y="1856231"/>
            <a:ext cx="0" cy="3081529"/>
          </a:xfrm>
          <a:prstGeom prst="line">
            <a:avLst/>
          </a:prstGeom>
          <a:ln w="25400">
            <a:solidFill>
              <a:srgbClr val="D6DF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792224"/>
            <a:ext cx="1792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01639C"/>
                </a:solidFill>
                <a:latin typeface="微软雅黑"/>
                <a:ea typeface="微软雅黑"/>
              </a:rPr>
              <a:t>08.15 - 08.31</a:t>
            </a:r>
          </a:p>
        </p:txBody>
      </p:sp>
      <p:sp>
        <p:nvSpPr>
          <p:cNvPr id="6" name="Oval 5"/>
          <p:cNvSpPr/>
          <p:nvPr/>
        </p:nvSpPr>
        <p:spPr>
          <a:xfrm>
            <a:off x="2606040" y="1856232"/>
            <a:ext cx="109728" cy="109728"/>
          </a:xfrm>
          <a:prstGeom prst="ellipse">
            <a:avLst/>
          </a:prstGeom>
          <a:solidFill>
            <a:srgbClr val="016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62656" y="1645920"/>
            <a:ext cx="84582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建立工作流与调度基础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56" y="2039112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实现因果前沿、原生 subagent 与 JOIN 后 parent 上下文连续性。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1792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01639C"/>
                </a:solidFill>
                <a:latin typeface="微软雅黑"/>
                <a:ea typeface="微软雅黑"/>
              </a:rPr>
              <a:t>09.01 - 09.21</a:t>
            </a:r>
          </a:p>
        </p:txBody>
      </p:sp>
      <p:sp>
        <p:nvSpPr>
          <p:cNvPr id="10" name="Oval 9"/>
          <p:cNvSpPr/>
          <p:nvPr/>
        </p:nvSpPr>
        <p:spPr>
          <a:xfrm>
            <a:off x="2606040" y="2624328"/>
            <a:ext cx="109728" cy="109728"/>
          </a:xfrm>
          <a:prstGeom prst="ellipse">
            <a:avLst/>
          </a:prstGeom>
          <a:solidFill>
            <a:srgbClr val="016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414016"/>
            <a:ext cx="84582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贯通预测式 KV 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807208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接通预测 D2H / H2D、传输 ACK、驻留租约与物理恢复生命周期。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28416"/>
            <a:ext cx="1792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01639C"/>
                </a:solidFill>
                <a:latin typeface="微软雅黑"/>
                <a:ea typeface="微软雅黑"/>
              </a:rPr>
              <a:t>09.22 - 09.27</a:t>
            </a:r>
          </a:p>
        </p:txBody>
      </p:sp>
      <p:sp>
        <p:nvSpPr>
          <p:cNvPr id="14" name="Oval 13"/>
          <p:cNvSpPr/>
          <p:nvPr/>
        </p:nvSpPr>
        <p:spPr>
          <a:xfrm>
            <a:off x="2606040" y="3392424"/>
            <a:ext cx="109728" cy="109728"/>
          </a:xfrm>
          <a:prstGeom prst="ellipse">
            <a:avLst/>
          </a:prstGeom>
          <a:solidFill>
            <a:srgbClr val="016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3182112"/>
            <a:ext cx="84582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完成混合缓存适配与离线建模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575304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适配 FULL / Mamba；完善传输埋点，完成训练与项目隔离校准。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096512"/>
            <a:ext cx="1792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01639C"/>
                </a:solidFill>
                <a:latin typeface="微软雅黑"/>
                <a:ea typeface="微软雅黑"/>
              </a:rPr>
              <a:t>09.28 - 10.04</a:t>
            </a:r>
          </a:p>
        </p:txBody>
      </p:sp>
      <p:sp>
        <p:nvSpPr>
          <p:cNvPr id="18" name="Oval 17"/>
          <p:cNvSpPr/>
          <p:nvPr/>
        </p:nvSpPr>
        <p:spPr>
          <a:xfrm>
            <a:off x="2606040" y="4160520"/>
            <a:ext cx="109728" cy="109728"/>
          </a:xfrm>
          <a:prstGeom prst="ellipse">
            <a:avLst/>
          </a:prstGeom>
          <a:solidFill>
            <a:srgbClr val="016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3950208"/>
            <a:ext cx="84582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转向事件与内容驱动的预测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4343400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结合通知、语义、长度与 decode 进度，建立阶段与剩余工作预测。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864608"/>
            <a:ext cx="1792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357B73"/>
                </a:solidFill>
                <a:latin typeface="微软雅黑"/>
                <a:ea typeface="微软雅黑"/>
              </a:rPr>
              <a:t>10.05 - 10.11</a:t>
            </a:r>
          </a:p>
        </p:txBody>
      </p:sp>
      <p:sp>
        <p:nvSpPr>
          <p:cNvPr id="22" name="Oval 21"/>
          <p:cNvSpPr/>
          <p:nvPr/>
        </p:nvSpPr>
        <p:spPr>
          <a:xfrm>
            <a:off x="2606040" y="4928616"/>
            <a:ext cx="109728" cy="109728"/>
          </a:xfrm>
          <a:prstGeom prst="ellipse">
            <a:avLst/>
          </a:prstGeom>
          <a:solidFill>
            <a:srgbClr val="35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62656" y="4718304"/>
            <a:ext cx="84582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推进原生对照与系统性能优化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5111496"/>
            <a:ext cx="84582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原生对照与两波到达；优化增量备份、缺失页恢复、准入与容量交接。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5559552"/>
            <a:ext cx="10707624" cy="0"/>
          </a:xfrm>
          <a:prstGeom prst="line">
            <a:avLst/>
          </a:prstGeom>
          <a:ln w="19050">
            <a:solidFill>
              <a:srgbClr val="D6DF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5715000"/>
            <a:ext cx="10707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zh-CN" spc="0">
                <a:solidFill>
                  <a:srgbClr val="162A46"/>
                </a:solidFill>
                <a:latin typeface="微软雅黑"/>
                <a:ea typeface="微软雅黑"/>
              </a:rPr>
              <a:t>目前：机制链路已贯通，稳定的端到端性能优势仍待验证。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lang="zh-CN" spc="0">
                <a:solidFill>
                  <a:srgbClr val="FFFFFF"/>
                </a:solidFill>
                <a:latin typeface="微软雅黑"/>
                <a:ea typeface="微软雅黑"/>
              </a:rPr>
              <a:t>关键进展：系统总体架构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0" y="621792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596875"/>
                </a:solidFill>
                <a:latin typeface="微软雅黑"/>
                <a:ea typeface="微软雅黑"/>
              </a:rPr>
              <a:t>BeliefKV  |  2026.08.15 - 2026.10.11</a:t>
            </a:r>
          </a:p>
        </p:txBody>
      </p:sp>
      <p:grpSp>
        <p:nvGrpSpPr>
          <p:cNvPr id="4" name="可编辑系统架构图"/>
          <p:cNvGrpSpPr/>
          <p:nvPr/>
        </p:nvGrpSpPr>
        <p:grpSpPr>
          <a:xfrm>
            <a:off x="548640" y="1499616"/>
            <a:ext cx="6400800" cy="4489450"/>
            <a:chOff x="0" y="0"/>
            <a:chExt cx="6400800" cy="4489450"/>
          </a:xfrm>
        </p:grpSpPr>
        <p:sp>
          <p:nvSpPr>
            <p:cNvPr id="5" name="BeliefKV：面向动态 Agent 工作流的 KV 管理"/>
            <p:cNvSpPr txBox="1"/>
            <p:nvPr/>
          </p:nvSpPr>
          <p:spPr>
            <a:xfrm>
              <a:off x="177800" y="242252"/>
              <a:ext cx="3101794" cy="23780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0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BeliefKV：面向动态 Agent 工作流的 KV 管理</a:t>
              </a:r>
            </a:p>
          </p:txBody>
        </p:sp>
        <p:sp>
          <p:nvSpPr>
            <p:cNvPr id="6" name="动态依赖感知  /  预测性迁移  /  原生执行协同"/>
            <p:cNvSpPr txBox="1"/>
            <p:nvPr/>
          </p:nvSpPr>
          <p:spPr>
            <a:xfrm>
              <a:off x="177800" y="445611"/>
              <a:ext cx="1967746" cy="16113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动态依赖感知  /  预测性迁移  /  原生执行协同</a:t>
              </a:r>
            </a:p>
          </p:txBody>
        </p:sp>
        <p:sp>
          <p:nvSpPr>
            <p:cNvPr id="7" name="rect 3"/>
            <p:cNvSpPr/>
            <p:nvPr/>
          </p:nvSpPr>
          <p:spPr>
            <a:xfrm>
              <a:off x="177800" y="693420"/>
              <a:ext cx="6045200" cy="782320"/>
            </a:xfrm>
            <a:prstGeom prst="roundRect">
              <a:avLst>
                <a:gd name="adj" fmla="val 1704"/>
              </a:avLst>
            </a:prstGeom>
            <a:solidFill>
              <a:srgbClr val="FFFFFF"/>
            </a:solidFill>
            <a:ln w="75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line 4"/>
            <p:cNvCxnSpPr/>
            <p:nvPr/>
          </p:nvCxnSpPr>
          <p:spPr>
            <a:xfrm>
              <a:off x="182245" y="697865"/>
              <a:ext cx="6036310" cy="0"/>
            </a:xfrm>
            <a:prstGeom prst="line">
              <a:avLst/>
            </a:prstGeom>
            <a:ln w="13335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(a) Agent 执行框架"/>
            <p:cNvSpPr txBox="1"/>
            <p:nvPr/>
          </p:nvSpPr>
          <p:spPr>
            <a:xfrm>
              <a:off x="275590" y="736759"/>
              <a:ext cx="1054559" cy="18557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(a) Agent 执行框架</a:t>
              </a:r>
            </a:p>
          </p:txBody>
        </p:sp>
        <p:sp>
          <p:nvSpPr>
            <p:cNvPr id="10" name="circle 6"/>
            <p:cNvSpPr/>
            <p:nvPr/>
          </p:nvSpPr>
          <p:spPr>
            <a:xfrm>
              <a:off x="355600" y="1044575"/>
              <a:ext cx="213360" cy="213360"/>
            </a:xfrm>
            <a:prstGeom prst="ellipse">
              <a:avLst/>
            </a:prstGeom>
            <a:solidFill>
              <a:srgbClr val="EDF3F8"/>
            </a:solidFill>
            <a:ln w="6223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"/>
            <p:cNvSpPr txBox="1"/>
            <p:nvPr/>
          </p:nvSpPr>
          <p:spPr>
            <a:xfrm>
              <a:off x="398548" y="1061244"/>
              <a:ext cx="127464" cy="1789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7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P</a:t>
              </a:r>
            </a:p>
          </p:txBody>
        </p:sp>
        <p:sp>
          <p:nvSpPr>
            <p:cNvPr id="12" name="circle 8"/>
            <p:cNvSpPr/>
            <p:nvPr/>
          </p:nvSpPr>
          <p:spPr>
            <a:xfrm>
              <a:off x="995680" y="942340"/>
              <a:ext cx="204470" cy="204470"/>
            </a:xfrm>
            <a:prstGeom prst="ellipse">
              <a:avLst/>
            </a:prstGeom>
            <a:solidFill>
              <a:srgbClr val="FFFFFF"/>
            </a:solidFill>
            <a:ln w="6223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1"/>
            <p:cNvSpPr txBox="1"/>
            <p:nvPr/>
          </p:nvSpPr>
          <p:spPr>
            <a:xfrm>
              <a:off x="1013087" y="968343"/>
              <a:ext cx="169657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C1</a:t>
              </a:r>
            </a:p>
          </p:txBody>
        </p:sp>
        <p:sp>
          <p:nvSpPr>
            <p:cNvPr id="14" name="circle 10"/>
            <p:cNvSpPr/>
            <p:nvPr/>
          </p:nvSpPr>
          <p:spPr>
            <a:xfrm>
              <a:off x="995680" y="1209040"/>
              <a:ext cx="204470" cy="204470"/>
            </a:xfrm>
            <a:prstGeom prst="ellipse">
              <a:avLst/>
            </a:prstGeom>
            <a:solidFill>
              <a:srgbClr val="FFFFFF"/>
            </a:solidFill>
            <a:ln w="6223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2"/>
            <p:cNvSpPr txBox="1"/>
            <p:nvPr/>
          </p:nvSpPr>
          <p:spPr>
            <a:xfrm>
              <a:off x="1013087" y="1235043"/>
              <a:ext cx="169657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C2</a:t>
              </a:r>
            </a:p>
          </p:txBody>
        </p:sp>
        <p:sp>
          <p:nvSpPr>
            <p:cNvPr id="16" name="polygon 12"/>
            <p:cNvSpPr/>
            <p:nvPr/>
          </p:nvSpPr>
          <p:spPr>
            <a:xfrm>
              <a:off x="1529080" y="1031240"/>
              <a:ext cx="408940" cy="293370"/>
            </a:xfrm>
            <a:custGeom>
              <a:avLst/>
              <a:gdLst/>
              <a:ahLst/>
              <a:cxnLst/>
              <a:rect l="l" t="t" r="r" b="b"/>
              <a:pathLst>
                <a:path w="92" h="66">
                  <a:moveTo>
                    <a:pt x="46" y="0"/>
                  </a:moveTo>
                  <a:lnTo>
                    <a:pt x="92" y="33"/>
                  </a:lnTo>
                  <a:lnTo>
                    <a:pt x="46" y="66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BF2E3"/>
            </a:solidFill>
            <a:ln w="6668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JOIN"/>
            <p:cNvSpPr txBox="1"/>
            <p:nvPr/>
          </p:nvSpPr>
          <p:spPr>
            <a:xfrm>
              <a:off x="1594062" y="1095692"/>
              <a:ext cx="278976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JOIN</a:t>
              </a:r>
            </a:p>
          </p:txBody>
        </p:sp>
        <p:cxnSp>
          <p:nvCxnSpPr>
            <p:cNvPr id="18" name="path 14"/>
            <p:cNvCxnSpPr/>
            <p:nvPr/>
          </p:nvCxnSpPr>
          <p:spPr>
            <a:xfrm flipV="1">
              <a:off x="568960" y="1053465"/>
              <a:ext cx="413385" cy="66675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ath 15"/>
            <p:cNvCxnSpPr/>
            <p:nvPr/>
          </p:nvCxnSpPr>
          <p:spPr>
            <a:xfrm>
              <a:off x="568960" y="1182370"/>
              <a:ext cx="413385" cy="11557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ath 16"/>
            <p:cNvSpPr/>
            <p:nvPr/>
          </p:nvSpPr>
          <p:spPr>
            <a:xfrm>
              <a:off x="1209040" y="1044575"/>
              <a:ext cx="360045" cy="62230"/>
            </a:xfrm>
            <a:custGeom>
              <a:avLst/>
              <a:gdLst/>
              <a:ahLst/>
              <a:cxnLst/>
              <a:rect l="l" t="t" r="r" b="b"/>
              <a:pathLst>
                <a:path w="81" h="14">
                  <a:moveTo>
                    <a:pt x="0" y="0"/>
                  </a:moveTo>
                  <a:lnTo>
                    <a:pt x="51" y="0"/>
                  </a:lnTo>
                  <a:lnTo>
                    <a:pt x="81" y="14"/>
                  </a:lnTo>
                </a:path>
              </a:pathLst>
            </a:custGeom>
            <a:noFill/>
            <a:ln w="10668">
              <a:solidFill>
                <a:srgbClr val="357B73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path 17"/>
            <p:cNvSpPr/>
            <p:nvPr/>
          </p:nvSpPr>
          <p:spPr>
            <a:xfrm>
              <a:off x="1209040" y="1249045"/>
              <a:ext cx="360045" cy="62230"/>
            </a:xfrm>
            <a:custGeom>
              <a:avLst/>
              <a:gdLst/>
              <a:ahLst/>
              <a:cxnLst/>
              <a:rect l="l" t="t" r="r" b="b"/>
              <a:pathLst>
                <a:path w="81" h="14">
                  <a:moveTo>
                    <a:pt x="0" y="14"/>
                  </a:moveTo>
                  <a:lnTo>
                    <a:pt x="51" y="14"/>
                  </a:lnTo>
                  <a:lnTo>
                    <a:pt x="81" y="0"/>
                  </a:lnTo>
                </a:path>
              </a:pathLst>
            </a:custGeom>
            <a:noFill/>
            <a:ln w="10668">
              <a:solidFill>
                <a:srgbClr val="357B73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path 18"/>
            <p:cNvCxnSpPr/>
            <p:nvPr/>
          </p:nvCxnSpPr>
          <p:spPr>
            <a:xfrm>
              <a:off x="1938020" y="1177925"/>
              <a:ext cx="333375" cy="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ircle 19"/>
            <p:cNvSpPr/>
            <p:nvPr/>
          </p:nvSpPr>
          <p:spPr>
            <a:xfrm>
              <a:off x="2284730" y="1071245"/>
              <a:ext cx="213360" cy="213360"/>
            </a:xfrm>
            <a:prstGeom prst="ellipse">
              <a:avLst/>
            </a:prstGeom>
            <a:solidFill>
              <a:srgbClr val="EDF3F8"/>
            </a:solidFill>
            <a:ln w="6223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P"/>
            <p:cNvSpPr txBox="1"/>
            <p:nvPr/>
          </p:nvSpPr>
          <p:spPr>
            <a:xfrm>
              <a:off x="2327678" y="1087914"/>
              <a:ext cx="127464" cy="1789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7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P</a:t>
              </a:r>
            </a:p>
          </p:txBody>
        </p:sp>
        <p:sp>
          <p:nvSpPr>
            <p:cNvPr id="25" name="SPAWN"/>
            <p:cNvSpPr txBox="1"/>
            <p:nvPr/>
          </p:nvSpPr>
          <p:spPr>
            <a:xfrm>
              <a:off x="565635" y="912336"/>
              <a:ext cx="308910" cy="12779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SPAWN</a:t>
              </a:r>
            </a:p>
          </p:txBody>
        </p:sp>
        <p:sp>
          <p:nvSpPr>
            <p:cNvPr id="26" name="RETURN"/>
            <p:cNvSpPr txBox="1"/>
            <p:nvPr/>
          </p:nvSpPr>
          <p:spPr>
            <a:xfrm>
              <a:off x="1230510" y="1330166"/>
              <a:ext cx="348221" cy="12779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RETURN</a:t>
              </a:r>
            </a:p>
          </p:txBody>
        </p:sp>
        <p:cxnSp>
          <p:nvCxnSpPr>
            <p:cNvPr id="27" name="line 23"/>
            <p:cNvCxnSpPr/>
            <p:nvPr/>
          </p:nvCxnSpPr>
          <p:spPr>
            <a:xfrm>
              <a:off x="2675890" y="973455"/>
              <a:ext cx="0" cy="413385"/>
            </a:xfrm>
            <a:prstGeom prst="line">
              <a:avLst/>
            </a:prstGeom>
            <a:ln w="6668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事件：SPAWN、工具调用、RETURN、JOIN"/>
            <p:cNvSpPr txBox="1"/>
            <p:nvPr/>
          </p:nvSpPr>
          <p:spPr>
            <a:xfrm>
              <a:off x="2800350" y="924560"/>
              <a:ext cx="2141795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事件：SPAWN、工具调用、RETURN、JOIN</a:t>
              </a:r>
            </a:p>
          </p:txBody>
        </p:sp>
        <p:sp>
          <p:nvSpPr>
            <p:cNvPr id="29" name="信号：收尾通知、已输出正文"/>
            <p:cNvSpPr txBox="1"/>
            <p:nvPr/>
          </p:nvSpPr>
          <p:spPr>
            <a:xfrm>
              <a:off x="2800350" y="1080135"/>
              <a:ext cx="144018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信号：收尾通知、已输出正文</a:t>
              </a:r>
            </a:p>
          </p:txBody>
        </p:sp>
        <p:sp>
          <p:nvSpPr>
            <p:cNvPr id="30" name="进度：已观测 decode 与 GPU 服务"/>
            <p:cNvSpPr txBox="1"/>
            <p:nvPr/>
          </p:nvSpPr>
          <p:spPr>
            <a:xfrm>
              <a:off x="2800350" y="1235710"/>
              <a:ext cx="1693945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进度：已观测 decode 与 GPU 服务</a:t>
              </a:r>
            </a:p>
          </p:txBody>
        </p:sp>
        <p:sp>
          <p:nvSpPr>
            <p:cNvPr id="31" name="因果状态更新"/>
            <p:cNvSpPr txBox="1"/>
            <p:nvPr/>
          </p:nvSpPr>
          <p:spPr>
            <a:xfrm>
              <a:off x="728980" y="1509078"/>
              <a:ext cx="61341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因果状态更新</a:t>
              </a:r>
            </a:p>
          </p:txBody>
        </p:sp>
        <p:cxnSp>
          <p:nvCxnSpPr>
            <p:cNvPr id="32" name="path 28"/>
            <p:cNvCxnSpPr/>
            <p:nvPr/>
          </p:nvCxnSpPr>
          <p:spPr>
            <a:xfrm>
              <a:off x="1035685" y="1475740"/>
              <a:ext cx="0" cy="27559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在线观测"/>
            <p:cNvSpPr txBox="1"/>
            <p:nvPr/>
          </p:nvSpPr>
          <p:spPr>
            <a:xfrm>
              <a:off x="2791460" y="1509078"/>
              <a:ext cx="42672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在线观测</a:t>
              </a:r>
            </a:p>
          </p:txBody>
        </p:sp>
        <p:cxnSp>
          <p:nvCxnSpPr>
            <p:cNvPr id="34" name="path 30"/>
            <p:cNvCxnSpPr/>
            <p:nvPr/>
          </p:nvCxnSpPr>
          <p:spPr>
            <a:xfrm>
              <a:off x="3004820" y="1475740"/>
              <a:ext cx="0" cy="275590"/>
            </a:xfrm>
            <a:prstGeom prst="line">
              <a:avLst/>
            </a:prstGeom>
            <a:ln w="10668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 31"/>
            <p:cNvSpPr/>
            <p:nvPr/>
          </p:nvSpPr>
          <p:spPr>
            <a:xfrm>
              <a:off x="177800" y="1760220"/>
              <a:ext cx="1751330" cy="1142365"/>
            </a:xfrm>
            <a:prstGeom prst="roundRect">
              <a:avLst>
                <a:gd name="adj" fmla="val 1167"/>
              </a:avLst>
            </a:prstGeom>
            <a:solidFill>
              <a:srgbClr val="FFFFFF"/>
            </a:solidFill>
            <a:ln w="75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line 32"/>
            <p:cNvCxnSpPr/>
            <p:nvPr/>
          </p:nvCxnSpPr>
          <p:spPr>
            <a:xfrm>
              <a:off x="182245" y="1764665"/>
              <a:ext cx="1742440" cy="0"/>
            </a:xfrm>
            <a:prstGeom prst="line">
              <a:avLst/>
            </a:prstGeom>
            <a:ln w="13335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(b) 因果状态"/>
            <p:cNvSpPr txBox="1"/>
            <p:nvPr/>
          </p:nvSpPr>
          <p:spPr>
            <a:xfrm>
              <a:off x="275590" y="1803559"/>
              <a:ext cx="703647" cy="18557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(b) 因果状态</a:t>
              </a:r>
            </a:p>
          </p:txBody>
        </p:sp>
        <p:sp>
          <p:nvSpPr>
            <p:cNvPr id="38" name="运行时工作流依赖图"/>
            <p:cNvSpPr txBox="1"/>
            <p:nvPr/>
          </p:nvSpPr>
          <p:spPr>
            <a:xfrm>
              <a:off x="280035" y="2000250"/>
              <a:ext cx="101346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运行时工作流依赖图</a:t>
              </a:r>
            </a:p>
          </p:txBody>
        </p:sp>
        <p:sp>
          <p:nvSpPr>
            <p:cNvPr id="39" name="JOIN_ALL / 工具等待 / 可执行"/>
            <p:cNvSpPr txBox="1"/>
            <p:nvPr/>
          </p:nvSpPr>
          <p:spPr>
            <a:xfrm>
              <a:off x="280035" y="2173605"/>
              <a:ext cx="1464245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JOIN_ALL / 工具等待 / 可执行</a:t>
              </a:r>
            </a:p>
          </p:txBody>
        </p:sp>
        <p:sp>
          <p:nvSpPr>
            <p:cNvPr id="40" name="Context 身份与版本"/>
            <p:cNvSpPr txBox="1"/>
            <p:nvPr/>
          </p:nvSpPr>
          <p:spPr>
            <a:xfrm>
              <a:off x="280035" y="2346960"/>
              <a:ext cx="99575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Context 身份与版本</a:t>
              </a:r>
            </a:p>
          </p:txBody>
        </p:sp>
        <p:sp>
          <p:nvSpPr>
            <p:cNvPr id="41" name="rect 37"/>
            <p:cNvSpPr/>
            <p:nvPr/>
          </p:nvSpPr>
          <p:spPr>
            <a:xfrm>
              <a:off x="280035" y="2622550"/>
              <a:ext cx="715645" cy="173355"/>
            </a:xfrm>
            <a:prstGeom prst="roundRect">
              <a:avLst>
                <a:gd name="adj" fmla="val 5128"/>
              </a:avLst>
            </a:prstGeom>
            <a:solidFill>
              <a:srgbClr val="FBF2E3"/>
            </a:solidFill>
            <a:ln w="5778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WAIT_JOIN"/>
            <p:cNvSpPr txBox="1"/>
            <p:nvPr/>
          </p:nvSpPr>
          <p:spPr>
            <a:xfrm>
              <a:off x="366929" y="2636107"/>
              <a:ext cx="541856" cy="14779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WAIT_JOIN</a:t>
              </a:r>
            </a:p>
          </p:txBody>
        </p:sp>
        <p:sp>
          <p:nvSpPr>
            <p:cNvPr id="43" name="rect 39"/>
            <p:cNvSpPr/>
            <p:nvPr/>
          </p:nvSpPr>
          <p:spPr>
            <a:xfrm>
              <a:off x="1075690" y="2622550"/>
              <a:ext cx="715645" cy="173355"/>
            </a:xfrm>
            <a:prstGeom prst="roundRect">
              <a:avLst>
                <a:gd name="adj" fmla="val 5128"/>
              </a:avLst>
            </a:prstGeom>
            <a:solidFill>
              <a:srgbClr val="EAF3F1"/>
            </a:solidFill>
            <a:ln w="5778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ADY"/>
            <p:cNvSpPr txBox="1"/>
            <p:nvPr/>
          </p:nvSpPr>
          <p:spPr>
            <a:xfrm>
              <a:off x="1264195" y="2636107"/>
              <a:ext cx="338636" cy="147796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READY</a:t>
              </a:r>
            </a:p>
          </p:txBody>
        </p:sp>
        <p:sp>
          <p:nvSpPr>
            <p:cNvPr id="45" name="rect 41"/>
            <p:cNvSpPr/>
            <p:nvPr/>
          </p:nvSpPr>
          <p:spPr>
            <a:xfrm>
              <a:off x="2089150" y="1760220"/>
              <a:ext cx="1840230" cy="1142365"/>
            </a:xfrm>
            <a:prstGeom prst="roundRect">
              <a:avLst>
                <a:gd name="adj" fmla="val 1167"/>
              </a:avLst>
            </a:prstGeom>
            <a:solidFill>
              <a:srgbClr val="FFFFFF"/>
            </a:solidFill>
            <a:ln w="75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line 42"/>
            <p:cNvCxnSpPr/>
            <p:nvPr/>
          </p:nvCxnSpPr>
          <p:spPr>
            <a:xfrm>
              <a:off x="2093595" y="1764665"/>
              <a:ext cx="1831340" cy="0"/>
            </a:xfrm>
            <a:prstGeom prst="line">
              <a:avLst/>
            </a:prstGeom>
            <a:ln w="13335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(c) 预测模块"/>
            <p:cNvSpPr txBox="1"/>
            <p:nvPr/>
          </p:nvSpPr>
          <p:spPr>
            <a:xfrm>
              <a:off x="2186940" y="1803559"/>
              <a:ext cx="690138" cy="18557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(c) 预测模块</a:t>
              </a:r>
            </a:p>
          </p:txBody>
        </p:sp>
        <p:sp>
          <p:nvSpPr>
            <p:cNvPr id="48" name="Child 阶段与剩余工作量"/>
            <p:cNvSpPr txBox="1"/>
            <p:nvPr/>
          </p:nvSpPr>
          <p:spPr>
            <a:xfrm>
              <a:off x="2186940" y="2024698"/>
              <a:ext cx="106015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Child 阶段与剩余工作量</a:t>
              </a:r>
            </a:p>
          </p:txBody>
        </p:sp>
        <p:sp>
          <p:nvSpPr>
            <p:cNvPr id="49" name="正文、通知与 decode 进度"/>
            <p:cNvSpPr txBox="1"/>
            <p:nvPr/>
          </p:nvSpPr>
          <p:spPr>
            <a:xfrm>
              <a:off x="2186940" y="2175828"/>
              <a:ext cx="116301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正文、通知与 decode 进度</a:t>
              </a:r>
            </a:p>
          </p:txBody>
        </p:sp>
        <p:cxnSp>
          <p:nvCxnSpPr>
            <p:cNvPr id="50" name="line 46"/>
            <p:cNvCxnSpPr/>
            <p:nvPr/>
          </p:nvCxnSpPr>
          <p:spPr>
            <a:xfrm>
              <a:off x="2186940" y="2391410"/>
              <a:ext cx="1640205" cy="0"/>
            </a:xfrm>
            <a:prstGeom prst="line">
              <a:avLst/>
            </a:prstGeom>
            <a:ln w="6223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工具剩余时间分布"/>
            <p:cNvSpPr txBox="1"/>
            <p:nvPr/>
          </p:nvSpPr>
          <p:spPr>
            <a:xfrm>
              <a:off x="2186940" y="2446972"/>
              <a:ext cx="80010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工具剩余时间分布</a:t>
              </a:r>
            </a:p>
          </p:txBody>
        </p:sp>
        <p:sp>
          <p:nvSpPr>
            <p:cNvPr id="52" name="类型、已执行时间与历史"/>
            <p:cNvSpPr txBox="1"/>
            <p:nvPr/>
          </p:nvSpPr>
          <p:spPr>
            <a:xfrm>
              <a:off x="2186940" y="2598102"/>
              <a:ext cx="1080135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类型、已执行时间与历史</a:t>
              </a:r>
            </a:p>
          </p:txBody>
        </p:sp>
        <p:cxnSp>
          <p:nvCxnSpPr>
            <p:cNvPr id="53" name="path 49"/>
            <p:cNvCxnSpPr/>
            <p:nvPr/>
          </p:nvCxnSpPr>
          <p:spPr>
            <a:xfrm>
              <a:off x="1929130" y="2355850"/>
              <a:ext cx="155575" cy="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path 50"/>
            <p:cNvCxnSpPr/>
            <p:nvPr/>
          </p:nvCxnSpPr>
          <p:spPr>
            <a:xfrm>
              <a:off x="3929380" y="2355850"/>
              <a:ext cx="200025" cy="0"/>
            </a:xfrm>
            <a:prstGeom prst="line">
              <a:avLst/>
            </a:prstGeom>
            <a:ln w="10668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提示"/>
            <p:cNvSpPr txBox="1"/>
            <p:nvPr/>
          </p:nvSpPr>
          <p:spPr>
            <a:xfrm>
              <a:off x="3929380" y="2174716"/>
              <a:ext cx="204470" cy="12779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95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提示</a:t>
              </a:r>
            </a:p>
          </p:txBody>
        </p:sp>
        <p:sp>
          <p:nvSpPr>
            <p:cNvPr id="56" name="rect 52"/>
            <p:cNvSpPr/>
            <p:nvPr/>
          </p:nvSpPr>
          <p:spPr>
            <a:xfrm>
              <a:off x="4133850" y="1760220"/>
              <a:ext cx="2089150" cy="1142365"/>
            </a:xfrm>
            <a:prstGeom prst="roundRect">
              <a:avLst>
                <a:gd name="adj" fmla="val 1167"/>
              </a:avLst>
            </a:prstGeom>
            <a:solidFill>
              <a:srgbClr val="FFFFFF"/>
            </a:solidFill>
            <a:ln w="75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line 53"/>
            <p:cNvCxnSpPr/>
            <p:nvPr/>
          </p:nvCxnSpPr>
          <p:spPr>
            <a:xfrm>
              <a:off x="4138295" y="1764665"/>
              <a:ext cx="2080260" cy="0"/>
            </a:xfrm>
            <a:prstGeom prst="line">
              <a:avLst/>
            </a:prstGeom>
            <a:ln w="13335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(d) Runtime 决策"/>
            <p:cNvSpPr txBox="1"/>
            <p:nvPr/>
          </p:nvSpPr>
          <p:spPr>
            <a:xfrm>
              <a:off x="4231640" y="1803559"/>
              <a:ext cx="987589" cy="18557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(d) Runtime 决策</a:t>
              </a:r>
            </a:p>
          </p:txBody>
        </p:sp>
        <p:sp>
          <p:nvSpPr>
            <p:cNvPr id="59" name="安全 checkpoint 与有效 Host 副本"/>
            <p:cNvSpPr txBox="1"/>
            <p:nvPr/>
          </p:nvSpPr>
          <p:spPr>
            <a:xfrm>
              <a:off x="4231640" y="1982470"/>
              <a:ext cx="1682711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安全 checkpoint 与有效 Host 副本</a:t>
              </a:r>
            </a:p>
          </p:txBody>
        </p:sp>
        <p:sp>
          <p:nvSpPr>
            <p:cNvPr id="60" name="容量与传输服务成本"/>
            <p:cNvSpPr txBox="1"/>
            <p:nvPr/>
          </p:nvSpPr>
          <p:spPr>
            <a:xfrm>
              <a:off x="4231640" y="2164715"/>
              <a:ext cx="101346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容量与传输服务成本</a:t>
              </a:r>
            </a:p>
          </p:txBody>
        </p:sp>
        <p:sp>
          <p:nvSpPr>
            <p:cNvPr id="61" name="缺失页迁移规划"/>
            <p:cNvSpPr txBox="1"/>
            <p:nvPr/>
          </p:nvSpPr>
          <p:spPr>
            <a:xfrm>
              <a:off x="4231640" y="2346960"/>
              <a:ext cx="80010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缺失页迁移规划</a:t>
              </a:r>
            </a:p>
          </p:txBody>
        </p:sp>
        <p:sp>
          <p:nvSpPr>
            <p:cNvPr id="62" name="准入、驻留保护与请求老化"/>
            <p:cNvSpPr txBox="1"/>
            <p:nvPr/>
          </p:nvSpPr>
          <p:spPr>
            <a:xfrm>
              <a:off x="4231640" y="2529205"/>
              <a:ext cx="1333500" cy="17335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准入、驻留保护与请求老化</a:t>
              </a:r>
            </a:p>
          </p:txBody>
        </p:sp>
        <p:cxnSp>
          <p:nvCxnSpPr>
            <p:cNvPr id="63" name="path 59"/>
            <p:cNvCxnSpPr/>
            <p:nvPr/>
          </p:nvCxnSpPr>
          <p:spPr>
            <a:xfrm>
              <a:off x="5178425" y="2902585"/>
              <a:ext cx="0" cy="346710"/>
            </a:xfrm>
            <a:prstGeom prst="line">
              <a:avLst/>
            </a:prstGeom>
            <a:ln w="10668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调度意图"/>
            <p:cNvSpPr txBox="1"/>
            <p:nvPr/>
          </p:nvSpPr>
          <p:spPr>
            <a:xfrm>
              <a:off x="5267325" y="2993708"/>
              <a:ext cx="426720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调度意图</a:t>
              </a:r>
            </a:p>
          </p:txBody>
        </p:sp>
        <p:sp>
          <p:nvSpPr>
            <p:cNvPr id="65" name="path 61"/>
            <p:cNvSpPr/>
            <p:nvPr/>
          </p:nvSpPr>
          <p:spPr>
            <a:xfrm>
              <a:off x="2960370" y="2902585"/>
              <a:ext cx="1417955" cy="346710"/>
            </a:xfrm>
            <a:custGeom>
              <a:avLst/>
              <a:gdLst/>
              <a:ahLst/>
              <a:cxnLst/>
              <a:rect l="l" t="t" r="r" b="b"/>
              <a:pathLst>
                <a:path w="319" h="78">
                  <a:moveTo>
                    <a:pt x="0" y="78"/>
                  </a:moveTo>
                  <a:lnTo>
                    <a:pt x="0" y="38"/>
                  </a:lnTo>
                  <a:lnTo>
                    <a:pt x="319" y="38"/>
                  </a:lnTo>
                  <a:lnTo>
                    <a:pt x="319" y="0"/>
                  </a:lnTo>
                </a:path>
              </a:pathLst>
            </a:custGeom>
            <a:noFill/>
            <a:ln w="10668">
              <a:solidFill>
                <a:srgbClr val="3D6F9F"/>
              </a:solidFill>
              <a:prstDash val="dash"/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容量 / ACK / 首次复用"/>
            <p:cNvSpPr txBox="1"/>
            <p:nvPr/>
          </p:nvSpPr>
          <p:spPr>
            <a:xfrm>
              <a:off x="3044825" y="2918142"/>
              <a:ext cx="945795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容量 / ACK / 首次复用</a:t>
              </a:r>
            </a:p>
          </p:txBody>
        </p:sp>
        <p:sp>
          <p:nvSpPr>
            <p:cNvPr id="67" name="rect 63"/>
            <p:cNvSpPr/>
            <p:nvPr/>
          </p:nvSpPr>
          <p:spPr>
            <a:xfrm>
              <a:off x="177800" y="3258185"/>
              <a:ext cx="6045200" cy="791210"/>
            </a:xfrm>
            <a:prstGeom prst="roundRect">
              <a:avLst>
                <a:gd name="adj" fmla="val 1685"/>
              </a:avLst>
            </a:prstGeom>
            <a:solidFill>
              <a:srgbClr val="FFFFFF"/>
            </a:solidFill>
            <a:ln w="75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line 64"/>
            <p:cNvCxnSpPr/>
            <p:nvPr/>
          </p:nvCxnSpPr>
          <p:spPr>
            <a:xfrm>
              <a:off x="182245" y="3262630"/>
              <a:ext cx="6036310" cy="0"/>
            </a:xfrm>
            <a:prstGeom prst="line">
              <a:avLst/>
            </a:prstGeom>
            <a:ln w="13335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(e) SGLang：物理缓存与执行事实源"/>
            <p:cNvSpPr txBox="1"/>
            <p:nvPr/>
          </p:nvSpPr>
          <p:spPr>
            <a:xfrm>
              <a:off x="275590" y="3301524"/>
              <a:ext cx="1938524" cy="18557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(e) SGLang：物理缓存与执行事实源</a:t>
              </a:r>
            </a:p>
          </p:txBody>
        </p:sp>
        <p:sp>
          <p:nvSpPr>
            <p:cNvPr id="70" name="rect 66"/>
            <p:cNvSpPr/>
            <p:nvPr/>
          </p:nvSpPr>
          <p:spPr>
            <a:xfrm>
              <a:off x="275590" y="3587115"/>
              <a:ext cx="1182370" cy="333375"/>
            </a:xfrm>
            <a:prstGeom prst="roundRect">
              <a:avLst>
                <a:gd name="adj" fmla="val 2666"/>
              </a:avLst>
            </a:prstGeom>
            <a:solidFill>
              <a:srgbClr val="EDF3F8"/>
            </a:solidFill>
            <a:ln w="5778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原生 GPU 批处理"/>
            <p:cNvSpPr txBox="1"/>
            <p:nvPr/>
          </p:nvSpPr>
          <p:spPr>
            <a:xfrm>
              <a:off x="486050" y="3676637"/>
              <a:ext cx="761449" cy="15446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原生 GPU 批处理</a:t>
              </a:r>
            </a:p>
          </p:txBody>
        </p:sp>
        <p:sp>
          <p:nvSpPr>
            <p:cNvPr id="72" name="rect 68"/>
            <p:cNvSpPr/>
            <p:nvPr/>
          </p:nvSpPr>
          <p:spPr>
            <a:xfrm>
              <a:off x="1764665" y="3587115"/>
              <a:ext cx="1822450" cy="333375"/>
            </a:xfrm>
            <a:prstGeom prst="roundRect">
              <a:avLst>
                <a:gd name="adj" fmla="val 2666"/>
              </a:avLst>
            </a:prstGeom>
            <a:solidFill>
              <a:srgbClr val="F2F4F5"/>
            </a:solidFill>
            <a:ln w="5778">
              <a:solidFill>
                <a:srgbClr val="8995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adix / HiCache / Allocators"/>
            <p:cNvSpPr txBox="1"/>
            <p:nvPr/>
          </p:nvSpPr>
          <p:spPr>
            <a:xfrm>
              <a:off x="1961756" y="3669659"/>
              <a:ext cx="1428269" cy="1666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Radix / HiCache / Allocators</a:t>
              </a:r>
            </a:p>
          </p:txBody>
        </p:sp>
        <p:cxnSp>
          <p:nvCxnSpPr>
            <p:cNvPr id="74" name="path 70"/>
            <p:cNvCxnSpPr/>
            <p:nvPr/>
          </p:nvCxnSpPr>
          <p:spPr>
            <a:xfrm>
              <a:off x="1462405" y="3751580"/>
              <a:ext cx="297815" cy="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path 71"/>
            <p:cNvCxnSpPr/>
            <p:nvPr/>
          </p:nvCxnSpPr>
          <p:spPr>
            <a:xfrm>
              <a:off x="3591560" y="3751580"/>
              <a:ext cx="262255" cy="0"/>
            </a:xfrm>
            <a:prstGeom prst="line">
              <a:avLst/>
            </a:prstGeom>
            <a:ln w="10668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 72"/>
            <p:cNvSpPr/>
            <p:nvPr/>
          </p:nvSpPr>
          <p:spPr>
            <a:xfrm>
              <a:off x="3853815" y="3564890"/>
              <a:ext cx="835660" cy="368935"/>
            </a:xfrm>
            <a:prstGeom prst="roundRect">
              <a:avLst>
                <a:gd name="adj" fmla="val 2409"/>
              </a:avLst>
            </a:prstGeom>
            <a:solidFill>
              <a:srgbClr val="EDF3F8"/>
            </a:solidFill>
            <a:ln w="8001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HBM"/>
            <p:cNvSpPr txBox="1"/>
            <p:nvPr/>
          </p:nvSpPr>
          <p:spPr>
            <a:xfrm>
              <a:off x="4117685" y="3582670"/>
              <a:ext cx="307920" cy="1789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75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HBM</a:t>
              </a:r>
            </a:p>
          </p:txBody>
        </p:sp>
        <p:sp>
          <p:nvSpPr>
            <p:cNvPr id="78" name="FULL + Mamba"/>
            <p:cNvSpPr txBox="1"/>
            <p:nvPr/>
          </p:nvSpPr>
          <p:spPr>
            <a:xfrm>
              <a:off x="3956640" y="3750469"/>
              <a:ext cx="630009" cy="14112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FULL + Mamba</a:t>
              </a:r>
            </a:p>
          </p:txBody>
        </p:sp>
        <p:sp>
          <p:nvSpPr>
            <p:cNvPr id="79" name="rect 75"/>
            <p:cNvSpPr/>
            <p:nvPr/>
          </p:nvSpPr>
          <p:spPr>
            <a:xfrm>
              <a:off x="5289550" y="3564890"/>
              <a:ext cx="835660" cy="368935"/>
            </a:xfrm>
            <a:prstGeom prst="roundRect">
              <a:avLst>
                <a:gd name="adj" fmla="val 2409"/>
              </a:avLst>
            </a:prstGeom>
            <a:solidFill>
              <a:srgbClr val="EAF3F1"/>
            </a:solidFill>
            <a:ln w="8001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Host"/>
            <p:cNvSpPr txBox="1"/>
            <p:nvPr/>
          </p:nvSpPr>
          <p:spPr>
            <a:xfrm>
              <a:off x="5554531" y="3582670"/>
              <a:ext cx="305698" cy="1789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75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Host</a:t>
              </a:r>
            </a:p>
          </p:txBody>
        </p:sp>
        <p:sp>
          <p:nvSpPr>
            <p:cNvPr id="81" name="FULL + Mamba"/>
            <p:cNvSpPr txBox="1"/>
            <p:nvPr/>
          </p:nvSpPr>
          <p:spPr>
            <a:xfrm>
              <a:off x="5392375" y="3750469"/>
              <a:ext cx="630009" cy="14112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5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FULL + Mamba</a:t>
              </a:r>
            </a:p>
          </p:txBody>
        </p:sp>
        <p:cxnSp>
          <p:nvCxnSpPr>
            <p:cNvPr id="82" name="path 78"/>
            <p:cNvCxnSpPr/>
            <p:nvPr/>
          </p:nvCxnSpPr>
          <p:spPr>
            <a:xfrm>
              <a:off x="4693920" y="3662680"/>
              <a:ext cx="591185" cy="0"/>
            </a:xfrm>
            <a:prstGeom prst="line">
              <a:avLst/>
            </a:prstGeom>
            <a:ln w="10668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D2H"/>
            <p:cNvSpPr txBox="1"/>
            <p:nvPr/>
          </p:nvSpPr>
          <p:spPr>
            <a:xfrm>
              <a:off x="4877328" y="3520440"/>
              <a:ext cx="211033" cy="13446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D2H</a:t>
              </a:r>
            </a:p>
          </p:txBody>
        </p:sp>
        <p:cxnSp>
          <p:nvCxnSpPr>
            <p:cNvPr id="84" name="path 80"/>
            <p:cNvCxnSpPr/>
            <p:nvPr/>
          </p:nvCxnSpPr>
          <p:spPr>
            <a:xfrm flipH="1">
              <a:off x="4693920" y="3858260"/>
              <a:ext cx="595630" cy="0"/>
            </a:xfrm>
            <a:prstGeom prst="line">
              <a:avLst/>
            </a:prstGeom>
            <a:ln w="10668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H2D"/>
            <p:cNvSpPr txBox="1"/>
            <p:nvPr/>
          </p:nvSpPr>
          <p:spPr>
            <a:xfrm>
              <a:off x="4877328" y="3720465"/>
              <a:ext cx="211033" cy="13446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H2D</a:t>
              </a:r>
            </a:p>
          </p:txBody>
        </p:sp>
        <p:sp>
          <p:nvSpPr>
            <p:cNvPr id="86" name="模型估计完成进度，runtime 决定动作，原生数据依赖决定执行。"/>
            <p:cNvSpPr txBox="1"/>
            <p:nvPr/>
          </p:nvSpPr>
          <p:spPr>
            <a:xfrm>
              <a:off x="177800" y="4086066"/>
              <a:ext cx="2885448" cy="16113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模型估计完成进度，runtime 决定动作，原生数据依赖决定执行。</a:t>
              </a: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7287768" y="1792224"/>
            <a:ext cx="4114800" cy="832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lang="zh-CN" spc="0">
                <a:solidFill>
                  <a:srgbClr val="01639C"/>
                </a:solidFill>
                <a:latin typeface="微软雅黑"/>
                <a:ea typeface="微软雅黑"/>
              </a:rPr>
              <a:t>从动态工作流到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lang="zh-CN" spc="0">
                <a:solidFill>
                  <a:srgbClr val="01639C"/>
                </a:solidFill>
                <a:latin typeface="微软雅黑"/>
                <a:ea typeface="微软雅黑"/>
              </a:rPr>
              <a:t>物理缓存与执行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87768" y="286207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捕获动态执行依赖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87768" y="3300984"/>
            <a:ext cx="420624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关联子任务、工具与 JOIN 事件，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维护上下文和当前可执行状态。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87768" y="386791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融合完成信号与运行进度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87768" y="4306824"/>
            <a:ext cx="420624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结合通知、正文与 decode 进度，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滚动预测 child / tool 的完成过程。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87768" y="4873752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连接迁移决策与原生执行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87768" y="5312664"/>
            <a:ext cx="4206240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按缺失页迁移，协调驻留与准入；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zh-CN" spc="0">
                <a:solidFill>
                  <a:srgbClr val="596875"/>
                </a:solidFill>
                <a:latin typeface="微软雅黑"/>
                <a:ea typeface="微软雅黑"/>
              </a:rPr>
              <a:t>由 SGLang 管理物理数据依赖。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lang="zh-CN" spc="0">
                <a:solidFill>
                  <a:srgbClr val="FFFFFF"/>
                </a:solidFill>
                <a:latin typeface="微软雅黑"/>
                <a:ea typeface="微软雅黑"/>
              </a:rPr>
              <a:t>关键进展：预测与迁移协同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0" y="621792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596875"/>
                </a:solidFill>
                <a:latin typeface="微软雅黑"/>
                <a:ea typeface="微软雅黑"/>
              </a:rPr>
              <a:t>BeliefKV  |  2026.08.15 - 2026.10.11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2763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01639C"/>
                </a:solidFill>
                <a:latin typeface="微软雅黑"/>
                <a:ea typeface="微软雅黑"/>
              </a:rPr>
              <a:t>预测与调度协同</a:t>
            </a:r>
          </a:p>
        </p:txBody>
      </p:sp>
      <p:grpSp>
        <p:nvGrpSpPr>
          <p:cNvPr id="5" name="可编辑系统架构图"/>
          <p:cNvGrpSpPr/>
          <p:nvPr/>
        </p:nvGrpSpPr>
        <p:grpSpPr>
          <a:xfrm>
            <a:off x="594360" y="2048256"/>
            <a:ext cx="5303520" cy="3719830"/>
            <a:chOff x="0" y="0"/>
            <a:chExt cx="5303520" cy="3719830"/>
          </a:xfrm>
        </p:grpSpPr>
        <p:sp>
          <p:nvSpPr>
            <p:cNvPr id="6" name="从完成信号到可被执行消费的预取"/>
            <p:cNvSpPr txBox="1"/>
            <p:nvPr/>
          </p:nvSpPr>
          <p:spPr>
            <a:xfrm>
              <a:off x="147320" y="34988"/>
              <a:ext cx="1922526" cy="19704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从完成信号到可被执行消费的预取</a:t>
              </a:r>
            </a:p>
          </p:txBody>
        </p:sp>
        <p:sp>
          <p:nvSpPr>
            <p:cNvPr id="7" name="分离剩余工作量、调度机会与物理数据依赖"/>
            <p:cNvSpPr txBox="1"/>
            <p:nvPr/>
          </p:nvSpPr>
          <p:spPr>
            <a:xfrm>
              <a:off x="147320" y="207169"/>
              <a:ext cx="1583690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分离剩余工作量、调度机会与物理数据依赖</a:t>
              </a:r>
            </a:p>
          </p:txBody>
        </p:sp>
        <p:sp>
          <p:nvSpPr>
            <p:cNvPr id="8" name="rect 3"/>
            <p:cNvSpPr/>
            <p:nvPr/>
          </p:nvSpPr>
          <p:spPr>
            <a:xfrm>
              <a:off x="147320" y="445643"/>
              <a:ext cx="1314831" cy="475107"/>
            </a:xfrm>
            <a:prstGeom prst="roundRect">
              <a:avLst>
                <a:gd name="adj" fmla="val 2325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line 4"/>
            <p:cNvCxnSpPr/>
            <p:nvPr/>
          </p:nvCxnSpPr>
          <p:spPr>
            <a:xfrm>
              <a:off x="151003" y="449326"/>
              <a:ext cx="1307465" cy="0"/>
            </a:xfrm>
            <a:prstGeom prst="line">
              <a:avLst/>
            </a:prstGeom>
            <a:ln w="11049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hild 在线观测"/>
            <p:cNvSpPr txBox="1"/>
            <p:nvPr/>
          </p:nvSpPr>
          <p:spPr>
            <a:xfrm>
              <a:off x="228346" y="481552"/>
              <a:ext cx="694001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Child 在线观测</a:t>
              </a:r>
            </a:p>
          </p:txBody>
        </p:sp>
        <p:sp>
          <p:nvSpPr>
            <p:cNvPr id="11" name="通知、正文与 decode 进度"/>
            <p:cNvSpPr txBox="1"/>
            <p:nvPr/>
          </p:nvSpPr>
          <p:spPr>
            <a:xfrm>
              <a:off x="232029" y="646366"/>
              <a:ext cx="963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通知、正文与 decode 进度</a:t>
              </a:r>
            </a:p>
          </p:txBody>
        </p:sp>
        <p:sp>
          <p:nvSpPr>
            <p:cNvPr id="12" name="仅使用已经送达的信息"/>
            <p:cNvSpPr txBox="1"/>
            <p:nvPr/>
          </p:nvSpPr>
          <p:spPr>
            <a:xfrm>
              <a:off x="232029" y="756856"/>
              <a:ext cx="817626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仅使用已经送达的信息</a:t>
              </a:r>
            </a:p>
          </p:txBody>
        </p:sp>
        <p:sp>
          <p:nvSpPr>
            <p:cNvPr id="13" name="rect 8"/>
            <p:cNvSpPr/>
            <p:nvPr/>
          </p:nvSpPr>
          <p:spPr>
            <a:xfrm>
              <a:off x="1742059" y="445643"/>
              <a:ext cx="1395857" cy="475107"/>
            </a:xfrm>
            <a:prstGeom prst="roundRect">
              <a:avLst>
                <a:gd name="adj" fmla="val 2325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line 9"/>
            <p:cNvCxnSpPr/>
            <p:nvPr/>
          </p:nvCxnSpPr>
          <p:spPr>
            <a:xfrm>
              <a:off x="1745742" y="449326"/>
              <a:ext cx="1388491" cy="0"/>
            </a:xfrm>
            <a:prstGeom prst="line">
              <a:avLst/>
            </a:prstGeom>
            <a:ln w="11049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阶段 / 工作量模型"/>
            <p:cNvSpPr txBox="1"/>
            <p:nvPr/>
          </p:nvSpPr>
          <p:spPr>
            <a:xfrm>
              <a:off x="1823085" y="481552"/>
              <a:ext cx="795039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阶段 / 工作量模型</a:t>
              </a:r>
            </a:p>
          </p:txBody>
        </p:sp>
        <p:sp>
          <p:nvSpPr>
            <p:cNvPr id="16" name="最终报告或继续调用工具"/>
            <p:cNvSpPr txBox="1"/>
            <p:nvPr/>
          </p:nvSpPr>
          <p:spPr>
            <a:xfrm>
              <a:off x="1826768" y="646366"/>
              <a:ext cx="894969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最终报告或继续调用工具</a:t>
              </a:r>
            </a:p>
          </p:txBody>
        </p:sp>
        <p:sp>
          <p:nvSpPr>
            <p:cNvPr id="17" name="条件剩余生成工作量"/>
            <p:cNvSpPr txBox="1"/>
            <p:nvPr/>
          </p:nvSpPr>
          <p:spPr>
            <a:xfrm>
              <a:off x="1826768" y="756856"/>
              <a:ext cx="740283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条件剩余生成工作量</a:t>
              </a:r>
            </a:p>
          </p:txBody>
        </p:sp>
        <p:sp>
          <p:nvSpPr>
            <p:cNvPr id="18" name="rect 13"/>
            <p:cNvSpPr/>
            <p:nvPr/>
          </p:nvSpPr>
          <p:spPr>
            <a:xfrm>
              <a:off x="3417824" y="445643"/>
              <a:ext cx="1738376" cy="475107"/>
            </a:xfrm>
            <a:prstGeom prst="roundRect">
              <a:avLst>
                <a:gd name="adj" fmla="val 2325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line 14"/>
            <p:cNvCxnSpPr/>
            <p:nvPr/>
          </p:nvCxnSpPr>
          <p:spPr>
            <a:xfrm>
              <a:off x="3421507" y="449326"/>
              <a:ext cx="1731010" cy="0"/>
            </a:xfrm>
            <a:prstGeom prst="line">
              <a:avLst/>
            </a:prstGeom>
            <a:ln w="11049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预测输出"/>
            <p:cNvSpPr txBox="1"/>
            <p:nvPr/>
          </p:nvSpPr>
          <p:spPr>
            <a:xfrm>
              <a:off x="3498850" y="481552"/>
              <a:ext cx="427228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预测输出</a:t>
              </a:r>
            </a:p>
          </p:txBody>
        </p:sp>
        <p:sp>
          <p:nvSpPr>
            <p:cNvPr id="21" name="阶段分数与剩余 token 区间"/>
            <p:cNvSpPr txBox="1"/>
            <p:nvPr/>
          </p:nvSpPr>
          <p:spPr>
            <a:xfrm>
              <a:off x="3502533" y="646366"/>
              <a:ext cx="980958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阶段分数与剩余 token 区间</a:t>
              </a:r>
            </a:p>
          </p:txBody>
        </p:sp>
        <p:sp>
          <p:nvSpPr>
            <p:cNvPr id="22" name="已观测 EOS 作为独立信号"/>
            <p:cNvSpPr txBox="1"/>
            <p:nvPr/>
          </p:nvSpPr>
          <p:spPr>
            <a:xfrm>
              <a:off x="3502533" y="756856"/>
              <a:ext cx="923958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已观测 EOS 作为独立信号</a:t>
              </a:r>
            </a:p>
          </p:txBody>
        </p:sp>
        <p:cxnSp>
          <p:nvCxnSpPr>
            <p:cNvPr id="23" name="path 18"/>
            <p:cNvCxnSpPr/>
            <p:nvPr/>
          </p:nvCxnSpPr>
          <p:spPr>
            <a:xfrm>
              <a:off x="1462151" y="736600"/>
              <a:ext cx="276225" cy="0"/>
            </a:xfrm>
            <a:prstGeom prst="line">
              <a:avLst/>
            </a:prstGeom>
            <a:ln w="8839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path 19"/>
            <p:cNvCxnSpPr/>
            <p:nvPr/>
          </p:nvCxnSpPr>
          <p:spPr>
            <a:xfrm>
              <a:off x="3137916" y="736600"/>
              <a:ext cx="276225" cy="0"/>
            </a:xfrm>
            <a:prstGeom prst="line">
              <a:avLst/>
            </a:prstGeom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path 20"/>
            <p:cNvSpPr/>
            <p:nvPr/>
          </p:nvSpPr>
          <p:spPr>
            <a:xfrm>
              <a:off x="4640580" y="736600"/>
              <a:ext cx="589280" cy="909701"/>
            </a:xfrm>
            <a:custGeom>
              <a:avLst/>
              <a:gdLst/>
              <a:ahLst/>
              <a:cxnLst/>
              <a:rect l="l" t="t" r="r" b="b"/>
              <a:pathLst>
                <a:path w="160" h="247">
                  <a:moveTo>
                    <a:pt x="140" y="0"/>
                  </a:moveTo>
                  <a:lnTo>
                    <a:pt x="160" y="0"/>
                  </a:lnTo>
                  <a:lnTo>
                    <a:pt x="160" y="227"/>
                  </a:lnTo>
                  <a:lnTo>
                    <a:pt x="0" y="227"/>
                  </a:lnTo>
                  <a:lnTo>
                    <a:pt x="0" y="247"/>
                  </a:lnTo>
                </a:path>
              </a:pathLst>
            </a:custGeom>
            <a:noFill/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 21"/>
            <p:cNvSpPr/>
            <p:nvPr/>
          </p:nvSpPr>
          <p:spPr>
            <a:xfrm>
              <a:off x="147320" y="1042289"/>
              <a:ext cx="1314831" cy="449326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line 22"/>
            <p:cNvCxnSpPr/>
            <p:nvPr/>
          </p:nvCxnSpPr>
          <p:spPr>
            <a:xfrm>
              <a:off x="151003" y="1045972"/>
              <a:ext cx="1307465" cy="0"/>
            </a:xfrm>
            <a:prstGeom prst="line">
              <a:avLst/>
            </a:prstGeom>
            <a:ln w="11049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工具在线观测"/>
            <p:cNvSpPr txBox="1"/>
            <p:nvPr/>
          </p:nvSpPr>
          <p:spPr>
            <a:xfrm>
              <a:off x="228346" y="1078198"/>
              <a:ext cx="618744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工具在线观测</a:t>
              </a:r>
            </a:p>
          </p:txBody>
        </p:sp>
        <p:sp>
          <p:nvSpPr>
            <p:cNvPr id="29" name="工具类型、已执行时间、历史"/>
            <p:cNvSpPr txBox="1"/>
            <p:nvPr/>
          </p:nvSpPr>
          <p:spPr>
            <a:xfrm>
              <a:off x="232029" y="1220914"/>
              <a:ext cx="1049655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工具类型、已执行时间、历史</a:t>
              </a:r>
            </a:p>
          </p:txBody>
        </p:sp>
        <p:sp>
          <p:nvSpPr>
            <p:cNvPr id="30" name="历史仅来自已完成调用"/>
            <p:cNvSpPr txBox="1"/>
            <p:nvPr/>
          </p:nvSpPr>
          <p:spPr>
            <a:xfrm>
              <a:off x="232029" y="1331404"/>
              <a:ext cx="817626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历史仅来自已完成调用</a:t>
              </a:r>
            </a:p>
          </p:txBody>
        </p:sp>
        <p:sp>
          <p:nvSpPr>
            <p:cNvPr id="31" name="rect 26"/>
            <p:cNvSpPr/>
            <p:nvPr/>
          </p:nvSpPr>
          <p:spPr>
            <a:xfrm>
              <a:off x="1742059" y="1042289"/>
              <a:ext cx="1395857" cy="449326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line 27"/>
            <p:cNvCxnSpPr/>
            <p:nvPr/>
          </p:nvCxnSpPr>
          <p:spPr>
            <a:xfrm>
              <a:off x="1745742" y="1045972"/>
              <a:ext cx="1388491" cy="0"/>
            </a:xfrm>
            <a:prstGeom prst="line">
              <a:avLst/>
            </a:prstGeom>
            <a:ln w="11049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剩余时间模型"/>
            <p:cNvSpPr txBox="1"/>
            <p:nvPr/>
          </p:nvSpPr>
          <p:spPr>
            <a:xfrm>
              <a:off x="1823085" y="1078198"/>
              <a:ext cx="618744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剩余时间模型</a:t>
              </a:r>
            </a:p>
          </p:txBody>
        </p:sp>
        <p:sp>
          <p:nvSpPr>
            <p:cNvPr id="34" name="以工具仍在执行为条件"/>
            <p:cNvSpPr txBox="1"/>
            <p:nvPr/>
          </p:nvSpPr>
          <p:spPr>
            <a:xfrm>
              <a:off x="1826768" y="1220914"/>
              <a:ext cx="817626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以工具仍在执行为条件</a:t>
              </a:r>
            </a:p>
          </p:txBody>
        </p:sp>
        <p:sp>
          <p:nvSpPr>
            <p:cNvPr id="35" name="随新观测滚动更新"/>
            <p:cNvSpPr txBox="1"/>
            <p:nvPr/>
          </p:nvSpPr>
          <p:spPr>
            <a:xfrm>
              <a:off x="1826768" y="1331404"/>
              <a:ext cx="662940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随新观测滚动更新</a:t>
              </a:r>
            </a:p>
          </p:txBody>
        </p:sp>
        <p:sp>
          <p:nvSpPr>
            <p:cNvPr id="36" name="rect 31"/>
            <p:cNvSpPr/>
            <p:nvPr/>
          </p:nvSpPr>
          <p:spPr>
            <a:xfrm>
              <a:off x="3417824" y="1042289"/>
              <a:ext cx="1738376" cy="449326"/>
            </a:xfrm>
            <a:prstGeom prst="roundRect">
              <a:avLst>
                <a:gd name="adj" fmla="val 2459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line 32"/>
            <p:cNvCxnSpPr/>
            <p:nvPr/>
          </p:nvCxnSpPr>
          <p:spPr>
            <a:xfrm>
              <a:off x="3421507" y="1045972"/>
              <a:ext cx="1731010" cy="0"/>
            </a:xfrm>
            <a:prstGeom prst="line">
              <a:avLst/>
            </a:prstGeom>
            <a:ln w="11049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预测输出"/>
            <p:cNvSpPr txBox="1"/>
            <p:nvPr/>
          </p:nvSpPr>
          <p:spPr>
            <a:xfrm>
              <a:off x="3498850" y="1078198"/>
              <a:ext cx="427228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预测输出</a:t>
              </a:r>
            </a:p>
          </p:txBody>
        </p:sp>
        <p:sp>
          <p:nvSpPr>
            <p:cNvPr id="39" name="剩余时间 CDF / 时间区间"/>
            <p:cNvSpPr txBox="1"/>
            <p:nvPr/>
          </p:nvSpPr>
          <p:spPr>
            <a:xfrm>
              <a:off x="3502533" y="1220914"/>
              <a:ext cx="890480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剩余时间 CDF / 时间区间</a:t>
              </a:r>
            </a:p>
          </p:txBody>
        </p:sp>
        <p:sp>
          <p:nvSpPr>
            <p:cNvPr id="40" name="不学习离线不可识别的净收益"/>
            <p:cNvSpPr txBox="1"/>
            <p:nvPr/>
          </p:nvSpPr>
          <p:spPr>
            <a:xfrm>
              <a:off x="3502533" y="1331404"/>
              <a:ext cx="1049655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不学习离线不可识别的净收益</a:t>
              </a:r>
            </a:p>
          </p:txBody>
        </p:sp>
        <p:cxnSp>
          <p:nvCxnSpPr>
            <p:cNvPr id="41" name="path 36"/>
            <p:cNvCxnSpPr/>
            <p:nvPr/>
          </p:nvCxnSpPr>
          <p:spPr>
            <a:xfrm>
              <a:off x="1462151" y="1311148"/>
              <a:ext cx="276225" cy="0"/>
            </a:xfrm>
            <a:prstGeom prst="line">
              <a:avLst/>
            </a:prstGeom>
            <a:ln w="8839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path 37"/>
            <p:cNvCxnSpPr/>
            <p:nvPr/>
          </p:nvCxnSpPr>
          <p:spPr>
            <a:xfrm>
              <a:off x="3137916" y="1311148"/>
              <a:ext cx="276225" cy="0"/>
            </a:xfrm>
            <a:prstGeom prst="line">
              <a:avLst/>
            </a:prstGeom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path 38"/>
            <p:cNvCxnSpPr/>
            <p:nvPr/>
          </p:nvCxnSpPr>
          <p:spPr>
            <a:xfrm>
              <a:off x="4287012" y="1491615"/>
              <a:ext cx="0" cy="154686"/>
            </a:xfrm>
            <a:prstGeom prst="line">
              <a:avLst/>
            </a:prstGeom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 39"/>
            <p:cNvSpPr/>
            <p:nvPr/>
          </p:nvSpPr>
          <p:spPr>
            <a:xfrm>
              <a:off x="147320" y="1653667"/>
              <a:ext cx="5008880" cy="508254"/>
            </a:xfrm>
            <a:prstGeom prst="roundRect">
              <a:avLst>
                <a:gd name="adj" fmla="val 2173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line 40"/>
            <p:cNvCxnSpPr/>
            <p:nvPr/>
          </p:nvCxnSpPr>
          <p:spPr>
            <a:xfrm>
              <a:off x="151003" y="1657350"/>
              <a:ext cx="5001514" cy="0"/>
            </a:xfrm>
            <a:prstGeom prst="line">
              <a:avLst/>
            </a:prstGeom>
            <a:ln w="11049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(a) Runtime 将预测提示转为有界动作"/>
            <p:cNvSpPr txBox="1"/>
            <p:nvPr/>
          </p:nvSpPr>
          <p:spPr>
            <a:xfrm>
              <a:off x="228346" y="1689576"/>
              <a:ext cx="1675046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(a) Runtime 将预测提示转为有界动作</a:t>
              </a:r>
            </a:p>
          </p:txBody>
        </p:sp>
        <p:sp>
          <p:nvSpPr>
            <p:cNvPr id="47" name="因果就绪"/>
            <p:cNvSpPr txBox="1"/>
            <p:nvPr/>
          </p:nvSpPr>
          <p:spPr>
            <a:xfrm>
              <a:off x="232029" y="1857153"/>
              <a:ext cx="383032" cy="13811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7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因果就绪</a:t>
              </a:r>
            </a:p>
          </p:txBody>
        </p:sp>
        <p:sp>
          <p:nvSpPr>
            <p:cNvPr id="48" name="JOIN / 工具状态"/>
            <p:cNvSpPr txBox="1"/>
            <p:nvPr/>
          </p:nvSpPr>
          <p:spPr>
            <a:xfrm>
              <a:off x="232029" y="1987899"/>
              <a:ext cx="569613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JOIN / 工具状态</a:t>
              </a:r>
            </a:p>
          </p:txBody>
        </p:sp>
        <p:sp>
          <p:nvSpPr>
            <p:cNvPr id="49" name="可复用 checkpoint"/>
            <p:cNvSpPr txBox="1"/>
            <p:nvPr/>
          </p:nvSpPr>
          <p:spPr>
            <a:xfrm>
              <a:off x="1440053" y="1857153"/>
              <a:ext cx="784723" cy="13811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7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可复用 checkpoint</a:t>
              </a:r>
            </a:p>
          </p:txBody>
        </p:sp>
        <p:sp>
          <p:nvSpPr>
            <p:cNvPr id="50" name="有效 Host 缺失页"/>
            <p:cNvSpPr txBox="1"/>
            <p:nvPr/>
          </p:nvSpPr>
          <p:spPr>
            <a:xfrm>
              <a:off x="1440053" y="1987899"/>
              <a:ext cx="604372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有效 Host 缺失页</a:t>
              </a:r>
            </a:p>
          </p:txBody>
        </p:sp>
        <p:sp>
          <p:nvSpPr>
            <p:cNvPr id="51" name="容量与传输成本"/>
            <p:cNvSpPr txBox="1"/>
            <p:nvPr/>
          </p:nvSpPr>
          <p:spPr>
            <a:xfrm>
              <a:off x="2695956" y="1857153"/>
              <a:ext cx="637159" cy="13811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7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容量与传输成本</a:t>
              </a:r>
            </a:p>
          </p:txBody>
        </p:sp>
        <p:sp>
          <p:nvSpPr>
            <p:cNvPr id="52" name="FULL / Mamba / H2D"/>
            <p:cNvSpPr txBox="1"/>
            <p:nvPr/>
          </p:nvSpPr>
          <p:spPr>
            <a:xfrm>
              <a:off x="2695956" y="1987899"/>
              <a:ext cx="742211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FULL / Mamba / H2D</a:t>
              </a:r>
            </a:p>
          </p:txBody>
        </p:sp>
        <p:sp>
          <p:nvSpPr>
            <p:cNvPr id="53" name="执行机会"/>
            <p:cNvSpPr txBox="1"/>
            <p:nvPr/>
          </p:nvSpPr>
          <p:spPr>
            <a:xfrm>
              <a:off x="3948176" y="1857153"/>
              <a:ext cx="383032" cy="13811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7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执行机会</a:t>
              </a:r>
            </a:p>
          </p:txBody>
        </p:sp>
        <p:sp>
          <p:nvSpPr>
            <p:cNvPr id="54" name="准入与驻留保护"/>
            <p:cNvSpPr txBox="1"/>
            <p:nvPr/>
          </p:nvSpPr>
          <p:spPr>
            <a:xfrm>
              <a:off x="3948176" y="1987899"/>
              <a:ext cx="559816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准入与驻留保护</a:t>
              </a:r>
            </a:p>
          </p:txBody>
        </p:sp>
        <p:sp>
          <p:nvSpPr>
            <p:cNvPr id="55" name="(b) 与工具等待或最终生成区间重叠"/>
            <p:cNvSpPr txBox="1"/>
            <p:nvPr/>
          </p:nvSpPr>
          <p:spPr>
            <a:xfrm>
              <a:off x="147320" y="2242026"/>
              <a:ext cx="1540602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(b) 与工具等待或最终生成区间重叠</a:t>
              </a:r>
            </a:p>
          </p:txBody>
        </p:sp>
        <p:cxnSp>
          <p:nvCxnSpPr>
            <p:cNvPr id="56" name="line 51"/>
            <p:cNvCxnSpPr/>
            <p:nvPr/>
          </p:nvCxnSpPr>
          <p:spPr>
            <a:xfrm>
              <a:off x="3616706" y="2482342"/>
              <a:ext cx="0" cy="964946"/>
            </a:xfrm>
            <a:prstGeom prst="line">
              <a:avLst/>
            </a:prstGeom>
            <a:ln w="6629">
              <a:solidFill>
                <a:srgbClr val="89959D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line 52"/>
            <p:cNvCxnSpPr/>
            <p:nvPr/>
          </p:nvCxnSpPr>
          <p:spPr>
            <a:xfrm>
              <a:off x="3867150" y="2754884"/>
              <a:ext cx="0" cy="375666"/>
            </a:xfrm>
            <a:prstGeom prst="line">
              <a:avLst/>
            </a:prstGeom>
            <a:ln w="5893">
              <a:solidFill>
                <a:srgbClr val="357B7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TURN / TOOL_END"/>
            <p:cNvSpPr txBox="1"/>
            <p:nvPr/>
          </p:nvSpPr>
          <p:spPr>
            <a:xfrm>
              <a:off x="3215302" y="2378297"/>
              <a:ext cx="802808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RETURN / TOOL_END</a:t>
              </a:r>
            </a:p>
          </p:txBody>
        </p:sp>
        <p:sp>
          <p:nvSpPr>
            <p:cNvPr id="59" name="Child / 工具"/>
            <p:cNvSpPr txBox="1"/>
            <p:nvPr/>
          </p:nvSpPr>
          <p:spPr>
            <a:xfrm>
              <a:off x="162052" y="2570734"/>
              <a:ext cx="521519" cy="14363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6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Child / 工具</a:t>
              </a:r>
            </a:p>
          </p:txBody>
        </p:sp>
        <p:sp>
          <p:nvSpPr>
            <p:cNvPr id="60" name="预测路径"/>
            <p:cNvSpPr txBox="1"/>
            <p:nvPr/>
          </p:nvSpPr>
          <p:spPr>
            <a:xfrm>
              <a:off x="162052" y="2905887"/>
              <a:ext cx="397764" cy="14363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6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预测路径</a:t>
              </a:r>
            </a:p>
          </p:txBody>
        </p:sp>
        <p:sp>
          <p:nvSpPr>
            <p:cNvPr id="61" name="需求恢复路径"/>
            <p:cNvSpPr txBox="1"/>
            <p:nvPr/>
          </p:nvSpPr>
          <p:spPr>
            <a:xfrm>
              <a:off x="162052" y="3241040"/>
              <a:ext cx="574548" cy="14363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6" b="1" lang="zh-CN" spc="0">
                  <a:solidFill>
                    <a:srgbClr val="89959D"/>
                  </a:solidFill>
                  <a:latin typeface="Noto Sans CJK SC"/>
                  <a:ea typeface="Noto Sans CJK SC"/>
                </a:rPr>
                <a:t>需求恢复路径</a:t>
              </a:r>
            </a:p>
          </p:txBody>
        </p:sp>
        <p:cxnSp>
          <p:nvCxnSpPr>
            <p:cNvPr id="62" name="line 57"/>
            <p:cNvCxnSpPr/>
            <p:nvPr/>
          </p:nvCxnSpPr>
          <p:spPr>
            <a:xfrm>
              <a:off x="1160145" y="2625979"/>
              <a:ext cx="3922395" cy="0"/>
            </a:xfrm>
            <a:prstGeom prst="line">
              <a:avLst/>
            </a:prstGeom>
            <a:ln w="4419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line 58"/>
            <p:cNvCxnSpPr/>
            <p:nvPr/>
          </p:nvCxnSpPr>
          <p:spPr>
            <a:xfrm>
              <a:off x="1160145" y="2961132"/>
              <a:ext cx="3922395" cy="0"/>
            </a:xfrm>
            <a:prstGeom prst="line">
              <a:avLst/>
            </a:prstGeom>
            <a:ln w="4419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line 59"/>
            <p:cNvCxnSpPr/>
            <p:nvPr/>
          </p:nvCxnSpPr>
          <p:spPr>
            <a:xfrm>
              <a:off x="1160145" y="3296285"/>
              <a:ext cx="3922395" cy="0"/>
            </a:xfrm>
            <a:prstGeom prst="line">
              <a:avLst/>
            </a:prstGeom>
            <a:ln w="4419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 60"/>
            <p:cNvSpPr/>
            <p:nvPr/>
          </p:nvSpPr>
          <p:spPr>
            <a:xfrm>
              <a:off x="1160145" y="2533904"/>
              <a:ext cx="2456561" cy="158369"/>
            </a:xfrm>
            <a:prstGeom prst="roundRect">
              <a:avLst>
                <a:gd name="adj" fmla="val 4651"/>
              </a:avLst>
            </a:prstGeom>
            <a:solidFill>
              <a:srgbClr val="EDF3F8"/>
            </a:solidFill>
            <a:ln w="6261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最终报告生成 / 外部工具执行"/>
            <p:cNvSpPr txBox="1"/>
            <p:nvPr/>
          </p:nvSpPr>
          <p:spPr>
            <a:xfrm>
              <a:off x="1846132" y="2542191"/>
              <a:ext cx="1084586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最终报告生成 / 外部工具执行</a:t>
              </a:r>
            </a:p>
          </p:txBody>
        </p:sp>
        <p:sp>
          <p:nvSpPr>
            <p:cNvPr id="67" name="circle 62"/>
            <p:cNvSpPr/>
            <p:nvPr/>
          </p:nvSpPr>
          <p:spPr>
            <a:xfrm>
              <a:off x="1390332" y="2760408"/>
              <a:ext cx="33147" cy="33147"/>
            </a:xfrm>
            <a:prstGeom prst="ellipse">
              <a:avLst/>
            </a:prstGeom>
            <a:solidFill>
              <a:srgbClr val="A96F1F"/>
            </a:solidFill>
            <a:ln w="3683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ircle 63"/>
            <p:cNvSpPr/>
            <p:nvPr/>
          </p:nvSpPr>
          <p:spPr>
            <a:xfrm>
              <a:off x="1696022" y="2760408"/>
              <a:ext cx="33147" cy="33147"/>
            </a:xfrm>
            <a:prstGeom prst="ellipse">
              <a:avLst/>
            </a:prstGeom>
            <a:solidFill>
              <a:srgbClr val="A96F1F"/>
            </a:solidFill>
            <a:ln w="3683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ircle 64"/>
            <p:cNvSpPr/>
            <p:nvPr/>
          </p:nvSpPr>
          <p:spPr>
            <a:xfrm>
              <a:off x="2001710" y="2760408"/>
              <a:ext cx="33147" cy="33147"/>
            </a:xfrm>
            <a:prstGeom prst="ellipse">
              <a:avLst/>
            </a:prstGeom>
            <a:solidFill>
              <a:srgbClr val="A96F1F"/>
            </a:solidFill>
            <a:ln w="3683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ircle 65"/>
            <p:cNvSpPr/>
            <p:nvPr/>
          </p:nvSpPr>
          <p:spPr>
            <a:xfrm>
              <a:off x="2307400" y="2760408"/>
              <a:ext cx="33147" cy="33147"/>
            </a:xfrm>
            <a:prstGeom prst="ellipse">
              <a:avLst/>
            </a:prstGeom>
            <a:solidFill>
              <a:srgbClr val="A96F1F"/>
            </a:solidFill>
            <a:ln w="3683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1" name="path 66"/>
            <p:cNvCxnSpPr/>
            <p:nvPr/>
          </p:nvCxnSpPr>
          <p:spPr>
            <a:xfrm>
              <a:off x="2390267" y="2776982"/>
              <a:ext cx="202565" cy="0"/>
            </a:xfrm>
            <a:prstGeom prst="line">
              <a:avLst/>
            </a:prstGeom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滚动观测"/>
            <p:cNvSpPr txBox="1"/>
            <p:nvPr/>
          </p:nvSpPr>
          <p:spPr>
            <a:xfrm>
              <a:off x="1381125" y="2787110"/>
              <a:ext cx="338836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滚动观测</a:t>
              </a:r>
            </a:p>
          </p:txBody>
        </p:sp>
        <p:sp>
          <p:nvSpPr>
            <p:cNvPr id="73" name="rect 68"/>
            <p:cNvSpPr/>
            <p:nvPr/>
          </p:nvSpPr>
          <p:spPr>
            <a:xfrm>
              <a:off x="2651760" y="2872740"/>
              <a:ext cx="1215390" cy="184150"/>
            </a:xfrm>
            <a:prstGeom prst="roundRect">
              <a:avLst>
                <a:gd name="adj" fmla="val 4000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缺失页 H2D"/>
            <p:cNvSpPr txBox="1"/>
            <p:nvPr/>
          </p:nvSpPr>
          <p:spPr>
            <a:xfrm>
              <a:off x="3026887" y="2895759"/>
              <a:ext cx="465137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缺失页 H2D</a:t>
              </a:r>
            </a:p>
          </p:txBody>
        </p:sp>
        <p:sp>
          <p:nvSpPr>
            <p:cNvPr id="75" name="rect 70"/>
            <p:cNvSpPr/>
            <p:nvPr/>
          </p:nvSpPr>
          <p:spPr>
            <a:xfrm>
              <a:off x="3867150" y="2872740"/>
              <a:ext cx="368300" cy="184150"/>
            </a:xfrm>
            <a:prstGeom prst="roundRect">
              <a:avLst>
                <a:gd name="adj" fmla="val 2000"/>
              </a:avLst>
            </a:prstGeom>
            <a:solidFill>
              <a:srgbClr val="F2F4F5"/>
            </a:solidFill>
            <a:ln w="5156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 71"/>
            <p:cNvSpPr/>
            <p:nvPr/>
          </p:nvSpPr>
          <p:spPr>
            <a:xfrm>
              <a:off x="4235450" y="2872740"/>
              <a:ext cx="847090" cy="184150"/>
            </a:xfrm>
            <a:prstGeom prst="roundRect">
              <a:avLst>
                <a:gd name="adj" fmla="val 4000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PU 服务"/>
            <p:cNvSpPr txBox="1"/>
            <p:nvPr/>
          </p:nvSpPr>
          <p:spPr>
            <a:xfrm>
              <a:off x="4464026" y="2895759"/>
              <a:ext cx="38993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GPU 服务</a:t>
              </a:r>
            </a:p>
          </p:txBody>
        </p:sp>
        <p:sp>
          <p:nvSpPr>
            <p:cNvPr id="78" name="ACK"/>
            <p:cNvSpPr txBox="1"/>
            <p:nvPr/>
          </p:nvSpPr>
          <p:spPr>
            <a:xfrm>
              <a:off x="3779247" y="3074384"/>
              <a:ext cx="175806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ACK</a:t>
              </a:r>
            </a:p>
          </p:txBody>
        </p:sp>
        <p:sp>
          <p:nvSpPr>
            <p:cNvPr id="79" name="首次复用"/>
            <p:cNvSpPr txBox="1"/>
            <p:nvPr/>
          </p:nvSpPr>
          <p:spPr>
            <a:xfrm>
              <a:off x="4283329" y="3063335"/>
              <a:ext cx="338836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首次复用</a:t>
              </a:r>
            </a:p>
          </p:txBody>
        </p:sp>
        <p:cxnSp>
          <p:nvCxnSpPr>
            <p:cNvPr id="80" name="line 75"/>
            <p:cNvCxnSpPr/>
            <p:nvPr/>
          </p:nvCxnSpPr>
          <p:spPr>
            <a:xfrm>
              <a:off x="2651760" y="2799080"/>
              <a:ext cx="964946" cy="0"/>
            </a:xfrm>
            <a:prstGeom prst="line">
              <a:avLst/>
            </a:prstGeom>
            <a:ln w="7366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line 76"/>
            <p:cNvCxnSpPr/>
            <p:nvPr/>
          </p:nvCxnSpPr>
          <p:spPr>
            <a:xfrm>
              <a:off x="2651760" y="2776982"/>
              <a:ext cx="0" cy="44196"/>
            </a:xfrm>
            <a:prstGeom prst="line">
              <a:avLst/>
            </a:prstGeom>
            <a:ln w="7366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line 77"/>
            <p:cNvCxnSpPr/>
            <p:nvPr/>
          </p:nvCxnSpPr>
          <p:spPr>
            <a:xfrm>
              <a:off x="3616706" y="2776982"/>
              <a:ext cx="0" cy="44196"/>
            </a:xfrm>
            <a:prstGeom prst="line">
              <a:avLst/>
            </a:prstGeom>
            <a:ln w="7366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提前量"/>
            <p:cNvSpPr txBox="1"/>
            <p:nvPr/>
          </p:nvSpPr>
          <p:spPr>
            <a:xfrm>
              <a:off x="3007170" y="2680303"/>
              <a:ext cx="254127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提前量</a:t>
              </a:r>
            </a:p>
          </p:txBody>
        </p:sp>
        <p:sp>
          <p:nvSpPr>
            <p:cNvPr id="84" name="rect 79"/>
            <p:cNvSpPr/>
            <p:nvPr/>
          </p:nvSpPr>
          <p:spPr>
            <a:xfrm>
              <a:off x="3616706" y="3207893"/>
              <a:ext cx="1152779" cy="184150"/>
            </a:xfrm>
            <a:prstGeom prst="roundRect">
              <a:avLst>
                <a:gd name="adj" fmla="val 4000"/>
              </a:avLst>
            </a:prstGeom>
            <a:solidFill>
              <a:srgbClr val="F2F4F5"/>
            </a:solidFill>
            <a:ln w="6629">
              <a:solidFill>
                <a:srgbClr val="8995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需求 H2D"/>
            <p:cNvSpPr txBox="1"/>
            <p:nvPr/>
          </p:nvSpPr>
          <p:spPr>
            <a:xfrm>
              <a:off x="4001040" y="3234595"/>
              <a:ext cx="384111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需求 H2D</a:t>
              </a:r>
            </a:p>
          </p:txBody>
        </p:sp>
        <p:sp>
          <p:nvSpPr>
            <p:cNvPr id="86" name="rect 81"/>
            <p:cNvSpPr/>
            <p:nvPr/>
          </p:nvSpPr>
          <p:spPr>
            <a:xfrm>
              <a:off x="4769485" y="3207893"/>
              <a:ext cx="313055" cy="184150"/>
            </a:xfrm>
            <a:prstGeom prst="roundRect">
              <a:avLst>
                <a:gd name="adj" fmla="val 4000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服务"/>
            <p:cNvSpPr txBox="1"/>
            <p:nvPr/>
          </p:nvSpPr>
          <p:spPr>
            <a:xfrm>
              <a:off x="4833938" y="3240119"/>
              <a:ext cx="184150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服务</a:t>
              </a:r>
            </a:p>
          </p:txBody>
        </p:sp>
        <p:sp>
          <p:nvSpPr>
            <p:cNvPr id="88" name="示意图，非实测加速。部分传输重叠也可利用；执行遵循原生数据依赖。"/>
            <p:cNvSpPr txBox="1"/>
            <p:nvPr/>
          </p:nvSpPr>
          <p:spPr>
            <a:xfrm>
              <a:off x="147320" y="3477673"/>
              <a:ext cx="263702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示意图，非实测加速。部分传输重叠也可利用；执行遵循原生数据依赖。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594360" y="579729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zh-CN" spc="0">
                <a:solidFill>
                  <a:srgbClr val="596875"/>
                </a:solidFill>
                <a:latin typeface="微软雅黑"/>
                <a:ea typeface="微软雅黑"/>
              </a:rPr>
              <a:t>完成信号 → 滚动预测 → 恢复与执行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0" y="162763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zh-CN" spc="0">
                <a:solidFill>
                  <a:srgbClr val="357B73"/>
                </a:solidFill>
                <a:latin typeface="微软雅黑"/>
                <a:ea typeface="微软雅黑"/>
              </a:rPr>
              <a:t>增量迁移与容量交接</a:t>
            </a:r>
          </a:p>
        </p:txBody>
      </p:sp>
      <p:grpSp>
        <p:nvGrpSpPr>
          <p:cNvPr id="91" name="可编辑系统架构图"/>
          <p:cNvGrpSpPr/>
          <p:nvPr/>
        </p:nvGrpSpPr>
        <p:grpSpPr>
          <a:xfrm>
            <a:off x="6309360" y="2048256"/>
            <a:ext cx="5303520" cy="3719830"/>
            <a:chOff x="0" y="0"/>
            <a:chExt cx="5303520" cy="3719830"/>
          </a:xfrm>
        </p:grpSpPr>
        <p:sp>
          <p:nvSpPr>
            <p:cNvPr id="92" name="增量迁移与 Child → Parent 容量交接"/>
            <p:cNvSpPr txBox="1"/>
            <p:nvPr/>
          </p:nvSpPr>
          <p:spPr>
            <a:xfrm>
              <a:off x="147320" y="75502"/>
              <a:ext cx="1956694" cy="180467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9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增量迁移与 Child → Parent 容量交接</a:t>
              </a:r>
            </a:p>
          </p:txBody>
        </p:sp>
        <p:sp>
          <p:nvSpPr>
            <p:cNvPr id="93" name="Agent 语义选择受益对象，原生页决定实际迁移范围"/>
            <p:cNvSpPr txBox="1"/>
            <p:nvPr/>
          </p:nvSpPr>
          <p:spPr>
            <a:xfrm>
              <a:off x="147320" y="234791"/>
              <a:ext cx="190147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Agent 语义选择受益对象，原生页决定实际迁移范围</a:t>
              </a:r>
            </a:p>
          </p:txBody>
        </p:sp>
        <p:sp>
          <p:nvSpPr>
            <p:cNvPr id="94" name="rect 3"/>
            <p:cNvSpPr/>
            <p:nvPr/>
          </p:nvSpPr>
          <p:spPr>
            <a:xfrm>
              <a:off x="147320" y="480632"/>
              <a:ext cx="2765933" cy="1097534"/>
            </a:xfrm>
            <a:prstGeom prst="roundRect">
              <a:avLst>
                <a:gd name="adj" fmla="val 1006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line 4"/>
            <p:cNvCxnSpPr/>
            <p:nvPr/>
          </p:nvCxnSpPr>
          <p:spPr>
            <a:xfrm>
              <a:off x="151003" y="484314"/>
              <a:ext cx="2758567" cy="0"/>
            </a:xfrm>
            <a:prstGeom prst="line">
              <a:avLst/>
            </a:prstGeom>
            <a:ln w="11049">
              <a:solidFill>
                <a:srgbClr val="357B7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(a) FULL 增量备份"/>
            <p:cNvSpPr txBox="1"/>
            <p:nvPr/>
          </p:nvSpPr>
          <p:spPr>
            <a:xfrm>
              <a:off x="228346" y="516541"/>
              <a:ext cx="838041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(a) FULL 增量备份</a:t>
              </a:r>
            </a:p>
          </p:txBody>
        </p:sp>
        <p:sp>
          <p:nvSpPr>
            <p:cNvPr id="97" name="HBM"/>
            <p:cNvSpPr txBox="1"/>
            <p:nvPr/>
          </p:nvSpPr>
          <p:spPr>
            <a:xfrm>
              <a:off x="228346" y="797370"/>
              <a:ext cx="255134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HBM</a:t>
              </a:r>
            </a:p>
          </p:txBody>
        </p:sp>
        <p:sp>
          <p:nvSpPr>
            <p:cNvPr id="98" name="Host"/>
            <p:cNvSpPr txBox="1"/>
            <p:nvPr/>
          </p:nvSpPr>
          <p:spPr>
            <a:xfrm>
              <a:off x="228346" y="1173036"/>
              <a:ext cx="253292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Host</a:t>
              </a:r>
            </a:p>
          </p:txBody>
        </p:sp>
        <p:sp>
          <p:nvSpPr>
            <p:cNvPr id="99" name="rect 8"/>
            <p:cNvSpPr/>
            <p:nvPr/>
          </p:nvSpPr>
          <p:spPr>
            <a:xfrm>
              <a:off x="869188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p0"/>
            <p:cNvSpPr txBox="1"/>
            <p:nvPr/>
          </p:nvSpPr>
          <p:spPr>
            <a:xfrm>
              <a:off x="898810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p0</a:t>
              </a:r>
            </a:p>
          </p:txBody>
        </p:sp>
        <p:sp>
          <p:nvSpPr>
            <p:cNvPr id="101" name="rect 10"/>
            <p:cNvSpPr/>
            <p:nvPr/>
          </p:nvSpPr>
          <p:spPr>
            <a:xfrm>
              <a:off x="869188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p0"/>
            <p:cNvSpPr txBox="1"/>
            <p:nvPr/>
          </p:nvSpPr>
          <p:spPr>
            <a:xfrm>
              <a:off x="898810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p0</a:t>
              </a:r>
            </a:p>
          </p:txBody>
        </p:sp>
        <p:sp>
          <p:nvSpPr>
            <p:cNvPr id="103" name="rect 12"/>
            <p:cNvSpPr/>
            <p:nvPr/>
          </p:nvSpPr>
          <p:spPr>
            <a:xfrm>
              <a:off x="1104900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p1"/>
            <p:cNvSpPr txBox="1"/>
            <p:nvPr/>
          </p:nvSpPr>
          <p:spPr>
            <a:xfrm>
              <a:off x="1134522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p1</a:t>
              </a:r>
            </a:p>
          </p:txBody>
        </p:sp>
        <p:sp>
          <p:nvSpPr>
            <p:cNvPr id="105" name="rect 14"/>
            <p:cNvSpPr/>
            <p:nvPr/>
          </p:nvSpPr>
          <p:spPr>
            <a:xfrm>
              <a:off x="1104900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p1"/>
            <p:cNvSpPr txBox="1"/>
            <p:nvPr/>
          </p:nvSpPr>
          <p:spPr>
            <a:xfrm>
              <a:off x="1134522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p1</a:t>
              </a:r>
            </a:p>
          </p:txBody>
        </p:sp>
        <p:sp>
          <p:nvSpPr>
            <p:cNvPr id="107" name="rect 16"/>
            <p:cNvSpPr/>
            <p:nvPr/>
          </p:nvSpPr>
          <p:spPr>
            <a:xfrm>
              <a:off x="1340612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p2"/>
            <p:cNvSpPr txBox="1"/>
            <p:nvPr/>
          </p:nvSpPr>
          <p:spPr>
            <a:xfrm>
              <a:off x="1370234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p2</a:t>
              </a:r>
            </a:p>
          </p:txBody>
        </p:sp>
        <p:sp>
          <p:nvSpPr>
            <p:cNvPr id="109" name="rect 18"/>
            <p:cNvSpPr/>
            <p:nvPr/>
          </p:nvSpPr>
          <p:spPr>
            <a:xfrm>
              <a:off x="1340612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p2"/>
            <p:cNvSpPr txBox="1"/>
            <p:nvPr/>
          </p:nvSpPr>
          <p:spPr>
            <a:xfrm>
              <a:off x="1370234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p2</a:t>
              </a:r>
            </a:p>
          </p:txBody>
        </p:sp>
        <p:sp>
          <p:nvSpPr>
            <p:cNvPr id="111" name="rect 20"/>
            <p:cNvSpPr/>
            <p:nvPr/>
          </p:nvSpPr>
          <p:spPr>
            <a:xfrm>
              <a:off x="1576324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p3"/>
            <p:cNvSpPr txBox="1"/>
            <p:nvPr/>
          </p:nvSpPr>
          <p:spPr>
            <a:xfrm>
              <a:off x="1605946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p3</a:t>
              </a:r>
            </a:p>
          </p:txBody>
        </p:sp>
        <p:sp>
          <p:nvSpPr>
            <p:cNvPr id="113" name="rect 22"/>
            <p:cNvSpPr/>
            <p:nvPr/>
          </p:nvSpPr>
          <p:spPr>
            <a:xfrm>
              <a:off x="1576324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p3"/>
            <p:cNvSpPr txBox="1"/>
            <p:nvPr/>
          </p:nvSpPr>
          <p:spPr>
            <a:xfrm>
              <a:off x="1605946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p3</a:t>
              </a:r>
            </a:p>
          </p:txBody>
        </p:sp>
        <p:sp>
          <p:nvSpPr>
            <p:cNvPr id="115" name="rect 24"/>
            <p:cNvSpPr/>
            <p:nvPr/>
          </p:nvSpPr>
          <p:spPr>
            <a:xfrm>
              <a:off x="1812036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p4"/>
            <p:cNvSpPr txBox="1"/>
            <p:nvPr/>
          </p:nvSpPr>
          <p:spPr>
            <a:xfrm>
              <a:off x="1841658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p4</a:t>
              </a:r>
            </a:p>
          </p:txBody>
        </p:sp>
        <p:sp>
          <p:nvSpPr>
            <p:cNvPr id="117" name="rect 26"/>
            <p:cNvSpPr/>
            <p:nvPr/>
          </p:nvSpPr>
          <p:spPr>
            <a:xfrm>
              <a:off x="1812036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6629">
              <a:solidFill>
                <a:srgbClr val="89959D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4"/>
            <p:cNvSpPr txBox="1"/>
            <p:nvPr/>
          </p:nvSpPr>
          <p:spPr>
            <a:xfrm>
              <a:off x="1841658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89959D"/>
                  </a:solidFill>
                  <a:latin typeface="Noto Sans CJK SC"/>
                  <a:ea typeface="Noto Sans CJK SC"/>
                </a:rPr>
                <a:t>p4</a:t>
              </a:r>
            </a:p>
          </p:txBody>
        </p:sp>
        <p:cxnSp>
          <p:nvCxnSpPr>
            <p:cNvPr id="119" name="path 28"/>
            <p:cNvCxnSpPr/>
            <p:nvPr/>
          </p:nvCxnSpPr>
          <p:spPr>
            <a:xfrm>
              <a:off x="1911477" y="977836"/>
              <a:ext cx="0" cy="114173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 29"/>
            <p:cNvSpPr/>
            <p:nvPr/>
          </p:nvSpPr>
          <p:spPr>
            <a:xfrm>
              <a:off x="2047748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p5"/>
            <p:cNvSpPr txBox="1"/>
            <p:nvPr/>
          </p:nvSpPr>
          <p:spPr>
            <a:xfrm>
              <a:off x="2077370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p5</a:t>
              </a:r>
            </a:p>
          </p:txBody>
        </p:sp>
        <p:sp>
          <p:nvSpPr>
            <p:cNvPr id="122" name="rect 31"/>
            <p:cNvSpPr/>
            <p:nvPr/>
          </p:nvSpPr>
          <p:spPr>
            <a:xfrm>
              <a:off x="2047748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6629">
              <a:solidFill>
                <a:srgbClr val="89959D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p5"/>
            <p:cNvSpPr txBox="1"/>
            <p:nvPr/>
          </p:nvSpPr>
          <p:spPr>
            <a:xfrm>
              <a:off x="2077370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89959D"/>
                  </a:solidFill>
                  <a:latin typeface="Noto Sans CJK SC"/>
                  <a:ea typeface="Noto Sans CJK SC"/>
                </a:rPr>
                <a:t>p5</a:t>
              </a:r>
            </a:p>
          </p:txBody>
        </p:sp>
        <p:cxnSp>
          <p:nvCxnSpPr>
            <p:cNvPr id="124" name="path 33"/>
            <p:cNvCxnSpPr/>
            <p:nvPr/>
          </p:nvCxnSpPr>
          <p:spPr>
            <a:xfrm>
              <a:off x="2147189" y="977836"/>
              <a:ext cx="0" cy="114173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 34"/>
            <p:cNvSpPr/>
            <p:nvPr/>
          </p:nvSpPr>
          <p:spPr>
            <a:xfrm>
              <a:off x="2283460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p6"/>
            <p:cNvSpPr txBox="1"/>
            <p:nvPr/>
          </p:nvSpPr>
          <p:spPr>
            <a:xfrm>
              <a:off x="2313082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p6</a:t>
              </a:r>
            </a:p>
          </p:txBody>
        </p:sp>
        <p:sp>
          <p:nvSpPr>
            <p:cNvPr id="127" name="rect 36"/>
            <p:cNvSpPr/>
            <p:nvPr/>
          </p:nvSpPr>
          <p:spPr>
            <a:xfrm>
              <a:off x="2283460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6629">
              <a:solidFill>
                <a:srgbClr val="89959D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p6"/>
            <p:cNvSpPr txBox="1"/>
            <p:nvPr/>
          </p:nvSpPr>
          <p:spPr>
            <a:xfrm>
              <a:off x="2313082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89959D"/>
                  </a:solidFill>
                  <a:latin typeface="Noto Sans CJK SC"/>
                  <a:ea typeface="Noto Sans CJK SC"/>
                </a:rPr>
                <a:t>p6</a:t>
              </a:r>
            </a:p>
          </p:txBody>
        </p:sp>
        <p:cxnSp>
          <p:nvCxnSpPr>
            <p:cNvPr id="129" name="path 38"/>
            <p:cNvCxnSpPr/>
            <p:nvPr/>
          </p:nvCxnSpPr>
          <p:spPr>
            <a:xfrm>
              <a:off x="2382901" y="977836"/>
              <a:ext cx="0" cy="114173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 39"/>
            <p:cNvSpPr/>
            <p:nvPr/>
          </p:nvSpPr>
          <p:spPr>
            <a:xfrm>
              <a:off x="2519172" y="786320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p7"/>
            <p:cNvSpPr txBox="1"/>
            <p:nvPr/>
          </p:nvSpPr>
          <p:spPr>
            <a:xfrm>
              <a:off x="2548794" y="810260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p7</a:t>
              </a:r>
            </a:p>
          </p:txBody>
        </p:sp>
        <p:sp>
          <p:nvSpPr>
            <p:cNvPr id="132" name="rect 41"/>
            <p:cNvSpPr/>
            <p:nvPr/>
          </p:nvSpPr>
          <p:spPr>
            <a:xfrm>
              <a:off x="2519172" y="1114108"/>
              <a:ext cx="198882" cy="173101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6629">
              <a:solidFill>
                <a:srgbClr val="89959D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p7"/>
            <p:cNvSpPr txBox="1"/>
            <p:nvPr/>
          </p:nvSpPr>
          <p:spPr>
            <a:xfrm>
              <a:off x="2548794" y="1138047"/>
              <a:ext cx="139637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89959D"/>
                  </a:solidFill>
                  <a:latin typeface="Noto Sans CJK SC"/>
                  <a:ea typeface="Noto Sans CJK SC"/>
                </a:rPr>
                <a:t>p7</a:t>
              </a:r>
            </a:p>
          </p:txBody>
        </p:sp>
        <p:cxnSp>
          <p:nvCxnSpPr>
            <p:cNvPr id="134" name="path 43"/>
            <p:cNvCxnSpPr/>
            <p:nvPr/>
          </p:nvCxnSpPr>
          <p:spPr>
            <a:xfrm>
              <a:off x="2618613" y="977836"/>
              <a:ext cx="0" cy="114173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已有有效副本：跳过"/>
            <p:cNvSpPr txBox="1"/>
            <p:nvPr/>
          </p:nvSpPr>
          <p:spPr>
            <a:xfrm>
              <a:off x="937324" y="1318514"/>
              <a:ext cx="740283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已有有效副本：跳过</a:t>
              </a:r>
            </a:p>
          </p:txBody>
        </p:sp>
        <p:sp>
          <p:nvSpPr>
            <p:cNvPr id="136" name="仅复制缺失段"/>
            <p:cNvSpPr txBox="1"/>
            <p:nvPr/>
          </p:nvSpPr>
          <p:spPr>
            <a:xfrm>
              <a:off x="2003552" y="1323118"/>
              <a:ext cx="486156" cy="12246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仅复制缺失段</a:t>
              </a:r>
            </a:p>
          </p:txBody>
        </p:sp>
        <p:sp>
          <p:nvSpPr>
            <p:cNvPr id="137" name="PREPARE_HOST 仅备份缺失 FULL；备份本身不释放 HBM。"/>
            <p:cNvSpPr txBox="1"/>
            <p:nvPr/>
          </p:nvSpPr>
          <p:spPr>
            <a:xfrm>
              <a:off x="228346" y="1436370"/>
              <a:ext cx="2108935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PREPARE_HOST 仅备份缺失 FULL；备份本身不释放 HBM。</a:t>
              </a:r>
            </a:p>
          </p:txBody>
        </p:sp>
        <p:sp>
          <p:nvSpPr>
            <p:cNvPr id="138" name="rect 47"/>
            <p:cNvSpPr/>
            <p:nvPr/>
          </p:nvSpPr>
          <p:spPr>
            <a:xfrm>
              <a:off x="3056890" y="480632"/>
              <a:ext cx="2099310" cy="1097534"/>
            </a:xfrm>
            <a:prstGeom prst="roundRect">
              <a:avLst>
                <a:gd name="adj" fmla="val 1006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9" name="line 48"/>
            <p:cNvCxnSpPr/>
            <p:nvPr/>
          </p:nvCxnSpPr>
          <p:spPr>
            <a:xfrm>
              <a:off x="3060573" y="484314"/>
              <a:ext cx="2091944" cy="0"/>
            </a:xfrm>
            <a:prstGeom prst="line">
              <a:avLst/>
            </a:prstGeom>
            <a:ln w="11049">
              <a:solidFill>
                <a:srgbClr val="A96F1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(b) 必要 Mamba checkpoint"/>
            <p:cNvSpPr txBox="1"/>
            <p:nvPr/>
          </p:nvSpPr>
          <p:spPr>
            <a:xfrm>
              <a:off x="3137916" y="516541"/>
              <a:ext cx="1310601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(b) 必要 Mamba checkpoint</a:t>
              </a:r>
            </a:p>
          </p:txBody>
        </p:sp>
        <p:sp>
          <p:nvSpPr>
            <p:cNvPr id="141" name="rect 50"/>
            <p:cNvSpPr/>
            <p:nvPr/>
          </p:nvSpPr>
          <p:spPr>
            <a:xfrm>
              <a:off x="3196844" y="786320"/>
              <a:ext cx="478790" cy="250444"/>
            </a:xfrm>
            <a:prstGeom prst="roundRect">
              <a:avLst>
                <a:gd name="adj" fmla="val 2941"/>
              </a:avLst>
            </a:prstGeom>
            <a:solidFill>
              <a:srgbClr val="F2F4F5"/>
            </a:solidFill>
            <a:ln w="4788">
              <a:solidFill>
                <a:srgbClr val="8995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0"/>
            <p:cNvSpPr txBox="1"/>
            <p:nvPr/>
          </p:nvSpPr>
          <p:spPr>
            <a:xfrm>
              <a:off x="3364190" y="836041"/>
              <a:ext cx="144097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s0</a:t>
              </a:r>
            </a:p>
          </p:txBody>
        </p:sp>
        <p:sp>
          <p:nvSpPr>
            <p:cNvPr id="143" name="rect 52"/>
            <p:cNvSpPr/>
            <p:nvPr/>
          </p:nvSpPr>
          <p:spPr>
            <a:xfrm>
              <a:off x="3811905" y="786320"/>
              <a:ext cx="478790" cy="250444"/>
            </a:xfrm>
            <a:prstGeom prst="roundRect">
              <a:avLst>
                <a:gd name="adj" fmla="val 2941"/>
              </a:avLst>
            </a:prstGeom>
            <a:solidFill>
              <a:srgbClr val="F2F4F5"/>
            </a:solidFill>
            <a:ln w="4788">
              <a:solidFill>
                <a:srgbClr val="8995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1"/>
            <p:cNvSpPr txBox="1"/>
            <p:nvPr/>
          </p:nvSpPr>
          <p:spPr>
            <a:xfrm>
              <a:off x="3979251" y="836041"/>
              <a:ext cx="144097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s1</a:t>
              </a:r>
            </a:p>
          </p:txBody>
        </p:sp>
        <p:sp>
          <p:nvSpPr>
            <p:cNvPr id="145" name="rect 54"/>
            <p:cNvSpPr/>
            <p:nvPr/>
          </p:nvSpPr>
          <p:spPr>
            <a:xfrm>
              <a:off x="4426966" y="786320"/>
              <a:ext cx="478790" cy="250444"/>
            </a:xfrm>
            <a:prstGeom prst="roundRect">
              <a:avLst>
                <a:gd name="adj" fmla="val 2941"/>
              </a:avLst>
            </a:prstGeom>
            <a:solidFill>
              <a:srgbClr val="FBF2E3"/>
            </a:solidFill>
            <a:ln w="4788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s2"/>
            <p:cNvSpPr txBox="1"/>
            <p:nvPr/>
          </p:nvSpPr>
          <p:spPr>
            <a:xfrm>
              <a:off x="4594312" y="836041"/>
              <a:ext cx="144097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s2</a:t>
              </a:r>
            </a:p>
          </p:txBody>
        </p:sp>
        <p:cxnSp>
          <p:nvCxnSpPr>
            <p:cNvPr id="147" name="path 56"/>
            <p:cNvCxnSpPr/>
            <p:nvPr/>
          </p:nvCxnSpPr>
          <p:spPr>
            <a:xfrm>
              <a:off x="3686683" y="911542"/>
              <a:ext cx="117856" cy="0"/>
            </a:xfrm>
            <a:prstGeom prst="line">
              <a:avLst/>
            </a:prstGeom>
            <a:ln w="8839">
              <a:solidFill>
                <a:srgbClr val="687680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path 57"/>
            <p:cNvCxnSpPr/>
            <p:nvPr/>
          </p:nvCxnSpPr>
          <p:spPr>
            <a:xfrm>
              <a:off x="4301744" y="911542"/>
              <a:ext cx="117856" cy="0"/>
            </a:xfrm>
            <a:prstGeom prst="line">
              <a:avLst/>
            </a:prstGeom>
            <a:ln w="8839">
              <a:solidFill>
                <a:srgbClr val="A96F1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选择目标 checkpoint 所需状态"/>
            <p:cNvSpPr txBox="1"/>
            <p:nvPr/>
          </p:nvSpPr>
          <p:spPr>
            <a:xfrm>
              <a:off x="3468055" y="1078198"/>
              <a:ext cx="115175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选择目标 checkpoint 所需状态</a:t>
              </a:r>
            </a:p>
          </p:txBody>
        </p:sp>
        <p:sp>
          <p:nvSpPr>
            <p:cNvPr id="150" name="PREPARE_HOST 不投机备份 Mamba。"/>
            <p:cNvSpPr txBox="1"/>
            <p:nvPr/>
          </p:nvSpPr>
          <p:spPr>
            <a:xfrm>
              <a:off x="3137916" y="1240250"/>
              <a:ext cx="145259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PREPARE_HOST 不投机备份 Mamba。</a:t>
              </a:r>
            </a:p>
          </p:txBody>
        </p:sp>
        <p:sp>
          <p:nvSpPr>
            <p:cNvPr id="151" name="其他有效状态仍由原生缓存管理。"/>
            <p:cNvSpPr txBox="1"/>
            <p:nvPr/>
          </p:nvSpPr>
          <p:spPr>
            <a:xfrm>
              <a:off x="3137916" y="1361789"/>
              <a:ext cx="1259586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其他有效状态仍由原生缓存管理。</a:t>
              </a:r>
            </a:p>
          </p:txBody>
        </p:sp>
        <p:sp>
          <p:nvSpPr>
            <p:cNvPr id="152" name="rect 61"/>
            <p:cNvSpPr/>
            <p:nvPr/>
          </p:nvSpPr>
          <p:spPr>
            <a:xfrm>
              <a:off x="147320" y="1736534"/>
              <a:ext cx="5008880" cy="1620520"/>
            </a:xfrm>
            <a:prstGeom prst="roundRect">
              <a:avLst>
                <a:gd name="adj" fmla="val 681"/>
              </a:avLst>
            </a:prstGeom>
            <a:solidFill>
              <a:srgbClr val="FFFFFF"/>
            </a:solidFill>
            <a:ln w="6261">
              <a:solidFill>
                <a:srgbClr val="D4DB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3" name="line 62"/>
            <p:cNvCxnSpPr/>
            <p:nvPr/>
          </p:nvCxnSpPr>
          <p:spPr>
            <a:xfrm>
              <a:off x="151003" y="1740218"/>
              <a:ext cx="5001514" cy="0"/>
            </a:xfrm>
            <a:prstGeom prst="line">
              <a:avLst/>
            </a:prstGeom>
            <a:ln w="11049">
              <a:solidFill>
                <a:srgbClr val="3D6F9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(c) 协同 Child 回收、Parent 恢复与准入"/>
            <p:cNvSpPr txBox="1"/>
            <p:nvPr/>
          </p:nvSpPr>
          <p:spPr>
            <a:xfrm>
              <a:off x="228346" y="1772444"/>
              <a:ext cx="1771106" cy="1537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4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(c) 协同 Child 回收、Parent 恢复与准入</a:t>
              </a:r>
            </a:p>
          </p:txBody>
        </p:sp>
        <p:sp>
          <p:nvSpPr>
            <p:cNvPr id="155" name="circle 64"/>
            <p:cNvSpPr/>
            <p:nvPr/>
          </p:nvSpPr>
          <p:spPr>
            <a:xfrm>
              <a:off x="338836" y="2141664"/>
              <a:ext cx="184150" cy="184150"/>
            </a:xfrm>
            <a:prstGeom prst="ellipse">
              <a:avLst/>
            </a:prstGeom>
            <a:solidFill>
              <a:srgbClr val="EDF3F8"/>
            </a:solidFill>
            <a:ln w="5156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"/>
            <p:cNvSpPr txBox="1"/>
            <p:nvPr/>
          </p:nvSpPr>
          <p:spPr>
            <a:xfrm>
              <a:off x="378104" y="2159159"/>
              <a:ext cx="105613" cy="14824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5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P</a:t>
              </a:r>
            </a:p>
          </p:txBody>
        </p:sp>
        <p:sp>
          <p:nvSpPr>
            <p:cNvPr id="157" name="circle 66"/>
            <p:cNvSpPr/>
            <p:nvPr/>
          </p:nvSpPr>
          <p:spPr>
            <a:xfrm>
              <a:off x="872871" y="2023808"/>
              <a:ext cx="191516" cy="191516"/>
            </a:xfrm>
            <a:prstGeom prst="ellipse">
              <a:avLst/>
            </a:prstGeom>
            <a:solidFill>
              <a:srgbClr val="EAF3F1"/>
            </a:solidFill>
            <a:ln w="5156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1"/>
            <p:cNvSpPr txBox="1"/>
            <p:nvPr/>
          </p:nvSpPr>
          <p:spPr>
            <a:xfrm>
              <a:off x="896048" y="2053088"/>
              <a:ext cx="145162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C1</a:t>
              </a:r>
            </a:p>
          </p:txBody>
        </p:sp>
        <p:sp>
          <p:nvSpPr>
            <p:cNvPr id="159" name="circle 68"/>
            <p:cNvSpPr/>
            <p:nvPr/>
          </p:nvSpPr>
          <p:spPr>
            <a:xfrm>
              <a:off x="872871" y="2333180"/>
              <a:ext cx="191516" cy="191516"/>
            </a:xfrm>
            <a:prstGeom prst="ellipse">
              <a:avLst/>
            </a:prstGeom>
            <a:solidFill>
              <a:srgbClr val="FBF2E3"/>
            </a:solidFill>
            <a:ln w="5156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2"/>
            <p:cNvSpPr txBox="1"/>
            <p:nvPr/>
          </p:nvSpPr>
          <p:spPr>
            <a:xfrm>
              <a:off x="896048" y="2362460"/>
              <a:ext cx="145162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C2</a:t>
              </a:r>
            </a:p>
          </p:txBody>
        </p:sp>
        <p:cxnSp>
          <p:nvCxnSpPr>
            <p:cNvPr id="161" name="path 70"/>
            <p:cNvCxnSpPr/>
            <p:nvPr/>
          </p:nvCxnSpPr>
          <p:spPr>
            <a:xfrm flipV="1">
              <a:off x="522986" y="2112200"/>
              <a:ext cx="342519" cy="88392"/>
            </a:xfrm>
            <a:prstGeom prst="line">
              <a:avLst/>
            </a:prstGeom>
            <a:ln w="8839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path 71"/>
            <p:cNvCxnSpPr/>
            <p:nvPr/>
          </p:nvCxnSpPr>
          <p:spPr>
            <a:xfrm>
              <a:off x="522986" y="2274252"/>
              <a:ext cx="342519" cy="132588"/>
            </a:xfrm>
            <a:prstGeom prst="line">
              <a:avLst/>
            </a:prstGeom>
            <a:ln w="8839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WAIT_JOIN"/>
            <p:cNvSpPr txBox="1"/>
            <p:nvPr/>
          </p:nvSpPr>
          <p:spPr>
            <a:xfrm>
              <a:off x="224404" y="2351596"/>
              <a:ext cx="390916" cy="1114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2" b="0" lang="zh-CN" spc="0">
                  <a:solidFill>
                    <a:srgbClr val="687680"/>
                  </a:solidFill>
                  <a:latin typeface="Noto Sans CJK SC"/>
                  <a:ea typeface="Noto Sans CJK SC"/>
                </a:rPr>
                <a:t>WAIT_JOIN</a:t>
              </a:r>
            </a:p>
          </p:txBody>
        </p:sp>
        <p:sp>
          <p:nvSpPr>
            <p:cNvPr id="164" name="RETURN"/>
            <p:cNvSpPr txBox="1"/>
            <p:nvPr/>
          </p:nvSpPr>
          <p:spPr>
            <a:xfrm>
              <a:off x="803225" y="1905952"/>
              <a:ext cx="316076" cy="1114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2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RETURN</a:t>
              </a:r>
            </a:p>
          </p:txBody>
        </p:sp>
        <p:sp>
          <p:nvSpPr>
            <p:cNvPr id="165" name="仍在运行"/>
            <p:cNvSpPr txBox="1"/>
            <p:nvPr/>
          </p:nvSpPr>
          <p:spPr>
            <a:xfrm>
              <a:off x="813943" y="2538508"/>
              <a:ext cx="324104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仍在运行</a:t>
              </a:r>
            </a:p>
          </p:txBody>
        </p:sp>
        <p:cxnSp>
          <p:nvCxnSpPr>
            <p:cNvPr id="166" name="path 75"/>
            <p:cNvCxnSpPr/>
            <p:nvPr/>
          </p:nvCxnSpPr>
          <p:spPr>
            <a:xfrm>
              <a:off x="1071753" y="2119566"/>
              <a:ext cx="294640" cy="0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rect 76"/>
            <p:cNvSpPr/>
            <p:nvPr/>
          </p:nvSpPr>
          <p:spPr>
            <a:xfrm>
              <a:off x="1377442" y="1986978"/>
              <a:ext cx="1064387" cy="648208"/>
            </a:xfrm>
            <a:prstGeom prst="roundRect">
              <a:avLst>
                <a:gd name="adj" fmla="val 1136"/>
              </a:avLst>
            </a:prstGeom>
            <a:solidFill>
              <a:srgbClr val="EAF3F1"/>
            </a:solidFill>
            <a:ln w="6629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回收私有页"/>
            <p:cNvSpPr txBox="1"/>
            <p:nvPr/>
          </p:nvSpPr>
          <p:spPr>
            <a:xfrm>
              <a:off x="1692338" y="2033016"/>
              <a:ext cx="430911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回收私有页</a:t>
              </a:r>
            </a:p>
          </p:txBody>
        </p:sp>
        <p:sp>
          <p:nvSpPr>
            <p:cNvPr id="169" name="无活跃或共享引用"/>
            <p:cNvSpPr txBox="1"/>
            <p:nvPr/>
          </p:nvSpPr>
          <p:spPr>
            <a:xfrm>
              <a:off x="1454785" y="2192306"/>
              <a:ext cx="604012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无活跃或共享引用</a:t>
              </a:r>
            </a:p>
          </p:txBody>
        </p:sp>
        <p:sp>
          <p:nvSpPr>
            <p:cNvPr id="170" name="无在途传输依赖"/>
            <p:cNvSpPr txBox="1"/>
            <p:nvPr/>
          </p:nvSpPr>
          <p:spPr>
            <a:xfrm>
              <a:off x="1454785" y="2313845"/>
              <a:ext cx="534035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无在途传输依赖</a:t>
              </a:r>
            </a:p>
          </p:txBody>
        </p:sp>
        <p:sp>
          <p:nvSpPr>
            <p:cNvPr id="171" name="保留共享前缀"/>
            <p:cNvSpPr txBox="1"/>
            <p:nvPr/>
          </p:nvSpPr>
          <p:spPr>
            <a:xfrm>
              <a:off x="1454785" y="2435384"/>
              <a:ext cx="464058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保留共享前缀</a:t>
              </a:r>
            </a:p>
          </p:txBody>
        </p:sp>
        <p:cxnSp>
          <p:nvCxnSpPr>
            <p:cNvPr id="172" name="path 81"/>
            <p:cNvCxnSpPr/>
            <p:nvPr/>
          </p:nvCxnSpPr>
          <p:spPr>
            <a:xfrm>
              <a:off x="2445512" y="2311082"/>
              <a:ext cx="209931" cy="0"/>
            </a:xfrm>
            <a:prstGeom prst="line">
              <a:avLst/>
            </a:prstGeom>
            <a:ln w="8839">
              <a:solidFill>
                <a:srgbClr val="357B73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ect 82"/>
            <p:cNvSpPr/>
            <p:nvPr/>
          </p:nvSpPr>
          <p:spPr>
            <a:xfrm>
              <a:off x="2662809" y="1986978"/>
              <a:ext cx="983361" cy="648208"/>
            </a:xfrm>
            <a:prstGeom prst="roundRect">
              <a:avLst>
                <a:gd name="adj" fmla="val 1136"/>
              </a:avLst>
            </a:prstGeom>
            <a:solidFill>
              <a:srgbClr val="F2F4F5"/>
            </a:solidFill>
            <a:ln w="6629">
              <a:solidFill>
                <a:srgbClr val="8995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原生空闲列表"/>
            <p:cNvSpPr txBox="1"/>
            <p:nvPr/>
          </p:nvSpPr>
          <p:spPr>
            <a:xfrm>
              <a:off x="2876423" y="2028412"/>
              <a:ext cx="552450" cy="138112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7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原生空闲列表</a:t>
              </a:r>
            </a:p>
          </p:txBody>
        </p:sp>
        <p:sp>
          <p:nvSpPr>
            <p:cNvPr id="175" name="rect 84"/>
            <p:cNvSpPr/>
            <p:nvPr/>
          </p:nvSpPr>
          <p:spPr>
            <a:xfrm>
              <a:off x="2747518" y="2230056"/>
              <a:ext cx="813943" cy="143637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4788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ULL 页"/>
            <p:cNvSpPr txBox="1"/>
            <p:nvPr/>
          </p:nvSpPr>
          <p:spPr>
            <a:xfrm>
              <a:off x="2988697" y="2237938"/>
              <a:ext cx="331585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FULL 页</a:t>
              </a:r>
            </a:p>
          </p:txBody>
        </p:sp>
        <p:sp>
          <p:nvSpPr>
            <p:cNvPr id="177" name="rect 86"/>
            <p:cNvSpPr/>
            <p:nvPr/>
          </p:nvSpPr>
          <p:spPr>
            <a:xfrm>
              <a:off x="2747518" y="2421572"/>
              <a:ext cx="813943" cy="143637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4788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Mamba 槽位"/>
            <p:cNvSpPr txBox="1"/>
            <p:nvPr/>
          </p:nvSpPr>
          <p:spPr>
            <a:xfrm>
              <a:off x="2905937" y="2429454"/>
              <a:ext cx="497104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Mamba 槽位</a:t>
              </a:r>
            </a:p>
          </p:txBody>
        </p:sp>
        <p:cxnSp>
          <p:nvCxnSpPr>
            <p:cNvPr id="179" name="path 88"/>
            <p:cNvCxnSpPr/>
            <p:nvPr/>
          </p:nvCxnSpPr>
          <p:spPr>
            <a:xfrm>
              <a:off x="3649853" y="2311082"/>
              <a:ext cx="202565" cy="0"/>
            </a:xfrm>
            <a:prstGeom prst="line">
              <a:avLst/>
            </a:prstGeom>
            <a:ln w="8839">
              <a:solidFill>
                <a:srgbClr val="3D6F9F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rect 89"/>
            <p:cNvSpPr/>
            <p:nvPr/>
          </p:nvSpPr>
          <p:spPr>
            <a:xfrm>
              <a:off x="3859784" y="1986978"/>
              <a:ext cx="1193292" cy="648208"/>
            </a:xfrm>
            <a:prstGeom prst="roundRect">
              <a:avLst>
                <a:gd name="adj" fmla="val 1136"/>
              </a:avLst>
            </a:prstGeom>
            <a:solidFill>
              <a:srgbClr val="EDF3F8"/>
            </a:solidFill>
            <a:ln w="6629">
              <a:solidFill>
                <a:srgbClr val="3D6F9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Parent 恢复与执行"/>
            <p:cNvSpPr txBox="1"/>
            <p:nvPr/>
          </p:nvSpPr>
          <p:spPr>
            <a:xfrm>
              <a:off x="4105207" y="2036699"/>
              <a:ext cx="702446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1" lang="zh-CN" spc="0">
                  <a:solidFill>
                    <a:srgbClr val="3D6F9F"/>
                  </a:solidFill>
                  <a:latin typeface="Noto Sans CJK SC"/>
                  <a:ea typeface="Noto Sans CJK SC"/>
                </a:rPr>
                <a:t>Parent 恢复与执行</a:t>
              </a:r>
            </a:p>
          </p:txBody>
        </p:sp>
        <p:sp>
          <p:nvSpPr>
            <p:cNvPr id="182" name="加载缺失 checkpoint 页"/>
            <p:cNvSpPr txBox="1"/>
            <p:nvPr/>
          </p:nvSpPr>
          <p:spPr>
            <a:xfrm>
              <a:off x="3940810" y="2192306"/>
              <a:ext cx="790824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加载缺失 checkpoint 页</a:t>
              </a:r>
            </a:p>
          </p:txBody>
        </p:sp>
        <p:sp>
          <p:nvSpPr>
            <p:cNvPr id="183" name="预留输入与 decode 增长"/>
            <p:cNvSpPr txBox="1"/>
            <p:nvPr/>
          </p:nvSpPr>
          <p:spPr>
            <a:xfrm>
              <a:off x="3940810" y="2313845"/>
              <a:ext cx="806145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预留输入与 decode 增长</a:t>
              </a:r>
            </a:p>
          </p:txBody>
        </p:sp>
        <p:sp>
          <p:nvSpPr>
            <p:cNvPr id="184" name="有界恢复感知准入"/>
            <p:cNvSpPr txBox="1"/>
            <p:nvPr/>
          </p:nvSpPr>
          <p:spPr>
            <a:xfrm>
              <a:off x="3940810" y="2435384"/>
              <a:ext cx="604012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有界恢复感知准入</a:t>
              </a:r>
            </a:p>
          </p:txBody>
        </p:sp>
        <p:cxnSp>
          <p:nvCxnSpPr>
            <p:cNvPr id="185" name="line 94"/>
            <p:cNvCxnSpPr/>
            <p:nvPr/>
          </p:nvCxnSpPr>
          <p:spPr>
            <a:xfrm>
              <a:off x="456692" y="2778824"/>
              <a:ext cx="4574286" cy="0"/>
            </a:xfrm>
            <a:prstGeom prst="line">
              <a:avLst/>
            </a:prstGeom>
            <a:ln w="4788">
              <a:solidFill>
                <a:srgbClr val="D4DBE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较早结束的 Child"/>
            <p:cNvSpPr txBox="1"/>
            <p:nvPr/>
          </p:nvSpPr>
          <p:spPr>
            <a:xfrm>
              <a:off x="239395" y="2857087"/>
              <a:ext cx="675054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1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较早结束的 Child</a:t>
              </a:r>
            </a:p>
          </p:txBody>
        </p:sp>
        <p:sp>
          <p:nvSpPr>
            <p:cNvPr id="187" name="最后一个 Child"/>
            <p:cNvSpPr txBox="1"/>
            <p:nvPr/>
          </p:nvSpPr>
          <p:spPr>
            <a:xfrm>
              <a:off x="239395" y="3037554"/>
              <a:ext cx="594028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1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最后一个 Child</a:t>
              </a:r>
            </a:p>
          </p:txBody>
        </p:sp>
        <p:sp>
          <p:nvSpPr>
            <p:cNvPr id="188" name="circle 97"/>
            <p:cNvSpPr/>
            <p:nvPr/>
          </p:nvSpPr>
          <p:spPr>
            <a:xfrm>
              <a:off x="1263269" y="2900362"/>
              <a:ext cx="36830" cy="36830"/>
            </a:xfrm>
            <a:prstGeom prst="ellipse">
              <a:avLst/>
            </a:prstGeom>
            <a:solidFill>
              <a:srgbClr val="357B73"/>
            </a:solidFill>
            <a:ln w="3683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TURN → 释放容量"/>
            <p:cNvSpPr txBox="1"/>
            <p:nvPr/>
          </p:nvSpPr>
          <p:spPr>
            <a:xfrm>
              <a:off x="1355344" y="2861691"/>
              <a:ext cx="767344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RETURN → 释放容量</a:t>
              </a:r>
            </a:p>
          </p:txBody>
        </p:sp>
        <p:sp>
          <p:nvSpPr>
            <p:cNvPr id="190" name="rect 99"/>
            <p:cNvSpPr/>
            <p:nvPr/>
          </p:nvSpPr>
          <p:spPr>
            <a:xfrm>
              <a:off x="2578100" y="2841434"/>
              <a:ext cx="1322197" cy="151003"/>
            </a:xfrm>
            <a:prstGeom prst="roundRect">
              <a:avLst>
                <a:gd name="adj" fmla="val 4878"/>
              </a:avLst>
            </a:prstGeom>
            <a:solidFill>
              <a:srgbClr val="EAF3F1"/>
            </a:solidFill>
            <a:ln w="5893">
              <a:solidFill>
                <a:srgbClr val="357B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Parent 预测性 H2D"/>
            <p:cNvSpPr txBox="1"/>
            <p:nvPr/>
          </p:nvSpPr>
          <p:spPr>
            <a:xfrm>
              <a:off x="2887127" y="2854325"/>
              <a:ext cx="700460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357B73"/>
                  </a:solidFill>
                  <a:latin typeface="Noto Sans CJK SC"/>
                  <a:ea typeface="Noto Sans CJK SC"/>
                </a:rPr>
                <a:t>Parent 预测性 H2D</a:t>
              </a:r>
            </a:p>
          </p:txBody>
        </p:sp>
        <p:sp>
          <p:nvSpPr>
            <p:cNvPr id="192" name="rect 101"/>
            <p:cNvSpPr/>
            <p:nvPr/>
          </p:nvSpPr>
          <p:spPr>
            <a:xfrm>
              <a:off x="1285367" y="3036634"/>
              <a:ext cx="2913253" cy="143637"/>
            </a:xfrm>
            <a:prstGeom prst="roundRect">
              <a:avLst>
                <a:gd name="adj" fmla="val 5128"/>
              </a:avLst>
            </a:prstGeom>
            <a:solidFill>
              <a:srgbClr val="FBF2E3"/>
            </a:solidFill>
            <a:ln w="5893">
              <a:solidFill>
                <a:srgbClr val="A96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最后生成仍在继续"/>
            <p:cNvSpPr txBox="1"/>
            <p:nvPr/>
          </p:nvSpPr>
          <p:spPr>
            <a:xfrm>
              <a:off x="2408682" y="3045841"/>
              <a:ext cx="662940" cy="127984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9" b="0" lang="zh-CN" spc="0">
                  <a:solidFill>
                    <a:srgbClr val="A96F1F"/>
                  </a:solidFill>
                  <a:latin typeface="Noto Sans CJK SC"/>
                  <a:ea typeface="Noto Sans CJK SC"/>
                </a:rPr>
                <a:t>最后生成仍在继续</a:t>
              </a:r>
            </a:p>
          </p:txBody>
        </p:sp>
        <p:cxnSp>
          <p:nvCxnSpPr>
            <p:cNvPr id="194" name="line 103"/>
            <p:cNvCxnSpPr/>
            <p:nvPr/>
          </p:nvCxnSpPr>
          <p:spPr>
            <a:xfrm>
              <a:off x="4202303" y="2808288"/>
              <a:ext cx="0" cy="423545"/>
            </a:xfrm>
            <a:prstGeom prst="line">
              <a:avLst/>
            </a:prstGeom>
            <a:ln w="5893">
              <a:solidFill>
                <a:srgbClr val="89959D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RETURN"/>
            <p:cNvSpPr txBox="1"/>
            <p:nvPr/>
          </p:nvSpPr>
          <p:spPr>
            <a:xfrm>
              <a:off x="4257548" y="3043079"/>
              <a:ext cx="331153" cy="1169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1" b="1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RETURN</a:t>
              </a:r>
            </a:p>
          </p:txBody>
        </p:sp>
        <p:sp>
          <p:nvSpPr>
            <p:cNvPr id="196" name="较早结束的 sibling 可支持 RETURN 前预取；最后一个 child 的容量只能在结束后使用。"/>
            <p:cNvSpPr txBox="1"/>
            <p:nvPr/>
          </p:nvSpPr>
          <p:spPr>
            <a:xfrm>
              <a:off x="147320" y="3439001"/>
              <a:ext cx="3174760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较早结束的 sibling 可支持 RETURN 前预取；最后一个 child 的容量只能在结束后使用。</a:t>
              </a:r>
            </a:p>
          </p:txBody>
        </p:sp>
        <p:sp>
          <p:nvSpPr>
            <p:cNvPr id="197" name="回收容量通过原生分配器使用；共享页与仍在执行的页面保留。"/>
            <p:cNvSpPr txBox="1"/>
            <p:nvPr/>
          </p:nvSpPr>
          <p:spPr>
            <a:xfrm>
              <a:off x="147320" y="3553174"/>
              <a:ext cx="2312924" cy="133509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8" b="0" lang="zh-CN" spc="0">
                  <a:solidFill>
                    <a:srgbClr val="263746"/>
                  </a:solidFill>
                  <a:latin typeface="Noto Sans CJK SC"/>
                  <a:ea typeface="Noto Sans CJK SC"/>
                </a:rPr>
                <a:t>回收容量通过原生分配器使用；共享页与仍在执行的页面保留。</a:t>
              </a:r>
            </a:p>
          </p:txBody>
        </p:sp>
      </p:grpSp>
      <p:sp>
        <p:nvSpPr>
          <p:cNvPr id="198" name="TextBox 197"/>
          <p:cNvSpPr txBox="1"/>
          <p:nvPr/>
        </p:nvSpPr>
        <p:spPr>
          <a:xfrm>
            <a:off x="6309360" y="579729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zh-CN" spc="0">
                <a:solidFill>
                  <a:srgbClr val="596875"/>
                </a:solidFill>
                <a:latin typeface="微软雅黑"/>
                <a:ea typeface="微软雅黑"/>
              </a:rPr>
              <a:t>缺失页备份 → child 回收 → parent 恢复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6108192" y="1700784"/>
            <a:ext cx="0" cy="4197096"/>
          </a:xfrm>
          <a:prstGeom prst="line">
            <a:avLst/>
          </a:prstGeom>
          <a:ln w="12700">
            <a:solidFill>
              <a:srgbClr val="D6DF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lang="zh-CN" spc="0">
                <a:solidFill>
                  <a:srgbClr val="FFFFFF"/>
                </a:solidFill>
                <a:latin typeface="微软雅黑"/>
                <a:ea typeface="微软雅黑"/>
              </a:rPr>
              <a:t>下月目标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0" y="621792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zh-CN" spc="0">
                <a:solidFill>
                  <a:srgbClr val="596875"/>
                </a:solidFill>
                <a:latin typeface="微软雅黑"/>
                <a:ea typeface="微软雅黑"/>
              </a:rPr>
              <a:t>BeliefKV  |  2026.08.15 - 2026.10.11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09928"/>
            <a:ext cx="107259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lang="zh-CN" spc="0">
                <a:solidFill>
                  <a:srgbClr val="01639C"/>
                </a:solidFill>
                <a:latin typeface="微软雅黑"/>
                <a:ea typeface="微软雅黑"/>
              </a:rPr>
              <a:t>聚焦：让预测式 KV 迁移带来可验证的端到端收益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14016"/>
            <a:ext cx="6675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zh-CN" spc="0">
                <a:solidFill>
                  <a:srgbClr val="01639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784" y="2432304"/>
            <a:ext cx="96926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zh-CN" spc="0">
                <a:solidFill>
                  <a:srgbClr val="162A46"/>
                </a:solidFill>
                <a:latin typeface="微软雅黑"/>
                <a:ea typeface="微软雅黑"/>
              </a:rPr>
              <a:t>提高有效预取覆盖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2862072"/>
            <a:ext cx="9692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融合通知、正文与 decode 进度，改善 child / tool 完成预测。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覆盖更多 Host-only FULL 页，统计返回前恢复与下一请求实际复用。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74720"/>
            <a:ext cx="6675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zh-CN" spc="0">
                <a:solidFill>
                  <a:srgbClr val="01639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3493008"/>
            <a:ext cx="96926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zh-CN" spc="0">
                <a:solidFill>
                  <a:srgbClr val="162A46"/>
                </a:solidFill>
                <a:latin typeface="微软雅黑"/>
                <a:ea typeface="微软雅黑"/>
              </a:rPr>
              <a:t>恢复与调度协同，降低额外开销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3922776"/>
            <a:ext cx="9692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联动容量回收、驻留与准入，减少重复加载和 ACK 后排队。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削减候选检查、前缀扫描与控制交付成本，避免抵消迁移收益。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35424"/>
            <a:ext cx="6675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zh-CN" spc="0">
                <a:solidFill>
                  <a:srgbClr val="01639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4553712"/>
            <a:ext cx="96926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zh-CN" spc="0">
                <a:solidFill>
                  <a:srgbClr val="162A46"/>
                </a:solidFill>
                <a:latin typeface="微软雅黑"/>
                <a:ea typeface="微软雅黑"/>
              </a:rPr>
              <a:t>建立公平、稳定的性能证据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4983480"/>
            <a:ext cx="96926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同版本、同负载对比原生 SGLang，正式实验采用多轮平均。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zh-CN" spc="0">
                <a:solidFill>
                  <a:srgbClr val="596875"/>
                </a:solidFill>
                <a:latin typeface="微软雅黑"/>
                <a:ea typeface="微软雅黑"/>
              </a:rPr>
              <a:t>综合报告繁忙窗口吞吐、成功工作流吞吐、配对 JCT 与重算。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5632704"/>
            <a:ext cx="10707624" cy="0"/>
          </a:xfrm>
          <a:prstGeom prst="line">
            <a:avLst/>
          </a:prstGeom>
          <a:ln w="19050">
            <a:solidFill>
              <a:srgbClr val="D6DF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5769864"/>
            <a:ext cx="1070762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zh-CN" spc="0">
                <a:solidFill>
                  <a:srgbClr val="357B73"/>
                </a:solidFill>
                <a:latin typeface="微软雅黑"/>
                <a:ea typeface="微软雅黑"/>
              </a:rPr>
              <a:t>验收：提高繁忙窗口与成功工作流吞吐，同时降低完成时间。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UCSD Colors">
      <a:dk1>
        <a:srgbClr val="162A46"/>
      </a:dk1>
      <a:lt1>
        <a:srgbClr val="FFFFFF"/>
      </a:lt1>
      <a:dk2>
        <a:srgbClr val="01639C"/>
      </a:dk2>
      <a:lt2>
        <a:srgbClr val="FFFFFF"/>
      </a:lt2>
      <a:accent1>
        <a:srgbClr val="23B8D1"/>
      </a:accent1>
      <a:accent2>
        <a:srgbClr val="73953E"/>
      </a:accent2>
      <a:accent3>
        <a:srgbClr val="FEE70C"/>
      </a:accent3>
      <a:accent4>
        <a:srgbClr val="EE8F00"/>
      </a:accent4>
      <a:accent5>
        <a:srgbClr val="B3ACA3"/>
      </a:accent5>
      <a:accent6>
        <a:srgbClr val="C79100"/>
      </a:accent6>
      <a:hlink>
        <a:srgbClr val="0329D7"/>
      </a:hlink>
      <a:folHlink>
        <a:srgbClr val="0229D7"/>
      </a:folHlink>
    </a:clrScheme>
    <a:fontScheme name="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F5A96"/>
        </a:solidFill>
        <a:ln w="19050">
          <a:noFill/>
        </a:ln>
      </a:spPr>
      <a:bodyPr rtlCol="0" anchor="ctr"/>
      <a:lstStyle>
        <a:defPPr algn="ctr"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0" cap="rnd">
          <a:solidFill>
            <a:schemeClr val="tx1">
              <a:lumMod val="75000"/>
              <a:lumOff val="2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VSL Theme 2017" id="{DE8EA867-0853-494F-A09B-B10C013CFBD5}" vid="{D842794D-E2C9-9E4F-BE0C-DC063DA5B8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>
    <EmailTo xmlns="http://schemas.microsoft.com/sharepoint/v3">docs@archpoint.sctechies.com &amp;lt;docs@archpoint.sctechies.com&amp;gt;</EmailTo>
    <EmailSender xmlns="http://schemas.microsoft.com/sharepoint/v3">&lt;a href="mailto:acaulfie@cs.ucsd.edu"&gt;acaulfie@cs.ucsd.edu&lt;/a&gt;</EmailSender>
    <EmailFrom xmlns="http://schemas.microsoft.com/sharepoint/v3">Adrian Caulfield &lt;acaulfie@cs.ucsd.edu&gt;</EmailFrom>
    <EmailSubject xmlns="http://schemas.microsoft.com/sharepoint/v3">NVSL Slides Template</EmailSubject>
    <EmailCc xmlns="http://schemas.microsoft.com/sharepoint/v3" xsi:nil="true"/>
    <PublishingExpirationDate xmlns="http://schemas.microsoft.com/sharepoint/v3" xsi:nil="true"/>
    <PublishingStartDate xmlns="http://schemas.microsoft.com/sharepoint/v3" xsi:nil="true"/>
    <_dlc_DocId xmlns="38f6e7a2-40cf-4302-a1d0-9363e537b5a7">N65K4UY2P6DZ-8-1712</_dlc_DocId>
    <_dlc_DocIdUrl xmlns="38f6e7a2-40cf-4302-a1d0-9363e537b5a7">
      <Url>http://bit.ucsd.edu/Docs/_layouts/DocIdRedir.aspx?ID=N65K4UY2P6DZ-8-1712</Url>
      <Description>N65K4UY2P6DZ-8-1712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DBABC677EAC4EB89D0E5813CE1C97" ma:contentTypeVersion="6" ma:contentTypeDescription="Create a new document." ma:contentTypeScope="" ma:versionID="358351ca2fb9834b45991cd07a49fd66">
  <xsd:schema xmlns:xsd="http://www.w3.org/2001/XMLSchema" xmlns:xs="http://www.w3.org/2001/XMLSchema" xmlns:p="http://schemas.microsoft.com/office/2006/metadata/properties" xmlns:ns1="http://schemas.microsoft.com/sharepoint/v3" xmlns:ns2="38f6e7a2-40cf-4302-a1d0-9363e537b5a7" targetNamespace="http://schemas.microsoft.com/office/2006/metadata/properties" ma:root="true" ma:fieldsID="4bd887af3a8eb19969b1c3516fc1fc7f" ns1:_="" ns2:_="">
    <xsd:import namespace="http://schemas.microsoft.com/sharepoint/v3"/>
    <xsd:import namespace="38f6e7a2-40cf-4302-a1d0-9363e537b5a7"/>
    <xsd:element name="properties">
      <xsd:complexType>
        <xsd:sequence>
          <xsd:element name="documentManagement">
            <xsd:complexType>
              <xsd:all>
                <xsd:element ref="ns1:EmailSender" minOccurs="0"/>
                <xsd:element ref="ns1:EmailTo" minOccurs="0"/>
                <xsd:element ref="ns1:EmailCc" minOccurs="0"/>
                <xsd:element ref="ns1:EmailFrom" minOccurs="0"/>
                <xsd:element ref="ns1:EmailSubject" minOccurs="0"/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EmailSender" ma:index="8" nillable="true" ma:displayName="E-Mail Sender" ma:hidden="true" ma:internalName="EmailSender">
      <xsd:simpleType>
        <xsd:restriction base="dms:Note">
          <xsd:maxLength value="255"/>
        </xsd:restriction>
      </xsd:simpleType>
    </xsd:element>
    <xsd:element name="EmailTo" ma:index="9" nillable="true" ma:displayName="E-Mail To" ma:hidden="true" ma:internalName="EmailTo">
      <xsd:simpleType>
        <xsd:restriction base="dms:Note">
          <xsd:maxLength value="255"/>
        </xsd:restriction>
      </xsd:simpleType>
    </xsd:element>
    <xsd:element name="EmailCc" ma:index="10" nillable="true" ma:displayName="E-Mail Cc" ma:hidden="true" ma:internalName="EmailCc">
      <xsd:simpleType>
        <xsd:restriction base="dms:Note">
          <xsd:maxLength value="255"/>
        </xsd:restriction>
      </xsd:simpleType>
    </xsd:element>
    <xsd:element name="EmailFrom" ma:index="11" nillable="true" ma:displayName="E-Mail From" ma:hidden="true" ma:internalName="EmailFrom">
      <xsd:simpleType>
        <xsd:restriction base="dms:Text"/>
      </xsd:simpleType>
    </xsd:element>
    <xsd:element name="EmailSubject" ma:index="12" nillable="true" ma:displayName="E-Mail Subject" ma:hidden="true" ma:internalName="EmailSubject">
      <xsd:simpleType>
        <xsd:restriction base="dms:Text"/>
      </xsd:simpleType>
    </xsd:element>
    <xsd:element name="PublishingStartDate" ma:index="13" nillable="true" ma:displayName="Scheduling Start Date" ma:internalName="PublishingStartDate">
      <xsd:simpleType>
        <xsd:restriction base="dms:Unknown"/>
      </xsd:simpleType>
    </xsd:element>
    <xsd:element name="PublishingExpirationDate" ma:index="14" nillable="true" ma:displayName="Scheduling End Dat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6e7a2-40cf-4302-a1d0-9363e537b5a7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4E55384-0535-4827-BEC9-C0AA0AB52BCA}">
  <ds:schemaRefs>
    <ds:schemaRef ds:uri="http://schemas.microsoft.com/office/2006/metadata/properties"/>
    <ds:schemaRef ds:uri="http://schemas.microsoft.com/sharepoint/v3"/>
    <ds:schemaRef ds:uri="38f6e7a2-40cf-4302-a1d0-9363e537b5a7"/>
  </ds:schemaRefs>
</ds:datastoreItem>
</file>

<file path=customXml/itemProps2.xml><?xml version="1.0" encoding="utf-8"?>
<ds:datastoreItem xmlns:ds="http://schemas.openxmlformats.org/officeDocument/2006/customXml" ds:itemID="{D0700612-5548-4C5F-B85B-1C0CBC7D8F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8f6e7a2-40cf-4302-a1d0-9363e537b5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B7DEAC-7366-45DE-8D92-51FE4698563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BF90320-62F0-4599-85DC-D14AF5AC78B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16392</TotalTime>
  <Words>274</Words>
  <Application>Microsoft Office PowerPoint</Application>
  <PresentationFormat>宽屏</PresentationFormat>
  <Paragraphs>26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Myriad Pro</vt:lpstr>
      <vt:lpstr>黑体</vt:lpstr>
      <vt:lpstr>微软雅黑</vt:lpstr>
      <vt:lpstr>Arial</vt:lpstr>
      <vt:lpstr>Calibri</vt:lpstr>
      <vt:lpstr>Office 主题​​</vt:lpstr>
      <vt:lpstr>朱龙浩月度汇报</vt:lpstr>
      <vt:lpstr>上月总结</vt:lpstr>
      <vt:lpstr>关键进展</vt:lpstr>
      <vt:lpstr>下月目标</vt:lpstr>
    </vt:vector>
  </TitlesOfParts>
  <Company>Shanghai Jiao 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BeliefKV 月度汇报</dc:title>
  <dc:creator>Zheng, Shengan</dc:creator>
  <cp:lastModifiedBy>龙浩 朱</cp:lastModifiedBy>
  <cp:revision>770</cp:revision>
  <cp:lastPrinted>2017-05-11T20:43:55Z</cp:lastPrinted>
  <dcterms:created xsi:type="dcterms:W3CDTF">2017-10-16T21:31:54Z</dcterms:created>
  <dcterms:modified xsi:type="dcterms:W3CDTF">2026-10-11T10:37:08Z</dcterms:modified>
  <dc:subject>2026 年 8 月 15 日至 10 月 11 日</dc:subject>
  <cp:keywords>BeliefKV, 动态 Agent, KV 缓存, 预测式调度</cp:keywords>
  <dc:description>五页正文；演讲者备注合计约三分钟。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0x0101002F3DBABC677EAC4EB89D0E5813CE1C97</vt:lpwstr>
  </property>
  <property fmtid="{D5CDD505-2E9C-101B-9397-08002B2CF9AE}" pid="3" name="_dlc_DocIdItemGuid">
    <vt:lpwstr>672fea0e-6365-4b73-84cc-a1c7a9616c94</vt:lpwstr>
  </property>
</Properties>
</file>