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5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16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FE5"/>
    <a:srgbClr val="FFA6B5"/>
    <a:srgbClr val="CC75E1"/>
    <a:srgbClr val="0169A0"/>
    <a:srgbClr val="162A46"/>
    <a:srgbClr val="88C1EC"/>
    <a:srgbClr val="0553A0"/>
    <a:srgbClr val="006DDA"/>
    <a:srgbClr val="004B95"/>
    <a:srgbClr val="608D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571" autoAdjust="0"/>
    <p:restoredTop sz="95238" autoAdjust="0"/>
  </p:normalViewPr>
  <p:slideViewPr>
    <p:cSldViewPr>
      <p:cViewPr varScale="1">
        <p:scale>
          <a:sx n="95" d="100"/>
          <a:sy n="95" d="100"/>
        </p:scale>
        <p:origin x="104" y="28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828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36" d="100"/>
        <a:sy n="136" d="100"/>
      </p:scale>
      <p:origin x="0" y="0"/>
    </p:cViewPr>
  </p:sorterViewPr>
  <p:notesViewPr>
    <p:cSldViewPr>
      <p:cViewPr varScale="1">
        <p:scale>
          <a:sx n="85" d="100"/>
          <a:sy n="85" d="100"/>
        </p:scale>
        <p:origin x="2994" y="102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C67A72C1-0D2A-41F5-8ED0-3D3DC9E977B9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4D1883E6-6D95-453C-9681-87383D5260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0643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2DE8C108-AB7E-41F9-BE29-EE918610279B}" type="datetimeFigureOut">
              <a:rPr lang="en-US" smtClean="0"/>
              <a:pPr/>
              <a:t>10/11/2026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6455AFA1-5136-4BEA-AE07-EA9BE39431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117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建议用时：40 秒。</a:t>
            </a:r>
          </a:p>
          <a:p/>
          <a:p>
            <a:r>
              <a:t>BeliefKV 面向动态多 Agent 工作流的 KV 管理与调度。父任务创建子任务、调用工具，等待期间 KV 可以迁到 Host，恢复前再搬回 GPU。</a:t>
            </a:r>
          </a:p>
          <a:p>
            <a:r>
              <a:t>我们根据收尾通知、正文与执行进度提供完成提示；运行时结合容量、缓存副本与准入机会，提前备份、预取并安排执行，减少等待与重复搬运，提高吞吐、缩短完成时间。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建议用时：50 秒。汇报周期为 2026 年 8 月 15 日至 10 月 11 日。</a:t>
            </a:r>
          </a:p>
          <a:p/>
          <a:p>
            <a:r>
              <a:t>八月下半月建立因果图、原生子任务与父任务上下文连续性。九月上中旬贯通预测迁移、传输确认与生命周期。</a:t>
            </a:r>
          </a:p>
          <a:p>
            <a:r>
              <a:t>九月下旬适配 FULL / Mamba，完成训练与项目隔离校准；随后转向通知、语义与 decode 进度，分离剩余工作和排队等待。</a:t>
            </a:r>
          </a:p>
          <a:p>
            <a:r>
              <a:t>十月推进原生对照与两波到达，优化增量备份、按页恢复、准入与容量交接。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建议用时：25 秒。</a:t>
            </a:r>
          </a:p>
          <a:p/>
          <a:p>
            <a:r>
              <a:t>三图分别是总体架构、预测时序和物理缓存管理。左图连接工作流、预测、运行时与 SGLang；中图说明如何滚动选择 H2D 时机；右图展示增量备份、必要状态恢复和 child 到 parent 的容量交接。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建议用时：30 秒。</a:t>
            </a:r>
          </a:p>
          <a:p/>
          <a:p>
            <a:r>
              <a:t>阶段认识是：先判断 child 是否收尾，再预测剩余工作；恢复按缺失页规划，并与驻留、准入协同；评估追踪下一请求复用。</a:t>
            </a:r>
          </a:p>
          <a:p>
            <a:r>
              <a:t>当前稳定吞吐优势仍待验证，瓶颈集中在控制成本、ACK 后等待与重复恢复。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建议用时：35 秒。</a:t>
            </a:r>
          </a:p>
          <a:p/>
          <a:p>
            <a:r>
              <a:t>下一步提高实际可复用的预取覆盖；联动回收、驻留与准入，降低重复加载和控制成本；以同版本原生 SGLang 对照和多轮平均，报告吞吐、配对 JCT 与重算。</a:t>
            </a:r>
          </a:p>
          <a:p>
            <a:r>
              <a:t>目标是得到稳定、可归因的端到端收益，形成可写入论文的性能证据。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带Logo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2590800"/>
          </a:xfrm>
          <a:prstGeom prst="rect">
            <a:avLst/>
          </a:prstGeom>
          <a:solidFill>
            <a:srgbClr val="162A46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9400" y="304800"/>
            <a:ext cx="11473200" cy="1981200"/>
          </a:xfrm>
        </p:spPr>
        <p:txBody>
          <a:bodyPr anchor="ctr">
            <a:normAutofit/>
          </a:bodyPr>
          <a:lstStyle>
            <a:lvl1pPr algn="ctr">
              <a:defRPr sz="6000" baseline="0">
                <a:solidFill>
                  <a:schemeClr val="bg1"/>
                </a:solidFill>
                <a:latin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2956143"/>
            <a:ext cx="8534400" cy="2006781"/>
          </a:xfrm>
        </p:spPr>
        <p:txBody>
          <a:bodyPr>
            <a:normAutofit/>
          </a:bodyPr>
          <a:lstStyle>
            <a:lvl1pPr marL="0" indent="0" algn="ctr">
              <a:buNone/>
              <a:defRPr sz="3000" baseline="0">
                <a:solidFill>
                  <a:srgbClr val="63656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单击以编辑母版副标题样式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0"/>
          </p:nvPr>
        </p:nvSpPr>
        <p:spPr>
          <a:xfrm>
            <a:off x="3086100" y="5256000"/>
            <a:ext cx="6019800" cy="1295400"/>
          </a:xfrm>
        </p:spPr>
        <p:txBody>
          <a:bodyPr/>
          <a:lstStyle>
            <a:lvl1pPr marL="0" indent="0" algn="ctr">
              <a:buFontTx/>
              <a:buNone/>
              <a:defRPr kumimoji="0" lang="en-US" sz="2000" b="0" i="1" u="none" strike="noStrike" kern="1200" cap="none" spc="0" normalizeH="0" baseline="0" smtClean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矩形 6"/>
          <p:cNvSpPr/>
          <p:nvPr userDrawn="1"/>
        </p:nvSpPr>
        <p:spPr>
          <a:xfrm>
            <a:off x="9336360" y="6124903"/>
            <a:ext cx="2736304" cy="72008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 err="1">
              <a:solidFill>
                <a:schemeClr val="tx1"/>
              </a:solidFill>
            </a:endParaRPr>
          </a:p>
        </p:txBody>
      </p:sp>
      <p:pic>
        <p:nvPicPr>
          <p:cNvPr id="10" name="Picture 4" descr="https://camo.githubusercontent.com/d989358a45a880921c01cfe2a48e8180e5541cdf/68747470733a2f2f7261772e6769746875622e636f6d2f7765696a69616e77656e2f534a54552d6c6f676f2d62616e6e65722f6d61737465722f534a54555f42414e4e45522f504e472f736a747562616e6e6572626c75652e706e67">
            <a:extLst>
              <a:ext uri="{FF2B5EF4-FFF2-40B4-BE49-F238E27FC236}">
                <a16:creationId xmlns:a16="http://schemas.microsoft.com/office/drawing/2014/main" id="{68A4E8E0-956F-4B42-BCA0-C4A1FEED848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0" y="6055200"/>
            <a:ext cx="2880320" cy="75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带Logo左字右图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 Semibold" charset="0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/>
          </p:nvPr>
        </p:nvSpPr>
        <p:spPr>
          <a:xfrm>
            <a:off x="720000" y="1620000"/>
            <a:ext cx="5040000" cy="432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99656" y="6480663"/>
            <a:ext cx="9144000" cy="332713"/>
          </a:xfrm>
          <a:prstGeom prst="rect">
            <a:avLst/>
          </a:prstGeom>
        </p:spPr>
      </p:pic>
      <p:pic>
        <p:nvPicPr>
          <p:cNvPr id="10" name="Picture 4" descr="https://camo.githubusercontent.com/d989358a45a880921c01cfe2a48e8180e5541cdf/68747470733a2f2f7261772e6769746875622e636f6d2f7765696a69616e77656e2f534a54552d6c6f676f2d62616e6e65722f6d61737465722f534a54555f42414e4e45522f504e472f736a747562616e6e6572626c75652e706e67">
            <a:extLst>
              <a:ext uri="{FF2B5EF4-FFF2-40B4-BE49-F238E27FC236}">
                <a16:creationId xmlns:a16="http://schemas.microsoft.com/office/drawing/2014/main" id="{9DE355F3-1C7E-453F-8996-4E9C0F0CB8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0" y="6055200"/>
            <a:ext cx="2880320" cy="75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带Logo全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/>
          </p:nvPr>
        </p:nvSpPr>
        <p:spPr>
          <a:xfrm>
            <a:off x="720000" y="1620000"/>
            <a:ext cx="10800000" cy="432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0FB50A6-5F13-47F8-8C74-32578AE90B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99656" y="6480663"/>
            <a:ext cx="9144000" cy="332713"/>
          </a:xfrm>
          <a:prstGeom prst="rect">
            <a:avLst/>
          </a:prstGeom>
        </p:spPr>
      </p:pic>
      <p:pic>
        <p:nvPicPr>
          <p:cNvPr id="11" name="Picture 4" descr="https://camo.githubusercontent.com/d989358a45a880921c01cfe2a48e8180e5541cdf/68747470733a2f2f7261772e6769746875622e636f6d2f7765696a69616e77656e2f534a54552d6c6f676f2d62616e6e65722f6d61737465722f534a54555f42414e4e45522f504e472f736a747562616e6e6572626c75652e706e67">
            <a:extLst>
              <a:ext uri="{FF2B5EF4-FFF2-40B4-BE49-F238E27FC236}">
                <a16:creationId xmlns:a16="http://schemas.microsoft.com/office/drawing/2014/main" id="{8072A93C-11D2-4FD8-B68A-79E01FF8626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0" y="6055200"/>
            <a:ext cx="2880320" cy="75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56098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带Logo左字右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 Semibold" charset="0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/>
          </p:nvPr>
        </p:nvSpPr>
        <p:spPr>
          <a:xfrm>
            <a:off x="720000" y="1620000"/>
            <a:ext cx="5040000" cy="432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99656" y="6480663"/>
            <a:ext cx="9144000" cy="332713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C7977CF-E535-4706-A621-AB9404772C17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20000" y="1620000"/>
            <a:ext cx="5040000" cy="432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pic>
        <p:nvPicPr>
          <p:cNvPr id="10" name="Picture 4" descr="https://camo.githubusercontent.com/d989358a45a880921c01cfe2a48e8180e5541cdf/68747470733a2f2f7261772e6769746875622e636f6d2f7765696a69616e77656e2f534a54552d6c6f676f2d62616e6e65722f6d61737465722f534a54555f42414e4e45522f504e472f736a747562616e6e6572626c75652e706e67">
            <a:extLst>
              <a:ext uri="{FF2B5EF4-FFF2-40B4-BE49-F238E27FC236}">
                <a16:creationId xmlns:a16="http://schemas.microsoft.com/office/drawing/2014/main" id="{B781631F-7FA3-48B1-B02A-BCE65DC72F1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0" y="6055200"/>
            <a:ext cx="2880320" cy="75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74730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带Logo全图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99656" y="6480663"/>
            <a:ext cx="9144000" cy="332713"/>
          </a:xfrm>
          <a:prstGeom prst="rect">
            <a:avLst/>
          </a:prstGeom>
        </p:spPr>
      </p:pic>
      <p:pic>
        <p:nvPicPr>
          <p:cNvPr id="9" name="Picture 4" descr="https://camo.githubusercontent.com/d989358a45a880921c01cfe2a48e8180e5541cdf/68747470733a2f2f7261772e6769746875622e636f6d2f7765696a69616e77656e2f534a54552d6c6f676f2d62616e6e65722f6d61737465722f534a54555f42414e4e45522f504e472f736a747562616e6e6572626c75652e706e67">
            <a:extLst>
              <a:ext uri="{FF2B5EF4-FFF2-40B4-BE49-F238E27FC236}">
                <a16:creationId xmlns:a16="http://schemas.microsoft.com/office/drawing/2014/main" id="{C1294E90-04DC-4A40-BC0F-CFC3C9A8C0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0" y="6055200"/>
            <a:ext cx="2880320" cy="75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31256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带Logo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D1DFBCB-D8A9-4C0E-856D-452D5BDC22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99656" y="6480663"/>
            <a:ext cx="9144000" cy="332713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F3830A5-6239-4FBD-821C-0EBE607A3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ctr">
              <a:defRPr sz="4400" b="1" i="0" baseline="0">
                <a:solidFill>
                  <a:srgbClr val="162A4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pic>
        <p:nvPicPr>
          <p:cNvPr id="6" name="Picture 4" descr="https://camo.githubusercontent.com/d989358a45a880921c01cfe2a48e8180e5541cdf/68747470733a2f2f7261772e6769746875622e636f6d2f7765696a69616e77656e2f534a54552d6c6f676f2d62616e6e65722f6d61737465722f534a54555f42414e4e45522f504e472f736a747562616e6e6572626c75652e706e67">
            <a:extLst>
              <a:ext uri="{FF2B5EF4-FFF2-40B4-BE49-F238E27FC236}">
                <a16:creationId xmlns:a16="http://schemas.microsoft.com/office/drawing/2014/main" id="{1D6838B1-EEC9-4255-AAD7-AE50C50027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0" y="6055200"/>
            <a:ext cx="2880320" cy="75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1220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无Logo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2590800"/>
          </a:xfrm>
          <a:prstGeom prst="rect">
            <a:avLst/>
          </a:prstGeom>
          <a:solidFill>
            <a:srgbClr val="162A46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9400" y="304800"/>
            <a:ext cx="11473200" cy="1981200"/>
          </a:xfrm>
        </p:spPr>
        <p:txBody>
          <a:bodyPr anchor="ctr">
            <a:normAutofit/>
          </a:bodyPr>
          <a:lstStyle>
            <a:lvl1pPr algn="ctr">
              <a:defRPr sz="6000" baseline="0">
                <a:solidFill>
                  <a:schemeClr val="bg1"/>
                </a:solidFill>
                <a:latin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2956143"/>
            <a:ext cx="8534400" cy="2006781"/>
          </a:xfrm>
        </p:spPr>
        <p:txBody>
          <a:bodyPr>
            <a:normAutofit/>
          </a:bodyPr>
          <a:lstStyle>
            <a:lvl1pPr marL="0" indent="0" algn="ctr">
              <a:buNone/>
              <a:defRPr sz="3000" baseline="0">
                <a:solidFill>
                  <a:srgbClr val="63656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单击以编辑母版副标题样式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0"/>
          </p:nvPr>
        </p:nvSpPr>
        <p:spPr>
          <a:xfrm>
            <a:off x="3086100" y="5256000"/>
            <a:ext cx="6019800" cy="1295400"/>
          </a:xfrm>
        </p:spPr>
        <p:txBody>
          <a:bodyPr/>
          <a:lstStyle>
            <a:lvl1pPr marL="0" indent="0" algn="ctr">
              <a:buFontTx/>
              <a:buNone/>
              <a:defRPr kumimoji="0" lang="en-US" sz="2000" b="0" i="1" u="none" strike="noStrike" kern="1200" cap="none" spc="0" normalizeH="0" baseline="0" smtClean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矩形 6"/>
          <p:cNvSpPr/>
          <p:nvPr userDrawn="1"/>
        </p:nvSpPr>
        <p:spPr>
          <a:xfrm>
            <a:off x="9336360" y="6124903"/>
            <a:ext cx="2736304" cy="72008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84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无Logo左字右图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 Semibold" charset="0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/>
          </p:nvPr>
        </p:nvSpPr>
        <p:spPr>
          <a:xfrm>
            <a:off x="720000" y="1620000"/>
            <a:ext cx="5040000" cy="504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6A274AD-187A-4D93-94F5-764C8215407F}"/>
              </a:ext>
            </a:extLst>
          </p:cNvPr>
          <p:cNvSpPr/>
          <p:nvPr userDrawn="1"/>
        </p:nvSpPr>
        <p:spPr>
          <a:xfrm>
            <a:off x="9336360" y="6124903"/>
            <a:ext cx="2736304" cy="72008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21180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无Logo全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8" name="Rectangle 8">
            <a:extLst>
              <a:ext uri="{FF2B5EF4-FFF2-40B4-BE49-F238E27FC236}">
                <a16:creationId xmlns:a16="http://schemas.microsoft.com/office/drawing/2014/main" id="{A71D2520-8403-4383-825D-09D4403793D8}"/>
              </a:ext>
            </a:extLst>
          </p:cNvPr>
          <p:cNvSpPr/>
          <p:nvPr userDrawn="1"/>
        </p:nvSpPr>
        <p:spPr>
          <a:xfrm>
            <a:off x="11568608" y="6453336"/>
            <a:ext cx="623392" cy="40466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FB8AD1B3-C348-496E-B394-095458C50AB0}"/>
              </a:ext>
            </a:extLst>
          </p:cNvPr>
          <p:cNvSpPr txBox="1"/>
          <p:nvPr userDrawn="1"/>
        </p:nvSpPr>
        <p:spPr>
          <a:xfrm>
            <a:off x="11582424" y="6400800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2F923FAA-E6BC-4A3B-B771-C476DAE0801B}" type="slidenum">
              <a:rPr lang="en-US" sz="1800" b="0" i="0" smtClean="0">
                <a:solidFill>
                  <a:schemeClr val="tx1"/>
                </a:solidFill>
                <a:latin typeface="Myriad Pro" charset="0"/>
                <a:ea typeface="Myriad Pro" charset="0"/>
                <a:cs typeface="Myriad Pro" charset="0"/>
              </a:rPr>
              <a:pPr/>
              <a:t>‹#›</a:t>
            </a:fld>
            <a:endParaRPr lang="en-US" sz="1800" b="0" i="0" dirty="0">
              <a:solidFill>
                <a:schemeClr val="tx1"/>
              </a:solidFill>
              <a:latin typeface="Myriad Pro" charset="0"/>
              <a:ea typeface="Myriad Pro" charset="0"/>
              <a:cs typeface="Myriad Pro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7D8ABD7-7FE0-40F3-AB63-F772B0B8AA7B}"/>
              </a:ext>
            </a:extLst>
          </p:cNvPr>
          <p:cNvSpPr/>
          <p:nvPr userDrawn="1"/>
        </p:nvSpPr>
        <p:spPr>
          <a:xfrm>
            <a:off x="9336360" y="6124903"/>
            <a:ext cx="2736304" cy="72008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 err="1">
              <a:solidFill>
                <a:schemeClr val="tx1"/>
              </a:solidFill>
            </a:endParaRPr>
          </a:p>
        </p:txBody>
      </p:sp>
      <p:sp>
        <p:nvSpPr>
          <p:cNvPr id="7" name="Content Placeholder 2"/>
          <p:cNvSpPr>
            <a:spLocks noGrp="1"/>
          </p:cNvSpPr>
          <p:nvPr>
            <p:ph idx="10"/>
          </p:nvPr>
        </p:nvSpPr>
        <p:spPr>
          <a:xfrm>
            <a:off x="720000" y="1620000"/>
            <a:ext cx="10800000" cy="504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0826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无Logo左字右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 Semibold" charset="0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/>
          </p:nvPr>
        </p:nvSpPr>
        <p:spPr>
          <a:xfrm>
            <a:off x="720000" y="1620000"/>
            <a:ext cx="5040000" cy="504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D31B36C-363D-477F-B81C-E3BCBAD8A703}"/>
              </a:ext>
            </a:extLst>
          </p:cNvPr>
          <p:cNvSpPr/>
          <p:nvPr userDrawn="1"/>
        </p:nvSpPr>
        <p:spPr>
          <a:xfrm>
            <a:off x="9336360" y="6124903"/>
            <a:ext cx="2736304" cy="72008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 err="1">
              <a:solidFill>
                <a:schemeClr val="tx1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C7977CF-E535-4706-A621-AB9404772C17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20000" y="1620000"/>
            <a:ext cx="5040000" cy="5040000"/>
          </a:xfrm>
        </p:spPr>
        <p:txBody>
          <a:bodyPr anchor="t">
            <a:normAutofit/>
          </a:bodyPr>
          <a:lstStyle>
            <a:lvl1pPr>
              <a:defRPr sz="2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1pPr>
            <a:lvl2pPr>
              <a:defRPr sz="2400" baseline="0">
                <a:solidFill>
                  <a:srgbClr val="0169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2pPr>
            <a:lvl3pPr>
              <a:defRPr sz="20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3pPr>
            <a:lvl4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4pPr>
            <a:lvl5pPr>
              <a:defRPr sz="1800" baseline="0">
                <a:latin typeface="微软雅黑" panose="020B0503020204020204" pitchFamily="34" charset="-122"/>
                <a:ea typeface="微软雅黑" panose="020B0503020204020204" pitchFamily="34" charset="-122"/>
                <a:cs typeface="Myriad Pro" charset="0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13342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无Logo全图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2192000" cy="1353274"/>
          </a:xfrm>
          <a:prstGeom prst="rect">
            <a:avLst/>
          </a:prstGeom>
          <a:solidFill>
            <a:schemeClr val="tx1"/>
          </a:solidFill>
          <a:ln w="19050">
            <a:noFill/>
          </a:ln>
          <a:effectLst>
            <a:outerShdw blurRad="50800" dist="508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 err="1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l">
              <a:defRPr sz="4400" b="1" i="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3344D62-4B6F-42F9-AA4D-8B3C4ACF68A5}"/>
              </a:ext>
            </a:extLst>
          </p:cNvPr>
          <p:cNvSpPr/>
          <p:nvPr userDrawn="1"/>
        </p:nvSpPr>
        <p:spPr>
          <a:xfrm>
            <a:off x="9336360" y="6124903"/>
            <a:ext cx="2736304" cy="72008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10931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无Logo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7F201BF-3700-48EC-805B-8CA03140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162"/>
            <a:ext cx="11113200" cy="1353112"/>
          </a:xfrm>
        </p:spPr>
        <p:txBody>
          <a:bodyPr anchor="ctr">
            <a:noAutofit/>
          </a:bodyPr>
          <a:lstStyle>
            <a:lvl1pPr algn="ctr">
              <a:defRPr sz="4400" b="1" i="0" baseline="0">
                <a:solidFill>
                  <a:srgbClr val="162A4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CDB3E73-A622-4F77-9D65-DD58B5389B43}"/>
              </a:ext>
            </a:extLst>
          </p:cNvPr>
          <p:cNvSpPr/>
          <p:nvPr userDrawn="1"/>
        </p:nvSpPr>
        <p:spPr>
          <a:xfrm>
            <a:off x="9336360" y="6124903"/>
            <a:ext cx="2736304" cy="72008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33343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8" name="TextBox 7"/>
          <p:cNvSpPr txBox="1"/>
          <p:nvPr userDrawn="1"/>
        </p:nvSpPr>
        <p:spPr>
          <a:xfrm>
            <a:off x="11582424" y="6400800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2F923FAA-E6BC-4A3B-B771-C476DAE0801B}" type="slidenum">
              <a:rPr lang="en-US" sz="1800" b="0" i="0" smtClean="0">
                <a:solidFill>
                  <a:schemeClr val="tx1"/>
                </a:solidFill>
                <a:latin typeface="Myriad Pro" charset="0"/>
                <a:ea typeface="Myriad Pro" charset="0"/>
                <a:cs typeface="Myriad Pro" charset="0"/>
              </a:rPr>
              <a:pPr/>
              <a:t>‹#›</a:t>
            </a:fld>
            <a:endParaRPr lang="en-US" sz="1800" b="0" i="0" dirty="0">
              <a:solidFill>
                <a:schemeClr val="tx1"/>
              </a:solidFill>
              <a:latin typeface="Myriad Pro" charset="0"/>
              <a:ea typeface="Myriad Pro" charset="0"/>
              <a:cs typeface="Myriad Pro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3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7" r:id="rId2"/>
    <p:sldLayoutId id="2147483670" r:id="rId3"/>
    <p:sldLayoutId id="2147483671" r:id="rId4"/>
    <p:sldLayoutId id="2147483672" r:id="rId5"/>
    <p:sldLayoutId id="2147483668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3" r:id="rId12"/>
  </p:sldLayoutIdLst>
  <p:hf hdr="0" ftr="0" dt="0"/>
  <p:txStyles>
    <p:titleStyle>
      <a:lvl1pPr algn="ctr" defTabSz="914377" rtl="0" eaLnBrk="1" latinLnBrk="0" hangingPunct="1">
        <a:spcBef>
          <a:spcPct val="0"/>
        </a:spcBef>
        <a:buNone/>
        <a:defRPr sz="4400" b="1" i="0" kern="1200" baseline="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1pPr>
    </p:titleStyle>
    <p:bodyStyle>
      <a:lvl1pPr marL="342891" indent="-342891" algn="l" defTabSz="914377" rtl="0" eaLnBrk="1" latinLnBrk="0" hangingPunct="1">
        <a:spcBef>
          <a:spcPct val="20000"/>
        </a:spcBef>
        <a:buFont typeface="Arial" pitchFamily="34" charset="0"/>
        <a:buChar char="•"/>
        <a:defRPr sz="3200" b="0" i="0" kern="1200" baseline="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1pPr>
      <a:lvl2pPr marL="742932" indent="-285744" algn="l" defTabSz="914377" rtl="0" eaLnBrk="1" latinLnBrk="0" hangingPunct="1">
        <a:spcBef>
          <a:spcPct val="20000"/>
        </a:spcBef>
        <a:buFont typeface="Arial" pitchFamily="34" charset="0"/>
        <a:buChar char="–"/>
        <a:defRPr sz="2800" b="0" i="0" kern="1200" baseline="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2pPr>
      <a:lvl3pPr marL="1142971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400" b="0" i="0" kern="1200" baseline="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3pPr>
      <a:lvl4pPr marL="1600160" indent="-228594" algn="l" defTabSz="914377" rtl="0" eaLnBrk="1" latinLnBrk="0" hangingPunct="1">
        <a:spcBef>
          <a:spcPct val="20000"/>
        </a:spcBef>
        <a:buFont typeface="Arial" pitchFamily="34" charset="0"/>
        <a:buChar char="–"/>
        <a:defRPr sz="2000" b="0" i="0" kern="1200" baseline="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4pPr>
      <a:lvl5pPr marL="2057349" indent="-228594" algn="l" defTabSz="914377" rtl="0" eaLnBrk="1" latinLnBrk="0" hangingPunct="1">
        <a:spcBef>
          <a:spcPct val="20000"/>
        </a:spcBef>
        <a:buFont typeface="Arial" pitchFamily="34" charset="0"/>
        <a:buChar char="»"/>
        <a:defRPr sz="2000" b="0" i="0" kern="1200" baseline="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5pPr>
      <a:lvl6pPr marL="2514537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200" b="1" lang="zh-CN" spc="0">
                <a:solidFill>
                  <a:srgbClr val="FFFFFF"/>
                </a:solidFill>
                <a:latin typeface="微软雅黑"/>
                <a:ea typeface="微软雅黑"/>
              </a:rPr>
              <a:t>项目介绍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23760" y="621792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zh-CN" spc="0">
                <a:solidFill>
                  <a:srgbClr val="596875"/>
                </a:solidFill>
                <a:latin typeface="微软雅黑"/>
                <a:ea typeface="微软雅黑"/>
              </a:rPr>
              <a:t>BeliefKV  |  2026.08.15 - 2026.10.11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27632"/>
            <a:ext cx="3886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1" lang="zh-CN" spc="0">
                <a:solidFill>
                  <a:srgbClr val="01639C"/>
                </a:solidFill>
                <a:latin typeface="微软雅黑"/>
                <a:ea typeface="微软雅黑"/>
              </a:rPr>
              <a:t>BeliefKV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39319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162A46"/>
                </a:solidFill>
                <a:latin typeface="微软雅黑"/>
                <a:ea typeface="微软雅黑"/>
              </a:rPr>
              <a:t>动态 Agent 工作流的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162A46"/>
                </a:solidFill>
                <a:latin typeface="微软雅黑"/>
                <a:ea typeface="微软雅黑"/>
              </a:rPr>
              <a:t>预测式 KV 管理与调度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2724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lang="zh-CN" spc="0">
                <a:solidFill>
                  <a:srgbClr val="01639C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4752" y="3127248"/>
            <a:ext cx="3328416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 lang="zh-CN" spc="0">
                <a:solidFill>
                  <a:srgbClr val="162A46"/>
                </a:solidFill>
                <a:latin typeface="微软雅黑"/>
                <a:ea typeface="微软雅黑"/>
              </a:rPr>
              <a:t>子任务、工具与 JOIN 交错，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 lang="zh-CN" spc="0">
                <a:solidFill>
                  <a:srgbClr val="162A46"/>
                </a:solidFill>
                <a:latin typeface="微软雅黑"/>
                <a:ea typeface="微软雅黑"/>
              </a:rPr>
              <a:t>KV 在 HBM / Host 间迁移。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690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lang="zh-CN" spc="0">
                <a:solidFill>
                  <a:srgbClr val="01639C"/>
                </a:solidFill>
                <a:latin typeface="微软雅黑"/>
                <a:ea typeface="微软雅黑"/>
              </a:rPr>
              <a:t>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4069080"/>
            <a:ext cx="3328416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 lang="zh-CN" spc="0">
                <a:solidFill>
                  <a:srgbClr val="162A46"/>
                </a:solidFill>
                <a:latin typeface="微软雅黑"/>
                <a:ea typeface="微软雅黑"/>
              </a:rPr>
              <a:t>依据收尾信号与执行进度，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 lang="zh-CN" spc="0">
                <a:solidFill>
                  <a:srgbClr val="162A46"/>
                </a:solidFill>
                <a:latin typeface="微软雅黑"/>
                <a:ea typeface="微软雅黑"/>
              </a:rPr>
              <a:t>提前备份、预取并安排执行。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1091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lang="zh-CN" spc="0">
                <a:solidFill>
                  <a:srgbClr val="01639C"/>
                </a:solidFill>
                <a:latin typeface="微软雅黑"/>
                <a:ea typeface="微软雅黑"/>
              </a:rPr>
              <a:t>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5010912"/>
            <a:ext cx="3328416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 lang="zh-CN" spc="0">
                <a:solidFill>
                  <a:srgbClr val="162A46"/>
                </a:solidFill>
                <a:latin typeface="微软雅黑"/>
                <a:ea typeface="微软雅黑"/>
              </a:rPr>
              <a:t>减少恢复等待与重复搬运，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 lang="zh-CN" spc="0">
                <a:solidFill>
                  <a:srgbClr val="162A46"/>
                </a:solidFill>
                <a:latin typeface="微软雅黑"/>
                <a:ea typeface="微软雅黑"/>
              </a:rPr>
              <a:t>提高吞吐、降低完成时间。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02352" y="1737360"/>
            <a:ext cx="6473952" cy="1005840"/>
          </a:xfrm>
          <a:prstGeom prst="rect">
            <a:avLst/>
          </a:prstGeom>
          <a:solidFill>
            <a:srgbClr val="EFF5FA"/>
          </a:solidFill>
          <a:ln w="12700">
            <a:solidFill>
              <a:srgbClr val="ADC5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5232" y="1883664"/>
            <a:ext cx="609904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lang="zh-CN" spc="0">
                <a:solidFill>
                  <a:srgbClr val="01639C"/>
                </a:solidFill>
                <a:latin typeface="微软雅黑"/>
                <a:ea typeface="微软雅黑"/>
              </a:rPr>
              <a:t>动态工作流：子任务与工具调用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0952" y="2313432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zh-CN" spc="0">
                <a:solidFill>
                  <a:srgbClr val="162A46"/>
                </a:solidFill>
                <a:latin typeface="微软雅黑"/>
                <a:ea typeface="微软雅黑"/>
              </a:rPr>
              <a:t>父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8584" y="2313432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zh-CN" spc="0">
                <a:solidFill>
                  <a:srgbClr val="162A46"/>
                </a:solidFill>
                <a:latin typeface="微软雅黑"/>
                <a:ea typeface="微软雅黑"/>
              </a:rPr>
              <a:t>子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6" y="2313432"/>
            <a:ext cx="102412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zh-CN" spc="0">
                <a:solidFill>
                  <a:srgbClr val="162A46"/>
                </a:solidFill>
                <a:latin typeface="微软雅黑"/>
                <a:ea typeface="微软雅黑"/>
              </a:rPr>
              <a:t>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04120" y="2313432"/>
            <a:ext cx="1225296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zh-CN" spc="0">
                <a:solidFill>
                  <a:srgbClr val="162A46"/>
                </a:solidFill>
                <a:latin typeface="微软雅黑"/>
                <a:ea typeface="微软雅黑"/>
              </a:rPr>
              <a:t>父 Agent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19672" y="2459736"/>
            <a:ext cx="356616" cy="0"/>
          </a:xfrm>
          <a:prstGeom prst="line">
            <a:avLst/>
          </a:prstGeom>
          <a:ln w="19050">
            <a:solidFill>
              <a:srgbClr val="01639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147304" y="2459736"/>
            <a:ext cx="356616" cy="0"/>
          </a:xfrm>
          <a:prstGeom prst="line">
            <a:avLst/>
          </a:prstGeom>
          <a:ln w="19050">
            <a:solidFill>
              <a:srgbClr val="01639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674352" y="2459736"/>
            <a:ext cx="356616" cy="0"/>
          </a:xfrm>
          <a:prstGeom prst="line">
            <a:avLst/>
          </a:prstGeom>
          <a:ln w="19050">
            <a:solidFill>
              <a:srgbClr val="01639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629400" y="2761488"/>
            <a:ext cx="0" cy="365760"/>
          </a:xfrm>
          <a:prstGeom prst="line">
            <a:avLst/>
          </a:prstGeom>
          <a:ln w="19050">
            <a:solidFill>
              <a:srgbClr val="01639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3136392"/>
            <a:ext cx="3054096" cy="1005840"/>
          </a:xfrm>
          <a:prstGeom prst="rect">
            <a:avLst/>
          </a:prstGeom>
          <a:solidFill>
            <a:srgbClr val="FBF6EB"/>
          </a:solidFill>
          <a:ln w="12700">
            <a:solidFill>
              <a:srgbClr val="D5BC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5232" y="3291840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926923"/>
                </a:solidFill>
                <a:latin typeface="微软雅黑"/>
                <a:ea typeface="微软雅黑"/>
              </a:rPr>
              <a:t>完成预测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3749039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zh-CN" spc="0">
                <a:solidFill>
                  <a:srgbClr val="596875"/>
                </a:solidFill>
                <a:latin typeface="微软雅黑"/>
                <a:ea typeface="微软雅黑"/>
              </a:rPr>
              <a:t>通知 / 正文 / 执行进度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02168" y="3621024"/>
            <a:ext cx="292608" cy="0"/>
          </a:xfrm>
          <a:prstGeom prst="line">
            <a:avLst/>
          </a:prstGeom>
          <a:ln w="19050">
            <a:solidFill>
              <a:srgbClr val="357B73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8549640" y="3136392"/>
            <a:ext cx="3026664" cy="1005840"/>
          </a:xfrm>
          <a:prstGeom prst="rect">
            <a:avLst/>
          </a:prstGeom>
          <a:solidFill>
            <a:srgbClr val="EEF6F3"/>
          </a:solidFill>
          <a:ln w="12700">
            <a:solidFill>
              <a:srgbClr val="ABC9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3291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357B73"/>
                </a:solidFill>
                <a:latin typeface="微软雅黑"/>
                <a:ea typeface="微软雅黑"/>
              </a:rPr>
              <a:t>迁移与准入决策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749039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 lang="zh-CN" spc="0">
                <a:solidFill>
                  <a:srgbClr val="596875"/>
                </a:solidFill>
                <a:latin typeface="微软雅黑"/>
                <a:ea typeface="微软雅黑"/>
              </a:rPr>
              <a:t>容量 / 缺失页 / 执行机会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058400" y="4160520"/>
            <a:ext cx="0" cy="329184"/>
          </a:xfrm>
          <a:prstGeom prst="line">
            <a:avLst/>
          </a:prstGeom>
          <a:ln w="19050">
            <a:solidFill>
              <a:srgbClr val="357B73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102352" y="4507992"/>
            <a:ext cx="6473952" cy="1252728"/>
          </a:xfrm>
          <a:prstGeom prst="rect">
            <a:avLst/>
          </a:prstGeom>
          <a:solidFill>
            <a:srgbClr val="FFFFFF"/>
          </a:solidFill>
          <a:ln w="12700">
            <a:solidFill>
              <a:srgbClr val="ADC5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85232" y="4636008"/>
            <a:ext cx="60990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01639C"/>
                </a:solidFill>
                <a:latin typeface="微软雅黑"/>
                <a:ea typeface="微软雅黑"/>
              </a:rPr>
              <a:t>SGLang 原生缓存与 GPU 执行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85816" y="5202936"/>
            <a:ext cx="2103120" cy="411480"/>
          </a:xfrm>
          <a:prstGeom prst="rect">
            <a:avLst/>
          </a:prstGeom>
          <a:solidFill>
            <a:srgbClr val="EFF5FA"/>
          </a:solidFill>
          <a:ln w="12700">
            <a:solidFill>
              <a:srgbClr val="ADC5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71432" y="5202936"/>
            <a:ext cx="2103120" cy="411480"/>
          </a:xfrm>
          <a:prstGeom prst="rect">
            <a:avLst/>
          </a:prstGeom>
          <a:solidFill>
            <a:srgbClr val="EEF6F3"/>
          </a:solidFill>
          <a:ln w="12700">
            <a:solidFill>
              <a:srgbClr val="ABC9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77256" y="525780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01639C"/>
                </a:solidFill>
                <a:latin typeface="微软雅黑"/>
                <a:ea typeface="微软雅黑"/>
              </a:rPr>
              <a:t>GPU / HBM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2872" y="525780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357B73"/>
                </a:solidFill>
                <a:latin typeface="微软雅黑"/>
                <a:ea typeface="微软雅黑"/>
              </a:rPr>
              <a:t>CPU / Host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81544" y="502005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zh-CN" spc="0">
                <a:solidFill>
                  <a:srgbClr val="357B73"/>
                </a:solidFill>
                <a:latin typeface="微软雅黑"/>
                <a:ea typeface="微软雅黑"/>
              </a:rPr>
              <a:t>D2H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81544" y="558698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zh-CN" spc="0">
                <a:solidFill>
                  <a:srgbClr val="01639C"/>
                </a:solidFill>
                <a:latin typeface="微软雅黑"/>
                <a:ea typeface="微软雅黑"/>
              </a:rPr>
              <a:t>H2D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598664" y="5303520"/>
            <a:ext cx="1463040" cy="0"/>
          </a:xfrm>
          <a:prstGeom prst="line">
            <a:avLst/>
          </a:prstGeom>
          <a:ln w="19050">
            <a:solidFill>
              <a:srgbClr val="357B73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7598664" y="5486400"/>
            <a:ext cx="1463040" cy="0"/>
          </a:xfrm>
          <a:prstGeom prst="line">
            <a:avLst/>
          </a:prstGeom>
          <a:ln w="19050">
            <a:solidFill>
              <a:srgbClr val="01639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285232" y="5879592"/>
            <a:ext cx="609904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zh-CN" spc="0">
                <a:solidFill>
                  <a:srgbClr val="596875"/>
                </a:solidFill>
                <a:latin typeface="微软雅黑"/>
                <a:ea typeface="微软雅黑"/>
              </a:rPr>
              <a:t>按缺失页迁移，恢复后及时执行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200" b="1" lang="zh-CN" spc="0">
                <a:solidFill>
                  <a:srgbClr val="FFFFFF"/>
                </a:solidFill>
                <a:latin typeface="微软雅黑"/>
                <a:ea typeface="微软雅黑"/>
              </a:rPr>
              <a:t>上月工作总结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23760" y="621792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zh-CN" spc="0">
                <a:solidFill>
                  <a:srgbClr val="596875"/>
                </a:solidFill>
                <a:latin typeface="微软雅黑"/>
                <a:ea typeface="微软雅黑"/>
              </a:rPr>
              <a:t>BeliefKV  |  2026.08.15 - 2026.10.11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660904" y="1856231"/>
            <a:ext cx="0" cy="3081529"/>
          </a:xfrm>
          <a:prstGeom prst="line">
            <a:avLst/>
          </a:prstGeom>
          <a:ln w="25400">
            <a:solidFill>
              <a:srgbClr val="D6DF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1792224"/>
            <a:ext cx="17922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01639C"/>
                </a:solidFill>
                <a:latin typeface="微软雅黑"/>
                <a:ea typeface="微软雅黑"/>
              </a:rPr>
              <a:t>08.15 - 08.31</a:t>
            </a:r>
          </a:p>
        </p:txBody>
      </p:sp>
      <p:sp>
        <p:nvSpPr>
          <p:cNvPr id="6" name="Oval 5"/>
          <p:cNvSpPr/>
          <p:nvPr/>
        </p:nvSpPr>
        <p:spPr>
          <a:xfrm>
            <a:off x="2606040" y="1856232"/>
            <a:ext cx="109728" cy="109728"/>
          </a:xfrm>
          <a:prstGeom prst="ellipse">
            <a:avLst/>
          </a:prstGeom>
          <a:solidFill>
            <a:srgbClr val="016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62656" y="1645920"/>
            <a:ext cx="8458200" cy="3931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01639C"/>
                </a:solidFill>
                <a:latin typeface="微软雅黑"/>
                <a:ea typeface="微软雅黑"/>
              </a:rPr>
              <a:t>建立工作流与调度基础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62656" y="2039112"/>
            <a:ext cx="84582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实现因果前沿、原生 subagent 与 JOIN 后 parent 上下文连续性。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560320"/>
            <a:ext cx="17922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01639C"/>
                </a:solidFill>
                <a:latin typeface="微软雅黑"/>
                <a:ea typeface="微软雅黑"/>
              </a:rPr>
              <a:t>09.01 - 09.21</a:t>
            </a:r>
          </a:p>
        </p:txBody>
      </p:sp>
      <p:sp>
        <p:nvSpPr>
          <p:cNvPr id="10" name="Oval 9"/>
          <p:cNvSpPr/>
          <p:nvPr/>
        </p:nvSpPr>
        <p:spPr>
          <a:xfrm>
            <a:off x="2606040" y="2624328"/>
            <a:ext cx="109728" cy="109728"/>
          </a:xfrm>
          <a:prstGeom prst="ellipse">
            <a:avLst/>
          </a:prstGeom>
          <a:solidFill>
            <a:srgbClr val="016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2656" y="2414016"/>
            <a:ext cx="8458200" cy="3931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01639C"/>
                </a:solidFill>
                <a:latin typeface="微软雅黑"/>
                <a:ea typeface="微软雅黑"/>
              </a:rPr>
              <a:t>贯通预测式 KV 迁移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2656" y="2807208"/>
            <a:ext cx="84582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接通预测 D2H / H2D、传输 ACK、驻留租约与物理恢复生命周期。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328416"/>
            <a:ext cx="17922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01639C"/>
                </a:solidFill>
                <a:latin typeface="微软雅黑"/>
                <a:ea typeface="微软雅黑"/>
              </a:rPr>
              <a:t>09.22 - 09.27</a:t>
            </a:r>
          </a:p>
        </p:txBody>
      </p:sp>
      <p:sp>
        <p:nvSpPr>
          <p:cNvPr id="14" name="Oval 13"/>
          <p:cNvSpPr/>
          <p:nvPr/>
        </p:nvSpPr>
        <p:spPr>
          <a:xfrm>
            <a:off x="2606040" y="3392424"/>
            <a:ext cx="109728" cy="109728"/>
          </a:xfrm>
          <a:prstGeom prst="ellipse">
            <a:avLst/>
          </a:prstGeom>
          <a:solidFill>
            <a:srgbClr val="016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656" y="3182112"/>
            <a:ext cx="8458200" cy="3931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01639C"/>
                </a:solidFill>
                <a:latin typeface="微软雅黑"/>
                <a:ea typeface="微软雅黑"/>
              </a:rPr>
              <a:t>完成混合缓存适配与离线建模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2656" y="3575304"/>
            <a:ext cx="84582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适配 FULL / Mamba；完善传输埋点，完成训练与项目隔离校准。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096512"/>
            <a:ext cx="17922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01639C"/>
                </a:solidFill>
                <a:latin typeface="微软雅黑"/>
                <a:ea typeface="微软雅黑"/>
              </a:rPr>
              <a:t>09.28 - 10.04</a:t>
            </a:r>
          </a:p>
        </p:txBody>
      </p:sp>
      <p:sp>
        <p:nvSpPr>
          <p:cNvPr id="18" name="Oval 17"/>
          <p:cNvSpPr/>
          <p:nvPr/>
        </p:nvSpPr>
        <p:spPr>
          <a:xfrm>
            <a:off x="2606040" y="4160520"/>
            <a:ext cx="109728" cy="109728"/>
          </a:xfrm>
          <a:prstGeom prst="ellipse">
            <a:avLst/>
          </a:prstGeom>
          <a:solidFill>
            <a:srgbClr val="016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62656" y="3950208"/>
            <a:ext cx="8458200" cy="3931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01639C"/>
                </a:solidFill>
                <a:latin typeface="微软雅黑"/>
                <a:ea typeface="微软雅黑"/>
              </a:rPr>
              <a:t>转向事件与内容驱动的预测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62656" y="4343400"/>
            <a:ext cx="84582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结合通知、语义、长度与 decode 进度，建立阶段与剩余工作预测。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864608"/>
            <a:ext cx="17922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357B73"/>
                </a:solidFill>
                <a:latin typeface="微软雅黑"/>
                <a:ea typeface="微软雅黑"/>
              </a:rPr>
              <a:t>10.05 - 10.11</a:t>
            </a:r>
          </a:p>
        </p:txBody>
      </p:sp>
      <p:sp>
        <p:nvSpPr>
          <p:cNvPr id="22" name="Oval 21"/>
          <p:cNvSpPr/>
          <p:nvPr/>
        </p:nvSpPr>
        <p:spPr>
          <a:xfrm>
            <a:off x="2606040" y="4928616"/>
            <a:ext cx="109728" cy="109728"/>
          </a:xfrm>
          <a:prstGeom prst="ellipse">
            <a:avLst/>
          </a:prstGeom>
          <a:solidFill>
            <a:srgbClr val="357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62656" y="4718304"/>
            <a:ext cx="8458200" cy="3931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357B73"/>
                </a:solidFill>
                <a:latin typeface="微软雅黑"/>
                <a:ea typeface="微软雅黑"/>
              </a:rPr>
              <a:t>推进原生对照与系统性能优化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2656" y="5111496"/>
            <a:ext cx="84582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原生对照与两波到达；优化增量备份、缺失页恢复、准入与容量交接。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3232" y="5559552"/>
            <a:ext cx="10707624" cy="0"/>
          </a:xfrm>
          <a:prstGeom prst="line">
            <a:avLst/>
          </a:prstGeom>
          <a:ln w="19050">
            <a:solidFill>
              <a:srgbClr val="D6DF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3232" y="5715000"/>
            <a:ext cx="1070762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zh-CN" spc="0">
                <a:solidFill>
                  <a:srgbClr val="162A46"/>
                </a:solidFill>
                <a:latin typeface="微软雅黑"/>
                <a:ea typeface="微软雅黑"/>
              </a:rPr>
              <a:t>目前：机制链路已贯通，稳定的端到端性能优势仍待验证。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200" b="1" lang="zh-CN" spc="0">
                <a:solidFill>
                  <a:srgbClr val="FFFFFF"/>
                </a:solidFill>
                <a:latin typeface="微软雅黑"/>
                <a:ea typeface="微软雅黑"/>
              </a:rPr>
              <a:t>关键进展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23760" y="621792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zh-CN" spc="0">
                <a:solidFill>
                  <a:srgbClr val="596875"/>
                </a:solidFill>
                <a:latin typeface="微软雅黑"/>
                <a:ea typeface="微软雅黑"/>
              </a:rPr>
              <a:t>BeliefKV  |  2026.08.15 - 2026.10.11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64792"/>
            <a:ext cx="356616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lang="zh-CN" spc="0">
                <a:solidFill>
                  <a:srgbClr val="01639C"/>
                </a:solidFill>
                <a:latin typeface="微软雅黑"/>
                <a:ea typeface="微软雅黑"/>
              </a:rPr>
              <a:t>01 系统总体架构</a:t>
            </a:r>
          </a:p>
        </p:txBody>
      </p:sp>
      <p:grpSp>
        <p:nvGrpSpPr>
          <p:cNvPr id="5" name="可编辑系统架构图"/>
          <p:cNvGrpSpPr/>
          <p:nvPr/>
        </p:nvGrpSpPr>
        <p:grpSpPr>
          <a:xfrm>
            <a:off x="594360" y="2267712"/>
            <a:ext cx="3566160" cy="2501265"/>
            <a:chOff x="0" y="0"/>
            <a:chExt cx="3566160" cy="2501265"/>
          </a:xfrm>
        </p:grpSpPr>
        <p:sp>
          <p:nvSpPr>
            <p:cNvPr id="6" name="BeliefKV：面向动态 Agent 工作流的 KV 管理"/>
            <p:cNvSpPr txBox="1"/>
            <p:nvPr/>
          </p:nvSpPr>
          <p:spPr>
            <a:xfrm>
              <a:off x="99060" y="134969"/>
              <a:ext cx="1728142" cy="13249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63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BeliefKV：面向动态 Agent 工作流的 KV 管理</a:t>
              </a:r>
            </a:p>
          </p:txBody>
        </p:sp>
        <p:sp>
          <p:nvSpPr>
            <p:cNvPr id="7" name="动态依赖感知  /  预测性迁移  /  原生执行协同"/>
            <p:cNvSpPr txBox="1"/>
            <p:nvPr/>
          </p:nvSpPr>
          <p:spPr>
            <a:xfrm>
              <a:off x="99060" y="248269"/>
              <a:ext cx="1096315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动态依赖感知  /  预测性迁移  /  原生执行协同</a:t>
              </a:r>
            </a:p>
          </p:txBody>
        </p:sp>
        <p:sp>
          <p:nvSpPr>
            <p:cNvPr id="8" name="rect 3"/>
            <p:cNvSpPr/>
            <p:nvPr/>
          </p:nvSpPr>
          <p:spPr>
            <a:xfrm>
              <a:off x="99060" y="386334"/>
              <a:ext cx="3368040" cy="435864"/>
            </a:xfrm>
            <a:prstGeom prst="roundRect">
              <a:avLst>
                <a:gd name="adj" fmla="val 1704"/>
              </a:avLst>
            </a:prstGeom>
            <a:solidFill>
              <a:srgbClr val="FFFFFF"/>
            </a:solidFill>
            <a:ln w="4210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line 4"/>
            <p:cNvCxnSpPr/>
            <p:nvPr/>
          </p:nvCxnSpPr>
          <p:spPr>
            <a:xfrm>
              <a:off x="101536" y="388810"/>
              <a:ext cx="3363087" cy="0"/>
            </a:xfrm>
            <a:prstGeom prst="line">
              <a:avLst/>
            </a:prstGeom>
            <a:ln w="7429">
              <a:solidFill>
                <a:srgbClr val="3D6F9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(a) Agent 执行框架"/>
            <p:cNvSpPr txBox="1"/>
            <p:nvPr/>
          </p:nvSpPr>
          <p:spPr>
            <a:xfrm>
              <a:off x="153543" y="410480"/>
              <a:ext cx="587540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(a) Agent 执行框架</a:t>
              </a:r>
            </a:p>
          </p:txBody>
        </p:sp>
        <p:sp>
          <p:nvSpPr>
            <p:cNvPr id="11" name="circle 6"/>
            <p:cNvSpPr/>
            <p:nvPr/>
          </p:nvSpPr>
          <p:spPr>
            <a:xfrm>
              <a:off x="198120" y="581978"/>
              <a:ext cx="118872" cy="118872"/>
            </a:xfrm>
            <a:prstGeom prst="ellipse">
              <a:avLst/>
            </a:prstGeom>
            <a:solidFill>
              <a:srgbClr val="EDF3F8"/>
            </a:solidFill>
            <a:ln w="3467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P"/>
            <p:cNvSpPr txBox="1"/>
            <p:nvPr/>
          </p:nvSpPr>
          <p:spPr>
            <a:xfrm>
              <a:off x="222048" y="591264"/>
              <a:ext cx="71015" cy="9967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7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P</a:t>
              </a:r>
            </a:p>
          </p:txBody>
        </p:sp>
        <p:sp>
          <p:nvSpPr>
            <p:cNvPr id="13" name="circle 8"/>
            <p:cNvSpPr/>
            <p:nvPr/>
          </p:nvSpPr>
          <p:spPr>
            <a:xfrm>
              <a:off x="554736" y="525018"/>
              <a:ext cx="113919" cy="113919"/>
            </a:xfrm>
            <a:prstGeom prst="ellipse">
              <a:avLst/>
            </a:prstGeom>
            <a:solidFill>
              <a:srgbClr val="FFFFFF"/>
            </a:solidFill>
            <a:ln w="3467">
              <a:solidFill>
                <a:srgbClr val="357B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C1"/>
            <p:cNvSpPr txBox="1"/>
            <p:nvPr/>
          </p:nvSpPr>
          <p:spPr>
            <a:xfrm>
              <a:off x="564434" y="539505"/>
              <a:ext cx="94523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C1</a:t>
              </a:r>
            </a:p>
          </p:txBody>
        </p:sp>
        <p:sp>
          <p:nvSpPr>
            <p:cNvPr id="15" name="circle 10"/>
            <p:cNvSpPr/>
            <p:nvPr/>
          </p:nvSpPr>
          <p:spPr>
            <a:xfrm>
              <a:off x="554736" y="673608"/>
              <a:ext cx="113919" cy="113919"/>
            </a:xfrm>
            <a:prstGeom prst="ellipse">
              <a:avLst/>
            </a:prstGeom>
            <a:solidFill>
              <a:srgbClr val="FFFFFF"/>
            </a:solidFill>
            <a:ln w="3467">
              <a:solidFill>
                <a:srgbClr val="357B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C2"/>
            <p:cNvSpPr txBox="1"/>
            <p:nvPr/>
          </p:nvSpPr>
          <p:spPr>
            <a:xfrm>
              <a:off x="564434" y="688095"/>
              <a:ext cx="94523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C2</a:t>
              </a:r>
            </a:p>
          </p:txBody>
        </p:sp>
        <p:sp>
          <p:nvSpPr>
            <p:cNvPr id="17" name="polygon 12"/>
            <p:cNvSpPr/>
            <p:nvPr/>
          </p:nvSpPr>
          <p:spPr>
            <a:xfrm>
              <a:off x="851916" y="574548"/>
              <a:ext cx="227838" cy="163449"/>
            </a:xfrm>
            <a:custGeom>
              <a:avLst/>
              <a:gdLst/>
              <a:ahLst/>
              <a:cxnLst/>
              <a:rect l="l" t="t" r="r" b="b"/>
              <a:pathLst>
                <a:path w="92" h="66">
                  <a:moveTo>
                    <a:pt x="46" y="0"/>
                  </a:moveTo>
                  <a:lnTo>
                    <a:pt x="92" y="33"/>
                  </a:lnTo>
                  <a:lnTo>
                    <a:pt x="46" y="66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FBF2E3"/>
            </a:solidFill>
            <a:ln w="3715">
              <a:solidFill>
                <a:srgbClr val="A96F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JOIN"/>
            <p:cNvSpPr txBox="1"/>
            <p:nvPr/>
          </p:nvSpPr>
          <p:spPr>
            <a:xfrm>
              <a:off x="888120" y="610457"/>
              <a:ext cx="155429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JOIN</a:t>
              </a:r>
            </a:p>
          </p:txBody>
        </p:sp>
        <p:cxnSp>
          <p:nvCxnSpPr>
            <p:cNvPr id="19" name="path 14"/>
            <p:cNvCxnSpPr/>
            <p:nvPr/>
          </p:nvCxnSpPr>
          <p:spPr>
            <a:xfrm flipV="1">
              <a:off x="316992" y="586930"/>
              <a:ext cx="230314" cy="37148"/>
            </a:xfrm>
            <a:prstGeom prst="line">
              <a:avLst/>
            </a:prstGeom>
            <a:ln w="5943">
              <a:solidFill>
                <a:srgbClr val="3D6F9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path 15"/>
            <p:cNvCxnSpPr/>
            <p:nvPr/>
          </p:nvCxnSpPr>
          <p:spPr>
            <a:xfrm>
              <a:off x="316992" y="658749"/>
              <a:ext cx="230314" cy="64389"/>
            </a:xfrm>
            <a:prstGeom prst="line">
              <a:avLst/>
            </a:prstGeom>
            <a:ln w="5943">
              <a:solidFill>
                <a:srgbClr val="3D6F9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path 16"/>
            <p:cNvSpPr/>
            <p:nvPr/>
          </p:nvSpPr>
          <p:spPr>
            <a:xfrm>
              <a:off x="673608" y="581978"/>
              <a:ext cx="200596" cy="34671"/>
            </a:xfrm>
            <a:custGeom>
              <a:avLst/>
              <a:gdLst/>
              <a:ahLst/>
              <a:cxnLst/>
              <a:rect l="l" t="t" r="r" b="b"/>
              <a:pathLst>
                <a:path w="81" h="14">
                  <a:moveTo>
                    <a:pt x="0" y="0"/>
                  </a:moveTo>
                  <a:lnTo>
                    <a:pt x="51" y="0"/>
                  </a:lnTo>
                  <a:lnTo>
                    <a:pt x="81" y="14"/>
                  </a:lnTo>
                </a:path>
              </a:pathLst>
            </a:custGeom>
            <a:noFill/>
            <a:ln w="5943">
              <a:solidFill>
                <a:srgbClr val="357B73"/>
              </a:solidFill>
              <a:tailEnd type="triangle" w="lg" len="lg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path 17"/>
            <p:cNvSpPr/>
            <p:nvPr/>
          </p:nvSpPr>
          <p:spPr>
            <a:xfrm>
              <a:off x="673608" y="695896"/>
              <a:ext cx="200596" cy="34671"/>
            </a:xfrm>
            <a:custGeom>
              <a:avLst/>
              <a:gdLst/>
              <a:ahLst/>
              <a:cxnLst/>
              <a:rect l="l" t="t" r="r" b="b"/>
              <a:pathLst>
                <a:path w="81" h="14">
                  <a:moveTo>
                    <a:pt x="0" y="14"/>
                  </a:moveTo>
                  <a:lnTo>
                    <a:pt x="51" y="14"/>
                  </a:lnTo>
                  <a:lnTo>
                    <a:pt x="81" y="0"/>
                  </a:lnTo>
                </a:path>
              </a:pathLst>
            </a:custGeom>
            <a:noFill/>
            <a:ln w="5943">
              <a:solidFill>
                <a:srgbClr val="357B73"/>
              </a:solidFill>
              <a:tailEnd type="triangle" w="lg" len="lg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path 18"/>
            <p:cNvCxnSpPr/>
            <p:nvPr/>
          </p:nvCxnSpPr>
          <p:spPr>
            <a:xfrm>
              <a:off x="1079754" y="656272"/>
              <a:ext cx="185738" cy="0"/>
            </a:xfrm>
            <a:prstGeom prst="line">
              <a:avLst/>
            </a:prstGeom>
            <a:ln w="5943">
              <a:solidFill>
                <a:srgbClr val="3D6F9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circle 19"/>
            <p:cNvSpPr/>
            <p:nvPr/>
          </p:nvSpPr>
          <p:spPr>
            <a:xfrm>
              <a:off x="1272921" y="596836"/>
              <a:ext cx="118872" cy="118872"/>
            </a:xfrm>
            <a:prstGeom prst="ellipse">
              <a:avLst/>
            </a:prstGeom>
            <a:solidFill>
              <a:srgbClr val="EDF3F8"/>
            </a:solidFill>
            <a:ln w="3467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P"/>
            <p:cNvSpPr txBox="1"/>
            <p:nvPr/>
          </p:nvSpPr>
          <p:spPr>
            <a:xfrm>
              <a:off x="1296849" y="606123"/>
              <a:ext cx="71015" cy="9967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7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P</a:t>
              </a:r>
            </a:p>
          </p:txBody>
        </p:sp>
        <p:sp>
          <p:nvSpPr>
            <p:cNvPr id="26" name="SPAWN"/>
            <p:cNvSpPr txBox="1"/>
            <p:nvPr/>
          </p:nvSpPr>
          <p:spPr>
            <a:xfrm>
              <a:off x="315140" y="508302"/>
              <a:ext cx="172107" cy="7119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32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SPAWN</a:t>
              </a:r>
            </a:p>
          </p:txBody>
        </p:sp>
        <p:sp>
          <p:nvSpPr>
            <p:cNvPr id="27" name="RETURN"/>
            <p:cNvSpPr txBox="1"/>
            <p:nvPr/>
          </p:nvSpPr>
          <p:spPr>
            <a:xfrm>
              <a:off x="685570" y="741093"/>
              <a:ext cx="194009" cy="7119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32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RETURN</a:t>
              </a:r>
            </a:p>
          </p:txBody>
        </p:sp>
        <p:cxnSp>
          <p:nvCxnSpPr>
            <p:cNvPr id="28" name="line 23"/>
            <p:cNvCxnSpPr/>
            <p:nvPr/>
          </p:nvCxnSpPr>
          <p:spPr>
            <a:xfrm>
              <a:off x="1490853" y="542354"/>
              <a:ext cx="0" cy="230314"/>
            </a:xfrm>
            <a:prstGeom prst="line">
              <a:avLst/>
            </a:prstGeom>
            <a:ln w="3715">
              <a:solidFill>
                <a:srgbClr val="D4DBE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事件：SPAWN、工具调用、RETURN、JOIN"/>
            <p:cNvSpPr txBox="1"/>
            <p:nvPr/>
          </p:nvSpPr>
          <p:spPr>
            <a:xfrm>
              <a:off x="1560195" y="515112"/>
              <a:ext cx="1193286" cy="965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事件：SPAWN、工具调用、RETURN、JOIN</a:t>
              </a:r>
            </a:p>
          </p:txBody>
        </p:sp>
        <p:sp>
          <p:nvSpPr>
            <p:cNvPr id="30" name="信号：收尾通知、已输出正文"/>
            <p:cNvSpPr txBox="1"/>
            <p:nvPr/>
          </p:nvSpPr>
          <p:spPr>
            <a:xfrm>
              <a:off x="1560195" y="601790"/>
              <a:ext cx="802386" cy="965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信号：收尾通知、已输出正文</a:t>
              </a:r>
            </a:p>
          </p:txBody>
        </p:sp>
        <p:sp>
          <p:nvSpPr>
            <p:cNvPr id="31" name="进度：已观测 decode 与 GPU 服务"/>
            <p:cNvSpPr txBox="1"/>
            <p:nvPr/>
          </p:nvSpPr>
          <p:spPr>
            <a:xfrm>
              <a:off x="1560195" y="688467"/>
              <a:ext cx="943769" cy="965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进度：已观测 decode 与 GPU 服务</a:t>
              </a:r>
            </a:p>
          </p:txBody>
        </p:sp>
        <p:sp>
          <p:nvSpPr>
            <p:cNvPr id="32" name="因果状态更新"/>
            <p:cNvSpPr txBox="1"/>
            <p:nvPr/>
          </p:nvSpPr>
          <p:spPr>
            <a:xfrm>
              <a:off x="406146" y="840772"/>
              <a:ext cx="341757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因果状态更新</a:t>
              </a:r>
            </a:p>
          </p:txBody>
        </p:sp>
        <p:cxnSp>
          <p:nvCxnSpPr>
            <p:cNvPr id="33" name="path 28"/>
            <p:cNvCxnSpPr/>
            <p:nvPr/>
          </p:nvCxnSpPr>
          <p:spPr>
            <a:xfrm>
              <a:off x="577024" y="822198"/>
              <a:ext cx="0" cy="153543"/>
            </a:xfrm>
            <a:prstGeom prst="line">
              <a:avLst/>
            </a:prstGeom>
            <a:ln w="5943">
              <a:solidFill>
                <a:srgbClr val="3D6F9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在线观测"/>
            <p:cNvSpPr txBox="1"/>
            <p:nvPr/>
          </p:nvSpPr>
          <p:spPr>
            <a:xfrm>
              <a:off x="1555242" y="840772"/>
              <a:ext cx="23774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A96F1F"/>
                  </a:solidFill>
                  <a:latin typeface="Noto Sans CJK SC"/>
                  <a:ea typeface="Noto Sans CJK SC"/>
                </a:rPr>
                <a:t>在线观测</a:t>
              </a:r>
            </a:p>
          </p:txBody>
        </p:sp>
        <p:cxnSp>
          <p:nvCxnSpPr>
            <p:cNvPr id="35" name="path 30"/>
            <p:cNvCxnSpPr/>
            <p:nvPr/>
          </p:nvCxnSpPr>
          <p:spPr>
            <a:xfrm>
              <a:off x="1674114" y="822198"/>
              <a:ext cx="0" cy="153543"/>
            </a:xfrm>
            <a:prstGeom prst="line">
              <a:avLst/>
            </a:prstGeom>
            <a:ln w="5943">
              <a:solidFill>
                <a:srgbClr val="A96F1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 31"/>
            <p:cNvSpPr/>
            <p:nvPr/>
          </p:nvSpPr>
          <p:spPr>
            <a:xfrm>
              <a:off x="99060" y="980694"/>
              <a:ext cx="975741" cy="636460"/>
            </a:xfrm>
            <a:prstGeom prst="roundRect">
              <a:avLst>
                <a:gd name="adj" fmla="val 1167"/>
              </a:avLst>
            </a:prstGeom>
            <a:solidFill>
              <a:srgbClr val="FFFFFF"/>
            </a:solidFill>
            <a:ln w="4210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7" name="line 32"/>
            <p:cNvCxnSpPr/>
            <p:nvPr/>
          </p:nvCxnSpPr>
          <p:spPr>
            <a:xfrm>
              <a:off x="101536" y="983170"/>
              <a:ext cx="970788" cy="0"/>
            </a:xfrm>
            <a:prstGeom prst="line">
              <a:avLst/>
            </a:prstGeom>
            <a:ln w="7429">
              <a:solidFill>
                <a:srgbClr val="3D6F9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(b) 因果状态"/>
            <p:cNvSpPr txBox="1"/>
            <p:nvPr/>
          </p:nvSpPr>
          <p:spPr>
            <a:xfrm>
              <a:off x="153543" y="1004840"/>
              <a:ext cx="392032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(b) 因果状态</a:t>
              </a:r>
            </a:p>
          </p:txBody>
        </p:sp>
        <p:sp>
          <p:nvSpPr>
            <p:cNvPr id="39" name="运行时工作流依赖图"/>
            <p:cNvSpPr txBox="1"/>
            <p:nvPr/>
          </p:nvSpPr>
          <p:spPr>
            <a:xfrm>
              <a:off x="156020" y="1114425"/>
              <a:ext cx="564642" cy="965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运行时工作流依赖图</a:t>
              </a:r>
            </a:p>
          </p:txBody>
        </p:sp>
        <p:sp>
          <p:nvSpPr>
            <p:cNvPr id="40" name="JOIN_ALL / 工具等待 / 可执行"/>
            <p:cNvSpPr txBox="1"/>
            <p:nvPr/>
          </p:nvSpPr>
          <p:spPr>
            <a:xfrm>
              <a:off x="156020" y="1211008"/>
              <a:ext cx="815794" cy="965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JOIN_ALL / 工具等待 / 可执行</a:t>
              </a:r>
            </a:p>
          </p:txBody>
        </p:sp>
        <p:sp>
          <p:nvSpPr>
            <p:cNvPr id="41" name="Context 身份与版本"/>
            <p:cNvSpPr txBox="1"/>
            <p:nvPr/>
          </p:nvSpPr>
          <p:spPr>
            <a:xfrm>
              <a:off x="156020" y="1307592"/>
              <a:ext cx="554775" cy="965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Context 身份与版本</a:t>
              </a:r>
            </a:p>
          </p:txBody>
        </p:sp>
        <p:sp>
          <p:nvSpPr>
            <p:cNvPr id="42" name="rect 37"/>
            <p:cNvSpPr/>
            <p:nvPr/>
          </p:nvSpPr>
          <p:spPr>
            <a:xfrm>
              <a:off x="156020" y="1461135"/>
              <a:ext cx="398716" cy="96584"/>
            </a:xfrm>
            <a:prstGeom prst="roundRect">
              <a:avLst>
                <a:gd name="adj" fmla="val 5128"/>
              </a:avLst>
            </a:prstGeom>
            <a:solidFill>
              <a:srgbClr val="FBF2E3"/>
            </a:solidFill>
            <a:ln w="3219">
              <a:solidFill>
                <a:srgbClr val="A96F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WAIT_JOIN"/>
            <p:cNvSpPr txBox="1"/>
            <p:nvPr/>
          </p:nvSpPr>
          <p:spPr>
            <a:xfrm>
              <a:off x="204432" y="1468688"/>
              <a:ext cx="301891" cy="8234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0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WAIT_JOIN</a:t>
              </a:r>
            </a:p>
          </p:txBody>
        </p:sp>
        <p:sp>
          <p:nvSpPr>
            <p:cNvPr id="44" name="rect 39"/>
            <p:cNvSpPr/>
            <p:nvPr/>
          </p:nvSpPr>
          <p:spPr>
            <a:xfrm>
              <a:off x="599313" y="1461135"/>
              <a:ext cx="398716" cy="96584"/>
            </a:xfrm>
            <a:prstGeom prst="roundRect">
              <a:avLst>
                <a:gd name="adj" fmla="val 5128"/>
              </a:avLst>
            </a:prstGeom>
            <a:solidFill>
              <a:srgbClr val="EAF3F1"/>
            </a:solidFill>
            <a:ln w="3219">
              <a:solidFill>
                <a:srgbClr val="357B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ADY"/>
            <p:cNvSpPr txBox="1"/>
            <p:nvPr/>
          </p:nvSpPr>
          <p:spPr>
            <a:xfrm>
              <a:off x="704337" y="1468688"/>
              <a:ext cx="188669" cy="8234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0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READY</a:t>
              </a:r>
            </a:p>
          </p:txBody>
        </p:sp>
        <p:sp>
          <p:nvSpPr>
            <p:cNvPr id="46" name="rect 41"/>
            <p:cNvSpPr/>
            <p:nvPr/>
          </p:nvSpPr>
          <p:spPr>
            <a:xfrm>
              <a:off x="1163955" y="980694"/>
              <a:ext cx="1025271" cy="636460"/>
            </a:xfrm>
            <a:prstGeom prst="roundRect">
              <a:avLst>
                <a:gd name="adj" fmla="val 1167"/>
              </a:avLst>
            </a:prstGeom>
            <a:solidFill>
              <a:srgbClr val="FFFFFF"/>
            </a:solidFill>
            <a:ln w="4210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7" name="line 42"/>
            <p:cNvCxnSpPr/>
            <p:nvPr/>
          </p:nvCxnSpPr>
          <p:spPr>
            <a:xfrm>
              <a:off x="1166432" y="983170"/>
              <a:ext cx="1020318" cy="0"/>
            </a:xfrm>
            <a:prstGeom prst="line">
              <a:avLst/>
            </a:prstGeom>
            <a:ln w="7429">
              <a:solidFill>
                <a:srgbClr val="A96F1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(c) 预测模块"/>
            <p:cNvSpPr txBox="1"/>
            <p:nvPr/>
          </p:nvSpPr>
          <p:spPr>
            <a:xfrm>
              <a:off x="1218438" y="1004840"/>
              <a:ext cx="384506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A96F1F"/>
                  </a:solidFill>
                  <a:latin typeface="Noto Sans CJK SC"/>
                  <a:ea typeface="Noto Sans CJK SC"/>
                </a:rPr>
                <a:t>(c) 预测模块</a:t>
              </a:r>
            </a:p>
          </p:txBody>
        </p:sp>
        <p:sp>
          <p:nvSpPr>
            <p:cNvPr id="49" name="Child 阶段与剩余工作量"/>
            <p:cNvSpPr txBox="1"/>
            <p:nvPr/>
          </p:nvSpPr>
          <p:spPr>
            <a:xfrm>
              <a:off x="1218438" y="1128046"/>
              <a:ext cx="590655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Child 阶段与剩余工作量</a:t>
              </a:r>
            </a:p>
          </p:txBody>
        </p:sp>
        <p:sp>
          <p:nvSpPr>
            <p:cNvPr id="50" name="正文、通知与 decode 进度"/>
            <p:cNvSpPr txBox="1"/>
            <p:nvPr/>
          </p:nvSpPr>
          <p:spPr>
            <a:xfrm>
              <a:off x="1218438" y="1212247"/>
              <a:ext cx="647963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正文、通知与 decode 进度</a:t>
              </a:r>
            </a:p>
          </p:txBody>
        </p:sp>
        <p:cxnSp>
          <p:nvCxnSpPr>
            <p:cNvPr id="51" name="line 46"/>
            <p:cNvCxnSpPr/>
            <p:nvPr/>
          </p:nvCxnSpPr>
          <p:spPr>
            <a:xfrm>
              <a:off x="1218438" y="1332357"/>
              <a:ext cx="913828" cy="0"/>
            </a:xfrm>
            <a:prstGeom prst="line">
              <a:avLst/>
            </a:prstGeom>
            <a:ln w="3467">
              <a:solidFill>
                <a:srgbClr val="D4DBE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工具剩余时间分布"/>
            <p:cNvSpPr txBox="1"/>
            <p:nvPr/>
          </p:nvSpPr>
          <p:spPr>
            <a:xfrm>
              <a:off x="1218438" y="1363313"/>
              <a:ext cx="445770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工具剩余时间分布</a:t>
              </a:r>
            </a:p>
          </p:txBody>
        </p:sp>
        <p:sp>
          <p:nvSpPr>
            <p:cNvPr id="53" name="类型、已执行时间与历史"/>
            <p:cNvSpPr txBox="1"/>
            <p:nvPr/>
          </p:nvSpPr>
          <p:spPr>
            <a:xfrm>
              <a:off x="1218438" y="1447514"/>
              <a:ext cx="601790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类型、已执行时间与历史</a:t>
              </a:r>
            </a:p>
          </p:txBody>
        </p:sp>
        <p:cxnSp>
          <p:nvCxnSpPr>
            <p:cNvPr id="54" name="path 49"/>
            <p:cNvCxnSpPr/>
            <p:nvPr/>
          </p:nvCxnSpPr>
          <p:spPr>
            <a:xfrm>
              <a:off x="1074801" y="1312545"/>
              <a:ext cx="86678" cy="0"/>
            </a:xfrm>
            <a:prstGeom prst="line">
              <a:avLst/>
            </a:prstGeom>
            <a:ln w="5943">
              <a:solidFill>
                <a:srgbClr val="3D6F9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path 50"/>
            <p:cNvCxnSpPr/>
            <p:nvPr/>
          </p:nvCxnSpPr>
          <p:spPr>
            <a:xfrm>
              <a:off x="2189226" y="1312545"/>
              <a:ext cx="111442" cy="0"/>
            </a:xfrm>
            <a:prstGeom prst="line">
              <a:avLst/>
            </a:prstGeom>
            <a:ln w="5943">
              <a:solidFill>
                <a:srgbClr val="A96F1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提示"/>
            <p:cNvSpPr txBox="1"/>
            <p:nvPr/>
          </p:nvSpPr>
          <p:spPr>
            <a:xfrm>
              <a:off x="2189226" y="1211628"/>
              <a:ext cx="113919" cy="7119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32" b="0" lang="zh-CN" spc="0">
                  <a:solidFill>
                    <a:srgbClr val="A96F1F"/>
                  </a:solidFill>
                  <a:latin typeface="Noto Sans CJK SC"/>
                  <a:ea typeface="Noto Sans CJK SC"/>
                </a:rPr>
                <a:t>提示</a:t>
              </a:r>
            </a:p>
          </p:txBody>
        </p:sp>
        <p:sp>
          <p:nvSpPr>
            <p:cNvPr id="57" name="rect 52"/>
            <p:cNvSpPr/>
            <p:nvPr/>
          </p:nvSpPr>
          <p:spPr>
            <a:xfrm>
              <a:off x="2303145" y="980694"/>
              <a:ext cx="1163955" cy="636460"/>
            </a:xfrm>
            <a:prstGeom prst="roundRect">
              <a:avLst>
                <a:gd name="adj" fmla="val 1167"/>
              </a:avLst>
            </a:prstGeom>
            <a:solidFill>
              <a:srgbClr val="FFFFFF"/>
            </a:solidFill>
            <a:ln w="4210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8" name="line 53"/>
            <p:cNvCxnSpPr/>
            <p:nvPr/>
          </p:nvCxnSpPr>
          <p:spPr>
            <a:xfrm>
              <a:off x="2305622" y="983170"/>
              <a:ext cx="1159002" cy="0"/>
            </a:xfrm>
            <a:prstGeom prst="line">
              <a:avLst/>
            </a:prstGeom>
            <a:ln w="7429">
              <a:solidFill>
                <a:srgbClr val="357B7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(d) Runtime 决策"/>
            <p:cNvSpPr txBox="1"/>
            <p:nvPr/>
          </p:nvSpPr>
          <p:spPr>
            <a:xfrm>
              <a:off x="2357628" y="1004840"/>
              <a:ext cx="550228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(d) Runtime 决策</a:t>
              </a:r>
            </a:p>
          </p:txBody>
        </p:sp>
        <p:sp>
          <p:nvSpPr>
            <p:cNvPr id="60" name="安全 checkpoint 与有效 Host 副本"/>
            <p:cNvSpPr txBox="1"/>
            <p:nvPr/>
          </p:nvSpPr>
          <p:spPr>
            <a:xfrm>
              <a:off x="2357628" y="1104519"/>
              <a:ext cx="937510" cy="965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安全 checkpoint 与有效 Host 副本</a:t>
              </a:r>
            </a:p>
          </p:txBody>
        </p:sp>
        <p:sp>
          <p:nvSpPr>
            <p:cNvPr id="61" name="容量与传输服务成本"/>
            <p:cNvSpPr txBox="1"/>
            <p:nvPr/>
          </p:nvSpPr>
          <p:spPr>
            <a:xfrm>
              <a:off x="2357628" y="1206056"/>
              <a:ext cx="564642" cy="965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容量与传输服务成本</a:t>
              </a:r>
            </a:p>
          </p:txBody>
        </p:sp>
        <p:sp>
          <p:nvSpPr>
            <p:cNvPr id="62" name="缺失页迁移规划"/>
            <p:cNvSpPr txBox="1"/>
            <p:nvPr/>
          </p:nvSpPr>
          <p:spPr>
            <a:xfrm>
              <a:off x="2357628" y="1307592"/>
              <a:ext cx="445770" cy="965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缺失页迁移规划</a:t>
              </a:r>
            </a:p>
          </p:txBody>
        </p:sp>
        <p:sp>
          <p:nvSpPr>
            <p:cNvPr id="63" name="准入、驻留保护与请求老化"/>
            <p:cNvSpPr txBox="1"/>
            <p:nvPr/>
          </p:nvSpPr>
          <p:spPr>
            <a:xfrm>
              <a:off x="2357628" y="1409128"/>
              <a:ext cx="742950" cy="965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准入、驻留保护与请求老化</a:t>
              </a:r>
            </a:p>
          </p:txBody>
        </p:sp>
        <p:cxnSp>
          <p:nvCxnSpPr>
            <p:cNvPr id="64" name="path 59"/>
            <p:cNvCxnSpPr/>
            <p:nvPr/>
          </p:nvCxnSpPr>
          <p:spPr>
            <a:xfrm>
              <a:off x="2885122" y="1617154"/>
              <a:ext cx="0" cy="193167"/>
            </a:xfrm>
            <a:prstGeom prst="line">
              <a:avLst/>
            </a:prstGeom>
            <a:ln w="5943">
              <a:solidFill>
                <a:srgbClr val="357B73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调度意图"/>
            <p:cNvSpPr txBox="1"/>
            <p:nvPr/>
          </p:nvSpPr>
          <p:spPr>
            <a:xfrm>
              <a:off x="2934652" y="1667923"/>
              <a:ext cx="23774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调度意图</a:t>
              </a:r>
            </a:p>
          </p:txBody>
        </p:sp>
        <p:sp>
          <p:nvSpPr>
            <p:cNvPr id="66" name="path 61"/>
            <p:cNvSpPr/>
            <p:nvPr/>
          </p:nvSpPr>
          <p:spPr>
            <a:xfrm>
              <a:off x="1649349" y="1617154"/>
              <a:ext cx="790004" cy="193167"/>
            </a:xfrm>
            <a:custGeom>
              <a:avLst/>
              <a:gdLst/>
              <a:ahLst/>
              <a:cxnLst/>
              <a:rect l="l" t="t" r="r" b="b"/>
              <a:pathLst>
                <a:path w="319" h="78">
                  <a:moveTo>
                    <a:pt x="0" y="78"/>
                  </a:moveTo>
                  <a:lnTo>
                    <a:pt x="0" y="38"/>
                  </a:lnTo>
                  <a:lnTo>
                    <a:pt x="319" y="38"/>
                  </a:lnTo>
                  <a:lnTo>
                    <a:pt x="319" y="0"/>
                  </a:lnTo>
                </a:path>
              </a:pathLst>
            </a:custGeom>
            <a:noFill/>
            <a:ln w="5943">
              <a:solidFill>
                <a:srgbClr val="3D6F9F"/>
              </a:solidFill>
              <a:prstDash val="dash"/>
              <a:tailEnd type="triangle" w="lg" len="lg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容量 / ACK / 首次复用"/>
            <p:cNvSpPr txBox="1"/>
            <p:nvPr/>
          </p:nvSpPr>
          <p:spPr>
            <a:xfrm>
              <a:off x="1696402" y="1625822"/>
              <a:ext cx="526943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容量 / ACK / 首次复用</a:t>
              </a:r>
            </a:p>
          </p:txBody>
        </p:sp>
        <p:sp>
          <p:nvSpPr>
            <p:cNvPr id="68" name="rect 63"/>
            <p:cNvSpPr/>
            <p:nvPr/>
          </p:nvSpPr>
          <p:spPr>
            <a:xfrm>
              <a:off x="99060" y="1815274"/>
              <a:ext cx="3368040" cy="440817"/>
            </a:xfrm>
            <a:prstGeom prst="roundRect">
              <a:avLst>
                <a:gd name="adj" fmla="val 1685"/>
              </a:avLst>
            </a:prstGeom>
            <a:solidFill>
              <a:srgbClr val="FFFFFF"/>
            </a:solidFill>
            <a:ln w="4210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9" name="line 64"/>
            <p:cNvCxnSpPr/>
            <p:nvPr/>
          </p:nvCxnSpPr>
          <p:spPr>
            <a:xfrm>
              <a:off x="101536" y="1817751"/>
              <a:ext cx="3363087" cy="0"/>
            </a:xfrm>
            <a:prstGeom prst="line">
              <a:avLst/>
            </a:prstGeom>
            <a:ln w="7429">
              <a:solidFill>
                <a:srgbClr val="3D6F9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(e) SGLang：物理缓存与执行事实源"/>
            <p:cNvSpPr txBox="1"/>
            <p:nvPr/>
          </p:nvSpPr>
          <p:spPr>
            <a:xfrm>
              <a:off x="153543" y="1839420"/>
              <a:ext cx="1080035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(e) SGLang：物理缓存与执行事实源</a:t>
              </a:r>
            </a:p>
          </p:txBody>
        </p:sp>
        <p:sp>
          <p:nvSpPr>
            <p:cNvPr id="71" name="rect 66"/>
            <p:cNvSpPr/>
            <p:nvPr/>
          </p:nvSpPr>
          <p:spPr>
            <a:xfrm>
              <a:off x="153543" y="1998535"/>
              <a:ext cx="658749" cy="185738"/>
            </a:xfrm>
            <a:prstGeom prst="roundRect">
              <a:avLst>
                <a:gd name="adj" fmla="val 2666"/>
              </a:avLst>
            </a:prstGeom>
            <a:solidFill>
              <a:srgbClr val="EDF3F8"/>
            </a:solidFill>
            <a:ln w="3219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原生 GPU 批处理"/>
            <p:cNvSpPr txBox="1"/>
            <p:nvPr/>
          </p:nvSpPr>
          <p:spPr>
            <a:xfrm>
              <a:off x="270799" y="2048412"/>
              <a:ext cx="424236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原生 GPU 批处理</a:t>
              </a:r>
            </a:p>
          </p:txBody>
        </p:sp>
        <p:sp>
          <p:nvSpPr>
            <p:cNvPr id="73" name="rect 68"/>
            <p:cNvSpPr/>
            <p:nvPr/>
          </p:nvSpPr>
          <p:spPr>
            <a:xfrm>
              <a:off x="983170" y="1998535"/>
              <a:ext cx="1015365" cy="185738"/>
            </a:xfrm>
            <a:prstGeom prst="roundRect">
              <a:avLst>
                <a:gd name="adj" fmla="val 2666"/>
              </a:avLst>
            </a:prstGeom>
            <a:solidFill>
              <a:srgbClr val="F2F4F5"/>
            </a:solidFill>
            <a:ln w="3219">
              <a:solidFill>
                <a:srgbClr val="8995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Radix / HiCache / Allocators"/>
            <p:cNvSpPr txBox="1"/>
            <p:nvPr/>
          </p:nvSpPr>
          <p:spPr>
            <a:xfrm>
              <a:off x="1092978" y="2044524"/>
              <a:ext cx="795750" cy="9286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48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Radix / HiCache / Allocators</a:t>
              </a:r>
            </a:p>
          </p:txBody>
        </p:sp>
        <p:cxnSp>
          <p:nvCxnSpPr>
            <p:cNvPr id="75" name="path 70"/>
            <p:cNvCxnSpPr/>
            <p:nvPr/>
          </p:nvCxnSpPr>
          <p:spPr>
            <a:xfrm>
              <a:off x="814768" y="2090166"/>
              <a:ext cx="165926" cy="0"/>
            </a:xfrm>
            <a:prstGeom prst="line">
              <a:avLst/>
            </a:prstGeom>
            <a:ln w="5943">
              <a:solidFill>
                <a:srgbClr val="3D6F9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path 71"/>
            <p:cNvCxnSpPr/>
            <p:nvPr/>
          </p:nvCxnSpPr>
          <p:spPr>
            <a:xfrm>
              <a:off x="2001012" y="2090166"/>
              <a:ext cx="146114" cy="0"/>
            </a:xfrm>
            <a:prstGeom prst="line">
              <a:avLst/>
            </a:prstGeom>
            <a:ln w="5943">
              <a:solidFill>
                <a:srgbClr val="3D6F9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rect 72"/>
            <p:cNvSpPr/>
            <p:nvPr/>
          </p:nvSpPr>
          <p:spPr>
            <a:xfrm>
              <a:off x="2147126" y="1986153"/>
              <a:ext cx="465582" cy="205550"/>
            </a:xfrm>
            <a:prstGeom prst="roundRect">
              <a:avLst>
                <a:gd name="adj" fmla="val 2409"/>
              </a:avLst>
            </a:prstGeom>
            <a:solidFill>
              <a:srgbClr val="EDF3F8"/>
            </a:solidFill>
            <a:ln w="4458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HBM"/>
            <p:cNvSpPr txBox="1"/>
            <p:nvPr/>
          </p:nvSpPr>
          <p:spPr>
            <a:xfrm>
              <a:off x="2294139" y="1996059"/>
              <a:ext cx="171556" cy="9967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7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HBM</a:t>
              </a:r>
            </a:p>
          </p:txBody>
        </p:sp>
        <p:sp>
          <p:nvSpPr>
            <p:cNvPr id="79" name="FULL + Mamba"/>
            <p:cNvSpPr txBox="1"/>
            <p:nvPr/>
          </p:nvSpPr>
          <p:spPr>
            <a:xfrm>
              <a:off x="2204414" y="2089547"/>
              <a:ext cx="351005" cy="7862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70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FULL + Mamba</a:t>
              </a:r>
            </a:p>
          </p:txBody>
        </p:sp>
        <p:sp>
          <p:nvSpPr>
            <p:cNvPr id="80" name="rect 75"/>
            <p:cNvSpPr/>
            <p:nvPr/>
          </p:nvSpPr>
          <p:spPr>
            <a:xfrm>
              <a:off x="2947035" y="1986153"/>
              <a:ext cx="465582" cy="205550"/>
            </a:xfrm>
            <a:prstGeom prst="roundRect">
              <a:avLst>
                <a:gd name="adj" fmla="val 2409"/>
              </a:avLst>
            </a:prstGeom>
            <a:solidFill>
              <a:srgbClr val="EAF3F1"/>
            </a:solidFill>
            <a:ln w="4458">
              <a:solidFill>
                <a:srgbClr val="357B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Host"/>
            <p:cNvSpPr txBox="1"/>
            <p:nvPr/>
          </p:nvSpPr>
          <p:spPr>
            <a:xfrm>
              <a:off x="3094667" y="1996059"/>
              <a:ext cx="170317" cy="9967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7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Host</a:t>
              </a:r>
            </a:p>
          </p:txBody>
        </p:sp>
        <p:sp>
          <p:nvSpPr>
            <p:cNvPr id="82" name="FULL + Mamba"/>
            <p:cNvSpPr txBox="1"/>
            <p:nvPr/>
          </p:nvSpPr>
          <p:spPr>
            <a:xfrm>
              <a:off x="3004323" y="2089547"/>
              <a:ext cx="351005" cy="7862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70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FULL + Mamba</a:t>
              </a:r>
            </a:p>
          </p:txBody>
        </p:sp>
        <p:cxnSp>
          <p:nvCxnSpPr>
            <p:cNvPr id="83" name="path 78"/>
            <p:cNvCxnSpPr/>
            <p:nvPr/>
          </p:nvCxnSpPr>
          <p:spPr>
            <a:xfrm>
              <a:off x="2615184" y="2040636"/>
              <a:ext cx="329374" cy="0"/>
            </a:xfrm>
            <a:prstGeom prst="line">
              <a:avLst/>
            </a:prstGeom>
            <a:ln w="5943">
              <a:solidFill>
                <a:srgbClr val="357B73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D2H"/>
            <p:cNvSpPr txBox="1"/>
            <p:nvPr/>
          </p:nvSpPr>
          <p:spPr>
            <a:xfrm>
              <a:off x="2717369" y="1961388"/>
              <a:ext cx="117576" cy="749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1" b="0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D2H</a:t>
              </a:r>
            </a:p>
          </p:txBody>
        </p:sp>
        <p:cxnSp>
          <p:nvCxnSpPr>
            <p:cNvPr id="85" name="path 80"/>
            <p:cNvCxnSpPr/>
            <p:nvPr/>
          </p:nvCxnSpPr>
          <p:spPr>
            <a:xfrm flipH="1">
              <a:off x="2615184" y="2149602"/>
              <a:ext cx="331851" cy="0"/>
            </a:xfrm>
            <a:prstGeom prst="line">
              <a:avLst/>
            </a:prstGeom>
            <a:ln w="5943">
              <a:solidFill>
                <a:srgbClr val="A96F1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H2D"/>
            <p:cNvSpPr txBox="1"/>
            <p:nvPr/>
          </p:nvSpPr>
          <p:spPr>
            <a:xfrm>
              <a:off x="2717369" y="2072830"/>
              <a:ext cx="117576" cy="749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1" b="0" lang="zh-CN" spc="0">
                  <a:solidFill>
                    <a:srgbClr val="A96F1F"/>
                  </a:solidFill>
                  <a:latin typeface="Noto Sans CJK SC"/>
                  <a:ea typeface="Noto Sans CJK SC"/>
                </a:rPr>
                <a:t>H2D</a:t>
              </a:r>
            </a:p>
          </p:txBody>
        </p:sp>
        <p:sp>
          <p:nvSpPr>
            <p:cNvPr id="87" name="模型估计完成进度，runtime 决定动作，原生数据依赖决定执行。"/>
            <p:cNvSpPr txBox="1"/>
            <p:nvPr/>
          </p:nvSpPr>
          <p:spPr>
            <a:xfrm>
              <a:off x="99060" y="2276523"/>
              <a:ext cx="1607607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模型估计完成进度，runtime 决定动作，原生数据依赖决定执行。</a:t>
              </a:r>
            </a:p>
          </p:txBody>
        </p:sp>
      </p:grpSp>
      <p:sp>
        <p:nvSpPr>
          <p:cNvPr id="88" name="TextBox 87"/>
          <p:cNvSpPr txBox="1"/>
          <p:nvPr/>
        </p:nvSpPr>
        <p:spPr>
          <a:xfrm>
            <a:off x="630936" y="4937760"/>
            <a:ext cx="3493008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zh-CN" spc="0">
                <a:solidFill>
                  <a:srgbClr val="596875"/>
                </a:solidFill>
                <a:latin typeface="微软雅黑"/>
                <a:ea typeface="微软雅黑"/>
              </a:rPr>
              <a:t>工作流事件、完成预测与运行时决策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zh-CN" spc="0">
                <a:solidFill>
                  <a:srgbClr val="596875"/>
                </a:solidFill>
                <a:latin typeface="微软雅黑"/>
                <a:ea typeface="微软雅黑"/>
              </a:rPr>
              <a:t>连接 KV 迁移和 SGLang 原生执行。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9120" y="1764792"/>
            <a:ext cx="356616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lang="zh-CN" spc="0">
                <a:solidFill>
                  <a:srgbClr val="01639C"/>
                </a:solidFill>
                <a:latin typeface="微软雅黑"/>
                <a:ea typeface="微软雅黑"/>
              </a:rPr>
              <a:t>02 预测与调度协同</a:t>
            </a:r>
          </a:p>
        </p:txBody>
      </p:sp>
      <p:grpSp>
        <p:nvGrpSpPr>
          <p:cNvPr id="90" name="可编辑系统架构图"/>
          <p:cNvGrpSpPr/>
          <p:nvPr/>
        </p:nvGrpSpPr>
        <p:grpSpPr>
          <a:xfrm>
            <a:off x="4389120" y="2267712"/>
            <a:ext cx="3566160" cy="2501265"/>
            <a:chOff x="0" y="0"/>
            <a:chExt cx="3566160" cy="2501265"/>
          </a:xfrm>
        </p:grpSpPr>
        <p:sp>
          <p:nvSpPr>
            <p:cNvPr id="91" name="从完成信号到可被执行消费的预取"/>
            <p:cNvSpPr txBox="1"/>
            <p:nvPr/>
          </p:nvSpPr>
          <p:spPr>
            <a:xfrm>
              <a:off x="99060" y="23527"/>
              <a:ext cx="1292733" cy="13249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63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从完成信号到可被执行消费的预取</a:t>
              </a:r>
            </a:p>
          </p:txBody>
        </p:sp>
        <p:sp>
          <p:nvSpPr>
            <p:cNvPr id="92" name="分离剩余工作量、调度机会与物理数据依赖"/>
            <p:cNvSpPr txBox="1"/>
            <p:nvPr/>
          </p:nvSpPr>
          <p:spPr>
            <a:xfrm>
              <a:off x="99060" y="139303"/>
              <a:ext cx="1064895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分离剩余工作量、调度机会与物理数据依赖</a:t>
              </a:r>
            </a:p>
          </p:txBody>
        </p:sp>
        <p:sp>
          <p:nvSpPr>
            <p:cNvPr id="93" name="rect 3"/>
            <p:cNvSpPr/>
            <p:nvPr/>
          </p:nvSpPr>
          <p:spPr>
            <a:xfrm>
              <a:off x="99060" y="299656"/>
              <a:ext cx="884110" cy="319468"/>
            </a:xfrm>
            <a:prstGeom prst="roundRect">
              <a:avLst>
                <a:gd name="adj" fmla="val 2325"/>
              </a:avLst>
            </a:prstGeom>
            <a:solidFill>
              <a:srgbClr val="FFFFFF"/>
            </a:solidFill>
            <a:ln w="4210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4" name="line 4"/>
            <p:cNvCxnSpPr/>
            <p:nvPr/>
          </p:nvCxnSpPr>
          <p:spPr>
            <a:xfrm>
              <a:off x="101536" y="302133"/>
              <a:ext cx="879157" cy="0"/>
            </a:xfrm>
            <a:prstGeom prst="line">
              <a:avLst/>
            </a:prstGeom>
            <a:ln w="7429">
              <a:solidFill>
                <a:srgbClr val="3D6F9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Child 在线观测"/>
            <p:cNvSpPr txBox="1"/>
            <p:nvPr/>
          </p:nvSpPr>
          <p:spPr>
            <a:xfrm>
              <a:off x="153543" y="323802"/>
              <a:ext cx="466656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Child 在线观测</a:t>
              </a:r>
            </a:p>
          </p:txBody>
        </p:sp>
        <p:sp>
          <p:nvSpPr>
            <p:cNvPr id="96" name="通知、正文与 decode 进度"/>
            <p:cNvSpPr txBox="1"/>
            <p:nvPr/>
          </p:nvSpPr>
          <p:spPr>
            <a:xfrm>
              <a:off x="156020" y="434626"/>
              <a:ext cx="647963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通知、正文与 decode 进度</a:t>
              </a:r>
            </a:p>
          </p:txBody>
        </p:sp>
        <p:sp>
          <p:nvSpPr>
            <p:cNvPr id="97" name="仅使用已经送达的信息"/>
            <p:cNvSpPr txBox="1"/>
            <p:nvPr/>
          </p:nvSpPr>
          <p:spPr>
            <a:xfrm>
              <a:off x="156020" y="508921"/>
              <a:ext cx="549783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仅使用已经送达的信息</a:t>
              </a:r>
            </a:p>
          </p:txBody>
        </p:sp>
        <p:sp>
          <p:nvSpPr>
            <p:cNvPr id="98" name="rect 8"/>
            <p:cNvSpPr/>
            <p:nvPr/>
          </p:nvSpPr>
          <p:spPr>
            <a:xfrm>
              <a:off x="1171384" y="299656"/>
              <a:ext cx="938593" cy="319468"/>
            </a:xfrm>
            <a:prstGeom prst="roundRect">
              <a:avLst>
                <a:gd name="adj" fmla="val 2325"/>
              </a:avLst>
            </a:prstGeom>
            <a:solidFill>
              <a:srgbClr val="FFFFFF"/>
            </a:solidFill>
            <a:ln w="4210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9" name="line 9"/>
            <p:cNvCxnSpPr/>
            <p:nvPr/>
          </p:nvCxnSpPr>
          <p:spPr>
            <a:xfrm>
              <a:off x="1173861" y="302133"/>
              <a:ext cx="933640" cy="0"/>
            </a:xfrm>
            <a:prstGeom prst="line">
              <a:avLst/>
            </a:prstGeom>
            <a:ln w="7429">
              <a:solidFill>
                <a:srgbClr val="A96F1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阶段 / 工作量模型"/>
            <p:cNvSpPr txBox="1"/>
            <p:nvPr/>
          </p:nvSpPr>
          <p:spPr>
            <a:xfrm>
              <a:off x="1225868" y="323802"/>
              <a:ext cx="534595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A96F1F"/>
                  </a:solidFill>
                  <a:latin typeface="Noto Sans CJK SC"/>
                  <a:ea typeface="Noto Sans CJK SC"/>
                </a:rPr>
                <a:t>阶段 / 工作量模型</a:t>
              </a:r>
            </a:p>
          </p:txBody>
        </p:sp>
        <p:sp>
          <p:nvSpPr>
            <p:cNvPr id="101" name="最终报告或继续调用工具"/>
            <p:cNvSpPr txBox="1"/>
            <p:nvPr/>
          </p:nvSpPr>
          <p:spPr>
            <a:xfrm>
              <a:off x="1228344" y="434626"/>
              <a:ext cx="601790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最终报告或继续调用工具</a:t>
              </a:r>
            </a:p>
          </p:txBody>
        </p:sp>
        <p:sp>
          <p:nvSpPr>
            <p:cNvPr id="102" name="条件剩余生成工作量"/>
            <p:cNvSpPr txBox="1"/>
            <p:nvPr/>
          </p:nvSpPr>
          <p:spPr>
            <a:xfrm>
              <a:off x="1228344" y="508921"/>
              <a:ext cx="497776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条件剩余生成工作量</a:t>
              </a:r>
            </a:p>
          </p:txBody>
        </p:sp>
        <p:sp>
          <p:nvSpPr>
            <p:cNvPr id="103" name="rect 13"/>
            <p:cNvSpPr/>
            <p:nvPr/>
          </p:nvSpPr>
          <p:spPr>
            <a:xfrm>
              <a:off x="2298192" y="299656"/>
              <a:ext cx="1168908" cy="319468"/>
            </a:xfrm>
            <a:prstGeom prst="roundRect">
              <a:avLst>
                <a:gd name="adj" fmla="val 2325"/>
              </a:avLst>
            </a:prstGeom>
            <a:solidFill>
              <a:srgbClr val="FFFFFF"/>
            </a:solidFill>
            <a:ln w="4210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4" name="line 14"/>
            <p:cNvCxnSpPr/>
            <p:nvPr/>
          </p:nvCxnSpPr>
          <p:spPr>
            <a:xfrm>
              <a:off x="2300668" y="302133"/>
              <a:ext cx="1163955" cy="0"/>
            </a:xfrm>
            <a:prstGeom prst="line">
              <a:avLst/>
            </a:prstGeom>
            <a:ln w="7429">
              <a:solidFill>
                <a:srgbClr val="A96F1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预测输出"/>
            <p:cNvSpPr txBox="1"/>
            <p:nvPr/>
          </p:nvSpPr>
          <p:spPr>
            <a:xfrm>
              <a:off x="2352675" y="323802"/>
              <a:ext cx="287274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A96F1F"/>
                  </a:solidFill>
                  <a:latin typeface="Noto Sans CJK SC"/>
                  <a:ea typeface="Noto Sans CJK SC"/>
                </a:rPr>
                <a:t>预测输出</a:t>
              </a:r>
            </a:p>
          </p:txBody>
        </p:sp>
        <p:sp>
          <p:nvSpPr>
            <p:cNvPr id="106" name="阶段分数与剩余 token 区间"/>
            <p:cNvSpPr txBox="1"/>
            <p:nvPr/>
          </p:nvSpPr>
          <p:spPr>
            <a:xfrm>
              <a:off x="2355152" y="434626"/>
              <a:ext cx="659610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阶段分数与剩余 token 区间</a:t>
              </a:r>
            </a:p>
          </p:txBody>
        </p:sp>
        <p:sp>
          <p:nvSpPr>
            <p:cNvPr id="107" name="已观测 EOS 作为独立信号"/>
            <p:cNvSpPr txBox="1"/>
            <p:nvPr/>
          </p:nvSpPr>
          <p:spPr>
            <a:xfrm>
              <a:off x="2355152" y="508921"/>
              <a:ext cx="621282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已观测 EOS 作为独立信号</a:t>
              </a:r>
            </a:p>
          </p:txBody>
        </p:sp>
        <p:cxnSp>
          <p:nvCxnSpPr>
            <p:cNvPr id="108" name="path 18"/>
            <p:cNvCxnSpPr/>
            <p:nvPr/>
          </p:nvCxnSpPr>
          <p:spPr>
            <a:xfrm>
              <a:off x="983170" y="495300"/>
              <a:ext cx="185738" cy="0"/>
            </a:xfrm>
            <a:prstGeom prst="line">
              <a:avLst/>
            </a:prstGeom>
            <a:ln w="5943">
              <a:solidFill>
                <a:srgbClr val="3D6F9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path 19"/>
            <p:cNvCxnSpPr/>
            <p:nvPr/>
          </p:nvCxnSpPr>
          <p:spPr>
            <a:xfrm>
              <a:off x="2109978" y="495300"/>
              <a:ext cx="185738" cy="0"/>
            </a:xfrm>
            <a:prstGeom prst="line">
              <a:avLst/>
            </a:prstGeom>
            <a:ln w="5943">
              <a:solidFill>
                <a:srgbClr val="A96F1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path 20"/>
            <p:cNvSpPr/>
            <p:nvPr/>
          </p:nvSpPr>
          <p:spPr>
            <a:xfrm>
              <a:off x="3120390" y="495300"/>
              <a:ext cx="396240" cy="611696"/>
            </a:xfrm>
            <a:custGeom>
              <a:avLst/>
              <a:gdLst/>
              <a:ahLst/>
              <a:cxnLst/>
              <a:rect l="l" t="t" r="r" b="b"/>
              <a:pathLst>
                <a:path w="160" h="247">
                  <a:moveTo>
                    <a:pt x="140" y="0"/>
                  </a:moveTo>
                  <a:lnTo>
                    <a:pt x="160" y="0"/>
                  </a:lnTo>
                  <a:lnTo>
                    <a:pt x="160" y="227"/>
                  </a:lnTo>
                  <a:lnTo>
                    <a:pt x="0" y="227"/>
                  </a:lnTo>
                  <a:lnTo>
                    <a:pt x="0" y="247"/>
                  </a:lnTo>
                </a:path>
              </a:pathLst>
            </a:custGeom>
            <a:noFill/>
            <a:ln w="5943">
              <a:solidFill>
                <a:srgbClr val="A96F1F"/>
              </a:solidFill>
              <a:tailEnd type="triangle" w="lg" len="lg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rect 21"/>
            <p:cNvSpPr/>
            <p:nvPr/>
          </p:nvSpPr>
          <p:spPr>
            <a:xfrm>
              <a:off x="99060" y="700850"/>
              <a:ext cx="884110" cy="302133"/>
            </a:xfrm>
            <a:prstGeom prst="roundRect">
              <a:avLst>
                <a:gd name="adj" fmla="val 2459"/>
              </a:avLst>
            </a:prstGeom>
            <a:solidFill>
              <a:srgbClr val="FFFFFF"/>
            </a:solidFill>
            <a:ln w="4210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2" name="line 22"/>
            <p:cNvCxnSpPr/>
            <p:nvPr/>
          </p:nvCxnSpPr>
          <p:spPr>
            <a:xfrm>
              <a:off x="101536" y="703326"/>
              <a:ext cx="879157" cy="0"/>
            </a:xfrm>
            <a:prstGeom prst="line">
              <a:avLst/>
            </a:prstGeom>
            <a:ln w="7429">
              <a:solidFill>
                <a:srgbClr val="3D6F9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工具在线观测"/>
            <p:cNvSpPr txBox="1"/>
            <p:nvPr/>
          </p:nvSpPr>
          <p:spPr>
            <a:xfrm>
              <a:off x="153543" y="724995"/>
              <a:ext cx="416052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工具在线观测</a:t>
              </a:r>
            </a:p>
          </p:txBody>
        </p:sp>
        <p:sp>
          <p:nvSpPr>
            <p:cNvPr id="114" name="工具类型、已执行时间、历史"/>
            <p:cNvSpPr txBox="1"/>
            <p:nvPr/>
          </p:nvSpPr>
          <p:spPr>
            <a:xfrm>
              <a:off x="156020" y="820960"/>
              <a:ext cx="705802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工具类型、已执行时间、历史</a:t>
              </a:r>
            </a:p>
          </p:txBody>
        </p:sp>
        <p:sp>
          <p:nvSpPr>
            <p:cNvPr id="115" name="历史仅来自已完成调用"/>
            <p:cNvSpPr txBox="1"/>
            <p:nvPr/>
          </p:nvSpPr>
          <p:spPr>
            <a:xfrm>
              <a:off x="156020" y="895255"/>
              <a:ext cx="549783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历史仅来自已完成调用</a:t>
              </a:r>
            </a:p>
          </p:txBody>
        </p:sp>
        <p:sp>
          <p:nvSpPr>
            <p:cNvPr id="116" name="rect 26"/>
            <p:cNvSpPr/>
            <p:nvPr/>
          </p:nvSpPr>
          <p:spPr>
            <a:xfrm>
              <a:off x="1171384" y="700850"/>
              <a:ext cx="938593" cy="302133"/>
            </a:xfrm>
            <a:prstGeom prst="roundRect">
              <a:avLst>
                <a:gd name="adj" fmla="val 2459"/>
              </a:avLst>
            </a:prstGeom>
            <a:solidFill>
              <a:srgbClr val="FFFFFF"/>
            </a:solidFill>
            <a:ln w="4210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7" name="line 27"/>
            <p:cNvCxnSpPr/>
            <p:nvPr/>
          </p:nvCxnSpPr>
          <p:spPr>
            <a:xfrm>
              <a:off x="1173861" y="703326"/>
              <a:ext cx="933640" cy="0"/>
            </a:xfrm>
            <a:prstGeom prst="line">
              <a:avLst/>
            </a:prstGeom>
            <a:ln w="7429">
              <a:solidFill>
                <a:srgbClr val="A96F1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剩余时间模型"/>
            <p:cNvSpPr txBox="1"/>
            <p:nvPr/>
          </p:nvSpPr>
          <p:spPr>
            <a:xfrm>
              <a:off x="1225868" y="724995"/>
              <a:ext cx="416052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A96F1F"/>
                  </a:solidFill>
                  <a:latin typeface="Noto Sans CJK SC"/>
                  <a:ea typeface="Noto Sans CJK SC"/>
                </a:rPr>
                <a:t>剩余时间模型</a:t>
              </a:r>
            </a:p>
          </p:txBody>
        </p:sp>
        <p:sp>
          <p:nvSpPr>
            <p:cNvPr id="119" name="以工具仍在执行为条件"/>
            <p:cNvSpPr txBox="1"/>
            <p:nvPr/>
          </p:nvSpPr>
          <p:spPr>
            <a:xfrm>
              <a:off x="1228344" y="820960"/>
              <a:ext cx="549783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以工具仍在执行为条件</a:t>
              </a:r>
            </a:p>
          </p:txBody>
        </p:sp>
        <p:sp>
          <p:nvSpPr>
            <p:cNvPr id="120" name="随新观测滚动更新"/>
            <p:cNvSpPr txBox="1"/>
            <p:nvPr/>
          </p:nvSpPr>
          <p:spPr>
            <a:xfrm>
              <a:off x="1228344" y="895255"/>
              <a:ext cx="445770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随新观测滚动更新</a:t>
              </a:r>
            </a:p>
          </p:txBody>
        </p:sp>
        <p:sp>
          <p:nvSpPr>
            <p:cNvPr id="121" name="rect 31"/>
            <p:cNvSpPr/>
            <p:nvPr/>
          </p:nvSpPr>
          <p:spPr>
            <a:xfrm>
              <a:off x="2298192" y="700850"/>
              <a:ext cx="1168908" cy="302133"/>
            </a:xfrm>
            <a:prstGeom prst="roundRect">
              <a:avLst>
                <a:gd name="adj" fmla="val 2459"/>
              </a:avLst>
            </a:prstGeom>
            <a:solidFill>
              <a:srgbClr val="FFFFFF"/>
            </a:solidFill>
            <a:ln w="4210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2" name="line 32"/>
            <p:cNvCxnSpPr/>
            <p:nvPr/>
          </p:nvCxnSpPr>
          <p:spPr>
            <a:xfrm>
              <a:off x="2300668" y="703326"/>
              <a:ext cx="1163955" cy="0"/>
            </a:xfrm>
            <a:prstGeom prst="line">
              <a:avLst/>
            </a:prstGeom>
            <a:ln w="7429">
              <a:solidFill>
                <a:srgbClr val="A96F1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预测输出"/>
            <p:cNvSpPr txBox="1"/>
            <p:nvPr/>
          </p:nvSpPr>
          <p:spPr>
            <a:xfrm>
              <a:off x="2352675" y="724995"/>
              <a:ext cx="287274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A96F1F"/>
                  </a:solidFill>
                  <a:latin typeface="Noto Sans CJK SC"/>
                  <a:ea typeface="Noto Sans CJK SC"/>
                </a:rPr>
                <a:t>预测输出</a:t>
              </a:r>
            </a:p>
          </p:txBody>
        </p:sp>
        <p:sp>
          <p:nvSpPr>
            <p:cNvPr id="124" name="剩余时间 CDF / 时间区间"/>
            <p:cNvSpPr txBox="1"/>
            <p:nvPr/>
          </p:nvSpPr>
          <p:spPr>
            <a:xfrm>
              <a:off x="2355152" y="820960"/>
              <a:ext cx="598771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剩余时间 CDF / 时间区间</a:t>
              </a:r>
            </a:p>
          </p:txBody>
        </p:sp>
        <p:sp>
          <p:nvSpPr>
            <p:cNvPr id="125" name="不学习离线不可识别的净收益"/>
            <p:cNvSpPr txBox="1"/>
            <p:nvPr/>
          </p:nvSpPr>
          <p:spPr>
            <a:xfrm>
              <a:off x="2355152" y="895255"/>
              <a:ext cx="705802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不学习离线不可识别的净收益</a:t>
              </a:r>
            </a:p>
          </p:txBody>
        </p:sp>
        <p:cxnSp>
          <p:nvCxnSpPr>
            <p:cNvPr id="126" name="path 36"/>
            <p:cNvCxnSpPr/>
            <p:nvPr/>
          </p:nvCxnSpPr>
          <p:spPr>
            <a:xfrm>
              <a:off x="983170" y="881634"/>
              <a:ext cx="185738" cy="0"/>
            </a:xfrm>
            <a:prstGeom prst="line">
              <a:avLst/>
            </a:prstGeom>
            <a:ln w="5943">
              <a:solidFill>
                <a:srgbClr val="3D6F9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path 37"/>
            <p:cNvCxnSpPr/>
            <p:nvPr/>
          </p:nvCxnSpPr>
          <p:spPr>
            <a:xfrm>
              <a:off x="2109978" y="881634"/>
              <a:ext cx="185738" cy="0"/>
            </a:xfrm>
            <a:prstGeom prst="line">
              <a:avLst/>
            </a:prstGeom>
            <a:ln w="5943">
              <a:solidFill>
                <a:srgbClr val="A96F1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path 38"/>
            <p:cNvCxnSpPr/>
            <p:nvPr/>
          </p:nvCxnSpPr>
          <p:spPr>
            <a:xfrm>
              <a:off x="2882646" y="1002982"/>
              <a:ext cx="0" cy="104013"/>
            </a:xfrm>
            <a:prstGeom prst="line">
              <a:avLst/>
            </a:prstGeom>
            <a:ln w="5943">
              <a:solidFill>
                <a:srgbClr val="A96F1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rect 39"/>
            <p:cNvSpPr/>
            <p:nvPr/>
          </p:nvSpPr>
          <p:spPr>
            <a:xfrm>
              <a:off x="99060" y="1111948"/>
              <a:ext cx="3368040" cy="341757"/>
            </a:xfrm>
            <a:prstGeom prst="roundRect">
              <a:avLst>
                <a:gd name="adj" fmla="val 2173"/>
              </a:avLst>
            </a:prstGeom>
            <a:solidFill>
              <a:srgbClr val="FFFFFF"/>
            </a:solidFill>
            <a:ln w="4210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0" name="line 40"/>
            <p:cNvCxnSpPr/>
            <p:nvPr/>
          </p:nvCxnSpPr>
          <p:spPr>
            <a:xfrm>
              <a:off x="101536" y="1114425"/>
              <a:ext cx="3363087" cy="0"/>
            </a:xfrm>
            <a:prstGeom prst="line">
              <a:avLst/>
            </a:prstGeom>
            <a:ln w="7429">
              <a:solidFill>
                <a:srgbClr val="357B7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(a) Runtime 将预测提示转为有界动作"/>
            <p:cNvSpPr txBox="1"/>
            <p:nvPr/>
          </p:nvSpPr>
          <p:spPr>
            <a:xfrm>
              <a:off x="153543" y="1136094"/>
              <a:ext cx="1126324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(a) Runtime 将预测提示转为有界动作</a:t>
              </a:r>
            </a:p>
          </p:txBody>
        </p:sp>
        <p:sp>
          <p:nvSpPr>
            <p:cNvPr id="132" name="因果就绪"/>
            <p:cNvSpPr txBox="1"/>
            <p:nvPr/>
          </p:nvSpPr>
          <p:spPr>
            <a:xfrm>
              <a:off x="156020" y="1248775"/>
              <a:ext cx="257556" cy="9286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48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因果就绪</a:t>
              </a:r>
            </a:p>
          </p:txBody>
        </p:sp>
        <p:sp>
          <p:nvSpPr>
            <p:cNvPr id="133" name="JOIN / 工具状态"/>
            <p:cNvSpPr txBox="1"/>
            <p:nvPr/>
          </p:nvSpPr>
          <p:spPr>
            <a:xfrm>
              <a:off x="156020" y="1336691"/>
              <a:ext cx="383016" cy="8234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0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JOIN / 工具状态</a:t>
              </a:r>
            </a:p>
          </p:txBody>
        </p:sp>
        <p:sp>
          <p:nvSpPr>
            <p:cNvPr id="134" name="可复用 checkpoint"/>
            <p:cNvSpPr txBox="1"/>
            <p:nvPr/>
          </p:nvSpPr>
          <p:spPr>
            <a:xfrm>
              <a:off x="968311" y="1248775"/>
              <a:ext cx="527659" cy="9286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48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可复用 checkpoint</a:t>
              </a:r>
            </a:p>
          </p:txBody>
        </p:sp>
        <p:sp>
          <p:nvSpPr>
            <p:cNvPr id="135" name="有效 Host 缺失页"/>
            <p:cNvSpPr txBox="1"/>
            <p:nvPr/>
          </p:nvSpPr>
          <p:spPr>
            <a:xfrm>
              <a:off x="968311" y="1336691"/>
              <a:ext cx="406388" cy="8234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0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有效 Host 缺失页</a:t>
              </a:r>
            </a:p>
          </p:txBody>
        </p:sp>
        <p:sp>
          <p:nvSpPr>
            <p:cNvPr id="136" name="容量与传输成本"/>
            <p:cNvSpPr txBox="1"/>
            <p:nvPr/>
          </p:nvSpPr>
          <p:spPr>
            <a:xfrm>
              <a:off x="1812798" y="1248775"/>
              <a:ext cx="428434" cy="9286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48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容量与传输成本</a:t>
              </a:r>
            </a:p>
          </p:txBody>
        </p:sp>
        <p:sp>
          <p:nvSpPr>
            <p:cNvPr id="137" name="FULL / Mamba / H2D"/>
            <p:cNvSpPr txBox="1"/>
            <p:nvPr/>
          </p:nvSpPr>
          <p:spPr>
            <a:xfrm>
              <a:off x="1812798" y="1336691"/>
              <a:ext cx="499073" cy="8234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0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FULL / Mamba / H2D</a:t>
              </a:r>
            </a:p>
          </p:txBody>
        </p:sp>
        <p:sp>
          <p:nvSpPr>
            <p:cNvPr id="138" name="执行机会"/>
            <p:cNvSpPr txBox="1"/>
            <p:nvPr/>
          </p:nvSpPr>
          <p:spPr>
            <a:xfrm>
              <a:off x="2654808" y="1248775"/>
              <a:ext cx="257556" cy="9286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48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执行机会</a:t>
              </a:r>
            </a:p>
          </p:txBody>
        </p:sp>
        <p:sp>
          <p:nvSpPr>
            <p:cNvPr id="139" name="准入与驻留保护"/>
            <p:cNvSpPr txBox="1"/>
            <p:nvPr/>
          </p:nvSpPr>
          <p:spPr>
            <a:xfrm>
              <a:off x="2654808" y="1336691"/>
              <a:ext cx="376428" cy="8234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0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准入与驻留保护</a:t>
              </a:r>
            </a:p>
          </p:txBody>
        </p:sp>
        <p:sp>
          <p:nvSpPr>
            <p:cNvPr id="140" name="(b) 与工具等待或最终生成区间重叠"/>
            <p:cNvSpPr txBox="1"/>
            <p:nvPr/>
          </p:nvSpPr>
          <p:spPr>
            <a:xfrm>
              <a:off x="99060" y="1507569"/>
              <a:ext cx="1035922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(b) 与工具等待或最终生成区间重叠</a:t>
              </a:r>
            </a:p>
          </p:txBody>
        </p:sp>
        <p:cxnSp>
          <p:nvCxnSpPr>
            <p:cNvPr id="141" name="line 51"/>
            <p:cNvCxnSpPr/>
            <p:nvPr/>
          </p:nvCxnSpPr>
          <p:spPr>
            <a:xfrm>
              <a:off x="2431923" y="1669161"/>
              <a:ext cx="0" cy="648843"/>
            </a:xfrm>
            <a:prstGeom prst="line">
              <a:avLst/>
            </a:prstGeom>
            <a:ln w="4458">
              <a:solidFill>
                <a:srgbClr val="89959D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line 52"/>
            <p:cNvCxnSpPr/>
            <p:nvPr/>
          </p:nvCxnSpPr>
          <p:spPr>
            <a:xfrm>
              <a:off x="2600325" y="1852422"/>
              <a:ext cx="0" cy="252603"/>
            </a:xfrm>
            <a:prstGeom prst="line">
              <a:avLst/>
            </a:prstGeom>
            <a:ln w="3962">
              <a:solidFill>
                <a:srgbClr val="357B73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RETURN / TOOL_END"/>
            <p:cNvSpPr txBox="1"/>
            <p:nvPr/>
          </p:nvSpPr>
          <p:spPr>
            <a:xfrm>
              <a:off x="2162013" y="1599200"/>
              <a:ext cx="539819" cy="8234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0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RETURN / TOOL_END</a:t>
              </a:r>
            </a:p>
          </p:txBody>
        </p:sp>
        <p:sp>
          <p:nvSpPr>
            <p:cNvPr id="144" name="Child / 工具"/>
            <p:cNvSpPr txBox="1"/>
            <p:nvPr/>
          </p:nvSpPr>
          <p:spPr>
            <a:xfrm>
              <a:off x="108966" y="1728597"/>
              <a:ext cx="350676" cy="965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Child / 工具</a:t>
              </a:r>
            </a:p>
          </p:txBody>
        </p:sp>
        <p:sp>
          <p:nvSpPr>
            <p:cNvPr id="145" name="预测路径"/>
            <p:cNvSpPr txBox="1"/>
            <p:nvPr/>
          </p:nvSpPr>
          <p:spPr>
            <a:xfrm>
              <a:off x="108966" y="1953958"/>
              <a:ext cx="267462" cy="965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预测路径</a:t>
              </a:r>
            </a:p>
          </p:txBody>
        </p:sp>
        <p:sp>
          <p:nvSpPr>
            <p:cNvPr id="146" name="需求恢复路径"/>
            <p:cNvSpPr txBox="1"/>
            <p:nvPr/>
          </p:nvSpPr>
          <p:spPr>
            <a:xfrm>
              <a:off x="108966" y="2179320"/>
              <a:ext cx="386334" cy="965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 b="1" lang="zh-CN" spc="0">
                  <a:solidFill>
                    <a:srgbClr val="89959D"/>
                  </a:solidFill>
                  <a:latin typeface="Noto Sans CJK SC"/>
                  <a:ea typeface="Noto Sans CJK SC"/>
                </a:rPr>
                <a:t>需求恢复路径</a:t>
              </a:r>
            </a:p>
          </p:txBody>
        </p:sp>
        <p:cxnSp>
          <p:nvCxnSpPr>
            <p:cNvPr id="147" name="line 57"/>
            <p:cNvCxnSpPr/>
            <p:nvPr/>
          </p:nvCxnSpPr>
          <p:spPr>
            <a:xfrm>
              <a:off x="780098" y="1765744"/>
              <a:ext cx="2637472" cy="0"/>
            </a:xfrm>
            <a:prstGeom prst="line">
              <a:avLst/>
            </a:prstGeom>
            <a:ln w="2972">
              <a:solidFill>
                <a:srgbClr val="D4DBE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line 58"/>
            <p:cNvCxnSpPr/>
            <p:nvPr/>
          </p:nvCxnSpPr>
          <p:spPr>
            <a:xfrm>
              <a:off x="780098" y="1991106"/>
              <a:ext cx="2637472" cy="0"/>
            </a:xfrm>
            <a:prstGeom prst="line">
              <a:avLst/>
            </a:prstGeom>
            <a:ln w="2972">
              <a:solidFill>
                <a:srgbClr val="D4DBE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line 59"/>
            <p:cNvCxnSpPr/>
            <p:nvPr/>
          </p:nvCxnSpPr>
          <p:spPr>
            <a:xfrm>
              <a:off x="780098" y="2216468"/>
              <a:ext cx="2637472" cy="0"/>
            </a:xfrm>
            <a:prstGeom prst="line">
              <a:avLst/>
            </a:prstGeom>
            <a:ln w="2972">
              <a:solidFill>
                <a:srgbClr val="D4DBE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0" name="rect 60"/>
            <p:cNvSpPr/>
            <p:nvPr/>
          </p:nvSpPr>
          <p:spPr>
            <a:xfrm>
              <a:off x="780098" y="1703832"/>
              <a:ext cx="1651826" cy="106490"/>
            </a:xfrm>
            <a:prstGeom prst="roundRect">
              <a:avLst>
                <a:gd name="adj" fmla="val 4651"/>
              </a:avLst>
            </a:prstGeom>
            <a:solidFill>
              <a:srgbClr val="EDF3F8"/>
            </a:solidFill>
            <a:ln w="4210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1" name="最终报告生成 / 外部工具执行"/>
            <p:cNvSpPr txBox="1"/>
            <p:nvPr/>
          </p:nvSpPr>
          <p:spPr>
            <a:xfrm>
              <a:off x="1241365" y="1709404"/>
              <a:ext cx="729291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0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最终报告生成 / 外部工具执行</a:t>
              </a:r>
            </a:p>
          </p:txBody>
        </p:sp>
        <p:sp>
          <p:nvSpPr>
            <p:cNvPr id="152" name="circle 62"/>
            <p:cNvSpPr/>
            <p:nvPr/>
          </p:nvSpPr>
          <p:spPr>
            <a:xfrm>
              <a:off x="934879" y="1856137"/>
              <a:ext cx="22288" cy="22288"/>
            </a:xfrm>
            <a:prstGeom prst="ellipse">
              <a:avLst/>
            </a:prstGeom>
            <a:solidFill>
              <a:srgbClr val="A96F1F"/>
            </a:solidFill>
            <a:ln w="2476">
              <a:solidFill>
                <a:srgbClr val="A96F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3" name="circle 63"/>
            <p:cNvSpPr/>
            <p:nvPr/>
          </p:nvSpPr>
          <p:spPr>
            <a:xfrm>
              <a:off x="1140428" y="1856137"/>
              <a:ext cx="22288" cy="22288"/>
            </a:xfrm>
            <a:prstGeom prst="ellipse">
              <a:avLst/>
            </a:prstGeom>
            <a:solidFill>
              <a:srgbClr val="A96F1F"/>
            </a:solidFill>
            <a:ln w="2476">
              <a:solidFill>
                <a:srgbClr val="A96F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4" name="circle 64"/>
            <p:cNvSpPr/>
            <p:nvPr/>
          </p:nvSpPr>
          <p:spPr>
            <a:xfrm>
              <a:off x="1345978" y="1856137"/>
              <a:ext cx="22288" cy="22288"/>
            </a:xfrm>
            <a:prstGeom prst="ellipse">
              <a:avLst/>
            </a:prstGeom>
            <a:solidFill>
              <a:srgbClr val="A96F1F"/>
            </a:solidFill>
            <a:ln w="2476">
              <a:solidFill>
                <a:srgbClr val="A96F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5" name="circle 65"/>
            <p:cNvSpPr/>
            <p:nvPr/>
          </p:nvSpPr>
          <p:spPr>
            <a:xfrm>
              <a:off x="1551527" y="1856137"/>
              <a:ext cx="22288" cy="22288"/>
            </a:xfrm>
            <a:prstGeom prst="ellipse">
              <a:avLst/>
            </a:prstGeom>
            <a:solidFill>
              <a:srgbClr val="A96F1F"/>
            </a:solidFill>
            <a:ln w="2476">
              <a:solidFill>
                <a:srgbClr val="A96F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6" name="path 66"/>
            <p:cNvCxnSpPr/>
            <p:nvPr/>
          </p:nvCxnSpPr>
          <p:spPr>
            <a:xfrm>
              <a:off x="1607248" y="1867281"/>
              <a:ext cx="136208" cy="0"/>
            </a:xfrm>
            <a:prstGeom prst="line">
              <a:avLst/>
            </a:prstGeom>
            <a:ln w="5943">
              <a:solidFill>
                <a:srgbClr val="A96F1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滚动观测"/>
            <p:cNvSpPr txBox="1"/>
            <p:nvPr/>
          </p:nvSpPr>
          <p:spPr>
            <a:xfrm>
              <a:off x="928687" y="1874091"/>
              <a:ext cx="227838" cy="8234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0" b="0" lang="zh-CN" spc="0">
                  <a:solidFill>
                    <a:srgbClr val="A96F1F"/>
                  </a:solidFill>
                  <a:latin typeface="Noto Sans CJK SC"/>
                  <a:ea typeface="Noto Sans CJK SC"/>
                </a:rPr>
                <a:t>滚动观测</a:t>
              </a:r>
            </a:p>
          </p:txBody>
        </p:sp>
        <p:sp>
          <p:nvSpPr>
            <p:cNvPr id="158" name="rect 68"/>
            <p:cNvSpPr/>
            <p:nvPr/>
          </p:nvSpPr>
          <p:spPr>
            <a:xfrm>
              <a:off x="1783080" y="1931670"/>
              <a:ext cx="817245" cy="123825"/>
            </a:xfrm>
            <a:prstGeom prst="roundRect">
              <a:avLst>
                <a:gd name="adj" fmla="val 4000"/>
              </a:avLst>
            </a:prstGeom>
            <a:solidFill>
              <a:srgbClr val="EAF3F1"/>
            </a:solidFill>
            <a:ln w="4458">
              <a:solidFill>
                <a:srgbClr val="357B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9" name="缺失页 H2D"/>
            <p:cNvSpPr txBox="1"/>
            <p:nvPr/>
          </p:nvSpPr>
          <p:spPr>
            <a:xfrm>
              <a:off x="2035320" y="1947148"/>
              <a:ext cx="312765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0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缺失页 H2D</a:t>
              </a:r>
            </a:p>
          </p:txBody>
        </p:sp>
        <p:sp>
          <p:nvSpPr>
            <p:cNvPr id="160" name="rect 70"/>
            <p:cNvSpPr/>
            <p:nvPr/>
          </p:nvSpPr>
          <p:spPr>
            <a:xfrm>
              <a:off x="2600325" y="1931670"/>
              <a:ext cx="247650" cy="123825"/>
            </a:xfrm>
            <a:prstGeom prst="roundRect">
              <a:avLst>
                <a:gd name="adj" fmla="val 2000"/>
              </a:avLst>
            </a:prstGeom>
            <a:solidFill>
              <a:srgbClr val="F2F4F5"/>
            </a:solidFill>
            <a:ln w="3467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1" name="rect 71"/>
            <p:cNvSpPr/>
            <p:nvPr/>
          </p:nvSpPr>
          <p:spPr>
            <a:xfrm>
              <a:off x="2847975" y="1931670"/>
              <a:ext cx="569595" cy="123825"/>
            </a:xfrm>
            <a:prstGeom prst="roundRect">
              <a:avLst>
                <a:gd name="adj" fmla="val 4000"/>
              </a:avLst>
            </a:prstGeom>
            <a:solidFill>
              <a:srgbClr val="EDF3F8"/>
            </a:solidFill>
            <a:ln w="4458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2" name="GPU 服务"/>
            <p:cNvSpPr txBox="1"/>
            <p:nvPr/>
          </p:nvSpPr>
          <p:spPr>
            <a:xfrm>
              <a:off x="3001673" y="1947148"/>
              <a:ext cx="262199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0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GPU 服务</a:t>
              </a:r>
            </a:p>
          </p:txBody>
        </p:sp>
        <p:sp>
          <p:nvSpPr>
            <p:cNvPr id="163" name="ACK"/>
            <p:cNvSpPr txBox="1"/>
            <p:nvPr/>
          </p:nvSpPr>
          <p:spPr>
            <a:xfrm>
              <a:off x="2541218" y="2067258"/>
              <a:ext cx="118214" cy="7862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70" b="0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ACK</a:t>
              </a:r>
            </a:p>
          </p:txBody>
        </p:sp>
        <p:sp>
          <p:nvSpPr>
            <p:cNvPr id="164" name="首次复用"/>
            <p:cNvSpPr txBox="1"/>
            <p:nvPr/>
          </p:nvSpPr>
          <p:spPr>
            <a:xfrm>
              <a:off x="2880170" y="2059829"/>
              <a:ext cx="227838" cy="8234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0" b="0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首次复用</a:t>
              </a:r>
            </a:p>
          </p:txBody>
        </p:sp>
        <p:cxnSp>
          <p:nvCxnSpPr>
            <p:cNvPr id="165" name="line 75"/>
            <p:cNvCxnSpPr/>
            <p:nvPr/>
          </p:nvCxnSpPr>
          <p:spPr>
            <a:xfrm>
              <a:off x="1783080" y="1882140"/>
              <a:ext cx="648843" cy="0"/>
            </a:xfrm>
            <a:prstGeom prst="line">
              <a:avLst/>
            </a:prstGeom>
            <a:ln w="4953">
              <a:solidFill>
                <a:srgbClr val="357B7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line 76"/>
            <p:cNvCxnSpPr/>
            <p:nvPr/>
          </p:nvCxnSpPr>
          <p:spPr>
            <a:xfrm>
              <a:off x="1783080" y="1867281"/>
              <a:ext cx="0" cy="29718"/>
            </a:xfrm>
            <a:prstGeom prst="line">
              <a:avLst/>
            </a:prstGeom>
            <a:ln w="4953">
              <a:solidFill>
                <a:srgbClr val="357B7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line 77"/>
            <p:cNvCxnSpPr/>
            <p:nvPr/>
          </p:nvCxnSpPr>
          <p:spPr>
            <a:xfrm>
              <a:off x="2431923" y="1867281"/>
              <a:ext cx="0" cy="29718"/>
            </a:xfrm>
            <a:prstGeom prst="line">
              <a:avLst/>
            </a:prstGeom>
            <a:ln w="4953">
              <a:solidFill>
                <a:srgbClr val="357B7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8" name="提前量"/>
            <p:cNvSpPr txBox="1"/>
            <p:nvPr/>
          </p:nvSpPr>
          <p:spPr>
            <a:xfrm>
              <a:off x="2022062" y="1802273"/>
              <a:ext cx="170878" cy="7862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70" b="0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提前量</a:t>
              </a:r>
            </a:p>
          </p:txBody>
        </p:sp>
        <p:sp>
          <p:nvSpPr>
            <p:cNvPr id="169" name="rect 79"/>
            <p:cNvSpPr/>
            <p:nvPr/>
          </p:nvSpPr>
          <p:spPr>
            <a:xfrm>
              <a:off x="2431923" y="2157032"/>
              <a:ext cx="775144" cy="123825"/>
            </a:xfrm>
            <a:prstGeom prst="roundRect">
              <a:avLst>
                <a:gd name="adj" fmla="val 4000"/>
              </a:avLst>
            </a:prstGeom>
            <a:solidFill>
              <a:srgbClr val="F2F4F5"/>
            </a:solidFill>
            <a:ln w="4458">
              <a:solidFill>
                <a:srgbClr val="8995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0" name="需求 H2D"/>
            <p:cNvSpPr txBox="1"/>
            <p:nvPr/>
          </p:nvSpPr>
          <p:spPr>
            <a:xfrm>
              <a:off x="2690355" y="2174986"/>
              <a:ext cx="258282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需求 H2D</a:t>
              </a:r>
            </a:p>
          </p:txBody>
        </p:sp>
        <p:sp>
          <p:nvSpPr>
            <p:cNvPr id="171" name="rect 81"/>
            <p:cNvSpPr/>
            <p:nvPr/>
          </p:nvSpPr>
          <p:spPr>
            <a:xfrm>
              <a:off x="3207068" y="2157032"/>
              <a:ext cx="210502" cy="123825"/>
            </a:xfrm>
            <a:prstGeom prst="roundRect">
              <a:avLst>
                <a:gd name="adj" fmla="val 4000"/>
              </a:avLst>
            </a:prstGeom>
            <a:solidFill>
              <a:srgbClr val="EDF3F8"/>
            </a:solidFill>
            <a:ln w="4458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2" name="服务"/>
            <p:cNvSpPr txBox="1"/>
            <p:nvPr/>
          </p:nvSpPr>
          <p:spPr>
            <a:xfrm>
              <a:off x="3250406" y="2178701"/>
              <a:ext cx="123825" cy="7862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70" b="0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服务</a:t>
              </a:r>
            </a:p>
          </p:txBody>
        </p:sp>
        <p:sp>
          <p:nvSpPr>
            <p:cNvPr id="173" name="示意图，非实测加速。部分传输重叠也可利用；执行遵循原生数据依赖。"/>
            <p:cNvSpPr txBox="1"/>
            <p:nvPr/>
          </p:nvSpPr>
          <p:spPr>
            <a:xfrm>
              <a:off x="99060" y="2338435"/>
              <a:ext cx="1773174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示意图，非实测加速。部分传输重叠也可利用；执行遵循原生数据依赖。</a:t>
              </a:r>
            </a:p>
          </p:txBody>
        </p:sp>
      </p:grpSp>
      <p:sp>
        <p:nvSpPr>
          <p:cNvPr id="174" name="TextBox 173"/>
          <p:cNvSpPr txBox="1"/>
          <p:nvPr/>
        </p:nvSpPr>
        <p:spPr>
          <a:xfrm>
            <a:off x="4425696" y="4937760"/>
            <a:ext cx="3493008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zh-CN" spc="0">
                <a:solidFill>
                  <a:srgbClr val="596875"/>
                </a:solidFill>
                <a:latin typeface="微软雅黑"/>
                <a:ea typeface="微软雅黑"/>
              </a:rPr>
              <a:t>通知、正文与服务进度滚动更新，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zh-CN" spc="0">
                <a:solidFill>
                  <a:srgbClr val="596875"/>
                </a:solidFill>
                <a:latin typeface="微软雅黑"/>
                <a:ea typeface="微软雅黑"/>
              </a:rPr>
              <a:t>结合容量与准入决定 H2D 时机。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183880" y="1764792"/>
            <a:ext cx="356616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lang="zh-CN" spc="0">
                <a:solidFill>
                  <a:srgbClr val="01639C"/>
                </a:solidFill>
                <a:latin typeface="微软雅黑"/>
                <a:ea typeface="微软雅黑"/>
              </a:rPr>
              <a:t>03 增量迁移与容量交接</a:t>
            </a:r>
          </a:p>
        </p:txBody>
      </p:sp>
      <p:grpSp>
        <p:nvGrpSpPr>
          <p:cNvPr id="176" name="可编辑系统架构图"/>
          <p:cNvGrpSpPr/>
          <p:nvPr/>
        </p:nvGrpSpPr>
        <p:grpSpPr>
          <a:xfrm>
            <a:off x="8183880" y="2267712"/>
            <a:ext cx="3566160" cy="2501265"/>
            <a:chOff x="0" y="0"/>
            <a:chExt cx="3566160" cy="2501265"/>
          </a:xfrm>
        </p:grpSpPr>
        <p:sp>
          <p:nvSpPr>
            <p:cNvPr id="177" name="增量迁移与 Child → Parent 容量交接"/>
            <p:cNvSpPr txBox="1"/>
            <p:nvPr/>
          </p:nvSpPr>
          <p:spPr>
            <a:xfrm>
              <a:off x="99060" y="50768"/>
              <a:ext cx="1315708" cy="12134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04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增量迁移与 Child → Parent 容量交接</a:t>
              </a:r>
            </a:p>
          </p:txBody>
        </p:sp>
        <p:sp>
          <p:nvSpPr>
            <p:cNvPr id="178" name="Agent 语义选择受益对象，原生页决定实际迁移范围"/>
            <p:cNvSpPr txBox="1"/>
            <p:nvPr/>
          </p:nvSpPr>
          <p:spPr>
            <a:xfrm>
              <a:off x="99060" y="157877"/>
              <a:ext cx="1278580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Agent 语义选择受益对象，原生页决定实际迁移范围</a:t>
              </a:r>
            </a:p>
          </p:txBody>
        </p:sp>
        <p:sp>
          <p:nvSpPr>
            <p:cNvPr id="179" name="rect 3"/>
            <p:cNvSpPr/>
            <p:nvPr/>
          </p:nvSpPr>
          <p:spPr>
            <a:xfrm>
              <a:off x="99060" y="323183"/>
              <a:ext cx="1859851" cy="737997"/>
            </a:xfrm>
            <a:prstGeom prst="roundRect">
              <a:avLst>
                <a:gd name="adj" fmla="val 1006"/>
              </a:avLst>
            </a:prstGeom>
            <a:solidFill>
              <a:srgbClr val="FFFFFF"/>
            </a:solidFill>
            <a:ln w="4210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80" name="line 4"/>
            <p:cNvCxnSpPr/>
            <p:nvPr/>
          </p:nvCxnSpPr>
          <p:spPr>
            <a:xfrm>
              <a:off x="101536" y="325660"/>
              <a:ext cx="1854898" cy="0"/>
            </a:xfrm>
            <a:prstGeom prst="line">
              <a:avLst/>
            </a:prstGeom>
            <a:ln w="7429">
              <a:solidFill>
                <a:srgbClr val="357B73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(a) FULL 增量备份"/>
            <p:cNvSpPr txBox="1"/>
            <p:nvPr/>
          </p:nvSpPr>
          <p:spPr>
            <a:xfrm>
              <a:off x="153543" y="347329"/>
              <a:ext cx="563510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(a) FULL 增量备份</a:t>
              </a:r>
            </a:p>
          </p:txBody>
        </p:sp>
        <p:sp>
          <p:nvSpPr>
            <p:cNvPr id="182" name="HBM"/>
            <p:cNvSpPr txBox="1"/>
            <p:nvPr/>
          </p:nvSpPr>
          <p:spPr>
            <a:xfrm>
              <a:off x="153543" y="536162"/>
              <a:ext cx="171556" cy="9967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7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HBM</a:t>
              </a:r>
            </a:p>
          </p:txBody>
        </p:sp>
        <p:sp>
          <p:nvSpPr>
            <p:cNvPr id="183" name="Host"/>
            <p:cNvSpPr txBox="1"/>
            <p:nvPr/>
          </p:nvSpPr>
          <p:spPr>
            <a:xfrm>
              <a:off x="153543" y="788765"/>
              <a:ext cx="170317" cy="9967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7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Host</a:t>
              </a:r>
            </a:p>
          </p:txBody>
        </p:sp>
        <p:sp>
          <p:nvSpPr>
            <p:cNvPr id="184" name="rect 8"/>
            <p:cNvSpPr/>
            <p:nvPr/>
          </p:nvSpPr>
          <p:spPr>
            <a:xfrm>
              <a:off x="584454" y="528733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EDF3F8"/>
            </a:solidFill>
            <a:ln w="4458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5" name="p0"/>
            <p:cNvSpPr txBox="1"/>
            <p:nvPr/>
          </p:nvSpPr>
          <p:spPr>
            <a:xfrm>
              <a:off x="604372" y="544830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p0</a:t>
              </a:r>
            </a:p>
          </p:txBody>
        </p:sp>
        <p:sp>
          <p:nvSpPr>
            <p:cNvPr id="186" name="rect 10"/>
            <p:cNvSpPr/>
            <p:nvPr/>
          </p:nvSpPr>
          <p:spPr>
            <a:xfrm>
              <a:off x="584454" y="749141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EAF3F1"/>
            </a:solidFill>
            <a:ln w="4458">
              <a:solidFill>
                <a:srgbClr val="357B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7" name="p0"/>
            <p:cNvSpPr txBox="1"/>
            <p:nvPr/>
          </p:nvSpPr>
          <p:spPr>
            <a:xfrm>
              <a:off x="604372" y="765238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p0</a:t>
              </a:r>
            </a:p>
          </p:txBody>
        </p:sp>
        <p:sp>
          <p:nvSpPr>
            <p:cNvPr id="188" name="rect 12"/>
            <p:cNvSpPr/>
            <p:nvPr/>
          </p:nvSpPr>
          <p:spPr>
            <a:xfrm>
              <a:off x="742950" y="528733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EDF3F8"/>
            </a:solidFill>
            <a:ln w="4458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9" name="p1"/>
            <p:cNvSpPr txBox="1"/>
            <p:nvPr/>
          </p:nvSpPr>
          <p:spPr>
            <a:xfrm>
              <a:off x="762868" y="544830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p1</a:t>
              </a:r>
            </a:p>
          </p:txBody>
        </p:sp>
        <p:sp>
          <p:nvSpPr>
            <p:cNvPr id="190" name="rect 14"/>
            <p:cNvSpPr/>
            <p:nvPr/>
          </p:nvSpPr>
          <p:spPr>
            <a:xfrm>
              <a:off x="742950" y="749141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EAF3F1"/>
            </a:solidFill>
            <a:ln w="4458">
              <a:solidFill>
                <a:srgbClr val="357B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1" name="p1"/>
            <p:cNvSpPr txBox="1"/>
            <p:nvPr/>
          </p:nvSpPr>
          <p:spPr>
            <a:xfrm>
              <a:off x="762868" y="765238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p1</a:t>
              </a:r>
            </a:p>
          </p:txBody>
        </p:sp>
        <p:sp>
          <p:nvSpPr>
            <p:cNvPr id="192" name="rect 16"/>
            <p:cNvSpPr/>
            <p:nvPr/>
          </p:nvSpPr>
          <p:spPr>
            <a:xfrm>
              <a:off x="901446" y="528733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EDF3F8"/>
            </a:solidFill>
            <a:ln w="4458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3" name="p2"/>
            <p:cNvSpPr txBox="1"/>
            <p:nvPr/>
          </p:nvSpPr>
          <p:spPr>
            <a:xfrm>
              <a:off x="921364" y="544830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p2</a:t>
              </a:r>
            </a:p>
          </p:txBody>
        </p:sp>
        <p:sp>
          <p:nvSpPr>
            <p:cNvPr id="194" name="rect 18"/>
            <p:cNvSpPr/>
            <p:nvPr/>
          </p:nvSpPr>
          <p:spPr>
            <a:xfrm>
              <a:off x="901446" y="749141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EAF3F1"/>
            </a:solidFill>
            <a:ln w="4458">
              <a:solidFill>
                <a:srgbClr val="357B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p2"/>
            <p:cNvSpPr txBox="1"/>
            <p:nvPr/>
          </p:nvSpPr>
          <p:spPr>
            <a:xfrm>
              <a:off x="921364" y="765238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p2</a:t>
              </a:r>
            </a:p>
          </p:txBody>
        </p:sp>
        <p:sp>
          <p:nvSpPr>
            <p:cNvPr id="196" name="rect 20"/>
            <p:cNvSpPr/>
            <p:nvPr/>
          </p:nvSpPr>
          <p:spPr>
            <a:xfrm>
              <a:off x="1059942" y="528733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EDF3F8"/>
            </a:solidFill>
            <a:ln w="4458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p3"/>
            <p:cNvSpPr txBox="1"/>
            <p:nvPr/>
          </p:nvSpPr>
          <p:spPr>
            <a:xfrm>
              <a:off x="1079860" y="544830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p3</a:t>
              </a:r>
            </a:p>
          </p:txBody>
        </p:sp>
        <p:sp>
          <p:nvSpPr>
            <p:cNvPr id="198" name="rect 22"/>
            <p:cNvSpPr/>
            <p:nvPr/>
          </p:nvSpPr>
          <p:spPr>
            <a:xfrm>
              <a:off x="1059942" y="749141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EAF3F1"/>
            </a:solidFill>
            <a:ln w="4458">
              <a:solidFill>
                <a:srgbClr val="357B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9" name="p3"/>
            <p:cNvSpPr txBox="1"/>
            <p:nvPr/>
          </p:nvSpPr>
          <p:spPr>
            <a:xfrm>
              <a:off x="1079860" y="765238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p3</a:t>
              </a:r>
            </a:p>
          </p:txBody>
        </p:sp>
        <p:sp>
          <p:nvSpPr>
            <p:cNvPr id="200" name="rect 24"/>
            <p:cNvSpPr/>
            <p:nvPr/>
          </p:nvSpPr>
          <p:spPr>
            <a:xfrm>
              <a:off x="1218438" y="528733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EDF3F8"/>
            </a:solidFill>
            <a:ln w="4458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1" name="p4"/>
            <p:cNvSpPr txBox="1"/>
            <p:nvPr/>
          </p:nvSpPr>
          <p:spPr>
            <a:xfrm>
              <a:off x="1238356" y="544830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p4</a:t>
              </a:r>
            </a:p>
          </p:txBody>
        </p:sp>
        <p:sp>
          <p:nvSpPr>
            <p:cNvPr id="202" name="rect 26"/>
            <p:cNvSpPr/>
            <p:nvPr/>
          </p:nvSpPr>
          <p:spPr>
            <a:xfrm>
              <a:off x="1218438" y="749141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4458">
              <a:solidFill>
                <a:srgbClr val="89959D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p4"/>
            <p:cNvSpPr txBox="1"/>
            <p:nvPr/>
          </p:nvSpPr>
          <p:spPr>
            <a:xfrm>
              <a:off x="1238356" y="765238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89959D"/>
                  </a:solidFill>
                  <a:latin typeface="Noto Sans CJK SC"/>
                  <a:ea typeface="Noto Sans CJK SC"/>
                </a:rPr>
                <a:t>p4</a:t>
              </a:r>
            </a:p>
          </p:txBody>
        </p:sp>
        <p:cxnSp>
          <p:nvCxnSpPr>
            <p:cNvPr id="204" name="path 28"/>
            <p:cNvCxnSpPr/>
            <p:nvPr/>
          </p:nvCxnSpPr>
          <p:spPr>
            <a:xfrm>
              <a:off x="1285304" y="657511"/>
              <a:ext cx="0" cy="76772"/>
            </a:xfrm>
            <a:prstGeom prst="line">
              <a:avLst/>
            </a:prstGeom>
            <a:ln w="5943">
              <a:solidFill>
                <a:srgbClr val="357B73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5" name="rect 29"/>
            <p:cNvSpPr/>
            <p:nvPr/>
          </p:nvSpPr>
          <p:spPr>
            <a:xfrm>
              <a:off x="1376934" y="528733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EDF3F8"/>
            </a:solidFill>
            <a:ln w="4458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6" name="p5"/>
            <p:cNvSpPr txBox="1"/>
            <p:nvPr/>
          </p:nvSpPr>
          <p:spPr>
            <a:xfrm>
              <a:off x="1396852" y="544830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p5</a:t>
              </a:r>
            </a:p>
          </p:txBody>
        </p:sp>
        <p:sp>
          <p:nvSpPr>
            <p:cNvPr id="207" name="rect 31"/>
            <p:cNvSpPr/>
            <p:nvPr/>
          </p:nvSpPr>
          <p:spPr>
            <a:xfrm>
              <a:off x="1376934" y="749141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4458">
              <a:solidFill>
                <a:srgbClr val="89959D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p5"/>
            <p:cNvSpPr txBox="1"/>
            <p:nvPr/>
          </p:nvSpPr>
          <p:spPr>
            <a:xfrm>
              <a:off x="1396852" y="765238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89959D"/>
                  </a:solidFill>
                  <a:latin typeface="Noto Sans CJK SC"/>
                  <a:ea typeface="Noto Sans CJK SC"/>
                </a:rPr>
                <a:t>p5</a:t>
              </a:r>
            </a:p>
          </p:txBody>
        </p:sp>
        <p:cxnSp>
          <p:nvCxnSpPr>
            <p:cNvPr id="209" name="path 33"/>
            <p:cNvCxnSpPr/>
            <p:nvPr/>
          </p:nvCxnSpPr>
          <p:spPr>
            <a:xfrm>
              <a:off x="1443800" y="657511"/>
              <a:ext cx="0" cy="76772"/>
            </a:xfrm>
            <a:prstGeom prst="line">
              <a:avLst/>
            </a:prstGeom>
            <a:ln w="5943">
              <a:solidFill>
                <a:srgbClr val="357B73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rect 34"/>
            <p:cNvSpPr/>
            <p:nvPr/>
          </p:nvSpPr>
          <p:spPr>
            <a:xfrm>
              <a:off x="1535430" y="528733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EDF3F8"/>
            </a:solidFill>
            <a:ln w="4458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1" name="p6"/>
            <p:cNvSpPr txBox="1"/>
            <p:nvPr/>
          </p:nvSpPr>
          <p:spPr>
            <a:xfrm>
              <a:off x="1555348" y="544830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p6</a:t>
              </a:r>
            </a:p>
          </p:txBody>
        </p:sp>
        <p:sp>
          <p:nvSpPr>
            <p:cNvPr id="212" name="rect 36"/>
            <p:cNvSpPr/>
            <p:nvPr/>
          </p:nvSpPr>
          <p:spPr>
            <a:xfrm>
              <a:off x="1535430" y="749141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4458">
              <a:solidFill>
                <a:srgbClr val="89959D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3" name="p6"/>
            <p:cNvSpPr txBox="1"/>
            <p:nvPr/>
          </p:nvSpPr>
          <p:spPr>
            <a:xfrm>
              <a:off x="1555348" y="765238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89959D"/>
                  </a:solidFill>
                  <a:latin typeface="Noto Sans CJK SC"/>
                  <a:ea typeface="Noto Sans CJK SC"/>
                </a:rPr>
                <a:t>p6</a:t>
              </a:r>
            </a:p>
          </p:txBody>
        </p:sp>
        <p:cxnSp>
          <p:nvCxnSpPr>
            <p:cNvPr id="214" name="path 38"/>
            <p:cNvCxnSpPr/>
            <p:nvPr/>
          </p:nvCxnSpPr>
          <p:spPr>
            <a:xfrm>
              <a:off x="1602296" y="657511"/>
              <a:ext cx="0" cy="76772"/>
            </a:xfrm>
            <a:prstGeom prst="line">
              <a:avLst/>
            </a:prstGeom>
            <a:ln w="5943">
              <a:solidFill>
                <a:srgbClr val="357B73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5" name="rect 39"/>
            <p:cNvSpPr/>
            <p:nvPr/>
          </p:nvSpPr>
          <p:spPr>
            <a:xfrm>
              <a:off x="1693926" y="528733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EDF3F8"/>
            </a:solidFill>
            <a:ln w="4458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6" name="p7"/>
            <p:cNvSpPr txBox="1"/>
            <p:nvPr/>
          </p:nvSpPr>
          <p:spPr>
            <a:xfrm>
              <a:off x="1713844" y="544830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p7</a:t>
              </a:r>
            </a:p>
          </p:txBody>
        </p:sp>
        <p:sp>
          <p:nvSpPr>
            <p:cNvPr id="217" name="rect 41"/>
            <p:cNvSpPr/>
            <p:nvPr/>
          </p:nvSpPr>
          <p:spPr>
            <a:xfrm>
              <a:off x="1693926" y="749141"/>
              <a:ext cx="133731" cy="116395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4458">
              <a:solidFill>
                <a:srgbClr val="89959D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8" name="p7"/>
            <p:cNvSpPr txBox="1"/>
            <p:nvPr/>
          </p:nvSpPr>
          <p:spPr>
            <a:xfrm>
              <a:off x="1713844" y="765238"/>
              <a:ext cx="9389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89959D"/>
                  </a:solidFill>
                  <a:latin typeface="Noto Sans CJK SC"/>
                  <a:ea typeface="Noto Sans CJK SC"/>
                </a:rPr>
                <a:t>p7</a:t>
              </a:r>
            </a:p>
          </p:txBody>
        </p:sp>
        <p:cxnSp>
          <p:nvCxnSpPr>
            <p:cNvPr id="219" name="path 43"/>
            <p:cNvCxnSpPr/>
            <p:nvPr/>
          </p:nvCxnSpPr>
          <p:spPr>
            <a:xfrm>
              <a:off x="1760791" y="657511"/>
              <a:ext cx="0" cy="76772"/>
            </a:xfrm>
            <a:prstGeom prst="line">
              <a:avLst/>
            </a:prstGeom>
            <a:ln w="5943">
              <a:solidFill>
                <a:srgbClr val="357B73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已有有效副本：跳过"/>
            <p:cNvSpPr txBox="1"/>
            <p:nvPr/>
          </p:nvSpPr>
          <p:spPr>
            <a:xfrm>
              <a:off x="630269" y="886587"/>
              <a:ext cx="497776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已有有效副本：跳过</a:t>
              </a:r>
            </a:p>
          </p:txBody>
        </p:sp>
        <p:sp>
          <p:nvSpPr>
            <p:cNvPr id="221" name="仅复制缺失段"/>
            <p:cNvSpPr txBox="1"/>
            <p:nvPr/>
          </p:nvSpPr>
          <p:spPr>
            <a:xfrm>
              <a:off x="1347216" y="889683"/>
              <a:ext cx="326898" cy="8234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0" b="0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仅复制缺失段</a:t>
              </a:r>
            </a:p>
          </p:txBody>
        </p:sp>
        <p:sp>
          <p:nvSpPr>
            <p:cNvPr id="222" name="PREPARE_HOST 仅备份缺失 FULL；备份本身不释放 HBM。"/>
            <p:cNvSpPr txBox="1"/>
            <p:nvPr/>
          </p:nvSpPr>
          <p:spPr>
            <a:xfrm>
              <a:off x="153543" y="965835"/>
              <a:ext cx="1418077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PREPARE_HOST 仅备份缺失 FULL；备份本身不释放 HBM。</a:t>
              </a:r>
            </a:p>
          </p:txBody>
        </p:sp>
        <p:sp>
          <p:nvSpPr>
            <p:cNvPr id="223" name="rect 47"/>
            <p:cNvSpPr/>
            <p:nvPr/>
          </p:nvSpPr>
          <p:spPr>
            <a:xfrm>
              <a:off x="2055495" y="323183"/>
              <a:ext cx="1411605" cy="737997"/>
            </a:xfrm>
            <a:prstGeom prst="roundRect">
              <a:avLst>
                <a:gd name="adj" fmla="val 1006"/>
              </a:avLst>
            </a:prstGeom>
            <a:solidFill>
              <a:srgbClr val="FFFFFF"/>
            </a:solidFill>
            <a:ln w="4210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24" name="line 48"/>
            <p:cNvCxnSpPr/>
            <p:nvPr/>
          </p:nvCxnSpPr>
          <p:spPr>
            <a:xfrm>
              <a:off x="2057971" y="325660"/>
              <a:ext cx="1406652" cy="0"/>
            </a:xfrm>
            <a:prstGeom prst="line">
              <a:avLst/>
            </a:prstGeom>
            <a:ln w="7429">
              <a:solidFill>
                <a:srgbClr val="A96F1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(b) 必要 Mamba checkpoint"/>
            <p:cNvSpPr txBox="1"/>
            <p:nvPr/>
          </p:nvSpPr>
          <p:spPr>
            <a:xfrm>
              <a:off x="2109978" y="347329"/>
              <a:ext cx="881266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A96F1F"/>
                  </a:solidFill>
                  <a:latin typeface="Noto Sans CJK SC"/>
                  <a:ea typeface="Noto Sans CJK SC"/>
                </a:rPr>
                <a:t>(b) 必要 Mamba checkpoint</a:t>
              </a:r>
            </a:p>
          </p:txBody>
        </p:sp>
        <p:sp>
          <p:nvSpPr>
            <p:cNvPr id="226" name="rect 50"/>
            <p:cNvSpPr/>
            <p:nvPr/>
          </p:nvSpPr>
          <p:spPr>
            <a:xfrm>
              <a:off x="2149602" y="528733"/>
              <a:ext cx="321945" cy="168402"/>
            </a:xfrm>
            <a:prstGeom prst="roundRect">
              <a:avLst>
                <a:gd name="adj" fmla="val 2941"/>
              </a:avLst>
            </a:prstGeom>
            <a:solidFill>
              <a:srgbClr val="F2F4F5"/>
            </a:solidFill>
            <a:ln w="3219">
              <a:solidFill>
                <a:srgbClr val="8995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7" name="s0"/>
            <p:cNvSpPr txBox="1"/>
            <p:nvPr/>
          </p:nvSpPr>
          <p:spPr>
            <a:xfrm>
              <a:off x="2262128" y="562166"/>
              <a:ext cx="96893" cy="9967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7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s0</a:t>
              </a:r>
            </a:p>
          </p:txBody>
        </p:sp>
        <p:sp>
          <p:nvSpPr>
            <p:cNvPr id="228" name="rect 52"/>
            <p:cNvSpPr/>
            <p:nvPr/>
          </p:nvSpPr>
          <p:spPr>
            <a:xfrm>
              <a:off x="2563178" y="528733"/>
              <a:ext cx="321945" cy="168402"/>
            </a:xfrm>
            <a:prstGeom prst="roundRect">
              <a:avLst>
                <a:gd name="adj" fmla="val 2941"/>
              </a:avLst>
            </a:prstGeom>
            <a:solidFill>
              <a:srgbClr val="F2F4F5"/>
            </a:solidFill>
            <a:ln w="3219">
              <a:solidFill>
                <a:srgbClr val="8995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s1"/>
            <p:cNvSpPr txBox="1"/>
            <p:nvPr/>
          </p:nvSpPr>
          <p:spPr>
            <a:xfrm>
              <a:off x="2675703" y="562166"/>
              <a:ext cx="96893" cy="9967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7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s1</a:t>
              </a:r>
            </a:p>
          </p:txBody>
        </p:sp>
        <p:sp>
          <p:nvSpPr>
            <p:cNvPr id="230" name="rect 54"/>
            <p:cNvSpPr/>
            <p:nvPr/>
          </p:nvSpPr>
          <p:spPr>
            <a:xfrm>
              <a:off x="2976753" y="528733"/>
              <a:ext cx="321945" cy="168402"/>
            </a:xfrm>
            <a:prstGeom prst="roundRect">
              <a:avLst>
                <a:gd name="adj" fmla="val 2941"/>
              </a:avLst>
            </a:prstGeom>
            <a:solidFill>
              <a:srgbClr val="FBF2E3"/>
            </a:solidFill>
            <a:ln w="3219">
              <a:solidFill>
                <a:srgbClr val="A96F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s2"/>
            <p:cNvSpPr txBox="1"/>
            <p:nvPr/>
          </p:nvSpPr>
          <p:spPr>
            <a:xfrm>
              <a:off x="3089279" y="562166"/>
              <a:ext cx="96893" cy="9967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7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s2</a:t>
              </a:r>
            </a:p>
          </p:txBody>
        </p:sp>
        <p:cxnSp>
          <p:nvCxnSpPr>
            <p:cNvPr id="232" name="path 56"/>
            <p:cNvCxnSpPr/>
            <p:nvPr/>
          </p:nvCxnSpPr>
          <p:spPr>
            <a:xfrm>
              <a:off x="2478976" y="612934"/>
              <a:ext cx="79248" cy="0"/>
            </a:xfrm>
            <a:prstGeom prst="line">
              <a:avLst/>
            </a:prstGeom>
            <a:ln w="5943">
              <a:solidFill>
                <a:srgbClr val="687680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path 57"/>
            <p:cNvCxnSpPr/>
            <p:nvPr/>
          </p:nvCxnSpPr>
          <p:spPr>
            <a:xfrm>
              <a:off x="2892552" y="612934"/>
              <a:ext cx="79248" cy="0"/>
            </a:xfrm>
            <a:prstGeom prst="line">
              <a:avLst/>
            </a:prstGeom>
            <a:ln w="5943">
              <a:solidFill>
                <a:srgbClr val="A96F1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4" name="选择目标 checkpoint 所需状态"/>
            <p:cNvSpPr txBox="1"/>
            <p:nvPr/>
          </p:nvSpPr>
          <p:spPr>
            <a:xfrm>
              <a:off x="2331968" y="724995"/>
              <a:ext cx="774458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0" lang="zh-CN" spc="0">
                  <a:solidFill>
                    <a:srgbClr val="A96F1F"/>
                  </a:solidFill>
                  <a:latin typeface="Noto Sans CJK SC"/>
                  <a:ea typeface="Noto Sans CJK SC"/>
                </a:rPr>
                <a:t>选择目标 checkpoint 所需状态</a:t>
              </a:r>
            </a:p>
          </p:txBody>
        </p:sp>
        <p:sp>
          <p:nvSpPr>
            <p:cNvPr id="235" name="PREPARE_HOST 不投机备份 Mamba。"/>
            <p:cNvSpPr txBox="1"/>
            <p:nvPr/>
          </p:nvSpPr>
          <p:spPr>
            <a:xfrm>
              <a:off x="2109978" y="833961"/>
              <a:ext cx="976747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PREPARE_HOST 不投机备份 Mamba。</a:t>
              </a:r>
            </a:p>
          </p:txBody>
        </p:sp>
        <p:sp>
          <p:nvSpPr>
            <p:cNvPr id="236" name="其他有效状态仍由原生缓存管理。"/>
            <p:cNvSpPr txBox="1"/>
            <p:nvPr/>
          </p:nvSpPr>
          <p:spPr>
            <a:xfrm>
              <a:off x="2109978" y="915686"/>
              <a:ext cx="846963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其他有效状态仍由原生缓存管理。</a:t>
              </a:r>
            </a:p>
          </p:txBody>
        </p:sp>
        <p:sp>
          <p:nvSpPr>
            <p:cNvPr id="237" name="rect 61"/>
            <p:cNvSpPr/>
            <p:nvPr/>
          </p:nvSpPr>
          <p:spPr>
            <a:xfrm>
              <a:off x="99060" y="1167670"/>
              <a:ext cx="3368040" cy="1089660"/>
            </a:xfrm>
            <a:prstGeom prst="roundRect">
              <a:avLst>
                <a:gd name="adj" fmla="val 681"/>
              </a:avLst>
            </a:prstGeom>
            <a:solidFill>
              <a:srgbClr val="FFFFFF"/>
            </a:solidFill>
            <a:ln w="4210">
              <a:solidFill>
                <a:srgbClr val="D4DB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8" name="line 62"/>
            <p:cNvCxnSpPr/>
            <p:nvPr/>
          </p:nvCxnSpPr>
          <p:spPr>
            <a:xfrm>
              <a:off x="101536" y="1170146"/>
              <a:ext cx="3363087" cy="0"/>
            </a:xfrm>
            <a:prstGeom prst="line">
              <a:avLst/>
            </a:prstGeom>
            <a:ln w="7429">
              <a:solidFill>
                <a:srgbClr val="3D6F9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9" name="(c) 协同 Child 回收、Parent 恢复与准入"/>
            <p:cNvSpPr txBox="1"/>
            <p:nvPr/>
          </p:nvSpPr>
          <p:spPr>
            <a:xfrm>
              <a:off x="153543" y="1191816"/>
              <a:ext cx="1190916" cy="10339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07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(c) 协同 Child 回收、Parent 恢复与准入</a:t>
              </a:r>
            </a:p>
          </p:txBody>
        </p:sp>
        <p:sp>
          <p:nvSpPr>
            <p:cNvPr id="240" name="circle 64"/>
            <p:cNvSpPr/>
            <p:nvPr/>
          </p:nvSpPr>
          <p:spPr>
            <a:xfrm>
              <a:off x="227838" y="1440085"/>
              <a:ext cx="123825" cy="123825"/>
            </a:xfrm>
            <a:prstGeom prst="ellipse">
              <a:avLst/>
            </a:prstGeom>
            <a:solidFill>
              <a:srgbClr val="EDF3F8"/>
            </a:solidFill>
            <a:ln w="3467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1" name="P"/>
            <p:cNvSpPr txBox="1"/>
            <p:nvPr/>
          </p:nvSpPr>
          <p:spPr>
            <a:xfrm>
              <a:off x="254243" y="1451848"/>
              <a:ext cx="71015" cy="9967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7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P</a:t>
              </a:r>
            </a:p>
          </p:txBody>
        </p:sp>
        <p:sp>
          <p:nvSpPr>
            <p:cNvPr id="242" name="circle 66"/>
            <p:cNvSpPr/>
            <p:nvPr/>
          </p:nvSpPr>
          <p:spPr>
            <a:xfrm>
              <a:off x="586930" y="1360837"/>
              <a:ext cx="128778" cy="128778"/>
            </a:xfrm>
            <a:prstGeom prst="ellipse">
              <a:avLst/>
            </a:prstGeom>
            <a:solidFill>
              <a:srgbClr val="EAF3F1"/>
            </a:solidFill>
            <a:ln w="3467">
              <a:solidFill>
                <a:srgbClr val="357B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3" name="C1"/>
            <p:cNvSpPr txBox="1"/>
            <p:nvPr/>
          </p:nvSpPr>
          <p:spPr>
            <a:xfrm>
              <a:off x="602515" y="1380525"/>
              <a:ext cx="97609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C1</a:t>
              </a:r>
            </a:p>
          </p:txBody>
        </p:sp>
        <p:sp>
          <p:nvSpPr>
            <p:cNvPr id="244" name="circle 68"/>
            <p:cNvSpPr/>
            <p:nvPr/>
          </p:nvSpPr>
          <p:spPr>
            <a:xfrm>
              <a:off x="586930" y="1568863"/>
              <a:ext cx="128778" cy="128778"/>
            </a:xfrm>
            <a:prstGeom prst="ellipse">
              <a:avLst/>
            </a:prstGeom>
            <a:solidFill>
              <a:srgbClr val="FBF2E3"/>
            </a:solidFill>
            <a:ln w="3467">
              <a:solidFill>
                <a:srgbClr val="A96F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5" name="C2"/>
            <p:cNvSpPr txBox="1"/>
            <p:nvPr/>
          </p:nvSpPr>
          <p:spPr>
            <a:xfrm>
              <a:off x="602515" y="1588551"/>
              <a:ext cx="97609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C2</a:t>
              </a:r>
            </a:p>
          </p:txBody>
        </p:sp>
        <p:cxnSp>
          <p:nvCxnSpPr>
            <p:cNvPr id="246" name="path 70"/>
            <p:cNvCxnSpPr/>
            <p:nvPr/>
          </p:nvCxnSpPr>
          <p:spPr>
            <a:xfrm flipV="1">
              <a:off x="351663" y="1420273"/>
              <a:ext cx="230314" cy="59436"/>
            </a:xfrm>
            <a:prstGeom prst="line">
              <a:avLst/>
            </a:prstGeom>
            <a:ln w="5943">
              <a:solidFill>
                <a:srgbClr val="3D6F9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path 71"/>
            <p:cNvCxnSpPr/>
            <p:nvPr/>
          </p:nvCxnSpPr>
          <p:spPr>
            <a:xfrm>
              <a:off x="351663" y="1529239"/>
              <a:ext cx="230314" cy="89154"/>
            </a:xfrm>
            <a:prstGeom prst="line">
              <a:avLst/>
            </a:prstGeom>
            <a:ln w="5943">
              <a:solidFill>
                <a:srgbClr val="3D6F9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8" name="WAIT_JOIN"/>
            <p:cNvSpPr txBox="1"/>
            <p:nvPr/>
          </p:nvSpPr>
          <p:spPr>
            <a:xfrm>
              <a:off x="150892" y="1581245"/>
              <a:ext cx="262857" cy="749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1" b="0" lang="zh-CN" spc="0">
                  <a:solidFill>
                    <a:srgbClr val="687680"/>
                  </a:solidFill>
                  <a:latin typeface="Noto Sans CJK SC"/>
                  <a:ea typeface="Noto Sans CJK SC"/>
                </a:rPr>
                <a:t>WAIT_JOIN</a:t>
              </a:r>
            </a:p>
          </p:txBody>
        </p:sp>
        <p:sp>
          <p:nvSpPr>
            <p:cNvPr id="249" name="RETURN"/>
            <p:cNvSpPr txBox="1"/>
            <p:nvPr/>
          </p:nvSpPr>
          <p:spPr>
            <a:xfrm>
              <a:off x="540100" y="1281589"/>
              <a:ext cx="212534" cy="749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1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RETURN</a:t>
              </a:r>
            </a:p>
          </p:txBody>
        </p:sp>
        <p:sp>
          <p:nvSpPr>
            <p:cNvPr id="250" name="仍在运行"/>
            <p:cNvSpPr txBox="1"/>
            <p:nvPr/>
          </p:nvSpPr>
          <p:spPr>
            <a:xfrm>
              <a:off x="547306" y="1706928"/>
              <a:ext cx="217932" cy="7862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70" b="0" lang="zh-CN" spc="0">
                  <a:solidFill>
                    <a:srgbClr val="A96F1F"/>
                  </a:solidFill>
                  <a:latin typeface="Noto Sans CJK SC"/>
                  <a:ea typeface="Noto Sans CJK SC"/>
                </a:rPr>
                <a:t>仍在运行</a:t>
              </a:r>
            </a:p>
          </p:txBody>
        </p:sp>
        <p:cxnSp>
          <p:nvCxnSpPr>
            <p:cNvPr id="251" name="path 75"/>
            <p:cNvCxnSpPr/>
            <p:nvPr/>
          </p:nvCxnSpPr>
          <p:spPr>
            <a:xfrm>
              <a:off x="720662" y="1425226"/>
              <a:ext cx="198120" cy="0"/>
            </a:xfrm>
            <a:prstGeom prst="line">
              <a:avLst/>
            </a:prstGeom>
            <a:ln w="5943">
              <a:solidFill>
                <a:srgbClr val="357B73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rect 76"/>
            <p:cNvSpPr/>
            <p:nvPr/>
          </p:nvSpPr>
          <p:spPr>
            <a:xfrm>
              <a:off x="926211" y="1336072"/>
              <a:ext cx="715708" cy="435864"/>
            </a:xfrm>
            <a:prstGeom prst="roundRect">
              <a:avLst>
                <a:gd name="adj" fmla="val 1136"/>
              </a:avLst>
            </a:prstGeom>
            <a:solidFill>
              <a:srgbClr val="EAF3F1"/>
            </a:solidFill>
            <a:ln w="4458">
              <a:solidFill>
                <a:srgbClr val="357B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3" name="回收私有页"/>
            <p:cNvSpPr txBox="1"/>
            <p:nvPr/>
          </p:nvSpPr>
          <p:spPr>
            <a:xfrm>
              <a:off x="1137952" y="1367028"/>
              <a:ext cx="289750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回收私有页</a:t>
              </a:r>
            </a:p>
          </p:txBody>
        </p:sp>
        <p:sp>
          <p:nvSpPr>
            <p:cNvPr id="254" name="无活跃或共享引用"/>
            <p:cNvSpPr txBox="1"/>
            <p:nvPr/>
          </p:nvSpPr>
          <p:spPr>
            <a:xfrm>
              <a:off x="978217" y="1474137"/>
              <a:ext cx="406146" cy="7862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7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无活跃或共享引用</a:t>
              </a:r>
            </a:p>
          </p:txBody>
        </p:sp>
        <p:sp>
          <p:nvSpPr>
            <p:cNvPr id="255" name="无在途传输依赖"/>
            <p:cNvSpPr txBox="1"/>
            <p:nvPr/>
          </p:nvSpPr>
          <p:spPr>
            <a:xfrm>
              <a:off x="978217" y="1555861"/>
              <a:ext cx="359092" cy="7862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7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无在途传输依赖</a:t>
              </a:r>
            </a:p>
          </p:txBody>
        </p:sp>
        <p:sp>
          <p:nvSpPr>
            <p:cNvPr id="256" name="保留共享前缀"/>
            <p:cNvSpPr txBox="1"/>
            <p:nvPr/>
          </p:nvSpPr>
          <p:spPr>
            <a:xfrm>
              <a:off x="978217" y="1637586"/>
              <a:ext cx="312039" cy="7862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7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保留共享前缀</a:t>
              </a:r>
            </a:p>
          </p:txBody>
        </p:sp>
        <p:cxnSp>
          <p:nvCxnSpPr>
            <p:cNvPr id="257" name="path 81"/>
            <p:cNvCxnSpPr/>
            <p:nvPr/>
          </p:nvCxnSpPr>
          <p:spPr>
            <a:xfrm>
              <a:off x="1644396" y="1554004"/>
              <a:ext cx="141160" cy="0"/>
            </a:xfrm>
            <a:prstGeom prst="line">
              <a:avLst/>
            </a:prstGeom>
            <a:ln w="5943">
              <a:solidFill>
                <a:srgbClr val="357B73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8" name="rect 82"/>
            <p:cNvSpPr/>
            <p:nvPr/>
          </p:nvSpPr>
          <p:spPr>
            <a:xfrm>
              <a:off x="1790509" y="1336072"/>
              <a:ext cx="661226" cy="435864"/>
            </a:xfrm>
            <a:prstGeom prst="roundRect">
              <a:avLst>
                <a:gd name="adj" fmla="val 1136"/>
              </a:avLst>
            </a:prstGeom>
            <a:solidFill>
              <a:srgbClr val="F2F4F5"/>
            </a:solidFill>
            <a:ln w="4458">
              <a:solidFill>
                <a:srgbClr val="8995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9" name="原生空闲列表"/>
            <p:cNvSpPr txBox="1"/>
            <p:nvPr/>
          </p:nvSpPr>
          <p:spPr>
            <a:xfrm>
              <a:off x="1934146" y="1363932"/>
              <a:ext cx="371475" cy="9286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48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原生空闲列表</a:t>
              </a:r>
            </a:p>
          </p:txBody>
        </p:sp>
        <p:sp>
          <p:nvSpPr>
            <p:cNvPr id="260" name="rect 84"/>
            <p:cNvSpPr/>
            <p:nvPr/>
          </p:nvSpPr>
          <p:spPr>
            <a:xfrm>
              <a:off x="1847469" y="1499521"/>
              <a:ext cx="547306" cy="96584"/>
            </a:xfrm>
            <a:prstGeom prst="roundRect">
              <a:avLst>
                <a:gd name="adj" fmla="val 5128"/>
              </a:avLst>
            </a:prstGeom>
            <a:solidFill>
              <a:srgbClr val="FFFFFF"/>
            </a:solidFill>
            <a:ln w="3219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1" name="FULL 页"/>
            <p:cNvSpPr txBox="1"/>
            <p:nvPr/>
          </p:nvSpPr>
          <p:spPr>
            <a:xfrm>
              <a:off x="2009641" y="1504820"/>
              <a:ext cx="222962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FULL 页</a:t>
              </a:r>
            </a:p>
          </p:txBody>
        </p:sp>
        <p:sp>
          <p:nvSpPr>
            <p:cNvPr id="262" name="rect 86"/>
            <p:cNvSpPr/>
            <p:nvPr/>
          </p:nvSpPr>
          <p:spPr>
            <a:xfrm>
              <a:off x="1847469" y="1628299"/>
              <a:ext cx="547306" cy="96584"/>
            </a:xfrm>
            <a:prstGeom prst="roundRect">
              <a:avLst>
                <a:gd name="adj" fmla="val 5128"/>
              </a:avLst>
            </a:prstGeom>
            <a:solidFill>
              <a:srgbClr val="FFFFFF"/>
            </a:solidFill>
            <a:ln w="3219">
              <a:solidFill>
                <a:srgbClr val="A96F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3" name="Mamba 槽位"/>
            <p:cNvSpPr txBox="1"/>
            <p:nvPr/>
          </p:nvSpPr>
          <p:spPr>
            <a:xfrm>
              <a:off x="1953992" y="1633598"/>
              <a:ext cx="334260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Mamba 槽位</a:t>
              </a:r>
            </a:p>
          </p:txBody>
        </p:sp>
        <p:cxnSp>
          <p:nvCxnSpPr>
            <p:cNvPr id="264" name="path 88"/>
            <p:cNvCxnSpPr/>
            <p:nvPr/>
          </p:nvCxnSpPr>
          <p:spPr>
            <a:xfrm>
              <a:off x="2454212" y="1554004"/>
              <a:ext cx="136208" cy="0"/>
            </a:xfrm>
            <a:prstGeom prst="line">
              <a:avLst/>
            </a:prstGeom>
            <a:ln w="5943">
              <a:solidFill>
                <a:srgbClr val="3D6F9F"/>
              </a:solidFill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5" name="rect 89"/>
            <p:cNvSpPr/>
            <p:nvPr/>
          </p:nvSpPr>
          <p:spPr>
            <a:xfrm>
              <a:off x="2595372" y="1336072"/>
              <a:ext cx="802386" cy="435864"/>
            </a:xfrm>
            <a:prstGeom prst="roundRect">
              <a:avLst>
                <a:gd name="adj" fmla="val 1136"/>
              </a:avLst>
            </a:prstGeom>
            <a:solidFill>
              <a:srgbClr val="EDF3F8"/>
            </a:solidFill>
            <a:ln w="4458">
              <a:solidFill>
                <a:srgbClr val="3D6F9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6" name="Parent 恢复与执行"/>
            <p:cNvSpPr txBox="1"/>
            <p:nvPr/>
          </p:nvSpPr>
          <p:spPr>
            <a:xfrm>
              <a:off x="2760398" y="1369504"/>
              <a:ext cx="472334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1" lang="zh-CN" spc="0">
                  <a:solidFill>
                    <a:srgbClr val="3D6F9F"/>
                  </a:solidFill>
                  <a:latin typeface="Noto Sans CJK SC"/>
                  <a:ea typeface="Noto Sans CJK SC"/>
                </a:rPr>
                <a:t>Parent 恢复与执行</a:t>
              </a:r>
            </a:p>
          </p:txBody>
        </p:sp>
        <p:sp>
          <p:nvSpPr>
            <p:cNvPr id="267" name="加载缺失 checkpoint 页"/>
            <p:cNvSpPr txBox="1"/>
            <p:nvPr/>
          </p:nvSpPr>
          <p:spPr>
            <a:xfrm>
              <a:off x="2649855" y="1474137"/>
              <a:ext cx="531761" cy="7862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7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加载缺失 checkpoint 页</a:t>
              </a:r>
            </a:p>
          </p:txBody>
        </p:sp>
        <p:sp>
          <p:nvSpPr>
            <p:cNvPr id="268" name="预留输入与 decode 增长"/>
            <p:cNvSpPr txBox="1"/>
            <p:nvPr/>
          </p:nvSpPr>
          <p:spPr>
            <a:xfrm>
              <a:off x="2649855" y="1555861"/>
              <a:ext cx="542063" cy="7862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7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预留输入与 decode 增长</a:t>
              </a:r>
            </a:p>
          </p:txBody>
        </p:sp>
        <p:sp>
          <p:nvSpPr>
            <p:cNvPr id="269" name="有界恢复感知准入"/>
            <p:cNvSpPr txBox="1"/>
            <p:nvPr/>
          </p:nvSpPr>
          <p:spPr>
            <a:xfrm>
              <a:off x="2649855" y="1637586"/>
              <a:ext cx="406146" cy="7862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70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有界恢复感知准入</a:t>
              </a:r>
            </a:p>
          </p:txBody>
        </p:sp>
        <p:cxnSp>
          <p:nvCxnSpPr>
            <p:cNvPr id="270" name="line 94"/>
            <p:cNvCxnSpPr/>
            <p:nvPr/>
          </p:nvCxnSpPr>
          <p:spPr>
            <a:xfrm>
              <a:off x="307086" y="1868519"/>
              <a:ext cx="3075813" cy="0"/>
            </a:xfrm>
            <a:prstGeom prst="line">
              <a:avLst/>
            </a:prstGeom>
            <a:ln w="3219">
              <a:solidFill>
                <a:srgbClr val="D4DBE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1" name="较早结束的 Child"/>
            <p:cNvSpPr txBox="1"/>
            <p:nvPr/>
          </p:nvSpPr>
          <p:spPr>
            <a:xfrm>
              <a:off x="160972" y="1921145"/>
              <a:ext cx="453915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1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较早结束的 Child</a:t>
              </a:r>
            </a:p>
          </p:txBody>
        </p:sp>
        <p:sp>
          <p:nvSpPr>
            <p:cNvPr id="272" name="最后一个 Child"/>
            <p:cNvSpPr txBox="1"/>
            <p:nvPr/>
          </p:nvSpPr>
          <p:spPr>
            <a:xfrm>
              <a:off x="160972" y="2042493"/>
              <a:ext cx="399432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1" lang="zh-CN" spc="0">
                  <a:solidFill>
                    <a:srgbClr val="A96F1F"/>
                  </a:solidFill>
                  <a:latin typeface="Noto Sans CJK SC"/>
                  <a:ea typeface="Noto Sans CJK SC"/>
                </a:rPr>
                <a:t>最后一个 Child</a:t>
              </a:r>
            </a:p>
          </p:txBody>
        </p:sp>
        <p:sp>
          <p:nvSpPr>
            <p:cNvPr id="273" name="circle 97"/>
            <p:cNvSpPr/>
            <p:nvPr/>
          </p:nvSpPr>
          <p:spPr>
            <a:xfrm>
              <a:off x="849440" y="1950244"/>
              <a:ext cx="24765" cy="24765"/>
            </a:xfrm>
            <a:prstGeom prst="ellipse">
              <a:avLst/>
            </a:prstGeom>
            <a:solidFill>
              <a:srgbClr val="357B73"/>
            </a:solidFill>
            <a:ln w="2476">
              <a:solidFill>
                <a:srgbClr val="357B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4" name="RETURN → 释放容量"/>
            <p:cNvSpPr txBox="1"/>
            <p:nvPr/>
          </p:nvSpPr>
          <p:spPr>
            <a:xfrm>
              <a:off x="911352" y="1924240"/>
              <a:ext cx="515973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RETURN → 释放容量</a:t>
              </a:r>
            </a:p>
          </p:txBody>
        </p:sp>
        <p:sp>
          <p:nvSpPr>
            <p:cNvPr id="275" name="rect 99"/>
            <p:cNvSpPr/>
            <p:nvPr/>
          </p:nvSpPr>
          <p:spPr>
            <a:xfrm>
              <a:off x="1733550" y="1910620"/>
              <a:ext cx="889063" cy="101536"/>
            </a:xfrm>
            <a:prstGeom prst="roundRect">
              <a:avLst>
                <a:gd name="adj" fmla="val 4878"/>
              </a:avLst>
            </a:prstGeom>
            <a:solidFill>
              <a:srgbClr val="EAF3F1"/>
            </a:solidFill>
            <a:ln w="3962">
              <a:solidFill>
                <a:srgbClr val="357B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6" name="Parent 预测性 H2D"/>
            <p:cNvSpPr txBox="1"/>
            <p:nvPr/>
          </p:nvSpPr>
          <p:spPr>
            <a:xfrm>
              <a:off x="1941344" y="1919287"/>
              <a:ext cx="470999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357B73"/>
                  </a:solidFill>
                  <a:latin typeface="Noto Sans CJK SC"/>
                  <a:ea typeface="Noto Sans CJK SC"/>
                </a:rPr>
                <a:t>Parent 预测性 H2D</a:t>
              </a:r>
            </a:p>
          </p:txBody>
        </p:sp>
        <p:sp>
          <p:nvSpPr>
            <p:cNvPr id="277" name="rect 101"/>
            <p:cNvSpPr/>
            <p:nvPr/>
          </p:nvSpPr>
          <p:spPr>
            <a:xfrm>
              <a:off x="864298" y="2041874"/>
              <a:ext cx="1958911" cy="96584"/>
            </a:xfrm>
            <a:prstGeom prst="roundRect">
              <a:avLst>
                <a:gd name="adj" fmla="val 5128"/>
              </a:avLst>
            </a:prstGeom>
            <a:solidFill>
              <a:srgbClr val="FBF2E3"/>
            </a:solidFill>
            <a:ln w="3962">
              <a:solidFill>
                <a:srgbClr val="A96F1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8" name="最后生成仍在继续"/>
            <p:cNvSpPr txBox="1"/>
            <p:nvPr/>
          </p:nvSpPr>
          <p:spPr>
            <a:xfrm>
              <a:off x="1619631" y="2048065"/>
              <a:ext cx="445770" cy="860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10" b="0" lang="zh-CN" spc="0">
                  <a:solidFill>
                    <a:srgbClr val="A96F1F"/>
                  </a:solidFill>
                  <a:latin typeface="Noto Sans CJK SC"/>
                  <a:ea typeface="Noto Sans CJK SC"/>
                </a:rPr>
                <a:t>最后生成仍在继续</a:t>
              </a:r>
            </a:p>
          </p:txBody>
        </p:sp>
        <p:cxnSp>
          <p:nvCxnSpPr>
            <p:cNvPr id="279" name="line 103"/>
            <p:cNvCxnSpPr/>
            <p:nvPr/>
          </p:nvCxnSpPr>
          <p:spPr>
            <a:xfrm>
              <a:off x="2825686" y="1888331"/>
              <a:ext cx="0" cy="284798"/>
            </a:xfrm>
            <a:prstGeom prst="line">
              <a:avLst/>
            </a:prstGeom>
            <a:ln w="3962">
              <a:solidFill>
                <a:srgbClr val="89959D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0" name="RETURN"/>
            <p:cNvSpPr txBox="1"/>
            <p:nvPr/>
          </p:nvSpPr>
          <p:spPr>
            <a:xfrm>
              <a:off x="2862834" y="2046208"/>
              <a:ext cx="222672" cy="78629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70" b="1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RETURN</a:t>
              </a:r>
            </a:p>
          </p:txBody>
        </p:sp>
        <p:sp>
          <p:nvSpPr>
            <p:cNvPr id="281" name="较早结束的 sibling 可支持 RETURN 前预取；最后一个 child 的容量只能在结束后使用。"/>
            <p:cNvSpPr txBox="1"/>
            <p:nvPr/>
          </p:nvSpPr>
          <p:spPr>
            <a:xfrm>
              <a:off x="99060" y="2312432"/>
              <a:ext cx="2134753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较早结束的 sibling 可支持 RETURN 前预取；最后一个 child 的容量只能在结束后使用。</a:t>
              </a:r>
            </a:p>
          </p:txBody>
        </p:sp>
        <p:sp>
          <p:nvSpPr>
            <p:cNvPr id="282" name="回收容量通过原生分配器使用；共享页与仍在执行的页面保留。"/>
            <p:cNvSpPr txBox="1"/>
            <p:nvPr/>
          </p:nvSpPr>
          <p:spPr>
            <a:xfrm>
              <a:off x="99060" y="2389203"/>
              <a:ext cx="1555242" cy="89773"/>
            </a:xfrm>
            <a:prstGeom prst="rect">
              <a:avLst/>
            </a:prstGeom>
            <a:noFill/>
          </p:spPr>
          <p:txBody>
            <a:bodyPr wrap="none" lIns="0" rIns="0" t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29" b="0" lang="zh-CN" spc="0">
                  <a:solidFill>
                    <a:srgbClr val="263746"/>
                  </a:solidFill>
                  <a:latin typeface="Noto Sans CJK SC"/>
                  <a:ea typeface="Noto Sans CJK SC"/>
                </a:rPr>
                <a:t>回收容量通过原生分配器使用；共享页与仍在执行的页面保留。</a:t>
              </a:r>
            </a:p>
          </p:txBody>
        </p:sp>
      </p:grpSp>
      <p:sp>
        <p:nvSpPr>
          <p:cNvPr id="283" name="TextBox 282"/>
          <p:cNvSpPr txBox="1"/>
          <p:nvPr/>
        </p:nvSpPr>
        <p:spPr>
          <a:xfrm>
            <a:off x="8220456" y="4937760"/>
            <a:ext cx="3493008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zh-CN" spc="0">
                <a:solidFill>
                  <a:srgbClr val="596875"/>
                </a:solidFill>
                <a:latin typeface="微软雅黑"/>
                <a:ea typeface="微软雅黑"/>
              </a:rPr>
              <a:t>FULL 增量备份、必要状态恢复，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zh-CN" spc="0">
                <a:solidFill>
                  <a:srgbClr val="596875"/>
                </a:solidFill>
                <a:latin typeface="微软雅黑"/>
                <a:ea typeface="微软雅黑"/>
              </a:rPr>
              <a:t>衔接 child 释放容量与 parent 执行。</a:t>
            </a:r>
          </a:p>
        </p:txBody>
      </p:sp>
      <p:cxnSp>
        <p:nvCxnSpPr>
          <p:cNvPr id="284" name="Connector 283"/>
          <p:cNvCxnSpPr/>
          <p:nvPr/>
        </p:nvCxnSpPr>
        <p:spPr>
          <a:xfrm>
            <a:off x="713232" y="5632704"/>
            <a:ext cx="10707624" cy="0"/>
          </a:xfrm>
          <a:prstGeom prst="line">
            <a:avLst/>
          </a:prstGeom>
          <a:ln w="19050">
            <a:solidFill>
              <a:srgbClr val="D6DF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TextBox 284"/>
          <p:cNvSpPr txBox="1"/>
          <p:nvPr/>
        </p:nvSpPr>
        <p:spPr>
          <a:xfrm>
            <a:off x="713232" y="5769864"/>
            <a:ext cx="10707624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lang="zh-CN" spc="0">
                <a:solidFill>
                  <a:srgbClr val="357B73"/>
                </a:solidFill>
                <a:latin typeface="微软雅黑"/>
                <a:ea typeface="微软雅黑"/>
              </a:rPr>
              <a:t>完成了从工作流语义、预测时序到物理缓存与执行的系统贯通。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200" b="1" lang="zh-CN" spc="0">
                <a:solidFill>
                  <a:srgbClr val="FFFFFF"/>
                </a:solidFill>
                <a:latin typeface="微软雅黑"/>
                <a:ea typeface="微软雅黑"/>
              </a:rPr>
              <a:t>阶段结论与优化重点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23760" y="621792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zh-CN" spc="0">
                <a:solidFill>
                  <a:srgbClr val="596875"/>
                </a:solidFill>
                <a:latin typeface="微软雅黑"/>
                <a:ea typeface="微软雅黑"/>
              </a:rPr>
              <a:t>BeliefKV  |  2026.08.15 - 2026.10.11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09928"/>
            <a:ext cx="1072591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lang="zh-CN" spc="0">
                <a:solidFill>
                  <a:srgbClr val="01639C"/>
                </a:solidFill>
                <a:latin typeface="微软雅黑"/>
                <a:ea typeface="微软雅黑"/>
              </a:rPr>
              <a:t>从机制贯通，走向可验证的端到端收益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14016"/>
            <a:ext cx="66751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zh-CN" spc="0">
                <a:solidFill>
                  <a:srgbClr val="01639C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0784" y="2432304"/>
            <a:ext cx="969264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162A46"/>
                </a:solidFill>
                <a:latin typeface="微软雅黑"/>
                <a:ea typeface="微软雅黑"/>
              </a:rPr>
              <a:t>预测：识别执行阶段，滚动估计剩余工作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0784" y="2862072"/>
            <a:ext cx="9692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结合收尾通知、正文语义与 decode 进度判断 child 是否临近 RETURN。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把排队等待单独交给运行时，避免与剩余生成工作混在一起。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474720"/>
            <a:ext cx="66751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zh-CN" spc="0">
                <a:solidFill>
                  <a:srgbClr val="01639C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3493008"/>
            <a:ext cx="969264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162A46"/>
                </a:solidFill>
                <a:latin typeface="微软雅黑"/>
                <a:ea typeface="微软雅黑"/>
              </a:rPr>
              <a:t>迁移：按可复用缺失页恢复，协调容量与准入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3922776"/>
            <a:ext cx="9692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实现 FULL 增量 PREPARE、必要 Mamba 状态恢复与驻留保护。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联动恢复感知准入与 child 容量交接，减少恢复后再次驱逐。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535424"/>
            <a:ext cx="66751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zh-CN" spc="0">
                <a:solidFill>
                  <a:srgbClr val="01639C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4553712"/>
            <a:ext cx="969264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zh-CN" spc="0">
                <a:solidFill>
                  <a:srgbClr val="162A46"/>
                </a:solidFill>
                <a:latin typeface="微软雅黑"/>
                <a:ea typeface="微软雅黑"/>
              </a:rPr>
              <a:t>评估：追踪提前恢复与下一请求的实际复用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0784" y="4983480"/>
            <a:ext cx="9692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区分预测 H2D、需求 handoff 与原生加载，补齐首次复用归因。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优先降低控制开销、ACK 后等待与重复恢复，检验吞吐净收益。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5632704"/>
            <a:ext cx="10707624" cy="0"/>
          </a:xfrm>
          <a:prstGeom prst="line">
            <a:avLst/>
          </a:prstGeom>
          <a:ln w="19050">
            <a:solidFill>
              <a:srgbClr val="D6DF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5769864"/>
            <a:ext cx="10707624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lang="zh-CN" spc="0">
                <a:solidFill>
                  <a:srgbClr val="357B73"/>
                </a:solidFill>
                <a:latin typeface="微软雅黑"/>
                <a:ea typeface="微软雅黑"/>
              </a:rPr>
              <a:t>当前：机制与证据链已具备，稳定的原生对照性能优势仍待验证。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200" b="1" lang="zh-CN" spc="0">
                <a:solidFill>
                  <a:srgbClr val="FFFFFF"/>
                </a:solidFill>
                <a:latin typeface="微软雅黑"/>
                <a:ea typeface="微软雅黑"/>
              </a:rPr>
              <a:t>下月目标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23760" y="621792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zh-CN" spc="0">
                <a:solidFill>
                  <a:srgbClr val="596875"/>
                </a:solidFill>
                <a:latin typeface="微软雅黑"/>
                <a:ea typeface="微软雅黑"/>
              </a:rPr>
              <a:t>BeliefKV  |  2026.08.15 - 2026.10.11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09928"/>
            <a:ext cx="1072591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lang="zh-CN" spc="0">
                <a:solidFill>
                  <a:srgbClr val="01639C"/>
                </a:solidFill>
                <a:latin typeface="微软雅黑"/>
                <a:ea typeface="微软雅黑"/>
              </a:rPr>
              <a:t>聚焦：让预测式 KV 迁移带来可验证的端到端收益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14016"/>
            <a:ext cx="66751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zh-CN" spc="0">
                <a:solidFill>
                  <a:srgbClr val="01639C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0784" y="2432304"/>
            <a:ext cx="9692640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lang="zh-CN" spc="0">
                <a:solidFill>
                  <a:srgbClr val="162A46"/>
                </a:solidFill>
                <a:latin typeface="微软雅黑"/>
                <a:ea typeface="微软雅黑"/>
              </a:rPr>
              <a:t>提高有效预取覆盖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0784" y="2862072"/>
            <a:ext cx="9692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融合通知、正文与 decode 进度，改善 child / tool 完成预测。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覆盖更多 Host-only FULL 页，统计返回前恢复与下一请求实际复用。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474720"/>
            <a:ext cx="66751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zh-CN" spc="0">
                <a:solidFill>
                  <a:srgbClr val="01639C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3493008"/>
            <a:ext cx="9692640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lang="zh-CN" spc="0">
                <a:solidFill>
                  <a:srgbClr val="162A46"/>
                </a:solidFill>
                <a:latin typeface="微软雅黑"/>
                <a:ea typeface="微软雅黑"/>
              </a:rPr>
              <a:t>恢复与调度协同，降低额外开销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3922776"/>
            <a:ext cx="9692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联动容量回收、驻留与准入，减少重复加载和 ACK 后排队。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削减候选检查、前缀扫描与控制交付成本，避免抵消迁移收益。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535424"/>
            <a:ext cx="66751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zh-CN" spc="0">
                <a:solidFill>
                  <a:srgbClr val="01639C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4553712"/>
            <a:ext cx="9692640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lang="zh-CN" spc="0">
                <a:solidFill>
                  <a:srgbClr val="162A46"/>
                </a:solidFill>
                <a:latin typeface="微软雅黑"/>
                <a:ea typeface="微软雅黑"/>
              </a:rPr>
              <a:t>建立公平、稳定的性能证据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0784" y="4983480"/>
            <a:ext cx="9692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同版本、同负载对比原生 SGLang，正式实验采用多轮平均。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zh-CN" spc="0">
                <a:solidFill>
                  <a:srgbClr val="596875"/>
                </a:solidFill>
                <a:latin typeface="微软雅黑"/>
                <a:ea typeface="微软雅黑"/>
              </a:rPr>
              <a:t>综合报告繁忙窗口吞吐、成功工作流吞吐、配对 JCT 与重算。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5632704"/>
            <a:ext cx="10707624" cy="0"/>
          </a:xfrm>
          <a:prstGeom prst="line">
            <a:avLst/>
          </a:prstGeom>
          <a:ln w="19050">
            <a:solidFill>
              <a:srgbClr val="D6DF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5769864"/>
            <a:ext cx="10707624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lang="zh-CN" spc="0">
                <a:solidFill>
                  <a:srgbClr val="357B73"/>
                </a:solidFill>
                <a:latin typeface="微软雅黑"/>
                <a:ea typeface="微软雅黑"/>
              </a:rPr>
              <a:t>验收：提高繁忙窗口与成功工作流吞吐，同时降低完成时间。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UCSD Colors">
      <a:dk1>
        <a:srgbClr val="162A46"/>
      </a:dk1>
      <a:lt1>
        <a:srgbClr val="FFFFFF"/>
      </a:lt1>
      <a:dk2>
        <a:srgbClr val="01639C"/>
      </a:dk2>
      <a:lt2>
        <a:srgbClr val="FFFFFF"/>
      </a:lt2>
      <a:accent1>
        <a:srgbClr val="23B8D1"/>
      </a:accent1>
      <a:accent2>
        <a:srgbClr val="73953E"/>
      </a:accent2>
      <a:accent3>
        <a:srgbClr val="FEE70C"/>
      </a:accent3>
      <a:accent4>
        <a:srgbClr val="EE8F00"/>
      </a:accent4>
      <a:accent5>
        <a:srgbClr val="B3ACA3"/>
      </a:accent5>
      <a:accent6>
        <a:srgbClr val="C79100"/>
      </a:accent6>
      <a:hlink>
        <a:srgbClr val="0329D7"/>
      </a:hlink>
      <a:folHlink>
        <a:srgbClr val="0229D7"/>
      </a:folHlink>
    </a:clrScheme>
    <a:fontScheme name="雅黑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2F5A96"/>
        </a:solidFill>
        <a:ln w="19050">
          <a:noFill/>
        </a:ln>
      </a:spPr>
      <a:bodyPr rtlCol="0" anchor="ctr"/>
      <a:lstStyle>
        <a:defPPr algn="ctr">
          <a:defRPr sz="1600"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0" cap="rnd">
          <a:solidFill>
            <a:schemeClr val="tx1">
              <a:lumMod val="75000"/>
              <a:lumOff val="25000"/>
            </a:schemeClr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NVSL Theme 2017" id="{DE8EA867-0853-494F-A09B-B10C013CFBD5}" vid="{D842794D-E2C9-9E4F-BE0C-DC063DA5B88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>
  <documentManagement>
    <EmailTo xmlns="http://schemas.microsoft.com/sharepoint/v3">docs@archpoint.sctechies.com &amp;lt;docs@archpoint.sctechies.com&amp;gt;</EmailTo>
    <EmailSender xmlns="http://schemas.microsoft.com/sharepoint/v3">&lt;a href="mailto:acaulfie@cs.ucsd.edu"&gt;acaulfie@cs.ucsd.edu&lt;/a&gt;</EmailSender>
    <EmailFrom xmlns="http://schemas.microsoft.com/sharepoint/v3">Adrian Caulfield &lt;acaulfie@cs.ucsd.edu&gt;</EmailFrom>
    <EmailSubject xmlns="http://schemas.microsoft.com/sharepoint/v3">NVSL Slides Template</EmailSubject>
    <EmailCc xmlns="http://schemas.microsoft.com/sharepoint/v3" xsi:nil="true"/>
    <PublishingExpirationDate xmlns="http://schemas.microsoft.com/sharepoint/v3" xsi:nil="true"/>
    <PublishingStartDate xmlns="http://schemas.microsoft.com/sharepoint/v3" xsi:nil="true"/>
    <_dlc_DocId xmlns="38f6e7a2-40cf-4302-a1d0-9363e537b5a7">N65K4UY2P6DZ-8-1712</_dlc_DocId>
    <_dlc_DocIdUrl xmlns="38f6e7a2-40cf-4302-a1d0-9363e537b5a7">
      <Url>http://bit.ucsd.edu/Docs/_layouts/DocIdRedir.aspx?ID=N65K4UY2P6DZ-8-1712</Url>
      <Description>N65K4UY2P6DZ-8-1712</Description>
    </_dlc_DocIdUrl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F3DBABC677EAC4EB89D0E5813CE1C97" ma:contentTypeVersion="6" ma:contentTypeDescription="Create a new document." ma:contentTypeScope="" ma:versionID="358351ca2fb9834b45991cd07a49fd66">
  <xsd:schema xmlns:xsd="http://www.w3.org/2001/XMLSchema" xmlns:xs="http://www.w3.org/2001/XMLSchema" xmlns:p="http://schemas.microsoft.com/office/2006/metadata/properties" xmlns:ns1="http://schemas.microsoft.com/sharepoint/v3" xmlns:ns2="38f6e7a2-40cf-4302-a1d0-9363e537b5a7" targetNamespace="http://schemas.microsoft.com/office/2006/metadata/properties" ma:root="true" ma:fieldsID="4bd887af3a8eb19969b1c3516fc1fc7f" ns1:_="" ns2:_="">
    <xsd:import namespace="http://schemas.microsoft.com/sharepoint/v3"/>
    <xsd:import namespace="38f6e7a2-40cf-4302-a1d0-9363e537b5a7"/>
    <xsd:element name="properties">
      <xsd:complexType>
        <xsd:sequence>
          <xsd:element name="documentManagement">
            <xsd:complexType>
              <xsd:all>
                <xsd:element ref="ns1:EmailSender" minOccurs="0"/>
                <xsd:element ref="ns1:EmailTo" minOccurs="0"/>
                <xsd:element ref="ns1:EmailCc" minOccurs="0"/>
                <xsd:element ref="ns1:EmailFrom" minOccurs="0"/>
                <xsd:element ref="ns1:EmailSubject" minOccurs="0"/>
                <xsd:element ref="ns1:PublishingStartDate" minOccurs="0"/>
                <xsd:element ref="ns1:PublishingExpirationDate" minOccurs="0"/>
                <xsd:element ref="ns2:_dlc_DocId" minOccurs="0"/>
                <xsd:element ref="ns2:_dlc_DocIdUrl" minOccurs="0"/>
                <xsd:element ref="ns2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EmailSender" ma:index="8" nillable="true" ma:displayName="E-Mail Sender" ma:hidden="true" ma:internalName="EmailSender">
      <xsd:simpleType>
        <xsd:restriction base="dms:Note">
          <xsd:maxLength value="255"/>
        </xsd:restriction>
      </xsd:simpleType>
    </xsd:element>
    <xsd:element name="EmailTo" ma:index="9" nillable="true" ma:displayName="E-Mail To" ma:hidden="true" ma:internalName="EmailTo">
      <xsd:simpleType>
        <xsd:restriction base="dms:Note">
          <xsd:maxLength value="255"/>
        </xsd:restriction>
      </xsd:simpleType>
    </xsd:element>
    <xsd:element name="EmailCc" ma:index="10" nillable="true" ma:displayName="E-Mail Cc" ma:hidden="true" ma:internalName="EmailCc">
      <xsd:simpleType>
        <xsd:restriction base="dms:Note">
          <xsd:maxLength value="255"/>
        </xsd:restriction>
      </xsd:simpleType>
    </xsd:element>
    <xsd:element name="EmailFrom" ma:index="11" nillable="true" ma:displayName="E-Mail From" ma:hidden="true" ma:internalName="EmailFrom">
      <xsd:simpleType>
        <xsd:restriction base="dms:Text"/>
      </xsd:simpleType>
    </xsd:element>
    <xsd:element name="EmailSubject" ma:index="12" nillable="true" ma:displayName="E-Mail Subject" ma:hidden="true" ma:internalName="EmailSubject">
      <xsd:simpleType>
        <xsd:restriction base="dms:Text"/>
      </xsd:simpleType>
    </xsd:element>
    <xsd:element name="PublishingStartDate" ma:index="13" nillable="true" ma:displayName="Scheduling Start Date" ma:internalName="PublishingStartDate">
      <xsd:simpleType>
        <xsd:restriction base="dms:Unknown"/>
      </xsd:simpleType>
    </xsd:element>
    <xsd:element name="PublishingExpirationDate" ma:index="14" nillable="true" ma:displayName="Scheduling End Dat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f6e7a2-40cf-4302-a1d0-9363e537b5a7" elementFormDefault="qualified">
    <xsd:import namespace="http://schemas.microsoft.com/office/2006/documentManagement/types"/>
    <xsd:import namespace="http://schemas.microsoft.com/office/infopath/2007/PartnerControls"/>
    <xsd:element name="_dlc_DocId" ma:index="15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16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7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F4E55384-0535-4827-BEC9-C0AA0AB52BCA}">
  <ds:schemaRefs>
    <ds:schemaRef ds:uri="http://schemas.microsoft.com/office/2006/metadata/properties"/>
    <ds:schemaRef ds:uri="http://schemas.microsoft.com/sharepoint/v3"/>
    <ds:schemaRef ds:uri="38f6e7a2-40cf-4302-a1d0-9363e537b5a7"/>
  </ds:schemaRefs>
</ds:datastoreItem>
</file>

<file path=customXml/itemProps2.xml><?xml version="1.0" encoding="utf-8"?>
<ds:datastoreItem xmlns:ds="http://schemas.openxmlformats.org/officeDocument/2006/customXml" ds:itemID="{D0700612-5548-4C5F-B85B-1C0CBC7D8F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8f6e7a2-40cf-4302-a1d0-9363e537b5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FB7DEAC-7366-45DE-8D92-51FE4698563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BF90320-62F0-4599-85DC-D14AF5AC78B4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16392</TotalTime>
  <Words>274</Words>
  <Application>Microsoft Office PowerPoint</Application>
  <PresentationFormat>宽屏</PresentationFormat>
  <Paragraphs>26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Myriad Pro</vt:lpstr>
      <vt:lpstr>黑体</vt:lpstr>
      <vt:lpstr>微软雅黑</vt:lpstr>
      <vt:lpstr>Arial</vt:lpstr>
      <vt:lpstr>Calibri</vt:lpstr>
      <vt:lpstr>Office 主题​​</vt:lpstr>
      <vt:lpstr>朱龙浩月度汇报</vt:lpstr>
      <vt:lpstr>上月总结</vt:lpstr>
      <vt:lpstr>关键进展</vt:lpstr>
      <vt:lpstr>下月目标</vt:lpstr>
    </vt:vector>
  </TitlesOfParts>
  <Company>Shanghai Jiao Tong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BeliefKV 月度汇报</dc:title>
  <dc:creator>Zheng, Shengan</dc:creator>
  <cp:lastModifiedBy>龙浩 朱</cp:lastModifiedBy>
  <cp:revision>770</cp:revision>
  <cp:lastPrinted>2017-05-11T20:43:55Z</cp:lastPrinted>
  <dcterms:created xsi:type="dcterms:W3CDTF">2017-10-16T21:31:54Z</dcterms:created>
  <dcterms:modified xsi:type="dcterms:W3CDTF">2026-10-11T10:37:08Z</dcterms:modified>
  <dc:subject>2026 年 8 月 15 日至 10 月 11 日</dc:subject>
  <cp:keywords>BeliefKV, 动态 Agent, KV 缓存, 预测式调度</cp:keywords>
  <dc:description>五页正文；演讲者备注合计约三分钟。</dc:descript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0x0101002F3DBABC677EAC4EB89D0E5813CE1C97</vt:lpwstr>
  </property>
  <property fmtid="{D5CDD505-2E9C-101B-9397-08002B2CF9AE}" pid="3" name="_dlc_DocIdItemGuid">
    <vt:lpwstr>672fea0e-6365-4b73-84cc-a1c7a9616c94</vt:lpwstr>
  </property>
</Properties>
</file>