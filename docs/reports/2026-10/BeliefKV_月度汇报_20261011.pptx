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FE5"/>
    <a:srgbClr val="FFA6B5"/>
    <a:srgbClr val="CC75E1"/>
    <a:srgbClr val="0169A0"/>
    <a:srgbClr val="162A46"/>
    <a:srgbClr val="88C1EC"/>
    <a:srgbClr val="0553A0"/>
    <a:srgbClr val="006DDA"/>
    <a:srgbClr val="004B95"/>
    <a:srgbClr val="608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71" autoAdjust="0"/>
    <p:restoredTop sz="95238" autoAdjust="0"/>
  </p:normalViewPr>
  <p:slideViewPr>
    <p:cSldViewPr>
      <p:cViewPr varScale="1">
        <p:scale>
          <a:sx n="95" d="100"/>
          <a:sy n="95" d="100"/>
        </p:scale>
        <p:origin x="104" y="28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828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36" d="100"/>
        <a:sy n="136" d="100"/>
      </p:scale>
      <p:origin x="0" y="0"/>
    </p:cViewPr>
  </p:sorterViewPr>
  <p:notesViewPr>
    <p:cSldViewPr>
      <p:cViewPr varScale="1">
        <p:scale>
          <a:sx n="85" d="100"/>
          <a:sy n="85" d="100"/>
        </p:scale>
        <p:origin x="2994" y="102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C67A72C1-0D2A-41F5-8ED0-3D3DC9E977B9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D1883E6-6D95-453C-9681-87383D5260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0643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2DE8C108-AB7E-41F9-BE29-EE918610279B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6455AFA1-5136-4BEA-AE07-EA9BE39431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11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建议用时：55 秒。</a:t>
            </a:r>
          </a:p>
          <a:p/>
          <a:p>
            <a:r>
              <a:t>我们的项目叫 BeliefKV，研究动态多 Agent 工作流下的 KV 缓存管理与调度。一个父 Agent 会创建子任务，也会调用外部工具；等待期间，它的 KV 可能被迁移到主机内存，恢复执行时又需要搬回 GPU。</a:t>
            </a:r>
          </a:p>
          <a:p>
            <a:r>
              <a:t>我们利用子任务收尾通知、输出正文和执行进度，估计子任务或工具何时完成。预测模块提供完成提示，运行时结合缓存副本、可用空间和执行机会，决定提前备份、预取，以及恢复后的准入。</a:t>
            </a:r>
          </a:p>
          <a:p>
            <a:r>
              <a:t>目标是减少缓存恢复等待，并让恢复好的数据尽快被执行消费，最终提高工作流吞吐、缩短完成时间。右侧展示了工作流、预测和原生执行之间的关系。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建议用时：75 秒。汇报周期为 2026 年 8 月 15 日至 10 月 11 日。</a:t>
            </a:r>
          </a:p>
          <a:p/>
          <a:p>
            <a:r>
              <a:t>这阶段的工作可以分为五段。八月下半月，我们先建立动态工作流的因果图和调度基础，接通子任务创建、JOIN，以及父任务上下文连续性。</a:t>
            </a:r>
          </a:p>
          <a:p>
            <a:r>
              <a:t>九月上中旬，接通预测性主机与 GPU 之间的 KV 迁移，并完善传输确认、缓存驻留和生命周期。九月下旬，适配 FULL 与 Mamba 混合缓存，完成轨迹采集、模型训练和项目隔离校准。</a:t>
            </a:r>
          </a:p>
          <a:p>
            <a:r>
              <a:t>随后发现，直接预测返回的墙钟时间会混入排队等待，因此转向结合收尾通知、正文语义和 decode 进度，分别估计执行阶段与剩余工作。</a:t>
            </a:r>
          </a:p>
          <a:p>
            <a:r>
              <a:t>十月以来，我们重点做原生 SGLang 对照，并优化增量备份、缺失页恢复、恢复后的执行准入，以及子任务结束后的容量交接。</a:t>
            </a:r>
          </a:p>
          <a:p>
            <a:r>
              <a:t>目前机制链路已贯通，但稳定的端到端性能优势仍需要进一步验证。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建议用时：50 秒。</a:t>
            </a:r>
          </a:p>
          <a:p/>
          <a:p>
            <a:r>
              <a:t>下月围绕端到端收益集中推进三件事。第一，提高真正有用的预取覆盖。继续优化子任务和工具完成预测，让更多缺失的 FULL 页在返回之前恢复，而且确实被下一次执行复用。</a:t>
            </a:r>
          </a:p>
          <a:p>
            <a:r>
              <a:t>第二，把恢复和调度协同起来。协调可回收容量、驻留保护与执行准入，减少恢复后等待和重复加载，同时降低控制路径的额外开销。</a:t>
            </a:r>
          </a:p>
          <a:p>
            <a:r>
              <a:t>第三，形成公平、稳定的性能证据。采用固定配置与原生 SGLang 对照，正式实验做多轮汇总，同时观察吞吐、工作流完成时间和重算。</a:t>
            </a:r>
          </a:p>
          <a:p>
            <a:r>
              <a:t>最终验收关注繁忙阶段和成功工作流的吞吐提升，以及完成时间下降，而不是只看预取次数或传输量。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2590800"/>
          </a:xfrm>
          <a:prstGeom prst="rect">
            <a:avLst/>
          </a:prstGeom>
          <a:solidFill>
            <a:srgbClr val="162A46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9400" y="304800"/>
            <a:ext cx="11473200" cy="1981200"/>
          </a:xfrm>
        </p:spPr>
        <p:txBody>
          <a:bodyPr anchor="ctr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956143"/>
            <a:ext cx="8534400" cy="2006781"/>
          </a:xfrm>
        </p:spPr>
        <p:txBody>
          <a:bodyPr>
            <a:normAutofit/>
          </a:bodyPr>
          <a:lstStyle>
            <a:lvl1pPr marL="0" indent="0" algn="ctr">
              <a:buNone/>
              <a:defRPr sz="3000" baseline="0">
                <a:solidFill>
                  <a:srgbClr val="63656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单击以编辑母版副标题样式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0"/>
          </p:nvPr>
        </p:nvSpPr>
        <p:spPr>
          <a:xfrm>
            <a:off x="3086100" y="5256000"/>
            <a:ext cx="6019800" cy="1295400"/>
          </a:xfrm>
        </p:spPr>
        <p:txBody>
          <a:bodyPr/>
          <a:lstStyle>
            <a:lvl1pPr marL="0" indent="0" algn="ctr">
              <a:buFontTx/>
              <a:buNone/>
              <a:defRPr kumimoji="0" lang="en-US" sz="2000" b="0" i="1" u="none" strike="noStrike" kern="1200" cap="none" spc="0" normalizeH="0" baseline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矩形 6"/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  <p:pic>
        <p:nvPicPr>
          <p:cNvPr id="10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68A4E8E0-956F-4B42-BCA0-C4A1FEED84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左字右图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 Semibold" charset="0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5040000" cy="432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pic>
        <p:nvPicPr>
          <p:cNvPr id="10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9DE355F3-1C7E-453F-8996-4E9C0F0CB8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全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10800000" cy="432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0FB50A6-5F13-47F8-8C74-32578AE90B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pic>
        <p:nvPicPr>
          <p:cNvPr id="11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8072A93C-11D2-4FD8-B68A-79E01FF8626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56098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左字右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 Semibold" charset="0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5040000" cy="432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C7977CF-E535-4706-A621-AB9404772C1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20000" y="1620000"/>
            <a:ext cx="5040000" cy="432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pic>
        <p:nvPicPr>
          <p:cNvPr id="10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B781631F-7FA3-48B1-B02A-BCE65DC72F1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74730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全图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pic>
        <p:nvPicPr>
          <p:cNvPr id="9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C1294E90-04DC-4A40-BC0F-CFC3C9A8C0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31256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D1DFBCB-D8A9-4C0E-856D-452D5BDC22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F3830A5-6239-4FBD-821C-0EBE607A3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ctr">
              <a:defRPr sz="4400" b="1" i="0" baseline="0">
                <a:solidFill>
                  <a:srgbClr val="162A4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pic>
        <p:nvPicPr>
          <p:cNvPr id="6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1D6838B1-EEC9-4255-AAD7-AE50C50027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1220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2590800"/>
          </a:xfrm>
          <a:prstGeom prst="rect">
            <a:avLst/>
          </a:prstGeom>
          <a:solidFill>
            <a:srgbClr val="162A46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9400" y="304800"/>
            <a:ext cx="11473200" cy="1981200"/>
          </a:xfrm>
        </p:spPr>
        <p:txBody>
          <a:bodyPr anchor="ctr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956143"/>
            <a:ext cx="8534400" cy="2006781"/>
          </a:xfrm>
        </p:spPr>
        <p:txBody>
          <a:bodyPr>
            <a:normAutofit/>
          </a:bodyPr>
          <a:lstStyle>
            <a:lvl1pPr marL="0" indent="0" algn="ctr">
              <a:buNone/>
              <a:defRPr sz="3000" baseline="0">
                <a:solidFill>
                  <a:srgbClr val="63656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单击以编辑母版副标题样式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0"/>
          </p:nvPr>
        </p:nvSpPr>
        <p:spPr>
          <a:xfrm>
            <a:off x="3086100" y="5256000"/>
            <a:ext cx="6019800" cy="1295400"/>
          </a:xfrm>
        </p:spPr>
        <p:txBody>
          <a:bodyPr/>
          <a:lstStyle>
            <a:lvl1pPr marL="0" indent="0" algn="ctr">
              <a:buFontTx/>
              <a:buNone/>
              <a:defRPr kumimoji="0" lang="en-US" sz="2000" b="0" i="1" u="none" strike="noStrike" kern="1200" cap="none" spc="0" normalizeH="0" baseline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矩形 6"/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8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左字右图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 Semibold" charset="0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5040000" cy="504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6A274AD-187A-4D93-94F5-764C8215407F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21180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全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A71D2520-8403-4383-825D-09D4403793D8}"/>
              </a:ext>
            </a:extLst>
          </p:cNvPr>
          <p:cNvSpPr/>
          <p:nvPr userDrawn="1"/>
        </p:nvSpPr>
        <p:spPr>
          <a:xfrm>
            <a:off x="11568608" y="6453336"/>
            <a:ext cx="623392" cy="40466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FB8AD1B3-C348-496E-B394-095458C50AB0}"/>
              </a:ext>
            </a:extLst>
          </p:cNvPr>
          <p:cNvSpPr txBox="1"/>
          <p:nvPr userDrawn="1"/>
        </p:nvSpPr>
        <p:spPr>
          <a:xfrm>
            <a:off x="11582424" y="6400800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2F923FAA-E6BC-4A3B-B771-C476DAE0801B}" type="slidenum">
              <a:rPr lang="en-US" sz="1800" b="0" i="0" smtClean="0">
                <a:solidFill>
                  <a:schemeClr val="tx1"/>
                </a:solidFill>
                <a:latin typeface="Myriad Pro" charset="0"/>
                <a:ea typeface="Myriad Pro" charset="0"/>
                <a:cs typeface="Myriad Pro" charset="0"/>
              </a:rPr>
              <a:pPr/>
              <a:t>‹#›</a:t>
            </a:fld>
            <a:endParaRPr lang="en-US" sz="1800" b="0" i="0" dirty="0">
              <a:solidFill>
                <a:schemeClr val="tx1"/>
              </a:solidFill>
              <a:latin typeface="Myriad Pro" charset="0"/>
              <a:ea typeface="Myriad Pro" charset="0"/>
              <a:cs typeface="Myriad Pro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D8ABD7-7FE0-40F3-AB63-F772B0B8AA7B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10800000" cy="504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0826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左字右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 Semibold" charset="0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5040000" cy="504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D31B36C-363D-477F-B81C-E3BCBAD8A703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C7977CF-E535-4706-A621-AB9404772C1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20000" y="1620000"/>
            <a:ext cx="5040000" cy="504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3342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全图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3344D62-4B6F-42F9-AA4D-8B3C4ACF68A5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931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7F201BF-3700-48EC-805B-8CA03140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ctr">
              <a:defRPr sz="4400" b="1" i="0" baseline="0">
                <a:solidFill>
                  <a:srgbClr val="162A4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CDB3E73-A622-4F77-9D65-DD58B5389B43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3343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TextBox 7"/>
          <p:cNvSpPr txBox="1"/>
          <p:nvPr userDrawn="1"/>
        </p:nvSpPr>
        <p:spPr>
          <a:xfrm>
            <a:off x="11582424" y="6400800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2F923FAA-E6BC-4A3B-B771-C476DAE0801B}" type="slidenum">
              <a:rPr lang="en-US" sz="1800" b="0" i="0" smtClean="0">
                <a:solidFill>
                  <a:schemeClr val="tx1"/>
                </a:solidFill>
                <a:latin typeface="Myriad Pro" charset="0"/>
                <a:ea typeface="Myriad Pro" charset="0"/>
                <a:cs typeface="Myriad Pro" charset="0"/>
              </a:rPr>
              <a:pPr/>
              <a:t>‹#›</a:t>
            </a:fld>
            <a:endParaRPr lang="en-US" sz="1800" b="0" i="0" dirty="0">
              <a:solidFill>
                <a:schemeClr val="tx1"/>
              </a:solidFill>
              <a:latin typeface="Myriad Pro" charset="0"/>
              <a:ea typeface="Myriad Pro" charset="0"/>
              <a:cs typeface="Myriad Pro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7" r:id="rId2"/>
    <p:sldLayoutId id="2147483670" r:id="rId3"/>
    <p:sldLayoutId id="2147483671" r:id="rId4"/>
    <p:sldLayoutId id="2147483672" r:id="rId5"/>
    <p:sldLayoutId id="2147483668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3" r:id="rId12"/>
  </p:sldLayoutIdLst>
  <p:hf hdr="0" ftr="0" dt="0"/>
  <p:txStyles>
    <p:titleStyle>
      <a:lvl1pPr algn="ctr" defTabSz="914377" rtl="0" eaLnBrk="1" latinLnBrk="0" hangingPunct="1">
        <a:spcBef>
          <a:spcPct val="0"/>
        </a:spcBef>
        <a:buNone/>
        <a:defRPr sz="4400" b="1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1pPr>
    </p:titleStyle>
    <p:bodyStyle>
      <a:lvl1pPr marL="342891" indent="-342891" algn="l" defTabSz="914377" rtl="0" eaLnBrk="1" latinLnBrk="0" hangingPunct="1">
        <a:spcBef>
          <a:spcPct val="20000"/>
        </a:spcBef>
        <a:buFont typeface="Arial" pitchFamily="34" charset="0"/>
        <a:buChar char="•"/>
        <a:defRPr sz="3200" b="0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1pPr>
      <a:lvl2pPr marL="742932" indent="-285744" algn="l" defTabSz="914377" rtl="0" eaLnBrk="1" latinLnBrk="0" hangingPunct="1">
        <a:spcBef>
          <a:spcPct val="20000"/>
        </a:spcBef>
        <a:buFont typeface="Arial" pitchFamily="34" charset="0"/>
        <a:buChar char="–"/>
        <a:defRPr sz="2800" b="0" i="0" kern="1200" baseline="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2pPr>
      <a:lvl3pPr marL="1142971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400" b="0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3pPr>
      <a:lvl4pPr marL="1600160" indent="-228594" algn="l" defTabSz="914377" rtl="0" eaLnBrk="1" latinLnBrk="0" hangingPunct="1">
        <a:spcBef>
          <a:spcPct val="20000"/>
        </a:spcBef>
        <a:buFont typeface="Arial" pitchFamily="34" charset="0"/>
        <a:buChar char="–"/>
        <a:defRPr sz="2000" b="0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4pPr>
      <a:lvl5pPr marL="2057349" indent="-228594" algn="l" defTabSz="914377" rtl="0" eaLnBrk="1" latinLnBrk="0" hangingPunct="1">
        <a:spcBef>
          <a:spcPct val="20000"/>
        </a:spcBef>
        <a:buFont typeface="Arial" pitchFamily="34" charset="0"/>
        <a:buChar char="»"/>
        <a:defRPr sz="2000" b="0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5pPr>
      <a:lvl6pPr marL="2514537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 lang="zh-CN" spc="0">
                <a:solidFill>
                  <a:srgbClr val="FFFFFF"/>
                </a:solidFill>
                <a:latin typeface="微软雅黑"/>
                <a:ea typeface="微软雅黑"/>
              </a:rPr>
              <a:t>项目介绍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23760" y="621792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596875"/>
                </a:solidFill>
                <a:latin typeface="微软雅黑"/>
                <a:ea typeface="微软雅黑"/>
              </a:rPr>
              <a:t>BeliefKV  |  2026.08.15 - 2026.10.11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27632"/>
            <a:ext cx="3886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1" lang="zh-CN" spc="0">
                <a:solidFill>
                  <a:srgbClr val="01639C"/>
                </a:solidFill>
                <a:latin typeface="微软雅黑"/>
                <a:ea typeface="微软雅黑"/>
              </a:rPr>
              <a:t>BeliefKV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162A46"/>
                </a:solidFill>
                <a:latin typeface="微软雅黑"/>
                <a:ea typeface="微软雅黑"/>
              </a:rPr>
              <a:t>动态 Agent 工作流的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162A46"/>
                </a:solidFill>
                <a:latin typeface="微软雅黑"/>
                <a:ea typeface="微软雅黑"/>
              </a:rPr>
              <a:t>预测式 KV 管理与调度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2724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lang="zh-CN" spc="0">
                <a:solidFill>
                  <a:srgbClr val="01639C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3127248"/>
            <a:ext cx="332841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zh-CN" spc="0">
                <a:solidFill>
                  <a:srgbClr val="162A46"/>
                </a:solidFill>
                <a:latin typeface="微软雅黑"/>
                <a:ea typeface="微软雅黑"/>
              </a:rPr>
              <a:t>子任务与工具等待交错，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zh-CN" spc="0">
                <a:solidFill>
                  <a:srgbClr val="162A46"/>
                </a:solidFill>
                <a:latin typeface="微软雅黑"/>
                <a:ea typeface="微软雅黑"/>
              </a:rPr>
              <a:t>KV 在 HBM / Host 间迁移。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lang="zh-CN" spc="0">
                <a:solidFill>
                  <a:srgbClr val="01639C"/>
                </a:solidFill>
                <a:latin typeface="微软雅黑"/>
                <a:ea typeface="微软雅黑"/>
              </a:rPr>
              <a:t>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4069080"/>
            <a:ext cx="332841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zh-CN" spc="0">
                <a:solidFill>
                  <a:srgbClr val="162A46"/>
                </a:solidFill>
                <a:latin typeface="微软雅黑"/>
                <a:ea typeface="微软雅黑"/>
              </a:rPr>
              <a:t>观测收尾信号，提前准备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zh-CN" spc="0">
                <a:solidFill>
                  <a:srgbClr val="162A46"/>
                </a:solidFill>
                <a:latin typeface="微软雅黑"/>
                <a:ea typeface="微软雅黑"/>
              </a:rPr>
              <a:t>下一次执行所需的 KV。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109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lang="zh-CN" spc="0">
                <a:solidFill>
                  <a:srgbClr val="01639C"/>
                </a:solidFill>
                <a:latin typeface="微软雅黑"/>
                <a:ea typeface="微软雅黑"/>
              </a:rPr>
              <a:t>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5010912"/>
            <a:ext cx="332841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zh-CN" spc="0">
                <a:solidFill>
                  <a:srgbClr val="162A46"/>
                </a:solidFill>
                <a:latin typeface="微软雅黑"/>
                <a:ea typeface="微软雅黑"/>
              </a:rPr>
              <a:t>减少恢复等待，提高吞吐，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zh-CN" spc="0">
                <a:solidFill>
                  <a:srgbClr val="162A46"/>
                </a:solidFill>
                <a:latin typeface="微软雅黑"/>
                <a:ea typeface="微软雅黑"/>
              </a:rPr>
              <a:t>缩短工作流完成时间。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02352" y="1737360"/>
            <a:ext cx="6473952" cy="1005840"/>
          </a:xfrm>
          <a:prstGeom prst="rect">
            <a:avLst/>
          </a:prstGeom>
          <a:solidFill>
            <a:srgbClr val="EFF5FA"/>
          </a:solidFill>
          <a:ln w="12700">
            <a:solidFill>
              <a:srgbClr val="ADC5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2" y="1883664"/>
            <a:ext cx="609904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lang="zh-CN" spc="0">
                <a:solidFill>
                  <a:srgbClr val="01639C"/>
                </a:solidFill>
                <a:latin typeface="微软雅黑"/>
                <a:ea typeface="微软雅黑"/>
              </a:rPr>
              <a:t>动态工作流：子任务与工具调用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0952" y="2313432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zh-CN" spc="0">
                <a:solidFill>
                  <a:srgbClr val="162A46"/>
                </a:solidFill>
                <a:latin typeface="微软雅黑"/>
                <a:ea typeface="微软雅黑"/>
              </a:rPr>
              <a:t>父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8584" y="2313432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zh-CN" spc="0">
                <a:solidFill>
                  <a:srgbClr val="162A46"/>
                </a:solidFill>
                <a:latin typeface="微软雅黑"/>
                <a:ea typeface="微软雅黑"/>
              </a:rPr>
              <a:t>子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6" y="2313432"/>
            <a:ext cx="102412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zh-CN" spc="0">
                <a:solidFill>
                  <a:srgbClr val="162A46"/>
                </a:solidFill>
                <a:latin typeface="微软雅黑"/>
                <a:ea typeface="微软雅黑"/>
              </a:rPr>
              <a:t>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04120" y="2313432"/>
            <a:ext cx="122529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zh-CN" spc="0">
                <a:solidFill>
                  <a:srgbClr val="162A46"/>
                </a:solidFill>
                <a:latin typeface="微软雅黑"/>
                <a:ea typeface="微软雅黑"/>
              </a:rPr>
              <a:t>父 Agent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19672" y="2459736"/>
            <a:ext cx="356616" cy="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147304" y="2459736"/>
            <a:ext cx="356616" cy="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674352" y="2459736"/>
            <a:ext cx="356616" cy="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29400" y="2761488"/>
            <a:ext cx="0" cy="36576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3136392"/>
            <a:ext cx="3054096" cy="1005840"/>
          </a:xfrm>
          <a:prstGeom prst="rect">
            <a:avLst/>
          </a:prstGeom>
          <a:solidFill>
            <a:srgbClr val="FBF6EB"/>
          </a:solidFill>
          <a:ln w="12700">
            <a:solidFill>
              <a:srgbClr val="D5BC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5232" y="329184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926923"/>
                </a:solidFill>
                <a:latin typeface="微软雅黑"/>
                <a:ea typeface="微软雅黑"/>
              </a:rPr>
              <a:t>完成预测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3749039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通知 / 正文 / 执行进度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02168" y="3621024"/>
            <a:ext cx="292608" cy="0"/>
          </a:xfrm>
          <a:prstGeom prst="line">
            <a:avLst/>
          </a:prstGeom>
          <a:ln w="19050">
            <a:solidFill>
              <a:srgbClr val="357B73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549640" y="3136392"/>
            <a:ext cx="3026664" cy="1005840"/>
          </a:xfrm>
          <a:prstGeom prst="rect">
            <a:avLst/>
          </a:prstGeom>
          <a:solidFill>
            <a:srgbClr val="EEF6F3"/>
          </a:solidFill>
          <a:ln w="12700">
            <a:solidFill>
              <a:srgbClr val="ABC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291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357B73"/>
                </a:solidFill>
                <a:latin typeface="微软雅黑"/>
                <a:ea typeface="微软雅黑"/>
              </a:rPr>
              <a:t>迁移与准入决策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749039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lang="zh-CN" spc="0">
                <a:solidFill>
                  <a:srgbClr val="596875"/>
                </a:solidFill>
                <a:latin typeface="微软雅黑"/>
                <a:ea typeface="微软雅黑"/>
              </a:rPr>
              <a:t>容量 / 缺失页 / 执行机会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058400" y="4160520"/>
            <a:ext cx="0" cy="329184"/>
          </a:xfrm>
          <a:prstGeom prst="line">
            <a:avLst/>
          </a:prstGeom>
          <a:ln w="19050">
            <a:solidFill>
              <a:srgbClr val="357B73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02352" y="4507992"/>
            <a:ext cx="6473952" cy="1252728"/>
          </a:xfrm>
          <a:prstGeom prst="rect">
            <a:avLst/>
          </a:prstGeom>
          <a:solidFill>
            <a:srgbClr val="FFFFFF"/>
          </a:solidFill>
          <a:ln w="12700">
            <a:solidFill>
              <a:srgbClr val="ADC5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85232" y="4636008"/>
            <a:ext cx="60990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SGLang 原生缓存与 GPU 执行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85816" y="5202936"/>
            <a:ext cx="2103120" cy="411480"/>
          </a:xfrm>
          <a:prstGeom prst="rect">
            <a:avLst/>
          </a:prstGeom>
          <a:solidFill>
            <a:srgbClr val="EFF5FA"/>
          </a:solidFill>
          <a:ln w="12700">
            <a:solidFill>
              <a:srgbClr val="ADC5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71432" y="5202936"/>
            <a:ext cx="2103120" cy="411480"/>
          </a:xfrm>
          <a:prstGeom prst="rect">
            <a:avLst/>
          </a:prstGeom>
          <a:solidFill>
            <a:srgbClr val="EEF6F3"/>
          </a:solidFill>
          <a:ln w="12700">
            <a:solidFill>
              <a:srgbClr val="ABC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77256" y="525780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GPU / HBM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2872" y="525780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357B73"/>
                </a:solidFill>
                <a:latin typeface="微软雅黑"/>
                <a:ea typeface="微软雅黑"/>
              </a:rPr>
              <a:t>CPU / Host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81544" y="502005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357B73"/>
                </a:solidFill>
                <a:latin typeface="微软雅黑"/>
                <a:ea typeface="微软雅黑"/>
              </a:rPr>
              <a:t>D2H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1544" y="558698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01639C"/>
                </a:solidFill>
                <a:latin typeface="微软雅黑"/>
                <a:ea typeface="微软雅黑"/>
              </a:rPr>
              <a:t>H2D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598664" y="5303520"/>
            <a:ext cx="1463040" cy="0"/>
          </a:xfrm>
          <a:prstGeom prst="line">
            <a:avLst/>
          </a:prstGeom>
          <a:ln w="19050">
            <a:solidFill>
              <a:srgbClr val="357B73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598664" y="5486400"/>
            <a:ext cx="1463040" cy="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285232" y="5879592"/>
            <a:ext cx="609904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按缺失页迁移，恢复后及时执行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 lang="zh-CN" spc="0">
                <a:solidFill>
                  <a:srgbClr val="FFFFFF"/>
                </a:solidFill>
                <a:latin typeface="微软雅黑"/>
                <a:ea typeface="微软雅黑"/>
              </a:rPr>
              <a:t>上月工作总结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23760" y="621792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596875"/>
                </a:solidFill>
                <a:latin typeface="微软雅黑"/>
                <a:ea typeface="微软雅黑"/>
              </a:rPr>
              <a:t>BeliefKV  |  2026.08.15 - 2026.10.11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60904" y="1856231"/>
            <a:ext cx="0" cy="3081529"/>
          </a:xfrm>
          <a:prstGeom prst="line">
            <a:avLst/>
          </a:prstGeom>
          <a:ln w="25400">
            <a:solidFill>
              <a:srgbClr val="D6DF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1792224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08.15 - 08.31</a:t>
            </a:r>
          </a:p>
        </p:txBody>
      </p:sp>
      <p:sp>
        <p:nvSpPr>
          <p:cNvPr id="6" name="Oval 5"/>
          <p:cNvSpPr/>
          <p:nvPr/>
        </p:nvSpPr>
        <p:spPr>
          <a:xfrm>
            <a:off x="2606040" y="1856232"/>
            <a:ext cx="109728" cy="109728"/>
          </a:xfrm>
          <a:prstGeom prst="ellipse">
            <a:avLst/>
          </a:prstGeom>
          <a:solidFill>
            <a:srgbClr val="016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62656" y="1645920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建立工作流与调度基础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2656" y="2039112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因果图、原生 subagent、JOIN 后 parent 上下文连续性。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560320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09.01 - 09.21</a:t>
            </a:r>
          </a:p>
        </p:txBody>
      </p:sp>
      <p:sp>
        <p:nvSpPr>
          <p:cNvPr id="10" name="Oval 9"/>
          <p:cNvSpPr/>
          <p:nvPr/>
        </p:nvSpPr>
        <p:spPr>
          <a:xfrm>
            <a:off x="2606040" y="2624328"/>
            <a:ext cx="109728" cy="109728"/>
          </a:xfrm>
          <a:prstGeom prst="ellipse">
            <a:avLst/>
          </a:prstGeom>
          <a:solidFill>
            <a:srgbClr val="016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2656" y="2414016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贯通预测式 KV 迁移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2807208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接通 D2H / H2D、传输确认、驻留与生命周期管理。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328416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09.22 - 09.27</a:t>
            </a:r>
          </a:p>
        </p:txBody>
      </p:sp>
      <p:sp>
        <p:nvSpPr>
          <p:cNvPr id="14" name="Oval 13"/>
          <p:cNvSpPr/>
          <p:nvPr/>
        </p:nvSpPr>
        <p:spPr>
          <a:xfrm>
            <a:off x="2606040" y="3392424"/>
            <a:ext cx="109728" cy="109728"/>
          </a:xfrm>
          <a:prstGeom prst="ellipse">
            <a:avLst/>
          </a:prstGeom>
          <a:solidFill>
            <a:srgbClr val="016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3182112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完成混合缓存适配与离线建模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3575304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适配 FULL / Mamba；完成 trace 采集、训练与项目隔离校准。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96512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09.28 - 10.04</a:t>
            </a:r>
          </a:p>
        </p:txBody>
      </p:sp>
      <p:sp>
        <p:nvSpPr>
          <p:cNvPr id="18" name="Oval 17"/>
          <p:cNvSpPr/>
          <p:nvPr/>
        </p:nvSpPr>
        <p:spPr>
          <a:xfrm>
            <a:off x="2606040" y="4160520"/>
            <a:ext cx="109728" cy="109728"/>
          </a:xfrm>
          <a:prstGeom prst="ellipse">
            <a:avLst/>
          </a:prstGeom>
          <a:solidFill>
            <a:srgbClr val="016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62656" y="3950208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转向事件与内容驱动的预测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2656" y="4343400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结合通知、正文和 decode 进度，拆分剩余工作与排队等待。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864608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357B73"/>
                </a:solidFill>
                <a:latin typeface="微软雅黑"/>
                <a:ea typeface="微软雅黑"/>
              </a:rPr>
              <a:t>10.05 - 10.11</a:t>
            </a:r>
          </a:p>
        </p:txBody>
      </p:sp>
      <p:sp>
        <p:nvSpPr>
          <p:cNvPr id="22" name="Oval 21"/>
          <p:cNvSpPr/>
          <p:nvPr/>
        </p:nvSpPr>
        <p:spPr>
          <a:xfrm>
            <a:off x="2606040" y="4928616"/>
            <a:ext cx="109728" cy="109728"/>
          </a:xfrm>
          <a:prstGeom prst="ellipse">
            <a:avLst/>
          </a:prstGeom>
          <a:solidFill>
            <a:srgbClr val="357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62656" y="4718304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357B73"/>
                </a:solidFill>
                <a:latin typeface="微软雅黑"/>
                <a:ea typeface="微软雅黑"/>
              </a:rPr>
              <a:t>推进原生对照与系统性能优化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2656" y="5111496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优化增量备份、缺失页恢复、恢复后准入和 child 容量交接。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5559552"/>
            <a:ext cx="10707624" cy="0"/>
          </a:xfrm>
          <a:prstGeom prst="line">
            <a:avLst/>
          </a:prstGeom>
          <a:ln w="19050">
            <a:solidFill>
              <a:srgbClr val="D6DF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5715000"/>
            <a:ext cx="107076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162A46"/>
                </a:solidFill>
                <a:latin typeface="微软雅黑"/>
                <a:ea typeface="微软雅黑"/>
              </a:rPr>
              <a:t>目前：机制链路已贯通，稳定的端到端性能优势仍待验证。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 lang="zh-CN" spc="0">
                <a:solidFill>
                  <a:srgbClr val="FFFFFF"/>
                </a:solidFill>
                <a:latin typeface="微软雅黑"/>
                <a:ea typeface="微软雅黑"/>
              </a:rPr>
              <a:t>下月目标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23760" y="621792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596875"/>
                </a:solidFill>
                <a:latin typeface="微软雅黑"/>
                <a:ea typeface="微软雅黑"/>
              </a:rPr>
              <a:t>BeliefKV  |  2026.08.15 - 2026.10.11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09928"/>
            <a:ext cx="107259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lang="zh-CN" spc="0">
                <a:solidFill>
                  <a:srgbClr val="01639C"/>
                </a:solidFill>
                <a:latin typeface="微软雅黑"/>
                <a:ea typeface="微软雅黑"/>
              </a:rPr>
              <a:t>聚焦：让预测式 KV 迁移带来可验证的端到端收益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514600"/>
            <a:ext cx="6675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zh-CN" spc="0">
                <a:solidFill>
                  <a:srgbClr val="01639C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0784" y="2532888"/>
            <a:ext cx="969264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lang="zh-CN" spc="0">
                <a:solidFill>
                  <a:srgbClr val="162A46"/>
                </a:solidFill>
                <a:latin typeface="微软雅黑"/>
                <a:ea typeface="微软雅黑"/>
              </a:rPr>
              <a:t>提高有效预取覆盖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3017520"/>
            <a:ext cx="969264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zh-CN" spc="0">
                <a:solidFill>
                  <a:srgbClr val="596875"/>
                </a:solidFill>
                <a:latin typeface="微软雅黑"/>
                <a:ea typeface="微软雅黑"/>
              </a:rPr>
              <a:t>优化 child / tool 完成预测，让更多缺失 FULL 页在返回前恢复并被复用。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520440"/>
            <a:ext cx="6675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zh-CN" spc="0">
                <a:solidFill>
                  <a:srgbClr val="01639C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3538728"/>
            <a:ext cx="969264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lang="zh-CN" spc="0">
                <a:solidFill>
                  <a:srgbClr val="162A46"/>
                </a:solidFill>
                <a:latin typeface="微软雅黑"/>
                <a:ea typeface="微软雅黑"/>
              </a:rPr>
              <a:t>恢复与调度协同，降低额外开销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4023360"/>
            <a:ext cx="969264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zh-CN" spc="0">
                <a:solidFill>
                  <a:srgbClr val="596875"/>
                </a:solidFill>
                <a:latin typeface="微软雅黑"/>
                <a:ea typeface="微软雅黑"/>
              </a:rPr>
              <a:t>协调容量回收、驻留和准入，减少重复加载、恢复后排队与控制成本。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26280"/>
            <a:ext cx="6675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zh-CN" spc="0">
                <a:solidFill>
                  <a:srgbClr val="01639C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4544568"/>
            <a:ext cx="969264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lang="zh-CN" spc="0">
                <a:solidFill>
                  <a:srgbClr val="162A46"/>
                </a:solidFill>
                <a:latin typeface="微软雅黑"/>
                <a:ea typeface="微软雅黑"/>
              </a:rPr>
              <a:t>建立公平、稳定的性能证据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0784" y="5029200"/>
            <a:ext cx="969264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zh-CN" spc="0">
                <a:solidFill>
                  <a:srgbClr val="596875"/>
                </a:solidFill>
                <a:latin typeface="微软雅黑"/>
                <a:ea typeface="微软雅黑"/>
              </a:rPr>
              <a:t>固定配置对比原生 SGLang，多轮汇总吞吐、完成时间与重算情况。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559552"/>
            <a:ext cx="10707624" cy="0"/>
          </a:xfrm>
          <a:prstGeom prst="line">
            <a:avLst/>
          </a:prstGeom>
          <a:ln w="19050">
            <a:solidFill>
              <a:srgbClr val="D6DF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715000"/>
            <a:ext cx="107076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lang="zh-CN" spc="0">
                <a:solidFill>
                  <a:srgbClr val="357B73"/>
                </a:solidFill>
                <a:latin typeface="微软雅黑"/>
                <a:ea typeface="微软雅黑"/>
              </a:rPr>
              <a:t>验收：提高繁忙窗口与成功工作流吞吐，同时降低完成时间。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UCSD Colors">
      <a:dk1>
        <a:srgbClr val="162A46"/>
      </a:dk1>
      <a:lt1>
        <a:srgbClr val="FFFFFF"/>
      </a:lt1>
      <a:dk2>
        <a:srgbClr val="01639C"/>
      </a:dk2>
      <a:lt2>
        <a:srgbClr val="FFFFFF"/>
      </a:lt2>
      <a:accent1>
        <a:srgbClr val="23B8D1"/>
      </a:accent1>
      <a:accent2>
        <a:srgbClr val="73953E"/>
      </a:accent2>
      <a:accent3>
        <a:srgbClr val="FEE70C"/>
      </a:accent3>
      <a:accent4>
        <a:srgbClr val="EE8F00"/>
      </a:accent4>
      <a:accent5>
        <a:srgbClr val="B3ACA3"/>
      </a:accent5>
      <a:accent6>
        <a:srgbClr val="C79100"/>
      </a:accent6>
      <a:hlink>
        <a:srgbClr val="0329D7"/>
      </a:hlink>
      <a:folHlink>
        <a:srgbClr val="0229D7"/>
      </a:folHlink>
    </a:clrScheme>
    <a:fontScheme name="雅黑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2F5A96"/>
        </a:solidFill>
        <a:ln w="19050">
          <a:noFill/>
        </a:ln>
      </a:spPr>
      <a:bodyPr rtlCol="0" anchor="ctr"/>
      <a:lstStyle>
        <a:defPPr algn="ctr">
          <a:defRPr sz="16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0" cap="rnd">
          <a:solidFill>
            <a:schemeClr val="tx1">
              <a:lumMod val="75000"/>
              <a:lumOff val="25000"/>
            </a:schemeClr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NVSL Theme 2017" id="{DE8EA867-0853-494F-A09B-B10C013CFBD5}" vid="{D842794D-E2C9-9E4F-BE0C-DC063DA5B8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>
  <documentManagement>
    <EmailTo xmlns="http://schemas.microsoft.com/sharepoint/v3">docs@archpoint.sctechies.com &amp;lt;docs@archpoint.sctechies.com&amp;gt;</EmailTo>
    <EmailSender xmlns="http://schemas.microsoft.com/sharepoint/v3">&lt;a href="mailto:acaulfie@cs.ucsd.edu"&gt;acaulfie@cs.ucsd.edu&lt;/a&gt;</EmailSender>
    <EmailFrom xmlns="http://schemas.microsoft.com/sharepoint/v3">Adrian Caulfield &lt;acaulfie@cs.ucsd.edu&gt;</EmailFrom>
    <EmailSubject xmlns="http://schemas.microsoft.com/sharepoint/v3">NVSL Slides Template</EmailSubject>
    <EmailCc xmlns="http://schemas.microsoft.com/sharepoint/v3" xsi:nil="true"/>
    <PublishingExpirationDate xmlns="http://schemas.microsoft.com/sharepoint/v3" xsi:nil="true"/>
    <PublishingStartDate xmlns="http://schemas.microsoft.com/sharepoint/v3" xsi:nil="true"/>
    <_dlc_DocId xmlns="38f6e7a2-40cf-4302-a1d0-9363e537b5a7">N65K4UY2P6DZ-8-1712</_dlc_DocId>
    <_dlc_DocIdUrl xmlns="38f6e7a2-40cf-4302-a1d0-9363e537b5a7">
      <Url>http://bit.ucsd.edu/Docs/_layouts/DocIdRedir.aspx?ID=N65K4UY2P6DZ-8-1712</Url>
      <Description>N65K4UY2P6DZ-8-1712</Description>
    </_dlc_DocIdUrl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3DBABC677EAC4EB89D0E5813CE1C97" ma:contentTypeVersion="6" ma:contentTypeDescription="Create a new document." ma:contentTypeScope="" ma:versionID="358351ca2fb9834b45991cd07a49fd66">
  <xsd:schema xmlns:xsd="http://www.w3.org/2001/XMLSchema" xmlns:xs="http://www.w3.org/2001/XMLSchema" xmlns:p="http://schemas.microsoft.com/office/2006/metadata/properties" xmlns:ns1="http://schemas.microsoft.com/sharepoint/v3" xmlns:ns2="38f6e7a2-40cf-4302-a1d0-9363e537b5a7" targetNamespace="http://schemas.microsoft.com/office/2006/metadata/properties" ma:root="true" ma:fieldsID="4bd887af3a8eb19969b1c3516fc1fc7f" ns1:_="" ns2:_="">
    <xsd:import namespace="http://schemas.microsoft.com/sharepoint/v3"/>
    <xsd:import namespace="38f6e7a2-40cf-4302-a1d0-9363e537b5a7"/>
    <xsd:element name="properties">
      <xsd:complexType>
        <xsd:sequence>
          <xsd:element name="documentManagement">
            <xsd:complexType>
              <xsd:all>
                <xsd:element ref="ns1:EmailSender" minOccurs="0"/>
                <xsd:element ref="ns1:EmailTo" minOccurs="0"/>
                <xsd:element ref="ns1:EmailCc" minOccurs="0"/>
                <xsd:element ref="ns1:EmailFrom" minOccurs="0"/>
                <xsd:element ref="ns1:EmailSubject" minOccurs="0"/>
                <xsd:element ref="ns1:PublishingStartDate" minOccurs="0"/>
                <xsd:element ref="ns1:PublishingExpirationDate" minOccurs="0"/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EmailSender" ma:index="8" nillable="true" ma:displayName="E-Mail Sender" ma:hidden="true" ma:internalName="EmailSender">
      <xsd:simpleType>
        <xsd:restriction base="dms:Note">
          <xsd:maxLength value="255"/>
        </xsd:restriction>
      </xsd:simpleType>
    </xsd:element>
    <xsd:element name="EmailTo" ma:index="9" nillable="true" ma:displayName="E-Mail To" ma:hidden="true" ma:internalName="EmailTo">
      <xsd:simpleType>
        <xsd:restriction base="dms:Note">
          <xsd:maxLength value="255"/>
        </xsd:restriction>
      </xsd:simpleType>
    </xsd:element>
    <xsd:element name="EmailCc" ma:index="10" nillable="true" ma:displayName="E-Mail Cc" ma:hidden="true" ma:internalName="EmailCc">
      <xsd:simpleType>
        <xsd:restriction base="dms:Note">
          <xsd:maxLength value="255"/>
        </xsd:restriction>
      </xsd:simpleType>
    </xsd:element>
    <xsd:element name="EmailFrom" ma:index="11" nillable="true" ma:displayName="E-Mail From" ma:hidden="true" ma:internalName="EmailFrom">
      <xsd:simpleType>
        <xsd:restriction base="dms:Text"/>
      </xsd:simpleType>
    </xsd:element>
    <xsd:element name="EmailSubject" ma:index="12" nillable="true" ma:displayName="E-Mail Subject" ma:hidden="true" ma:internalName="EmailSubject">
      <xsd:simpleType>
        <xsd:restriction base="dms:Text"/>
      </xsd:simpleType>
    </xsd:element>
    <xsd:element name="PublishingStartDate" ma:index="13" nillable="true" ma:displayName="Scheduling Start Date" ma:internalName="PublishingStartDate">
      <xsd:simpleType>
        <xsd:restriction base="dms:Unknown"/>
      </xsd:simpleType>
    </xsd:element>
    <xsd:element name="PublishingExpirationDate" ma:index="14" nillable="true" ma:displayName="Scheduling End Dat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f6e7a2-40cf-4302-a1d0-9363e537b5a7" elementFormDefault="qualified">
    <xsd:import namespace="http://schemas.microsoft.com/office/2006/documentManagement/types"/>
    <xsd:import namespace="http://schemas.microsoft.com/office/infopath/2007/PartnerControls"/>
    <xsd:element name="_dlc_DocId" ma:index="15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16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7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F4E55384-0535-4827-BEC9-C0AA0AB52BCA}">
  <ds:schemaRefs>
    <ds:schemaRef ds:uri="http://schemas.microsoft.com/office/2006/metadata/properties"/>
    <ds:schemaRef ds:uri="http://schemas.microsoft.com/sharepoint/v3"/>
    <ds:schemaRef ds:uri="38f6e7a2-40cf-4302-a1d0-9363e537b5a7"/>
  </ds:schemaRefs>
</ds:datastoreItem>
</file>

<file path=customXml/itemProps2.xml><?xml version="1.0" encoding="utf-8"?>
<ds:datastoreItem xmlns:ds="http://schemas.openxmlformats.org/officeDocument/2006/customXml" ds:itemID="{D0700612-5548-4C5F-B85B-1C0CBC7D8F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8f6e7a2-40cf-4302-a1d0-9363e537b5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FB7DEAC-7366-45DE-8D92-51FE4698563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BF90320-62F0-4599-85DC-D14AF5AC78B4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16392</TotalTime>
  <Words>274</Words>
  <Application>Microsoft Office PowerPoint</Application>
  <PresentationFormat>宽屏</PresentationFormat>
  <Paragraphs>26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Myriad Pro</vt:lpstr>
      <vt:lpstr>黑体</vt:lpstr>
      <vt:lpstr>微软雅黑</vt:lpstr>
      <vt:lpstr>Arial</vt:lpstr>
      <vt:lpstr>Calibri</vt:lpstr>
      <vt:lpstr>Office 主题​​</vt:lpstr>
      <vt:lpstr>朱龙浩月度汇报</vt:lpstr>
      <vt:lpstr>上月总结</vt:lpstr>
      <vt:lpstr>关键进展</vt:lpstr>
      <vt:lpstr>下月目标</vt:lpstr>
    </vt:vector>
  </TitlesOfParts>
  <Company>Shanghai Jiao Tong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BeliefKV 月度汇报</dc:title>
  <dc:creator>Zheng, Shengan</dc:creator>
  <cp:lastModifiedBy>龙浩 朱</cp:lastModifiedBy>
  <cp:revision>770</cp:revision>
  <cp:lastPrinted>2017-05-11T20:43:55Z</cp:lastPrinted>
  <dcterms:created xsi:type="dcterms:W3CDTF">2017-10-16T21:31:54Z</dcterms:created>
  <dcterms:modified xsi:type="dcterms:W3CDTF">2026-10-11T10:37:08Z</dcterms:modified>
  <dc:subject>2026 年 8 月 15 日至 10 月 11 日</dc:subject>
  <cp:keywords>BeliefKV, 动态 Agent, KV 缓存, 预测式调度</cp:keywords>
  <dc:description>三页正文；演讲者备注合计约三分钟。</dc:descript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0x0101002F3DBABC677EAC4EB89D0E5813CE1C97</vt:lpwstr>
  </property>
  <property fmtid="{D5CDD505-2E9C-101B-9397-08002B2CF9AE}" pid="3" name="_dlc_DocIdItemGuid">
    <vt:lpwstr>672fea0e-6365-4b73-84cc-a1c7a9616c94</vt:lpwstr>
  </property>
</Properties>
</file>