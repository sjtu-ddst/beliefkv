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54315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黑色圆圈标在执行箭头上。①将唯一未返回的 C2 绑定到等待中的 P，C1 已返回。②独立 CPU worker 根据已送达正文、通知与生成进度推断最终阶段置信度和条件剩余 token。③扣除预测快照之后新增的进度，滚动更新当前剩余工作，再结合观测有效速率换算时机。简式中的 W 已是更新后的剩余工作，不能重复扣除。0.5/2/5 秒速率包含已发生的服务间隙，未来排队不是在线输入；进度箭头表示滚动更新。④将候选身份与时机交给 D3。工具路径独立根据历史、已耗时及仍未结束这一条件估计 TOOL_END，并绑定工具所属 agent A；不经过内容模型。在线工具迁移路径至多处理一个活跃调用。主图省略编码器内部结构，分数和区间均为机制示意。NOTICE、EOS 与预测不直接满足 JOIN，也不授权 H2D；当前内容 JOIN 路径要求唯一未返回 child，工作区间不代表已校准的多 child JOIN 墙钟分布。代码：causal_graph.py、child_semantic_work.py、conditional_work.py、project_tool_history.py、semantic_report_worker.py 与 runtime 的语义/工具路径。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1"/>
          <p:cNvSpPr txBox="1"/>
          <p:nvPr/>
        </p:nvSpPr>
        <p:spPr>
          <a:xfrm>
            <a:off x="263328" y="57801"/>
            <a:ext cx="431380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D1</a:t>
            </a:r>
          </a:p>
        </p:txBody>
      </p:sp>
      <p:sp>
        <p:nvSpPr>
          <p:cNvPr id="3" name="从完成信号推断近期执行需求"/>
          <p:cNvSpPr txBox="1"/>
          <p:nvPr/>
        </p:nvSpPr>
        <p:spPr>
          <a:xfrm>
            <a:off x="888732" y="57801"/>
            <a:ext cx="3415035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从完成信号推断近期执行需求</a:t>
            </a:r>
          </a:p>
        </p:txBody>
      </p:sp>
      <p:sp>
        <p:nvSpPr>
          <p:cNvPr id="4" name="rect 3"/>
          <p:cNvSpPr/>
          <p:nvPr/>
        </p:nvSpPr>
        <p:spPr>
          <a:xfrm>
            <a:off x="5406453" y="1448502"/>
            <a:ext cx="1892670" cy="2427555"/>
          </a:xfrm>
          <a:prstGeom prst="roundRect">
            <a:avLst>
              <a:gd name="adj" fmla="val 3478"/>
            </a:avLst>
          </a:prstGeom>
          <a:solidFill>
            <a:srgbClr val="DCEAF7"/>
          </a:solidFill>
          <a:ln w="13167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4"/>
          <p:cNvSpPr/>
          <p:nvPr/>
        </p:nvSpPr>
        <p:spPr>
          <a:xfrm>
            <a:off x="320931" y="1588395"/>
            <a:ext cx="411450" cy="411450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"/>
          <p:cNvSpPr txBox="1"/>
          <p:nvPr/>
        </p:nvSpPr>
        <p:spPr>
          <a:xfrm>
            <a:off x="408669" y="1625426"/>
            <a:ext cx="23597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</a:t>
            </a:r>
          </a:p>
        </p:txBody>
      </p:sp>
      <p:sp>
        <p:nvSpPr>
          <p:cNvPr id="7" name="circle 6"/>
          <p:cNvSpPr/>
          <p:nvPr/>
        </p:nvSpPr>
        <p:spPr>
          <a:xfrm>
            <a:off x="1250808" y="938304"/>
            <a:ext cx="411450" cy="411450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1"/>
          <p:cNvSpPr txBox="1"/>
          <p:nvPr/>
        </p:nvSpPr>
        <p:spPr>
          <a:xfrm>
            <a:off x="1278999" y="975334"/>
            <a:ext cx="35506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C1</a:t>
            </a:r>
          </a:p>
        </p:txBody>
      </p:sp>
      <p:sp>
        <p:nvSpPr>
          <p:cNvPr id="9" name="circle 8"/>
          <p:cNvSpPr/>
          <p:nvPr/>
        </p:nvSpPr>
        <p:spPr>
          <a:xfrm>
            <a:off x="1250808" y="2254944"/>
            <a:ext cx="411450" cy="411450"/>
          </a:xfrm>
          <a:prstGeom prst="ellipse">
            <a:avLst/>
          </a:prstGeom>
          <a:solidFill>
            <a:srgbClr val="F6C6AD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2"/>
          <p:cNvSpPr txBox="1"/>
          <p:nvPr/>
        </p:nvSpPr>
        <p:spPr>
          <a:xfrm>
            <a:off x="1278999" y="2291974"/>
            <a:ext cx="35506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C2</a:t>
            </a:r>
          </a:p>
        </p:txBody>
      </p:sp>
      <p:sp>
        <p:nvSpPr>
          <p:cNvPr id="11" name="path 10"/>
          <p:cNvSpPr/>
          <p:nvPr/>
        </p:nvSpPr>
        <p:spPr>
          <a:xfrm>
            <a:off x="1703403" y="905190"/>
            <a:ext cx="156351" cy="156351"/>
          </a:xfrm>
          <a:custGeom>
            <a:avLst/>
            <a:gdLst/>
            <a:ahLst/>
            <a:cxnLst/>
            <a:rect l="l" t="t" r="r" b="b"/>
            <a:pathLst>
              <a:path w="19" h="19">
                <a:moveTo>
                  <a:pt x="0" y="10"/>
                </a:moveTo>
                <a:lnTo>
                  <a:pt x="7" y="19"/>
                </a:lnTo>
                <a:lnTo>
                  <a:pt x="19" y="0"/>
                </a:lnTo>
              </a:path>
            </a:pathLst>
          </a:custGeom>
          <a:noFill/>
          <a:ln w="2304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ygon 11"/>
          <p:cNvSpPr/>
          <p:nvPr/>
        </p:nvSpPr>
        <p:spPr>
          <a:xfrm>
            <a:off x="2106624" y="1514136"/>
            <a:ext cx="707694" cy="567801"/>
          </a:xfrm>
          <a:custGeom>
            <a:avLst/>
            <a:gdLst/>
            <a:ahLst/>
            <a:cxnLst/>
            <a:rect l="l" t="t" r="r" b="b"/>
            <a:pathLst>
              <a:path w="86" h="69">
                <a:moveTo>
                  <a:pt x="43" y="0"/>
                </a:moveTo>
                <a:lnTo>
                  <a:pt x="86" y="34"/>
                </a:lnTo>
                <a:lnTo>
                  <a:pt x="43" y="69"/>
                </a:lnTo>
                <a:lnTo>
                  <a:pt x="0" y="34"/>
                </a:lnTo>
                <a:close/>
              </a:path>
            </a:pathLst>
          </a:custGeom>
          <a:solidFill>
            <a:srgbClr val="FFFFFF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LL"/>
          <p:cNvSpPr txBox="1"/>
          <p:nvPr/>
        </p:nvSpPr>
        <p:spPr>
          <a:xfrm>
            <a:off x="2226266" y="1629540"/>
            <a:ext cx="468410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ALL</a:t>
            </a:r>
          </a:p>
        </p:txBody>
      </p:sp>
      <p:cxnSp>
        <p:nvCxnSpPr>
          <p:cNvPr id="14" name="path 13"/>
          <p:cNvCxnSpPr/>
          <p:nvPr/>
        </p:nvCxnSpPr>
        <p:spPr>
          <a:xfrm flipV="1">
            <a:off x="748839" y="1292151"/>
            <a:ext cx="477282" cy="353847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path 14"/>
          <p:cNvCxnSpPr/>
          <p:nvPr/>
        </p:nvCxnSpPr>
        <p:spPr>
          <a:xfrm flipV="1">
            <a:off x="748839" y="1292151"/>
            <a:ext cx="477282" cy="353847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head 15"/>
          <p:cNvSpPr/>
          <p:nvPr/>
        </p:nvSpPr>
        <p:spPr>
          <a:xfrm>
            <a:off x="1061541" y="1291953"/>
            <a:ext cx="164580" cy="14812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20" y="0"/>
                </a:moveTo>
                <a:lnTo>
                  <a:pt x="11" y="18"/>
                </a:lnTo>
                <a:lnTo>
                  <a:pt x="0" y="4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path 16"/>
          <p:cNvCxnSpPr/>
          <p:nvPr/>
        </p:nvCxnSpPr>
        <p:spPr>
          <a:xfrm>
            <a:off x="748839" y="1950471"/>
            <a:ext cx="477282" cy="370305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th 17"/>
          <p:cNvCxnSpPr/>
          <p:nvPr/>
        </p:nvCxnSpPr>
        <p:spPr>
          <a:xfrm>
            <a:off x="748839" y="1950471"/>
            <a:ext cx="477282" cy="370305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head 18"/>
          <p:cNvSpPr/>
          <p:nvPr/>
        </p:nvSpPr>
        <p:spPr>
          <a:xfrm>
            <a:off x="1061541" y="2172456"/>
            <a:ext cx="164580" cy="14812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20" y="18"/>
                </a:moveTo>
                <a:lnTo>
                  <a:pt x="0" y="14"/>
                </a:lnTo>
                <a:lnTo>
                  <a:pt x="11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urve 19"/>
          <p:cNvSpPr/>
          <p:nvPr/>
        </p:nvSpPr>
        <p:spPr>
          <a:xfrm>
            <a:off x="1686945" y="1143831"/>
            <a:ext cx="427908" cy="485511"/>
          </a:xfrm>
          <a:custGeom>
            <a:avLst/>
            <a:gdLst/>
            <a:ahLst/>
            <a:cxnLst/>
            <a:rect l="l" t="t" r="r" b="b"/>
            <a:pathLst>
              <a:path w="52" h="59">
                <a:moveTo>
                  <a:pt x="0" y="0"/>
                </a:moveTo>
                <a:cubicBezTo>
                  <a:pt x="39" y="0"/>
                  <a:pt x="36" y="42"/>
                  <a:pt x="52" y="59"/>
                </a:cubicBezTo>
              </a:path>
            </a:pathLst>
          </a:custGeom>
          <a:noFill/>
          <a:ln w="6172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urve 20"/>
          <p:cNvSpPr/>
          <p:nvPr/>
        </p:nvSpPr>
        <p:spPr>
          <a:xfrm>
            <a:off x="1686945" y="1143831"/>
            <a:ext cx="427908" cy="485511"/>
          </a:xfrm>
          <a:custGeom>
            <a:avLst/>
            <a:gdLst/>
            <a:ahLst/>
            <a:cxnLst/>
            <a:rect l="l" t="t" r="r" b="b"/>
            <a:pathLst>
              <a:path w="52" h="59">
                <a:moveTo>
                  <a:pt x="0" y="0"/>
                </a:moveTo>
                <a:cubicBezTo>
                  <a:pt x="39" y="0"/>
                  <a:pt x="36" y="42"/>
                  <a:pt x="52" y="59"/>
                </a:cubicBezTo>
              </a:path>
            </a:pathLst>
          </a:custGeom>
          <a:noFill/>
          <a:ln w="45262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rowhead 21"/>
          <p:cNvSpPr/>
          <p:nvPr/>
        </p:nvSpPr>
        <p:spPr>
          <a:xfrm>
            <a:off x="2007876" y="1522365"/>
            <a:ext cx="106977" cy="10697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8"/>
                </a:moveTo>
                <a:lnTo>
                  <a:pt x="13" y="13"/>
                </a:lnTo>
                <a:lnTo>
                  <a:pt x="9" y="0"/>
                </a:lnTo>
              </a:path>
            </a:pathLst>
          </a:custGeom>
          <a:noFill/>
          <a:ln w="1543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urve 22"/>
          <p:cNvSpPr/>
          <p:nvPr/>
        </p:nvSpPr>
        <p:spPr>
          <a:xfrm>
            <a:off x="1686945" y="1958502"/>
            <a:ext cx="427908" cy="501969"/>
          </a:xfrm>
          <a:custGeom>
            <a:avLst/>
            <a:gdLst/>
            <a:ahLst/>
            <a:cxnLst/>
            <a:rect l="l" t="t" r="r" b="b"/>
            <a:pathLst>
              <a:path w="52" h="61">
                <a:moveTo>
                  <a:pt x="0" y="61"/>
                </a:moveTo>
                <a:cubicBezTo>
                  <a:pt x="39" y="61"/>
                  <a:pt x="36" y="16"/>
                  <a:pt x="52" y="0"/>
                </a:cubicBezTo>
              </a:path>
            </a:pathLst>
          </a:custGeom>
          <a:noFill/>
          <a:ln w="6172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rve 23"/>
          <p:cNvSpPr/>
          <p:nvPr/>
        </p:nvSpPr>
        <p:spPr>
          <a:xfrm>
            <a:off x="1686945" y="1958502"/>
            <a:ext cx="427908" cy="501969"/>
          </a:xfrm>
          <a:custGeom>
            <a:avLst/>
            <a:gdLst/>
            <a:ahLst/>
            <a:cxnLst/>
            <a:rect l="l" t="t" r="r" b="b"/>
            <a:pathLst>
              <a:path w="52" h="61">
                <a:moveTo>
                  <a:pt x="0" y="61"/>
                </a:moveTo>
                <a:cubicBezTo>
                  <a:pt x="39" y="61"/>
                  <a:pt x="36" y="16"/>
                  <a:pt x="52" y="0"/>
                </a:cubicBezTo>
              </a:path>
            </a:pathLst>
          </a:custGeom>
          <a:noFill/>
          <a:ln w="4526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rowhead 24"/>
          <p:cNvSpPr/>
          <p:nvPr/>
        </p:nvSpPr>
        <p:spPr>
          <a:xfrm>
            <a:off x="2007876" y="1958502"/>
            <a:ext cx="106977" cy="10697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9" y="13"/>
                </a:moveTo>
                <a:lnTo>
                  <a:pt x="13" y="0"/>
                </a:lnTo>
                <a:lnTo>
                  <a:pt x="0" y="4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ding = {C2}"/>
          <p:cNvSpPr txBox="1"/>
          <p:nvPr/>
        </p:nvSpPr>
        <p:spPr>
          <a:xfrm>
            <a:off x="353847" y="2849489"/>
            <a:ext cx="1442229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pending = {C2}</a:t>
            </a:r>
          </a:p>
        </p:txBody>
      </p:sp>
      <p:sp>
        <p:nvSpPr>
          <p:cNvPr id="27" name="curve 26"/>
          <p:cNvSpPr/>
          <p:nvPr/>
        </p:nvSpPr>
        <p:spPr>
          <a:xfrm>
            <a:off x="2839005" y="839358"/>
            <a:ext cx="8640450" cy="954564"/>
          </a:xfrm>
          <a:custGeom>
            <a:avLst/>
            <a:gdLst/>
            <a:ahLst/>
            <a:cxnLst/>
            <a:rect l="l" t="t" r="r" b="b"/>
            <a:pathLst>
              <a:path w="1050" h="116">
                <a:moveTo>
                  <a:pt x="0" y="116"/>
                </a:moveTo>
                <a:lnTo>
                  <a:pt x="8" y="116"/>
                </a:lnTo>
                <a:cubicBezTo>
                  <a:pt x="10" y="116"/>
                  <a:pt x="12" y="114"/>
                  <a:pt x="12" y="112"/>
                </a:cubicBezTo>
                <a:lnTo>
                  <a:pt x="12" y="18"/>
                </a:lnTo>
                <a:cubicBezTo>
                  <a:pt x="12" y="8"/>
                  <a:pt x="20" y="0"/>
                  <a:pt x="30" y="0"/>
                </a:cubicBezTo>
                <a:lnTo>
                  <a:pt x="1032" y="0"/>
                </a:lnTo>
                <a:cubicBezTo>
                  <a:pt x="1042" y="0"/>
                  <a:pt x="1050" y="8"/>
                  <a:pt x="1050" y="18"/>
                </a:cubicBezTo>
                <a:lnTo>
                  <a:pt x="1050" y="62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urve 27"/>
          <p:cNvSpPr/>
          <p:nvPr/>
        </p:nvSpPr>
        <p:spPr>
          <a:xfrm>
            <a:off x="2839005" y="839358"/>
            <a:ext cx="8640450" cy="954564"/>
          </a:xfrm>
          <a:custGeom>
            <a:avLst/>
            <a:gdLst/>
            <a:ahLst/>
            <a:cxnLst/>
            <a:rect l="l" t="t" r="r" b="b"/>
            <a:pathLst>
              <a:path w="1050" h="116">
                <a:moveTo>
                  <a:pt x="0" y="116"/>
                </a:moveTo>
                <a:lnTo>
                  <a:pt x="8" y="116"/>
                </a:lnTo>
                <a:cubicBezTo>
                  <a:pt x="10" y="116"/>
                  <a:pt x="12" y="114"/>
                  <a:pt x="12" y="112"/>
                </a:cubicBezTo>
                <a:lnTo>
                  <a:pt x="12" y="18"/>
                </a:lnTo>
                <a:cubicBezTo>
                  <a:pt x="12" y="8"/>
                  <a:pt x="20" y="0"/>
                  <a:pt x="30" y="0"/>
                </a:cubicBezTo>
                <a:lnTo>
                  <a:pt x="1032" y="0"/>
                </a:lnTo>
                <a:cubicBezTo>
                  <a:pt x="1042" y="0"/>
                  <a:pt x="1050" y="8"/>
                  <a:pt x="1050" y="18"/>
                </a:cubicBezTo>
                <a:lnTo>
                  <a:pt x="1050" y="62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rowhead 28"/>
          <p:cNvSpPr/>
          <p:nvPr/>
        </p:nvSpPr>
        <p:spPr>
          <a:xfrm>
            <a:off x="11405394" y="1201434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0"/>
                </a:moveTo>
                <a:lnTo>
                  <a:pt x="9" y="18"/>
                </a:lnTo>
                <a:lnTo>
                  <a:pt x="18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ircle 29"/>
          <p:cNvSpPr/>
          <p:nvPr/>
        </p:nvSpPr>
        <p:spPr>
          <a:xfrm>
            <a:off x="5686239" y="683205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1"/>
          <p:cNvSpPr txBox="1"/>
          <p:nvPr/>
        </p:nvSpPr>
        <p:spPr>
          <a:xfrm>
            <a:off x="5737381" y="681148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1</a:t>
            </a:r>
          </a:p>
        </p:txBody>
      </p:sp>
      <p:sp>
        <p:nvSpPr>
          <p:cNvPr id="32" name="确定等待对象"/>
          <p:cNvSpPr txBox="1"/>
          <p:nvPr/>
        </p:nvSpPr>
        <p:spPr>
          <a:xfrm>
            <a:off x="6953505" y="528911"/>
            <a:ext cx="1234350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确定等待对象</a:t>
            </a:r>
          </a:p>
        </p:txBody>
      </p:sp>
      <p:sp>
        <p:nvSpPr>
          <p:cNvPr id="33" name="circle 32"/>
          <p:cNvSpPr/>
          <p:nvPr/>
        </p:nvSpPr>
        <p:spPr>
          <a:xfrm>
            <a:off x="11249043" y="1382670"/>
            <a:ext cx="460824" cy="460824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"/>
          <p:cNvSpPr txBox="1"/>
          <p:nvPr/>
        </p:nvSpPr>
        <p:spPr>
          <a:xfrm>
            <a:off x="11361468" y="1444388"/>
            <a:ext cx="23597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</a:t>
            </a:r>
          </a:p>
        </p:txBody>
      </p:sp>
      <p:sp>
        <p:nvSpPr>
          <p:cNvPr id="35" name="rect 34"/>
          <p:cNvSpPr/>
          <p:nvPr/>
        </p:nvSpPr>
        <p:spPr>
          <a:xfrm>
            <a:off x="3168165" y="2024532"/>
            <a:ext cx="1094457" cy="979251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1563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lygon 35"/>
          <p:cNvSpPr/>
          <p:nvPr/>
        </p:nvSpPr>
        <p:spPr>
          <a:xfrm>
            <a:off x="4065126" y="2024334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0" y="0"/>
                </a:moveTo>
                <a:lnTo>
                  <a:pt x="24" y="24"/>
                </a:lnTo>
                <a:lnTo>
                  <a:pt x="0" y="24"/>
                </a:lnTo>
                <a:close/>
              </a:path>
            </a:pathLst>
          </a:cu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… 证据"/>
          <p:cNvSpPr txBox="1"/>
          <p:nvPr/>
        </p:nvSpPr>
        <p:spPr>
          <a:xfrm>
            <a:off x="3250455" y="2131509"/>
            <a:ext cx="576287" cy="2489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… 证据</a:t>
            </a:r>
          </a:p>
        </p:txBody>
      </p:sp>
      <p:sp>
        <p:nvSpPr>
          <p:cNvPr id="38" name="… 验证"/>
          <p:cNvSpPr txBox="1"/>
          <p:nvPr/>
        </p:nvSpPr>
        <p:spPr>
          <a:xfrm>
            <a:off x="3250455" y="2287860"/>
            <a:ext cx="576287" cy="2489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… 验证</a:t>
            </a:r>
          </a:p>
        </p:txBody>
      </p:sp>
      <p:sp>
        <p:nvSpPr>
          <p:cNvPr id="39" name="… 总结"/>
          <p:cNvSpPr txBox="1"/>
          <p:nvPr/>
        </p:nvSpPr>
        <p:spPr>
          <a:xfrm>
            <a:off x="3250455" y="2444211"/>
            <a:ext cx="576287" cy="2489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… 总结</a:t>
            </a:r>
          </a:p>
        </p:txBody>
      </p:sp>
      <p:sp>
        <p:nvSpPr>
          <p:cNvPr id="40" name="rect 39"/>
          <p:cNvSpPr/>
          <p:nvPr/>
        </p:nvSpPr>
        <p:spPr>
          <a:xfrm>
            <a:off x="3266913" y="2691081"/>
            <a:ext cx="684324" cy="82290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path 40"/>
          <p:cNvCxnSpPr/>
          <p:nvPr/>
        </p:nvCxnSpPr>
        <p:spPr>
          <a:xfrm>
            <a:off x="1686945" y="2460669"/>
            <a:ext cx="1431846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th 41"/>
          <p:cNvCxnSpPr/>
          <p:nvPr/>
        </p:nvCxnSpPr>
        <p:spPr>
          <a:xfrm>
            <a:off x="1686945" y="2460669"/>
            <a:ext cx="1431846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head 42"/>
          <p:cNvSpPr/>
          <p:nvPr/>
        </p:nvSpPr>
        <p:spPr>
          <a:xfrm>
            <a:off x="2970669" y="2386410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lygon 43"/>
          <p:cNvSpPr/>
          <p:nvPr/>
        </p:nvSpPr>
        <p:spPr>
          <a:xfrm>
            <a:off x="3176394" y="3266913"/>
            <a:ext cx="1069770" cy="411450"/>
          </a:xfrm>
          <a:custGeom>
            <a:avLst/>
            <a:gdLst/>
            <a:ahLst/>
            <a:cxnLst/>
            <a:rect l="l" t="t" r="r" b="b"/>
            <a:pathLst>
              <a:path w="130" h="50">
                <a:moveTo>
                  <a:pt x="0" y="0"/>
                </a:moveTo>
                <a:lnTo>
                  <a:pt x="130" y="0"/>
                </a:lnTo>
                <a:lnTo>
                  <a:pt x="130" y="37"/>
                </a:lnTo>
                <a:lnTo>
                  <a:pt x="67" y="37"/>
                </a:lnTo>
                <a:lnTo>
                  <a:pt x="51" y="50"/>
                </a:lnTo>
                <a:lnTo>
                  <a:pt x="51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6C6AD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OTICE"/>
          <p:cNvSpPr txBox="1"/>
          <p:nvPr/>
        </p:nvSpPr>
        <p:spPr>
          <a:xfrm>
            <a:off x="3340990" y="3287684"/>
            <a:ext cx="740578" cy="2859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NOTICE</a:t>
            </a:r>
          </a:p>
        </p:txBody>
      </p:sp>
      <p:sp>
        <p:nvSpPr>
          <p:cNvPr id="46" name="curve 45"/>
          <p:cNvSpPr/>
          <p:nvPr/>
        </p:nvSpPr>
        <p:spPr>
          <a:xfrm>
            <a:off x="4287309" y="2065479"/>
            <a:ext cx="1152060" cy="427908"/>
          </a:xfrm>
          <a:custGeom>
            <a:avLst/>
            <a:gdLst/>
            <a:ahLst/>
            <a:cxnLst/>
            <a:rect l="l" t="t" r="r" b="b"/>
            <a:pathLst>
              <a:path w="140" h="52">
                <a:moveTo>
                  <a:pt x="0" y="52"/>
                </a:moveTo>
                <a:lnTo>
                  <a:pt x="56" y="52"/>
                </a:lnTo>
                <a:cubicBezTo>
                  <a:pt x="65" y="52"/>
                  <a:pt x="73" y="44"/>
                  <a:pt x="73" y="35"/>
                </a:cubicBezTo>
                <a:lnTo>
                  <a:pt x="73" y="17"/>
                </a:lnTo>
                <a:cubicBezTo>
                  <a:pt x="73" y="8"/>
                  <a:pt x="81" y="0"/>
                  <a:pt x="90" y="0"/>
                </a:cubicBezTo>
                <a:lnTo>
                  <a:pt x="140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rve 46"/>
          <p:cNvSpPr/>
          <p:nvPr/>
        </p:nvSpPr>
        <p:spPr>
          <a:xfrm>
            <a:off x="4287309" y="2065479"/>
            <a:ext cx="1152060" cy="427908"/>
          </a:xfrm>
          <a:custGeom>
            <a:avLst/>
            <a:gdLst/>
            <a:ahLst/>
            <a:cxnLst/>
            <a:rect l="l" t="t" r="r" b="b"/>
            <a:pathLst>
              <a:path w="140" h="52">
                <a:moveTo>
                  <a:pt x="0" y="52"/>
                </a:moveTo>
                <a:lnTo>
                  <a:pt x="56" y="52"/>
                </a:lnTo>
                <a:cubicBezTo>
                  <a:pt x="65" y="52"/>
                  <a:pt x="73" y="44"/>
                  <a:pt x="73" y="35"/>
                </a:cubicBezTo>
                <a:lnTo>
                  <a:pt x="73" y="17"/>
                </a:lnTo>
                <a:cubicBezTo>
                  <a:pt x="73" y="8"/>
                  <a:pt x="81" y="0"/>
                  <a:pt x="90" y="0"/>
                </a:cubicBezTo>
                <a:lnTo>
                  <a:pt x="140" y="0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rowhead 47"/>
          <p:cNvSpPr/>
          <p:nvPr/>
        </p:nvSpPr>
        <p:spPr>
          <a:xfrm>
            <a:off x="5291247" y="1991418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rve 48"/>
          <p:cNvSpPr/>
          <p:nvPr/>
        </p:nvSpPr>
        <p:spPr>
          <a:xfrm>
            <a:off x="4888026" y="2493387"/>
            <a:ext cx="551343" cy="510198"/>
          </a:xfrm>
          <a:custGeom>
            <a:avLst/>
            <a:gdLst/>
            <a:ahLst/>
            <a:cxnLst/>
            <a:rect l="l" t="t" r="r" b="b"/>
            <a:pathLst>
              <a:path w="67" h="62">
                <a:moveTo>
                  <a:pt x="0" y="0"/>
                </a:moveTo>
                <a:lnTo>
                  <a:pt x="0" y="44"/>
                </a:lnTo>
                <a:cubicBezTo>
                  <a:pt x="0" y="54"/>
                  <a:pt x="8" y="62"/>
                  <a:pt x="18" y="62"/>
                </a:cubicBezTo>
                <a:lnTo>
                  <a:pt x="67" y="62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rve 49"/>
          <p:cNvSpPr/>
          <p:nvPr/>
        </p:nvSpPr>
        <p:spPr>
          <a:xfrm>
            <a:off x="4888026" y="2493387"/>
            <a:ext cx="551343" cy="510198"/>
          </a:xfrm>
          <a:custGeom>
            <a:avLst/>
            <a:gdLst/>
            <a:ahLst/>
            <a:cxnLst/>
            <a:rect l="l" t="t" r="r" b="b"/>
            <a:pathLst>
              <a:path w="67" h="62">
                <a:moveTo>
                  <a:pt x="0" y="0"/>
                </a:moveTo>
                <a:lnTo>
                  <a:pt x="0" y="44"/>
                </a:lnTo>
                <a:cubicBezTo>
                  <a:pt x="0" y="54"/>
                  <a:pt x="8" y="62"/>
                  <a:pt x="18" y="62"/>
                </a:cubicBezTo>
                <a:lnTo>
                  <a:pt x="67" y="62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rowhead 50"/>
          <p:cNvSpPr/>
          <p:nvPr/>
        </p:nvSpPr>
        <p:spPr>
          <a:xfrm>
            <a:off x="5291247" y="2929524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rve 51"/>
          <p:cNvSpPr/>
          <p:nvPr/>
        </p:nvSpPr>
        <p:spPr>
          <a:xfrm>
            <a:off x="4279080" y="2493387"/>
            <a:ext cx="452595" cy="913419"/>
          </a:xfrm>
          <a:custGeom>
            <a:avLst/>
            <a:gdLst/>
            <a:ahLst/>
            <a:cxnLst/>
            <a:rect l="l" t="t" r="r" b="b"/>
            <a:pathLst>
              <a:path w="55" h="111">
                <a:moveTo>
                  <a:pt x="0" y="111"/>
                </a:moveTo>
                <a:lnTo>
                  <a:pt x="23" y="111"/>
                </a:lnTo>
                <a:cubicBezTo>
                  <a:pt x="29" y="111"/>
                  <a:pt x="34" y="106"/>
                  <a:pt x="34" y="100"/>
                </a:cubicBezTo>
                <a:lnTo>
                  <a:pt x="34" y="7"/>
                </a:lnTo>
                <a:cubicBezTo>
                  <a:pt x="34" y="3"/>
                  <a:pt x="37" y="0"/>
                  <a:pt x="41" y="0"/>
                </a:cubicBezTo>
                <a:lnTo>
                  <a:pt x="55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rve 52"/>
          <p:cNvSpPr/>
          <p:nvPr/>
        </p:nvSpPr>
        <p:spPr>
          <a:xfrm>
            <a:off x="4279080" y="2493387"/>
            <a:ext cx="452595" cy="913419"/>
          </a:xfrm>
          <a:custGeom>
            <a:avLst/>
            <a:gdLst/>
            <a:ahLst/>
            <a:cxnLst/>
            <a:rect l="l" t="t" r="r" b="b"/>
            <a:pathLst>
              <a:path w="55" h="111">
                <a:moveTo>
                  <a:pt x="0" y="111"/>
                </a:moveTo>
                <a:lnTo>
                  <a:pt x="23" y="111"/>
                </a:lnTo>
                <a:cubicBezTo>
                  <a:pt x="29" y="111"/>
                  <a:pt x="34" y="106"/>
                  <a:pt x="34" y="100"/>
                </a:cubicBezTo>
                <a:lnTo>
                  <a:pt x="34" y="7"/>
                </a:lnTo>
                <a:cubicBezTo>
                  <a:pt x="34" y="3"/>
                  <a:pt x="37" y="0"/>
                  <a:pt x="41" y="0"/>
                </a:cubicBezTo>
                <a:lnTo>
                  <a:pt x="55" y="0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rrowhead 53"/>
          <p:cNvSpPr/>
          <p:nvPr/>
        </p:nvSpPr>
        <p:spPr>
          <a:xfrm>
            <a:off x="4632927" y="2444013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ircle 54"/>
          <p:cNvSpPr/>
          <p:nvPr/>
        </p:nvSpPr>
        <p:spPr>
          <a:xfrm>
            <a:off x="4567095" y="233723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2"/>
          <p:cNvSpPr txBox="1"/>
          <p:nvPr/>
        </p:nvSpPr>
        <p:spPr>
          <a:xfrm>
            <a:off x="4618237" y="2335177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2</a:t>
            </a:r>
          </a:p>
        </p:txBody>
      </p:sp>
      <p:sp>
        <p:nvSpPr>
          <p:cNvPr id="57" name="推断"/>
          <p:cNvSpPr txBox="1"/>
          <p:nvPr/>
        </p:nvSpPr>
        <p:spPr>
          <a:xfrm>
            <a:off x="4460118" y="1497876"/>
            <a:ext cx="493740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推断</a:t>
            </a:r>
          </a:p>
        </p:txBody>
      </p:sp>
      <p:sp>
        <p:nvSpPr>
          <p:cNvPr id="58" name="p"/>
          <p:cNvSpPr txBox="1"/>
          <p:nvPr/>
        </p:nvSpPr>
        <p:spPr>
          <a:xfrm>
            <a:off x="6078740" y="1565765"/>
            <a:ext cx="226298" cy="316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p</a:t>
            </a:r>
          </a:p>
        </p:txBody>
      </p:sp>
      <p:sp>
        <p:nvSpPr>
          <p:cNvPr id="59" name="final"/>
          <p:cNvSpPr txBox="1"/>
          <p:nvPr/>
        </p:nvSpPr>
        <p:spPr>
          <a:xfrm>
            <a:off x="6214518" y="1707716"/>
            <a:ext cx="404089" cy="2201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final</a:t>
            </a:r>
          </a:p>
        </p:txBody>
      </p:sp>
      <p:sp>
        <p:nvSpPr>
          <p:cNvPr id="60" name="rect 59"/>
          <p:cNvSpPr/>
          <p:nvPr/>
        </p:nvSpPr>
        <p:spPr>
          <a:xfrm>
            <a:off x="5595720" y="1950471"/>
            <a:ext cx="1440075" cy="213954"/>
          </a:xfrm>
          <a:prstGeom prst="rect">
            <a:avLst/>
          </a:prstGeom>
          <a:solidFill>
            <a:srgbClr val="FFFFFF"/>
          </a:solidFill>
          <a:ln w="9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 60"/>
          <p:cNvSpPr/>
          <p:nvPr/>
        </p:nvSpPr>
        <p:spPr>
          <a:xfrm>
            <a:off x="5595720" y="1950471"/>
            <a:ext cx="1028625" cy="213954"/>
          </a:xfrm>
          <a:prstGeom prst="rect">
            <a:avLst/>
          </a:prstGeom>
          <a:solidFill>
            <a:srgbClr val="A6CAEC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line 61"/>
          <p:cNvCxnSpPr/>
          <p:nvPr/>
        </p:nvCxnSpPr>
        <p:spPr>
          <a:xfrm>
            <a:off x="5595720" y="3003783"/>
            <a:ext cx="1440075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 62"/>
          <p:cNvCxnSpPr/>
          <p:nvPr/>
        </p:nvCxnSpPr>
        <p:spPr>
          <a:xfrm>
            <a:off x="5595720" y="2929722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ne 63"/>
          <p:cNvCxnSpPr/>
          <p:nvPr/>
        </p:nvCxnSpPr>
        <p:spPr>
          <a:xfrm>
            <a:off x="7035795" y="2929722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ircle 64"/>
          <p:cNvSpPr/>
          <p:nvPr/>
        </p:nvSpPr>
        <p:spPr>
          <a:xfrm>
            <a:off x="6344559" y="2962638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W"/>
          <p:cNvSpPr txBox="1"/>
          <p:nvPr/>
        </p:nvSpPr>
        <p:spPr>
          <a:xfrm>
            <a:off x="5805624" y="3151905"/>
            <a:ext cx="29753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67" name="lo"/>
          <p:cNvSpPr txBox="1"/>
          <p:nvPr/>
        </p:nvSpPr>
        <p:spPr>
          <a:xfrm>
            <a:off x="6012635" y="3287684"/>
            <a:ext cx="218776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lo</a:t>
            </a:r>
          </a:p>
        </p:txBody>
      </p:sp>
      <p:sp>
        <p:nvSpPr>
          <p:cNvPr id="68" name=" … "/>
          <p:cNvSpPr txBox="1"/>
          <p:nvPr/>
        </p:nvSpPr>
        <p:spPr>
          <a:xfrm>
            <a:off x="6140891" y="3151905"/>
            <a:ext cx="45671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… </a:t>
            </a:r>
          </a:p>
        </p:txBody>
      </p:sp>
      <p:sp>
        <p:nvSpPr>
          <p:cNvPr id="69" name="W"/>
          <p:cNvSpPr txBox="1"/>
          <p:nvPr/>
        </p:nvSpPr>
        <p:spPr>
          <a:xfrm>
            <a:off x="6498853" y="3151905"/>
            <a:ext cx="29753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70" name="hi"/>
          <p:cNvSpPr txBox="1"/>
          <p:nvPr/>
        </p:nvSpPr>
        <p:spPr>
          <a:xfrm>
            <a:off x="6705864" y="3287684"/>
            <a:ext cx="218776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hi</a:t>
            </a:r>
          </a:p>
        </p:txBody>
      </p:sp>
      <p:sp>
        <p:nvSpPr>
          <p:cNvPr id="71" name="终态剩余 token"/>
          <p:cNvSpPr txBox="1"/>
          <p:nvPr/>
        </p:nvSpPr>
        <p:spPr>
          <a:xfrm>
            <a:off x="5618655" y="3483122"/>
            <a:ext cx="1402434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终态剩余 token</a:t>
            </a:r>
          </a:p>
        </p:txBody>
      </p:sp>
      <p:sp>
        <p:nvSpPr>
          <p:cNvPr id="72" name="curve 71"/>
          <p:cNvSpPr/>
          <p:nvPr/>
        </p:nvSpPr>
        <p:spPr>
          <a:xfrm>
            <a:off x="7101627" y="2057250"/>
            <a:ext cx="551343" cy="584259"/>
          </a:xfrm>
          <a:custGeom>
            <a:avLst/>
            <a:gdLst/>
            <a:ahLst/>
            <a:cxnLst/>
            <a:rect l="l" t="t" r="r" b="b"/>
            <a:pathLst>
              <a:path w="67" h="71">
                <a:moveTo>
                  <a:pt x="0" y="0"/>
                </a:moveTo>
                <a:lnTo>
                  <a:pt x="49" y="0"/>
                </a:lnTo>
                <a:cubicBezTo>
                  <a:pt x="59" y="0"/>
                  <a:pt x="67" y="8"/>
                  <a:pt x="67" y="18"/>
                </a:cubicBezTo>
                <a:lnTo>
                  <a:pt x="67" y="71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rve 72"/>
          <p:cNvSpPr/>
          <p:nvPr/>
        </p:nvSpPr>
        <p:spPr>
          <a:xfrm>
            <a:off x="7101627" y="2057250"/>
            <a:ext cx="551343" cy="584259"/>
          </a:xfrm>
          <a:custGeom>
            <a:avLst/>
            <a:gdLst/>
            <a:ahLst/>
            <a:cxnLst/>
            <a:rect l="l" t="t" r="r" b="b"/>
            <a:pathLst>
              <a:path w="67" h="71">
                <a:moveTo>
                  <a:pt x="0" y="0"/>
                </a:moveTo>
                <a:lnTo>
                  <a:pt x="49" y="0"/>
                </a:lnTo>
                <a:cubicBezTo>
                  <a:pt x="59" y="0"/>
                  <a:pt x="67" y="8"/>
                  <a:pt x="67" y="18"/>
                </a:cubicBezTo>
                <a:lnTo>
                  <a:pt x="67" y="71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rrowhead 73"/>
          <p:cNvSpPr/>
          <p:nvPr/>
        </p:nvSpPr>
        <p:spPr>
          <a:xfrm>
            <a:off x="7578909" y="2493387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9" y="18"/>
                </a:moveTo>
                <a:lnTo>
                  <a:pt x="0" y="0"/>
                </a:lnTo>
                <a:lnTo>
                  <a:pt x="9" y="5"/>
                </a:lnTo>
                <a:lnTo>
                  <a:pt x="18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urve 74"/>
          <p:cNvSpPr/>
          <p:nvPr/>
        </p:nvSpPr>
        <p:spPr>
          <a:xfrm>
            <a:off x="7109856" y="2493387"/>
            <a:ext cx="1398930" cy="510198"/>
          </a:xfrm>
          <a:custGeom>
            <a:avLst/>
            <a:gdLst/>
            <a:ahLst/>
            <a:cxnLst/>
            <a:rect l="l" t="t" r="r" b="b"/>
            <a:pathLst>
              <a:path w="170" h="62">
                <a:moveTo>
                  <a:pt x="0" y="62"/>
                </a:moveTo>
                <a:lnTo>
                  <a:pt x="48" y="62"/>
                </a:lnTo>
                <a:cubicBezTo>
                  <a:pt x="58" y="62"/>
                  <a:pt x="66" y="54"/>
                  <a:pt x="66" y="44"/>
                </a:cubicBezTo>
                <a:lnTo>
                  <a:pt x="66" y="18"/>
                </a:lnTo>
                <a:cubicBezTo>
                  <a:pt x="66" y="8"/>
                  <a:pt x="74" y="0"/>
                  <a:pt x="84" y="0"/>
                </a:cubicBezTo>
                <a:lnTo>
                  <a:pt x="170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urve 75"/>
          <p:cNvSpPr/>
          <p:nvPr/>
        </p:nvSpPr>
        <p:spPr>
          <a:xfrm>
            <a:off x="7109856" y="2493387"/>
            <a:ext cx="1398930" cy="510198"/>
          </a:xfrm>
          <a:custGeom>
            <a:avLst/>
            <a:gdLst/>
            <a:ahLst/>
            <a:cxnLst/>
            <a:rect l="l" t="t" r="r" b="b"/>
            <a:pathLst>
              <a:path w="170" h="62">
                <a:moveTo>
                  <a:pt x="0" y="62"/>
                </a:moveTo>
                <a:lnTo>
                  <a:pt x="48" y="62"/>
                </a:lnTo>
                <a:cubicBezTo>
                  <a:pt x="58" y="62"/>
                  <a:pt x="66" y="54"/>
                  <a:pt x="66" y="44"/>
                </a:cubicBezTo>
                <a:lnTo>
                  <a:pt x="66" y="18"/>
                </a:lnTo>
                <a:cubicBezTo>
                  <a:pt x="66" y="8"/>
                  <a:pt x="74" y="0"/>
                  <a:pt x="84" y="0"/>
                </a:cubicBezTo>
                <a:lnTo>
                  <a:pt x="170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rrowhead 76"/>
          <p:cNvSpPr/>
          <p:nvPr/>
        </p:nvSpPr>
        <p:spPr>
          <a:xfrm>
            <a:off x="8311290" y="2394639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ircle 77"/>
          <p:cNvSpPr/>
          <p:nvPr/>
        </p:nvSpPr>
        <p:spPr>
          <a:xfrm>
            <a:off x="7924527" y="233723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3"/>
          <p:cNvSpPr txBox="1"/>
          <p:nvPr/>
        </p:nvSpPr>
        <p:spPr>
          <a:xfrm>
            <a:off x="7975669" y="2335177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3</a:t>
            </a:r>
          </a:p>
        </p:txBody>
      </p:sp>
      <p:sp>
        <p:nvSpPr>
          <p:cNvPr id="80" name="滚动更新"/>
          <p:cNvSpPr txBox="1"/>
          <p:nvPr/>
        </p:nvSpPr>
        <p:spPr>
          <a:xfrm>
            <a:off x="7908069" y="1629540"/>
            <a:ext cx="888732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滚动更新</a:t>
            </a:r>
          </a:p>
        </p:txBody>
      </p:sp>
      <p:sp>
        <p:nvSpPr>
          <p:cNvPr id="81" name="circle 80"/>
          <p:cNvSpPr/>
          <p:nvPr/>
        </p:nvSpPr>
        <p:spPr>
          <a:xfrm>
            <a:off x="8566389" y="2296089"/>
            <a:ext cx="394992" cy="394992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ath 81"/>
          <p:cNvSpPr/>
          <p:nvPr/>
        </p:nvSpPr>
        <p:spPr>
          <a:xfrm>
            <a:off x="8763885" y="2361723"/>
            <a:ext cx="106977" cy="181038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0" y="0"/>
                </a:moveTo>
                <a:lnTo>
                  <a:pt x="0" y="16"/>
                </a:lnTo>
                <a:lnTo>
                  <a:pt x="13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path 82"/>
          <p:cNvCxnSpPr/>
          <p:nvPr/>
        </p:nvCxnSpPr>
        <p:spPr>
          <a:xfrm>
            <a:off x="9010755" y="2493585"/>
            <a:ext cx="1654029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path 83"/>
          <p:cNvCxnSpPr/>
          <p:nvPr/>
        </p:nvCxnSpPr>
        <p:spPr>
          <a:xfrm>
            <a:off x="9010755" y="2493585"/>
            <a:ext cx="1654029" cy="0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arrowhead 84"/>
          <p:cNvSpPr/>
          <p:nvPr/>
        </p:nvSpPr>
        <p:spPr>
          <a:xfrm>
            <a:off x="10516662" y="2419326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18"/>
                </a:moveTo>
                <a:lnTo>
                  <a:pt x="18" y="9"/>
                </a:lnTo>
                <a:lnTo>
                  <a:pt x="0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τ"/>
          <p:cNvSpPr txBox="1"/>
          <p:nvPr/>
        </p:nvSpPr>
        <p:spPr>
          <a:xfrm>
            <a:off x="10922262" y="3055214"/>
            <a:ext cx="192996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τ</a:t>
            </a:r>
          </a:p>
        </p:txBody>
      </p:sp>
      <p:sp>
        <p:nvSpPr>
          <p:cNvPr id="87" name=" ≈ "/>
          <p:cNvSpPr txBox="1"/>
          <p:nvPr/>
        </p:nvSpPr>
        <p:spPr>
          <a:xfrm>
            <a:off x="11016509" y="3055214"/>
            <a:ext cx="374934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≈ </a:t>
            </a:r>
          </a:p>
        </p:txBody>
      </p:sp>
      <p:sp>
        <p:nvSpPr>
          <p:cNvPr id="88" name="W"/>
          <p:cNvSpPr txBox="1"/>
          <p:nvPr/>
        </p:nvSpPr>
        <p:spPr>
          <a:xfrm>
            <a:off x="11292695" y="3055214"/>
            <a:ext cx="318102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89" name=" / "/>
          <p:cNvSpPr txBox="1"/>
          <p:nvPr/>
        </p:nvSpPr>
        <p:spPr>
          <a:xfrm>
            <a:off x="11512050" y="3055214"/>
            <a:ext cx="303573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/ </a:t>
            </a:r>
          </a:p>
        </p:txBody>
      </p:sp>
      <p:sp>
        <p:nvSpPr>
          <p:cNvPr id="90" name="v"/>
          <p:cNvSpPr txBox="1"/>
          <p:nvPr/>
        </p:nvSpPr>
        <p:spPr>
          <a:xfrm>
            <a:off x="11716875" y="3055214"/>
            <a:ext cx="215626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v</a:t>
            </a:r>
          </a:p>
        </p:txBody>
      </p:sp>
      <p:sp>
        <p:nvSpPr>
          <p:cNvPr id="91" name="eff"/>
          <p:cNvSpPr txBox="1"/>
          <p:nvPr/>
        </p:nvSpPr>
        <p:spPr>
          <a:xfrm>
            <a:off x="11841981" y="3205394"/>
            <a:ext cx="285186" cy="2221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7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eff</a:t>
            </a:r>
          </a:p>
        </p:txBody>
      </p:sp>
      <p:sp>
        <p:nvSpPr>
          <p:cNvPr id="92" name="rect 91"/>
          <p:cNvSpPr/>
          <p:nvPr/>
        </p:nvSpPr>
        <p:spPr>
          <a:xfrm>
            <a:off x="8327748" y="3456378"/>
            <a:ext cx="205725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 92"/>
          <p:cNvSpPr/>
          <p:nvPr/>
        </p:nvSpPr>
        <p:spPr>
          <a:xfrm>
            <a:off x="8969610" y="3456378"/>
            <a:ext cx="320931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 93"/>
          <p:cNvSpPr/>
          <p:nvPr/>
        </p:nvSpPr>
        <p:spPr>
          <a:xfrm>
            <a:off x="9611472" y="3456378"/>
            <a:ext cx="477282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已观测服务进度"/>
          <p:cNvSpPr txBox="1"/>
          <p:nvPr/>
        </p:nvSpPr>
        <p:spPr>
          <a:xfrm>
            <a:off x="8681595" y="3746450"/>
            <a:ext cx="1366014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已观测服务进度</a:t>
            </a:r>
          </a:p>
        </p:txBody>
      </p:sp>
      <p:cxnSp>
        <p:nvCxnSpPr>
          <p:cNvPr id="96" name="path 95"/>
          <p:cNvCxnSpPr/>
          <p:nvPr/>
        </p:nvCxnSpPr>
        <p:spPr>
          <a:xfrm flipV="1">
            <a:off x="8763885" y="2756913"/>
            <a:ext cx="0" cy="641862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path 96"/>
          <p:cNvCxnSpPr/>
          <p:nvPr/>
        </p:nvCxnSpPr>
        <p:spPr>
          <a:xfrm flipV="1">
            <a:off x="8763885" y="2756913"/>
            <a:ext cx="0" cy="641862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rrowhead 97"/>
          <p:cNvSpPr/>
          <p:nvPr/>
        </p:nvSpPr>
        <p:spPr>
          <a:xfrm>
            <a:off x="8689824" y="2756715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18"/>
                </a:moveTo>
                <a:lnTo>
                  <a:pt x="9" y="0"/>
                </a:lnTo>
                <a:lnTo>
                  <a:pt x="0" y="18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line 98"/>
          <p:cNvCxnSpPr/>
          <p:nvPr/>
        </p:nvCxnSpPr>
        <p:spPr>
          <a:xfrm>
            <a:off x="10779990" y="2493585"/>
            <a:ext cx="1398930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ine 99"/>
          <p:cNvCxnSpPr/>
          <p:nvPr/>
        </p:nvCxnSpPr>
        <p:spPr>
          <a:xfrm>
            <a:off x="10779990" y="2419524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ine 100"/>
          <p:cNvCxnSpPr/>
          <p:nvPr/>
        </p:nvCxnSpPr>
        <p:spPr>
          <a:xfrm>
            <a:off x="12178920" y="2419524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ircle 101"/>
          <p:cNvSpPr/>
          <p:nvPr/>
        </p:nvSpPr>
        <p:spPr>
          <a:xfrm>
            <a:off x="11520600" y="2452440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line 102"/>
          <p:cNvCxnSpPr/>
          <p:nvPr/>
        </p:nvCxnSpPr>
        <p:spPr>
          <a:xfrm>
            <a:off x="11479455" y="1868181"/>
            <a:ext cx="0" cy="543114"/>
          </a:xfrm>
          <a:prstGeom prst="line">
            <a:avLst/>
          </a:prstGeom>
          <a:ln w="12344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TURN"/>
          <p:cNvSpPr txBox="1"/>
          <p:nvPr/>
        </p:nvSpPr>
        <p:spPr>
          <a:xfrm>
            <a:off x="10779990" y="2643764"/>
            <a:ext cx="805156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RETURN</a:t>
            </a:r>
          </a:p>
        </p:txBody>
      </p:sp>
      <p:sp>
        <p:nvSpPr>
          <p:cNvPr id="105" name="rect 104"/>
          <p:cNvSpPr/>
          <p:nvPr/>
        </p:nvSpPr>
        <p:spPr>
          <a:xfrm>
            <a:off x="427908" y="4279278"/>
            <a:ext cx="724152" cy="510198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line 105"/>
          <p:cNvCxnSpPr/>
          <p:nvPr/>
        </p:nvCxnSpPr>
        <p:spPr>
          <a:xfrm>
            <a:off x="436137" y="4386420"/>
            <a:ext cx="707694" cy="0"/>
          </a:xfrm>
          <a:prstGeom prst="line">
            <a:avLst/>
          </a:prstGeom>
          <a:ln w="822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path 106"/>
          <p:cNvSpPr/>
          <p:nvPr/>
        </p:nvSpPr>
        <p:spPr>
          <a:xfrm>
            <a:off x="559572" y="4501263"/>
            <a:ext cx="90519" cy="181038"/>
          </a:xfrm>
          <a:custGeom>
            <a:avLst/>
            <a:gdLst/>
            <a:ahLst/>
            <a:cxnLst/>
            <a:rect l="l" t="t" r="r" b="b"/>
            <a:pathLst>
              <a:path w="11" h="22">
                <a:moveTo>
                  <a:pt x="0" y="0"/>
                </a:moveTo>
                <a:lnTo>
                  <a:pt x="11" y="11"/>
                </a:lnTo>
                <a:lnTo>
                  <a:pt x="0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line 107"/>
          <p:cNvCxnSpPr/>
          <p:nvPr/>
        </p:nvCxnSpPr>
        <p:spPr>
          <a:xfrm>
            <a:off x="740610" y="4677232"/>
            <a:ext cx="296244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ircle 108"/>
          <p:cNvSpPr/>
          <p:nvPr/>
        </p:nvSpPr>
        <p:spPr>
          <a:xfrm>
            <a:off x="1357785" y="4320423"/>
            <a:ext cx="411450" cy="411450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ath 109"/>
          <p:cNvSpPr/>
          <p:nvPr/>
        </p:nvSpPr>
        <p:spPr>
          <a:xfrm>
            <a:off x="1563510" y="4394286"/>
            <a:ext cx="115206" cy="181038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0" y="0"/>
                </a:moveTo>
                <a:lnTo>
                  <a:pt x="0" y="16"/>
                </a:lnTo>
                <a:lnTo>
                  <a:pt x="14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工具 + 已耗时"/>
          <p:cNvSpPr txBox="1"/>
          <p:nvPr/>
        </p:nvSpPr>
        <p:spPr>
          <a:xfrm>
            <a:off x="460535" y="4904682"/>
            <a:ext cx="1284303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工具 + 已耗时</a:t>
            </a:r>
          </a:p>
        </p:txBody>
      </p:sp>
      <p:cxnSp>
        <p:nvCxnSpPr>
          <p:cNvPr id="112" name="path 111"/>
          <p:cNvCxnSpPr/>
          <p:nvPr/>
        </p:nvCxnSpPr>
        <p:spPr>
          <a:xfrm>
            <a:off x="1818609" y="4526148"/>
            <a:ext cx="510198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path 112"/>
          <p:cNvCxnSpPr/>
          <p:nvPr/>
        </p:nvCxnSpPr>
        <p:spPr>
          <a:xfrm>
            <a:off x="1818609" y="4526148"/>
            <a:ext cx="510198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rrowhead 113"/>
          <p:cNvSpPr/>
          <p:nvPr/>
        </p:nvSpPr>
        <p:spPr>
          <a:xfrm>
            <a:off x="2180685" y="4451889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 114"/>
          <p:cNvSpPr/>
          <p:nvPr/>
        </p:nvSpPr>
        <p:spPr>
          <a:xfrm>
            <a:off x="3291600" y="4147614"/>
            <a:ext cx="1003938" cy="683007"/>
          </a:xfrm>
          <a:prstGeom prst="rect">
            <a:avLst/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ath 115"/>
          <p:cNvSpPr/>
          <p:nvPr/>
        </p:nvSpPr>
        <p:spPr>
          <a:xfrm>
            <a:off x="2411097" y="4205019"/>
            <a:ext cx="1884441" cy="617175"/>
          </a:xfrm>
          <a:custGeom>
            <a:avLst/>
            <a:gdLst/>
            <a:ahLst/>
            <a:cxnLst/>
            <a:rect l="l" t="t" r="r" b="b"/>
            <a:pathLst>
              <a:path w="229" h="75">
                <a:moveTo>
                  <a:pt x="0" y="75"/>
                </a:moveTo>
                <a:lnTo>
                  <a:pt x="49" y="75"/>
                </a:lnTo>
                <a:lnTo>
                  <a:pt x="49" y="58"/>
                </a:lnTo>
                <a:lnTo>
                  <a:pt x="107" y="58"/>
                </a:lnTo>
                <a:lnTo>
                  <a:pt x="107" y="28"/>
                </a:lnTo>
                <a:lnTo>
                  <a:pt x="164" y="28"/>
                </a:lnTo>
                <a:lnTo>
                  <a:pt x="164" y="0"/>
                </a:lnTo>
                <a:lnTo>
                  <a:pt x="229" y="0"/>
                </a:lnTo>
              </a:path>
            </a:pathLst>
          </a:custGeom>
          <a:noFill/>
          <a:ln w="2057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line 116"/>
          <p:cNvCxnSpPr/>
          <p:nvPr/>
        </p:nvCxnSpPr>
        <p:spPr>
          <a:xfrm>
            <a:off x="3291600" y="4131156"/>
            <a:ext cx="0" cy="724152"/>
          </a:xfrm>
          <a:prstGeom prst="line">
            <a:avLst/>
          </a:prstGeom>
          <a:ln w="12344">
            <a:solidFill>
              <a:srgbClr val="27531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历史 | 仍未结束"/>
          <p:cNvSpPr txBox="1"/>
          <p:nvPr/>
        </p:nvSpPr>
        <p:spPr>
          <a:xfrm>
            <a:off x="2688761" y="4914968"/>
            <a:ext cx="1370257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历史 | 仍未结束</a:t>
            </a:r>
          </a:p>
        </p:txBody>
      </p:sp>
      <p:cxnSp>
        <p:nvCxnSpPr>
          <p:cNvPr id="119" name="path 118"/>
          <p:cNvCxnSpPr/>
          <p:nvPr/>
        </p:nvCxnSpPr>
        <p:spPr>
          <a:xfrm>
            <a:off x="4402515" y="4526148"/>
            <a:ext cx="1645800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path 119"/>
          <p:cNvCxnSpPr/>
          <p:nvPr/>
        </p:nvCxnSpPr>
        <p:spPr>
          <a:xfrm>
            <a:off x="4402515" y="4526148"/>
            <a:ext cx="1645800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rrowhead 120"/>
          <p:cNvSpPr/>
          <p:nvPr/>
        </p:nvSpPr>
        <p:spPr>
          <a:xfrm>
            <a:off x="5850819" y="4427202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ircle 121"/>
          <p:cNvSpPr/>
          <p:nvPr/>
        </p:nvSpPr>
        <p:spPr>
          <a:xfrm>
            <a:off x="6138834" y="4328652"/>
            <a:ext cx="394992" cy="394992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ath 122"/>
          <p:cNvSpPr/>
          <p:nvPr/>
        </p:nvSpPr>
        <p:spPr>
          <a:xfrm>
            <a:off x="6336330" y="4394286"/>
            <a:ext cx="106977" cy="181038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0" y="0"/>
                </a:moveTo>
                <a:lnTo>
                  <a:pt x="0" y="16"/>
                </a:lnTo>
                <a:lnTo>
                  <a:pt x="13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τ"/>
          <p:cNvSpPr txBox="1"/>
          <p:nvPr/>
        </p:nvSpPr>
        <p:spPr>
          <a:xfrm>
            <a:off x="6152849" y="4750388"/>
            <a:ext cx="190038" cy="316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τ</a:t>
            </a:r>
          </a:p>
        </p:txBody>
      </p:sp>
      <p:sp>
        <p:nvSpPr>
          <p:cNvPr id="125" name="tool"/>
          <p:cNvSpPr txBox="1"/>
          <p:nvPr/>
        </p:nvSpPr>
        <p:spPr>
          <a:xfrm>
            <a:off x="6252368" y="4892338"/>
            <a:ext cx="357962" cy="2201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tool</a:t>
            </a:r>
          </a:p>
        </p:txBody>
      </p:sp>
      <p:cxnSp>
        <p:nvCxnSpPr>
          <p:cNvPr id="126" name="path 125"/>
          <p:cNvCxnSpPr/>
          <p:nvPr/>
        </p:nvCxnSpPr>
        <p:spPr>
          <a:xfrm>
            <a:off x="6583200" y="4526148"/>
            <a:ext cx="4081584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path 126"/>
          <p:cNvCxnSpPr/>
          <p:nvPr/>
        </p:nvCxnSpPr>
        <p:spPr>
          <a:xfrm>
            <a:off x="6583200" y="4526148"/>
            <a:ext cx="4081584" cy="0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arrowhead 127"/>
          <p:cNvSpPr/>
          <p:nvPr/>
        </p:nvSpPr>
        <p:spPr>
          <a:xfrm>
            <a:off x="10516662" y="4451889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18"/>
                </a:moveTo>
                <a:lnTo>
                  <a:pt x="18" y="9"/>
                </a:lnTo>
                <a:lnTo>
                  <a:pt x="0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ircle 128"/>
          <p:cNvSpPr/>
          <p:nvPr/>
        </p:nvSpPr>
        <p:spPr>
          <a:xfrm>
            <a:off x="11257272" y="3736164"/>
            <a:ext cx="444366" cy="444366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A"/>
          <p:cNvSpPr txBox="1"/>
          <p:nvPr/>
        </p:nvSpPr>
        <p:spPr>
          <a:xfrm>
            <a:off x="11364153" y="3789652"/>
            <a:ext cx="230605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A</a:t>
            </a:r>
          </a:p>
        </p:txBody>
      </p:sp>
      <p:cxnSp>
        <p:nvCxnSpPr>
          <p:cNvPr id="131" name="line 130"/>
          <p:cNvCxnSpPr/>
          <p:nvPr/>
        </p:nvCxnSpPr>
        <p:spPr>
          <a:xfrm>
            <a:off x="11479455" y="4205217"/>
            <a:ext cx="0" cy="238641"/>
          </a:xfrm>
          <a:prstGeom prst="line">
            <a:avLst/>
          </a:prstGeom>
          <a:ln w="12344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line 131"/>
          <p:cNvCxnSpPr/>
          <p:nvPr/>
        </p:nvCxnSpPr>
        <p:spPr>
          <a:xfrm>
            <a:off x="10779990" y="4526148"/>
            <a:ext cx="1398930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line 132"/>
          <p:cNvCxnSpPr/>
          <p:nvPr/>
        </p:nvCxnSpPr>
        <p:spPr>
          <a:xfrm>
            <a:off x="10779990" y="4452087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line 133"/>
          <p:cNvCxnSpPr/>
          <p:nvPr/>
        </p:nvCxnSpPr>
        <p:spPr>
          <a:xfrm>
            <a:off x="12178920" y="4452087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ircle 134"/>
          <p:cNvSpPr/>
          <p:nvPr/>
        </p:nvSpPr>
        <p:spPr>
          <a:xfrm>
            <a:off x="11520600" y="4485003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OOL_END"/>
          <p:cNvSpPr txBox="1"/>
          <p:nvPr/>
        </p:nvSpPr>
        <p:spPr>
          <a:xfrm>
            <a:off x="10963182" y="4849136"/>
            <a:ext cx="1032547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TOOL_END</a:t>
            </a:r>
          </a:p>
        </p:txBody>
      </p:sp>
      <p:sp>
        <p:nvSpPr>
          <p:cNvPr id="137" name="curve 136"/>
          <p:cNvSpPr/>
          <p:nvPr/>
        </p:nvSpPr>
        <p:spPr>
          <a:xfrm>
            <a:off x="12294126" y="2493387"/>
            <a:ext cx="394992" cy="1028625"/>
          </a:xfrm>
          <a:custGeom>
            <a:avLst/>
            <a:gdLst/>
            <a:ahLst/>
            <a:cxnLst/>
            <a:rect l="l" t="t" r="r" b="b"/>
            <a:pathLst>
              <a:path w="48" h="125">
                <a:moveTo>
                  <a:pt x="0" y="0"/>
                </a:moveTo>
                <a:lnTo>
                  <a:pt x="17" y="0"/>
                </a:lnTo>
                <a:cubicBezTo>
                  <a:pt x="22" y="0"/>
                  <a:pt x="26" y="4"/>
                  <a:pt x="26" y="9"/>
                </a:cubicBezTo>
                <a:lnTo>
                  <a:pt x="26" y="118"/>
                </a:lnTo>
                <a:cubicBezTo>
                  <a:pt x="26" y="122"/>
                  <a:pt x="29" y="125"/>
                  <a:pt x="33" y="125"/>
                </a:cubicBezTo>
                <a:lnTo>
                  <a:pt x="48" y="125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urve 137"/>
          <p:cNvSpPr/>
          <p:nvPr/>
        </p:nvSpPr>
        <p:spPr>
          <a:xfrm>
            <a:off x="12294126" y="2493387"/>
            <a:ext cx="394992" cy="1028625"/>
          </a:xfrm>
          <a:custGeom>
            <a:avLst/>
            <a:gdLst/>
            <a:ahLst/>
            <a:cxnLst/>
            <a:rect l="l" t="t" r="r" b="b"/>
            <a:pathLst>
              <a:path w="48" h="125">
                <a:moveTo>
                  <a:pt x="0" y="0"/>
                </a:moveTo>
                <a:lnTo>
                  <a:pt x="17" y="0"/>
                </a:lnTo>
                <a:cubicBezTo>
                  <a:pt x="22" y="0"/>
                  <a:pt x="26" y="4"/>
                  <a:pt x="26" y="9"/>
                </a:cubicBezTo>
                <a:lnTo>
                  <a:pt x="26" y="118"/>
                </a:lnTo>
                <a:cubicBezTo>
                  <a:pt x="26" y="122"/>
                  <a:pt x="29" y="125"/>
                  <a:pt x="33" y="125"/>
                </a:cubicBezTo>
                <a:lnTo>
                  <a:pt x="48" y="125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arrowhead 138"/>
          <p:cNvSpPr/>
          <p:nvPr/>
        </p:nvSpPr>
        <p:spPr>
          <a:xfrm>
            <a:off x="12590370" y="3472638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12" y="6"/>
                </a:lnTo>
                <a:lnTo>
                  <a:pt x="0" y="0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urve 139"/>
          <p:cNvSpPr/>
          <p:nvPr/>
        </p:nvSpPr>
        <p:spPr>
          <a:xfrm>
            <a:off x="12294126" y="3522012"/>
            <a:ext cx="394992" cy="1003938"/>
          </a:xfrm>
          <a:custGeom>
            <a:avLst/>
            <a:gdLst/>
            <a:ahLst/>
            <a:cxnLst/>
            <a:rect l="l" t="t" r="r" b="b"/>
            <a:pathLst>
              <a:path w="48" h="122">
                <a:moveTo>
                  <a:pt x="0" y="122"/>
                </a:moveTo>
                <a:lnTo>
                  <a:pt x="17" y="122"/>
                </a:lnTo>
                <a:cubicBezTo>
                  <a:pt x="22" y="122"/>
                  <a:pt x="26" y="118"/>
                  <a:pt x="26" y="113"/>
                </a:cubicBezTo>
                <a:lnTo>
                  <a:pt x="26" y="7"/>
                </a:lnTo>
                <a:cubicBezTo>
                  <a:pt x="26" y="3"/>
                  <a:pt x="29" y="0"/>
                  <a:pt x="33" y="0"/>
                </a:cubicBezTo>
                <a:lnTo>
                  <a:pt x="48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urve 140"/>
          <p:cNvSpPr/>
          <p:nvPr/>
        </p:nvSpPr>
        <p:spPr>
          <a:xfrm>
            <a:off x="12294126" y="3522012"/>
            <a:ext cx="394992" cy="1003938"/>
          </a:xfrm>
          <a:custGeom>
            <a:avLst/>
            <a:gdLst/>
            <a:ahLst/>
            <a:cxnLst/>
            <a:rect l="l" t="t" r="r" b="b"/>
            <a:pathLst>
              <a:path w="48" h="122">
                <a:moveTo>
                  <a:pt x="0" y="122"/>
                </a:moveTo>
                <a:lnTo>
                  <a:pt x="17" y="122"/>
                </a:lnTo>
                <a:cubicBezTo>
                  <a:pt x="22" y="122"/>
                  <a:pt x="26" y="118"/>
                  <a:pt x="26" y="113"/>
                </a:cubicBezTo>
                <a:lnTo>
                  <a:pt x="26" y="7"/>
                </a:lnTo>
                <a:cubicBezTo>
                  <a:pt x="26" y="3"/>
                  <a:pt x="29" y="0"/>
                  <a:pt x="33" y="0"/>
                </a:cubicBezTo>
                <a:lnTo>
                  <a:pt x="48" y="0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rrowhead 141"/>
          <p:cNvSpPr/>
          <p:nvPr/>
        </p:nvSpPr>
        <p:spPr>
          <a:xfrm>
            <a:off x="12590370" y="3472638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12" y="6"/>
                </a:lnTo>
                <a:lnTo>
                  <a:pt x="0" y="0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circle 142"/>
          <p:cNvSpPr/>
          <p:nvPr/>
        </p:nvSpPr>
        <p:spPr>
          <a:xfrm>
            <a:off x="12705576" y="3308256"/>
            <a:ext cx="427908" cy="427908"/>
          </a:xfrm>
          <a:prstGeom prst="ellipse">
            <a:avLst/>
          </a:prstGeom>
          <a:solidFill>
            <a:srgbClr val="D9D9D9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D3"/>
          <p:cNvSpPr txBox="1"/>
          <p:nvPr/>
        </p:nvSpPr>
        <p:spPr>
          <a:xfrm>
            <a:off x="12757489" y="3369974"/>
            <a:ext cx="324081" cy="2859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D3</a:t>
            </a:r>
          </a:p>
        </p:txBody>
      </p:sp>
      <p:sp>
        <p:nvSpPr>
          <p:cNvPr id="145" name="circle 144"/>
          <p:cNvSpPr/>
          <p:nvPr/>
        </p:nvSpPr>
        <p:spPr>
          <a:xfrm>
            <a:off x="12351729" y="3365859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4"/>
          <p:cNvSpPr txBox="1"/>
          <p:nvPr/>
        </p:nvSpPr>
        <p:spPr>
          <a:xfrm>
            <a:off x="12402871" y="3363802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系统架构图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