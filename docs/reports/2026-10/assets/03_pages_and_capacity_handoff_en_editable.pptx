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167360" cy="526694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Execution-arrow numbers identify typical operations, not mandatory global ordering. 1: copy only missing stable FULL pages p4/p5 to Host; p0..p3 already have backups. PREPARE_HOST itself neither frees HBM nor speculatively backs mutable Mamba. 2: under pressure, reclaim already-backed cold p2/p3 in HBM. 3: C1 RETURN retires its unused private suffix p1..p3 without D2H; shared p0 and C2 live KV remain. Reclamation requires no active references, shared dependencies or in-flight transfer hazards. Empty page symbols show released capacity, not copied child data or parent-exclusive reservations. 4: expose the safe-input checkpoint c*, missing FULL, matching necessary state and actual free capacity to D3. c* ends at p5; generated suffixes are excluded. The state hexagon is a separate matching-state lookup, not another PREPARE destination; newer decoded Mamba need not match c*. Short waits can simply retain HBM. Physical pages and FULL/Mamba pools remain native-managed. Sources: runtime waiting prepare/terminal reclaim; sglang_v0520_physical.py; staging 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2"/>
          <p:cNvSpPr txBox="1"/>
          <p:nvPr/>
        </p:nvSpPr>
        <p:spPr>
          <a:xfrm>
            <a:off x="263328" y="115398"/>
            <a:ext cx="488018" cy="3332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D2</a:t>
            </a:r>
          </a:p>
        </p:txBody>
      </p:sp>
      <p:sp>
        <p:nvSpPr>
          <p:cNvPr id="3" name="Back up stable KV; reclaim by workflow state"/>
          <p:cNvSpPr txBox="1"/>
          <p:nvPr/>
        </p:nvSpPr>
        <p:spPr>
          <a:xfrm>
            <a:off x="888732" y="115398"/>
            <a:ext cx="6605862" cy="3332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Back up stable KV; reclaim by workflow state</a:t>
            </a:r>
          </a:p>
        </p:txBody>
      </p:sp>
      <p:sp>
        <p:nvSpPr>
          <p:cNvPr id="4" name="rect 3"/>
          <p:cNvSpPr/>
          <p:nvPr/>
        </p:nvSpPr>
        <p:spPr>
          <a:xfrm>
            <a:off x="1728090" y="856008"/>
            <a:ext cx="7241520" cy="806442"/>
          </a:xfrm>
          <a:prstGeom prst="roundRect">
            <a:avLst>
              <a:gd name="adj" fmla="val 8163"/>
            </a:avLst>
          </a:prstGeom>
          <a:solidFill>
            <a:srgbClr val="F2F2F2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 4"/>
          <p:cNvSpPr/>
          <p:nvPr/>
        </p:nvSpPr>
        <p:spPr>
          <a:xfrm>
            <a:off x="1728090" y="2452434"/>
            <a:ext cx="7241520" cy="806442"/>
          </a:xfrm>
          <a:prstGeom prst="roundRect">
            <a:avLst>
              <a:gd name="adj" fmla="val 8163"/>
            </a:avLst>
          </a:prstGeom>
          <a:solidFill>
            <a:srgbClr val="FBE3D6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 5"/>
          <p:cNvSpPr/>
          <p:nvPr/>
        </p:nvSpPr>
        <p:spPr>
          <a:xfrm>
            <a:off x="2633280" y="3703242"/>
            <a:ext cx="6336330" cy="814671"/>
          </a:xfrm>
          <a:prstGeom prst="roundRect">
            <a:avLst>
              <a:gd name="adj" fmla="val 8080"/>
            </a:avLst>
          </a:prstGeom>
          <a:solidFill>
            <a:srgbClr val="F2F2F2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 6"/>
          <p:cNvSpPr/>
          <p:nvPr/>
        </p:nvSpPr>
        <p:spPr>
          <a:xfrm>
            <a:off x="9792510" y="856008"/>
            <a:ext cx="1793922" cy="3925233"/>
          </a:xfrm>
          <a:prstGeom prst="roundRect">
            <a:avLst>
              <a:gd name="adj" fmla="val 3669"/>
            </a:avLst>
          </a:prstGeom>
          <a:solidFill>
            <a:srgbClr val="F2F2F2"/>
          </a:solidFill>
          <a:ln w="1399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ircle 7"/>
          <p:cNvSpPr/>
          <p:nvPr/>
        </p:nvSpPr>
        <p:spPr>
          <a:xfrm>
            <a:off x="469053" y="1580160"/>
            <a:ext cx="460824" cy="460824"/>
          </a:xfrm>
          <a:prstGeom prst="ellipse">
            <a:avLst/>
          </a:prstGeom>
          <a:solidFill>
            <a:srgbClr val="A6CAEC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"/>
          <p:cNvSpPr txBox="1"/>
          <p:nvPr/>
        </p:nvSpPr>
        <p:spPr>
          <a:xfrm>
            <a:off x="574696" y="1689194"/>
            <a:ext cx="249538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</a:t>
            </a:r>
          </a:p>
        </p:txBody>
      </p:sp>
      <p:sp>
        <p:nvSpPr>
          <p:cNvPr id="10" name="waiting"/>
          <p:cNvSpPr txBox="1"/>
          <p:nvPr/>
        </p:nvSpPr>
        <p:spPr>
          <a:xfrm>
            <a:off x="274964" y="2104759"/>
            <a:ext cx="849001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waiting</a:t>
            </a:r>
          </a:p>
        </p:txBody>
      </p:sp>
      <p:sp>
        <p:nvSpPr>
          <p:cNvPr id="11" name="HBM"/>
          <p:cNvSpPr txBox="1"/>
          <p:nvPr/>
        </p:nvSpPr>
        <p:spPr>
          <a:xfrm>
            <a:off x="1793922" y="1109050"/>
            <a:ext cx="675132" cy="2941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9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HBM</a:t>
            </a:r>
          </a:p>
        </p:txBody>
      </p:sp>
      <p:sp>
        <p:nvSpPr>
          <p:cNvPr id="12" name="Host"/>
          <p:cNvSpPr txBox="1"/>
          <p:nvPr/>
        </p:nvSpPr>
        <p:spPr>
          <a:xfrm>
            <a:off x="1793922" y="2631415"/>
            <a:ext cx="675807" cy="2941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9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Host</a:t>
            </a:r>
          </a:p>
        </p:txBody>
      </p:sp>
      <p:sp>
        <p:nvSpPr>
          <p:cNvPr id="13" name="rect 12"/>
          <p:cNvSpPr/>
          <p:nvPr/>
        </p:nvSpPr>
        <p:spPr>
          <a:xfrm>
            <a:off x="2921295" y="1053504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 13"/>
          <p:cNvSpPr/>
          <p:nvPr/>
        </p:nvSpPr>
        <p:spPr>
          <a:xfrm>
            <a:off x="2937753" y="1069962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0"/>
          <p:cNvSpPr txBox="1"/>
          <p:nvPr/>
        </p:nvSpPr>
        <p:spPr>
          <a:xfrm>
            <a:off x="2995854" y="1136617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p0</a:t>
            </a:r>
          </a:p>
        </p:txBody>
      </p:sp>
      <p:sp>
        <p:nvSpPr>
          <p:cNvPr id="16" name="rect 15"/>
          <p:cNvSpPr/>
          <p:nvPr/>
        </p:nvSpPr>
        <p:spPr>
          <a:xfrm>
            <a:off x="2921295" y="2575869"/>
            <a:ext cx="526656" cy="378534"/>
          </a:xfrm>
          <a:prstGeom prst="roundRect">
            <a:avLst>
              <a:gd name="adj" fmla="val 4347"/>
            </a:avLst>
          </a:prstGeom>
          <a:solidFill>
            <a:srgbClr val="FFD579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 16"/>
          <p:cNvSpPr/>
          <p:nvPr/>
        </p:nvSpPr>
        <p:spPr>
          <a:xfrm>
            <a:off x="2937753" y="2592327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0"/>
          <p:cNvSpPr txBox="1"/>
          <p:nvPr/>
        </p:nvSpPr>
        <p:spPr>
          <a:xfrm>
            <a:off x="2995854" y="2658982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p0</a:t>
            </a:r>
          </a:p>
        </p:txBody>
      </p:sp>
      <p:sp>
        <p:nvSpPr>
          <p:cNvPr id="19" name="rect 18"/>
          <p:cNvSpPr/>
          <p:nvPr/>
        </p:nvSpPr>
        <p:spPr>
          <a:xfrm>
            <a:off x="3645447" y="1053504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 19"/>
          <p:cNvSpPr/>
          <p:nvPr/>
        </p:nvSpPr>
        <p:spPr>
          <a:xfrm>
            <a:off x="3661905" y="1069962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1"/>
          <p:cNvSpPr txBox="1"/>
          <p:nvPr/>
        </p:nvSpPr>
        <p:spPr>
          <a:xfrm>
            <a:off x="3720006" y="1136617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p1</a:t>
            </a:r>
          </a:p>
        </p:txBody>
      </p:sp>
      <p:sp>
        <p:nvSpPr>
          <p:cNvPr id="22" name="rect 21"/>
          <p:cNvSpPr/>
          <p:nvPr/>
        </p:nvSpPr>
        <p:spPr>
          <a:xfrm>
            <a:off x="3645447" y="2575869"/>
            <a:ext cx="526656" cy="378534"/>
          </a:xfrm>
          <a:prstGeom prst="roundRect">
            <a:avLst>
              <a:gd name="adj" fmla="val 4347"/>
            </a:avLst>
          </a:prstGeom>
          <a:solidFill>
            <a:srgbClr val="FFD579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 22"/>
          <p:cNvSpPr/>
          <p:nvPr/>
        </p:nvSpPr>
        <p:spPr>
          <a:xfrm>
            <a:off x="3661905" y="2592327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1"/>
          <p:cNvSpPr txBox="1"/>
          <p:nvPr/>
        </p:nvSpPr>
        <p:spPr>
          <a:xfrm>
            <a:off x="3720006" y="2658982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p1</a:t>
            </a:r>
          </a:p>
        </p:txBody>
      </p:sp>
      <p:sp>
        <p:nvSpPr>
          <p:cNvPr id="25" name="rect 24"/>
          <p:cNvSpPr/>
          <p:nvPr/>
        </p:nvSpPr>
        <p:spPr>
          <a:xfrm>
            <a:off x="4369599" y="1053504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 25"/>
          <p:cNvSpPr/>
          <p:nvPr/>
        </p:nvSpPr>
        <p:spPr>
          <a:xfrm>
            <a:off x="4386057" y="1069962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2"/>
          <p:cNvSpPr txBox="1"/>
          <p:nvPr/>
        </p:nvSpPr>
        <p:spPr>
          <a:xfrm>
            <a:off x="4444158" y="1136617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p2</a:t>
            </a:r>
          </a:p>
        </p:txBody>
      </p:sp>
      <p:sp>
        <p:nvSpPr>
          <p:cNvPr id="28" name="rect 27"/>
          <p:cNvSpPr/>
          <p:nvPr/>
        </p:nvSpPr>
        <p:spPr>
          <a:xfrm>
            <a:off x="4369599" y="2575869"/>
            <a:ext cx="526656" cy="378534"/>
          </a:xfrm>
          <a:prstGeom prst="roundRect">
            <a:avLst>
              <a:gd name="adj" fmla="val 4347"/>
            </a:avLst>
          </a:prstGeom>
          <a:solidFill>
            <a:srgbClr val="FFD579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 28"/>
          <p:cNvSpPr/>
          <p:nvPr/>
        </p:nvSpPr>
        <p:spPr>
          <a:xfrm>
            <a:off x="4386057" y="2592327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2"/>
          <p:cNvSpPr txBox="1"/>
          <p:nvPr/>
        </p:nvSpPr>
        <p:spPr>
          <a:xfrm>
            <a:off x="4444158" y="2658982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p2</a:t>
            </a:r>
          </a:p>
        </p:txBody>
      </p:sp>
      <p:sp>
        <p:nvSpPr>
          <p:cNvPr id="31" name="rect 30"/>
          <p:cNvSpPr/>
          <p:nvPr/>
        </p:nvSpPr>
        <p:spPr>
          <a:xfrm>
            <a:off x="5093751" y="1053504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 31"/>
          <p:cNvSpPr/>
          <p:nvPr/>
        </p:nvSpPr>
        <p:spPr>
          <a:xfrm>
            <a:off x="5110209" y="1069962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3"/>
          <p:cNvSpPr txBox="1"/>
          <p:nvPr/>
        </p:nvSpPr>
        <p:spPr>
          <a:xfrm>
            <a:off x="5168310" y="1136617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p3</a:t>
            </a:r>
          </a:p>
        </p:txBody>
      </p:sp>
      <p:sp>
        <p:nvSpPr>
          <p:cNvPr id="34" name="rect 33"/>
          <p:cNvSpPr/>
          <p:nvPr/>
        </p:nvSpPr>
        <p:spPr>
          <a:xfrm>
            <a:off x="5093751" y="2575869"/>
            <a:ext cx="526656" cy="378534"/>
          </a:xfrm>
          <a:prstGeom prst="roundRect">
            <a:avLst>
              <a:gd name="adj" fmla="val 4347"/>
            </a:avLst>
          </a:prstGeom>
          <a:solidFill>
            <a:srgbClr val="FFD579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 34"/>
          <p:cNvSpPr/>
          <p:nvPr/>
        </p:nvSpPr>
        <p:spPr>
          <a:xfrm>
            <a:off x="5110209" y="2592327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3"/>
          <p:cNvSpPr txBox="1"/>
          <p:nvPr/>
        </p:nvSpPr>
        <p:spPr>
          <a:xfrm>
            <a:off x="5168310" y="2658982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p3</a:t>
            </a:r>
          </a:p>
        </p:txBody>
      </p:sp>
      <p:sp>
        <p:nvSpPr>
          <p:cNvPr id="37" name="rect 36"/>
          <p:cNvSpPr/>
          <p:nvPr/>
        </p:nvSpPr>
        <p:spPr>
          <a:xfrm>
            <a:off x="5817903" y="1053504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 37"/>
          <p:cNvSpPr/>
          <p:nvPr/>
        </p:nvSpPr>
        <p:spPr>
          <a:xfrm>
            <a:off x="5834361" y="1069962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4"/>
          <p:cNvSpPr txBox="1"/>
          <p:nvPr/>
        </p:nvSpPr>
        <p:spPr>
          <a:xfrm>
            <a:off x="5892462" y="1136617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p4</a:t>
            </a:r>
          </a:p>
        </p:txBody>
      </p:sp>
      <p:sp>
        <p:nvSpPr>
          <p:cNvPr id="40" name="rect 39"/>
          <p:cNvSpPr/>
          <p:nvPr/>
        </p:nvSpPr>
        <p:spPr>
          <a:xfrm>
            <a:off x="5817903" y="2575869"/>
            <a:ext cx="526656" cy="378534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3167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 40"/>
          <p:cNvSpPr/>
          <p:nvPr/>
        </p:nvSpPr>
        <p:spPr>
          <a:xfrm>
            <a:off x="5834361" y="2592327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4"/>
          <p:cNvSpPr txBox="1"/>
          <p:nvPr/>
        </p:nvSpPr>
        <p:spPr>
          <a:xfrm>
            <a:off x="5892462" y="2658982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p4</a:t>
            </a:r>
          </a:p>
        </p:txBody>
      </p:sp>
      <p:cxnSp>
        <p:nvCxnSpPr>
          <p:cNvPr id="43" name="path 42"/>
          <p:cNvCxnSpPr/>
          <p:nvPr/>
        </p:nvCxnSpPr>
        <p:spPr>
          <a:xfrm>
            <a:off x="6081231" y="1481412"/>
            <a:ext cx="0" cy="1036854"/>
          </a:xfrm>
          <a:prstGeom prst="line">
            <a:avLst/>
          </a:prstGeom>
          <a:ln w="8641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path 43"/>
          <p:cNvCxnSpPr/>
          <p:nvPr/>
        </p:nvCxnSpPr>
        <p:spPr>
          <a:xfrm>
            <a:off x="6081231" y="1481412"/>
            <a:ext cx="0" cy="1036854"/>
          </a:xfrm>
          <a:prstGeom prst="line">
            <a:avLst/>
          </a:prstGeom>
          <a:ln w="69951">
            <a:solidFill>
              <a:srgbClr val="3550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rrowhead 44"/>
          <p:cNvSpPr/>
          <p:nvPr/>
        </p:nvSpPr>
        <p:spPr>
          <a:xfrm>
            <a:off x="5949567" y="2254746"/>
            <a:ext cx="263328" cy="263328"/>
          </a:xfrm>
          <a:custGeom>
            <a:avLst/>
            <a:gdLst/>
            <a:ahLst/>
            <a:cxnLst/>
            <a:rect l="l" t="t" r="r" b="b"/>
            <a:pathLst>
              <a:path w="32" h="32">
                <a:moveTo>
                  <a:pt x="16" y="32"/>
                </a:moveTo>
                <a:lnTo>
                  <a:pt x="0" y="0"/>
                </a:lnTo>
                <a:lnTo>
                  <a:pt x="32" y="0"/>
                </a:lnTo>
                <a:close/>
              </a:path>
            </a:pathLst>
          </a:custGeom>
          <a:solidFill>
            <a:srgbClr val="355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 45"/>
          <p:cNvSpPr/>
          <p:nvPr/>
        </p:nvSpPr>
        <p:spPr>
          <a:xfrm>
            <a:off x="6542055" y="1053504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 46"/>
          <p:cNvSpPr/>
          <p:nvPr/>
        </p:nvSpPr>
        <p:spPr>
          <a:xfrm>
            <a:off x="6558513" y="1069962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5"/>
          <p:cNvSpPr txBox="1"/>
          <p:nvPr/>
        </p:nvSpPr>
        <p:spPr>
          <a:xfrm>
            <a:off x="6616614" y="1136617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p5</a:t>
            </a:r>
          </a:p>
        </p:txBody>
      </p:sp>
      <p:sp>
        <p:nvSpPr>
          <p:cNvPr id="49" name="rect 48"/>
          <p:cNvSpPr/>
          <p:nvPr/>
        </p:nvSpPr>
        <p:spPr>
          <a:xfrm>
            <a:off x="6542055" y="2575869"/>
            <a:ext cx="526656" cy="378534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3167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 49"/>
          <p:cNvSpPr/>
          <p:nvPr/>
        </p:nvSpPr>
        <p:spPr>
          <a:xfrm>
            <a:off x="6558513" y="2592327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5"/>
          <p:cNvSpPr txBox="1"/>
          <p:nvPr/>
        </p:nvSpPr>
        <p:spPr>
          <a:xfrm>
            <a:off x="6616614" y="2658982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p5</a:t>
            </a:r>
          </a:p>
        </p:txBody>
      </p:sp>
      <p:cxnSp>
        <p:nvCxnSpPr>
          <p:cNvPr id="52" name="path 51"/>
          <p:cNvCxnSpPr/>
          <p:nvPr/>
        </p:nvCxnSpPr>
        <p:spPr>
          <a:xfrm>
            <a:off x="6805383" y="1481412"/>
            <a:ext cx="0" cy="1036854"/>
          </a:xfrm>
          <a:prstGeom prst="line">
            <a:avLst/>
          </a:prstGeom>
          <a:ln w="8641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path 52"/>
          <p:cNvCxnSpPr/>
          <p:nvPr/>
        </p:nvCxnSpPr>
        <p:spPr>
          <a:xfrm>
            <a:off x="6805383" y="1481412"/>
            <a:ext cx="0" cy="1036854"/>
          </a:xfrm>
          <a:prstGeom prst="line">
            <a:avLst/>
          </a:prstGeom>
          <a:ln w="69951">
            <a:solidFill>
              <a:srgbClr val="3550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head 53"/>
          <p:cNvSpPr/>
          <p:nvPr/>
        </p:nvSpPr>
        <p:spPr>
          <a:xfrm>
            <a:off x="6673719" y="2254746"/>
            <a:ext cx="263328" cy="263328"/>
          </a:xfrm>
          <a:custGeom>
            <a:avLst/>
            <a:gdLst/>
            <a:ahLst/>
            <a:cxnLst/>
            <a:rect l="l" t="t" r="r" b="b"/>
            <a:pathLst>
              <a:path w="32" h="32">
                <a:moveTo>
                  <a:pt x="16" y="32"/>
                </a:moveTo>
                <a:lnTo>
                  <a:pt x="0" y="0"/>
                </a:lnTo>
                <a:lnTo>
                  <a:pt x="32" y="0"/>
                </a:lnTo>
                <a:close/>
              </a:path>
            </a:pathLst>
          </a:custGeom>
          <a:solidFill>
            <a:srgbClr val="355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th 54"/>
          <p:cNvSpPr/>
          <p:nvPr/>
        </p:nvSpPr>
        <p:spPr>
          <a:xfrm>
            <a:off x="3044730" y="1514136"/>
            <a:ext cx="65832" cy="57603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7"/>
                </a:moveTo>
                <a:lnTo>
                  <a:pt x="0" y="0"/>
                </a:lnTo>
                <a:lnTo>
                  <a:pt x="8" y="0"/>
                </a:lnTo>
                <a:lnTo>
                  <a:pt x="8" y="7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 55"/>
          <p:cNvSpPr/>
          <p:nvPr/>
        </p:nvSpPr>
        <p:spPr>
          <a:xfrm>
            <a:off x="3020043" y="1570285"/>
            <a:ext cx="118498" cy="9874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ircle 56"/>
          <p:cNvSpPr/>
          <p:nvPr/>
        </p:nvSpPr>
        <p:spPr>
          <a:xfrm>
            <a:off x="3069417" y="1599910"/>
            <a:ext cx="19750" cy="19750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hared: keep"/>
          <p:cNvSpPr txBox="1"/>
          <p:nvPr/>
        </p:nvSpPr>
        <p:spPr>
          <a:xfrm>
            <a:off x="2863692" y="1773542"/>
            <a:ext cx="1270127" cy="2448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shared: keep</a:t>
            </a:r>
          </a:p>
        </p:txBody>
      </p:sp>
      <p:sp>
        <p:nvSpPr>
          <p:cNvPr id="59" name="path 58"/>
          <p:cNvSpPr/>
          <p:nvPr/>
        </p:nvSpPr>
        <p:spPr>
          <a:xfrm>
            <a:off x="4369599" y="921648"/>
            <a:ext cx="1250808" cy="57603"/>
          </a:xfrm>
          <a:custGeom>
            <a:avLst/>
            <a:gdLst/>
            <a:ahLst/>
            <a:cxnLst/>
            <a:rect l="l" t="t" r="r" b="b"/>
            <a:pathLst>
              <a:path w="152" h="7">
                <a:moveTo>
                  <a:pt x="0" y="7"/>
                </a:moveTo>
                <a:lnTo>
                  <a:pt x="0" y="0"/>
                </a:lnTo>
                <a:lnTo>
                  <a:pt x="152" y="0"/>
                </a:lnTo>
                <a:lnTo>
                  <a:pt x="152" y="7"/>
                </a:lnTo>
              </a:path>
            </a:pathLst>
          </a:custGeom>
          <a:noFill/>
          <a:ln w="13167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urve 59"/>
          <p:cNvSpPr/>
          <p:nvPr/>
        </p:nvSpPr>
        <p:spPr>
          <a:xfrm>
            <a:off x="4995003" y="913419"/>
            <a:ext cx="5003232" cy="320931"/>
          </a:xfrm>
          <a:custGeom>
            <a:avLst/>
            <a:gdLst/>
            <a:ahLst/>
            <a:cxnLst/>
            <a:rect l="l" t="t" r="r" b="b"/>
            <a:pathLst>
              <a:path w="608" h="39">
                <a:moveTo>
                  <a:pt x="0" y="0"/>
                </a:moveTo>
                <a:cubicBezTo>
                  <a:pt x="243" y="0"/>
                  <a:pt x="483" y="39"/>
                  <a:pt x="608" y="39"/>
                </a:cubicBezTo>
              </a:path>
            </a:pathLst>
          </a:custGeom>
          <a:noFill/>
          <a:ln w="65836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urve 60"/>
          <p:cNvSpPr/>
          <p:nvPr/>
        </p:nvSpPr>
        <p:spPr>
          <a:xfrm>
            <a:off x="4995003" y="913419"/>
            <a:ext cx="5003232" cy="320931"/>
          </a:xfrm>
          <a:custGeom>
            <a:avLst/>
            <a:gdLst/>
            <a:ahLst/>
            <a:cxnLst/>
            <a:rect l="l" t="t" r="r" b="b"/>
            <a:pathLst>
              <a:path w="608" h="39">
                <a:moveTo>
                  <a:pt x="0" y="0"/>
                </a:moveTo>
                <a:cubicBezTo>
                  <a:pt x="243" y="0"/>
                  <a:pt x="483" y="39"/>
                  <a:pt x="608" y="39"/>
                </a:cubicBezTo>
              </a:path>
            </a:pathLst>
          </a:custGeom>
          <a:noFill/>
          <a:ln w="49377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rrowhead 61"/>
          <p:cNvSpPr/>
          <p:nvPr/>
        </p:nvSpPr>
        <p:spPr>
          <a:xfrm>
            <a:off x="9800739" y="1135602"/>
            <a:ext cx="197496" cy="197496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24" y="12"/>
                </a:moveTo>
                <a:lnTo>
                  <a:pt x="0" y="24"/>
                </a:lnTo>
                <a:lnTo>
                  <a:pt x="6" y="12"/>
                </a:lnTo>
                <a:lnTo>
                  <a:pt x="0" y="0"/>
                </a:lnTo>
                <a:close/>
              </a:path>
            </a:pathLst>
          </a:custGeom>
          <a:solidFill>
            <a:srgbClr val="275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ircle 62"/>
          <p:cNvSpPr/>
          <p:nvPr/>
        </p:nvSpPr>
        <p:spPr>
          <a:xfrm>
            <a:off x="7784634" y="938298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2"/>
          <p:cNvSpPr txBox="1"/>
          <p:nvPr/>
        </p:nvSpPr>
        <p:spPr>
          <a:xfrm>
            <a:off x="7825763" y="979443"/>
            <a:ext cx="230444" cy="255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en-US" spc="0">
                <a:solidFill>
                  <a:srgbClr val="FFFFFF"/>
                </a:solidFill>
                <a:latin typeface="DejaVu Sans"/>
                <a:ea typeface="DejaVu Sans"/>
                <a:effectLst/>
              </a:rPr>
              <a:t>2</a:t>
            </a:r>
          </a:p>
        </p:txBody>
      </p:sp>
      <p:sp>
        <p:nvSpPr>
          <p:cNvPr id="65" name="cold + backed"/>
          <p:cNvSpPr txBox="1"/>
          <p:nvPr/>
        </p:nvSpPr>
        <p:spPr>
          <a:xfrm>
            <a:off x="8058955" y="547420"/>
            <a:ext cx="1508607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cold + backed</a:t>
            </a:r>
          </a:p>
        </p:txBody>
      </p:sp>
      <p:sp>
        <p:nvSpPr>
          <p:cNvPr id="66" name="rect 65"/>
          <p:cNvSpPr/>
          <p:nvPr/>
        </p:nvSpPr>
        <p:spPr>
          <a:xfrm>
            <a:off x="10129899" y="1053504"/>
            <a:ext cx="370305" cy="378534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 66"/>
          <p:cNvSpPr/>
          <p:nvPr/>
        </p:nvSpPr>
        <p:spPr>
          <a:xfrm>
            <a:off x="10640097" y="1053504"/>
            <a:ext cx="370305" cy="378534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+ capacity"/>
          <p:cNvSpPr txBox="1"/>
          <p:nvPr/>
        </p:nvSpPr>
        <p:spPr>
          <a:xfrm>
            <a:off x="10059711" y="1584274"/>
            <a:ext cx="1160771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+ capacity</a:t>
            </a:r>
          </a:p>
        </p:txBody>
      </p:sp>
      <p:sp>
        <p:nvSpPr>
          <p:cNvPr id="69" name="increment only"/>
          <p:cNvSpPr txBox="1"/>
          <p:nvPr/>
        </p:nvSpPr>
        <p:spPr>
          <a:xfrm>
            <a:off x="3997896" y="1954580"/>
            <a:ext cx="1582765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increment only</a:t>
            </a:r>
          </a:p>
        </p:txBody>
      </p:sp>
      <p:sp>
        <p:nvSpPr>
          <p:cNvPr id="70" name="D2H"/>
          <p:cNvSpPr txBox="1"/>
          <p:nvPr/>
        </p:nvSpPr>
        <p:spPr>
          <a:xfrm>
            <a:off x="4505088" y="2236423"/>
            <a:ext cx="584838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D2H</a:t>
            </a:r>
          </a:p>
        </p:txBody>
      </p:sp>
      <p:sp>
        <p:nvSpPr>
          <p:cNvPr id="71" name="circle 70"/>
          <p:cNvSpPr/>
          <p:nvPr/>
        </p:nvSpPr>
        <p:spPr>
          <a:xfrm>
            <a:off x="6649032" y="1901091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1"/>
          <p:cNvSpPr txBox="1"/>
          <p:nvPr/>
        </p:nvSpPr>
        <p:spPr>
          <a:xfrm>
            <a:off x="6690161" y="1942236"/>
            <a:ext cx="230444" cy="255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en-US" spc="0">
                <a:solidFill>
                  <a:srgbClr val="FFFFFF"/>
                </a:solidFill>
                <a:latin typeface="DejaVu Sans"/>
                <a:ea typeface="DejaVu Sans"/>
                <a:effectLst/>
              </a:rPr>
              <a:t>1</a:t>
            </a:r>
          </a:p>
        </p:txBody>
      </p:sp>
      <p:sp>
        <p:nvSpPr>
          <p:cNvPr id="73" name="path 72"/>
          <p:cNvSpPr/>
          <p:nvPr/>
        </p:nvSpPr>
        <p:spPr>
          <a:xfrm>
            <a:off x="2921295" y="3151707"/>
            <a:ext cx="4147416" cy="57603"/>
          </a:xfrm>
          <a:custGeom>
            <a:avLst/>
            <a:gdLst/>
            <a:ahLst/>
            <a:cxnLst/>
            <a:rect l="l" t="t" r="r" b="b"/>
            <a:pathLst>
              <a:path w="504" h="7">
                <a:moveTo>
                  <a:pt x="0" y="7"/>
                </a:moveTo>
                <a:lnTo>
                  <a:pt x="0" y="0"/>
                </a:lnTo>
                <a:lnTo>
                  <a:pt x="504" y="0"/>
                </a:lnTo>
                <a:lnTo>
                  <a:pt x="504" y="7"/>
                </a:lnTo>
              </a:path>
            </a:pathLst>
          </a:custGeom>
          <a:noFill/>
          <a:ln w="13167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"/>
          <p:cNvSpPr txBox="1"/>
          <p:nvPr/>
        </p:nvSpPr>
        <p:spPr>
          <a:xfrm>
            <a:off x="4428584" y="3365853"/>
            <a:ext cx="201032" cy="290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1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c</a:t>
            </a:r>
          </a:p>
        </p:txBody>
      </p:sp>
      <p:sp>
        <p:nvSpPr>
          <p:cNvPr id="75" name="*"/>
          <p:cNvSpPr txBox="1"/>
          <p:nvPr/>
        </p:nvSpPr>
        <p:spPr>
          <a:xfrm>
            <a:off x="4539097" y="3315985"/>
            <a:ext cx="173838" cy="201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9" b="0" i="0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*</a:t>
            </a:r>
          </a:p>
        </p:txBody>
      </p:sp>
      <p:sp>
        <p:nvSpPr>
          <p:cNvPr id="76" name=" : stable FULL"/>
          <p:cNvSpPr txBox="1"/>
          <p:nvPr/>
        </p:nvSpPr>
        <p:spPr>
          <a:xfrm>
            <a:off x="4622416" y="3365853"/>
            <a:ext cx="1449204" cy="290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 : stable FULL</a:t>
            </a:r>
          </a:p>
        </p:txBody>
      </p:sp>
      <p:sp>
        <p:nvSpPr>
          <p:cNvPr id="77" name="polygon 76"/>
          <p:cNvSpPr/>
          <p:nvPr/>
        </p:nvSpPr>
        <p:spPr>
          <a:xfrm>
            <a:off x="7751718" y="2567448"/>
            <a:ext cx="485511" cy="362076"/>
          </a:xfrm>
          <a:custGeom>
            <a:avLst/>
            <a:gdLst/>
            <a:ahLst/>
            <a:cxnLst/>
            <a:rect l="l" t="t" r="r" b="b"/>
            <a:pathLst>
              <a:path w="59" h="44">
                <a:moveTo>
                  <a:pt x="9" y="0"/>
                </a:moveTo>
                <a:lnTo>
                  <a:pt x="50" y="0"/>
                </a:lnTo>
                <a:lnTo>
                  <a:pt x="59" y="22"/>
                </a:lnTo>
                <a:lnTo>
                  <a:pt x="50" y="44"/>
                </a:lnTo>
                <a:lnTo>
                  <a:pt x="9" y="44"/>
                </a:lnTo>
                <a:lnTo>
                  <a:pt x="0" y="22"/>
                </a:lnTo>
                <a:close/>
              </a:path>
            </a:pathLst>
          </a:custGeom>
          <a:solidFill>
            <a:srgbClr val="FFD579"/>
          </a:solidFill>
          <a:ln w="1234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"/>
          <p:cNvSpPr txBox="1"/>
          <p:nvPr/>
        </p:nvSpPr>
        <p:spPr>
          <a:xfrm>
            <a:off x="7872790" y="2625243"/>
            <a:ext cx="245423" cy="2715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3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S</a:t>
            </a:r>
          </a:p>
        </p:txBody>
      </p:sp>
      <p:sp>
        <p:nvSpPr>
          <p:cNvPr id="79" name="rect 78"/>
          <p:cNvSpPr/>
          <p:nvPr/>
        </p:nvSpPr>
        <p:spPr>
          <a:xfrm>
            <a:off x="7838122" y="2610842"/>
            <a:ext cx="314759" cy="30859"/>
          </a:xfrm>
          <a:prstGeom prst="roundRect">
            <a:avLst>
              <a:gd name="adj" fmla="val 26666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"/>
          <p:cNvSpPr txBox="1"/>
          <p:nvPr/>
        </p:nvSpPr>
        <p:spPr>
          <a:xfrm>
            <a:off x="7838765" y="3357624"/>
            <a:ext cx="191614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1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s</a:t>
            </a:r>
          </a:p>
        </p:txBody>
      </p:sp>
      <p:sp>
        <p:nvSpPr>
          <p:cNvPr id="81" name="("/>
          <p:cNvSpPr txBox="1"/>
          <p:nvPr/>
        </p:nvSpPr>
        <p:spPr>
          <a:xfrm>
            <a:off x="7931631" y="3357624"/>
            <a:ext cx="178209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0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(</a:t>
            </a:r>
          </a:p>
        </p:txBody>
      </p:sp>
      <p:sp>
        <p:nvSpPr>
          <p:cNvPr id="82" name="c"/>
          <p:cNvSpPr txBox="1"/>
          <p:nvPr/>
        </p:nvSpPr>
        <p:spPr>
          <a:xfrm>
            <a:off x="8011092" y="3357624"/>
            <a:ext cx="204664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1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c</a:t>
            </a:r>
          </a:p>
        </p:txBody>
      </p:sp>
      <p:sp>
        <p:nvSpPr>
          <p:cNvPr id="83" name="*"/>
          <p:cNvSpPr txBox="1"/>
          <p:nvPr/>
        </p:nvSpPr>
        <p:spPr>
          <a:xfrm>
            <a:off x="8125237" y="3309649"/>
            <a:ext cx="175895" cy="2057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*</a:t>
            </a:r>
          </a:p>
        </p:txBody>
      </p:sp>
      <p:sp>
        <p:nvSpPr>
          <p:cNvPr id="84" name=")"/>
          <p:cNvSpPr txBox="1"/>
          <p:nvPr/>
        </p:nvSpPr>
        <p:spPr>
          <a:xfrm>
            <a:off x="8210613" y="3357624"/>
            <a:ext cx="178209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0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)</a:t>
            </a:r>
          </a:p>
        </p:txBody>
      </p:sp>
      <p:sp>
        <p:nvSpPr>
          <p:cNvPr id="85" name="match if needed"/>
          <p:cNvSpPr txBox="1"/>
          <p:nvPr/>
        </p:nvSpPr>
        <p:spPr>
          <a:xfrm>
            <a:off x="7685886" y="2086244"/>
            <a:ext cx="1646571" cy="255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match if needed</a:t>
            </a:r>
          </a:p>
        </p:txBody>
      </p:sp>
      <p:sp>
        <p:nvSpPr>
          <p:cNvPr id="86" name="circle 85"/>
          <p:cNvSpPr/>
          <p:nvPr/>
        </p:nvSpPr>
        <p:spPr>
          <a:xfrm>
            <a:off x="485511" y="3867822"/>
            <a:ext cx="444366" cy="444366"/>
          </a:xfrm>
          <a:prstGeom prst="ellipse">
            <a:avLst/>
          </a:prstGeom>
          <a:solidFill>
            <a:srgbClr val="84E291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1"/>
          <p:cNvSpPr txBox="1"/>
          <p:nvPr/>
        </p:nvSpPr>
        <p:spPr>
          <a:xfrm>
            <a:off x="511259" y="3968627"/>
            <a:ext cx="392870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C1</a:t>
            </a:r>
          </a:p>
        </p:txBody>
      </p:sp>
      <p:sp>
        <p:nvSpPr>
          <p:cNvPr id="88" name="path 87"/>
          <p:cNvSpPr/>
          <p:nvPr/>
        </p:nvSpPr>
        <p:spPr>
          <a:xfrm>
            <a:off x="979251" y="3818256"/>
            <a:ext cx="156351" cy="156351"/>
          </a:xfrm>
          <a:custGeom>
            <a:avLst/>
            <a:gdLst/>
            <a:ahLst/>
            <a:cxnLst/>
            <a:rect l="l" t="t" r="r" b="b"/>
            <a:pathLst>
              <a:path w="19" h="19">
                <a:moveTo>
                  <a:pt x="0" y="10"/>
                </a:moveTo>
                <a:lnTo>
                  <a:pt x="7" y="19"/>
                </a:lnTo>
                <a:lnTo>
                  <a:pt x="19" y="0"/>
                </a:lnTo>
              </a:path>
            </a:pathLst>
          </a:custGeom>
          <a:noFill/>
          <a:ln w="2304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TURN"/>
          <p:cNvSpPr txBox="1"/>
          <p:nvPr/>
        </p:nvSpPr>
        <p:spPr>
          <a:xfrm>
            <a:off x="1110915" y="3972742"/>
            <a:ext cx="1035665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RETURN</a:t>
            </a:r>
          </a:p>
        </p:txBody>
      </p:sp>
      <p:cxnSp>
        <p:nvCxnSpPr>
          <p:cNvPr id="90" name="path 89"/>
          <p:cNvCxnSpPr/>
          <p:nvPr/>
        </p:nvCxnSpPr>
        <p:spPr>
          <a:xfrm>
            <a:off x="2139540" y="4090005"/>
            <a:ext cx="658320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path 90"/>
          <p:cNvCxnSpPr/>
          <p:nvPr/>
        </p:nvCxnSpPr>
        <p:spPr>
          <a:xfrm>
            <a:off x="2139540" y="4090005"/>
            <a:ext cx="658320" cy="0"/>
          </a:xfrm>
          <a:prstGeom prst="line">
            <a:avLst/>
          </a:prstGeom>
          <a:ln w="3950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arrowhead 91"/>
          <p:cNvSpPr/>
          <p:nvPr/>
        </p:nvSpPr>
        <p:spPr>
          <a:xfrm>
            <a:off x="2649738" y="4015752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9"/>
                </a:move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 92"/>
          <p:cNvSpPr/>
          <p:nvPr/>
        </p:nvSpPr>
        <p:spPr>
          <a:xfrm>
            <a:off x="2921295" y="3900738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 93"/>
          <p:cNvSpPr/>
          <p:nvPr/>
        </p:nvSpPr>
        <p:spPr>
          <a:xfrm>
            <a:off x="2937753" y="3917196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p0"/>
          <p:cNvSpPr txBox="1"/>
          <p:nvPr/>
        </p:nvSpPr>
        <p:spPr>
          <a:xfrm>
            <a:off x="2995854" y="3983851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p0</a:t>
            </a:r>
          </a:p>
        </p:txBody>
      </p:sp>
      <p:sp>
        <p:nvSpPr>
          <p:cNvPr id="96" name="rect 95"/>
          <p:cNvSpPr/>
          <p:nvPr/>
        </p:nvSpPr>
        <p:spPr>
          <a:xfrm>
            <a:off x="3645447" y="3900738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 96"/>
          <p:cNvSpPr/>
          <p:nvPr/>
        </p:nvSpPr>
        <p:spPr>
          <a:xfrm>
            <a:off x="3661905" y="3917196"/>
            <a:ext cx="493740" cy="41145"/>
          </a:xfrm>
          <a:prstGeom prst="roundRect">
            <a:avLst>
              <a:gd name="adj" fmla="val 20000"/>
            </a:avLst>
          </a:prstGeom>
          <a:solidFill>
            <a:srgbClr val="84E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p1"/>
          <p:cNvSpPr txBox="1"/>
          <p:nvPr/>
        </p:nvSpPr>
        <p:spPr>
          <a:xfrm>
            <a:off x="3720006" y="3983851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p1</a:t>
            </a:r>
          </a:p>
        </p:txBody>
      </p:sp>
      <p:sp>
        <p:nvSpPr>
          <p:cNvPr id="99" name="rect 98"/>
          <p:cNvSpPr/>
          <p:nvPr/>
        </p:nvSpPr>
        <p:spPr>
          <a:xfrm>
            <a:off x="4369599" y="3900738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 99"/>
          <p:cNvSpPr/>
          <p:nvPr/>
        </p:nvSpPr>
        <p:spPr>
          <a:xfrm>
            <a:off x="4386057" y="3917196"/>
            <a:ext cx="493740" cy="41145"/>
          </a:xfrm>
          <a:prstGeom prst="roundRect">
            <a:avLst>
              <a:gd name="adj" fmla="val 20000"/>
            </a:avLst>
          </a:prstGeom>
          <a:solidFill>
            <a:srgbClr val="84E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p2"/>
          <p:cNvSpPr txBox="1"/>
          <p:nvPr/>
        </p:nvSpPr>
        <p:spPr>
          <a:xfrm>
            <a:off x="4444158" y="3983851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p2</a:t>
            </a:r>
          </a:p>
        </p:txBody>
      </p:sp>
      <p:sp>
        <p:nvSpPr>
          <p:cNvPr id="102" name="rect 101"/>
          <p:cNvSpPr/>
          <p:nvPr/>
        </p:nvSpPr>
        <p:spPr>
          <a:xfrm>
            <a:off x="5093751" y="3900738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 102"/>
          <p:cNvSpPr/>
          <p:nvPr/>
        </p:nvSpPr>
        <p:spPr>
          <a:xfrm>
            <a:off x="5110209" y="3917196"/>
            <a:ext cx="493740" cy="41145"/>
          </a:xfrm>
          <a:prstGeom prst="roundRect">
            <a:avLst>
              <a:gd name="adj" fmla="val 20000"/>
            </a:avLst>
          </a:prstGeom>
          <a:solidFill>
            <a:srgbClr val="84E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p3"/>
          <p:cNvSpPr txBox="1"/>
          <p:nvPr/>
        </p:nvSpPr>
        <p:spPr>
          <a:xfrm>
            <a:off x="5168310" y="3983851"/>
            <a:ext cx="377538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p3</a:t>
            </a:r>
          </a:p>
        </p:txBody>
      </p:sp>
      <p:sp>
        <p:nvSpPr>
          <p:cNvPr id="105" name="path 104"/>
          <p:cNvSpPr/>
          <p:nvPr/>
        </p:nvSpPr>
        <p:spPr>
          <a:xfrm>
            <a:off x="3094104" y="4369599"/>
            <a:ext cx="65832" cy="57603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7"/>
                </a:moveTo>
                <a:lnTo>
                  <a:pt x="0" y="0"/>
                </a:lnTo>
                <a:lnTo>
                  <a:pt x="8" y="0"/>
                </a:lnTo>
                <a:lnTo>
                  <a:pt x="8" y="7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 105"/>
          <p:cNvSpPr/>
          <p:nvPr/>
        </p:nvSpPr>
        <p:spPr>
          <a:xfrm>
            <a:off x="3069417" y="4425748"/>
            <a:ext cx="118498" cy="9874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circle 106"/>
          <p:cNvSpPr/>
          <p:nvPr/>
        </p:nvSpPr>
        <p:spPr>
          <a:xfrm>
            <a:off x="3118791" y="4455373"/>
            <a:ext cx="19750" cy="19750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path 107"/>
          <p:cNvSpPr/>
          <p:nvPr/>
        </p:nvSpPr>
        <p:spPr>
          <a:xfrm>
            <a:off x="3645447" y="4418973"/>
            <a:ext cx="1974960" cy="57603"/>
          </a:xfrm>
          <a:custGeom>
            <a:avLst/>
            <a:gdLst/>
            <a:ahLst/>
            <a:cxnLst/>
            <a:rect l="l" t="t" r="r" b="b"/>
            <a:pathLst>
              <a:path w="240" h="7">
                <a:moveTo>
                  <a:pt x="0" y="7"/>
                </a:moveTo>
                <a:lnTo>
                  <a:pt x="0" y="0"/>
                </a:lnTo>
                <a:lnTo>
                  <a:pt x="240" y="0"/>
                </a:lnTo>
                <a:lnTo>
                  <a:pt x="240" y="7"/>
                </a:lnTo>
              </a:path>
            </a:pathLst>
          </a:custGeom>
          <a:noFill/>
          <a:ln w="13167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unused private suffix"/>
          <p:cNvSpPr txBox="1"/>
          <p:nvPr/>
        </p:nvSpPr>
        <p:spPr>
          <a:xfrm>
            <a:off x="3565745" y="4538485"/>
            <a:ext cx="2183739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unused private suffix</a:t>
            </a:r>
          </a:p>
        </p:txBody>
      </p:sp>
      <p:cxnSp>
        <p:nvCxnSpPr>
          <p:cNvPr id="110" name="path 109"/>
          <p:cNvCxnSpPr/>
          <p:nvPr/>
        </p:nvCxnSpPr>
        <p:spPr>
          <a:xfrm>
            <a:off x="5760300" y="4090005"/>
            <a:ext cx="4180332" cy="0"/>
          </a:xfrm>
          <a:prstGeom prst="line">
            <a:avLst/>
          </a:prstGeom>
          <a:ln w="6583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path 110"/>
          <p:cNvCxnSpPr/>
          <p:nvPr/>
        </p:nvCxnSpPr>
        <p:spPr>
          <a:xfrm>
            <a:off x="5760300" y="4090005"/>
            <a:ext cx="4180332" cy="0"/>
          </a:xfrm>
          <a:prstGeom prst="line">
            <a:avLst/>
          </a:prstGeom>
          <a:ln w="49377">
            <a:solidFill>
              <a:srgbClr val="2753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arrowhead 111"/>
          <p:cNvSpPr/>
          <p:nvPr/>
        </p:nvSpPr>
        <p:spPr>
          <a:xfrm>
            <a:off x="9743136" y="3991065"/>
            <a:ext cx="197496" cy="197496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24" y="12"/>
                </a:moveTo>
                <a:lnTo>
                  <a:pt x="0" y="24"/>
                </a:lnTo>
                <a:lnTo>
                  <a:pt x="6" y="12"/>
                </a:lnTo>
                <a:lnTo>
                  <a:pt x="0" y="0"/>
                </a:lnTo>
                <a:close/>
              </a:path>
            </a:pathLst>
          </a:custGeom>
          <a:solidFill>
            <a:srgbClr val="275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circle 112"/>
          <p:cNvSpPr/>
          <p:nvPr/>
        </p:nvSpPr>
        <p:spPr>
          <a:xfrm>
            <a:off x="7784634" y="3933654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3"/>
          <p:cNvSpPr txBox="1"/>
          <p:nvPr/>
        </p:nvSpPr>
        <p:spPr>
          <a:xfrm>
            <a:off x="7825763" y="3974799"/>
            <a:ext cx="230444" cy="255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en-US" spc="0">
                <a:solidFill>
                  <a:srgbClr val="FFFFFF"/>
                </a:solidFill>
                <a:latin typeface="DejaVu Sans"/>
                <a:ea typeface="DejaVu Sans"/>
                <a:effectLst/>
              </a:rPr>
              <a:t>3</a:t>
            </a:r>
          </a:p>
        </p:txBody>
      </p:sp>
      <p:sp>
        <p:nvSpPr>
          <p:cNvPr id="115" name="retire, no D2H"/>
          <p:cNvSpPr txBox="1"/>
          <p:nvPr/>
        </p:nvSpPr>
        <p:spPr>
          <a:xfrm>
            <a:off x="7056914" y="4176409"/>
            <a:ext cx="1488356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retire, no D2H</a:t>
            </a:r>
          </a:p>
        </p:txBody>
      </p:sp>
      <p:sp>
        <p:nvSpPr>
          <p:cNvPr id="116" name="rect 115"/>
          <p:cNvSpPr/>
          <p:nvPr/>
        </p:nvSpPr>
        <p:spPr>
          <a:xfrm>
            <a:off x="10129899" y="3900738"/>
            <a:ext cx="337389" cy="37853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 116"/>
          <p:cNvSpPr/>
          <p:nvPr/>
        </p:nvSpPr>
        <p:spPr>
          <a:xfrm>
            <a:off x="10582494" y="3900738"/>
            <a:ext cx="337389" cy="37853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 117"/>
          <p:cNvSpPr/>
          <p:nvPr/>
        </p:nvSpPr>
        <p:spPr>
          <a:xfrm>
            <a:off x="11035089" y="3900738"/>
            <a:ext cx="337389" cy="37853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+ capacity"/>
          <p:cNvSpPr txBox="1"/>
          <p:nvPr/>
        </p:nvSpPr>
        <p:spPr>
          <a:xfrm>
            <a:off x="10150230" y="4415050"/>
            <a:ext cx="1160771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+ capacity</a:t>
            </a:r>
          </a:p>
        </p:txBody>
      </p:sp>
      <p:sp>
        <p:nvSpPr>
          <p:cNvPr id="120" name="circle 119"/>
          <p:cNvSpPr/>
          <p:nvPr/>
        </p:nvSpPr>
        <p:spPr>
          <a:xfrm>
            <a:off x="501969" y="4707180"/>
            <a:ext cx="411450" cy="411450"/>
          </a:xfrm>
          <a:prstGeom prst="ellipse">
            <a:avLst/>
          </a:prstGeom>
          <a:solidFill>
            <a:srgbClr val="F6C6AD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C2"/>
          <p:cNvSpPr txBox="1"/>
          <p:nvPr/>
        </p:nvSpPr>
        <p:spPr>
          <a:xfrm>
            <a:off x="511259" y="4791527"/>
            <a:ext cx="392870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C2</a:t>
            </a:r>
          </a:p>
        </p:txBody>
      </p:sp>
      <p:sp>
        <p:nvSpPr>
          <p:cNvPr id="122" name="path 121"/>
          <p:cNvSpPr/>
          <p:nvPr/>
        </p:nvSpPr>
        <p:spPr>
          <a:xfrm>
            <a:off x="1119144" y="4772820"/>
            <a:ext cx="82290" cy="65832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0" y="8"/>
                </a:moveTo>
                <a:lnTo>
                  <a:pt x="0" y="0"/>
                </a:lnTo>
                <a:lnTo>
                  <a:pt x="10" y="0"/>
                </a:lnTo>
                <a:lnTo>
                  <a:pt x="10" y="8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 122"/>
          <p:cNvSpPr/>
          <p:nvPr/>
        </p:nvSpPr>
        <p:spPr>
          <a:xfrm>
            <a:off x="1094457" y="4839667"/>
            <a:ext cx="138247" cy="115206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circle 123"/>
          <p:cNvSpPr/>
          <p:nvPr/>
        </p:nvSpPr>
        <p:spPr>
          <a:xfrm>
            <a:off x="1152060" y="4874229"/>
            <a:ext cx="23041" cy="23041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unning: keep live KV"/>
          <p:cNvSpPr txBox="1"/>
          <p:nvPr/>
        </p:nvSpPr>
        <p:spPr>
          <a:xfrm>
            <a:off x="1481220" y="4795642"/>
            <a:ext cx="2291905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running: keep live KV</a:t>
            </a:r>
          </a:p>
        </p:txBody>
      </p:sp>
      <p:sp>
        <p:nvSpPr>
          <p:cNvPr id="126" name="path 125"/>
          <p:cNvSpPr/>
          <p:nvPr/>
        </p:nvSpPr>
        <p:spPr>
          <a:xfrm>
            <a:off x="7068711" y="2773173"/>
            <a:ext cx="1448304" cy="378534"/>
          </a:xfrm>
          <a:custGeom>
            <a:avLst/>
            <a:gdLst/>
            <a:ahLst/>
            <a:cxnLst/>
            <a:rect l="l" t="t" r="r" b="b"/>
            <a:pathLst>
              <a:path w="176" h="46">
                <a:moveTo>
                  <a:pt x="0" y="46"/>
                </a:moveTo>
                <a:lnTo>
                  <a:pt x="176" y="46"/>
                </a:lnTo>
                <a:lnTo>
                  <a:pt x="176" y="0"/>
                </a:lnTo>
              </a:path>
            </a:pathLst>
          </a:custGeom>
          <a:noFill/>
          <a:ln w="39502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path 126"/>
          <p:cNvCxnSpPr/>
          <p:nvPr/>
        </p:nvCxnSpPr>
        <p:spPr>
          <a:xfrm>
            <a:off x="8286603" y="2773365"/>
            <a:ext cx="3612531" cy="0"/>
          </a:xfrm>
          <a:prstGeom prst="line">
            <a:avLst/>
          </a:prstGeom>
          <a:ln w="39502">
            <a:solidFill>
              <a:srgbClr val="2753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path 127"/>
          <p:cNvSpPr/>
          <p:nvPr/>
        </p:nvSpPr>
        <p:spPr>
          <a:xfrm>
            <a:off x="11183211" y="1234350"/>
            <a:ext cx="608946" cy="1538823"/>
          </a:xfrm>
          <a:custGeom>
            <a:avLst/>
            <a:gdLst/>
            <a:ahLst/>
            <a:cxnLst/>
            <a:rect l="l" t="t" r="r" b="b"/>
            <a:pathLst>
              <a:path w="74" h="187">
                <a:moveTo>
                  <a:pt x="0" y="0"/>
                </a:moveTo>
                <a:lnTo>
                  <a:pt x="74" y="0"/>
                </a:lnTo>
                <a:lnTo>
                  <a:pt x="74" y="187"/>
                </a:lnTo>
              </a:path>
            </a:pathLst>
          </a:custGeom>
          <a:noFill/>
          <a:ln w="39502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path 128"/>
          <p:cNvSpPr/>
          <p:nvPr/>
        </p:nvSpPr>
        <p:spPr>
          <a:xfrm>
            <a:off x="11462997" y="2773173"/>
            <a:ext cx="329160" cy="1316640"/>
          </a:xfrm>
          <a:custGeom>
            <a:avLst/>
            <a:gdLst/>
            <a:ahLst/>
            <a:cxnLst/>
            <a:rect l="l" t="t" r="r" b="b"/>
            <a:pathLst>
              <a:path w="40" h="160">
                <a:moveTo>
                  <a:pt x="0" y="160"/>
                </a:moveTo>
                <a:lnTo>
                  <a:pt x="40" y="160"/>
                </a:lnTo>
                <a:lnTo>
                  <a:pt x="40" y="0"/>
                </a:lnTo>
              </a:path>
            </a:pathLst>
          </a:custGeom>
          <a:noFill/>
          <a:ln w="39502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path 129"/>
          <p:cNvCxnSpPr/>
          <p:nvPr/>
        </p:nvCxnSpPr>
        <p:spPr>
          <a:xfrm>
            <a:off x="11899134" y="2773365"/>
            <a:ext cx="526656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path 130"/>
          <p:cNvCxnSpPr/>
          <p:nvPr/>
        </p:nvCxnSpPr>
        <p:spPr>
          <a:xfrm>
            <a:off x="11899134" y="2773365"/>
            <a:ext cx="526656" cy="0"/>
          </a:xfrm>
          <a:prstGeom prst="line">
            <a:avLst/>
          </a:prstGeom>
          <a:ln w="39502">
            <a:solidFill>
              <a:srgbClr val="2753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head 131"/>
          <p:cNvSpPr/>
          <p:nvPr/>
        </p:nvSpPr>
        <p:spPr>
          <a:xfrm>
            <a:off x="12277668" y="2699112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9"/>
                </a:moveTo>
                <a:lnTo>
                  <a:pt x="0" y="18"/>
                </a:lnTo>
                <a:lnTo>
                  <a:pt x="4" y="9"/>
                </a:lnTo>
                <a:lnTo>
                  <a:pt x="0" y="0"/>
                </a:lnTo>
                <a:close/>
              </a:path>
            </a:pathLst>
          </a:custGeom>
          <a:solidFill>
            <a:srgbClr val="275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circle 132"/>
          <p:cNvSpPr/>
          <p:nvPr/>
        </p:nvSpPr>
        <p:spPr>
          <a:xfrm>
            <a:off x="11742783" y="2617014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4"/>
          <p:cNvSpPr txBox="1"/>
          <p:nvPr/>
        </p:nvSpPr>
        <p:spPr>
          <a:xfrm>
            <a:off x="11783912" y="2658159"/>
            <a:ext cx="230444" cy="255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en-US" spc="0">
                <a:solidFill>
                  <a:srgbClr val="FFFFFF"/>
                </a:solidFill>
                <a:latin typeface="DejaVu Sans"/>
                <a:ea typeface="DejaVu Sans"/>
                <a:effectLst/>
              </a:rPr>
              <a:t>4</a:t>
            </a:r>
          </a:p>
        </p:txBody>
      </p:sp>
      <p:sp>
        <p:nvSpPr>
          <p:cNvPr id="135" name="restore view"/>
          <p:cNvSpPr txBox="1"/>
          <p:nvPr/>
        </p:nvSpPr>
        <p:spPr>
          <a:xfrm>
            <a:off x="9273263" y="2326942"/>
            <a:ext cx="1548691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restore view</a:t>
            </a:r>
          </a:p>
        </p:txBody>
      </p:sp>
      <p:sp>
        <p:nvSpPr>
          <p:cNvPr id="136" name="circle 135"/>
          <p:cNvSpPr/>
          <p:nvPr/>
        </p:nvSpPr>
        <p:spPr>
          <a:xfrm>
            <a:off x="12499851" y="2542953"/>
            <a:ext cx="460824" cy="460824"/>
          </a:xfrm>
          <a:prstGeom prst="ellipse">
            <a:avLst/>
          </a:prstGeom>
          <a:solidFill>
            <a:srgbClr val="D9D9D9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D3"/>
          <p:cNvSpPr txBox="1"/>
          <p:nvPr/>
        </p:nvSpPr>
        <p:spPr>
          <a:xfrm>
            <a:off x="12549032" y="2662274"/>
            <a:ext cx="362462" cy="2345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D3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BeliefKV Architecture Figures</dc:title>
  <dc:subject>Current development architecture as of 2026-10-15</dc:subject>
  <dc:creator>BeliefKV</dc:creator>
  <cp:keywords>BeliefKV, dynamic agent workflows, KV cache, native editable diagrams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