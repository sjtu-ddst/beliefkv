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167360" cy="526694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箭头序号对应典型操作，不表示全局强制执行顺序。①只补传 Host 中缺失的稳定FULL p4/p5，p0..p3 已有副本；PREPARE_HOST 本身不释放 HBM，也不投机备份持续更新的 Mamba。②有容量压力时回收 HBM 已备份的冷页 p2/p3。③C1 RETURN后直接释放已无用途的私有 p1..p3，无须 D2H；共享 p0 与 C2 活跃 KV 保留。释放必须满足无活跃引用、共享依赖及在途传输风险等原生条件。空页表示释放的容量，不表示 child 数据复制给 parent 或为其独占预留。④将安全输入 checkpoint c*、缺失 FULL、必要匹配状态及实际容量提供给 D3。c* 结束于 p5，生成后缀不作为恢复目标。状态六边形表示独立的匹配状态查找，不是 PREPARE 的另一个传输目标；最新 decode 状态未必匹配 c*。短等待可以直接保留 HBM。物理页及 FULL/Mamba 分池继续由原生系统管理。代码：runtime 等待备份/终态回收、sglang_v0520_physical.py 与原生缓存 staging patch。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2"/>
          <p:cNvSpPr txBox="1"/>
          <p:nvPr/>
        </p:nvSpPr>
        <p:spPr>
          <a:xfrm>
            <a:off x="263328" y="57795"/>
            <a:ext cx="431380" cy="4032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8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D2</a:t>
            </a:r>
          </a:p>
        </p:txBody>
      </p:sp>
      <p:sp>
        <p:nvSpPr>
          <p:cNvPr id="3" name="按工作流状态备份、保留与释放 KV"/>
          <p:cNvSpPr txBox="1"/>
          <p:nvPr/>
        </p:nvSpPr>
        <p:spPr>
          <a:xfrm>
            <a:off x="888732" y="57795"/>
            <a:ext cx="4056061" cy="4032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8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按工作流状态备份、保留与释放 KV</a:t>
            </a:r>
          </a:p>
        </p:txBody>
      </p:sp>
      <p:sp>
        <p:nvSpPr>
          <p:cNvPr id="4" name="rect 3"/>
          <p:cNvSpPr/>
          <p:nvPr/>
        </p:nvSpPr>
        <p:spPr>
          <a:xfrm>
            <a:off x="1728090" y="856008"/>
            <a:ext cx="7241520" cy="806442"/>
          </a:xfrm>
          <a:prstGeom prst="roundRect">
            <a:avLst>
              <a:gd name="adj" fmla="val 8163"/>
            </a:avLst>
          </a:prstGeom>
          <a:solidFill>
            <a:srgbClr val="F2F2F2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 4"/>
          <p:cNvSpPr/>
          <p:nvPr/>
        </p:nvSpPr>
        <p:spPr>
          <a:xfrm>
            <a:off x="1728090" y="2452434"/>
            <a:ext cx="7241520" cy="806442"/>
          </a:xfrm>
          <a:prstGeom prst="roundRect">
            <a:avLst>
              <a:gd name="adj" fmla="val 8163"/>
            </a:avLst>
          </a:prstGeom>
          <a:solidFill>
            <a:srgbClr val="FBE3D6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 5"/>
          <p:cNvSpPr/>
          <p:nvPr/>
        </p:nvSpPr>
        <p:spPr>
          <a:xfrm>
            <a:off x="2633280" y="3703242"/>
            <a:ext cx="6336330" cy="814671"/>
          </a:xfrm>
          <a:prstGeom prst="roundRect">
            <a:avLst>
              <a:gd name="adj" fmla="val 8080"/>
            </a:avLst>
          </a:prstGeom>
          <a:solidFill>
            <a:srgbClr val="F2F2F2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 6"/>
          <p:cNvSpPr/>
          <p:nvPr/>
        </p:nvSpPr>
        <p:spPr>
          <a:xfrm>
            <a:off x="9792510" y="856008"/>
            <a:ext cx="1793922" cy="3925233"/>
          </a:xfrm>
          <a:prstGeom prst="roundRect">
            <a:avLst>
              <a:gd name="adj" fmla="val 3669"/>
            </a:avLst>
          </a:prstGeom>
          <a:solidFill>
            <a:srgbClr val="F2F2F2"/>
          </a:solidFill>
          <a:ln w="1399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ircle 7"/>
          <p:cNvSpPr/>
          <p:nvPr/>
        </p:nvSpPr>
        <p:spPr>
          <a:xfrm>
            <a:off x="469053" y="1580160"/>
            <a:ext cx="460824" cy="460824"/>
          </a:xfrm>
          <a:prstGeom prst="ellipse">
            <a:avLst/>
          </a:prstGeom>
          <a:solidFill>
            <a:srgbClr val="A6CAEC"/>
          </a:solidFill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"/>
          <p:cNvSpPr txBox="1"/>
          <p:nvPr/>
        </p:nvSpPr>
        <p:spPr>
          <a:xfrm>
            <a:off x="581478" y="1641878"/>
            <a:ext cx="235973" cy="3312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</a:t>
            </a:r>
          </a:p>
        </p:txBody>
      </p:sp>
      <p:sp>
        <p:nvSpPr>
          <p:cNvPr id="10" name="等待中"/>
          <p:cNvSpPr txBox="1"/>
          <p:nvPr/>
        </p:nvSpPr>
        <p:spPr>
          <a:xfrm>
            <a:off x="341504" y="2057442"/>
            <a:ext cx="715923" cy="3312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等待中</a:t>
            </a:r>
          </a:p>
        </p:txBody>
      </p:sp>
      <p:sp>
        <p:nvSpPr>
          <p:cNvPr id="11" name="HBM"/>
          <p:cNvSpPr txBox="1"/>
          <p:nvPr/>
        </p:nvSpPr>
        <p:spPr>
          <a:xfrm>
            <a:off x="1793922" y="1057618"/>
            <a:ext cx="607757" cy="3579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49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HBM</a:t>
            </a:r>
          </a:p>
        </p:txBody>
      </p:sp>
      <p:sp>
        <p:nvSpPr>
          <p:cNvPr id="12" name="Host"/>
          <p:cNvSpPr txBox="1"/>
          <p:nvPr/>
        </p:nvSpPr>
        <p:spPr>
          <a:xfrm>
            <a:off x="1793922" y="2579984"/>
            <a:ext cx="603289" cy="3579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49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Host</a:t>
            </a:r>
          </a:p>
        </p:txBody>
      </p:sp>
      <p:sp>
        <p:nvSpPr>
          <p:cNvPr id="13" name="rect 12"/>
          <p:cNvSpPr/>
          <p:nvPr/>
        </p:nvSpPr>
        <p:spPr>
          <a:xfrm>
            <a:off x="2921295" y="1053504"/>
            <a:ext cx="526656" cy="378534"/>
          </a:xfrm>
          <a:prstGeom prst="roundRect">
            <a:avLst>
              <a:gd name="adj" fmla="val 4347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 13"/>
          <p:cNvSpPr/>
          <p:nvPr/>
        </p:nvSpPr>
        <p:spPr>
          <a:xfrm>
            <a:off x="2937753" y="1069962"/>
            <a:ext cx="493740" cy="41145"/>
          </a:xfrm>
          <a:prstGeom prst="roundRect">
            <a:avLst>
              <a:gd name="adj" fmla="val 20000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0"/>
          <p:cNvSpPr txBox="1"/>
          <p:nvPr/>
        </p:nvSpPr>
        <p:spPr>
          <a:xfrm>
            <a:off x="3013389" y="1091357"/>
            <a:ext cx="342468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p0</a:t>
            </a:r>
          </a:p>
        </p:txBody>
      </p:sp>
      <p:sp>
        <p:nvSpPr>
          <p:cNvPr id="16" name="rect 15"/>
          <p:cNvSpPr/>
          <p:nvPr/>
        </p:nvSpPr>
        <p:spPr>
          <a:xfrm>
            <a:off x="2921295" y="2575869"/>
            <a:ext cx="526656" cy="378534"/>
          </a:xfrm>
          <a:prstGeom prst="roundRect">
            <a:avLst>
              <a:gd name="adj" fmla="val 4347"/>
            </a:avLst>
          </a:prstGeom>
          <a:solidFill>
            <a:srgbClr val="FFD579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 16"/>
          <p:cNvSpPr/>
          <p:nvPr/>
        </p:nvSpPr>
        <p:spPr>
          <a:xfrm>
            <a:off x="2937753" y="2592327"/>
            <a:ext cx="493740" cy="41145"/>
          </a:xfrm>
          <a:prstGeom prst="roundRect">
            <a:avLst>
              <a:gd name="adj" fmla="val 20000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0"/>
          <p:cNvSpPr txBox="1"/>
          <p:nvPr/>
        </p:nvSpPr>
        <p:spPr>
          <a:xfrm>
            <a:off x="3013389" y="2613722"/>
            <a:ext cx="342468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p0</a:t>
            </a:r>
          </a:p>
        </p:txBody>
      </p:sp>
      <p:sp>
        <p:nvSpPr>
          <p:cNvPr id="19" name="rect 18"/>
          <p:cNvSpPr/>
          <p:nvPr/>
        </p:nvSpPr>
        <p:spPr>
          <a:xfrm>
            <a:off x="3645447" y="1053504"/>
            <a:ext cx="526656" cy="378534"/>
          </a:xfrm>
          <a:prstGeom prst="roundRect">
            <a:avLst>
              <a:gd name="adj" fmla="val 4347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 19"/>
          <p:cNvSpPr/>
          <p:nvPr/>
        </p:nvSpPr>
        <p:spPr>
          <a:xfrm>
            <a:off x="3661905" y="1069962"/>
            <a:ext cx="493740" cy="41145"/>
          </a:xfrm>
          <a:prstGeom prst="roundRect">
            <a:avLst>
              <a:gd name="adj" fmla="val 2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1"/>
          <p:cNvSpPr txBox="1"/>
          <p:nvPr/>
        </p:nvSpPr>
        <p:spPr>
          <a:xfrm>
            <a:off x="3737541" y="1091357"/>
            <a:ext cx="342468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p1</a:t>
            </a:r>
          </a:p>
        </p:txBody>
      </p:sp>
      <p:sp>
        <p:nvSpPr>
          <p:cNvPr id="22" name="rect 21"/>
          <p:cNvSpPr/>
          <p:nvPr/>
        </p:nvSpPr>
        <p:spPr>
          <a:xfrm>
            <a:off x="3645447" y="2575869"/>
            <a:ext cx="526656" cy="378534"/>
          </a:xfrm>
          <a:prstGeom prst="roundRect">
            <a:avLst>
              <a:gd name="adj" fmla="val 4347"/>
            </a:avLst>
          </a:prstGeom>
          <a:solidFill>
            <a:srgbClr val="FFD579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 22"/>
          <p:cNvSpPr/>
          <p:nvPr/>
        </p:nvSpPr>
        <p:spPr>
          <a:xfrm>
            <a:off x="3661905" y="2592327"/>
            <a:ext cx="493740" cy="41145"/>
          </a:xfrm>
          <a:prstGeom prst="roundRect">
            <a:avLst>
              <a:gd name="adj" fmla="val 2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1"/>
          <p:cNvSpPr txBox="1"/>
          <p:nvPr/>
        </p:nvSpPr>
        <p:spPr>
          <a:xfrm>
            <a:off x="3737541" y="2613722"/>
            <a:ext cx="342468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p1</a:t>
            </a:r>
          </a:p>
        </p:txBody>
      </p:sp>
      <p:sp>
        <p:nvSpPr>
          <p:cNvPr id="25" name="rect 24"/>
          <p:cNvSpPr/>
          <p:nvPr/>
        </p:nvSpPr>
        <p:spPr>
          <a:xfrm>
            <a:off x="4369599" y="1053504"/>
            <a:ext cx="526656" cy="378534"/>
          </a:xfrm>
          <a:prstGeom prst="roundRect">
            <a:avLst>
              <a:gd name="adj" fmla="val 4347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 25"/>
          <p:cNvSpPr/>
          <p:nvPr/>
        </p:nvSpPr>
        <p:spPr>
          <a:xfrm>
            <a:off x="4386057" y="1069962"/>
            <a:ext cx="493740" cy="41145"/>
          </a:xfrm>
          <a:prstGeom prst="roundRect">
            <a:avLst>
              <a:gd name="adj" fmla="val 2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2"/>
          <p:cNvSpPr txBox="1"/>
          <p:nvPr/>
        </p:nvSpPr>
        <p:spPr>
          <a:xfrm>
            <a:off x="4461693" y="1091357"/>
            <a:ext cx="342468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p2</a:t>
            </a:r>
          </a:p>
        </p:txBody>
      </p:sp>
      <p:sp>
        <p:nvSpPr>
          <p:cNvPr id="28" name="rect 27"/>
          <p:cNvSpPr/>
          <p:nvPr/>
        </p:nvSpPr>
        <p:spPr>
          <a:xfrm>
            <a:off x="4369599" y="2575869"/>
            <a:ext cx="526656" cy="378534"/>
          </a:xfrm>
          <a:prstGeom prst="roundRect">
            <a:avLst>
              <a:gd name="adj" fmla="val 4347"/>
            </a:avLst>
          </a:prstGeom>
          <a:solidFill>
            <a:srgbClr val="FFD579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 28"/>
          <p:cNvSpPr/>
          <p:nvPr/>
        </p:nvSpPr>
        <p:spPr>
          <a:xfrm>
            <a:off x="4386057" y="2592327"/>
            <a:ext cx="493740" cy="41145"/>
          </a:xfrm>
          <a:prstGeom prst="roundRect">
            <a:avLst>
              <a:gd name="adj" fmla="val 2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2"/>
          <p:cNvSpPr txBox="1"/>
          <p:nvPr/>
        </p:nvSpPr>
        <p:spPr>
          <a:xfrm>
            <a:off x="4461693" y="2613722"/>
            <a:ext cx="342468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p2</a:t>
            </a:r>
          </a:p>
        </p:txBody>
      </p:sp>
      <p:sp>
        <p:nvSpPr>
          <p:cNvPr id="31" name="rect 30"/>
          <p:cNvSpPr/>
          <p:nvPr/>
        </p:nvSpPr>
        <p:spPr>
          <a:xfrm>
            <a:off x="5093751" y="1053504"/>
            <a:ext cx="526656" cy="378534"/>
          </a:xfrm>
          <a:prstGeom prst="roundRect">
            <a:avLst>
              <a:gd name="adj" fmla="val 4347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 31"/>
          <p:cNvSpPr/>
          <p:nvPr/>
        </p:nvSpPr>
        <p:spPr>
          <a:xfrm>
            <a:off x="5110209" y="1069962"/>
            <a:ext cx="493740" cy="41145"/>
          </a:xfrm>
          <a:prstGeom prst="roundRect">
            <a:avLst>
              <a:gd name="adj" fmla="val 2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3"/>
          <p:cNvSpPr txBox="1"/>
          <p:nvPr/>
        </p:nvSpPr>
        <p:spPr>
          <a:xfrm>
            <a:off x="5185845" y="1091357"/>
            <a:ext cx="342468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p3</a:t>
            </a:r>
          </a:p>
        </p:txBody>
      </p:sp>
      <p:sp>
        <p:nvSpPr>
          <p:cNvPr id="34" name="rect 33"/>
          <p:cNvSpPr/>
          <p:nvPr/>
        </p:nvSpPr>
        <p:spPr>
          <a:xfrm>
            <a:off x="5093751" y="2575869"/>
            <a:ext cx="526656" cy="378534"/>
          </a:xfrm>
          <a:prstGeom prst="roundRect">
            <a:avLst>
              <a:gd name="adj" fmla="val 4347"/>
            </a:avLst>
          </a:prstGeom>
          <a:solidFill>
            <a:srgbClr val="FFD579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 34"/>
          <p:cNvSpPr/>
          <p:nvPr/>
        </p:nvSpPr>
        <p:spPr>
          <a:xfrm>
            <a:off x="5110209" y="2592327"/>
            <a:ext cx="493740" cy="41145"/>
          </a:xfrm>
          <a:prstGeom prst="roundRect">
            <a:avLst>
              <a:gd name="adj" fmla="val 2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3"/>
          <p:cNvSpPr txBox="1"/>
          <p:nvPr/>
        </p:nvSpPr>
        <p:spPr>
          <a:xfrm>
            <a:off x="5185845" y="2613722"/>
            <a:ext cx="342468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p3</a:t>
            </a:r>
          </a:p>
        </p:txBody>
      </p:sp>
      <p:sp>
        <p:nvSpPr>
          <p:cNvPr id="37" name="rect 36"/>
          <p:cNvSpPr/>
          <p:nvPr/>
        </p:nvSpPr>
        <p:spPr>
          <a:xfrm>
            <a:off x="5817903" y="1053504"/>
            <a:ext cx="526656" cy="378534"/>
          </a:xfrm>
          <a:prstGeom prst="roundRect">
            <a:avLst>
              <a:gd name="adj" fmla="val 4347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 37"/>
          <p:cNvSpPr/>
          <p:nvPr/>
        </p:nvSpPr>
        <p:spPr>
          <a:xfrm>
            <a:off x="5834361" y="1069962"/>
            <a:ext cx="493740" cy="41145"/>
          </a:xfrm>
          <a:prstGeom prst="roundRect">
            <a:avLst>
              <a:gd name="adj" fmla="val 2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4"/>
          <p:cNvSpPr txBox="1"/>
          <p:nvPr/>
        </p:nvSpPr>
        <p:spPr>
          <a:xfrm>
            <a:off x="5909997" y="1091357"/>
            <a:ext cx="342468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p4</a:t>
            </a:r>
          </a:p>
        </p:txBody>
      </p:sp>
      <p:sp>
        <p:nvSpPr>
          <p:cNvPr id="40" name="rect 39"/>
          <p:cNvSpPr/>
          <p:nvPr/>
        </p:nvSpPr>
        <p:spPr>
          <a:xfrm>
            <a:off x="5817903" y="2575869"/>
            <a:ext cx="526656" cy="378534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3167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 40"/>
          <p:cNvSpPr/>
          <p:nvPr/>
        </p:nvSpPr>
        <p:spPr>
          <a:xfrm>
            <a:off x="5834361" y="2592327"/>
            <a:ext cx="493740" cy="41145"/>
          </a:xfrm>
          <a:prstGeom prst="roundRect">
            <a:avLst>
              <a:gd name="adj" fmla="val 2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4"/>
          <p:cNvSpPr txBox="1"/>
          <p:nvPr/>
        </p:nvSpPr>
        <p:spPr>
          <a:xfrm>
            <a:off x="5909997" y="2613722"/>
            <a:ext cx="342468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p4</a:t>
            </a:r>
          </a:p>
        </p:txBody>
      </p:sp>
      <p:cxnSp>
        <p:nvCxnSpPr>
          <p:cNvPr id="43" name="path 42"/>
          <p:cNvCxnSpPr/>
          <p:nvPr/>
        </p:nvCxnSpPr>
        <p:spPr>
          <a:xfrm>
            <a:off x="6081231" y="1481412"/>
            <a:ext cx="0" cy="1036854"/>
          </a:xfrm>
          <a:prstGeom prst="line">
            <a:avLst/>
          </a:prstGeom>
          <a:ln w="8641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path 43"/>
          <p:cNvCxnSpPr/>
          <p:nvPr/>
        </p:nvCxnSpPr>
        <p:spPr>
          <a:xfrm>
            <a:off x="6081231" y="1481412"/>
            <a:ext cx="0" cy="1036854"/>
          </a:xfrm>
          <a:prstGeom prst="line">
            <a:avLst/>
          </a:prstGeom>
          <a:ln w="69951">
            <a:solidFill>
              <a:srgbClr val="3550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rrowhead 44"/>
          <p:cNvSpPr/>
          <p:nvPr/>
        </p:nvSpPr>
        <p:spPr>
          <a:xfrm>
            <a:off x="5949567" y="2254746"/>
            <a:ext cx="263328" cy="263328"/>
          </a:xfrm>
          <a:custGeom>
            <a:avLst/>
            <a:gdLst/>
            <a:ahLst/>
            <a:cxnLst/>
            <a:rect l="l" t="t" r="r" b="b"/>
            <a:pathLst>
              <a:path w="32" h="32">
                <a:moveTo>
                  <a:pt x="16" y="32"/>
                </a:moveTo>
                <a:lnTo>
                  <a:pt x="0" y="0"/>
                </a:lnTo>
                <a:lnTo>
                  <a:pt x="32" y="0"/>
                </a:lnTo>
                <a:close/>
              </a:path>
            </a:pathLst>
          </a:custGeom>
          <a:solidFill>
            <a:srgbClr val="3550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 45"/>
          <p:cNvSpPr/>
          <p:nvPr/>
        </p:nvSpPr>
        <p:spPr>
          <a:xfrm>
            <a:off x="6542055" y="1053504"/>
            <a:ext cx="526656" cy="378534"/>
          </a:xfrm>
          <a:prstGeom prst="roundRect">
            <a:avLst>
              <a:gd name="adj" fmla="val 4347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 46"/>
          <p:cNvSpPr/>
          <p:nvPr/>
        </p:nvSpPr>
        <p:spPr>
          <a:xfrm>
            <a:off x="6558513" y="1069962"/>
            <a:ext cx="493740" cy="41145"/>
          </a:xfrm>
          <a:prstGeom prst="roundRect">
            <a:avLst>
              <a:gd name="adj" fmla="val 2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p5"/>
          <p:cNvSpPr txBox="1"/>
          <p:nvPr/>
        </p:nvSpPr>
        <p:spPr>
          <a:xfrm>
            <a:off x="6634149" y="1091357"/>
            <a:ext cx="342468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p5</a:t>
            </a:r>
          </a:p>
        </p:txBody>
      </p:sp>
      <p:sp>
        <p:nvSpPr>
          <p:cNvPr id="49" name="rect 48"/>
          <p:cNvSpPr/>
          <p:nvPr/>
        </p:nvSpPr>
        <p:spPr>
          <a:xfrm>
            <a:off x="6542055" y="2575869"/>
            <a:ext cx="526656" cy="378534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3167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 49"/>
          <p:cNvSpPr/>
          <p:nvPr/>
        </p:nvSpPr>
        <p:spPr>
          <a:xfrm>
            <a:off x="6558513" y="2592327"/>
            <a:ext cx="493740" cy="41145"/>
          </a:xfrm>
          <a:prstGeom prst="roundRect">
            <a:avLst>
              <a:gd name="adj" fmla="val 20000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5"/>
          <p:cNvSpPr txBox="1"/>
          <p:nvPr/>
        </p:nvSpPr>
        <p:spPr>
          <a:xfrm>
            <a:off x="6634149" y="2613722"/>
            <a:ext cx="342468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p5</a:t>
            </a:r>
          </a:p>
        </p:txBody>
      </p:sp>
      <p:cxnSp>
        <p:nvCxnSpPr>
          <p:cNvPr id="52" name="path 51"/>
          <p:cNvCxnSpPr/>
          <p:nvPr/>
        </p:nvCxnSpPr>
        <p:spPr>
          <a:xfrm>
            <a:off x="6805383" y="1481412"/>
            <a:ext cx="0" cy="1036854"/>
          </a:xfrm>
          <a:prstGeom prst="line">
            <a:avLst/>
          </a:prstGeom>
          <a:ln w="8641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path 52"/>
          <p:cNvCxnSpPr/>
          <p:nvPr/>
        </p:nvCxnSpPr>
        <p:spPr>
          <a:xfrm>
            <a:off x="6805383" y="1481412"/>
            <a:ext cx="0" cy="1036854"/>
          </a:xfrm>
          <a:prstGeom prst="line">
            <a:avLst/>
          </a:prstGeom>
          <a:ln w="69951">
            <a:solidFill>
              <a:srgbClr val="3550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arrowhead 53"/>
          <p:cNvSpPr/>
          <p:nvPr/>
        </p:nvSpPr>
        <p:spPr>
          <a:xfrm>
            <a:off x="6673719" y="2254746"/>
            <a:ext cx="263328" cy="263328"/>
          </a:xfrm>
          <a:custGeom>
            <a:avLst/>
            <a:gdLst/>
            <a:ahLst/>
            <a:cxnLst/>
            <a:rect l="l" t="t" r="r" b="b"/>
            <a:pathLst>
              <a:path w="32" h="32">
                <a:moveTo>
                  <a:pt x="16" y="32"/>
                </a:moveTo>
                <a:lnTo>
                  <a:pt x="0" y="0"/>
                </a:lnTo>
                <a:lnTo>
                  <a:pt x="32" y="0"/>
                </a:lnTo>
                <a:close/>
              </a:path>
            </a:pathLst>
          </a:custGeom>
          <a:solidFill>
            <a:srgbClr val="3550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th 54"/>
          <p:cNvSpPr/>
          <p:nvPr/>
        </p:nvSpPr>
        <p:spPr>
          <a:xfrm>
            <a:off x="3044730" y="1514136"/>
            <a:ext cx="65832" cy="57603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0" y="7"/>
                </a:moveTo>
                <a:lnTo>
                  <a:pt x="0" y="0"/>
                </a:lnTo>
                <a:lnTo>
                  <a:pt x="8" y="0"/>
                </a:lnTo>
                <a:lnTo>
                  <a:pt x="8" y="7"/>
                </a:lnTo>
              </a:path>
            </a:pathLst>
          </a:custGeom>
          <a:noFill/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 55"/>
          <p:cNvSpPr/>
          <p:nvPr/>
        </p:nvSpPr>
        <p:spPr>
          <a:xfrm>
            <a:off x="3020043" y="1570285"/>
            <a:ext cx="118498" cy="98748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ircle 56"/>
          <p:cNvSpPr/>
          <p:nvPr/>
        </p:nvSpPr>
        <p:spPr>
          <a:xfrm>
            <a:off x="3069417" y="1599910"/>
            <a:ext cx="19750" cy="19750"/>
          </a:xfrm>
          <a:prstGeom prst="ellipse">
            <a:avLst/>
          </a:prstGeom>
          <a:solidFill>
            <a:srgbClr val="000000"/>
          </a:solidFill>
          <a:ln w="822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共享：保留"/>
          <p:cNvSpPr txBox="1"/>
          <p:nvPr/>
        </p:nvSpPr>
        <p:spPr>
          <a:xfrm>
            <a:off x="2863692" y="1730339"/>
            <a:ext cx="1003938" cy="2983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共享：保留</a:t>
            </a:r>
          </a:p>
        </p:txBody>
      </p:sp>
      <p:sp>
        <p:nvSpPr>
          <p:cNvPr id="59" name="path 58"/>
          <p:cNvSpPr/>
          <p:nvPr/>
        </p:nvSpPr>
        <p:spPr>
          <a:xfrm>
            <a:off x="4369599" y="921648"/>
            <a:ext cx="1250808" cy="57603"/>
          </a:xfrm>
          <a:custGeom>
            <a:avLst/>
            <a:gdLst/>
            <a:ahLst/>
            <a:cxnLst/>
            <a:rect l="l" t="t" r="r" b="b"/>
            <a:pathLst>
              <a:path w="152" h="7">
                <a:moveTo>
                  <a:pt x="0" y="7"/>
                </a:moveTo>
                <a:lnTo>
                  <a:pt x="0" y="0"/>
                </a:lnTo>
                <a:lnTo>
                  <a:pt x="152" y="0"/>
                </a:lnTo>
                <a:lnTo>
                  <a:pt x="152" y="7"/>
                </a:lnTo>
              </a:path>
            </a:pathLst>
          </a:custGeom>
          <a:noFill/>
          <a:ln w="13167">
            <a:solidFill>
              <a:srgbClr val="275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urve 59"/>
          <p:cNvSpPr/>
          <p:nvPr/>
        </p:nvSpPr>
        <p:spPr>
          <a:xfrm>
            <a:off x="4995003" y="913419"/>
            <a:ext cx="5003232" cy="320931"/>
          </a:xfrm>
          <a:custGeom>
            <a:avLst/>
            <a:gdLst/>
            <a:ahLst/>
            <a:cxnLst/>
            <a:rect l="l" t="t" r="r" b="b"/>
            <a:pathLst>
              <a:path w="608" h="39">
                <a:moveTo>
                  <a:pt x="0" y="0"/>
                </a:moveTo>
                <a:cubicBezTo>
                  <a:pt x="243" y="0"/>
                  <a:pt x="483" y="39"/>
                  <a:pt x="608" y="39"/>
                </a:cubicBezTo>
              </a:path>
            </a:pathLst>
          </a:custGeom>
          <a:noFill/>
          <a:ln w="65836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urve 60"/>
          <p:cNvSpPr/>
          <p:nvPr/>
        </p:nvSpPr>
        <p:spPr>
          <a:xfrm>
            <a:off x="4995003" y="913419"/>
            <a:ext cx="5003232" cy="320931"/>
          </a:xfrm>
          <a:custGeom>
            <a:avLst/>
            <a:gdLst/>
            <a:ahLst/>
            <a:cxnLst/>
            <a:rect l="l" t="t" r="r" b="b"/>
            <a:pathLst>
              <a:path w="608" h="39">
                <a:moveTo>
                  <a:pt x="0" y="0"/>
                </a:moveTo>
                <a:cubicBezTo>
                  <a:pt x="243" y="0"/>
                  <a:pt x="483" y="39"/>
                  <a:pt x="608" y="39"/>
                </a:cubicBezTo>
              </a:path>
            </a:pathLst>
          </a:custGeom>
          <a:noFill/>
          <a:ln w="49377">
            <a:solidFill>
              <a:srgbClr val="275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arrowhead 61"/>
          <p:cNvSpPr/>
          <p:nvPr/>
        </p:nvSpPr>
        <p:spPr>
          <a:xfrm>
            <a:off x="9800739" y="1135602"/>
            <a:ext cx="197496" cy="197496"/>
          </a:xfrm>
          <a:custGeom>
            <a:avLst/>
            <a:gdLst/>
            <a:ahLst/>
            <a:cxnLst/>
            <a:rect l="l" t="t" r="r" b="b"/>
            <a:pathLst>
              <a:path w="24" h="24">
                <a:moveTo>
                  <a:pt x="24" y="12"/>
                </a:moveTo>
                <a:lnTo>
                  <a:pt x="0" y="24"/>
                </a:lnTo>
                <a:lnTo>
                  <a:pt x="6" y="12"/>
                </a:lnTo>
                <a:lnTo>
                  <a:pt x="0" y="0"/>
                </a:lnTo>
                <a:close/>
              </a:path>
            </a:pathLst>
          </a:custGeom>
          <a:solidFill>
            <a:srgbClr val="275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ircle 62"/>
          <p:cNvSpPr/>
          <p:nvPr/>
        </p:nvSpPr>
        <p:spPr>
          <a:xfrm>
            <a:off x="7784634" y="938298"/>
            <a:ext cx="312702" cy="312702"/>
          </a:xfrm>
          <a:prstGeom prst="ellipse">
            <a:avLst/>
          </a:prstGeom>
          <a:solidFill>
            <a:srgbClr val="000000"/>
          </a:solidFill>
          <a:ln w="2468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2"/>
          <p:cNvSpPr txBox="1"/>
          <p:nvPr/>
        </p:nvSpPr>
        <p:spPr>
          <a:xfrm>
            <a:off x="7835776" y="936241"/>
            <a:ext cx="210418" cy="3085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zh-CN" spc="0">
                <a:solidFill>
                  <a:srgbClr val="FFFFFF"/>
                </a:solidFill>
                <a:latin typeface="Noto Sans CJK SC"/>
                <a:ea typeface="Noto Sans CJK SC"/>
                <a:effectLst/>
              </a:rPr>
              <a:t>2</a:t>
            </a:r>
          </a:p>
        </p:txBody>
      </p:sp>
      <p:sp>
        <p:nvSpPr>
          <p:cNvPr id="65" name="冷页且已备份"/>
          <p:cNvSpPr txBox="1"/>
          <p:nvPr/>
        </p:nvSpPr>
        <p:spPr>
          <a:xfrm>
            <a:off x="8171397" y="502161"/>
            <a:ext cx="1283724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冷页且已备份</a:t>
            </a:r>
          </a:p>
        </p:txBody>
      </p:sp>
      <p:sp>
        <p:nvSpPr>
          <p:cNvPr id="66" name="rect 65"/>
          <p:cNvSpPr/>
          <p:nvPr/>
        </p:nvSpPr>
        <p:spPr>
          <a:xfrm>
            <a:off x="10129899" y="1053504"/>
            <a:ext cx="370305" cy="378534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 66"/>
          <p:cNvSpPr/>
          <p:nvPr/>
        </p:nvSpPr>
        <p:spPr>
          <a:xfrm>
            <a:off x="10640097" y="1053504"/>
            <a:ext cx="370305" cy="378534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+ 可用容量"/>
          <p:cNvSpPr txBox="1"/>
          <p:nvPr/>
        </p:nvSpPr>
        <p:spPr>
          <a:xfrm>
            <a:off x="10118809" y="1539015"/>
            <a:ext cx="1042576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+ 可用容量</a:t>
            </a:r>
          </a:p>
        </p:txBody>
      </p:sp>
      <p:sp>
        <p:nvSpPr>
          <p:cNvPr id="69" name="仅传增量"/>
          <p:cNvSpPr txBox="1"/>
          <p:nvPr/>
        </p:nvSpPr>
        <p:spPr>
          <a:xfrm>
            <a:off x="4344912" y="1909320"/>
            <a:ext cx="888732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仅传增量</a:t>
            </a:r>
          </a:p>
        </p:txBody>
      </p:sp>
      <p:sp>
        <p:nvSpPr>
          <p:cNvPr id="70" name="D2H"/>
          <p:cNvSpPr txBox="1"/>
          <p:nvPr/>
        </p:nvSpPr>
        <p:spPr>
          <a:xfrm>
            <a:off x="4536124" y="2189106"/>
            <a:ext cx="522767" cy="3312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D2H</a:t>
            </a:r>
          </a:p>
        </p:txBody>
      </p:sp>
      <p:sp>
        <p:nvSpPr>
          <p:cNvPr id="71" name="circle 70"/>
          <p:cNvSpPr/>
          <p:nvPr/>
        </p:nvSpPr>
        <p:spPr>
          <a:xfrm>
            <a:off x="6649032" y="1901091"/>
            <a:ext cx="312702" cy="312702"/>
          </a:xfrm>
          <a:prstGeom prst="ellipse">
            <a:avLst/>
          </a:prstGeom>
          <a:solidFill>
            <a:srgbClr val="000000"/>
          </a:solidFill>
          <a:ln w="2468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1"/>
          <p:cNvSpPr txBox="1"/>
          <p:nvPr/>
        </p:nvSpPr>
        <p:spPr>
          <a:xfrm>
            <a:off x="6700174" y="1899034"/>
            <a:ext cx="210418" cy="3085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zh-CN" spc="0">
                <a:solidFill>
                  <a:srgbClr val="FFFFFF"/>
                </a:solidFill>
                <a:latin typeface="Noto Sans CJK SC"/>
                <a:ea typeface="Noto Sans CJK SC"/>
                <a:effectLst/>
              </a:rPr>
              <a:t>1</a:t>
            </a:r>
          </a:p>
        </p:txBody>
      </p:sp>
      <p:sp>
        <p:nvSpPr>
          <p:cNvPr id="73" name="path 72"/>
          <p:cNvSpPr/>
          <p:nvPr/>
        </p:nvSpPr>
        <p:spPr>
          <a:xfrm>
            <a:off x="2921295" y="3151707"/>
            <a:ext cx="4147416" cy="57603"/>
          </a:xfrm>
          <a:custGeom>
            <a:avLst/>
            <a:gdLst/>
            <a:ahLst/>
            <a:cxnLst/>
            <a:rect l="l" t="t" r="r" b="b"/>
            <a:pathLst>
              <a:path w="504" h="7">
                <a:moveTo>
                  <a:pt x="0" y="7"/>
                </a:moveTo>
                <a:lnTo>
                  <a:pt x="0" y="0"/>
                </a:lnTo>
                <a:lnTo>
                  <a:pt x="504" y="0"/>
                </a:lnTo>
                <a:lnTo>
                  <a:pt x="504" y="7"/>
                </a:lnTo>
              </a:path>
            </a:pathLst>
          </a:custGeom>
          <a:noFill/>
          <a:ln w="13167">
            <a:solidFill>
              <a:srgbClr val="275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c"/>
          <p:cNvSpPr txBox="1"/>
          <p:nvPr/>
        </p:nvSpPr>
        <p:spPr>
          <a:xfrm>
            <a:off x="4428584" y="3365853"/>
            <a:ext cx="201032" cy="290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1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c</a:t>
            </a:r>
          </a:p>
        </p:txBody>
      </p:sp>
      <p:sp>
        <p:nvSpPr>
          <p:cNvPr id="75" name="*"/>
          <p:cNvSpPr txBox="1"/>
          <p:nvPr/>
        </p:nvSpPr>
        <p:spPr>
          <a:xfrm>
            <a:off x="4539097" y="3315985"/>
            <a:ext cx="173838" cy="201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9" b="0" i="0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*</a:t>
            </a:r>
          </a:p>
        </p:txBody>
      </p:sp>
      <p:sp>
        <p:nvSpPr>
          <p:cNvPr id="76" name=" : stable FULL"/>
          <p:cNvSpPr txBox="1"/>
          <p:nvPr/>
        </p:nvSpPr>
        <p:spPr>
          <a:xfrm>
            <a:off x="4622416" y="3365853"/>
            <a:ext cx="1449204" cy="290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 : stable FULL</a:t>
            </a:r>
          </a:p>
        </p:txBody>
      </p:sp>
      <p:sp>
        <p:nvSpPr>
          <p:cNvPr id="77" name="polygon 76"/>
          <p:cNvSpPr/>
          <p:nvPr/>
        </p:nvSpPr>
        <p:spPr>
          <a:xfrm>
            <a:off x="7751718" y="2567448"/>
            <a:ext cx="485511" cy="362076"/>
          </a:xfrm>
          <a:custGeom>
            <a:avLst/>
            <a:gdLst/>
            <a:ahLst/>
            <a:cxnLst/>
            <a:rect l="l" t="t" r="r" b="b"/>
            <a:pathLst>
              <a:path w="59" h="44">
                <a:moveTo>
                  <a:pt x="9" y="0"/>
                </a:moveTo>
                <a:lnTo>
                  <a:pt x="50" y="0"/>
                </a:lnTo>
                <a:lnTo>
                  <a:pt x="59" y="22"/>
                </a:lnTo>
                <a:lnTo>
                  <a:pt x="50" y="44"/>
                </a:lnTo>
                <a:lnTo>
                  <a:pt x="9" y="44"/>
                </a:lnTo>
                <a:lnTo>
                  <a:pt x="0" y="22"/>
                </a:lnTo>
                <a:close/>
              </a:path>
            </a:pathLst>
          </a:custGeom>
          <a:solidFill>
            <a:srgbClr val="FFD579"/>
          </a:solidFill>
          <a:ln w="12344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"/>
          <p:cNvSpPr txBox="1"/>
          <p:nvPr/>
        </p:nvSpPr>
        <p:spPr>
          <a:xfrm>
            <a:off x="7882578" y="2577926"/>
            <a:ext cx="225847" cy="3291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3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S</a:t>
            </a:r>
          </a:p>
        </p:txBody>
      </p:sp>
      <p:sp>
        <p:nvSpPr>
          <p:cNvPr id="79" name="rect 78"/>
          <p:cNvSpPr/>
          <p:nvPr/>
        </p:nvSpPr>
        <p:spPr>
          <a:xfrm>
            <a:off x="7838122" y="2610842"/>
            <a:ext cx="314759" cy="30859"/>
          </a:xfrm>
          <a:prstGeom prst="roundRect">
            <a:avLst>
              <a:gd name="adj" fmla="val 26666"/>
            </a:avLst>
          </a:prstGeom>
          <a:solidFill>
            <a:srgbClr val="A6C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s"/>
          <p:cNvSpPr txBox="1"/>
          <p:nvPr/>
        </p:nvSpPr>
        <p:spPr>
          <a:xfrm>
            <a:off x="7838765" y="3357624"/>
            <a:ext cx="191614" cy="3003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9" b="0" i="1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s</a:t>
            </a:r>
          </a:p>
        </p:txBody>
      </p:sp>
      <p:sp>
        <p:nvSpPr>
          <p:cNvPr id="81" name="("/>
          <p:cNvSpPr txBox="1"/>
          <p:nvPr/>
        </p:nvSpPr>
        <p:spPr>
          <a:xfrm>
            <a:off x="7931631" y="3357624"/>
            <a:ext cx="178209" cy="3003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9" b="0" i="0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(</a:t>
            </a:r>
          </a:p>
        </p:txBody>
      </p:sp>
      <p:sp>
        <p:nvSpPr>
          <p:cNvPr id="82" name="c"/>
          <p:cNvSpPr txBox="1"/>
          <p:nvPr/>
        </p:nvSpPr>
        <p:spPr>
          <a:xfrm>
            <a:off x="8011092" y="3357624"/>
            <a:ext cx="204664" cy="3003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9" b="0" i="1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c</a:t>
            </a:r>
          </a:p>
        </p:txBody>
      </p:sp>
      <p:sp>
        <p:nvSpPr>
          <p:cNvPr id="83" name="*"/>
          <p:cNvSpPr txBox="1"/>
          <p:nvPr/>
        </p:nvSpPr>
        <p:spPr>
          <a:xfrm>
            <a:off x="8125237" y="3309649"/>
            <a:ext cx="175895" cy="2057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*</a:t>
            </a:r>
          </a:p>
        </p:txBody>
      </p:sp>
      <p:sp>
        <p:nvSpPr>
          <p:cNvPr id="84" name=")"/>
          <p:cNvSpPr txBox="1"/>
          <p:nvPr/>
        </p:nvSpPr>
        <p:spPr>
          <a:xfrm>
            <a:off x="8210613" y="3357624"/>
            <a:ext cx="178209" cy="3003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9" b="0" i="0" lang="zh-CN" spc="0">
                <a:solidFill>
                  <a:srgbClr val="000000"/>
                </a:solidFill>
                <a:latin typeface="Liberation Serif"/>
                <a:ea typeface="Liberation Serif"/>
                <a:effectLst/>
              </a:rPr>
              <a:t>)</a:t>
            </a:r>
          </a:p>
        </p:txBody>
      </p:sp>
      <p:sp>
        <p:nvSpPr>
          <p:cNvPr id="85" name="需要时匹配"/>
          <p:cNvSpPr txBox="1"/>
          <p:nvPr/>
        </p:nvSpPr>
        <p:spPr>
          <a:xfrm>
            <a:off x="7685886" y="2043041"/>
            <a:ext cx="1045083" cy="3085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需要时匹配</a:t>
            </a:r>
          </a:p>
        </p:txBody>
      </p:sp>
      <p:sp>
        <p:nvSpPr>
          <p:cNvPr id="86" name="circle 85"/>
          <p:cNvSpPr/>
          <p:nvPr/>
        </p:nvSpPr>
        <p:spPr>
          <a:xfrm>
            <a:off x="485511" y="3867822"/>
            <a:ext cx="444366" cy="444366"/>
          </a:xfrm>
          <a:prstGeom prst="ellipse">
            <a:avLst/>
          </a:prstGeom>
          <a:solidFill>
            <a:srgbClr val="84E291"/>
          </a:solidFill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C1"/>
          <p:cNvSpPr txBox="1"/>
          <p:nvPr/>
        </p:nvSpPr>
        <p:spPr>
          <a:xfrm>
            <a:off x="530160" y="3921310"/>
            <a:ext cx="355068" cy="3312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C1</a:t>
            </a:r>
          </a:p>
        </p:txBody>
      </p:sp>
      <p:sp>
        <p:nvSpPr>
          <p:cNvPr id="88" name="path 87"/>
          <p:cNvSpPr/>
          <p:nvPr/>
        </p:nvSpPr>
        <p:spPr>
          <a:xfrm>
            <a:off x="979251" y="3818256"/>
            <a:ext cx="156351" cy="156351"/>
          </a:xfrm>
          <a:custGeom>
            <a:avLst/>
            <a:gdLst/>
            <a:ahLst/>
            <a:cxnLst/>
            <a:rect l="l" t="t" r="r" b="b"/>
            <a:pathLst>
              <a:path w="19" h="19">
                <a:moveTo>
                  <a:pt x="0" y="10"/>
                </a:moveTo>
                <a:lnTo>
                  <a:pt x="7" y="19"/>
                </a:lnTo>
                <a:lnTo>
                  <a:pt x="19" y="0"/>
                </a:lnTo>
              </a:path>
            </a:pathLst>
          </a:custGeom>
          <a:noFill/>
          <a:ln w="2304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TURN"/>
          <p:cNvSpPr txBox="1"/>
          <p:nvPr/>
        </p:nvSpPr>
        <p:spPr>
          <a:xfrm>
            <a:off x="1110915" y="3925425"/>
            <a:ext cx="942446" cy="3312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RETURN</a:t>
            </a:r>
          </a:p>
        </p:txBody>
      </p:sp>
      <p:cxnSp>
        <p:nvCxnSpPr>
          <p:cNvPr id="90" name="path 89"/>
          <p:cNvCxnSpPr/>
          <p:nvPr/>
        </p:nvCxnSpPr>
        <p:spPr>
          <a:xfrm>
            <a:off x="2139540" y="4090005"/>
            <a:ext cx="658320" cy="0"/>
          </a:xfrm>
          <a:prstGeom prst="line">
            <a:avLst/>
          </a:prstGeom>
          <a:ln w="55961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path 90"/>
          <p:cNvCxnSpPr/>
          <p:nvPr/>
        </p:nvCxnSpPr>
        <p:spPr>
          <a:xfrm>
            <a:off x="2139540" y="4090005"/>
            <a:ext cx="658320" cy="0"/>
          </a:xfrm>
          <a:prstGeom prst="line">
            <a:avLst/>
          </a:prstGeom>
          <a:ln w="3950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arrowhead 91"/>
          <p:cNvSpPr/>
          <p:nvPr/>
        </p:nvSpPr>
        <p:spPr>
          <a:xfrm>
            <a:off x="2649738" y="4015752"/>
            <a:ext cx="148122" cy="148122"/>
          </a:xfrm>
          <a:custGeom>
            <a:avLst/>
            <a:gdLst/>
            <a:ahLst/>
            <a:cxnLst/>
            <a:rect l="l" t="t" r="r" b="b"/>
            <a:pathLst>
              <a:path w="18" h="18">
                <a:moveTo>
                  <a:pt x="18" y="9"/>
                </a:moveTo>
                <a:lnTo>
                  <a:pt x="0" y="18"/>
                </a:lnTo>
                <a:lnTo>
                  <a:pt x="0" y="0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 92"/>
          <p:cNvSpPr/>
          <p:nvPr/>
        </p:nvSpPr>
        <p:spPr>
          <a:xfrm>
            <a:off x="2921295" y="3900738"/>
            <a:ext cx="526656" cy="378534"/>
          </a:xfrm>
          <a:prstGeom prst="roundRect">
            <a:avLst>
              <a:gd name="adj" fmla="val 4347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 93"/>
          <p:cNvSpPr/>
          <p:nvPr/>
        </p:nvSpPr>
        <p:spPr>
          <a:xfrm>
            <a:off x="2937753" y="3917196"/>
            <a:ext cx="493740" cy="41145"/>
          </a:xfrm>
          <a:prstGeom prst="roundRect">
            <a:avLst>
              <a:gd name="adj" fmla="val 20000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p0"/>
          <p:cNvSpPr txBox="1"/>
          <p:nvPr/>
        </p:nvSpPr>
        <p:spPr>
          <a:xfrm>
            <a:off x="3013389" y="3938591"/>
            <a:ext cx="342468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p0</a:t>
            </a:r>
          </a:p>
        </p:txBody>
      </p:sp>
      <p:sp>
        <p:nvSpPr>
          <p:cNvPr id="96" name="rect 95"/>
          <p:cNvSpPr/>
          <p:nvPr/>
        </p:nvSpPr>
        <p:spPr>
          <a:xfrm>
            <a:off x="3645447" y="3900738"/>
            <a:ext cx="526656" cy="378534"/>
          </a:xfrm>
          <a:prstGeom prst="roundRect">
            <a:avLst>
              <a:gd name="adj" fmla="val 4347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 96"/>
          <p:cNvSpPr/>
          <p:nvPr/>
        </p:nvSpPr>
        <p:spPr>
          <a:xfrm>
            <a:off x="3661905" y="3917196"/>
            <a:ext cx="493740" cy="41145"/>
          </a:xfrm>
          <a:prstGeom prst="roundRect">
            <a:avLst>
              <a:gd name="adj" fmla="val 20000"/>
            </a:avLst>
          </a:prstGeom>
          <a:solidFill>
            <a:srgbClr val="84E2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p1"/>
          <p:cNvSpPr txBox="1"/>
          <p:nvPr/>
        </p:nvSpPr>
        <p:spPr>
          <a:xfrm>
            <a:off x="3737541" y="3938591"/>
            <a:ext cx="342468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p1</a:t>
            </a:r>
          </a:p>
        </p:txBody>
      </p:sp>
      <p:sp>
        <p:nvSpPr>
          <p:cNvPr id="99" name="rect 98"/>
          <p:cNvSpPr/>
          <p:nvPr/>
        </p:nvSpPr>
        <p:spPr>
          <a:xfrm>
            <a:off x="4369599" y="3900738"/>
            <a:ext cx="526656" cy="378534"/>
          </a:xfrm>
          <a:prstGeom prst="roundRect">
            <a:avLst>
              <a:gd name="adj" fmla="val 4347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 99"/>
          <p:cNvSpPr/>
          <p:nvPr/>
        </p:nvSpPr>
        <p:spPr>
          <a:xfrm>
            <a:off x="4386057" y="3917196"/>
            <a:ext cx="493740" cy="41145"/>
          </a:xfrm>
          <a:prstGeom prst="roundRect">
            <a:avLst>
              <a:gd name="adj" fmla="val 20000"/>
            </a:avLst>
          </a:prstGeom>
          <a:solidFill>
            <a:srgbClr val="84E2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p2"/>
          <p:cNvSpPr txBox="1"/>
          <p:nvPr/>
        </p:nvSpPr>
        <p:spPr>
          <a:xfrm>
            <a:off x="4461693" y="3938591"/>
            <a:ext cx="342468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p2</a:t>
            </a:r>
          </a:p>
        </p:txBody>
      </p:sp>
      <p:sp>
        <p:nvSpPr>
          <p:cNvPr id="102" name="rect 101"/>
          <p:cNvSpPr/>
          <p:nvPr/>
        </p:nvSpPr>
        <p:spPr>
          <a:xfrm>
            <a:off x="5093751" y="3900738"/>
            <a:ext cx="526656" cy="378534"/>
          </a:xfrm>
          <a:prstGeom prst="roundRect">
            <a:avLst>
              <a:gd name="adj" fmla="val 4347"/>
            </a:avLst>
          </a:prstGeom>
          <a:solidFill>
            <a:srgbClr val="D7AEFF"/>
          </a:solidFill>
          <a:ln w="1316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 102"/>
          <p:cNvSpPr/>
          <p:nvPr/>
        </p:nvSpPr>
        <p:spPr>
          <a:xfrm>
            <a:off x="5110209" y="3917196"/>
            <a:ext cx="493740" cy="41145"/>
          </a:xfrm>
          <a:prstGeom prst="roundRect">
            <a:avLst>
              <a:gd name="adj" fmla="val 20000"/>
            </a:avLst>
          </a:prstGeom>
          <a:solidFill>
            <a:srgbClr val="84E2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p3"/>
          <p:cNvSpPr txBox="1"/>
          <p:nvPr/>
        </p:nvSpPr>
        <p:spPr>
          <a:xfrm>
            <a:off x="5185845" y="3938591"/>
            <a:ext cx="342468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p3</a:t>
            </a:r>
          </a:p>
        </p:txBody>
      </p:sp>
      <p:sp>
        <p:nvSpPr>
          <p:cNvPr id="105" name="path 104"/>
          <p:cNvSpPr/>
          <p:nvPr/>
        </p:nvSpPr>
        <p:spPr>
          <a:xfrm>
            <a:off x="3094104" y="4369599"/>
            <a:ext cx="65832" cy="57603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0" y="7"/>
                </a:moveTo>
                <a:lnTo>
                  <a:pt x="0" y="0"/>
                </a:lnTo>
                <a:lnTo>
                  <a:pt x="8" y="0"/>
                </a:lnTo>
                <a:lnTo>
                  <a:pt x="8" y="7"/>
                </a:lnTo>
              </a:path>
            </a:pathLst>
          </a:custGeom>
          <a:noFill/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 105"/>
          <p:cNvSpPr/>
          <p:nvPr/>
        </p:nvSpPr>
        <p:spPr>
          <a:xfrm>
            <a:off x="3069417" y="4425748"/>
            <a:ext cx="118498" cy="98748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circle 106"/>
          <p:cNvSpPr/>
          <p:nvPr/>
        </p:nvSpPr>
        <p:spPr>
          <a:xfrm>
            <a:off x="3118791" y="4455373"/>
            <a:ext cx="19750" cy="19750"/>
          </a:xfrm>
          <a:prstGeom prst="ellipse">
            <a:avLst/>
          </a:prstGeom>
          <a:solidFill>
            <a:srgbClr val="000000"/>
          </a:solidFill>
          <a:ln w="822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path 107"/>
          <p:cNvSpPr/>
          <p:nvPr/>
        </p:nvSpPr>
        <p:spPr>
          <a:xfrm>
            <a:off x="3645447" y="4418973"/>
            <a:ext cx="1974960" cy="57603"/>
          </a:xfrm>
          <a:custGeom>
            <a:avLst/>
            <a:gdLst/>
            <a:ahLst/>
            <a:cxnLst/>
            <a:rect l="l" t="t" r="r" b="b"/>
            <a:pathLst>
              <a:path w="240" h="7">
                <a:moveTo>
                  <a:pt x="0" y="7"/>
                </a:moveTo>
                <a:lnTo>
                  <a:pt x="0" y="0"/>
                </a:lnTo>
                <a:lnTo>
                  <a:pt x="240" y="0"/>
                </a:lnTo>
                <a:lnTo>
                  <a:pt x="240" y="7"/>
                </a:lnTo>
              </a:path>
            </a:pathLst>
          </a:custGeom>
          <a:noFill/>
          <a:ln w="13167">
            <a:solidFill>
              <a:srgbClr val="275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无用私有后缀"/>
          <p:cNvSpPr txBox="1"/>
          <p:nvPr/>
        </p:nvSpPr>
        <p:spPr>
          <a:xfrm>
            <a:off x="4015752" y="4493226"/>
            <a:ext cx="1283724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无用私有后缀</a:t>
            </a:r>
          </a:p>
        </p:txBody>
      </p:sp>
      <p:cxnSp>
        <p:nvCxnSpPr>
          <p:cNvPr id="110" name="path 109"/>
          <p:cNvCxnSpPr/>
          <p:nvPr/>
        </p:nvCxnSpPr>
        <p:spPr>
          <a:xfrm>
            <a:off x="5760300" y="4090005"/>
            <a:ext cx="4180332" cy="0"/>
          </a:xfrm>
          <a:prstGeom prst="line">
            <a:avLst/>
          </a:prstGeom>
          <a:ln w="6583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path 110"/>
          <p:cNvCxnSpPr/>
          <p:nvPr/>
        </p:nvCxnSpPr>
        <p:spPr>
          <a:xfrm>
            <a:off x="5760300" y="4090005"/>
            <a:ext cx="4180332" cy="0"/>
          </a:xfrm>
          <a:prstGeom prst="line">
            <a:avLst/>
          </a:prstGeom>
          <a:ln w="49377">
            <a:solidFill>
              <a:srgbClr val="2753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arrowhead 111"/>
          <p:cNvSpPr/>
          <p:nvPr/>
        </p:nvSpPr>
        <p:spPr>
          <a:xfrm>
            <a:off x="9743136" y="3991065"/>
            <a:ext cx="197496" cy="197496"/>
          </a:xfrm>
          <a:custGeom>
            <a:avLst/>
            <a:gdLst/>
            <a:ahLst/>
            <a:cxnLst/>
            <a:rect l="l" t="t" r="r" b="b"/>
            <a:pathLst>
              <a:path w="24" h="24">
                <a:moveTo>
                  <a:pt x="24" y="12"/>
                </a:moveTo>
                <a:lnTo>
                  <a:pt x="0" y="24"/>
                </a:lnTo>
                <a:lnTo>
                  <a:pt x="6" y="12"/>
                </a:lnTo>
                <a:lnTo>
                  <a:pt x="0" y="0"/>
                </a:lnTo>
                <a:close/>
              </a:path>
            </a:pathLst>
          </a:custGeom>
          <a:solidFill>
            <a:srgbClr val="275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circle 112"/>
          <p:cNvSpPr/>
          <p:nvPr/>
        </p:nvSpPr>
        <p:spPr>
          <a:xfrm>
            <a:off x="7784634" y="3933654"/>
            <a:ext cx="312702" cy="312702"/>
          </a:xfrm>
          <a:prstGeom prst="ellipse">
            <a:avLst/>
          </a:prstGeom>
          <a:solidFill>
            <a:srgbClr val="000000"/>
          </a:solidFill>
          <a:ln w="2468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3"/>
          <p:cNvSpPr txBox="1"/>
          <p:nvPr/>
        </p:nvSpPr>
        <p:spPr>
          <a:xfrm>
            <a:off x="7835776" y="3931597"/>
            <a:ext cx="210418" cy="3085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zh-CN" spc="0">
                <a:solidFill>
                  <a:srgbClr val="FFFFFF"/>
                </a:solidFill>
                <a:latin typeface="Noto Sans CJK SC"/>
                <a:ea typeface="Noto Sans CJK SC"/>
                <a:effectLst/>
              </a:rPr>
              <a:t>3</a:t>
            </a:r>
          </a:p>
        </p:txBody>
      </p:sp>
      <p:sp>
        <p:nvSpPr>
          <p:cNvPr id="115" name="直接释放，无须 D2H"/>
          <p:cNvSpPr txBox="1"/>
          <p:nvPr/>
        </p:nvSpPr>
        <p:spPr>
          <a:xfrm>
            <a:off x="6843731" y="4131150"/>
            <a:ext cx="1914721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直接释放，无须 D2H</a:t>
            </a:r>
          </a:p>
        </p:txBody>
      </p:sp>
      <p:sp>
        <p:nvSpPr>
          <p:cNvPr id="116" name="rect 115"/>
          <p:cNvSpPr/>
          <p:nvPr/>
        </p:nvSpPr>
        <p:spPr>
          <a:xfrm>
            <a:off x="10129899" y="3900738"/>
            <a:ext cx="337389" cy="378534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 116"/>
          <p:cNvSpPr/>
          <p:nvPr/>
        </p:nvSpPr>
        <p:spPr>
          <a:xfrm>
            <a:off x="10582494" y="3900738"/>
            <a:ext cx="337389" cy="378534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 117"/>
          <p:cNvSpPr/>
          <p:nvPr/>
        </p:nvSpPr>
        <p:spPr>
          <a:xfrm>
            <a:off x="11035089" y="3900738"/>
            <a:ext cx="337389" cy="378534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+ 可用容量"/>
          <p:cNvSpPr txBox="1"/>
          <p:nvPr/>
        </p:nvSpPr>
        <p:spPr>
          <a:xfrm>
            <a:off x="10209328" y="4369791"/>
            <a:ext cx="1042576" cy="3209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5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+ 可用容量</a:t>
            </a:r>
          </a:p>
        </p:txBody>
      </p:sp>
      <p:sp>
        <p:nvSpPr>
          <p:cNvPr id="120" name="circle 119"/>
          <p:cNvSpPr/>
          <p:nvPr/>
        </p:nvSpPr>
        <p:spPr>
          <a:xfrm>
            <a:off x="501969" y="4707180"/>
            <a:ext cx="411450" cy="411450"/>
          </a:xfrm>
          <a:prstGeom prst="ellipse">
            <a:avLst/>
          </a:prstGeom>
          <a:solidFill>
            <a:srgbClr val="F6C6AD"/>
          </a:solidFill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C2"/>
          <p:cNvSpPr txBox="1"/>
          <p:nvPr/>
        </p:nvSpPr>
        <p:spPr>
          <a:xfrm>
            <a:off x="530160" y="4744210"/>
            <a:ext cx="355068" cy="3312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C2</a:t>
            </a:r>
          </a:p>
        </p:txBody>
      </p:sp>
      <p:sp>
        <p:nvSpPr>
          <p:cNvPr id="122" name="path 121"/>
          <p:cNvSpPr/>
          <p:nvPr/>
        </p:nvSpPr>
        <p:spPr>
          <a:xfrm>
            <a:off x="1119144" y="4772820"/>
            <a:ext cx="82290" cy="65832"/>
          </a:xfrm>
          <a:custGeom>
            <a:avLst/>
            <a:gdLst/>
            <a:ahLst/>
            <a:cxnLst/>
            <a:rect l="l" t="t" r="r" b="b"/>
            <a:pathLst>
              <a:path w="10" h="8">
                <a:moveTo>
                  <a:pt x="0" y="8"/>
                </a:moveTo>
                <a:lnTo>
                  <a:pt x="0" y="0"/>
                </a:lnTo>
                <a:lnTo>
                  <a:pt x="10" y="0"/>
                </a:lnTo>
                <a:lnTo>
                  <a:pt x="10" y="8"/>
                </a:lnTo>
              </a:path>
            </a:pathLst>
          </a:custGeom>
          <a:noFill/>
          <a:ln w="1645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 122"/>
          <p:cNvSpPr/>
          <p:nvPr/>
        </p:nvSpPr>
        <p:spPr>
          <a:xfrm>
            <a:off x="1094457" y="4839667"/>
            <a:ext cx="138247" cy="115206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circle 123"/>
          <p:cNvSpPr/>
          <p:nvPr/>
        </p:nvSpPr>
        <p:spPr>
          <a:xfrm>
            <a:off x="1152060" y="4874229"/>
            <a:ext cx="23041" cy="23041"/>
          </a:xfrm>
          <a:prstGeom prst="ellipse">
            <a:avLst/>
          </a:prstGeom>
          <a:solidFill>
            <a:srgbClr val="000000"/>
          </a:solidFill>
          <a:ln w="822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执行中：保留活跃 KV"/>
          <p:cNvSpPr txBox="1"/>
          <p:nvPr/>
        </p:nvSpPr>
        <p:spPr>
          <a:xfrm>
            <a:off x="1481220" y="4748325"/>
            <a:ext cx="2038928" cy="3312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执行中：保留活跃 KV</a:t>
            </a:r>
          </a:p>
        </p:txBody>
      </p:sp>
      <p:sp>
        <p:nvSpPr>
          <p:cNvPr id="126" name="path 125"/>
          <p:cNvSpPr/>
          <p:nvPr/>
        </p:nvSpPr>
        <p:spPr>
          <a:xfrm>
            <a:off x="7068711" y="2773173"/>
            <a:ext cx="1448304" cy="378534"/>
          </a:xfrm>
          <a:custGeom>
            <a:avLst/>
            <a:gdLst/>
            <a:ahLst/>
            <a:cxnLst/>
            <a:rect l="l" t="t" r="r" b="b"/>
            <a:pathLst>
              <a:path w="176" h="46">
                <a:moveTo>
                  <a:pt x="0" y="46"/>
                </a:moveTo>
                <a:lnTo>
                  <a:pt x="176" y="46"/>
                </a:lnTo>
                <a:lnTo>
                  <a:pt x="176" y="0"/>
                </a:lnTo>
              </a:path>
            </a:pathLst>
          </a:custGeom>
          <a:noFill/>
          <a:ln w="39502">
            <a:solidFill>
              <a:srgbClr val="275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path 126"/>
          <p:cNvCxnSpPr/>
          <p:nvPr/>
        </p:nvCxnSpPr>
        <p:spPr>
          <a:xfrm>
            <a:off x="8286603" y="2773365"/>
            <a:ext cx="3612531" cy="0"/>
          </a:xfrm>
          <a:prstGeom prst="line">
            <a:avLst/>
          </a:prstGeom>
          <a:ln w="39502">
            <a:solidFill>
              <a:srgbClr val="2753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path 127"/>
          <p:cNvSpPr/>
          <p:nvPr/>
        </p:nvSpPr>
        <p:spPr>
          <a:xfrm>
            <a:off x="11183211" y="1234350"/>
            <a:ext cx="608946" cy="1538823"/>
          </a:xfrm>
          <a:custGeom>
            <a:avLst/>
            <a:gdLst/>
            <a:ahLst/>
            <a:cxnLst/>
            <a:rect l="l" t="t" r="r" b="b"/>
            <a:pathLst>
              <a:path w="74" h="187">
                <a:moveTo>
                  <a:pt x="0" y="0"/>
                </a:moveTo>
                <a:lnTo>
                  <a:pt x="74" y="0"/>
                </a:lnTo>
                <a:lnTo>
                  <a:pt x="74" y="187"/>
                </a:lnTo>
              </a:path>
            </a:pathLst>
          </a:custGeom>
          <a:noFill/>
          <a:ln w="39502">
            <a:solidFill>
              <a:srgbClr val="275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path 128"/>
          <p:cNvSpPr/>
          <p:nvPr/>
        </p:nvSpPr>
        <p:spPr>
          <a:xfrm>
            <a:off x="11462997" y="2773173"/>
            <a:ext cx="329160" cy="1316640"/>
          </a:xfrm>
          <a:custGeom>
            <a:avLst/>
            <a:gdLst/>
            <a:ahLst/>
            <a:cxnLst/>
            <a:rect l="l" t="t" r="r" b="b"/>
            <a:pathLst>
              <a:path w="40" h="160">
                <a:moveTo>
                  <a:pt x="0" y="160"/>
                </a:moveTo>
                <a:lnTo>
                  <a:pt x="40" y="160"/>
                </a:lnTo>
                <a:lnTo>
                  <a:pt x="40" y="0"/>
                </a:lnTo>
              </a:path>
            </a:pathLst>
          </a:custGeom>
          <a:noFill/>
          <a:ln w="39502">
            <a:solidFill>
              <a:srgbClr val="275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0" name="path 129"/>
          <p:cNvCxnSpPr/>
          <p:nvPr/>
        </p:nvCxnSpPr>
        <p:spPr>
          <a:xfrm>
            <a:off x="11899134" y="2773365"/>
            <a:ext cx="526656" cy="0"/>
          </a:xfrm>
          <a:prstGeom prst="line">
            <a:avLst/>
          </a:prstGeom>
          <a:ln w="55961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path 130"/>
          <p:cNvCxnSpPr/>
          <p:nvPr/>
        </p:nvCxnSpPr>
        <p:spPr>
          <a:xfrm>
            <a:off x="11899134" y="2773365"/>
            <a:ext cx="526656" cy="0"/>
          </a:xfrm>
          <a:prstGeom prst="line">
            <a:avLst/>
          </a:prstGeom>
          <a:ln w="39502">
            <a:solidFill>
              <a:srgbClr val="2753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arrowhead 131"/>
          <p:cNvSpPr/>
          <p:nvPr/>
        </p:nvSpPr>
        <p:spPr>
          <a:xfrm>
            <a:off x="12277668" y="2699112"/>
            <a:ext cx="148122" cy="148122"/>
          </a:xfrm>
          <a:custGeom>
            <a:avLst/>
            <a:gdLst/>
            <a:ahLst/>
            <a:cxnLst/>
            <a:rect l="l" t="t" r="r" b="b"/>
            <a:pathLst>
              <a:path w="18" h="18">
                <a:moveTo>
                  <a:pt x="18" y="9"/>
                </a:moveTo>
                <a:lnTo>
                  <a:pt x="0" y="18"/>
                </a:lnTo>
                <a:lnTo>
                  <a:pt x="4" y="9"/>
                </a:lnTo>
                <a:lnTo>
                  <a:pt x="0" y="0"/>
                </a:lnTo>
                <a:close/>
              </a:path>
            </a:pathLst>
          </a:custGeom>
          <a:solidFill>
            <a:srgbClr val="275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circle 132"/>
          <p:cNvSpPr/>
          <p:nvPr/>
        </p:nvSpPr>
        <p:spPr>
          <a:xfrm>
            <a:off x="11742783" y="2617014"/>
            <a:ext cx="312702" cy="312702"/>
          </a:xfrm>
          <a:prstGeom prst="ellipse">
            <a:avLst/>
          </a:prstGeom>
          <a:solidFill>
            <a:srgbClr val="000000"/>
          </a:solidFill>
          <a:ln w="24688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4"/>
          <p:cNvSpPr txBox="1"/>
          <p:nvPr/>
        </p:nvSpPr>
        <p:spPr>
          <a:xfrm>
            <a:off x="11793925" y="2614957"/>
            <a:ext cx="210418" cy="3085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1" i="0" lang="zh-CN" spc="0">
                <a:solidFill>
                  <a:srgbClr val="FFFFFF"/>
                </a:solidFill>
                <a:latin typeface="Noto Sans CJK SC"/>
                <a:ea typeface="Noto Sans CJK SC"/>
                <a:effectLst/>
              </a:rPr>
              <a:t>4</a:t>
            </a:r>
          </a:p>
        </p:txBody>
      </p:sp>
      <p:sp>
        <p:nvSpPr>
          <p:cNvPr id="135" name="恢复视图"/>
          <p:cNvSpPr txBox="1"/>
          <p:nvPr/>
        </p:nvSpPr>
        <p:spPr>
          <a:xfrm>
            <a:off x="9586785" y="2279625"/>
            <a:ext cx="921648" cy="3312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恢复视图</a:t>
            </a:r>
          </a:p>
        </p:txBody>
      </p:sp>
      <p:sp>
        <p:nvSpPr>
          <p:cNvPr id="136" name="circle 135"/>
          <p:cNvSpPr/>
          <p:nvPr/>
        </p:nvSpPr>
        <p:spPr>
          <a:xfrm>
            <a:off x="12499851" y="2542953"/>
            <a:ext cx="460824" cy="460824"/>
          </a:xfrm>
          <a:prstGeom prst="ellipse">
            <a:avLst/>
          </a:prstGeom>
          <a:solidFill>
            <a:srgbClr val="D9D9D9"/>
          </a:solidFill>
          <a:ln w="1481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D3"/>
          <p:cNvSpPr txBox="1"/>
          <p:nvPr/>
        </p:nvSpPr>
        <p:spPr>
          <a:xfrm>
            <a:off x="12568222" y="2621128"/>
            <a:ext cx="324081" cy="2859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 lang="zh-CN" spc="0">
                <a:solidFill>
                  <a:srgbClr val="000000"/>
                </a:solidFill>
                <a:latin typeface="Noto Sans CJK SC"/>
                <a:ea typeface="Noto Sans CJK SC"/>
                <a:effectLst/>
              </a:rPr>
              <a:t>D3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BeliefKV 系统架构图</dc:title>
  <dc:subject>Current development architecture as of 2026-10-15</dc:subject>
  <dc:creator>BeliefKV</dc:creator>
  <cp:keywords>BeliefKV, dynamic agent workflows, KV cache, native editable diagrams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