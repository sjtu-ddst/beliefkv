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167360" cy="510235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Execution-arrow steps coordinate inference and native service. 1: use D1's rolling hint and measured direction/shape/size-matched transfer cost to time restoration. 2: use D2's free/reclaimable capacity with next-input growth reserve, accounted separately for FULL and Mamba. 3: H2D copies only missing p2/p3 and necessary state matching c*; other pages in the right-hand prefix were resident. Two pages are an example, not a fixed cap. Its start before and completion after the actual C2 RETURN line illustrate useful partial overlap; no empirical timing scale is claimed. C1 has already returned, as in D1/D2. 4: after actual JOIN and request arrival, admit restored runnable P with a bounded boost, while retaining HBM-hit preference, aging and batch fill. Native PrefillAdder, allocator, layer dependencies, required Mamba and slots remain authoritative. The lock denotes bounded protection pending first use, not an indefinite pin. Ledger ACK manages lifecycle but is not a universal execution barrier. Other tails/dependencies use native recovery; failures or expiry fall back natively. Control paths reuse current-cycle observations and remain lightweight without opportunities. No throughput or JCT gain is implied by the schematic. Sources: native_transfer_policy.py; native_transfer_service.py; runtime _wait_prefetch_opportunity, defer_prefill_for_prefetch, plan_native_prefill.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3"/>
          <p:cNvSpPr txBox="1"/>
          <p:nvPr/>
        </p:nvSpPr>
        <p:spPr>
          <a:xfrm>
            <a:off x="263328" y="115392"/>
            <a:ext cx="488018" cy="333274"/>
          </a:xfrm>
          <a:prstGeom prst="rect">
            <a:avLst/>
          </a:prstGeom>
          <a:noFill/>
          <a:effectLst/>
        </p:spPr>
        <p:txBody>
          <a:bodyPr wrap="none" lIns="0" rIns="0" tIns="0" bIns="0" anchor="t">
            <a:spAutoFit/>
          </a:bodyPr>
          <a:lstStyle/>
          <a:p>
            <a:pPr algn="l">
              <a:lnSpc>
                <a:spcPct val="100000"/>
              </a:lnSpc>
              <a:spcBef>
                <a:spcPts val="0"/>
              </a:spcBef>
              <a:spcAft>
                <a:spcPts val="0"/>
              </a:spcAft>
            </a:pPr>
            <a:r>
              <a:rPr sz="2008" b="1" i="0" lang="en-US" spc="0">
                <a:solidFill>
                  <a:srgbClr val="000000"/>
                </a:solidFill>
                <a:latin typeface="DejaVu Sans"/>
                <a:ea typeface="DejaVu Sans"/>
                <a:effectLst/>
              </a:rPr>
              <a:t>D3</a:t>
            </a:r>
          </a:p>
        </p:txBody>
      </p:sp>
      <p:sp>
        <p:nvSpPr>
          <p:cNvPr id="3" name="Restore early, then admit for first use"/>
          <p:cNvSpPr txBox="1"/>
          <p:nvPr/>
        </p:nvSpPr>
        <p:spPr>
          <a:xfrm>
            <a:off x="888732" y="115392"/>
            <a:ext cx="5546089" cy="333274"/>
          </a:xfrm>
          <a:prstGeom prst="rect">
            <a:avLst/>
          </a:prstGeom>
          <a:noFill/>
          <a:effectLst/>
        </p:spPr>
        <p:txBody>
          <a:bodyPr wrap="none" lIns="0" rIns="0" tIns="0" bIns="0" anchor="t">
            <a:spAutoFit/>
          </a:bodyPr>
          <a:lstStyle/>
          <a:p>
            <a:pPr algn="l">
              <a:lnSpc>
                <a:spcPct val="100000"/>
              </a:lnSpc>
              <a:spcBef>
                <a:spcPts val="0"/>
              </a:spcBef>
              <a:spcAft>
                <a:spcPts val="0"/>
              </a:spcAft>
            </a:pPr>
            <a:r>
              <a:rPr sz="2008" b="1" i="0" lang="en-US" spc="0">
                <a:solidFill>
                  <a:srgbClr val="000000"/>
                </a:solidFill>
                <a:latin typeface="DejaVu Sans"/>
                <a:ea typeface="DejaVu Sans"/>
                <a:effectLst/>
              </a:rPr>
              <a:t>Restore early, then admit for first use</a:t>
            </a:r>
          </a:p>
        </p:txBody>
      </p:sp>
      <p:sp>
        <p:nvSpPr>
          <p:cNvPr id="4" name="rect 3"/>
          <p:cNvSpPr/>
          <p:nvPr/>
        </p:nvSpPr>
        <p:spPr>
          <a:xfrm>
            <a:off x="1086228" y="1827024"/>
            <a:ext cx="3637218" cy="1110915"/>
          </a:xfrm>
          <a:prstGeom prst="roundRect">
            <a:avLst>
              <a:gd name="adj" fmla="val 5925"/>
            </a:avLst>
          </a:prstGeom>
          <a:solidFill>
            <a:srgbClr val="FBE3D6"/>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 4"/>
          <p:cNvSpPr/>
          <p:nvPr/>
        </p:nvSpPr>
        <p:spPr>
          <a:xfrm>
            <a:off x="9027213" y="1827024"/>
            <a:ext cx="3933462" cy="1110915"/>
          </a:xfrm>
          <a:prstGeom prst="roundRect">
            <a:avLst>
              <a:gd name="adj" fmla="val 5925"/>
            </a:avLst>
          </a:prstGeom>
          <a:solidFill>
            <a:srgbClr val="F2F2F2"/>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 5"/>
          <p:cNvSpPr/>
          <p:nvPr/>
        </p:nvSpPr>
        <p:spPr>
          <a:xfrm>
            <a:off x="5859048" y="1481406"/>
            <a:ext cx="2304120" cy="534885"/>
          </a:xfrm>
          <a:prstGeom prst="roundRect">
            <a:avLst>
              <a:gd name="adj" fmla="val 12307"/>
            </a:avLst>
          </a:prstGeom>
          <a:solidFill>
            <a:srgbClr val="DCEAF7"/>
          </a:solidFill>
          <a:ln w="13167">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 6"/>
          <p:cNvSpPr/>
          <p:nvPr/>
        </p:nvSpPr>
        <p:spPr>
          <a:xfrm>
            <a:off x="1086228" y="3481053"/>
            <a:ext cx="3637218" cy="1193205"/>
          </a:xfrm>
          <a:prstGeom prst="roundRect">
            <a:avLst>
              <a:gd name="adj" fmla="val 5517"/>
            </a:avLst>
          </a:prstGeom>
          <a:solidFill>
            <a:srgbClr val="F2F2F2"/>
          </a:solidFill>
          <a:ln w="13167">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 7"/>
          <p:cNvSpPr/>
          <p:nvPr/>
        </p:nvSpPr>
        <p:spPr>
          <a:xfrm>
            <a:off x="9027213" y="3160122"/>
            <a:ext cx="3933462" cy="1662258"/>
          </a:xfrm>
          <a:prstGeom prst="roundRect">
            <a:avLst>
              <a:gd name="adj" fmla="val 3960"/>
            </a:avLst>
          </a:prstGeom>
          <a:solidFill>
            <a:srgbClr val="D9F2D0"/>
          </a:solidFill>
          <a:ln w="14813">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ircle 8"/>
          <p:cNvSpPr/>
          <p:nvPr/>
        </p:nvSpPr>
        <p:spPr>
          <a:xfrm>
            <a:off x="362076" y="864231"/>
            <a:ext cx="460824" cy="460824"/>
          </a:xfrm>
          <a:prstGeom prst="ellipse">
            <a:avLst/>
          </a:prstGeom>
          <a:solidFill>
            <a:srgbClr val="F6C6AD"/>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C2"/>
          <p:cNvSpPr txBox="1"/>
          <p:nvPr/>
        </p:nvSpPr>
        <p:spPr>
          <a:xfrm>
            <a:off x="396053" y="973265"/>
            <a:ext cx="392870"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C2</a:t>
            </a:r>
          </a:p>
        </p:txBody>
      </p:sp>
      <p:cxnSp>
        <p:nvCxnSpPr>
          <p:cNvPr id="11" name="line 10"/>
          <p:cNvCxnSpPr/>
          <p:nvPr/>
        </p:nvCxnSpPr>
        <p:spPr>
          <a:xfrm>
            <a:off x="962793" y="1094643"/>
            <a:ext cx="7266207" cy="0"/>
          </a:xfrm>
          <a:prstGeom prst="line">
            <a:avLst/>
          </a:prstGeom>
          <a:ln w="10698">
            <a:solidFill>
              <a:srgbClr val="A6A6A6"/>
            </a:solidFill>
          </a:ln>
          <a:effectLst/>
        </p:spPr>
        <p:style>
          <a:lnRef idx="2">
            <a:schemeClr val="accent1"/>
          </a:lnRef>
          <a:fillRef idx="0">
            <a:schemeClr val="accent1"/>
          </a:fillRef>
          <a:effectRef idx="0">
            <a:schemeClr val="accent1"/>
          </a:effectRef>
          <a:fontRef idx="minor">
            <a:schemeClr val="tx1"/>
          </a:fontRef>
        </p:style>
      </p:cxnSp>
      <p:sp>
        <p:nvSpPr>
          <p:cNvPr id="12" name="rect 11"/>
          <p:cNvSpPr/>
          <p:nvPr/>
        </p:nvSpPr>
        <p:spPr>
          <a:xfrm>
            <a:off x="4048668" y="930063"/>
            <a:ext cx="4180332" cy="329160"/>
          </a:xfrm>
          <a:prstGeom prst="rect">
            <a:avLst/>
          </a:prstGeom>
          <a:solidFill>
            <a:srgbClr val="F6C6AD"/>
          </a:solidFill>
          <a:ln w="123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inal report"/>
          <p:cNvSpPr txBox="1"/>
          <p:nvPr/>
        </p:nvSpPr>
        <p:spPr>
          <a:xfrm>
            <a:off x="5498226" y="960922"/>
            <a:ext cx="1281217" cy="283900"/>
          </a:xfrm>
          <a:prstGeom prst="rect">
            <a:avLst/>
          </a:prstGeom>
          <a:noFill/>
          <a:effectLst/>
        </p:spPr>
        <p:txBody>
          <a:bodyPr wrap="none" lIns="0" rIns="0" tIns="0" bIns="0" anchor="t">
            <a:spAutoFit/>
          </a:bodyPr>
          <a:lstStyle/>
          <a:p>
            <a:pPr algn="ctr">
              <a:lnSpc>
                <a:spcPct val="100000"/>
              </a:lnSpc>
              <a:spcBef>
                <a:spcPts val="0"/>
              </a:spcBef>
              <a:spcAft>
                <a:spcPts val="0"/>
              </a:spcAft>
            </a:pPr>
            <a:r>
              <a:rPr sz="1684" b="0" i="0" lang="en-US" spc="0">
                <a:solidFill>
                  <a:srgbClr val="000000"/>
                </a:solidFill>
                <a:latin typeface="DejaVu Sans"/>
                <a:ea typeface="DejaVu Sans"/>
                <a:effectLst/>
              </a:rPr>
              <a:t>final report</a:t>
            </a:r>
          </a:p>
        </p:txBody>
      </p:sp>
      <p:sp>
        <p:nvSpPr>
          <p:cNvPr id="14" name="circle 13"/>
          <p:cNvSpPr/>
          <p:nvPr/>
        </p:nvSpPr>
        <p:spPr>
          <a:xfrm>
            <a:off x="3398577" y="1037040"/>
            <a:ext cx="115206" cy="115206"/>
          </a:xfrm>
          <a:prstGeom prst="ellipse">
            <a:avLst/>
          </a:prstGeom>
          <a:solidFill>
            <a:srgbClr val="215F9A"/>
          </a:solidFill>
          <a:ln w="11521">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NOTICE"/>
          <p:cNvSpPr txBox="1"/>
          <p:nvPr/>
        </p:nvSpPr>
        <p:spPr>
          <a:xfrm>
            <a:off x="3110562" y="621476"/>
            <a:ext cx="919976" cy="265385"/>
          </a:xfrm>
          <a:prstGeom prst="rect">
            <a:avLst/>
          </a:prstGeom>
          <a:noFill/>
          <a:effectLst/>
        </p:spPr>
        <p:txBody>
          <a:bodyPr wrap="none" lIns="0" rIns="0" tIns="0" bIns="0" anchor="t">
            <a:spAutoFit/>
          </a:bodyPr>
          <a:lstStyle/>
          <a:p>
            <a:pPr algn="l">
              <a:lnSpc>
                <a:spcPct val="100000"/>
              </a:lnSpc>
              <a:spcBef>
                <a:spcPts val="0"/>
              </a:spcBef>
              <a:spcAft>
                <a:spcPts val="0"/>
              </a:spcAft>
            </a:pPr>
            <a:r>
              <a:rPr sz="1555" b="1" i="0" lang="en-US" spc="0">
                <a:solidFill>
                  <a:srgbClr val="000000"/>
                </a:solidFill>
                <a:latin typeface="DejaVu Sans"/>
                <a:ea typeface="DejaVu Sans"/>
                <a:effectLst/>
              </a:rPr>
              <a:t>NOTICE</a:t>
            </a:r>
          </a:p>
        </p:txBody>
      </p:sp>
      <p:cxnSp>
        <p:nvCxnSpPr>
          <p:cNvPr id="16" name="line 15"/>
          <p:cNvCxnSpPr/>
          <p:nvPr/>
        </p:nvCxnSpPr>
        <p:spPr>
          <a:xfrm>
            <a:off x="8229000" y="757254"/>
            <a:ext cx="0" cy="3917004"/>
          </a:xfrm>
          <a:prstGeom prst="line">
            <a:avLst/>
          </a:prstGeom>
          <a:ln w="13990">
            <a:solidFill>
              <a:srgbClr val="A6A6A6"/>
            </a:solidFill>
            <a:prstDash val="dash"/>
          </a:ln>
          <a:effectLst/>
        </p:spPr>
        <p:style>
          <a:lnRef idx="2">
            <a:schemeClr val="accent1"/>
          </a:lnRef>
          <a:fillRef idx="0">
            <a:schemeClr val="accent1"/>
          </a:fillRef>
          <a:effectRef idx="0">
            <a:schemeClr val="accent1"/>
          </a:effectRef>
          <a:fontRef idx="minor">
            <a:schemeClr val="tx1"/>
          </a:fontRef>
        </p:style>
      </p:cxnSp>
      <p:sp>
        <p:nvSpPr>
          <p:cNvPr id="17" name="RETURN / JOIN"/>
          <p:cNvSpPr txBox="1"/>
          <p:nvPr/>
        </p:nvSpPr>
        <p:spPr>
          <a:xfrm>
            <a:off x="8401809" y="952693"/>
            <a:ext cx="1754191"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1" i="0" lang="en-US" spc="0">
                <a:solidFill>
                  <a:srgbClr val="000000"/>
                </a:solidFill>
                <a:latin typeface="DejaVu Sans"/>
                <a:ea typeface="DejaVu Sans"/>
                <a:effectLst/>
              </a:rPr>
              <a:t>RETURN / JOIN</a:t>
            </a:r>
          </a:p>
        </p:txBody>
      </p:sp>
      <p:sp>
        <p:nvSpPr>
          <p:cNvPr id="18" name="circle 17"/>
          <p:cNvSpPr/>
          <p:nvPr/>
        </p:nvSpPr>
        <p:spPr>
          <a:xfrm>
            <a:off x="2806089" y="1374429"/>
            <a:ext cx="378534" cy="378534"/>
          </a:xfrm>
          <a:prstGeom prst="ellipse">
            <a:avLst/>
          </a:prstGeom>
          <a:solidFill>
            <a:srgbClr val="A6CAEC"/>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D1"/>
          <p:cNvSpPr txBox="1"/>
          <p:nvPr/>
        </p:nvSpPr>
        <p:spPr>
          <a:xfrm>
            <a:off x="2814125" y="1452604"/>
            <a:ext cx="362462" cy="234526"/>
          </a:xfrm>
          <a:prstGeom prst="rect">
            <a:avLst/>
          </a:prstGeom>
          <a:noFill/>
          <a:effectLst/>
        </p:spPr>
        <p:txBody>
          <a:bodyPr wrap="none" lIns="0" rIns="0" tIns="0" bIns="0" anchor="t">
            <a:spAutoFit/>
          </a:bodyPr>
          <a:lstStyle/>
          <a:p>
            <a:pPr algn="ctr">
              <a:lnSpc>
                <a:spcPct val="100000"/>
              </a:lnSpc>
              <a:spcBef>
                <a:spcPts val="0"/>
              </a:spcBef>
              <a:spcAft>
                <a:spcPts val="0"/>
              </a:spcAft>
            </a:pPr>
            <a:r>
              <a:rPr sz="1360" b="1" i="0" lang="en-US" spc="0">
                <a:solidFill>
                  <a:srgbClr val="000000"/>
                </a:solidFill>
                <a:latin typeface="DejaVu Sans"/>
                <a:ea typeface="DejaVu Sans"/>
                <a:effectLst/>
              </a:rPr>
              <a:t>D1</a:t>
            </a:r>
          </a:p>
        </p:txBody>
      </p:sp>
      <p:sp>
        <p:nvSpPr>
          <p:cNvPr id="20" name="curve 19"/>
          <p:cNvSpPr/>
          <p:nvPr/>
        </p:nvSpPr>
        <p:spPr>
          <a:xfrm>
            <a:off x="3456180" y="1291953"/>
            <a:ext cx="2575677" cy="979251"/>
          </a:xfrm>
          <a:custGeom>
            <a:avLst/>
            <a:gdLst/>
            <a:ahLst/>
            <a:cxnLst/>
            <a:rect l="l" t="t" r="r" b="b"/>
            <a:pathLst>
              <a:path w="313" h="119">
                <a:moveTo>
                  <a:pt x="0" y="0"/>
                </a:moveTo>
                <a:lnTo>
                  <a:pt x="0" y="6"/>
                </a:lnTo>
                <a:cubicBezTo>
                  <a:pt x="0" y="8"/>
                  <a:pt x="1" y="9"/>
                  <a:pt x="3" y="9"/>
                </a:cubicBezTo>
                <a:lnTo>
                  <a:pt x="295" y="9"/>
                </a:lnTo>
                <a:cubicBezTo>
                  <a:pt x="305" y="9"/>
                  <a:pt x="313" y="17"/>
                  <a:pt x="313" y="27"/>
                </a:cubicBezTo>
                <a:lnTo>
                  <a:pt x="313" y="119"/>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curve 20"/>
          <p:cNvSpPr/>
          <p:nvPr/>
        </p:nvSpPr>
        <p:spPr>
          <a:xfrm>
            <a:off x="3456180" y="1291953"/>
            <a:ext cx="2575677" cy="979251"/>
          </a:xfrm>
          <a:custGeom>
            <a:avLst/>
            <a:gdLst/>
            <a:ahLst/>
            <a:cxnLst/>
            <a:rect l="l" t="t" r="r" b="b"/>
            <a:pathLst>
              <a:path w="313" h="119">
                <a:moveTo>
                  <a:pt x="0" y="0"/>
                </a:moveTo>
                <a:lnTo>
                  <a:pt x="0" y="6"/>
                </a:lnTo>
                <a:cubicBezTo>
                  <a:pt x="0" y="8"/>
                  <a:pt x="1" y="9"/>
                  <a:pt x="3" y="9"/>
                </a:cubicBezTo>
                <a:lnTo>
                  <a:pt x="295" y="9"/>
                </a:lnTo>
                <a:cubicBezTo>
                  <a:pt x="305" y="9"/>
                  <a:pt x="313" y="17"/>
                  <a:pt x="313" y="27"/>
                </a:cubicBezTo>
                <a:lnTo>
                  <a:pt x="313" y="119"/>
                </a:lnTo>
              </a:path>
            </a:pathLst>
          </a:custGeom>
          <a:noFill/>
          <a:ln w="3950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arrowhead 21"/>
          <p:cNvSpPr/>
          <p:nvPr/>
        </p:nvSpPr>
        <p:spPr>
          <a:xfrm>
            <a:off x="5957796" y="2123082"/>
            <a:ext cx="148122" cy="148122"/>
          </a:xfrm>
          <a:custGeom>
            <a:avLst/>
            <a:gdLst/>
            <a:ahLst/>
            <a:cxnLst/>
            <a:rect l="l" t="t" r="r" b="b"/>
            <a:pathLst>
              <a:path w="18" h="18">
                <a:moveTo>
                  <a:pt x="0" y="0"/>
                </a:moveTo>
                <a:lnTo>
                  <a:pt x="9" y="18"/>
                </a:lnTo>
                <a:lnTo>
                  <a:pt x="18" y="0"/>
                </a:lnTo>
              </a:path>
            </a:pathLst>
          </a:custGeom>
          <a:noFill/>
          <a:ln w="2314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ircle 22"/>
          <p:cNvSpPr/>
          <p:nvPr/>
        </p:nvSpPr>
        <p:spPr>
          <a:xfrm>
            <a:off x="4583553" y="1209849"/>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1"/>
          <p:cNvSpPr txBox="1"/>
          <p:nvPr/>
        </p:nvSpPr>
        <p:spPr>
          <a:xfrm>
            <a:off x="4624682" y="1250994"/>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1</a:t>
            </a:r>
          </a:p>
        </p:txBody>
      </p:sp>
      <p:sp>
        <p:nvSpPr>
          <p:cNvPr id="25" name="time restore"/>
          <p:cNvSpPr txBox="1"/>
          <p:nvPr/>
        </p:nvSpPr>
        <p:spPr>
          <a:xfrm>
            <a:off x="6410391" y="1627471"/>
            <a:ext cx="1355856"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0" i="0" lang="en-US" spc="0">
                <a:solidFill>
                  <a:srgbClr val="000000"/>
                </a:solidFill>
                <a:latin typeface="DejaVu Sans"/>
                <a:ea typeface="DejaVu Sans"/>
                <a:effectLst/>
              </a:rPr>
              <a:t>time restore</a:t>
            </a:r>
          </a:p>
        </p:txBody>
      </p:sp>
      <p:sp>
        <p:nvSpPr>
          <p:cNvPr id="26" name="circle 25"/>
          <p:cNvSpPr/>
          <p:nvPr/>
        </p:nvSpPr>
        <p:spPr>
          <a:xfrm>
            <a:off x="7776405" y="1604841"/>
            <a:ext cx="296244" cy="296244"/>
          </a:xfrm>
          <a:prstGeom prst="ellipse">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path 26"/>
          <p:cNvSpPr/>
          <p:nvPr/>
        </p:nvSpPr>
        <p:spPr>
          <a:xfrm>
            <a:off x="7924527" y="1654029"/>
            <a:ext cx="82290" cy="139893"/>
          </a:xfrm>
          <a:custGeom>
            <a:avLst/>
            <a:gdLst/>
            <a:ahLst/>
            <a:cxnLst/>
            <a:rect l="l" t="t" r="r" b="b"/>
            <a:pathLst>
              <a:path w="10" h="17">
                <a:moveTo>
                  <a:pt x="0" y="0"/>
                </a:moveTo>
                <a:lnTo>
                  <a:pt x="0" y="12"/>
                </a:lnTo>
                <a:lnTo>
                  <a:pt x="10" y="17"/>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circle 27"/>
          <p:cNvSpPr/>
          <p:nvPr/>
        </p:nvSpPr>
        <p:spPr>
          <a:xfrm>
            <a:off x="362076" y="2238474"/>
            <a:ext cx="460824" cy="460824"/>
          </a:xfrm>
          <a:prstGeom prst="ellipse">
            <a:avLst/>
          </a:prstGeom>
          <a:solidFill>
            <a:srgbClr val="A6CAEC"/>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
          <p:cNvSpPr txBox="1"/>
          <p:nvPr/>
        </p:nvSpPr>
        <p:spPr>
          <a:xfrm>
            <a:off x="467719" y="2347508"/>
            <a:ext cx="249538"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P</a:t>
            </a:r>
          </a:p>
        </p:txBody>
      </p:sp>
      <p:sp>
        <p:nvSpPr>
          <p:cNvPr id="30" name="Host"/>
          <p:cNvSpPr txBox="1"/>
          <p:nvPr/>
        </p:nvSpPr>
        <p:spPr>
          <a:xfrm>
            <a:off x="1217892" y="1874341"/>
            <a:ext cx="675807" cy="294187"/>
          </a:xfrm>
          <a:prstGeom prst="rect">
            <a:avLst/>
          </a:prstGeom>
          <a:noFill/>
          <a:effectLst/>
        </p:spPr>
        <p:txBody>
          <a:bodyPr wrap="none" lIns="0" rIns="0" tIns="0" bIns="0" anchor="t">
            <a:spAutoFit/>
          </a:bodyPr>
          <a:lstStyle/>
          <a:p>
            <a:pPr algn="l">
              <a:lnSpc>
                <a:spcPct val="100000"/>
              </a:lnSpc>
              <a:spcBef>
                <a:spcPts val="0"/>
              </a:spcBef>
              <a:spcAft>
                <a:spcPts val="0"/>
              </a:spcAft>
            </a:pPr>
            <a:r>
              <a:rPr sz="1749" b="1" i="0" lang="en-US" spc="0">
                <a:solidFill>
                  <a:srgbClr val="000000"/>
                </a:solidFill>
                <a:latin typeface="DejaVu Sans"/>
                <a:ea typeface="DejaVu Sans"/>
                <a:effectLst/>
              </a:rPr>
              <a:t>Host</a:t>
            </a:r>
          </a:p>
        </p:txBody>
      </p:sp>
      <p:sp>
        <p:nvSpPr>
          <p:cNvPr id="31" name="rect 30"/>
          <p:cNvSpPr/>
          <p:nvPr/>
        </p:nvSpPr>
        <p:spPr>
          <a:xfrm>
            <a:off x="2131311" y="2279619"/>
            <a:ext cx="534885" cy="378534"/>
          </a:xfrm>
          <a:prstGeom prst="roundRect">
            <a:avLst>
              <a:gd name="adj" fmla="val 4347"/>
            </a:avLst>
          </a:prstGeom>
          <a:solidFill>
            <a:srgbClr val="FFD57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 31"/>
          <p:cNvSpPr/>
          <p:nvPr/>
        </p:nvSpPr>
        <p:spPr>
          <a:xfrm>
            <a:off x="2147769" y="2296077"/>
            <a:ext cx="501969"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p2"/>
          <p:cNvSpPr txBox="1"/>
          <p:nvPr/>
        </p:nvSpPr>
        <p:spPr>
          <a:xfrm>
            <a:off x="2209985" y="2362732"/>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p2</a:t>
            </a:r>
          </a:p>
        </p:txBody>
      </p:sp>
      <p:sp>
        <p:nvSpPr>
          <p:cNvPr id="34" name="rect 33"/>
          <p:cNvSpPr/>
          <p:nvPr/>
        </p:nvSpPr>
        <p:spPr>
          <a:xfrm>
            <a:off x="2839005" y="2279619"/>
            <a:ext cx="534885" cy="378534"/>
          </a:xfrm>
          <a:prstGeom prst="roundRect">
            <a:avLst>
              <a:gd name="adj" fmla="val 4347"/>
            </a:avLst>
          </a:prstGeom>
          <a:solidFill>
            <a:srgbClr val="FFD57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 34"/>
          <p:cNvSpPr/>
          <p:nvPr/>
        </p:nvSpPr>
        <p:spPr>
          <a:xfrm>
            <a:off x="2855463" y="2296077"/>
            <a:ext cx="501969"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p3"/>
          <p:cNvSpPr txBox="1"/>
          <p:nvPr/>
        </p:nvSpPr>
        <p:spPr>
          <a:xfrm>
            <a:off x="2917679" y="2362732"/>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p3</a:t>
            </a:r>
          </a:p>
        </p:txBody>
      </p:sp>
      <p:sp>
        <p:nvSpPr>
          <p:cNvPr id="37" name="path 36"/>
          <p:cNvSpPr/>
          <p:nvPr/>
        </p:nvSpPr>
        <p:spPr>
          <a:xfrm>
            <a:off x="2131311" y="2830776"/>
            <a:ext cx="1242579" cy="57603"/>
          </a:xfrm>
          <a:custGeom>
            <a:avLst/>
            <a:gdLst/>
            <a:ahLst/>
            <a:cxnLst/>
            <a:rect l="l" t="t" r="r" b="b"/>
            <a:pathLst>
              <a:path w="151" h="7">
                <a:moveTo>
                  <a:pt x="0" y="7"/>
                </a:moveTo>
                <a:lnTo>
                  <a:pt x="0" y="0"/>
                </a:lnTo>
                <a:lnTo>
                  <a:pt x="151" y="0"/>
                </a:lnTo>
                <a:lnTo>
                  <a:pt x="151" y="7"/>
                </a:lnTo>
              </a:path>
            </a:pathLst>
          </a:custGeom>
          <a:noFill/>
          <a:ln w="13167">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ΔFULL"/>
          <p:cNvSpPr txBox="1"/>
          <p:nvPr/>
        </p:nvSpPr>
        <p:spPr>
          <a:xfrm>
            <a:off x="2373456" y="2979084"/>
            <a:ext cx="848808"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0" lang="en-US" spc="0">
                <a:solidFill>
                  <a:srgbClr val="000000"/>
                </a:solidFill>
                <a:latin typeface="Liberation Serif"/>
                <a:ea typeface="Liberation Serif"/>
                <a:effectLst/>
              </a:rPr>
              <a:t>ΔFULL</a:t>
            </a:r>
          </a:p>
        </p:txBody>
      </p:sp>
      <p:sp>
        <p:nvSpPr>
          <p:cNvPr id="39" name="polygon 38"/>
          <p:cNvSpPr/>
          <p:nvPr/>
        </p:nvSpPr>
        <p:spPr>
          <a:xfrm>
            <a:off x="3810027" y="2287662"/>
            <a:ext cx="485511" cy="362076"/>
          </a:xfrm>
          <a:custGeom>
            <a:avLst/>
            <a:gdLst/>
            <a:ahLst/>
            <a:cxnLst/>
            <a:rect l="l" t="t" r="r" b="b"/>
            <a:pathLst>
              <a:path w="59" h="44">
                <a:moveTo>
                  <a:pt x="9" y="0"/>
                </a:moveTo>
                <a:lnTo>
                  <a:pt x="50" y="0"/>
                </a:lnTo>
                <a:lnTo>
                  <a:pt x="59" y="22"/>
                </a:lnTo>
                <a:lnTo>
                  <a:pt x="50" y="44"/>
                </a:lnTo>
                <a:lnTo>
                  <a:pt x="9" y="44"/>
                </a:lnTo>
                <a:lnTo>
                  <a:pt x="0" y="22"/>
                </a:lnTo>
                <a:close/>
              </a:path>
            </a:pathLst>
          </a:custGeom>
          <a:solidFill>
            <a:srgbClr val="FFD579"/>
          </a:solidFill>
          <a:ln w="123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S"/>
          <p:cNvSpPr txBox="1"/>
          <p:nvPr/>
        </p:nvSpPr>
        <p:spPr>
          <a:xfrm>
            <a:off x="3931099" y="2345451"/>
            <a:ext cx="245423" cy="271557"/>
          </a:xfrm>
          <a:prstGeom prst="rect">
            <a:avLst/>
          </a:prstGeom>
          <a:noFill/>
          <a:effectLst/>
        </p:spPr>
        <p:txBody>
          <a:bodyPr wrap="none" lIns="0" rIns="0" tIns="0" bIns="0" anchor="t">
            <a:spAutoFit/>
          </a:bodyPr>
          <a:lstStyle/>
          <a:p>
            <a:pPr algn="ctr">
              <a:lnSpc>
                <a:spcPct val="100000"/>
              </a:lnSpc>
              <a:spcBef>
                <a:spcPts val="0"/>
              </a:spcBef>
              <a:spcAft>
                <a:spcPts val="0"/>
              </a:spcAft>
            </a:pPr>
            <a:r>
              <a:rPr sz="1603" b="1" i="0" lang="en-US" spc="0">
                <a:solidFill>
                  <a:srgbClr val="000000"/>
                </a:solidFill>
                <a:latin typeface="DejaVu Sans"/>
                <a:ea typeface="DejaVu Sans"/>
                <a:effectLst/>
              </a:rPr>
              <a:t>S</a:t>
            </a:r>
          </a:p>
        </p:txBody>
      </p:sp>
      <p:sp>
        <p:nvSpPr>
          <p:cNvPr id="41" name="rect 40"/>
          <p:cNvSpPr/>
          <p:nvPr/>
        </p:nvSpPr>
        <p:spPr>
          <a:xfrm>
            <a:off x="3896432" y="2331050"/>
            <a:ext cx="314759" cy="30859"/>
          </a:xfrm>
          <a:prstGeom prst="roundRect">
            <a:avLst>
              <a:gd name="adj" fmla="val 26666"/>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s"/>
          <p:cNvSpPr txBox="1"/>
          <p:nvPr/>
        </p:nvSpPr>
        <p:spPr>
          <a:xfrm>
            <a:off x="3838411" y="2970855"/>
            <a:ext cx="188431"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1" lang="en-US" spc="0">
                <a:solidFill>
                  <a:srgbClr val="000000"/>
                </a:solidFill>
                <a:latin typeface="Liberation Serif"/>
                <a:ea typeface="Liberation Serif"/>
                <a:effectLst/>
              </a:rPr>
              <a:t>s</a:t>
            </a:r>
          </a:p>
        </p:txBody>
      </p:sp>
      <p:sp>
        <p:nvSpPr>
          <p:cNvPr id="43" name="("/>
          <p:cNvSpPr txBox="1"/>
          <p:nvPr/>
        </p:nvSpPr>
        <p:spPr>
          <a:xfrm>
            <a:off x="3928094" y="2970855"/>
            <a:ext cx="175477"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0" lang="en-US" spc="0">
                <a:solidFill>
                  <a:srgbClr val="000000"/>
                </a:solidFill>
                <a:latin typeface="Liberation Serif"/>
                <a:ea typeface="Liberation Serif"/>
                <a:effectLst/>
              </a:rPr>
              <a:t>(</a:t>
            </a:r>
          </a:p>
        </p:txBody>
      </p:sp>
      <p:sp>
        <p:nvSpPr>
          <p:cNvPr id="44" name="c"/>
          <p:cNvSpPr txBox="1"/>
          <p:nvPr/>
        </p:nvSpPr>
        <p:spPr>
          <a:xfrm>
            <a:off x="4004823" y="2970855"/>
            <a:ext cx="201032"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1" lang="en-US" spc="0">
                <a:solidFill>
                  <a:srgbClr val="000000"/>
                </a:solidFill>
                <a:latin typeface="Liberation Serif"/>
                <a:ea typeface="Liberation Serif"/>
                <a:effectLst/>
              </a:rPr>
              <a:t>c</a:t>
            </a:r>
          </a:p>
        </p:txBody>
      </p:sp>
      <p:sp>
        <p:nvSpPr>
          <p:cNvPr id="45" name="*"/>
          <p:cNvSpPr txBox="1"/>
          <p:nvPr/>
        </p:nvSpPr>
        <p:spPr>
          <a:xfrm>
            <a:off x="4115336" y="2920987"/>
            <a:ext cx="173838" cy="201610"/>
          </a:xfrm>
          <a:prstGeom prst="rect">
            <a:avLst/>
          </a:prstGeom>
          <a:noFill/>
          <a:effectLst/>
        </p:spPr>
        <p:txBody>
          <a:bodyPr wrap="none" lIns="0" rIns="0" tIns="0" bIns="0" anchor="t">
            <a:spAutoFit/>
          </a:bodyPr>
          <a:lstStyle/>
          <a:p>
            <a:pPr algn="l">
              <a:lnSpc>
                <a:spcPct val="100000"/>
              </a:lnSpc>
              <a:spcBef>
                <a:spcPts val="0"/>
              </a:spcBef>
              <a:spcAft>
                <a:spcPts val="0"/>
              </a:spcAft>
            </a:pPr>
            <a:r>
              <a:rPr sz="1179" b="0" i="0" lang="en-US" spc="0">
                <a:solidFill>
                  <a:srgbClr val="000000"/>
                </a:solidFill>
                <a:latin typeface="Liberation Serif"/>
                <a:ea typeface="Liberation Serif"/>
                <a:effectLst/>
              </a:rPr>
              <a:t>*</a:t>
            </a:r>
          </a:p>
        </p:txBody>
      </p:sp>
      <p:sp>
        <p:nvSpPr>
          <p:cNvPr id="46" name=")"/>
          <p:cNvSpPr txBox="1"/>
          <p:nvPr/>
        </p:nvSpPr>
        <p:spPr>
          <a:xfrm>
            <a:off x="4198654" y="2970855"/>
            <a:ext cx="175477"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0" lang="en-US" spc="0">
                <a:solidFill>
                  <a:srgbClr val="000000"/>
                </a:solidFill>
                <a:latin typeface="Liberation Serif"/>
                <a:ea typeface="Liberation Serif"/>
                <a:effectLst/>
              </a:rPr>
              <a:t>)</a:t>
            </a:r>
          </a:p>
        </p:txBody>
      </p:sp>
      <p:sp>
        <p:nvSpPr>
          <p:cNvPr id="47" name="if needed"/>
          <p:cNvSpPr txBox="1"/>
          <p:nvPr/>
        </p:nvSpPr>
        <p:spPr>
          <a:xfrm>
            <a:off x="3549447" y="1971032"/>
            <a:ext cx="949067" cy="244813"/>
          </a:xfrm>
          <a:prstGeom prst="rect">
            <a:avLst/>
          </a:prstGeom>
          <a:noFill/>
          <a:effectLst/>
        </p:spPr>
        <p:txBody>
          <a:bodyPr wrap="none" lIns="0" rIns="0" tIns="0" bIns="0" anchor="t">
            <a:spAutoFit/>
          </a:bodyPr>
          <a:lstStyle/>
          <a:p>
            <a:pPr algn="ctr">
              <a:lnSpc>
                <a:spcPct val="100000"/>
              </a:lnSpc>
              <a:spcBef>
                <a:spcPts val="0"/>
              </a:spcBef>
              <a:spcAft>
                <a:spcPts val="0"/>
              </a:spcAft>
            </a:pPr>
            <a:r>
              <a:rPr sz="1425" b="0" i="0" lang="en-US" spc="0">
                <a:solidFill>
                  <a:srgbClr val="000000"/>
                </a:solidFill>
                <a:latin typeface="DejaVu Sans"/>
                <a:ea typeface="DejaVu Sans"/>
                <a:effectLst/>
              </a:rPr>
              <a:t>if needed</a:t>
            </a:r>
          </a:p>
        </p:txBody>
      </p:sp>
      <p:sp>
        <p:nvSpPr>
          <p:cNvPr id="48" name="path 47"/>
          <p:cNvSpPr/>
          <p:nvPr/>
        </p:nvSpPr>
        <p:spPr>
          <a:xfrm>
            <a:off x="3373890" y="2468700"/>
            <a:ext cx="1152060" cy="362076"/>
          </a:xfrm>
          <a:custGeom>
            <a:avLst/>
            <a:gdLst/>
            <a:ahLst/>
            <a:cxnLst/>
            <a:rect l="l" t="t" r="r" b="b"/>
            <a:pathLst>
              <a:path w="140" h="44">
                <a:moveTo>
                  <a:pt x="0" y="44"/>
                </a:moveTo>
                <a:lnTo>
                  <a:pt x="140" y="44"/>
                </a:lnTo>
                <a:lnTo>
                  <a:pt x="140" y="0"/>
                </a:lnTo>
              </a:path>
            </a:pathLst>
          </a:custGeom>
          <a:noFill/>
          <a:ln w="41148">
            <a:solidFill>
              <a:srgbClr val="35505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path 48"/>
          <p:cNvCxnSpPr/>
          <p:nvPr/>
        </p:nvCxnSpPr>
        <p:spPr>
          <a:xfrm>
            <a:off x="4361370" y="2468886"/>
            <a:ext cx="1160289" cy="0"/>
          </a:xfrm>
          <a:prstGeom prst="line">
            <a:avLst/>
          </a:prstGeom>
          <a:ln w="8641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50" name="path 49"/>
          <p:cNvCxnSpPr/>
          <p:nvPr/>
        </p:nvCxnSpPr>
        <p:spPr>
          <a:xfrm>
            <a:off x="4361370" y="2468886"/>
            <a:ext cx="1160289" cy="0"/>
          </a:xfrm>
          <a:prstGeom prst="line">
            <a:avLst/>
          </a:prstGeom>
          <a:ln w="69951">
            <a:solidFill>
              <a:srgbClr val="35505D"/>
            </a:solidFill>
          </a:ln>
          <a:effectLst/>
        </p:spPr>
        <p:style>
          <a:lnRef idx="2">
            <a:schemeClr val="accent1"/>
          </a:lnRef>
          <a:fillRef idx="0">
            <a:schemeClr val="accent1"/>
          </a:fillRef>
          <a:effectRef idx="0">
            <a:schemeClr val="accent1"/>
          </a:effectRef>
          <a:fontRef idx="minor">
            <a:schemeClr val="tx1"/>
          </a:fontRef>
        </p:style>
      </p:cxnSp>
      <p:sp>
        <p:nvSpPr>
          <p:cNvPr id="51" name="arrowhead 50"/>
          <p:cNvSpPr/>
          <p:nvPr/>
        </p:nvSpPr>
        <p:spPr>
          <a:xfrm>
            <a:off x="5258331" y="2337036"/>
            <a:ext cx="263328" cy="263328"/>
          </a:xfrm>
          <a:custGeom>
            <a:avLst/>
            <a:gdLst/>
            <a:ahLst/>
            <a:cxnLst/>
            <a:rect l="l" t="t" r="r" b="b"/>
            <a:pathLst>
              <a:path w="32" h="32">
                <a:moveTo>
                  <a:pt x="32" y="16"/>
                </a:moveTo>
                <a:lnTo>
                  <a:pt x="0" y="32"/>
                </a:lnTo>
                <a:lnTo>
                  <a:pt x="0" y="0"/>
                </a:lnTo>
                <a:close/>
              </a:path>
            </a:pathLst>
          </a:custGeom>
          <a:solidFill>
            <a:srgbClr val="3550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polygon 51"/>
          <p:cNvSpPr/>
          <p:nvPr/>
        </p:nvSpPr>
        <p:spPr>
          <a:xfrm>
            <a:off x="5587491" y="2304120"/>
            <a:ext cx="3225768" cy="329160"/>
          </a:xfrm>
          <a:custGeom>
            <a:avLst/>
            <a:gdLst/>
            <a:ahLst/>
            <a:cxnLst/>
            <a:rect l="l" t="t" r="r" b="b"/>
            <a:pathLst>
              <a:path w="392" h="40">
                <a:moveTo>
                  <a:pt x="0" y="0"/>
                </a:moveTo>
                <a:lnTo>
                  <a:pt x="375" y="0"/>
                </a:lnTo>
                <a:lnTo>
                  <a:pt x="392" y="20"/>
                </a:lnTo>
                <a:lnTo>
                  <a:pt x="375" y="40"/>
                </a:lnTo>
                <a:lnTo>
                  <a:pt x="0" y="40"/>
                </a:lnTo>
                <a:close/>
              </a:path>
            </a:pathLst>
          </a:custGeom>
          <a:solidFill>
            <a:srgbClr val="F2AA84"/>
          </a:solidFill>
          <a:ln w="9875">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H2D"/>
          <p:cNvSpPr txBox="1"/>
          <p:nvPr/>
        </p:nvSpPr>
        <p:spPr>
          <a:xfrm>
            <a:off x="7282006" y="2328993"/>
            <a:ext cx="643180" cy="302416"/>
          </a:xfrm>
          <a:prstGeom prst="rect">
            <a:avLst/>
          </a:prstGeom>
          <a:noFill/>
          <a:effectLst/>
        </p:spPr>
        <p:txBody>
          <a:bodyPr wrap="none" lIns="0" rIns="0" tIns="0" bIns="0" anchor="t">
            <a:spAutoFit/>
          </a:bodyPr>
          <a:lstStyle/>
          <a:p>
            <a:pPr algn="ctr">
              <a:lnSpc>
                <a:spcPct val="100000"/>
              </a:lnSpc>
              <a:spcBef>
                <a:spcPts val="0"/>
              </a:spcBef>
              <a:spcAft>
                <a:spcPts val="0"/>
              </a:spcAft>
            </a:pPr>
            <a:r>
              <a:rPr sz="1814" b="1" i="0" lang="en-US" spc="0">
                <a:solidFill>
                  <a:srgbClr val="000000"/>
                </a:solidFill>
                <a:latin typeface="DejaVu Sans"/>
                <a:ea typeface="DejaVu Sans"/>
                <a:effectLst/>
              </a:rPr>
              <a:t>H2D</a:t>
            </a:r>
          </a:p>
        </p:txBody>
      </p:sp>
      <p:sp>
        <p:nvSpPr>
          <p:cNvPr id="54" name="circle 53"/>
          <p:cNvSpPr/>
          <p:nvPr/>
        </p:nvSpPr>
        <p:spPr>
          <a:xfrm>
            <a:off x="6632574" y="2312535"/>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3"/>
          <p:cNvSpPr txBox="1"/>
          <p:nvPr/>
        </p:nvSpPr>
        <p:spPr>
          <a:xfrm>
            <a:off x="6673703" y="2353680"/>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3</a:t>
            </a:r>
          </a:p>
        </p:txBody>
      </p:sp>
      <p:sp>
        <p:nvSpPr>
          <p:cNvPr id="56" name="HBM"/>
          <p:cNvSpPr txBox="1"/>
          <p:nvPr/>
        </p:nvSpPr>
        <p:spPr>
          <a:xfrm>
            <a:off x="9142419" y="1874341"/>
            <a:ext cx="675132" cy="294187"/>
          </a:xfrm>
          <a:prstGeom prst="rect">
            <a:avLst/>
          </a:prstGeom>
          <a:noFill/>
          <a:effectLst/>
        </p:spPr>
        <p:txBody>
          <a:bodyPr wrap="none" lIns="0" rIns="0" tIns="0" bIns="0" anchor="t">
            <a:spAutoFit/>
          </a:bodyPr>
          <a:lstStyle/>
          <a:p>
            <a:pPr algn="l">
              <a:lnSpc>
                <a:spcPct val="100000"/>
              </a:lnSpc>
              <a:spcBef>
                <a:spcPts val="0"/>
              </a:spcBef>
              <a:spcAft>
                <a:spcPts val="0"/>
              </a:spcAft>
            </a:pPr>
            <a:r>
              <a:rPr sz="1749" b="1" i="0" lang="en-US" spc="0">
                <a:solidFill>
                  <a:srgbClr val="000000"/>
                </a:solidFill>
                <a:latin typeface="DejaVu Sans"/>
                <a:ea typeface="DejaVu Sans"/>
                <a:effectLst/>
              </a:rPr>
              <a:t>HBM</a:t>
            </a:r>
          </a:p>
        </p:txBody>
      </p:sp>
      <p:sp>
        <p:nvSpPr>
          <p:cNvPr id="57" name="rect 56"/>
          <p:cNvSpPr/>
          <p:nvPr/>
        </p:nvSpPr>
        <p:spPr>
          <a:xfrm>
            <a:off x="9150648" y="2287848"/>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 57"/>
          <p:cNvSpPr/>
          <p:nvPr/>
        </p:nvSpPr>
        <p:spPr>
          <a:xfrm>
            <a:off x="9167106" y="2304306"/>
            <a:ext cx="427908" cy="41145"/>
          </a:xfrm>
          <a:prstGeom prst="roundRect">
            <a:avLst>
              <a:gd name="adj" fmla="val 20000"/>
            </a:avLst>
          </a:prstGeom>
          <a:solidFill>
            <a:srgbClr val="A6A6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p0"/>
          <p:cNvSpPr txBox="1"/>
          <p:nvPr/>
        </p:nvSpPr>
        <p:spPr>
          <a:xfrm>
            <a:off x="9198093" y="2371784"/>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p0</a:t>
            </a:r>
          </a:p>
        </p:txBody>
      </p:sp>
      <p:sp>
        <p:nvSpPr>
          <p:cNvPr id="60" name="rect 59"/>
          <p:cNvSpPr/>
          <p:nvPr/>
        </p:nvSpPr>
        <p:spPr>
          <a:xfrm>
            <a:off x="9743136" y="2287848"/>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ect 60"/>
          <p:cNvSpPr/>
          <p:nvPr/>
        </p:nvSpPr>
        <p:spPr>
          <a:xfrm>
            <a:off x="9759594" y="2304306"/>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p1"/>
          <p:cNvSpPr txBox="1"/>
          <p:nvPr/>
        </p:nvSpPr>
        <p:spPr>
          <a:xfrm>
            <a:off x="9790581" y="2371784"/>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p1</a:t>
            </a:r>
          </a:p>
        </p:txBody>
      </p:sp>
      <p:sp>
        <p:nvSpPr>
          <p:cNvPr id="63" name="rect 62"/>
          <p:cNvSpPr/>
          <p:nvPr/>
        </p:nvSpPr>
        <p:spPr>
          <a:xfrm>
            <a:off x="10335624" y="2287848"/>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ect 63"/>
          <p:cNvSpPr/>
          <p:nvPr/>
        </p:nvSpPr>
        <p:spPr>
          <a:xfrm>
            <a:off x="10352082" y="2304306"/>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p2"/>
          <p:cNvSpPr txBox="1"/>
          <p:nvPr/>
        </p:nvSpPr>
        <p:spPr>
          <a:xfrm>
            <a:off x="10383069" y="2371784"/>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p2</a:t>
            </a:r>
          </a:p>
        </p:txBody>
      </p:sp>
      <p:sp>
        <p:nvSpPr>
          <p:cNvPr id="66" name="rect 65"/>
          <p:cNvSpPr/>
          <p:nvPr/>
        </p:nvSpPr>
        <p:spPr>
          <a:xfrm>
            <a:off x="10928112" y="2287848"/>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 66"/>
          <p:cNvSpPr/>
          <p:nvPr/>
        </p:nvSpPr>
        <p:spPr>
          <a:xfrm>
            <a:off x="10944570" y="2304306"/>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3"/>
          <p:cNvSpPr txBox="1"/>
          <p:nvPr/>
        </p:nvSpPr>
        <p:spPr>
          <a:xfrm>
            <a:off x="10975557" y="2371784"/>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p3</a:t>
            </a:r>
          </a:p>
        </p:txBody>
      </p:sp>
      <p:sp>
        <p:nvSpPr>
          <p:cNvPr id="69" name="rect 68"/>
          <p:cNvSpPr/>
          <p:nvPr/>
        </p:nvSpPr>
        <p:spPr>
          <a:xfrm>
            <a:off x="11520600" y="2287848"/>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 69"/>
          <p:cNvSpPr/>
          <p:nvPr/>
        </p:nvSpPr>
        <p:spPr>
          <a:xfrm>
            <a:off x="11537058" y="2304306"/>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4"/>
          <p:cNvSpPr txBox="1"/>
          <p:nvPr/>
        </p:nvSpPr>
        <p:spPr>
          <a:xfrm>
            <a:off x="11568045" y="2371784"/>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p4</a:t>
            </a:r>
          </a:p>
        </p:txBody>
      </p:sp>
      <p:sp>
        <p:nvSpPr>
          <p:cNvPr id="72" name="rect 71"/>
          <p:cNvSpPr/>
          <p:nvPr/>
        </p:nvSpPr>
        <p:spPr>
          <a:xfrm>
            <a:off x="12113088" y="2287848"/>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ect 72"/>
          <p:cNvSpPr/>
          <p:nvPr/>
        </p:nvSpPr>
        <p:spPr>
          <a:xfrm>
            <a:off x="12129546" y="2304306"/>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p5"/>
          <p:cNvSpPr txBox="1"/>
          <p:nvPr/>
        </p:nvSpPr>
        <p:spPr>
          <a:xfrm>
            <a:off x="12160533" y="2371784"/>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p5</a:t>
            </a:r>
          </a:p>
        </p:txBody>
      </p:sp>
      <p:sp>
        <p:nvSpPr>
          <p:cNvPr id="75" name="path 74"/>
          <p:cNvSpPr/>
          <p:nvPr/>
        </p:nvSpPr>
        <p:spPr>
          <a:xfrm>
            <a:off x="10335624" y="2197143"/>
            <a:ext cx="1053312" cy="57603"/>
          </a:xfrm>
          <a:custGeom>
            <a:avLst/>
            <a:gdLst/>
            <a:ahLst/>
            <a:cxnLst/>
            <a:rect l="l" t="t" r="r" b="b"/>
            <a:pathLst>
              <a:path w="128" h="7">
                <a:moveTo>
                  <a:pt x="0" y="7"/>
                </a:moveTo>
                <a:lnTo>
                  <a:pt x="0" y="0"/>
                </a:lnTo>
                <a:lnTo>
                  <a:pt x="128" y="0"/>
                </a:lnTo>
                <a:lnTo>
                  <a:pt x="128" y="7"/>
                </a:lnTo>
              </a:path>
            </a:pathLst>
          </a:custGeom>
          <a:noFill/>
          <a:ln w="13167">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polygon 75"/>
          <p:cNvSpPr/>
          <p:nvPr/>
        </p:nvSpPr>
        <p:spPr>
          <a:xfrm>
            <a:off x="11882676" y="1900899"/>
            <a:ext cx="386763" cy="288015"/>
          </a:xfrm>
          <a:custGeom>
            <a:avLst/>
            <a:gdLst/>
            <a:ahLst/>
            <a:cxnLst/>
            <a:rect l="l" t="t" r="r" b="b"/>
            <a:pathLst>
              <a:path w="47" h="35">
                <a:moveTo>
                  <a:pt x="7" y="0"/>
                </a:moveTo>
                <a:lnTo>
                  <a:pt x="40" y="0"/>
                </a:lnTo>
                <a:lnTo>
                  <a:pt x="47" y="18"/>
                </a:lnTo>
                <a:lnTo>
                  <a:pt x="40" y="35"/>
                </a:lnTo>
                <a:lnTo>
                  <a:pt x="7" y="35"/>
                </a:lnTo>
                <a:lnTo>
                  <a:pt x="0" y="18"/>
                </a:lnTo>
                <a:close/>
              </a:path>
            </a:pathLst>
          </a:custGeom>
          <a:solidFill>
            <a:srgbClr val="D7AEFF"/>
          </a:solidFill>
          <a:ln w="123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S"/>
          <p:cNvSpPr txBox="1"/>
          <p:nvPr/>
        </p:nvSpPr>
        <p:spPr>
          <a:xfrm>
            <a:off x="11969810" y="1946344"/>
            <a:ext cx="215786" cy="224240"/>
          </a:xfrm>
          <a:prstGeom prst="rect">
            <a:avLst/>
          </a:prstGeom>
          <a:noFill/>
          <a:effectLst/>
        </p:spPr>
        <p:txBody>
          <a:bodyPr wrap="none" lIns="0" rIns="0" tIns="0" bIns="0" anchor="t">
            <a:spAutoFit/>
          </a:bodyPr>
          <a:lstStyle/>
          <a:p>
            <a:pPr algn="ctr">
              <a:lnSpc>
                <a:spcPct val="100000"/>
              </a:lnSpc>
              <a:spcBef>
                <a:spcPts val="0"/>
              </a:spcBef>
              <a:spcAft>
                <a:spcPts val="0"/>
              </a:spcAft>
            </a:pPr>
            <a:r>
              <a:rPr sz="1283" b="1" i="0" lang="en-US" spc="0">
                <a:solidFill>
                  <a:srgbClr val="000000"/>
                </a:solidFill>
                <a:latin typeface="DejaVu Sans"/>
                <a:ea typeface="DejaVu Sans"/>
                <a:effectLst/>
              </a:rPr>
              <a:t>S</a:t>
            </a:r>
          </a:p>
        </p:txBody>
      </p:sp>
      <p:sp>
        <p:nvSpPr>
          <p:cNvPr id="78" name="rect 77"/>
          <p:cNvSpPr/>
          <p:nvPr/>
        </p:nvSpPr>
        <p:spPr>
          <a:xfrm>
            <a:off x="11951800" y="1935647"/>
            <a:ext cx="251807" cy="24687"/>
          </a:xfrm>
          <a:prstGeom prst="roundRect">
            <a:avLst>
              <a:gd name="adj" fmla="val 3333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c"/>
          <p:cNvSpPr txBox="1"/>
          <p:nvPr/>
        </p:nvSpPr>
        <p:spPr>
          <a:xfrm>
            <a:off x="12572899" y="1909314"/>
            <a:ext cx="204664"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1" lang="en-US" spc="0">
                <a:solidFill>
                  <a:srgbClr val="000000"/>
                </a:solidFill>
                <a:latin typeface="Liberation Serif"/>
                <a:ea typeface="Liberation Serif"/>
                <a:effectLst/>
              </a:rPr>
              <a:t>c</a:t>
            </a:r>
          </a:p>
        </p:txBody>
      </p:sp>
      <p:sp>
        <p:nvSpPr>
          <p:cNvPr id="80" name="*"/>
          <p:cNvSpPr txBox="1"/>
          <p:nvPr/>
        </p:nvSpPr>
        <p:spPr>
          <a:xfrm>
            <a:off x="12687045" y="1861339"/>
            <a:ext cx="175895" cy="205725"/>
          </a:xfrm>
          <a:prstGeom prst="rect">
            <a:avLst/>
          </a:prstGeom>
          <a:noFill/>
          <a:effectLst/>
        </p:spPr>
        <p:txBody>
          <a:bodyPr wrap="none" lIns="0" rIns="0" tIns="0" bIns="0" anchor="t">
            <a:spAutoFit/>
          </a:bodyPr>
          <a:lstStyle/>
          <a:p>
            <a:pPr algn="l">
              <a:lnSpc>
                <a:spcPct val="100000"/>
              </a:lnSpc>
              <a:spcBef>
                <a:spcPts val="0"/>
              </a:spcBef>
              <a:spcAft>
                <a:spcPts val="0"/>
              </a:spcAft>
            </a:pPr>
            <a:r>
              <a:rPr sz="1221" b="0" i="0" lang="en-US" spc="0">
                <a:solidFill>
                  <a:srgbClr val="000000"/>
                </a:solidFill>
                <a:latin typeface="Liberation Serif"/>
                <a:ea typeface="Liberation Serif"/>
                <a:effectLst/>
              </a:rPr>
              <a:t>*</a:t>
            </a:r>
          </a:p>
        </p:txBody>
      </p:sp>
      <p:sp>
        <p:nvSpPr>
          <p:cNvPr id="81" name="path 80"/>
          <p:cNvSpPr/>
          <p:nvPr/>
        </p:nvSpPr>
        <p:spPr>
          <a:xfrm>
            <a:off x="11306646" y="2707341"/>
            <a:ext cx="74061" cy="57603"/>
          </a:xfrm>
          <a:custGeom>
            <a:avLst/>
            <a:gdLst/>
            <a:ahLst/>
            <a:cxnLst/>
            <a:rect l="l" t="t" r="r" b="b"/>
            <a:pathLst>
              <a:path w="9" h="7">
                <a:moveTo>
                  <a:pt x="0" y="7"/>
                </a:moveTo>
                <a:lnTo>
                  <a:pt x="0" y="0"/>
                </a:lnTo>
                <a:lnTo>
                  <a:pt x="9" y="0"/>
                </a:lnTo>
                <a:lnTo>
                  <a:pt x="9" y="7"/>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 81"/>
          <p:cNvSpPr/>
          <p:nvPr/>
        </p:nvSpPr>
        <p:spPr>
          <a:xfrm>
            <a:off x="11281959" y="2768833"/>
            <a:ext cx="128372" cy="106977"/>
          </a:xfrm>
          <a:prstGeom prst="roundRect">
            <a:avLst>
              <a:gd name="adj" fmla="val 15384"/>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circle 82"/>
          <p:cNvSpPr/>
          <p:nvPr/>
        </p:nvSpPr>
        <p:spPr>
          <a:xfrm>
            <a:off x="11335448" y="2800926"/>
            <a:ext cx="21395" cy="21395"/>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bounded"/>
          <p:cNvSpPr txBox="1"/>
          <p:nvPr/>
        </p:nvSpPr>
        <p:spPr>
          <a:xfrm>
            <a:off x="11602890" y="2711642"/>
            <a:ext cx="895161" cy="244813"/>
          </a:xfrm>
          <a:prstGeom prst="rect">
            <a:avLst/>
          </a:prstGeom>
          <a:noFill/>
          <a:effectLst/>
        </p:spPr>
        <p:txBody>
          <a:bodyPr wrap="none" lIns="0" rIns="0" tIns="0" bIns="0" anchor="t">
            <a:spAutoFit/>
          </a:bodyPr>
          <a:lstStyle/>
          <a:p>
            <a:pPr algn="l">
              <a:lnSpc>
                <a:spcPct val="100000"/>
              </a:lnSpc>
              <a:spcBef>
                <a:spcPts val="0"/>
              </a:spcBef>
              <a:spcAft>
                <a:spcPts val="0"/>
              </a:spcAft>
            </a:pPr>
            <a:r>
              <a:rPr sz="1425" b="0" i="0" lang="en-US" spc="0">
                <a:solidFill>
                  <a:srgbClr val="000000"/>
                </a:solidFill>
                <a:latin typeface="DejaVu Sans"/>
                <a:ea typeface="DejaVu Sans"/>
                <a:effectLst/>
              </a:rPr>
              <a:t>bounded</a:t>
            </a:r>
          </a:p>
        </p:txBody>
      </p:sp>
      <p:sp>
        <p:nvSpPr>
          <p:cNvPr id="85" name="circle 84"/>
          <p:cNvSpPr/>
          <p:nvPr/>
        </p:nvSpPr>
        <p:spPr>
          <a:xfrm>
            <a:off x="411450" y="3612717"/>
            <a:ext cx="378534" cy="378534"/>
          </a:xfrm>
          <a:prstGeom prst="ellipse">
            <a:avLst/>
          </a:prstGeom>
          <a:solidFill>
            <a:srgbClr val="84E291"/>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D2"/>
          <p:cNvSpPr txBox="1"/>
          <p:nvPr/>
        </p:nvSpPr>
        <p:spPr>
          <a:xfrm>
            <a:off x="419486" y="3690892"/>
            <a:ext cx="362462" cy="234526"/>
          </a:xfrm>
          <a:prstGeom prst="rect">
            <a:avLst/>
          </a:prstGeom>
          <a:noFill/>
          <a:effectLst/>
        </p:spPr>
        <p:txBody>
          <a:bodyPr wrap="none" lIns="0" rIns="0" tIns="0" bIns="0" anchor="t">
            <a:spAutoFit/>
          </a:bodyPr>
          <a:lstStyle/>
          <a:p>
            <a:pPr algn="ctr">
              <a:lnSpc>
                <a:spcPct val="100000"/>
              </a:lnSpc>
              <a:spcBef>
                <a:spcPts val="0"/>
              </a:spcBef>
              <a:spcAft>
                <a:spcPts val="0"/>
              </a:spcAft>
            </a:pPr>
            <a:r>
              <a:rPr sz="1360" b="1" i="0" lang="en-US" spc="0">
                <a:solidFill>
                  <a:srgbClr val="000000"/>
                </a:solidFill>
                <a:latin typeface="DejaVu Sans"/>
                <a:ea typeface="DejaVu Sans"/>
                <a:effectLst/>
              </a:rPr>
              <a:t>D2</a:t>
            </a:r>
          </a:p>
        </p:txBody>
      </p:sp>
      <p:sp>
        <p:nvSpPr>
          <p:cNvPr id="87" name="rect 86"/>
          <p:cNvSpPr/>
          <p:nvPr/>
        </p:nvSpPr>
        <p:spPr>
          <a:xfrm>
            <a:off x="1168518" y="3629175"/>
            <a:ext cx="403221" cy="329160"/>
          </a:xfrm>
          <a:prstGeom prst="roundRect">
            <a:avLst>
              <a:gd name="adj" fmla="val 250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 87"/>
          <p:cNvSpPr/>
          <p:nvPr/>
        </p:nvSpPr>
        <p:spPr>
          <a:xfrm>
            <a:off x="1670487" y="3629175"/>
            <a:ext cx="403221" cy="329160"/>
          </a:xfrm>
          <a:prstGeom prst="roundRect">
            <a:avLst>
              <a:gd name="adj" fmla="val 250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 88"/>
          <p:cNvSpPr/>
          <p:nvPr/>
        </p:nvSpPr>
        <p:spPr>
          <a:xfrm>
            <a:off x="2172456" y="3629175"/>
            <a:ext cx="403221" cy="329160"/>
          </a:xfrm>
          <a:prstGeom prst="roundRect">
            <a:avLst>
              <a:gd name="adj" fmla="val 2500"/>
            </a:avLst>
          </a:prstGeom>
          <a:solidFill>
            <a:srgbClr val="84E291"/>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 89"/>
          <p:cNvSpPr/>
          <p:nvPr/>
        </p:nvSpPr>
        <p:spPr>
          <a:xfrm>
            <a:off x="2674425" y="3629175"/>
            <a:ext cx="403221" cy="329160"/>
          </a:xfrm>
          <a:prstGeom prst="roundRect">
            <a:avLst>
              <a:gd name="adj" fmla="val 2500"/>
            </a:avLst>
          </a:prstGeom>
          <a:solidFill>
            <a:srgbClr val="D9D9D9"/>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path 90"/>
          <p:cNvSpPr/>
          <p:nvPr/>
        </p:nvSpPr>
        <p:spPr>
          <a:xfrm>
            <a:off x="2732028" y="3406806"/>
            <a:ext cx="65832" cy="57603"/>
          </a:xfrm>
          <a:custGeom>
            <a:avLst/>
            <a:gdLst/>
            <a:ahLst/>
            <a:cxnLst/>
            <a:rect l="l" t="t" r="r" b="b"/>
            <a:pathLst>
              <a:path w="8" h="7">
                <a:moveTo>
                  <a:pt x="0" y="7"/>
                </a:moveTo>
                <a:lnTo>
                  <a:pt x="0" y="0"/>
                </a:lnTo>
                <a:lnTo>
                  <a:pt x="8" y="0"/>
                </a:lnTo>
                <a:lnTo>
                  <a:pt x="8" y="7"/>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 91"/>
          <p:cNvSpPr/>
          <p:nvPr/>
        </p:nvSpPr>
        <p:spPr>
          <a:xfrm>
            <a:off x="2707341" y="3462949"/>
            <a:ext cx="118498" cy="98748"/>
          </a:xfrm>
          <a:prstGeom prst="roundRect">
            <a:avLst>
              <a:gd name="adj" fmla="val 16666"/>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circle 92"/>
          <p:cNvSpPr/>
          <p:nvPr/>
        </p:nvSpPr>
        <p:spPr>
          <a:xfrm>
            <a:off x="2756715" y="3492574"/>
            <a:ext cx="19750" cy="19750"/>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free / reclaimable / growth"/>
          <p:cNvSpPr txBox="1"/>
          <p:nvPr/>
        </p:nvSpPr>
        <p:spPr>
          <a:xfrm>
            <a:off x="1217892" y="4168175"/>
            <a:ext cx="2712388" cy="265385"/>
          </a:xfrm>
          <a:prstGeom prst="rect">
            <a:avLst/>
          </a:prstGeom>
          <a:noFill/>
          <a:effectLst/>
        </p:spPr>
        <p:txBody>
          <a:bodyPr wrap="none" lIns="0" rIns="0" tIns="0" bIns="0" anchor="t">
            <a:spAutoFit/>
          </a:bodyPr>
          <a:lstStyle/>
          <a:p>
            <a:pPr algn="l">
              <a:lnSpc>
                <a:spcPct val="100000"/>
              </a:lnSpc>
              <a:spcBef>
                <a:spcPts val="0"/>
              </a:spcBef>
              <a:spcAft>
                <a:spcPts val="0"/>
              </a:spcAft>
            </a:pPr>
            <a:r>
              <a:rPr sz="1555" b="0" i="0" lang="en-US" spc="0">
                <a:solidFill>
                  <a:srgbClr val="000000"/>
                </a:solidFill>
                <a:latin typeface="DejaVu Sans"/>
                <a:ea typeface="DejaVu Sans"/>
                <a:effectLst/>
              </a:rPr>
              <a:t>free / reclaimable / growth</a:t>
            </a:r>
          </a:p>
        </p:txBody>
      </p:sp>
      <p:sp>
        <p:nvSpPr>
          <p:cNvPr id="95" name="curve 94"/>
          <p:cNvSpPr/>
          <p:nvPr/>
        </p:nvSpPr>
        <p:spPr>
          <a:xfrm>
            <a:off x="3225768" y="2666196"/>
            <a:ext cx="2468700" cy="1119144"/>
          </a:xfrm>
          <a:custGeom>
            <a:avLst/>
            <a:gdLst/>
            <a:ahLst/>
            <a:cxnLst/>
            <a:rect l="l" t="t" r="r" b="b"/>
            <a:pathLst>
              <a:path w="300" h="136">
                <a:moveTo>
                  <a:pt x="0" y="136"/>
                </a:moveTo>
                <a:lnTo>
                  <a:pt x="190" y="136"/>
                </a:lnTo>
                <a:cubicBezTo>
                  <a:pt x="200" y="136"/>
                  <a:pt x="208" y="128"/>
                  <a:pt x="208" y="118"/>
                </a:cubicBezTo>
                <a:lnTo>
                  <a:pt x="208" y="34"/>
                </a:lnTo>
                <a:cubicBezTo>
                  <a:pt x="208" y="24"/>
                  <a:pt x="216" y="16"/>
                  <a:pt x="226" y="16"/>
                </a:cubicBezTo>
                <a:lnTo>
                  <a:pt x="295" y="16"/>
                </a:lnTo>
                <a:cubicBezTo>
                  <a:pt x="298" y="16"/>
                  <a:pt x="300" y="14"/>
                  <a:pt x="300" y="11"/>
                </a:cubicBezTo>
                <a:lnTo>
                  <a:pt x="300" y="0"/>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curve 95"/>
          <p:cNvSpPr/>
          <p:nvPr/>
        </p:nvSpPr>
        <p:spPr>
          <a:xfrm>
            <a:off x="3225768" y="2666196"/>
            <a:ext cx="2468700" cy="1119144"/>
          </a:xfrm>
          <a:custGeom>
            <a:avLst/>
            <a:gdLst/>
            <a:ahLst/>
            <a:cxnLst/>
            <a:rect l="l" t="t" r="r" b="b"/>
            <a:pathLst>
              <a:path w="300" h="136">
                <a:moveTo>
                  <a:pt x="0" y="136"/>
                </a:moveTo>
                <a:lnTo>
                  <a:pt x="190" y="136"/>
                </a:lnTo>
                <a:cubicBezTo>
                  <a:pt x="200" y="136"/>
                  <a:pt x="208" y="128"/>
                  <a:pt x="208" y="118"/>
                </a:cubicBezTo>
                <a:lnTo>
                  <a:pt x="208" y="34"/>
                </a:lnTo>
                <a:cubicBezTo>
                  <a:pt x="208" y="24"/>
                  <a:pt x="216" y="16"/>
                  <a:pt x="226" y="16"/>
                </a:cubicBezTo>
                <a:lnTo>
                  <a:pt x="295" y="16"/>
                </a:lnTo>
                <a:cubicBezTo>
                  <a:pt x="298" y="16"/>
                  <a:pt x="300" y="14"/>
                  <a:pt x="300" y="11"/>
                </a:cubicBezTo>
                <a:lnTo>
                  <a:pt x="300" y="0"/>
                </a:lnTo>
              </a:path>
            </a:pathLst>
          </a:custGeom>
          <a:noFill/>
          <a:ln w="3950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arrowhead 96"/>
          <p:cNvSpPr/>
          <p:nvPr/>
        </p:nvSpPr>
        <p:spPr>
          <a:xfrm>
            <a:off x="5645094" y="2666196"/>
            <a:ext cx="98748" cy="98748"/>
          </a:xfrm>
          <a:custGeom>
            <a:avLst/>
            <a:gdLst/>
            <a:ahLst/>
            <a:cxnLst/>
            <a:rect l="l" t="t" r="r" b="b"/>
            <a:pathLst>
              <a:path w="12" h="12">
                <a:moveTo>
                  <a:pt x="6" y="0"/>
                </a:moveTo>
                <a:lnTo>
                  <a:pt x="12" y="12"/>
                </a:lnTo>
                <a:lnTo>
                  <a:pt x="6" y="9"/>
                </a:lnTo>
                <a:lnTo>
                  <a:pt x="0" y="12"/>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circle 97"/>
          <p:cNvSpPr/>
          <p:nvPr/>
        </p:nvSpPr>
        <p:spPr>
          <a:xfrm>
            <a:off x="4781049" y="3176580"/>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2"/>
          <p:cNvSpPr txBox="1"/>
          <p:nvPr/>
        </p:nvSpPr>
        <p:spPr>
          <a:xfrm>
            <a:off x="4822178" y="3217725"/>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2</a:t>
            </a:r>
          </a:p>
        </p:txBody>
      </p:sp>
      <p:sp>
        <p:nvSpPr>
          <p:cNvPr id="100" name="select within budget"/>
          <p:cNvSpPr txBox="1"/>
          <p:nvPr/>
        </p:nvSpPr>
        <p:spPr>
          <a:xfrm>
            <a:off x="5603949" y="3503683"/>
            <a:ext cx="2194154"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0" i="0" lang="en-US" spc="0">
                <a:solidFill>
                  <a:srgbClr val="000000"/>
                </a:solidFill>
                <a:latin typeface="DejaVu Sans"/>
                <a:ea typeface="DejaVu Sans"/>
                <a:effectLst/>
              </a:rPr>
              <a:t>select within budget</a:t>
            </a:r>
          </a:p>
        </p:txBody>
      </p:sp>
      <p:sp>
        <p:nvSpPr>
          <p:cNvPr id="101" name="native queue"/>
          <p:cNvSpPr txBox="1"/>
          <p:nvPr/>
        </p:nvSpPr>
        <p:spPr>
          <a:xfrm>
            <a:off x="9142419" y="3215668"/>
            <a:ext cx="1617384"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1" i="0" lang="en-US" spc="0">
                <a:solidFill>
                  <a:srgbClr val="000000"/>
                </a:solidFill>
                <a:latin typeface="DejaVu Sans"/>
                <a:ea typeface="DejaVu Sans"/>
                <a:effectLst/>
              </a:rPr>
              <a:t>native queue</a:t>
            </a:r>
          </a:p>
        </p:txBody>
      </p:sp>
      <p:sp>
        <p:nvSpPr>
          <p:cNvPr id="102" name="rect 101"/>
          <p:cNvSpPr/>
          <p:nvPr/>
        </p:nvSpPr>
        <p:spPr>
          <a:xfrm>
            <a:off x="9150648" y="3513969"/>
            <a:ext cx="1785693" cy="263328"/>
          </a:xfrm>
          <a:prstGeom prst="roundRect">
            <a:avLst>
              <a:gd name="adj" fmla="val 625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 102"/>
          <p:cNvSpPr/>
          <p:nvPr/>
        </p:nvSpPr>
        <p:spPr>
          <a:xfrm>
            <a:off x="9158877" y="3522198"/>
            <a:ext cx="82290" cy="246870"/>
          </a:xfrm>
          <a:prstGeom prst="rect">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P"/>
          <p:cNvSpPr txBox="1"/>
          <p:nvPr/>
        </p:nvSpPr>
        <p:spPr>
          <a:xfrm>
            <a:off x="9438968" y="3552728"/>
            <a:ext cx="213343" cy="216011"/>
          </a:xfrm>
          <a:prstGeom prst="rect">
            <a:avLst/>
          </a:prstGeom>
          <a:noFill/>
          <a:effectLst/>
        </p:spPr>
        <p:txBody>
          <a:bodyPr wrap="none" lIns="0" rIns="0" tIns="0" bIns="0" anchor="t">
            <a:spAutoFit/>
          </a:bodyPr>
          <a:lstStyle/>
          <a:p>
            <a:pPr algn="ctr">
              <a:lnSpc>
                <a:spcPct val="100000"/>
              </a:lnSpc>
              <a:spcBef>
                <a:spcPts val="0"/>
              </a:spcBef>
              <a:spcAft>
                <a:spcPts val="0"/>
              </a:spcAft>
            </a:pPr>
            <a:r>
              <a:rPr sz="1231" b="1" i="0" lang="en-US" spc="0">
                <a:solidFill>
                  <a:srgbClr val="000000"/>
                </a:solidFill>
                <a:latin typeface="DejaVu Sans"/>
                <a:ea typeface="DejaVu Sans"/>
                <a:effectLst/>
              </a:rPr>
              <a:t>P</a:t>
            </a:r>
          </a:p>
        </p:txBody>
      </p:sp>
      <p:sp>
        <p:nvSpPr>
          <p:cNvPr id="105" name="rect 104"/>
          <p:cNvSpPr/>
          <p:nvPr/>
        </p:nvSpPr>
        <p:spPr>
          <a:xfrm>
            <a:off x="10319166" y="3555114"/>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rect 105"/>
          <p:cNvSpPr/>
          <p:nvPr/>
        </p:nvSpPr>
        <p:spPr>
          <a:xfrm>
            <a:off x="10335624" y="3571572"/>
            <a:ext cx="90519" cy="27156"/>
          </a:xfrm>
          <a:prstGeom prst="roundRect">
            <a:avLst>
              <a:gd name="adj" fmla="val 3030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 106"/>
          <p:cNvSpPr/>
          <p:nvPr/>
        </p:nvSpPr>
        <p:spPr>
          <a:xfrm>
            <a:off x="10483746" y="3555114"/>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rect 107"/>
          <p:cNvSpPr/>
          <p:nvPr/>
        </p:nvSpPr>
        <p:spPr>
          <a:xfrm>
            <a:off x="10500204" y="3571572"/>
            <a:ext cx="90519" cy="27156"/>
          </a:xfrm>
          <a:prstGeom prst="roundRect">
            <a:avLst>
              <a:gd name="adj" fmla="val 3030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rect 108"/>
          <p:cNvSpPr/>
          <p:nvPr/>
        </p:nvSpPr>
        <p:spPr>
          <a:xfrm>
            <a:off x="10648326" y="3555114"/>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rect 109"/>
          <p:cNvSpPr/>
          <p:nvPr/>
        </p:nvSpPr>
        <p:spPr>
          <a:xfrm>
            <a:off x="10664784" y="3571572"/>
            <a:ext cx="90519" cy="27156"/>
          </a:xfrm>
          <a:prstGeom prst="roundRect">
            <a:avLst>
              <a:gd name="adj" fmla="val 3030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rect 110"/>
          <p:cNvSpPr/>
          <p:nvPr/>
        </p:nvSpPr>
        <p:spPr>
          <a:xfrm>
            <a:off x="9150648" y="3876045"/>
            <a:ext cx="1785693" cy="263328"/>
          </a:xfrm>
          <a:prstGeom prst="roundRect">
            <a:avLst>
              <a:gd name="adj" fmla="val 625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rect 111"/>
          <p:cNvSpPr/>
          <p:nvPr/>
        </p:nvSpPr>
        <p:spPr>
          <a:xfrm>
            <a:off x="9158877" y="3884274"/>
            <a:ext cx="82290" cy="246870"/>
          </a:xfrm>
          <a:prstGeom prst="rect">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hit"/>
          <p:cNvSpPr txBox="1"/>
          <p:nvPr/>
        </p:nvSpPr>
        <p:spPr>
          <a:xfrm>
            <a:off x="9376447" y="3914804"/>
            <a:ext cx="338385" cy="216011"/>
          </a:xfrm>
          <a:prstGeom prst="rect">
            <a:avLst/>
          </a:prstGeom>
          <a:noFill/>
          <a:effectLst/>
        </p:spPr>
        <p:txBody>
          <a:bodyPr wrap="none" lIns="0" rIns="0" tIns="0" bIns="0" anchor="t">
            <a:spAutoFit/>
          </a:bodyPr>
          <a:lstStyle/>
          <a:p>
            <a:pPr algn="ctr">
              <a:lnSpc>
                <a:spcPct val="100000"/>
              </a:lnSpc>
              <a:spcBef>
                <a:spcPts val="0"/>
              </a:spcBef>
              <a:spcAft>
                <a:spcPts val="0"/>
              </a:spcAft>
            </a:pPr>
            <a:r>
              <a:rPr sz="1231" b="1" i="0" lang="en-US" spc="0">
                <a:solidFill>
                  <a:srgbClr val="000000"/>
                </a:solidFill>
                <a:latin typeface="DejaVu Sans"/>
                <a:ea typeface="DejaVu Sans"/>
                <a:effectLst/>
              </a:rPr>
              <a:t>hit</a:t>
            </a:r>
          </a:p>
        </p:txBody>
      </p:sp>
      <p:sp>
        <p:nvSpPr>
          <p:cNvPr id="114" name="rect 113"/>
          <p:cNvSpPr/>
          <p:nvPr/>
        </p:nvSpPr>
        <p:spPr>
          <a:xfrm>
            <a:off x="10319166" y="3917190"/>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rect 114"/>
          <p:cNvSpPr/>
          <p:nvPr/>
        </p:nvSpPr>
        <p:spPr>
          <a:xfrm>
            <a:off x="10335624" y="3933648"/>
            <a:ext cx="90519" cy="27156"/>
          </a:xfrm>
          <a:prstGeom prst="roundRect">
            <a:avLst>
              <a:gd name="adj" fmla="val 30303"/>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rect 115"/>
          <p:cNvSpPr/>
          <p:nvPr/>
        </p:nvSpPr>
        <p:spPr>
          <a:xfrm>
            <a:off x="10483746" y="3917190"/>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rect 116"/>
          <p:cNvSpPr/>
          <p:nvPr/>
        </p:nvSpPr>
        <p:spPr>
          <a:xfrm>
            <a:off x="10500204" y="3933648"/>
            <a:ext cx="90519" cy="27156"/>
          </a:xfrm>
          <a:prstGeom prst="roundRect">
            <a:avLst>
              <a:gd name="adj" fmla="val 30303"/>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rect 117"/>
          <p:cNvSpPr/>
          <p:nvPr/>
        </p:nvSpPr>
        <p:spPr>
          <a:xfrm>
            <a:off x="10648326" y="3917190"/>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rect 118"/>
          <p:cNvSpPr/>
          <p:nvPr/>
        </p:nvSpPr>
        <p:spPr>
          <a:xfrm>
            <a:off x="10664784" y="3933648"/>
            <a:ext cx="90519" cy="27156"/>
          </a:xfrm>
          <a:prstGeom prst="roundRect">
            <a:avLst>
              <a:gd name="adj" fmla="val 30303"/>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rect 119"/>
          <p:cNvSpPr/>
          <p:nvPr/>
        </p:nvSpPr>
        <p:spPr>
          <a:xfrm>
            <a:off x="9150648" y="4238121"/>
            <a:ext cx="1785693" cy="263328"/>
          </a:xfrm>
          <a:prstGeom prst="roundRect">
            <a:avLst>
              <a:gd name="adj" fmla="val 625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rect 120"/>
          <p:cNvSpPr/>
          <p:nvPr/>
        </p:nvSpPr>
        <p:spPr>
          <a:xfrm>
            <a:off x="9158877" y="4246350"/>
            <a:ext cx="82290" cy="24687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old"/>
          <p:cNvSpPr txBox="1"/>
          <p:nvPr/>
        </p:nvSpPr>
        <p:spPr>
          <a:xfrm>
            <a:off x="9359796" y="4276880"/>
            <a:ext cx="371687" cy="216011"/>
          </a:xfrm>
          <a:prstGeom prst="rect">
            <a:avLst/>
          </a:prstGeom>
          <a:noFill/>
          <a:effectLst/>
        </p:spPr>
        <p:txBody>
          <a:bodyPr wrap="none" lIns="0" rIns="0" tIns="0" bIns="0" anchor="t">
            <a:spAutoFit/>
          </a:bodyPr>
          <a:lstStyle/>
          <a:p>
            <a:pPr algn="ctr">
              <a:lnSpc>
                <a:spcPct val="100000"/>
              </a:lnSpc>
              <a:spcBef>
                <a:spcPts val="0"/>
              </a:spcBef>
              <a:spcAft>
                <a:spcPts val="0"/>
              </a:spcAft>
            </a:pPr>
            <a:r>
              <a:rPr sz="1231" b="1" i="0" lang="en-US" spc="0">
                <a:solidFill>
                  <a:srgbClr val="000000"/>
                </a:solidFill>
                <a:latin typeface="DejaVu Sans"/>
                <a:ea typeface="DejaVu Sans"/>
                <a:effectLst/>
              </a:rPr>
              <a:t>old</a:t>
            </a:r>
          </a:p>
        </p:txBody>
      </p:sp>
      <p:sp>
        <p:nvSpPr>
          <p:cNvPr id="123" name="rect 122"/>
          <p:cNvSpPr/>
          <p:nvPr/>
        </p:nvSpPr>
        <p:spPr>
          <a:xfrm>
            <a:off x="10319166" y="4279266"/>
            <a:ext cx="123435" cy="181038"/>
          </a:xfrm>
          <a:prstGeom prst="roundRect">
            <a:avLst>
              <a:gd name="adj" fmla="val 13333"/>
            </a:avLst>
          </a:prstGeom>
          <a:solidFill>
            <a:srgbClr val="FFFFFF"/>
          </a:solidFill>
          <a:ln w="13167">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rect 123"/>
          <p:cNvSpPr/>
          <p:nvPr/>
        </p:nvSpPr>
        <p:spPr>
          <a:xfrm>
            <a:off x="10335624" y="4295724"/>
            <a:ext cx="90519" cy="27156"/>
          </a:xfrm>
          <a:prstGeom prst="roundRect">
            <a:avLst>
              <a:gd name="adj" fmla="val 30303"/>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rect 124"/>
          <p:cNvSpPr/>
          <p:nvPr/>
        </p:nvSpPr>
        <p:spPr>
          <a:xfrm>
            <a:off x="10483746" y="4279266"/>
            <a:ext cx="123435" cy="181038"/>
          </a:xfrm>
          <a:prstGeom prst="roundRect">
            <a:avLst>
              <a:gd name="adj" fmla="val 13333"/>
            </a:avLst>
          </a:prstGeom>
          <a:solidFill>
            <a:srgbClr val="FFFFFF"/>
          </a:solidFill>
          <a:ln w="13167">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rect 125"/>
          <p:cNvSpPr/>
          <p:nvPr/>
        </p:nvSpPr>
        <p:spPr>
          <a:xfrm>
            <a:off x="10500204" y="4295724"/>
            <a:ext cx="90519" cy="27156"/>
          </a:xfrm>
          <a:prstGeom prst="roundRect">
            <a:avLst>
              <a:gd name="adj" fmla="val 30303"/>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rect 126"/>
          <p:cNvSpPr/>
          <p:nvPr/>
        </p:nvSpPr>
        <p:spPr>
          <a:xfrm>
            <a:off x="10648326" y="4279266"/>
            <a:ext cx="123435" cy="181038"/>
          </a:xfrm>
          <a:prstGeom prst="roundRect">
            <a:avLst>
              <a:gd name="adj" fmla="val 13333"/>
            </a:avLst>
          </a:prstGeom>
          <a:solidFill>
            <a:srgbClr val="FFFFFF"/>
          </a:solidFill>
          <a:ln w="13167">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rect 127"/>
          <p:cNvSpPr/>
          <p:nvPr/>
        </p:nvSpPr>
        <p:spPr>
          <a:xfrm>
            <a:off x="10664784" y="4295724"/>
            <a:ext cx="90519" cy="27156"/>
          </a:xfrm>
          <a:prstGeom prst="roundRect">
            <a:avLst>
              <a:gd name="adj" fmla="val 30303"/>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curve 128"/>
          <p:cNvSpPr/>
          <p:nvPr/>
        </p:nvSpPr>
        <p:spPr>
          <a:xfrm>
            <a:off x="8475870" y="3645447"/>
            <a:ext cx="641862" cy="724152"/>
          </a:xfrm>
          <a:custGeom>
            <a:avLst/>
            <a:gdLst/>
            <a:ahLst/>
            <a:cxnLst/>
            <a:rect l="l" t="t" r="r" b="b"/>
            <a:pathLst>
              <a:path w="78" h="88">
                <a:moveTo>
                  <a:pt x="0" y="88"/>
                </a:moveTo>
                <a:lnTo>
                  <a:pt x="27" y="88"/>
                </a:lnTo>
                <a:cubicBezTo>
                  <a:pt x="34" y="88"/>
                  <a:pt x="40" y="82"/>
                  <a:pt x="40" y="75"/>
                </a:cubicBezTo>
                <a:lnTo>
                  <a:pt x="40" y="13"/>
                </a:lnTo>
                <a:cubicBezTo>
                  <a:pt x="40" y="6"/>
                  <a:pt x="46" y="0"/>
                  <a:pt x="53" y="0"/>
                </a:cubicBezTo>
                <a:lnTo>
                  <a:pt x="78" y="0"/>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curve 129"/>
          <p:cNvSpPr/>
          <p:nvPr/>
        </p:nvSpPr>
        <p:spPr>
          <a:xfrm>
            <a:off x="8475870" y="3645447"/>
            <a:ext cx="641862" cy="724152"/>
          </a:xfrm>
          <a:custGeom>
            <a:avLst/>
            <a:gdLst/>
            <a:ahLst/>
            <a:cxnLst/>
            <a:rect l="l" t="t" r="r" b="b"/>
            <a:pathLst>
              <a:path w="78" h="88">
                <a:moveTo>
                  <a:pt x="0" y="88"/>
                </a:moveTo>
                <a:lnTo>
                  <a:pt x="27" y="88"/>
                </a:lnTo>
                <a:cubicBezTo>
                  <a:pt x="34" y="88"/>
                  <a:pt x="40" y="82"/>
                  <a:pt x="40" y="75"/>
                </a:cubicBezTo>
                <a:lnTo>
                  <a:pt x="40" y="13"/>
                </a:lnTo>
                <a:cubicBezTo>
                  <a:pt x="40" y="6"/>
                  <a:pt x="46" y="0"/>
                  <a:pt x="53" y="0"/>
                </a:cubicBezTo>
                <a:lnTo>
                  <a:pt x="78" y="0"/>
                </a:lnTo>
              </a:path>
            </a:pathLst>
          </a:custGeom>
          <a:noFill/>
          <a:ln w="3950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arrowhead 130"/>
          <p:cNvSpPr/>
          <p:nvPr/>
        </p:nvSpPr>
        <p:spPr>
          <a:xfrm>
            <a:off x="9018984" y="3596073"/>
            <a:ext cx="98748" cy="98748"/>
          </a:xfrm>
          <a:custGeom>
            <a:avLst/>
            <a:gdLst/>
            <a:ahLst/>
            <a:cxnLst/>
            <a:rect l="l" t="t" r="r" b="b"/>
            <a:pathLst>
              <a:path w="12" h="12">
                <a:moveTo>
                  <a:pt x="0" y="12"/>
                </a:moveTo>
                <a:lnTo>
                  <a:pt x="12" y="6"/>
                </a:lnTo>
                <a:lnTo>
                  <a:pt x="0" y="0"/>
                </a:lnTo>
              </a:path>
            </a:pathLst>
          </a:custGeom>
          <a:noFill/>
          <a:ln w="15430">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JOIN + request"/>
          <p:cNvSpPr txBox="1"/>
          <p:nvPr/>
        </p:nvSpPr>
        <p:spPr>
          <a:xfrm>
            <a:off x="7339352" y="4760663"/>
            <a:ext cx="1499510"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0" i="0" lang="en-US" spc="0">
                <a:solidFill>
                  <a:srgbClr val="000000"/>
                </a:solidFill>
                <a:latin typeface="DejaVu Sans"/>
                <a:ea typeface="DejaVu Sans"/>
                <a:effectLst/>
              </a:rPr>
              <a:t>JOIN + request</a:t>
            </a:r>
          </a:p>
        </p:txBody>
      </p:sp>
      <p:cxnSp>
        <p:nvCxnSpPr>
          <p:cNvPr id="133" name="line 132"/>
          <p:cNvCxnSpPr/>
          <p:nvPr/>
        </p:nvCxnSpPr>
        <p:spPr>
          <a:xfrm>
            <a:off x="11989653" y="3374076"/>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4" name="line 133"/>
          <p:cNvCxnSpPr/>
          <p:nvPr/>
        </p:nvCxnSpPr>
        <p:spPr>
          <a:xfrm>
            <a:off x="11989653" y="4271037"/>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5" name="line 134"/>
          <p:cNvCxnSpPr/>
          <p:nvPr/>
        </p:nvCxnSpPr>
        <p:spPr>
          <a:xfrm>
            <a:off x="12154233" y="3374076"/>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6" name="line 135"/>
          <p:cNvCxnSpPr/>
          <p:nvPr/>
        </p:nvCxnSpPr>
        <p:spPr>
          <a:xfrm>
            <a:off x="12154233" y="4271037"/>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7" name="line 136"/>
          <p:cNvCxnSpPr/>
          <p:nvPr/>
        </p:nvCxnSpPr>
        <p:spPr>
          <a:xfrm>
            <a:off x="12318813" y="3374076"/>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8" name="line 137"/>
          <p:cNvCxnSpPr/>
          <p:nvPr/>
        </p:nvCxnSpPr>
        <p:spPr>
          <a:xfrm>
            <a:off x="12318813" y="4271037"/>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9" name="line 138"/>
          <p:cNvCxnSpPr/>
          <p:nvPr/>
        </p:nvCxnSpPr>
        <p:spPr>
          <a:xfrm>
            <a:off x="12483393" y="3374076"/>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0" name="line 139"/>
          <p:cNvCxnSpPr/>
          <p:nvPr/>
        </p:nvCxnSpPr>
        <p:spPr>
          <a:xfrm>
            <a:off x="12483393" y="4271037"/>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1" name="line 140"/>
          <p:cNvCxnSpPr/>
          <p:nvPr/>
        </p:nvCxnSpPr>
        <p:spPr>
          <a:xfrm>
            <a:off x="12647973" y="3374076"/>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2" name="line 141"/>
          <p:cNvCxnSpPr/>
          <p:nvPr/>
        </p:nvCxnSpPr>
        <p:spPr>
          <a:xfrm>
            <a:off x="12647973" y="4271037"/>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3" name="line 142"/>
          <p:cNvCxnSpPr/>
          <p:nvPr/>
        </p:nvCxnSpPr>
        <p:spPr>
          <a:xfrm>
            <a:off x="11792157" y="3579801"/>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4" name="line 143"/>
          <p:cNvCxnSpPr/>
          <p:nvPr/>
        </p:nvCxnSpPr>
        <p:spPr>
          <a:xfrm>
            <a:off x="12829011" y="3579801"/>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5" name="line 144"/>
          <p:cNvCxnSpPr/>
          <p:nvPr/>
        </p:nvCxnSpPr>
        <p:spPr>
          <a:xfrm>
            <a:off x="11792157" y="3744381"/>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6" name="line 145"/>
          <p:cNvCxnSpPr/>
          <p:nvPr/>
        </p:nvCxnSpPr>
        <p:spPr>
          <a:xfrm>
            <a:off x="12829011" y="3744381"/>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7" name="line 146"/>
          <p:cNvCxnSpPr/>
          <p:nvPr/>
        </p:nvCxnSpPr>
        <p:spPr>
          <a:xfrm>
            <a:off x="11792157" y="3908961"/>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8" name="line 147"/>
          <p:cNvCxnSpPr/>
          <p:nvPr/>
        </p:nvCxnSpPr>
        <p:spPr>
          <a:xfrm>
            <a:off x="12829011" y="3908961"/>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9" name="line 148"/>
          <p:cNvCxnSpPr/>
          <p:nvPr/>
        </p:nvCxnSpPr>
        <p:spPr>
          <a:xfrm>
            <a:off x="11792157" y="4073541"/>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50" name="line 149"/>
          <p:cNvCxnSpPr/>
          <p:nvPr/>
        </p:nvCxnSpPr>
        <p:spPr>
          <a:xfrm>
            <a:off x="12829011" y="4073541"/>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51" name="rect 150"/>
          <p:cNvSpPr/>
          <p:nvPr/>
        </p:nvSpPr>
        <p:spPr>
          <a:xfrm>
            <a:off x="11874447" y="3456366"/>
            <a:ext cx="954564" cy="814671"/>
          </a:xfrm>
          <a:prstGeom prst="roundRect">
            <a:avLst>
              <a:gd name="adj" fmla="val 2020"/>
            </a:avLst>
          </a:prstGeom>
          <a:solidFill>
            <a:srgbClr val="A6CAEC"/>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GPU"/>
          <p:cNvSpPr txBox="1"/>
          <p:nvPr/>
        </p:nvSpPr>
        <p:spPr>
          <a:xfrm>
            <a:off x="12068745" y="3509854"/>
            <a:ext cx="565969"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GPU</a:t>
            </a:r>
          </a:p>
        </p:txBody>
      </p:sp>
      <p:sp>
        <p:nvSpPr>
          <p:cNvPr id="153" name="rect 152"/>
          <p:cNvSpPr/>
          <p:nvPr/>
        </p:nvSpPr>
        <p:spPr>
          <a:xfrm>
            <a:off x="11981424" y="3801984"/>
            <a:ext cx="222183" cy="135778"/>
          </a:xfrm>
          <a:prstGeom prst="roundRect">
            <a:avLst>
              <a:gd name="adj" fmla="val 6060"/>
            </a:avLst>
          </a:prstGeom>
          <a:solidFill>
            <a:srgbClr val="A6CAEC"/>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rect 153"/>
          <p:cNvSpPr/>
          <p:nvPr/>
        </p:nvSpPr>
        <p:spPr>
          <a:xfrm>
            <a:off x="12239266" y="3801984"/>
            <a:ext cx="222183" cy="135778"/>
          </a:xfrm>
          <a:prstGeom prst="roundRect">
            <a:avLst>
              <a:gd name="adj" fmla="val 6060"/>
            </a:avLst>
          </a:prstGeom>
          <a:solidFill>
            <a:srgbClr val="84E291"/>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rect 154"/>
          <p:cNvSpPr/>
          <p:nvPr/>
        </p:nvSpPr>
        <p:spPr>
          <a:xfrm>
            <a:off x="12497108" y="3801984"/>
            <a:ext cx="222183" cy="135778"/>
          </a:xfrm>
          <a:prstGeom prst="roundRect">
            <a:avLst>
              <a:gd name="adj" fmla="val 6060"/>
            </a:avLst>
          </a:prstGeom>
          <a:solidFill>
            <a:srgbClr val="A6CAEC"/>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rect 155"/>
          <p:cNvSpPr/>
          <p:nvPr/>
        </p:nvSpPr>
        <p:spPr>
          <a:xfrm>
            <a:off x="11981424" y="3991251"/>
            <a:ext cx="222183" cy="135778"/>
          </a:xfrm>
          <a:prstGeom prst="roundRect">
            <a:avLst>
              <a:gd name="adj" fmla="val 6060"/>
            </a:avLst>
          </a:prstGeom>
          <a:solidFill>
            <a:srgbClr val="FFFFFF"/>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rect 156"/>
          <p:cNvSpPr/>
          <p:nvPr/>
        </p:nvSpPr>
        <p:spPr>
          <a:xfrm>
            <a:off x="12239266" y="3991251"/>
            <a:ext cx="222183" cy="135778"/>
          </a:xfrm>
          <a:prstGeom prst="roundRect">
            <a:avLst>
              <a:gd name="adj" fmla="val 6060"/>
            </a:avLst>
          </a:prstGeom>
          <a:solidFill>
            <a:srgbClr val="FFFFFF"/>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rect 157"/>
          <p:cNvSpPr/>
          <p:nvPr/>
        </p:nvSpPr>
        <p:spPr>
          <a:xfrm>
            <a:off x="12497108" y="3991251"/>
            <a:ext cx="222183" cy="135778"/>
          </a:xfrm>
          <a:prstGeom prst="roundRect">
            <a:avLst>
              <a:gd name="adj" fmla="val 6060"/>
            </a:avLst>
          </a:prstGeom>
          <a:solidFill>
            <a:srgbClr val="FFFFFF"/>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9" name="path 158"/>
          <p:cNvCxnSpPr/>
          <p:nvPr/>
        </p:nvCxnSpPr>
        <p:spPr>
          <a:xfrm>
            <a:off x="10993944" y="3645633"/>
            <a:ext cx="773526" cy="0"/>
          </a:xfrm>
          <a:prstGeom prst="line">
            <a:avLst/>
          </a:prstGeom>
          <a:ln w="65836">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60" name="path 159"/>
          <p:cNvCxnSpPr/>
          <p:nvPr/>
        </p:nvCxnSpPr>
        <p:spPr>
          <a:xfrm>
            <a:off x="10993944" y="3645633"/>
            <a:ext cx="773526" cy="0"/>
          </a:xfrm>
          <a:prstGeom prst="line">
            <a:avLst/>
          </a:prstGeom>
          <a:ln w="49377">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161" name="arrowhead 160"/>
          <p:cNvSpPr/>
          <p:nvPr/>
        </p:nvSpPr>
        <p:spPr>
          <a:xfrm>
            <a:off x="11619348" y="3571386"/>
            <a:ext cx="148122" cy="148122"/>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circle 161"/>
          <p:cNvSpPr/>
          <p:nvPr/>
        </p:nvSpPr>
        <p:spPr>
          <a:xfrm>
            <a:off x="11224356" y="3489282"/>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4"/>
          <p:cNvSpPr txBox="1"/>
          <p:nvPr/>
        </p:nvSpPr>
        <p:spPr>
          <a:xfrm>
            <a:off x="11265485" y="3530427"/>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4</a:t>
            </a:r>
          </a:p>
        </p:txBody>
      </p:sp>
      <p:sp>
        <p:nvSpPr>
          <p:cNvPr id="164" name="data + slot"/>
          <p:cNvSpPr txBox="1"/>
          <p:nvPr/>
        </p:nvSpPr>
        <p:spPr>
          <a:xfrm>
            <a:off x="11339562" y="4513793"/>
            <a:ext cx="1145245" cy="255099"/>
          </a:xfrm>
          <a:prstGeom prst="rect">
            <a:avLst/>
          </a:prstGeom>
          <a:noFill/>
          <a:effectLst/>
        </p:spPr>
        <p:txBody>
          <a:bodyPr wrap="none" lIns="0" rIns="0" tIns="0" bIns="0" anchor="t">
            <a:spAutoFit/>
          </a:bodyPr>
          <a:lstStyle/>
          <a:p>
            <a:pPr algn="l">
              <a:lnSpc>
                <a:spcPct val="100000"/>
              </a:lnSpc>
              <a:spcBef>
                <a:spcPts val="0"/>
              </a:spcBef>
              <a:spcAft>
                <a:spcPts val="0"/>
              </a:spcAft>
            </a:pPr>
            <a:r>
              <a:rPr sz="1490" b="0" i="0" lang="en-US" spc="0">
                <a:solidFill>
                  <a:srgbClr val="000000"/>
                </a:solidFill>
                <a:latin typeface="DejaVu Sans"/>
                <a:ea typeface="DejaVu Sans"/>
                <a:effectLst/>
              </a:rPr>
              <a:t>data + slot</a:t>
            </a:r>
          </a:p>
        </p:txBody>
      </p:sp>
      <p:sp>
        <p:nvSpPr>
          <p:cNvPr id="165" name="bounded + aging"/>
          <p:cNvSpPr txBox="1"/>
          <p:nvPr/>
        </p:nvSpPr>
        <p:spPr>
          <a:xfrm>
            <a:off x="9142419" y="4513793"/>
            <a:ext cx="1739180" cy="255099"/>
          </a:xfrm>
          <a:prstGeom prst="rect">
            <a:avLst/>
          </a:prstGeom>
          <a:noFill/>
          <a:effectLst/>
        </p:spPr>
        <p:txBody>
          <a:bodyPr wrap="none" lIns="0" rIns="0" tIns="0" bIns="0" anchor="t">
            <a:spAutoFit/>
          </a:bodyPr>
          <a:lstStyle/>
          <a:p>
            <a:pPr algn="l">
              <a:lnSpc>
                <a:spcPct val="100000"/>
              </a:lnSpc>
              <a:spcBef>
                <a:spcPts val="0"/>
              </a:spcBef>
              <a:spcAft>
                <a:spcPts val="0"/>
              </a:spcAft>
            </a:pPr>
            <a:r>
              <a:rPr sz="1490" b="0" i="0" lang="en-US" spc="0">
                <a:solidFill>
                  <a:srgbClr val="000000"/>
                </a:solidFill>
                <a:latin typeface="DejaVu Sans"/>
                <a:ea typeface="DejaVu Sans"/>
                <a:effectLst/>
              </a:rPr>
              <a:t>bounded + aging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0">
          <a:schemeClr val="accent1"/>
        </a:effectRef>
        <a:fontRef idx="minor">
          <a:schemeClr val="lt1"/>
        </a:fontRef>
      </a:style>
    </a:spDef>
    <a:lnDef>
      <a:spPr/>
      <a:bodyPr/>
      <a:lstStyle/>
      <a:style>
        <a:lnRef idx="2">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0">
          <a:schemeClr val="accent1"/>
        </a:effectRef>
        <a:fontRef idx="minor">
          <a:schemeClr val="lt1"/>
        </a:fontRef>
      </a:style>
    </a:spDef>
    <a:lnDef>
      <a:spPr/>
      <a:bodyPr/>
      <a:lstStyle/>
      <a:style>
        <a:lnRef idx="2">
          <a:schemeClr val="accent1"/>
        </a:lnRef>
        <a:fillRef idx="0">
          <a:schemeClr val="accent1"/>
        </a:fillRef>
        <a:effectRef idx="0">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BeliefKV Architecture Figures</dc:title>
  <dc:subject>Current development architecture as of 2026-10-15</dc:subject>
  <dc:creator>BeliefKV</dc:creator>
  <cp:keywords>BeliefKV, dynamic agent workflows, KV cache, native editable diagrams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