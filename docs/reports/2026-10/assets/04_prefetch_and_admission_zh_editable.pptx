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51023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箭头序号表达推断与原生服务的协同。①根据 D1 的滚动提示，以及同方向/形态/大小的实测传输耗时选择启动时机。②根据 D2 的空闲、可回收容量及下一批输入增长预留选择缺页，FULL/Mamba 分池核算。③只 H2D 缺失的 p2/p3 及匹配 c* 的必要状态，右侧其余页已驻留。两页是示例，不是固定上限。传输在真实 C2 RETURN 前开始、之后完成，表示有用的部分重叠，不代表实测时间。C1 此前已返回，与 D1/D2一致。④真实 JOIN 完成且请求提交后，对已恢复且可执行的 P 有界提升，同时保留HBM 命中倾向、老化和 batch 填充。原生 PrefillAdder、分配器、逐层数据依赖、必要 Mamba 与 slot 保持决定权。锁表示待首次消费期间的有界保护，不是永久固定。账本 ACK 管理生命周期，不是所有执行都要等待的统一屏障；其余尾部或依赖仍用原生恢复，失败、过期时原生回退。同轮观测复用和无机会轻量路径降低控制成本。示意图不声称已获得吞吐或 JCT 收益。代码：native_transfer_policy.py、native_transfer_service.py 及 runtime 的 _wait_prefetch_opportunity、defer_prefill_for_prefetch、plan_native_prefill。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3"/>
          <p:cNvSpPr txBox="1"/>
          <p:nvPr/>
        </p:nvSpPr>
        <p:spPr>
          <a:xfrm>
            <a:off x="263328" y="57789"/>
            <a:ext cx="431380" cy="403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D3</a:t>
            </a:r>
          </a:p>
        </p:txBody>
      </p:sp>
      <p:sp>
        <p:nvSpPr>
          <p:cNvPr id="3" name="提前恢复，协同准入与首次消费"/>
          <p:cNvSpPr txBox="1"/>
          <p:nvPr/>
        </p:nvSpPr>
        <p:spPr>
          <a:xfrm>
            <a:off x="888732" y="57789"/>
            <a:ext cx="3670134" cy="403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提前恢复，协同准入与首次消费</a:t>
            </a:r>
          </a:p>
        </p:txBody>
      </p:sp>
      <p:sp>
        <p:nvSpPr>
          <p:cNvPr id="4" name="rect 3"/>
          <p:cNvSpPr/>
          <p:nvPr/>
        </p:nvSpPr>
        <p:spPr>
          <a:xfrm>
            <a:off x="1086228" y="1827024"/>
            <a:ext cx="3637218" cy="1110915"/>
          </a:xfrm>
          <a:prstGeom prst="roundRect">
            <a:avLst>
              <a:gd name="adj" fmla="val 5925"/>
            </a:avLst>
          </a:prstGeom>
          <a:solidFill>
            <a:srgbClr val="FBE3D6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 4"/>
          <p:cNvSpPr/>
          <p:nvPr/>
        </p:nvSpPr>
        <p:spPr>
          <a:xfrm>
            <a:off x="9027213" y="1827024"/>
            <a:ext cx="3933462" cy="1110915"/>
          </a:xfrm>
          <a:prstGeom prst="roundRect">
            <a:avLst>
              <a:gd name="adj" fmla="val 5925"/>
            </a:avLst>
          </a:prstGeom>
          <a:solidFill>
            <a:srgbClr val="F2F2F2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 5"/>
          <p:cNvSpPr/>
          <p:nvPr/>
        </p:nvSpPr>
        <p:spPr>
          <a:xfrm>
            <a:off x="5859048" y="1481406"/>
            <a:ext cx="2304120" cy="534885"/>
          </a:xfrm>
          <a:prstGeom prst="roundRect">
            <a:avLst>
              <a:gd name="adj" fmla="val 12307"/>
            </a:avLst>
          </a:prstGeom>
          <a:solidFill>
            <a:srgbClr val="DCEAF7"/>
          </a:solidFill>
          <a:ln w="13167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 6"/>
          <p:cNvSpPr/>
          <p:nvPr/>
        </p:nvSpPr>
        <p:spPr>
          <a:xfrm>
            <a:off x="1086228" y="3481053"/>
            <a:ext cx="3637218" cy="1193205"/>
          </a:xfrm>
          <a:prstGeom prst="roundRect">
            <a:avLst>
              <a:gd name="adj" fmla="val 5517"/>
            </a:avLst>
          </a:prstGeom>
          <a:solidFill>
            <a:srgbClr val="F2F2F2"/>
          </a:solidFill>
          <a:ln w="13167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 7"/>
          <p:cNvSpPr/>
          <p:nvPr/>
        </p:nvSpPr>
        <p:spPr>
          <a:xfrm>
            <a:off x="9027213" y="3160122"/>
            <a:ext cx="3933462" cy="1662258"/>
          </a:xfrm>
          <a:prstGeom prst="roundRect">
            <a:avLst>
              <a:gd name="adj" fmla="val 3960"/>
            </a:avLst>
          </a:prstGeom>
          <a:solidFill>
            <a:srgbClr val="D9F2D0"/>
          </a:solidFill>
          <a:ln w="14813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ircle 8"/>
          <p:cNvSpPr/>
          <p:nvPr/>
        </p:nvSpPr>
        <p:spPr>
          <a:xfrm>
            <a:off x="362076" y="864231"/>
            <a:ext cx="460824" cy="460824"/>
          </a:xfrm>
          <a:prstGeom prst="ellipse">
            <a:avLst/>
          </a:prstGeom>
          <a:solidFill>
            <a:srgbClr val="F6C6AD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2"/>
          <p:cNvSpPr txBox="1"/>
          <p:nvPr/>
        </p:nvSpPr>
        <p:spPr>
          <a:xfrm>
            <a:off x="414954" y="925948"/>
            <a:ext cx="35506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C2</a:t>
            </a:r>
          </a:p>
        </p:txBody>
      </p:sp>
      <p:cxnSp>
        <p:nvCxnSpPr>
          <p:cNvPr id="11" name="line 10"/>
          <p:cNvCxnSpPr/>
          <p:nvPr/>
        </p:nvCxnSpPr>
        <p:spPr>
          <a:xfrm>
            <a:off x="962793" y="1094643"/>
            <a:ext cx="7266207" cy="0"/>
          </a:xfrm>
          <a:prstGeom prst="line">
            <a:avLst/>
          </a:prstGeom>
          <a:ln w="10698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 11"/>
          <p:cNvSpPr/>
          <p:nvPr/>
        </p:nvSpPr>
        <p:spPr>
          <a:xfrm>
            <a:off x="4048668" y="930063"/>
            <a:ext cx="4180332" cy="329160"/>
          </a:xfrm>
          <a:prstGeom prst="rect">
            <a:avLst/>
          </a:prstGeom>
          <a:solidFill>
            <a:srgbClr val="F6C6AD"/>
          </a:solidFill>
          <a:ln w="1234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最终报告生成"/>
          <p:cNvSpPr txBox="1"/>
          <p:nvPr/>
        </p:nvSpPr>
        <p:spPr>
          <a:xfrm>
            <a:off x="5447598" y="911548"/>
            <a:ext cx="1382472" cy="34356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最终报告生成</a:t>
            </a:r>
          </a:p>
        </p:txBody>
      </p:sp>
      <p:sp>
        <p:nvSpPr>
          <p:cNvPr id="14" name="circle 13"/>
          <p:cNvSpPr/>
          <p:nvPr/>
        </p:nvSpPr>
        <p:spPr>
          <a:xfrm>
            <a:off x="3398577" y="1037040"/>
            <a:ext cx="115206" cy="115206"/>
          </a:xfrm>
          <a:prstGeom prst="ellipse">
            <a:avLst/>
          </a:prstGeom>
          <a:solidFill>
            <a:srgbClr val="215F9A"/>
          </a:solidFill>
          <a:ln w="11521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OTICE"/>
          <p:cNvSpPr txBox="1"/>
          <p:nvPr/>
        </p:nvSpPr>
        <p:spPr>
          <a:xfrm>
            <a:off x="3110562" y="576216"/>
            <a:ext cx="832286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NOTICE</a:t>
            </a:r>
          </a:p>
        </p:txBody>
      </p:sp>
      <p:cxnSp>
        <p:nvCxnSpPr>
          <p:cNvPr id="16" name="line 15"/>
          <p:cNvCxnSpPr/>
          <p:nvPr/>
        </p:nvCxnSpPr>
        <p:spPr>
          <a:xfrm>
            <a:off x="8229000" y="757254"/>
            <a:ext cx="0" cy="3917004"/>
          </a:xfrm>
          <a:prstGeom prst="line">
            <a:avLst/>
          </a:prstGeom>
          <a:ln w="13990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URN / JOIN"/>
          <p:cNvSpPr txBox="1"/>
          <p:nvPr/>
        </p:nvSpPr>
        <p:spPr>
          <a:xfrm>
            <a:off x="8401809" y="905376"/>
            <a:ext cx="1612723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RETURN / JOIN</a:t>
            </a:r>
          </a:p>
        </p:txBody>
      </p:sp>
      <p:sp>
        <p:nvSpPr>
          <p:cNvPr id="18" name="circle 17"/>
          <p:cNvSpPr/>
          <p:nvPr/>
        </p:nvSpPr>
        <p:spPr>
          <a:xfrm>
            <a:off x="2806089" y="1374429"/>
            <a:ext cx="378534" cy="378534"/>
          </a:xfrm>
          <a:prstGeom prst="ellipse">
            <a:avLst/>
          </a:prstGeom>
          <a:solidFill>
            <a:srgbClr val="A6CAEC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1"/>
          <p:cNvSpPr txBox="1"/>
          <p:nvPr/>
        </p:nvSpPr>
        <p:spPr>
          <a:xfrm>
            <a:off x="2833315" y="1411460"/>
            <a:ext cx="324081" cy="2859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D1</a:t>
            </a:r>
          </a:p>
        </p:txBody>
      </p:sp>
      <p:sp>
        <p:nvSpPr>
          <p:cNvPr id="20" name="curve 19"/>
          <p:cNvSpPr/>
          <p:nvPr/>
        </p:nvSpPr>
        <p:spPr>
          <a:xfrm>
            <a:off x="3456180" y="1291953"/>
            <a:ext cx="2575677" cy="979251"/>
          </a:xfrm>
          <a:custGeom>
            <a:avLst/>
            <a:gdLst/>
            <a:ahLst/>
            <a:cxnLst/>
            <a:rect l="l" t="t" r="r" b="b"/>
            <a:pathLst>
              <a:path w="313" h="119">
                <a:moveTo>
                  <a:pt x="0" y="0"/>
                </a:moveTo>
                <a:lnTo>
                  <a:pt x="0" y="6"/>
                </a:lnTo>
                <a:cubicBezTo>
                  <a:pt x="0" y="8"/>
                  <a:pt x="1" y="9"/>
                  <a:pt x="3" y="9"/>
                </a:cubicBezTo>
                <a:lnTo>
                  <a:pt x="295" y="9"/>
                </a:lnTo>
                <a:cubicBezTo>
                  <a:pt x="305" y="9"/>
                  <a:pt x="313" y="17"/>
                  <a:pt x="313" y="27"/>
                </a:cubicBezTo>
                <a:lnTo>
                  <a:pt x="313" y="119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urve 20"/>
          <p:cNvSpPr/>
          <p:nvPr/>
        </p:nvSpPr>
        <p:spPr>
          <a:xfrm>
            <a:off x="3456180" y="1291953"/>
            <a:ext cx="2575677" cy="979251"/>
          </a:xfrm>
          <a:custGeom>
            <a:avLst/>
            <a:gdLst/>
            <a:ahLst/>
            <a:cxnLst/>
            <a:rect l="l" t="t" r="r" b="b"/>
            <a:pathLst>
              <a:path w="313" h="119">
                <a:moveTo>
                  <a:pt x="0" y="0"/>
                </a:moveTo>
                <a:lnTo>
                  <a:pt x="0" y="6"/>
                </a:lnTo>
                <a:cubicBezTo>
                  <a:pt x="0" y="8"/>
                  <a:pt x="1" y="9"/>
                  <a:pt x="3" y="9"/>
                </a:cubicBezTo>
                <a:lnTo>
                  <a:pt x="295" y="9"/>
                </a:lnTo>
                <a:cubicBezTo>
                  <a:pt x="305" y="9"/>
                  <a:pt x="313" y="17"/>
                  <a:pt x="313" y="27"/>
                </a:cubicBezTo>
                <a:lnTo>
                  <a:pt x="313" y="119"/>
                </a:lnTo>
              </a:path>
            </a:pathLst>
          </a:custGeom>
          <a:noFill/>
          <a:ln w="3950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rowhead 21"/>
          <p:cNvSpPr/>
          <p:nvPr/>
        </p:nvSpPr>
        <p:spPr>
          <a:xfrm>
            <a:off x="5957796" y="2123082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0" y="0"/>
                </a:moveTo>
                <a:lnTo>
                  <a:pt x="9" y="18"/>
                </a:lnTo>
                <a:lnTo>
                  <a:pt x="18" y="0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ircle 22"/>
          <p:cNvSpPr/>
          <p:nvPr/>
        </p:nvSpPr>
        <p:spPr>
          <a:xfrm>
            <a:off x="4583553" y="1209849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1"/>
          <p:cNvSpPr txBox="1"/>
          <p:nvPr/>
        </p:nvSpPr>
        <p:spPr>
          <a:xfrm>
            <a:off x="4634695" y="1207792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1</a:t>
            </a:r>
          </a:p>
        </p:txBody>
      </p:sp>
      <p:sp>
        <p:nvSpPr>
          <p:cNvPr id="25" name="决定启动时机"/>
          <p:cNvSpPr txBox="1"/>
          <p:nvPr/>
        </p:nvSpPr>
        <p:spPr>
          <a:xfrm>
            <a:off x="6410391" y="1580154"/>
            <a:ext cx="133309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决定启动时机</a:t>
            </a:r>
          </a:p>
        </p:txBody>
      </p:sp>
      <p:sp>
        <p:nvSpPr>
          <p:cNvPr id="26" name="circle 25"/>
          <p:cNvSpPr/>
          <p:nvPr/>
        </p:nvSpPr>
        <p:spPr>
          <a:xfrm>
            <a:off x="7776405" y="1604841"/>
            <a:ext cx="296244" cy="296244"/>
          </a:xfrm>
          <a:prstGeom prst="ellipse">
            <a:avLst/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th 26"/>
          <p:cNvSpPr/>
          <p:nvPr/>
        </p:nvSpPr>
        <p:spPr>
          <a:xfrm>
            <a:off x="7924527" y="1654029"/>
            <a:ext cx="82290" cy="139893"/>
          </a:xfrm>
          <a:custGeom>
            <a:avLst/>
            <a:gdLst/>
            <a:ahLst/>
            <a:cxnLst/>
            <a:rect l="l" t="t" r="r" b="b"/>
            <a:pathLst>
              <a:path w="10" h="17">
                <a:moveTo>
                  <a:pt x="0" y="0"/>
                </a:moveTo>
                <a:lnTo>
                  <a:pt x="0" y="12"/>
                </a:lnTo>
                <a:lnTo>
                  <a:pt x="10" y="17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ircle 27"/>
          <p:cNvSpPr/>
          <p:nvPr/>
        </p:nvSpPr>
        <p:spPr>
          <a:xfrm>
            <a:off x="362076" y="2238474"/>
            <a:ext cx="460824" cy="460824"/>
          </a:xfrm>
          <a:prstGeom prst="ellipse">
            <a:avLst/>
          </a:prstGeom>
          <a:solidFill>
            <a:srgbClr val="A6CAEC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"/>
          <p:cNvSpPr txBox="1"/>
          <p:nvPr/>
        </p:nvSpPr>
        <p:spPr>
          <a:xfrm>
            <a:off x="474501" y="2300192"/>
            <a:ext cx="235973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</a:t>
            </a:r>
          </a:p>
        </p:txBody>
      </p:sp>
      <p:sp>
        <p:nvSpPr>
          <p:cNvPr id="30" name="Host"/>
          <p:cNvSpPr txBox="1"/>
          <p:nvPr/>
        </p:nvSpPr>
        <p:spPr>
          <a:xfrm>
            <a:off x="1217892" y="1822910"/>
            <a:ext cx="603289" cy="3579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9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Host</a:t>
            </a:r>
          </a:p>
        </p:txBody>
      </p:sp>
      <p:sp>
        <p:nvSpPr>
          <p:cNvPr id="31" name="rect 30"/>
          <p:cNvSpPr/>
          <p:nvPr/>
        </p:nvSpPr>
        <p:spPr>
          <a:xfrm>
            <a:off x="2131311" y="2279619"/>
            <a:ext cx="534885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 31"/>
          <p:cNvSpPr/>
          <p:nvPr/>
        </p:nvSpPr>
        <p:spPr>
          <a:xfrm>
            <a:off x="2147769" y="2296077"/>
            <a:ext cx="501969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2"/>
          <p:cNvSpPr txBox="1"/>
          <p:nvPr/>
        </p:nvSpPr>
        <p:spPr>
          <a:xfrm>
            <a:off x="2227520" y="2317472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p2</a:t>
            </a:r>
          </a:p>
        </p:txBody>
      </p:sp>
      <p:sp>
        <p:nvSpPr>
          <p:cNvPr id="34" name="rect 33"/>
          <p:cNvSpPr/>
          <p:nvPr/>
        </p:nvSpPr>
        <p:spPr>
          <a:xfrm>
            <a:off x="2839005" y="2279619"/>
            <a:ext cx="534885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 34"/>
          <p:cNvSpPr/>
          <p:nvPr/>
        </p:nvSpPr>
        <p:spPr>
          <a:xfrm>
            <a:off x="2855463" y="2296077"/>
            <a:ext cx="501969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3"/>
          <p:cNvSpPr txBox="1"/>
          <p:nvPr/>
        </p:nvSpPr>
        <p:spPr>
          <a:xfrm>
            <a:off x="2935214" y="2317472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p3</a:t>
            </a:r>
          </a:p>
        </p:txBody>
      </p:sp>
      <p:sp>
        <p:nvSpPr>
          <p:cNvPr id="37" name="path 36"/>
          <p:cNvSpPr/>
          <p:nvPr/>
        </p:nvSpPr>
        <p:spPr>
          <a:xfrm>
            <a:off x="2131311" y="2830776"/>
            <a:ext cx="1242579" cy="57603"/>
          </a:xfrm>
          <a:custGeom>
            <a:avLst/>
            <a:gdLst/>
            <a:ahLst/>
            <a:cxnLst/>
            <a:rect l="l" t="t" r="r" b="b"/>
            <a:pathLst>
              <a:path w="151" h="7">
                <a:moveTo>
                  <a:pt x="0" y="7"/>
                </a:moveTo>
                <a:lnTo>
                  <a:pt x="0" y="0"/>
                </a:lnTo>
                <a:lnTo>
                  <a:pt x="151" y="0"/>
                </a:lnTo>
                <a:lnTo>
                  <a:pt x="151" y="7"/>
                </a:lnTo>
              </a:path>
            </a:pathLst>
          </a:custGeom>
          <a:noFill/>
          <a:ln w="1316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ΔFULL"/>
          <p:cNvSpPr txBox="1"/>
          <p:nvPr/>
        </p:nvSpPr>
        <p:spPr>
          <a:xfrm>
            <a:off x="2373456" y="2979084"/>
            <a:ext cx="848808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ΔFULL</a:t>
            </a:r>
          </a:p>
        </p:txBody>
      </p:sp>
      <p:sp>
        <p:nvSpPr>
          <p:cNvPr id="39" name="polygon 38"/>
          <p:cNvSpPr/>
          <p:nvPr/>
        </p:nvSpPr>
        <p:spPr>
          <a:xfrm>
            <a:off x="3810027" y="2287662"/>
            <a:ext cx="485511" cy="362076"/>
          </a:xfrm>
          <a:custGeom>
            <a:avLst/>
            <a:gdLst/>
            <a:ahLst/>
            <a:cxnLst/>
            <a:rect l="l" t="t" r="r" b="b"/>
            <a:pathLst>
              <a:path w="59" h="44">
                <a:moveTo>
                  <a:pt x="9" y="0"/>
                </a:moveTo>
                <a:lnTo>
                  <a:pt x="50" y="0"/>
                </a:lnTo>
                <a:lnTo>
                  <a:pt x="59" y="22"/>
                </a:lnTo>
                <a:lnTo>
                  <a:pt x="50" y="44"/>
                </a:lnTo>
                <a:lnTo>
                  <a:pt x="9" y="44"/>
                </a:lnTo>
                <a:lnTo>
                  <a:pt x="0" y="22"/>
                </a:lnTo>
                <a:close/>
              </a:path>
            </a:pathLst>
          </a:custGeom>
          <a:solidFill>
            <a:srgbClr val="FFD579"/>
          </a:solidFill>
          <a:ln w="1234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"/>
          <p:cNvSpPr txBox="1"/>
          <p:nvPr/>
        </p:nvSpPr>
        <p:spPr>
          <a:xfrm>
            <a:off x="3940887" y="2298134"/>
            <a:ext cx="225847" cy="329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3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S</a:t>
            </a:r>
          </a:p>
        </p:txBody>
      </p:sp>
      <p:sp>
        <p:nvSpPr>
          <p:cNvPr id="41" name="rect 40"/>
          <p:cNvSpPr/>
          <p:nvPr/>
        </p:nvSpPr>
        <p:spPr>
          <a:xfrm>
            <a:off x="3896432" y="2331050"/>
            <a:ext cx="314759" cy="30859"/>
          </a:xfrm>
          <a:prstGeom prst="roundRect">
            <a:avLst>
              <a:gd name="adj" fmla="val 26666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"/>
          <p:cNvSpPr txBox="1"/>
          <p:nvPr/>
        </p:nvSpPr>
        <p:spPr>
          <a:xfrm>
            <a:off x="3838411" y="2970855"/>
            <a:ext cx="188431" cy="290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s</a:t>
            </a:r>
          </a:p>
        </p:txBody>
      </p:sp>
      <p:sp>
        <p:nvSpPr>
          <p:cNvPr id="43" name="("/>
          <p:cNvSpPr txBox="1"/>
          <p:nvPr/>
        </p:nvSpPr>
        <p:spPr>
          <a:xfrm>
            <a:off x="3928094" y="2970855"/>
            <a:ext cx="175477" cy="290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(</a:t>
            </a:r>
          </a:p>
        </p:txBody>
      </p:sp>
      <p:sp>
        <p:nvSpPr>
          <p:cNvPr id="44" name="c"/>
          <p:cNvSpPr txBox="1"/>
          <p:nvPr/>
        </p:nvSpPr>
        <p:spPr>
          <a:xfrm>
            <a:off x="4004823" y="2970855"/>
            <a:ext cx="201032" cy="290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c</a:t>
            </a:r>
          </a:p>
        </p:txBody>
      </p:sp>
      <p:sp>
        <p:nvSpPr>
          <p:cNvPr id="45" name="*"/>
          <p:cNvSpPr txBox="1"/>
          <p:nvPr/>
        </p:nvSpPr>
        <p:spPr>
          <a:xfrm>
            <a:off x="4115336" y="2920987"/>
            <a:ext cx="173838" cy="201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9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*</a:t>
            </a:r>
          </a:p>
        </p:txBody>
      </p:sp>
      <p:sp>
        <p:nvSpPr>
          <p:cNvPr id="46" name=")"/>
          <p:cNvSpPr txBox="1"/>
          <p:nvPr/>
        </p:nvSpPr>
        <p:spPr>
          <a:xfrm>
            <a:off x="4198654" y="2970855"/>
            <a:ext cx="175477" cy="290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)</a:t>
            </a:r>
          </a:p>
        </p:txBody>
      </p:sp>
      <p:sp>
        <p:nvSpPr>
          <p:cNvPr id="47" name="必要时"/>
          <p:cNvSpPr txBox="1"/>
          <p:nvPr/>
        </p:nvSpPr>
        <p:spPr>
          <a:xfrm>
            <a:off x="3703050" y="1927829"/>
            <a:ext cx="641862" cy="2983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必要时</a:t>
            </a:r>
          </a:p>
        </p:txBody>
      </p:sp>
      <p:sp>
        <p:nvSpPr>
          <p:cNvPr id="48" name="path 47"/>
          <p:cNvSpPr/>
          <p:nvPr/>
        </p:nvSpPr>
        <p:spPr>
          <a:xfrm>
            <a:off x="3373890" y="2468700"/>
            <a:ext cx="1152060" cy="362076"/>
          </a:xfrm>
          <a:custGeom>
            <a:avLst/>
            <a:gdLst/>
            <a:ahLst/>
            <a:cxnLst/>
            <a:rect l="l" t="t" r="r" b="b"/>
            <a:pathLst>
              <a:path w="140" h="44">
                <a:moveTo>
                  <a:pt x="0" y="44"/>
                </a:moveTo>
                <a:lnTo>
                  <a:pt x="140" y="44"/>
                </a:lnTo>
                <a:lnTo>
                  <a:pt x="140" y="0"/>
                </a:lnTo>
              </a:path>
            </a:pathLst>
          </a:custGeom>
          <a:noFill/>
          <a:ln w="41148">
            <a:solidFill>
              <a:srgbClr val="3550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path 48"/>
          <p:cNvCxnSpPr/>
          <p:nvPr/>
        </p:nvCxnSpPr>
        <p:spPr>
          <a:xfrm>
            <a:off x="4361370" y="2468886"/>
            <a:ext cx="1160289" cy="0"/>
          </a:xfrm>
          <a:prstGeom prst="line">
            <a:avLst/>
          </a:prstGeom>
          <a:ln w="8641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path 49"/>
          <p:cNvCxnSpPr/>
          <p:nvPr/>
        </p:nvCxnSpPr>
        <p:spPr>
          <a:xfrm>
            <a:off x="4361370" y="2468886"/>
            <a:ext cx="1160289" cy="0"/>
          </a:xfrm>
          <a:prstGeom prst="line">
            <a:avLst/>
          </a:prstGeom>
          <a:ln w="69951">
            <a:solidFill>
              <a:srgbClr val="3550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rrowhead 50"/>
          <p:cNvSpPr/>
          <p:nvPr/>
        </p:nvSpPr>
        <p:spPr>
          <a:xfrm>
            <a:off x="5258331" y="2337036"/>
            <a:ext cx="263328" cy="263328"/>
          </a:xfrm>
          <a:custGeom>
            <a:avLst/>
            <a:gdLst/>
            <a:ahLst/>
            <a:cxnLst/>
            <a:rect l="l" t="t" r="r" b="b"/>
            <a:pathLst>
              <a:path w="32" h="32">
                <a:moveTo>
                  <a:pt x="32" y="16"/>
                </a:move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355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olygon 51"/>
          <p:cNvSpPr/>
          <p:nvPr/>
        </p:nvSpPr>
        <p:spPr>
          <a:xfrm>
            <a:off x="5587491" y="2304120"/>
            <a:ext cx="3225768" cy="329160"/>
          </a:xfrm>
          <a:custGeom>
            <a:avLst/>
            <a:gdLst/>
            <a:ahLst/>
            <a:cxnLst/>
            <a:rect l="l" t="t" r="r" b="b"/>
            <a:pathLst>
              <a:path w="392" h="40">
                <a:moveTo>
                  <a:pt x="0" y="0"/>
                </a:moveTo>
                <a:lnTo>
                  <a:pt x="375" y="0"/>
                </a:lnTo>
                <a:lnTo>
                  <a:pt x="392" y="20"/>
                </a:lnTo>
                <a:lnTo>
                  <a:pt x="375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2AA84"/>
          </a:solidFill>
          <a:ln w="9875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2D"/>
          <p:cNvSpPr txBox="1"/>
          <p:nvPr/>
        </p:nvSpPr>
        <p:spPr>
          <a:xfrm>
            <a:off x="7316786" y="2275504"/>
            <a:ext cx="573619" cy="3682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H2D</a:t>
            </a:r>
          </a:p>
        </p:txBody>
      </p:sp>
      <p:sp>
        <p:nvSpPr>
          <p:cNvPr id="54" name="circle 53"/>
          <p:cNvSpPr/>
          <p:nvPr/>
        </p:nvSpPr>
        <p:spPr>
          <a:xfrm>
            <a:off x="6632574" y="2312535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3"/>
          <p:cNvSpPr txBox="1"/>
          <p:nvPr/>
        </p:nvSpPr>
        <p:spPr>
          <a:xfrm>
            <a:off x="6683716" y="2310478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3</a:t>
            </a:r>
          </a:p>
        </p:txBody>
      </p:sp>
      <p:sp>
        <p:nvSpPr>
          <p:cNvPr id="56" name="HBM"/>
          <p:cNvSpPr txBox="1"/>
          <p:nvPr/>
        </p:nvSpPr>
        <p:spPr>
          <a:xfrm>
            <a:off x="9142419" y="1822910"/>
            <a:ext cx="607757" cy="3579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9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HBM</a:t>
            </a:r>
          </a:p>
        </p:txBody>
      </p:sp>
      <p:sp>
        <p:nvSpPr>
          <p:cNvPr id="57" name="rect 56"/>
          <p:cNvSpPr/>
          <p:nvPr/>
        </p:nvSpPr>
        <p:spPr>
          <a:xfrm>
            <a:off x="9150648" y="2287848"/>
            <a:ext cx="460824" cy="370305"/>
          </a:xfrm>
          <a:prstGeom prst="roundRect">
            <a:avLst>
              <a:gd name="adj" fmla="val 4444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 57"/>
          <p:cNvSpPr/>
          <p:nvPr/>
        </p:nvSpPr>
        <p:spPr>
          <a:xfrm>
            <a:off x="9167106" y="2304306"/>
            <a:ext cx="427908" cy="41145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0"/>
          <p:cNvSpPr txBox="1"/>
          <p:nvPr/>
        </p:nvSpPr>
        <p:spPr>
          <a:xfrm>
            <a:off x="9214905" y="2328582"/>
            <a:ext cx="332310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p0</a:t>
            </a:r>
          </a:p>
        </p:txBody>
      </p:sp>
      <p:sp>
        <p:nvSpPr>
          <p:cNvPr id="60" name="rect 59"/>
          <p:cNvSpPr/>
          <p:nvPr/>
        </p:nvSpPr>
        <p:spPr>
          <a:xfrm>
            <a:off x="9743136" y="2287848"/>
            <a:ext cx="460824" cy="370305"/>
          </a:xfrm>
          <a:prstGeom prst="roundRect">
            <a:avLst>
              <a:gd name="adj" fmla="val 4444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 60"/>
          <p:cNvSpPr/>
          <p:nvPr/>
        </p:nvSpPr>
        <p:spPr>
          <a:xfrm>
            <a:off x="9759594" y="2304306"/>
            <a:ext cx="427908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1"/>
          <p:cNvSpPr txBox="1"/>
          <p:nvPr/>
        </p:nvSpPr>
        <p:spPr>
          <a:xfrm>
            <a:off x="9807393" y="2328582"/>
            <a:ext cx="332310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p1</a:t>
            </a:r>
          </a:p>
        </p:txBody>
      </p:sp>
      <p:sp>
        <p:nvSpPr>
          <p:cNvPr id="63" name="rect 62"/>
          <p:cNvSpPr/>
          <p:nvPr/>
        </p:nvSpPr>
        <p:spPr>
          <a:xfrm>
            <a:off x="10335624" y="2287848"/>
            <a:ext cx="460824" cy="370305"/>
          </a:xfrm>
          <a:prstGeom prst="roundRect">
            <a:avLst>
              <a:gd name="adj" fmla="val 4444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 63"/>
          <p:cNvSpPr/>
          <p:nvPr/>
        </p:nvSpPr>
        <p:spPr>
          <a:xfrm>
            <a:off x="10352082" y="2304306"/>
            <a:ext cx="427908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2"/>
          <p:cNvSpPr txBox="1"/>
          <p:nvPr/>
        </p:nvSpPr>
        <p:spPr>
          <a:xfrm>
            <a:off x="10399881" y="2328582"/>
            <a:ext cx="332310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p2</a:t>
            </a:r>
          </a:p>
        </p:txBody>
      </p:sp>
      <p:sp>
        <p:nvSpPr>
          <p:cNvPr id="66" name="rect 65"/>
          <p:cNvSpPr/>
          <p:nvPr/>
        </p:nvSpPr>
        <p:spPr>
          <a:xfrm>
            <a:off x="10928112" y="2287848"/>
            <a:ext cx="460824" cy="370305"/>
          </a:xfrm>
          <a:prstGeom prst="roundRect">
            <a:avLst>
              <a:gd name="adj" fmla="val 4444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 66"/>
          <p:cNvSpPr/>
          <p:nvPr/>
        </p:nvSpPr>
        <p:spPr>
          <a:xfrm>
            <a:off x="10944570" y="2304306"/>
            <a:ext cx="427908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3"/>
          <p:cNvSpPr txBox="1"/>
          <p:nvPr/>
        </p:nvSpPr>
        <p:spPr>
          <a:xfrm>
            <a:off x="10992369" y="2328582"/>
            <a:ext cx="332310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p3</a:t>
            </a:r>
          </a:p>
        </p:txBody>
      </p:sp>
      <p:sp>
        <p:nvSpPr>
          <p:cNvPr id="69" name="rect 68"/>
          <p:cNvSpPr/>
          <p:nvPr/>
        </p:nvSpPr>
        <p:spPr>
          <a:xfrm>
            <a:off x="11520600" y="2287848"/>
            <a:ext cx="460824" cy="370305"/>
          </a:xfrm>
          <a:prstGeom prst="roundRect">
            <a:avLst>
              <a:gd name="adj" fmla="val 4444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 69"/>
          <p:cNvSpPr/>
          <p:nvPr/>
        </p:nvSpPr>
        <p:spPr>
          <a:xfrm>
            <a:off x="11537058" y="2304306"/>
            <a:ext cx="427908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4"/>
          <p:cNvSpPr txBox="1"/>
          <p:nvPr/>
        </p:nvSpPr>
        <p:spPr>
          <a:xfrm>
            <a:off x="11584857" y="2328582"/>
            <a:ext cx="332310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p4</a:t>
            </a:r>
          </a:p>
        </p:txBody>
      </p:sp>
      <p:sp>
        <p:nvSpPr>
          <p:cNvPr id="72" name="rect 71"/>
          <p:cNvSpPr/>
          <p:nvPr/>
        </p:nvSpPr>
        <p:spPr>
          <a:xfrm>
            <a:off x="12113088" y="2287848"/>
            <a:ext cx="460824" cy="370305"/>
          </a:xfrm>
          <a:prstGeom prst="roundRect">
            <a:avLst>
              <a:gd name="adj" fmla="val 4444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 72"/>
          <p:cNvSpPr/>
          <p:nvPr/>
        </p:nvSpPr>
        <p:spPr>
          <a:xfrm>
            <a:off x="12129546" y="2304306"/>
            <a:ext cx="427908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p5"/>
          <p:cNvSpPr txBox="1"/>
          <p:nvPr/>
        </p:nvSpPr>
        <p:spPr>
          <a:xfrm>
            <a:off x="12177345" y="2328582"/>
            <a:ext cx="332310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p5</a:t>
            </a:r>
          </a:p>
        </p:txBody>
      </p:sp>
      <p:sp>
        <p:nvSpPr>
          <p:cNvPr id="75" name="path 74"/>
          <p:cNvSpPr/>
          <p:nvPr/>
        </p:nvSpPr>
        <p:spPr>
          <a:xfrm>
            <a:off x="10335624" y="2197143"/>
            <a:ext cx="1053312" cy="57603"/>
          </a:xfrm>
          <a:custGeom>
            <a:avLst/>
            <a:gdLst/>
            <a:ahLst/>
            <a:cxnLst/>
            <a:rect l="l" t="t" r="r" b="b"/>
            <a:pathLst>
              <a:path w="128" h="7">
                <a:moveTo>
                  <a:pt x="0" y="7"/>
                </a:moveTo>
                <a:lnTo>
                  <a:pt x="0" y="0"/>
                </a:lnTo>
                <a:lnTo>
                  <a:pt x="128" y="0"/>
                </a:lnTo>
                <a:lnTo>
                  <a:pt x="128" y="7"/>
                </a:lnTo>
              </a:path>
            </a:pathLst>
          </a:custGeom>
          <a:noFill/>
          <a:ln w="1316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olygon 75"/>
          <p:cNvSpPr/>
          <p:nvPr/>
        </p:nvSpPr>
        <p:spPr>
          <a:xfrm>
            <a:off x="11882676" y="1900899"/>
            <a:ext cx="386763" cy="288015"/>
          </a:xfrm>
          <a:custGeom>
            <a:avLst/>
            <a:gdLst/>
            <a:ahLst/>
            <a:cxnLst/>
            <a:rect l="l" t="t" r="r" b="b"/>
            <a:pathLst>
              <a:path w="47" h="35">
                <a:moveTo>
                  <a:pt x="7" y="0"/>
                </a:moveTo>
                <a:lnTo>
                  <a:pt x="40" y="0"/>
                </a:lnTo>
                <a:lnTo>
                  <a:pt x="47" y="18"/>
                </a:lnTo>
                <a:lnTo>
                  <a:pt x="40" y="35"/>
                </a:lnTo>
                <a:lnTo>
                  <a:pt x="7" y="35"/>
                </a:lnTo>
                <a:lnTo>
                  <a:pt x="0" y="18"/>
                </a:lnTo>
                <a:close/>
              </a:path>
            </a:pathLst>
          </a:custGeom>
          <a:solidFill>
            <a:srgbClr val="D7AEFF"/>
          </a:solidFill>
          <a:ln w="1234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"/>
          <p:cNvSpPr txBox="1"/>
          <p:nvPr/>
        </p:nvSpPr>
        <p:spPr>
          <a:xfrm>
            <a:off x="11977621" y="1909314"/>
            <a:ext cx="200164" cy="269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3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S</a:t>
            </a:r>
          </a:p>
        </p:txBody>
      </p:sp>
      <p:sp>
        <p:nvSpPr>
          <p:cNvPr id="78" name="rect 77"/>
          <p:cNvSpPr/>
          <p:nvPr/>
        </p:nvSpPr>
        <p:spPr>
          <a:xfrm>
            <a:off x="11951800" y="1935647"/>
            <a:ext cx="251807" cy="24687"/>
          </a:xfrm>
          <a:prstGeom prst="roundRect">
            <a:avLst>
              <a:gd name="adj" fmla="val 33333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"/>
          <p:cNvSpPr txBox="1"/>
          <p:nvPr/>
        </p:nvSpPr>
        <p:spPr>
          <a:xfrm>
            <a:off x="12572899" y="1909314"/>
            <a:ext cx="204664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c</a:t>
            </a:r>
          </a:p>
        </p:txBody>
      </p:sp>
      <p:sp>
        <p:nvSpPr>
          <p:cNvPr id="80" name="*"/>
          <p:cNvSpPr txBox="1"/>
          <p:nvPr/>
        </p:nvSpPr>
        <p:spPr>
          <a:xfrm>
            <a:off x="12687045" y="1861339"/>
            <a:ext cx="175895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*</a:t>
            </a:r>
          </a:p>
        </p:txBody>
      </p:sp>
      <p:sp>
        <p:nvSpPr>
          <p:cNvPr id="81" name="path 80"/>
          <p:cNvSpPr/>
          <p:nvPr/>
        </p:nvSpPr>
        <p:spPr>
          <a:xfrm>
            <a:off x="11306646" y="2707341"/>
            <a:ext cx="74061" cy="57603"/>
          </a:xfrm>
          <a:custGeom>
            <a:avLst/>
            <a:gdLst/>
            <a:ahLst/>
            <a:cxnLst/>
            <a:rect l="l" t="t" r="r" b="b"/>
            <a:pathLst>
              <a:path w="9" h="7">
                <a:moveTo>
                  <a:pt x="0" y="7"/>
                </a:moveTo>
                <a:lnTo>
                  <a:pt x="0" y="0"/>
                </a:lnTo>
                <a:lnTo>
                  <a:pt x="9" y="0"/>
                </a:lnTo>
                <a:lnTo>
                  <a:pt x="9" y="7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 81"/>
          <p:cNvSpPr/>
          <p:nvPr/>
        </p:nvSpPr>
        <p:spPr>
          <a:xfrm>
            <a:off x="11281959" y="2768833"/>
            <a:ext cx="128372" cy="106977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ircle 82"/>
          <p:cNvSpPr/>
          <p:nvPr/>
        </p:nvSpPr>
        <p:spPr>
          <a:xfrm>
            <a:off x="11335448" y="2800926"/>
            <a:ext cx="21395" cy="21395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有界驻留"/>
          <p:cNvSpPr txBox="1"/>
          <p:nvPr/>
        </p:nvSpPr>
        <p:spPr>
          <a:xfrm>
            <a:off x="11602890" y="2668439"/>
            <a:ext cx="822900" cy="2983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有界驻留</a:t>
            </a:r>
          </a:p>
        </p:txBody>
      </p:sp>
      <p:sp>
        <p:nvSpPr>
          <p:cNvPr id="85" name="circle 84"/>
          <p:cNvSpPr/>
          <p:nvPr/>
        </p:nvSpPr>
        <p:spPr>
          <a:xfrm>
            <a:off x="411450" y="3612717"/>
            <a:ext cx="378534" cy="378534"/>
          </a:xfrm>
          <a:prstGeom prst="ellipse">
            <a:avLst/>
          </a:prstGeom>
          <a:solidFill>
            <a:srgbClr val="84E291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2"/>
          <p:cNvSpPr txBox="1"/>
          <p:nvPr/>
        </p:nvSpPr>
        <p:spPr>
          <a:xfrm>
            <a:off x="438676" y="3649748"/>
            <a:ext cx="324081" cy="2859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D2</a:t>
            </a:r>
          </a:p>
        </p:txBody>
      </p:sp>
      <p:sp>
        <p:nvSpPr>
          <p:cNvPr id="87" name="rect 86"/>
          <p:cNvSpPr/>
          <p:nvPr/>
        </p:nvSpPr>
        <p:spPr>
          <a:xfrm>
            <a:off x="1168518" y="3629175"/>
            <a:ext cx="403221" cy="329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 87"/>
          <p:cNvSpPr/>
          <p:nvPr/>
        </p:nvSpPr>
        <p:spPr>
          <a:xfrm>
            <a:off x="1670487" y="3629175"/>
            <a:ext cx="403221" cy="329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 88"/>
          <p:cNvSpPr/>
          <p:nvPr/>
        </p:nvSpPr>
        <p:spPr>
          <a:xfrm>
            <a:off x="2172456" y="3629175"/>
            <a:ext cx="403221" cy="329160"/>
          </a:xfrm>
          <a:prstGeom prst="roundRect">
            <a:avLst>
              <a:gd name="adj" fmla="val 2500"/>
            </a:avLst>
          </a:prstGeom>
          <a:solidFill>
            <a:srgbClr val="84E291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 89"/>
          <p:cNvSpPr/>
          <p:nvPr/>
        </p:nvSpPr>
        <p:spPr>
          <a:xfrm>
            <a:off x="2674425" y="3629175"/>
            <a:ext cx="403221" cy="329160"/>
          </a:xfrm>
          <a:prstGeom prst="roundRect">
            <a:avLst>
              <a:gd name="adj" fmla="val 2500"/>
            </a:avLst>
          </a:prstGeom>
          <a:solidFill>
            <a:srgbClr val="D9D9D9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path 90"/>
          <p:cNvSpPr/>
          <p:nvPr/>
        </p:nvSpPr>
        <p:spPr>
          <a:xfrm>
            <a:off x="2732028" y="3406806"/>
            <a:ext cx="65832" cy="57603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7"/>
                </a:moveTo>
                <a:lnTo>
                  <a:pt x="0" y="0"/>
                </a:lnTo>
                <a:lnTo>
                  <a:pt x="8" y="0"/>
                </a:lnTo>
                <a:lnTo>
                  <a:pt x="8" y="7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 91"/>
          <p:cNvSpPr/>
          <p:nvPr/>
        </p:nvSpPr>
        <p:spPr>
          <a:xfrm>
            <a:off x="2707341" y="3462949"/>
            <a:ext cx="118498" cy="9874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ircle 92"/>
          <p:cNvSpPr/>
          <p:nvPr/>
        </p:nvSpPr>
        <p:spPr>
          <a:xfrm>
            <a:off x="2756715" y="3492574"/>
            <a:ext cx="19750" cy="1975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空闲 / 可回收 / 增长预留"/>
          <p:cNvSpPr txBox="1"/>
          <p:nvPr/>
        </p:nvSpPr>
        <p:spPr>
          <a:xfrm>
            <a:off x="1217892" y="4122915"/>
            <a:ext cx="2207944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空闲 / 可回收 / 增长预留</a:t>
            </a:r>
          </a:p>
        </p:txBody>
      </p:sp>
      <p:sp>
        <p:nvSpPr>
          <p:cNvPr id="95" name="curve 94"/>
          <p:cNvSpPr/>
          <p:nvPr/>
        </p:nvSpPr>
        <p:spPr>
          <a:xfrm>
            <a:off x="3225768" y="2666196"/>
            <a:ext cx="2468700" cy="1119144"/>
          </a:xfrm>
          <a:custGeom>
            <a:avLst/>
            <a:gdLst/>
            <a:ahLst/>
            <a:cxnLst/>
            <a:rect l="l" t="t" r="r" b="b"/>
            <a:pathLst>
              <a:path w="300" h="136">
                <a:moveTo>
                  <a:pt x="0" y="136"/>
                </a:moveTo>
                <a:lnTo>
                  <a:pt x="190" y="136"/>
                </a:lnTo>
                <a:cubicBezTo>
                  <a:pt x="200" y="136"/>
                  <a:pt x="208" y="128"/>
                  <a:pt x="208" y="118"/>
                </a:cubicBezTo>
                <a:lnTo>
                  <a:pt x="208" y="34"/>
                </a:lnTo>
                <a:cubicBezTo>
                  <a:pt x="208" y="24"/>
                  <a:pt x="216" y="16"/>
                  <a:pt x="226" y="16"/>
                </a:cubicBezTo>
                <a:lnTo>
                  <a:pt x="295" y="16"/>
                </a:lnTo>
                <a:cubicBezTo>
                  <a:pt x="298" y="16"/>
                  <a:pt x="300" y="14"/>
                  <a:pt x="300" y="11"/>
                </a:cubicBezTo>
                <a:lnTo>
                  <a:pt x="300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urve 95"/>
          <p:cNvSpPr/>
          <p:nvPr/>
        </p:nvSpPr>
        <p:spPr>
          <a:xfrm>
            <a:off x="3225768" y="2666196"/>
            <a:ext cx="2468700" cy="1119144"/>
          </a:xfrm>
          <a:custGeom>
            <a:avLst/>
            <a:gdLst/>
            <a:ahLst/>
            <a:cxnLst/>
            <a:rect l="l" t="t" r="r" b="b"/>
            <a:pathLst>
              <a:path w="300" h="136">
                <a:moveTo>
                  <a:pt x="0" y="136"/>
                </a:moveTo>
                <a:lnTo>
                  <a:pt x="190" y="136"/>
                </a:lnTo>
                <a:cubicBezTo>
                  <a:pt x="200" y="136"/>
                  <a:pt x="208" y="128"/>
                  <a:pt x="208" y="118"/>
                </a:cubicBezTo>
                <a:lnTo>
                  <a:pt x="208" y="34"/>
                </a:lnTo>
                <a:cubicBezTo>
                  <a:pt x="208" y="24"/>
                  <a:pt x="216" y="16"/>
                  <a:pt x="226" y="16"/>
                </a:cubicBezTo>
                <a:lnTo>
                  <a:pt x="295" y="16"/>
                </a:lnTo>
                <a:cubicBezTo>
                  <a:pt x="298" y="16"/>
                  <a:pt x="300" y="14"/>
                  <a:pt x="300" y="11"/>
                </a:cubicBezTo>
                <a:lnTo>
                  <a:pt x="300" y="0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rrowhead 96"/>
          <p:cNvSpPr/>
          <p:nvPr/>
        </p:nvSpPr>
        <p:spPr>
          <a:xfrm>
            <a:off x="5645094" y="2666196"/>
            <a:ext cx="98748" cy="98748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12" y="12"/>
                </a:lnTo>
                <a:lnTo>
                  <a:pt x="6" y="9"/>
                </a:lnTo>
                <a:lnTo>
                  <a:pt x="0" y="12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ircle 97"/>
          <p:cNvSpPr/>
          <p:nvPr/>
        </p:nvSpPr>
        <p:spPr>
          <a:xfrm>
            <a:off x="4781049" y="3176580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2"/>
          <p:cNvSpPr txBox="1"/>
          <p:nvPr/>
        </p:nvSpPr>
        <p:spPr>
          <a:xfrm>
            <a:off x="4832191" y="3174523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2</a:t>
            </a:r>
          </a:p>
        </p:txBody>
      </p:sp>
      <p:sp>
        <p:nvSpPr>
          <p:cNvPr id="100" name="按容量预算选择"/>
          <p:cNvSpPr txBox="1"/>
          <p:nvPr/>
        </p:nvSpPr>
        <p:spPr>
          <a:xfrm>
            <a:off x="5603949" y="3456366"/>
            <a:ext cx="1538823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按容量预算选择</a:t>
            </a:r>
          </a:p>
        </p:txBody>
      </p:sp>
      <p:sp>
        <p:nvSpPr>
          <p:cNvPr id="101" name="原生队列"/>
          <p:cNvSpPr txBox="1"/>
          <p:nvPr/>
        </p:nvSpPr>
        <p:spPr>
          <a:xfrm>
            <a:off x="9142419" y="3168351"/>
            <a:ext cx="92164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原生队列</a:t>
            </a:r>
          </a:p>
        </p:txBody>
      </p:sp>
      <p:sp>
        <p:nvSpPr>
          <p:cNvPr id="102" name="rect 101"/>
          <p:cNvSpPr/>
          <p:nvPr/>
        </p:nvSpPr>
        <p:spPr>
          <a:xfrm>
            <a:off x="9150648" y="3513969"/>
            <a:ext cx="1785693" cy="2633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 102"/>
          <p:cNvSpPr/>
          <p:nvPr/>
        </p:nvSpPr>
        <p:spPr>
          <a:xfrm>
            <a:off x="9158877" y="3522198"/>
            <a:ext cx="82290" cy="246870"/>
          </a:xfrm>
          <a:prstGeom prst="rect">
            <a:avLst/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P"/>
          <p:cNvSpPr txBox="1"/>
          <p:nvPr/>
        </p:nvSpPr>
        <p:spPr>
          <a:xfrm>
            <a:off x="9444128" y="3515697"/>
            <a:ext cx="203025" cy="2612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</a:t>
            </a:r>
          </a:p>
        </p:txBody>
      </p:sp>
      <p:sp>
        <p:nvSpPr>
          <p:cNvPr id="105" name="rect 104"/>
          <p:cNvSpPr/>
          <p:nvPr/>
        </p:nvSpPr>
        <p:spPr>
          <a:xfrm>
            <a:off x="10319166" y="3555114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 105"/>
          <p:cNvSpPr/>
          <p:nvPr/>
        </p:nvSpPr>
        <p:spPr>
          <a:xfrm>
            <a:off x="10335624" y="3571572"/>
            <a:ext cx="90519" cy="27156"/>
          </a:xfrm>
          <a:prstGeom prst="roundRect">
            <a:avLst>
              <a:gd name="adj" fmla="val 30303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 106"/>
          <p:cNvSpPr/>
          <p:nvPr/>
        </p:nvSpPr>
        <p:spPr>
          <a:xfrm>
            <a:off x="10483746" y="3555114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 107"/>
          <p:cNvSpPr/>
          <p:nvPr/>
        </p:nvSpPr>
        <p:spPr>
          <a:xfrm>
            <a:off x="10500204" y="3571572"/>
            <a:ext cx="90519" cy="27156"/>
          </a:xfrm>
          <a:prstGeom prst="roundRect">
            <a:avLst>
              <a:gd name="adj" fmla="val 30303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 108"/>
          <p:cNvSpPr/>
          <p:nvPr/>
        </p:nvSpPr>
        <p:spPr>
          <a:xfrm>
            <a:off x="10648326" y="3555114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 109"/>
          <p:cNvSpPr/>
          <p:nvPr/>
        </p:nvSpPr>
        <p:spPr>
          <a:xfrm>
            <a:off x="10664784" y="3571572"/>
            <a:ext cx="90519" cy="27156"/>
          </a:xfrm>
          <a:prstGeom prst="roundRect">
            <a:avLst>
              <a:gd name="adj" fmla="val 30303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 110"/>
          <p:cNvSpPr/>
          <p:nvPr/>
        </p:nvSpPr>
        <p:spPr>
          <a:xfrm>
            <a:off x="9150648" y="3876045"/>
            <a:ext cx="1785693" cy="2633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 111"/>
          <p:cNvSpPr/>
          <p:nvPr/>
        </p:nvSpPr>
        <p:spPr>
          <a:xfrm>
            <a:off x="9158877" y="3884274"/>
            <a:ext cx="82290" cy="246870"/>
          </a:xfrm>
          <a:prstGeom prst="rect">
            <a:avLst/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hit"/>
          <p:cNvSpPr txBox="1"/>
          <p:nvPr/>
        </p:nvSpPr>
        <p:spPr>
          <a:xfrm>
            <a:off x="9389546" y="3877773"/>
            <a:ext cx="312188" cy="2612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hit</a:t>
            </a:r>
          </a:p>
        </p:txBody>
      </p:sp>
      <p:sp>
        <p:nvSpPr>
          <p:cNvPr id="114" name="rect 113"/>
          <p:cNvSpPr/>
          <p:nvPr/>
        </p:nvSpPr>
        <p:spPr>
          <a:xfrm>
            <a:off x="10319166" y="3917190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 114"/>
          <p:cNvSpPr/>
          <p:nvPr/>
        </p:nvSpPr>
        <p:spPr>
          <a:xfrm>
            <a:off x="10335624" y="3933648"/>
            <a:ext cx="90519" cy="27156"/>
          </a:xfrm>
          <a:prstGeom prst="roundRect">
            <a:avLst>
              <a:gd name="adj" fmla="val 30303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 115"/>
          <p:cNvSpPr/>
          <p:nvPr/>
        </p:nvSpPr>
        <p:spPr>
          <a:xfrm>
            <a:off x="10483746" y="3917190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 116"/>
          <p:cNvSpPr/>
          <p:nvPr/>
        </p:nvSpPr>
        <p:spPr>
          <a:xfrm>
            <a:off x="10500204" y="3933648"/>
            <a:ext cx="90519" cy="27156"/>
          </a:xfrm>
          <a:prstGeom prst="roundRect">
            <a:avLst>
              <a:gd name="adj" fmla="val 30303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 117"/>
          <p:cNvSpPr/>
          <p:nvPr/>
        </p:nvSpPr>
        <p:spPr>
          <a:xfrm>
            <a:off x="10648326" y="3917190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 118"/>
          <p:cNvSpPr/>
          <p:nvPr/>
        </p:nvSpPr>
        <p:spPr>
          <a:xfrm>
            <a:off x="10664784" y="3933648"/>
            <a:ext cx="90519" cy="27156"/>
          </a:xfrm>
          <a:prstGeom prst="roundRect">
            <a:avLst>
              <a:gd name="adj" fmla="val 30303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 119"/>
          <p:cNvSpPr/>
          <p:nvPr/>
        </p:nvSpPr>
        <p:spPr>
          <a:xfrm>
            <a:off x="9150648" y="4238121"/>
            <a:ext cx="1785693" cy="2633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 120"/>
          <p:cNvSpPr/>
          <p:nvPr/>
        </p:nvSpPr>
        <p:spPr>
          <a:xfrm>
            <a:off x="9158877" y="4246350"/>
            <a:ext cx="82290" cy="24687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ld"/>
          <p:cNvSpPr txBox="1"/>
          <p:nvPr/>
        </p:nvSpPr>
        <p:spPr>
          <a:xfrm>
            <a:off x="9372365" y="4239849"/>
            <a:ext cx="346550" cy="2612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old</a:t>
            </a:r>
          </a:p>
        </p:txBody>
      </p:sp>
      <p:sp>
        <p:nvSpPr>
          <p:cNvPr id="123" name="rect 122"/>
          <p:cNvSpPr/>
          <p:nvPr/>
        </p:nvSpPr>
        <p:spPr>
          <a:xfrm>
            <a:off x="10319166" y="4279266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167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 123"/>
          <p:cNvSpPr/>
          <p:nvPr/>
        </p:nvSpPr>
        <p:spPr>
          <a:xfrm>
            <a:off x="10335624" y="4295724"/>
            <a:ext cx="90519" cy="27156"/>
          </a:xfrm>
          <a:prstGeom prst="roundRect">
            <a:avLst>
              <a:gd name="adj" fmla="val 30303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 124"/>
          <p:cNvSpPr/>
          <p:nvPr/>
        </p:nvSpPr>
        <p:spPr>
          <a:xfrm>
            <a:off x="10483746" y="4279266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167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 125"/>
          <p:cNvSpPr/>
          <p:nvPr/>
        </p:nvSpPr>
        <p:spPr>
          <a:xfrm>
            <a:off x="10500204" y="4295724"/>
            <a:ext cx="90519" cy="27156"/>
          </a:xfrm>
          <a:prstGeom prst="roundRect">
            <a:avLst>
              <a:gd name="adj" fmla="val 30303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 126"/>
          <p:cNvSpPr/>
          <p:nvPr/>
        </p:nvSpPr>
        <p:spPr>
          <a:xfrm>
            <a:off x="10648326" y="4279266"/>
            <a:ext cx="123435" cy="18103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167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 127"/>
          <p:cNvSpPr/>
          <p:nvPr/>
        </p:nvSpPr>
        <p:spPr>
          <a:xfrm>
            <a:off x="10664784" y="4295724"/>
            <a:ext cx="90519" cy="27156"/>
          </a:xfrm>
          <a:prstGeom prst="roundRect">
            <a:avLst>
              <a:gd name="adj" fmla="val 30303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curve 128"/>
          <p:cNvSpPr/>
          <p:nvPr/>
        </p:nvSpPr>
        <p:spPr>
          <a:xfrm>
            <a:off x="8475870" y="3645447"/>
            <a:ext cx="641862" cy="724152"/>
          </a:xfrm>
          <a:custGeom>
            <a:avLst/>
            <a:gdLst/>
            <a:ahLst/>
            <a:cxnLst/>
            <a:rect l="l" t="t" r="r" b="b"/>
            <a:pathLst>
              <a:path w="78" h="88">
                <a:moveTo>
                  <a:pt x="0" y="88"/>
                </a:moveTo>
                <a:lnTo>
                  <a:pt x="27" y="88"/>
                </a:lnTo>
                <a:cubicBezTo>
                  <a:pt x="34" y="88"/>
                  <a:pt x="40" y="82"/>
                  <a:pt x="40" y="75"/>
                </a:cubicBezTo>
                <a:lnTo>
                  <a:pt x="40" y="13"/>
                </a:lnTo>
                <a:cubicBezTo>
                  <a:pt x="40" y="6"/>
                  <a:pt x="46" y="0"/>
                  <a:pt x="53" y="0"/>
                </a:cubicBezTo>
                <a:lnTo>
                  <a:pt x="78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curve 129"/>
          <p:cNvSpPr/>
          <p:nvPr/>
        </p:nvSpPr>
        <p:spPr>
          <a:xfrm>
            <a:off x="8475870" y="3645447"/>
            <a:ext cx="641862" cy="724152"/>
          </a:xfrm>
          <a:custGeom>
            <a:avLst/>
            <a:gdLst/>
            <a:ahLst/>
            <a:cxnLst/>
            <a:rect l="l" t="t" r="r" b="b"/>
            <a:pathLst>
              <a:path w="78" h="88">
                <a:moveTo>
                  <a:pt x="0" y="88"/>
                </a:moveTo>
                <a:lnTo>
                  <a:pt x="27" y="88"/>
                </a:lnTo>
                <a:cubicBezTo>
                  <a:pt x="34" y="88"/>
                  <a:pt x="40" y="82"/>
                  <a:pt x="40" y="75"/>
                </a:cubicBezTo>
                <a:lnTo>
                  <a:pt x="40" y="13"/>
                </a:lnTo>
                <a:cubicBezTo>
                  <a:pt x="40" y="6"/>
                  <a:pt x="46" y="0"/>
                  <a:pt x="53" y="0"/>
                </a:cubicBezTo>
                <a:lnTo>
                  <a:pt x="78" y="0"/>
                </a:lnTo>
              </a:path>
            </a:pathLst>
          </a:custGeom>
          <a:noFill/>
          <a:ln w="3950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arrowhead 130"/>
          <p:cNvSpPr/>
          <p:nvPr/>
        </p:nvSpPr>
        <p:spPr>
          <a:xfrm>
            <a:off x="9018984" y="3596073"/>
            <a:ext cx="98748" cy="98748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12"/>
                </a:moveTo>
                <a:lnTo>
                  <a:pt x="12" y="6"/>
                </a:lnTo>
                <a:lnTo>
                  <a:pt x="0" y="0"/>
                </a:lnTo>
              </a:path>
            </a:pathLst>
          </a:custGeom>
          <a:noFill/>
          <a:ln w="1543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JOIN + request"/>
          <p:cNvSpPr txBox="1"/>
          <p:nvPr/>
        </p:nvSpPr>
        <p:spPr>
          <a:xfrm>
            <a:off x="7393274" y="4717460"/>
            <a:ext cx="1391665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JOIN + request</a:t>
            </a:r>
          </a:p>
        </p:txBody>
      </p:sp>
      <p:cxnSp>
        <p:nvCxnSpPr>
          <p:cNvPr id="133" name="line 132"/>
          <p:cNvCxnSpPr/>
          <p:nvPr/>
        </p:nvCxnSpPr>
        <p:spPr>
          <a:xfrm>
            <a:off x="11989653" y="3374076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line 133"/>
          <p:cNvCxnSpPr/>
          <p:nvPr/>
        </p:nvCxnSpPr>
        <p:spPr>
          <a:xfrm>
            <a:off x="11989653" y="4271037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line 134"/>
          <p:cNvCxnSpPr/>
          <p:nvPr/>
        </p:nvCxnSpPr>
        <p:spPr>
          <a:xfrm>
            <a:off x="12154233" y="3374076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line 135"/>
          <p:cNvCxnSpPr/>
          <p:nvPr/>
        </p:nvCxnSpPr>
        <p:spPr>
          <a:xfrm>
            <a:off x="12154233" y="4271037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line 136"/>
          <p:cNvCxnSpPr/>
          <p:nvPr/>
        </p:nvCxnSpPr>
        <p:spPr>
          <a:xfrm>
            <a:off x="12318813" y="3374076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line 137"/>
          <p:cNvCxnSpPr/>
          <p:nvPr/>
        </p:nvCxnSpPr>
        <p:spPr>
          <a:xfrm>
            <a:off x="12318813" y="4271037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line 138"/>
          <p:cNvCxnSpPr/>
          <p:nvPr/>
        </p:nvCxnSpPr>
        <p:spPr>
          <a:xfrm>
            <a:off x="12483393" y="3374076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line 139"/>
          <p:cNvCxnSpPr/>
          <p:nvPr/>
        </p:nvCxnSpPr>
        <p:spPr>
          <a:xfrm>
            <a:off x="12483393" y="4271037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line 140"/>
          <p:cNvCxnSpPr/>
          <p:nvPr/>
        </p:nvCxnSpPr>
        <p:spPr>
          <a:xfrm>
            <a:off x="12647973" y="3374076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line 141"/>
          <p:cNvCxnSpPr/>
          <p:nvPr/>
        </p:nvCxnSpPr>
        <p:spPr>
          <a:xfrm>
            <a:off x="12647973" y="4271037"/>
            <a:ext cx="0" cy="8229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line 142"/>
          <p:cNvCxnSpPr/>
          <p:nvPr/>
        </p:nvCxnSpPr>
        <p:spPr>
          <a:xfrm>
            <a:off x="11792157" y="3579801"/>
            <a:ext cx="82290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line 143"/>
          <p:cNvCxnSpPr/>
          <p:nvPr/>
        </p:nvCxnSpPr>
        <p:spPr>
          <a:xfrm>
            <a:off x="12829011" y="3579801"/>
            <a:ext cx="82290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line 144"/>
          <p:cNvCxnSpPr/>
          <p:nvPr/>
        </p:nvCxnSpPr>
        <p:spPr>
          <a:xfrm>
            <a:off x="11792157" y="3744381"/>
            <a:ext cx="82290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line 145"/>
          <p:cNvCxnSpPr/>
          <p:nvPr/>
        </p:nvCxnSpPr>
        <p:spPr>
          <a:xfrm>
            <a:off x="12829011" y="3744381"/>
            <a:ext cx="82290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line 146"/>
          <p:cNvCxnSpPr/>
          <p:nvPr/>
        </p:nvCxnSpPr>
        <p:spPr>
          <a:xfrm>
            <a:off x="11792157" y="3908961"/>
            <a:ext cx="82290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line 147"/>
          <p:cNvCxnSpPr/>
          <p:nvPr/>
        </p:nvCxnSpPr>
        <p:spPr>
          <a:xfrm>
            <a:off x="12829011" y="3908961"/>
            <a:ext cx="82290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line 148"/>
          <p:cNvCxnSpPr/>
          <p:nvPr/>
        </p:nvCxnSpPr>
        <p:spPr>
          <a:xfrm>
            <a:off x="11792157" y="4073541"/>
            <a:ext cx="82290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line 149"/>
          <p:cNvCxnSpPr/>
          <p:nvPr/>
        </p:nvCxnSpPr>
        <p:spPr>
          <a:xfrm>
            <a:off x="12829011" y="4073541"/>
            <a:ext cx="82290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 150"/>
          <p:cNvSpPr/>
          <p:nvPr/>
        </p:nvSpPr>
        <p:spPr>
          <a:xfrm>
            <a:off x="11874447" y="3456366"/>
            <a:ext cx="954564" cy="814671"/>
          </a:xfrm>
          <a:prstGeom prst="roundRect">
            <a:avLst>
              <a:gd name="adj" fmla="val 2020"/>
            </a:avLst>
          </a:prstGeom>
          <a:solidFill>
            <a:srgbClr val="A6CAEC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PU"/>
          <p:cNvSpPr txBox="1"/>
          <p:nvPr/>
        </p:nvSpPr>
        <p:spPr>
          <a:xfrm>
            <a:off x="12091824" y="3464595"/>
            <a:ext cx="519809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GPU</a:t>
            </a:r>
          </a:p>
        </p:txBody>
      </p:sp>
      <p:sp>
        <p:nvSpPr>
          <p:cNvPr id="153" name="rect 152"/>
          <p:cNvSpPr/>
          <p:nvPr/>
        </p:nvSpPr>
        <p:spPr>
          <a:xfrm>
            <a:off x="11981424" y="3801984"/>
            <a:ext cx="222183" cy="135778"/>
          </a:xfrm>
          <a:prstGeom prst="roundRect">
            <a:avLst>
              <a:gd name="adj" fmla="val 6060"/>
            </a:avLst>
          </a:prstGeom>
          <a:solidFill>
            <a:srgbClr val="A6CAEC"/>
          </a:solidFill>
          <a:ln w="905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 153"/>
          <p:cNvSpPr/>
          <p:nvPr/>
        </p:nvSpPr>
        <p:spPr>
          <a:xfrm>
            <a:off x="12239266" y="3801984"/>
            <a:ext cx="222183" cy="135778"/>
          </a:xfrm>
          <a:prstGeom prst="roundRect">
            <a:avLst>
              <a:gd name="adj" fmla="val 6060"/>
            </a:avLst>
          </a:prstGeom>
          <a:solidFill>
            <a:srgbClr val="84E291"/>
          </a:solidFill>
          <a:ln w="905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 154"/>
          <p:cNvSpPr/>
          <p:nvPr/>
        </p:nvSpPr>
        <p:spPr>
          <a:xfrm>
            <a:off x="12497108" y="3801984"/>
            <a:ext cx="222183" cy="135778"/>
          </a:xfrm>
          <a:prstGeom prst="roundRect">
            <a:avLst>
              <a:gd name="adj" fmla="val 6060"/>
            </a:avLst>
          </a:prstGeom>
          <a:solidFill>
            <a:srgbClr val="A6CAEC"/>
          </a:solidFill>
          <a:ln w="905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 155"/>
          <p:cNvSpPr/>
          <p:nvPr/>
        </p:nvSpPr>
        <p:spPr>
          <a:xfrm>
            <a:off x="11981424" y="3991251"/>
            <a:ext cx="222183" cy="13577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05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 156"/>
          <p:cNvSpPr/>
          <p:nvPr/>
        </p:nvSpPr>
        <p:spPr>
          <a:xfrm>
            <a:off x="12239266" y="3991251"/>
            <a:ext cx="222183" cy="13577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05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 157"/>
          <p:cNvSpPr/>
          <p:nvPr/>
        </p:nvSpPr>
        <p:spPr>
          <a:xfrm>
            <a:off x="12497108" y="3991251"/>
            <a:ext cx="222183" cy="13577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05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path 158"/>
          <p:cNvCxnSpPr/>
          <p:nvPr/>
        </p:nvCxnSpPr>
        <p:spPr>
          <a:xfrm>
            <a:off x="10993944" y="3645633"/>
            <a:ext cx="773526" cy="0"/>
          </a:xfrm>
          <a:prstGeom prst="line">
            <a:avLst/>
          </a:prstGeom>
          <a:ln w="6583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path 159"/>
          <p:cNvCxnSpPr/>
          <p:nvPr/>
        </p:nvCxnSpPr>
        <p:spPr>
          <a:xfrm>
            <a:off x="10993944" y="3645633"/>
            <a:ext cx="773526" cy="0"/>
          </a:xfrm>
          <a:prstGeom prst="line">
            <a:avLst/>
          </a:prstGeom>
          <a:ln w="49377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arrowhead 160"/>
          <p:cNvSpPr/>
          <p:nvPr/>
        </p:nvSpPr>
        <p:spPr>
          <a:xfrm>
            <a:off x="11619348" y="3571386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circle 161"/>
          <p:cNvSpPr/>
          <p:nvPr/>
        </p:nvSpPr>
        <p:spPr>
          <a:xfrm>
            <a:off x="11224356" y="3489282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4"/>
          <p:cNvSpPr txBox="1"/>
          <p:nvPr/>
        </p:nvSpPr>
        <p:spPr>
          <a:xfrm>
            <a:off x="11275498" y="3487225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4</a:t>
            </a:r>
          </a:p>
        </p:txBody>
      </p:sp>
      <p:sp>
        <p:nvSpPr>
          <p:cNvPr id="164" name="数据 + slot"/>
          <p:cNvSpPr txBox="1"/>
          <p:nvPr/>
        </p:nvSpPr>
        <p:spPr>
          <a:xfrm>
            <a:off x="11339562" y="4470590"/>
            <a:ext cx="991916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数据 + slot</a:t>
            </a:r>
          </a:p>
        </p:txBody>
      </p:sp>
      <p:sp>
        <p:nvSpPr>
          <p:cNvPr id="165" name="有界优先 + 老化"/>
          <p:cNvSpPr txBox="1"/>
          <p:nvPr/>
        </p:nvSpPr>
        <p:spPr>
          <a:xfrm>
            <a:off x="9142419" y="4470590"/>
            <a:ext cx="1424196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有界优先 + 老化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BeliefKV 系统架构图</dc:title>
  <dc:subject>Current development architecture as of 2026-10-15</dc:subject>
  <dc:creator>BeliefKV</dc:creator>
  <cp:keywords>BeliefKV, dynamic agent workflows, KV cache, native editable diagrams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