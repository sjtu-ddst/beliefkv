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Lst>
  <p:sldSz cx="13167360" cy="877824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Architecture baseline: 2026-10-15 development implementation, not the frozen code of every running experiment. RCCG receives runtime events; GraphDelta updates affected wait groups. Text/phase/work inference runs in an independent CPU process. Tool history supplies separate conditional timing. NativeAdmissionRuntime combines causal identity, checkpoint, timing, capacity and next-batch observations. Waiting migrations can run after forward dispatch under the supported overlap configuration. The native waiting queue, PrefillAdder, allocation and data dependencies remain authoritative. Dashed arrows show feedback, not a claim that all control work is asynchronous. Explicit completion notices are harness protocol and must be identical across comparison arms. Root workflows can spawn again after JOIN; the current child harness does not expose nested task delegation. Colors identify memory owners, while location and solid/dashed borders indicate residency. NOTICE is an observed completion announcement, not ground-truth terminal phase. The control plane combines checkpoints, measured timing, native capacity and candidate order; physical FULL pages and Mamba slots remain separate. Sources: causal_graph.py; semantic_report_worker.py; sglang_v0520_runtime.py (scheduler_step, dispatch_after_forward, plan_native_prefill); staging patch.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stage model uses frozen pooled text features plus event/progress features; the conditional work head can be fitted independently. The circle marked parallel bars denotes feature concatenation, not addition. The encoder network and head matrices are schematic, not literal layer counts. The phase and work paths share frozen encoder weights; a configured work-only text window can use a separate encoding of delivered text. Work bounds are calibrated bounds, not a calibrated joint JOIN interval. The current content-driven JOIN_ALL path targets the single pending child; earlier notices can be retained and rebound after sibling RETURN. A latest forecast can move its work endpoint in either direction before enqueue. The center-overrun path uses a still-valid upper endpoint. max(W-deltaN, 0)/rate estimates generation time, not future queueing or a guaranteed wall-clock RETURN. No-tool EOS is separate evidence. Tool CDFs are conditioned on survival and use completed-call history with fallbacks; the current live tool-transfer path requires at most one active call. H follows transfer_start_window: min(lead allowance, ACK P90 + enqueue P90 + observation spacing + early margin). Cost uses current direction/shape/size history. A smaller same-checkpoint payload can retain the measured cost of its larger supported selection when its own direct estimate is unavailable. The timeline is schematic and allows partial overlap. The t0/t1/t2 snapshots, work intervals, history records and CDF are schematic, not measurements. Input notice=1 is observable; true final phase is never an input. The conditional tool CDF normalizes the surviving historical mass. Sources: child_semantic_work.py; conditional_work.py; native_transfer_policy.py; native_transfer_service.py; _roll_final_stage / _roll_tool_prefetch / _wait_prefetch_timing_valid / _h2d_start_window in sglang_v0520_runtime.py.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Stable FULL extents are backed incrementally under actual pressure; PREPARE_HOST neither releases HBM nor speculatively backs Mamba. Native pressure reclaim can demote backed cold FULL while preserving needed Mamba. Choose a reusable safe-input checkpoint; restore ancestors root-first and only the required missing state, rather than every historical Mamba state. Native allocators decide byte, FULL and Mamba capacity. A page-aligned partial FULL prefix may load while state or tail remains deferred. FULL pipeline admission follows native layer dependencies; missing Mamba or legacy state loads still defer admission as required. ACK manages transaction/residency lifecycle, not a universal execution barrier. Bounded locks, restored/resident-first ordering and ordinary-request aging support consumption but do not guarantee it. Terminal child session retirement reclaims only unused private suffixes, retries blocked references and keeps shared ancestors. Released capacity is neither exclusive to the parent nor a reuse of the same physical page IDs. Earlier siblings may enable pre-RETURN H2D; the last child's own released capacity supports demand restoration. Sources: sglang_v0520_physical.py (plan_prefetch_gpu_steps); native_transfer_policy.py (native_residency_budget); sglang_v0520_runtime.py (_apply_terminal_child_reclaim, _wait_prefetch_opportunity, defer_prefill_for_prefetch, plan_native_prefill); staging patch (retire_beliefkv_child_session, prefetch_gpu_session_nodes).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eliefKV: Workflow-aware Execution and KV Management"/>
          <p:cNvSpPr txBox="1"/>
          <p:nvPr/>
        </p:nvSpPr>
        <p:spPr>
          <a:xfrm>
            <a:off x="292600" y="120698"/>
            <a:ext cx="8898040" cy="345634"/>
          </a:xfrm>
          <a:prstGeom prst="rect">
            <a:avLst/>
          </a:prstGeom>
          <a:noFill/>
          <a:effectLst/>
        </p:spPr>
        <p:txBody>
          <a:bodyPr wrap="none" lIns="0" rIns="0" tIns="0" bIns="0" anchor="t">
            <a:spAutoFit/>
          </a:bodyPr>
          <a:lstStyle/>
          <a:p>
            <a:pPr algn="l">
              <a:lnSpc>
                <a:spcPct val="100000"/>
              </a:lnSpc>
              <a:spcBef>
                <a:spcPts val="0"/>
              </a:spcBef>
              <a:spcAft>
                <a:spcPts val="0"/>
              </a:spcAft>
            </a:pPr>
            <a:r>
              <a:rPr sz="2131" b="1" i="0" lang="en-US" spc="0">
                <a:solidFill>
                  <a:srgbClr val="181818"/>
                </a:solidFill>
                <a:latin typeface="DejaVu Sans"/>
                <a:ea typeface="DejaVu Sans"/>
                <a:effectLst/>
              </a:rPr>
              <a:t>BeliefKV: Workflow-aware Execution and KV Management</a:t>
            </a:r>
          </a:p>
        </p:txBody>
      </p:sp>
      <p:sp>
        <p:nvSpPr>
          <p:cNvPr id="3" name="Observed dependencies → demand forecasts → page migration and native admission"/>
          <p:cNvSpPr txBox="1"/>
          <p:nvPr/>
        </p:nvSpPr>
        <p:spPr>
          <a:xfrm>
            <a:off x="292600" y="479132"/>
            <a:ext cx="7586112" cy="235909"/>
          </a:xfrm>
          <a:prstGeom prst="rect">
            <a:avLst/>
          </a:prstGeom>
          <a:noFill/>
          <a:effectLst/>
        </p:spPr>
        <p:txBody>
          <a:bodyPr wrap="none" lIns="0" rIns="0" tIns="0" bIns="0" anchor="t">
            <a:spAutoFit/>
          </a:bodyPr>
          <a:lstStyle/>
          <a:p>
            <a:pPr algn="l">
              <a:lnSpc>
                <a:spcPct val="100000"/>
              </a:lnSpc>
              <a:spcBef>
                <a:spcPts val="0"/>
              </a:spcBef>
              <a:spcAft>
                <a:spcPts val="0"/>
              </a:spcAft>
            </a:pPr>
            <a:r>
              <a:rPr sz="1382" b="0" i="0" lang="en-US" spc="0">
                <a:solidFill>
                  <a:srgbClr val="535353"/>
                </a:solidFill>
                <a:latin typeface="DejaVu Sans"/>
                <a:ea typeface="DejaVu Sans"/>
                <a:effectLst/>
              </a:rPr>
              <a:t>Observed dependencies → demand forecasts → page migration and native admission</a:t>
            </a:r>
          </a:p>
        </p:txBody>
      </p:sp>
      <p:cxnSp>
        <p:nvCxnSpPr>
          <p:cNvPr id="4" name="line 3"/>
          <p:cNvCxnSpPr/>
          <p:nvPr/>
        </p:nvCxnSpPr>
        <p:spPr>
          <a:xfrm>
            <a:off x="292600" y="790020"/>
            <a:ext cx="12581800" cy="0"/>
          </a:xfrm>
          <a:prstGeom prst="line">
            <a:avLst/>
          </a:prstGeom>
          <a:ln w="11704">
            <a:solidFill>
              <a:srgbClr val="181818"/>
            </a:solidFill>
          </a:ln>
          <a:effectLst/>
        </p:spPr>
        <p:style>
          <a:lnRef idx="2">
            <a:schemeClr val="accent1"/>
          </a:lnRef>
          <a:fillRef idx="0">
            <a:schemeClr val="accent1"/>
          </a:fillRef>
          <a:effectRef idx="0">
            <a:schemeClr val="accent1"/>
          </a:effectRef>
          <a:fontRef idx="minor">
            <a:schemeClr val="tx1"/>
          </a:fontRef>
        </p:style>
      </p:cxnSp>
      <p:sp>
        <p:nvSpPr>
          <p:cNvPr id="5" name="rect 4"/>
          <p:cNvSpPr/>
          <p:nvPr/>
        </p:nvSpPr>
        <p:spPr>
          <a:xfrm>
            <a:off x="234080" y="907060"/>
            <a:ext cx="12698840" cy="1111880"/>
          </a:xfrm>
          <a:prstGeom prst="roundRect">
            <a:avLst>
              <a:gd name="adj" fmla="val 1315"/>
            </a:avLst>
          </a:prstGeom>
          <a:solidFill>
            <a:srgbClr val="EEEEEE"/>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rect 5"/>
          <p:cNvSpPr/>
          <p:nvPr/>
        </p:nvSpPr>
        <p:spPr>
          <a:xfrm>
            <a:off x="234080" y="907060"/>
            <a:ext cx="12698840" cy="277970"/>
          </a:xfrm>
          <a:prstGeom prst="roundRect">
            <a:avLst>
              <a:gd name="adj" fmla="val 5263"/>
            </a:avLst>
          </a:prstGeom>
          <a:solidFill>
            <a:srgbClr val="A9CEE8"/>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Agent harness: dynamic requests and completion signals"/>
          <p:cNvSpPr txBox="1"/>
          <p:nvPr/>
        </p:nvSpPr>
        <p:spPr>
          <a:xfrm>
            <a:off x="336490" y="929810"/>
            <a:ext cx="6239752" cy="252368"/>
          </a:xfrm>
          <a:prstGeom prst="rect">
            <a:avLst/>
          </a:prstGeom>
          <a:noFill/>
          <a:effectLst/>
        </p:spPr>
        <p:txBody>
          <a:bodyPr wrap="none" lIns="0" rIns="0" tIns="0" bIns="0" anchor="t">
            <a:spAutoFit/>
          </a:bodyPr>
          <a:lstStyle/>
          <a:p>
            <a:pPr algn="l">
              <a:lnSpc>
                <a:spcPct val="100000"/>
              </a:lnSpc>
              <a:spcBef>
                <a:spcPts val="0"/>
              </a:spcBef>
              <a:spcAft>
                <a:spcPts val="0"/>
              </a:spcAft>
            </a:pPr>
            <a:r>
              <a:rPr sz="1497" b="1" i="0" lang="en-US" spc="0">
                <a:solidFill>
                  <a:srgbClr val="181818"/>
                </a:solidFill>
                <a:latin typeface="DejaVu Sans"/>
                <a:ea typeface="DejaVu Sans"/>
                <a:effectLst/>
              </a:rPr>
              <a:t>Agent harness: dynamic requests and completion signals</a:t>
            </a:r>
          </a:p>
        </p:txBody>
      </p:sp>
      <p:sp>
        <p:nvSpPr>
          <p:cNvPr id="8" name="circle 7"/>
          <p:cNvSpPr/>
          <p:nvPr/>
        </p:nvSpPr>
        <p:spPr>
          <a:xfrm>
            <a:off x="431585" y="1433740"/>
            <a:ext cx="351120" cy="351120"/>
          </a:xfrm>
          <a:prstGeom prst="ellipse">
            <a:avLst/>
          </a:prstGeom>
          <a:solidFill>
            <a:srgbClr val="E9A6BF"/>
          </a:solidFill>
          <a:ln w="14630">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P"/>
          <p:cNvSpPr txBox="1"/>
          <p:nvPr/>
        </p:nvSpPr>
        <p:spPr>
          <a:xfrm>
            <a:off x="501606" y="1509231"/>
            <a:ext cx="211078" cy="226765"/>
          </a:xfrm>
          <a:prstGeom prst="rect">
            <a:avLst/>
          </a:prstGeom>
          <a:noFill/>
          <a:effectLst/>
        </p:spPr>
        <p:txBody>
          <a:bodyPr wrap="none" lIns="0" rIns="0" tIns="0" bIns="0" anchor="t">
            <a:spAutoFit/>
          </a:bodyPr>
          <a:lstStyle/>
          <a:p>
            <a:pPr algn="ctr">
              <a:lnSpc>
                <a:spcPct val="100000"/>
              </a:lnSpc>
              <a:spcBef>
                <a:spcPts val="0"/>
              </a:spcBef>
              <a:spcAft>
                <a:spcPts val="0"/>
              </a:spcAft>
            </a:pPr>
            <a:r>
              <a:rPr sz="1324" b="1" i="0" lang="en-US" spc="0">
                <a:solidFill>
                  <a:srgbClr val="181818"/>
                </a:solidFill>
                <a:latin typeface="DejaVu Sans"/>
                <a:ea typeface="DejaVu Sans"/>
                <a:effectLst/>
              </a:rPr>
              <a:t>P</a:t>
            </a:r>
          </a:p>
        </p:txBody>
      </p:sp>
      <p:sp>
        <p:nvSpPr>
          <p:cNvPr id="10" name="circle 9"/>
          <p:cNvSpPr/>
          <p:nvPr/>
        </p:nvSpPr>
        <p:spPr>
          <a:xfrm>
            <a:off x="1623930" y="1250865"/>
            <a:ext cx="336490" cy="336490"/>
          </a:xfrm>
          <a:prstGeom prst="ellipse">
            <a:avLst/>
          </a:prstGeom>
          <a:solidFill>
            <a:srgbClr val="B5D68B"/>
          </a:solidFill>
          <a:ln w="14630">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C1"/>
          <p:cNvSpPr txBox="1"/>
          <p:nvPr/>
        </p:nvSpPr>
        <p:spPr>
          <a:xfrm>
            <a:off x="1633245" y="1323869"/>
            <a:ext cx="317860" cy="217621"/>
          </a:xfrm>
          <a:prstGeom prst="rect">
            <a:avLst/>
          </a:prstGeom>
          <a:noFill/>
          <a:effectLst/>
        </p:spPr>
        <p:txBody>
          <a:bodyPr wrap="none" lIns="0" rIns="0" tIns="0" bIns="0" anchor="t">
            <a:spAutoFit/>
          </a:bodyPr>
          <a:lstStyle/>
          <a:p>
            <a:pPr algn="ctr">
              <a:lnSpc>
                <a:spcPct val="100000"/>
              </a:lnSpc>
              <a:spcBef>
                <a:spcPts val="0"/>
              </a:spcBef>
              <a:spcAft>
                <a:spcPts val="0"/>
              </a:spcAft>
            </a:pPr>
            <a:r>
              <a:rPr sz="1267" b="1" i="0" lang="en-US" spc="0">
                <a:solidFill>
                  <a:srgbClr val="181818"/>
                </a:solidFill>
                <a:latin typeface="DejaVu Sans"/>
                <a:ea typeface="DejaVu Sans"/>
                <a:effectLst/>
              </a:rPr>
              <a:t>C1</a:t>
            </a:r>
          </a:p>
        </p:txBody>
      </p:sp>
      <p:sp>
        <p:nvSpPr>
          <p:cNvPr id="12" name="circle 11"/>
          <p:cNvSpPr/>
          <p:nvPr/>
        </p:nvSpPr>
        <p:spPr>
          <a:xfrm>
            <a:off x="1623930" y="1631245"/>
            <a:ext cx="336490" cy="336490"/>
          </a:xfrm>
          <a:prstGeom prst="ellipse">
            <a:avLst/>
          </a:prstGeom>
          <a:solidFill>
            <a:srgbClr val="F2BD7D"/>
          </a:solidFill>
          <a:ln w="14630">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C2"/>
          <p:cNvSpPr txBox="1"/>
          <p:nvPr/>
        </p:nvSpPr>
        <p:spPr>
          <a:xfrm>
            <a:off x="1633245" y="1704249"/>
            <a:ext cx="317860" cy="217621"/>
          </a:xfrm>
          <a:prstGeom prst="rect">
            <a:avLst/>
          </a:prstGeom>
          <a:noFill/>
          <a:effectLst/>
        </p:spPr>
        <p:txBody>
          <a:bodyPr wrap="none" lIns="0" rIns="0" tIns="0" bIns="0" anchor="t">
            <a:spAutoFit/>
          </a:bodyPr>
          <a:lstStyle/>
          <a:p>
            <a:pPr algn="ctr">
              <a:lnSpc>
                <a:spcPct val="100000"/>
              </a:lnSpc>
              <a:spcBef>
                <a:spcPts val="0"/>
              </a:spcBef>
              <a:spcAft>
                <a:spcPts val="0"/>
              </a:spcAft>
            </a:pPr>
            <a:r>
              <a:rPr sz="1267" b="1" i="0" lang="en-US" spc="0">
                <a:solidFill>
                  <a:srgbClr val="181818"/>
                </a:solidFill>
                <a:latin typeface="DejaVu Sans"/>
                <a:ea typeface="DejaVu Sans"/>
                <a:effectLst/>
              </a:rPr>
              <a:t>C2</a:t>
            </a:r>
          </a:p>
        </p:txBody>
      </p:sp>
      <p:sp>
        <p:nvSpPr>
          <p:cNvPr id="14" name="rect 13"/>
          <p:cNvSpPr/>
          <p:nvPr/>
        </p:nvSpPr>
        <p:spPr>
          <a:xfrm>
            <a:off x="2538305" y="1280125"/>
            <a:ext cx="694925" cy="292600"/>
          </a:xfrm>
          <a:prstGeom prst="roundRect">
            <a:avLst>
              <a:gd name="adj" fmla="val 7500"/>
            </a:avLst>
          </a:prstGeom>
          <a:solidFill>
            <a:srgbClr val="FFFFF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 name="line 14"/>
          <p:cNvCxnSpPr/>
          <p:nvPr/>
        </p:nvCxnSpPr>
        <p:spPr>
          <a:xfrm>
            <a:off x="2545620" y="1341571"/>
            <a:ext cx="680295" cy="0"/>
          </a:xfrm>
          <a:prstGeom prst="line">
            <a:avLst/>
          </a:prstGeom>
          <a:ln w="7315">
            <a:solidFill>
              <a:srgbClr val="181818"/>
            </a:solidFill>
          </a:ln>
          <a:effectLst/>
        </p:spPr>
        <p:style>
          <a:lnRef idx="2">
            <a:schemeClr val="accent1"/>
          </a:lnRef>
          <a:fillRef idx="0">
            <a:schemeClr val="accent1"/>
          </a:fillRef>
          <a:effectRef idx="0">
            <a:schemeClr val="accent1"/>
          </a:effectRef>
          <a:fontRef idx="minor">
            <a:schemeClr val="tx1"/>
          </a:fontRef>
        </p:style>
      </p:cxnSp>
      <p:sp>
        <p:nvSpPr>
          <p:cNvPr id="16" name="path 15"/>
          <p:cNvSpPr/>
          <p:nvPr/>
        </p:nvSpPr>
        <p:spPr>
          <a:xfrm>
            <a:off x="2655345" y="1404480"/>
            <a:ext cx="80465" cy="109725"/>
          </a:xfrm>
          <a:custGeom>
            <a:avLst/>
            <a:gdLst/>
            <a:ahLst/>
            <a:cxnLst/>
            <a:rect l="l" t="t" r="r" b="b"/>
            <a:pathLst>
              <a:path w="11" h="15">
                <a:moveTo>
                  <a:pt x="0" y="0"/>
                </a:moveTo>
                <a:lnTo>
                  <a:pt x="11" y="7"/>
                </a:lnTo>
                <a:lnTo>
                  <a:pt x="0" y="15"/>
                </a:lnTo>
              </a:path>
            </a:pathLst>
          </a:custGeom>
          <a:noFill/>
          <a:ln w="14630">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7" name="line 16"/>
          <p:cNvCxnSpPr/>
          <p:nvPr/>
        </p:nvCxnSpPr>
        <p:spPr>
          <a:xfrm>
            <a:off x="2816275" y="1508353"/>
            <a:ext cx="314545" cy="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sp>
        <p:nvSpPr>
          <p:cNvPr id="18" name="polygon 17"/>
          <p:cNvSpPr/>
          <p:nvPr/>
        </p:nvSpPr>
        <p:spPr>
          <a:xfrm>
            <a:off x="3642870" y="1367905"/>
            <a:ext cx="775390" cy="482790"/>
          </a:xfrm>
          <a:custGeom>
            <a:avLst/>
            <a:gdLst/>
            <a:ahLst/>
            <a:cxnLst/>
            <a:rect l="l" t="t" r="r" b="b"/>
            <a:pathLst>
              <a:path w="106" h="66">
                <a:moveTo>
                  <a:pt x="53" y="0"/>
                </a:moveTo>
                <a:lnTo>
                  <a:pt x="106" y="33"/>
                </a:lnTo>
                <a:lnTo>
                  <a:pt x="53" y="66"/>
                </a:lnTo>
                <a:lnTo>
                  <a:pt x="0" y="33"/>
                </a:lnTo>
                <a:close/>
              </a:path>
            </a:pathLst>
          </a:custGeom>
          <a:solidFill>
            <a:srgbClr val="FFFFFF"/>
          </a:solidFill>
          <a:ln w="10972">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JOIN"/>
          <p:cNvSpPr txBox="1"/>
          <p:nvPr/>
        </p:nvSpPr>
        <p:spPr>
          <a:xfrm>
            <a:off x="3773268" y="1510548"/>
            <a:ext cx="514593" cy="235909"/>
          </a:xfrm>
          <a:prstGeom prst="rect">
            <a:avLst/>
          </a:prstGeom>
          <a:noFill/>
          <a:effectLst/>
        </p:spPr>
        <p:txBody>
          <a:bodyPr wrap="none" lIns="0" rIns="0" tIns="0" bIns="0" anchor="t">
            <a:spAutoFit/>
          </a:bodyPr>
          <a:lstStyle/>
          <a:p>
            <a:pPr algn="ctr">
              <a:lnSpc>
                <a:spcPct val="100000"/>
              </a:lnSpc>
              <a:spcBef>
                <a:spcPts val="0"/>
              </a:spcBef>
              <a:spcAft>
                <a:spcPts val="0"/>
              </a:spcAft>
            </a:pPr>
            <a:r>
              <a:rPr sz="1382" b="1" i="0" lang="en-US" spc="0">
                <a:solidFill>
                  <a:srgbClr val="181818"/>
                </a:solidFill>
                <a:latin typeface="DejaVu Sans"/>
                <a:ea typeface="DejaVu Sans"/>
                <a:effectLst/>
              </a:rPr>
              <a:t>JOIN</a:t>
            </a:r>
          </a:p>
        </p:txBody>
      </p:sp>
      <p:sp>
        <p:nvSpPr>
          <p:cNvPr id="20" name="circle 19"/>
          <p:cNvSpPr/>
          <p:nvPr/>
        </p:nvSpPr>
        <p:spPr>
          <a:xfrm>
            <a:off x="4886420" y="1433740"/>
            <a:ext cx="351120" cy="351120"/>
          </a:xfrm>
          <a:prstGeom prst="ellipse">
            <a:avLst/>
          </a:prstGeom>
          <a:solidFill>
            <a:srgbClr val="E9A6BF"/>
          </a:solidFill>
          <a:ln w="14630">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P"/>
          <p:cNvSpPr txBox="1"/>
          <p:nvPr/>
        </p:nvSpPr>
        <p:spPr>
          <a:xfrm>
            <a:off x="4956441" y="1509231"/>
            <a:ext cx="211078" cy="226765"/>
          </a:xfrm>
          <a:prstGeom prst="rect">
            <a:avLst/>
          </a:prstGeom>
          <a:noFill/>
          <a:effectLst/>
        </p:spPr>
        <p:txBody>
          <a:bodyPr wrap="none" lIns="0" rIns="0" tIns="0" bIns="0" anchor="t">
            <a:spAutoFit/>
          </a:bodyPr>
          <a:lstStyle/>
          <a:p>
            <a:pPr algn="ctr">
              <a:lnSpc>
                <a:spcPct val="100000"/>
              </a:lnSpc>
              <a:spcBef>
                <a:spcPts val="0"/>
              </a:spcBef>
              <a:spcAft>
                <a:spcPts val="0"/>
              </a:spcAft>
            </a:pPr>
            <a:r>
              <a:rPr sz="1324" b="1" i="0" lang="en-US" spc="0">
                <a:solidFill>
                  <a:srgbClr val="181818"/>
                </a:solidFill>
                <a:latin typeface="DejaVu Sans"/>
                <a:ea typeface="DejaVu Sans"/>
                <a:effectLst/>
              </a:rPr>
              <a:t>P</a:t>
            </a:r>
          </a:p>
        </p:txBody>
      </p:sp>
      <p:cxnSp>
        <p:nvCxnSpPr>
          <p:cNvPr id="22" name="path 21"/>
          <p:cNvCxnSpPr/>
          <p:nvPr/>
        </p:nvCxnSpPr>
        <p:spPr>
          <a:xfrm flipV="1">
            <a:off x="797335" y="1433740"/>
            <a:ext cx="797335" cy="109725"/>
          </a:xfrm>
          <a:prstGeom prst="line">
            <a:avLst/>
          </a:prstGeom>
          <a:ln w="19019">
            <a:solidFill>
              <a:srgbClr val="181818"/>
            </a:solidFill>
          </a:ln>
          <a:effectLst/>
        </p:spPr>
        <p:style>
          <a:lnRef idx="2">
            <a:schemeClr val="accent1"/>
          </a:lnRef>
          <a:fillRef idx="0">
            <a:schemeClr val="accent1"/>
          </a:fillRef>
          <a:effectRef idx="0">
            <a:schemeClr val="accent1"/>
          </a:effectRef>
          <a:fontRef idx="minor">
            <a:schemeClr val="tx1"/>
          </a:fontRef>
        </p:style>
      </p:cxnSp>
      <p:sp>
        <p:nvSpPr>
          <p:cNvPr id="23" name="arrowhead 22"/>
          <p:cNvSpPr/>
          <p:nvPr/>
        </p:nvSpPr>
        <p:spPr>
          <a:xfrm>
            <a:off x="1470315" y="1382535"/>
            <a:ext cx="146300" cy="131670"/>
          </a:xfrm>
          <a:custGeom>
            <a:avLst/>
            <a:gdLst/>
            <a:ahLst/>
            <a:cxnLst/>
            <a:rect l="l" t="t" r="r" b="b"/>
            <a:pathLst>
              <a:path w="20" h="18">
                <a:moveTo>
                  <a:pt x="20" y="7"/>
                </a:moveTo>
                <a:lnTo>
                  <a:pt x="3" y="18"/>
                </a:lnTo>
                <a:lnTo>
                  <a:pt x="0" y="0"/>
                </a:lnTo>
                <a:close/>
              </a:path>
            </a:pathLst>
          </a:custGeom>
          <a:solidFill>
            <a:srgbClr val="18181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24" name="path 23"/>
          <p:cNvCxnSpPr/>
          <p:nvPr/>
        </p:nvCxnSpPr>
        <p:spPr>
          <a:xfrm>
            <a:off x="797335" y="1689765"/>
            <a:ext cx="797335" cy="102410"/>
          </a:xfrm>
          <a:prstGeom prst="line">
            <a:avLst/>
          </a:prstGeom>
          <a:ln w="19019">
            <a:solidFill>
              <a:srgbClr val="181818"/>
            </a:solidFill>
          </a:ln>
          <a:effectLst/>
        </p:spPr>
        <p:style>
          <a:lnRef idx="2">
            <a:schemeClr val="accent1"/>
          </a:lnRef>
          <a:fillRef idx="0">
            <a:schemeClr val="accent1"/>
          </a:fillRef>
          <a:effectRef idx="0">
            <a:schemeClr val="accent1"/>
          </a:effectRef>
          <a:fontRef idx="minor">
            <a:schemeClr val="tx1"/>
          </a:fontRef>
        </p:style>
      </p:cxnSp>
      <p:sp>
        <p:nvSpPr>
          <p:cNvPr id="25" name="arrowhead 24"/>
          <p:cNvSpPr/>
          <p:nvPr/>
        </p:nvSpPr>
        <p:spPr>
          <a:xfrm>
            <a:off x="1470315" y="1711710"/>
            <a:ext cx="146300" cy="131670"/>
          </a:xfrm>
          <a:custGeom>
            <a:avLst/>
            <a:gdLst/>
            <a:ahLst/>
            <a:cxnLst/>
            <a:rect l="l" t="t" r="r" b="b"/>
            <a:pathLst>
              <a:path w="20" h="18">
                <a:moveTo>
                  <a:pt x="20" y="11"/>
                </a:moveTo>
                <a:lnTo>
                  <a:pt x="0" y="18"/>
                </a:lnTo>
                <a:lnTo>
                  <a:pt x="3" y="0"/>
                </a:lnTo>
                <a:close/>
              </a:path>
            </a:pathLst>
          </a:custGeom>
          <a:solidFill>
            <a:srgbClr val="18181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26" name="path 25"/>
          <p:cNvCxnSpPr/>
          <p:nvPr/>
        </p:nvCxnSpPr>
        <p:spPr>
          <a:xfrm>
            <a:off x="1975050" y="1419110"/>
            <a:ext cx="533995" cy="0"/>
          </a:xfrm>
          <a:prstGeom prst="line">
            <a:avLst/>
          </a:prstGeom>
          <a:ln w="19019">
            <a:solidFill>
              <a:srgbClr val="181818"/>
            </a:solidFill>
          </a:ln>
          <a:effectLst/>
        </p:spPr>
        <p:style>
          <a:lnRef idx="2">
            <a:schemeClr val="accent1"/>
          </a:lnRef>
          <a:fillRef idx="0">
            <a:schemeClr val="accent1"/>
          </a:fillRef>
          <a:effectRef idx="0">
            <a:schemeClr val="accent1"/>
          </a:effectRef>
          <a:fontRef idx="minor">
            <a:schemeClr val="tx1"/>
          </a:fontRef>
        </p:style>
      </p:cxnSp>
      <p:sp>
        <p:nvSpPr>
          <p:cNvPr id="27" name="arrowhead 26"/>
          <p:cNvSpPr/>
          <p:nvPr/>
        </p:nvSpPr>
        <p:spPr>
          <a:xfrm>
            <a:off x="2399320" y="1353275"/>
            <a:ext cx="131670" cy="131670"/>
          </a:xfrm>
          <a:custGeom>
            <a:avLst/>
            <a:gdLst/>
            <a:ahLst/>
            <a:cxnLst/>
            <a:rect l="l" t="t" r="r" b="b"/>
            <a:pathLst>
              <a:path w="18" h="18">
                <a:moveTo>
                  <a:pt x="18" y="9"/>
                </a:moveTo>
                <a:lnTo>
                  <a:pt x="0" y="18"/>
                </a:lnTo>
                <a:lnTo>
                  <a:pt x="0" y="0"/>
                </a:lnTo>
                <a:close/>
              </a:path>
            </a:pathLst>
          </a:custGeom>
          <a:solidFill>
            <a:srgbClr val="18181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path 27"/>
          <p:cNvSpPr/>
          <p:nvPr/>
        </p:nvSpPr>
        <p:spPr>
          <a:xfrm>
            <a:off x="3255175" y="1419110"/>
            <a:ext cx="387695" cy="109725"/>
          </a:xfrm>
          <a:custGeom>
            <a:avLst/>
            <a:gdLst/>
            <a:ahLst/>
            <a:cxnLst/>
            <a:rect l="l" t="t" r="r" b="b"/>
            <a:pathLst>
              <a:path w="53" h="15">
                <a:moveTo>
                  <a:pt x="0" y="0"/>
                </a:moveTo>
                <a:lnTo>
                  <a:pt x="29" y="0"/>
                </a:lnTo>
                <a:lnTo>
                  <a:pt x="53" y="15"/>
                </a:lnTo>
              </a:path>
            </a:pathLst>
          </a:custGeom>
          <a:noFill/>
          <a:ln w="19019">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arrowhead 28"/>
          <p:cNvSpPr/>
          <p:nvPr/>
        </p:nvSpPr>
        <p:spPr>
          <a:xfrm>
            <a:off x="3511200" y="1411795"/>
            <a:ext cx="146300" cy="124355"/>
          </a:xfrm>
          <a:custGeom>
            <a:avLst/>
            <a:gdLst/>
            <a:ahLst/>
            <a:cxnLst/>
            <a:rect l="l" t="t" r="r" b="b"/>
            <a:pathLst>
              <a:path w="20" h="17">
                <a:moveTo>
                  <a:pt x="20" y="17"/>
                </a:moveTo>
                <a:lnTo>
                  <a:pt x="0" y="16"/>
                </a:lnTo>
                <a:lnTo>
                  <a:pt x="10" y="0"/>
                </a:lnTo>
                <a:close/>
              </a:path>
            </a:pathLst>
          </a:custGeom>
          <a:solidFill>
            <a:srgbClr val="18181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path 29"/>
          <p:cNvSpPr/>
          <p:nvPr/>
        </p:nvSpPr>
        <p:spPr>
          <a:xfrm>
            <a:off x="1975050" y="1697080"/>
            <a:ext cx="1667820" cy="102410"/>
          </a:xfrm>
          <a:custGeom>
            <a:avLst/>
            <a:gdLst/>
            <a:ahLst/>
            <a:cxnLst/>
            <a:rect l="l" t="t" r="r" b="b"/>
            <a:pathLst>
              <a:path w="228" h="14">
                <a:moveTo>
                  <a:pt x="0" y="14"/>
                </a:moveTo>
                <a:lnTo>
                  <a:pt x="204" y="14"/>
                </a:lnTo>
                <a:lnTo>
                  <a:pt x="228" y="0"/>
                </a:lnTo>
              </a:path>
            </a:pathLst>
          </a:custGeom>
          <a:noFill/>
          <a:ln w="19019">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arrowhead 30"/>
          <p:cNvSpPr/>
          <p:nvPr/>
        </p:nvSpPr>
        <p:spPr>
          <a:xfrm>
            <a:off x="3511200" y="1689765"/>
            <a:ext cx="146300" cy="124355"/>
          </a:xfrm>
          <a:custGeom>
            <a:avLst/>
            <a:gdLst/>
            <a:ahLst/>
            <a:cxnLst/>
            <a:rect l="l" t="t" r="r" b="b"/>
            <a:pathLst>
              <a:path w="20" h="17">
                <a:moveTo>
                  <a:pt x="20" y="0"/>
                </a:moveTo>
                <a:lnTo>
                  <a:pt x="9" y="17"/>
                </a:lnTo>
                <a:lnTo>
                  <a:pt x="0" y="1"/>
                </a:lnTo>
                <a:close/>
              </a:path>
            </a:pathLst>
          </a:custGeom>
          <a:solidFill>
            <a:srgbClr val="18181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32" name="path 31"/>
          <p:cNvCxnSpPr/>
          <p:nvPr/>
        </p:nvCxnSpPr>
        <p:spPr>
          <a:xfrm>
            <a:off x="4440205" y="1609300"/>
            <a:ext cx="424270" cy="0"/>
          </a:xfrm>
          <a:prstGeom prst="line">
            <a:avLst/>
          </a:prstGeom>
          <a:ln w="19019">
            <a:solidFill>
              <a:srgbClr val="181818"/>
            </a:solidFill>
          </a:ln>
          <a:effectLst/>
        </p:spPr>
        <p:style>
          <a:lnRef idx="2">
            <a:schemeClr val="accent1"/>
          </a:lnRef>
          <a:fillRef idx="0">
            <a:schemeClr val="accent1"/>
          </a:fillRef>
          <a:effectRef idx="0">
            <a:schemeClr val="accent1"/>
          </a:effectRef>
          <a:fontRef idx="minor">
            <a:schemeClr val="tx1"/>
          </a:fontRef>
        </p:style>
      </p:cxnSp>
      <p:sp>
        <p:nvSpPr>
          <p:cNvPr id="33" name="arrowhead 32"/>
          <p:cNvSpPr/>
          <p:nvPr/>
        </p:nvSpPr>
        <p:spPr>
          <a:xfrm>
            <a:off x="4754750" y="1543465"/>
            <a:ext cx="131670" cy="131670"/>
          </a:xfrm>
          <a:custGeom>
            <a:avLst/>
            <a:gdLst/>
            <a:ahLst/>
            <a:cxnLst/>
            <a:rect l="l" t="t" r="r" b="b"/>
            <a:pathLst>
              <a:path w="18" h="18">
                <a:moveTo>
                  <a:pt x="18" y="9"/>
                </a:moveTo>
                <a:lnTo>
                  <a:pt x="0" y="18"/>
                </a:lnTo>
                <a:lnTo>
                  <a:pt x="0" y="0"/>
                </a:lnTo>
                <a:close/>
              </a:path>
            </a:pathLst>
          </a:custGeom>
          <a:solidFill>
            <a:srgbClr val="18181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SPAWN"/>
          <p:cNvSpPr txBox="1"/>
          <p:nvPr/>
        </p:nvSpPr>
        <p:spPr>
          <a:xfrm>
            <a:off x="936320" y="1210632"/>
            <a:ext cx="631633" cy="208478"/>
          </a:xfrm>
          <a:prstGeom prst="rect">
            <a:avLst/>
          </a:prstGeom>
          <a:noFill/>
          <a:effectLst/>
        </p:spPr>
        <p:txBody>
          <a:bodyPr wrap="none" lIns="0" rIns="0" tIns="0" bIns="0" anchor="t">
            <a:spAutoFit/>
          </a:bodyPr>
          <a:lstStyle/>
          <a:p>
            <a:pPr algn="l">
              <a:lnSpc>
                <a:spcPct val="100000"/>
              </a:lnSpc>
              <a:spcBef>
                <a:spcPts val="0"/>
              </a:spcBef>
              <a:spcAft>
                <a:spcPts val="0"/>
              </a:spcAft>
            </a:pPr>
            <a:r>
              <a:rPr sz="1209" b="0" i="0" lang="en-US" spc="0">
                <a:solidFill>
                  <a:srgbClr val="181818"/>
                </a:solidFill>
                <a:latin typeface="DejaVu Sans"/>
                <a:ea typeface="DejaVu Sans"/>
                <a:effectLst/>
              </a:rPr>
              <a:t>SPAWN</a:t>
            </a:r>
          </a:p>
        </p:txBody>
      </p:sp>
      <p:sp>
        <p:nvSpPr>
          <p:cNvPr id="35" name="WAIT_TOOL"/>
          <p:cNvSpPr txBox="1"/>
          <p:nvPr/>
        </p:nvSpPr>
        <p:spPr>
          <a:xfrm>
            <a:off x="2538305" y="1815949"/>
            <a:ext cx="931434" cy="201162"/>
          </a:xfrm>
          <a:prstGeom prst="rect">
            <a:avLst/>
          </a:prstGeom>
          <a:noFill/>
          <a:effectLst/>
        </p:spPr>
        <p:txBody>
          <a:bodyPr wrap="none" lIns="0" rIns="0" tIns="0" bIns="0" anchor="t">
            <a:spAutoFit/>
          </a:bodyPr>
          <a:lstStyle/>
          <a:p>
            <a:pPr algn="l">
              <a:lnSpc>
                <a:spcPct val="100000"/>
              </a:lnSpc>
              <a:spcBef>
                <a:spcPts val="0"/>
              </a:spcBef>
              <a:spcAft>
                <a:spcPts val="0"/>
              </a:spcAft>
            </a:pPr>
            <a:r>
              <a:rPr sz="1152" b="0" i="0" lang="en-US" spc="0">
                <a:solidFill>
                  <a:srgbClr val="181818"/>
                </a:solidFill>
                <a:latin typeface="DejaVu Sans"/>
                <a:ea typeface="DejaVu Sans"/>
                <a:effectLst/>
              </a:rPr>
              <a:t>WAIT_TOOL</a:t>
            </a:r>
          </a:p>
        </p:txBody>
      </p:sp>
      <p:sp>
        <p:nvSpPr>
          <p:cNvPr id="36" name="path 35"/>
          <p:cNvSpPr/>
          <p:nvPr/>
        </p:nvSpPr>
        <p:spPr>
          <a:xfrm>
            <a:off x="5061980" y="1653190"/>
            <a:ext cx="819280" cy="226765"/>
          </a:xfrm>
          <a:custGeom>
            <a:avLst/>
            <a:gdLst/>
            <a:ahLst/>
            <a:cxnLst/>
            <a:rect l="l" t="t" r="r" b="b"/>
            <a:pathLst>
              <a:path w="112" h="31">
                <a:moveTo>
                  <a:pt x="27" y="0"/>
                </a:moveTo>
                <a:lnTo>
                  <a:pt x="112" y="0"/>
                </a:lnTo>
                <a:lnTo>
                  <a:pt x="112" y="31"/>
                </a:lnTo>
                <a:lnTo>
                  <a:pt x="0" y="31"/>
                </a:lnTo>
                <a:lnTo>
                  <a:pt x="0" y="22"/>
                </a:lnTo>
              </a:path>
            </a:pathLst>
          </a:custGeom>
          <a:noFill/>
          <a:ln w="14630">
            <a:solidFill>
              <a:srgbClr val="181818"/>
            </a:solidFill>
            <a:prstDash val="dash"/>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arrowhead 36"/>
          <p:cNvSpPr/>
          <p:nvPr/>
        </p:nvSpPr>
        <p:spPr>
          <a:xfrm>
            <a:off x="5010775" y="1799490"/>
            <a:ext cx="102410" cy="102410"/>
          </a:xfrm>
          <a:custGeom>
            <a:avLst/>
            <a:gdLst/>
            <a:ahLst/>
            <a:cxnLst/>
            <a:rect l="l" t="t" r="r" b="b"/>
            <a:pathLst>
              <a:path w="14" h="14">
                <a:moveTo>
                  <a:pt x="7" y="0"/>
                </a:moveTo>
                <a:lnTo>
                  <a:pt x="14" y="14"/>
                </a:lnTo>
                <a:lnTo>
                  <a:pt x="0" y="14"/>
                </a:lnTo>
                <a:close/>
              </a:path>
            </a:pathLst>
          </a:custGeom>
          <a:solidFill>
            <a:srgbClr val="18181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Next round"/>
          <p:cNvSpPr txBox="1"/>
          <p:nvPr/>
        </p:nvSpPr>
        <p:spPr>
          <a:xfrm>
            <a:off x="5339950" y="1283782"/>
            <a:ext cx="940520" cy="208478"/>
          </a:xfrm>
          <a:prstGeom prst="rect">
            <a:avLst/>
          </a:prstGeom>
          <a:noFill/>
          <a:effectLst/>
        </p:spPr>
        <p:txBody>
          <a:bodyPr wrap="none" lIns="0" rIns="0" tIns="0" bIns="0" anchor="t">
            <a:spAutoFit/>
          </a:bodyPr>
          <a:lstStyle/>
          <a:p>
            <a:pPr algn="l">
              <a:lnSpc>
                <a:spcPct val="100000"/>
              </a:lnSpc>
              <a:spcBef>
                <a:spcPts val="0"/>
              </a:spcBef>
              <a:spcAft>
                <a:spcPts val="0"/>
              </a:spcAft>
            </a:pPr>
            <a:r>
              <a:rPr sz="1209" b="0" i="0" lang="en-US" spc="0">
                <a:solidFill>
                  <a:srgbClr val="181818"/>
                </a:solidFill>
                <a:latin typeface="DejaVu Sans"/>
                <a:ea typeface="DejaVu Sans"/>
                <a:effectLst/>
              </a:rPr>
              <a:t>Next round</a:t>
            </a:r>
          </a:p>
        </p:txBody>
      </p:sp>
      <p:cxnSp>
        <p:nvCxnSpPr>
          <p:cNvPr id="39" name="line 38"/>
          <p:cNvCxnSpPr/>
          <p:nvPr/>
        </p:nvCxnSpPr>
        <p:spPr>
          <a:xfrm>
            <a:off x="6173860" y="1265495"/>
            <a:ext cx="0" cy="665665"/>
          </a:xfrm>
          <a:prstGeom prst="line">
            <a:avLst/>
          </a:prstGeom>
          <a:ln w="8778">
            <a:solidFill>
              <a:srgbClr val="A6A6A6"/>
            </a:solidFill>
          </a:ln>
          <a:effectLst/>
        </p:spPr>
        <p:style>
          <a:lnRef idx="2">
            <a:schemeClr val="accent1"/>
          </a:lnRef>
          <a:fillRef idx="0">
            <a:schemeClr val="accent1"/>
          </a:fillRef>
          <a:effectRef idx="0">
            <a:schemeClr val="accent1"/>
          </a:effectRef>
          <a:fontRef idx="minor">
            <a:schemeClr val="tx1"/>
          </a:fontRef>
        </p:style>
      </p:cxnSp>
      <p:sp>
        <p:nvSpPr>
          <p:cNvPr id="40" name="rect 39"/>
          <p:cNvSpPr/>
          <p:nvPr/>
        </p:nvSpPr>
        <p:spPr>
          <a:xfrm>
            <a:off x="6334790" y="1272810"/>
            <a:ext cx="892430" cy="219450"/>
          </a:xfrm>
          <a:prstGeom prst="rect">
            <a:avLst/>
          </a:prstGeom>
          <a:solidFill>
            <a:srgbClr val="A9CEE8"/>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context"/>
          <p:cNvSpPr txBox="1"/>
          <p:nvPr/>
        </p:nvSpPr>
        <p:spPr>
          <a:xfrm>
            <a:off x="6393310" y="1291463"/>
            <a:ext cx="712698" cy="201162"/>
          </a:xfrm>
          <a:prstGeom prst="rect">
            <a:avLst/>
          </a:prstGeom>
          <a:noFill/>
          <a:effectLst/>
        </p:spPr>
        <p:txBody>
          <a:bodyPr wrap="none" lIns="0" rIns="0" tIns="0" bIns="0" anchor="t">
            <a:spAutoFit/>
          </a:bodyPr>
          <a:lstStyle/>
          <a:p>
            <a:pPr algn="l">
              <a:lnSpc>
                <a:spcPct val="100000"/>
              </a:lnSpc>
              <a:spcBef>
                <a:spcPts val="0"/>
              </a:spcBef>
              <a:spcAft>
                <a:spcPts val="0"/>
              </a:spcAft>
            </a:pPr>
            <a:r>
              <a:rPr sz="1152" b="1" i="0" lang="en-US" spc="0">
                <a:solidFill>
                  <a:srgbClr val="181818"/>
                </a:solidFill>
                <a:latin typeface="DejaVu Sans"/>
                <a:ea typeface="DejaVu Sans"/>
                <a:effectLst/>
              </a:rPr>
              <a:t>context</a:t>
            </a:r>
          </a:p>
        </p:txBody>
      </p:sp>
      <p:sp>
        <p:nvSpPr>
          <p:cNvPr id="42" name="rect 41"/>
          <p:cNvSpPr/>
          <p:nvPr/>
        </p:nvSpPr>
        <p:spPr>
          <a:xfrm>
            <a:off x="7227220" y="1272810"/>
            <a:ext cx="672980" cy="219450"/>
          </a:xfrm>
          <a:prstGeom prst="rect">
            <a:avLst/>
          </a:prstGeom>
          <a:solidFill>
            <a:srgbClr val="A9CEE8"/>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epoch"/>
          <p:cNvSpPr txBox="1"/>
          <p:nvPr/>
        </p:nvSpPr>
        <p:spPr>
          <a:xfrm>
            <a:off x="7285740" y="1291463"/>
            <a:ext cx="583143" cy="201162"/>
          </a:xfrm>
          <a:prstGeom prst="rect">
            <a:avLst/>
          </a:prstGeom>
          <a:noFill/>
          <a:effectLst/>
        </p:spPr>
        <p:txBody>
          <a:bodyPr wrap="none" lIns="0" rIns="0" tIns="0" bIns="0" anchor="t">
            <a:spAutoFit/>
          </a:bodyPr>
          <a:lstStyle/>
          <a:p>
            <a:pPr algn="l">
              <a:lnSpc>
                <a:spcPct val="100000"/>
              </a:lnSpc>
              <a:spcBef>
                <a:spcPts val="0"/>
              </a:spcBef>
              <a:spcAft>
                <a:spcPts val="0"/>
              </a:spcAft>
            </a:pPr>
            <a:r>
              <a:rPr sz="1152" b="1" i="0" lang="en-US" spc="0">
                <a:solidFill>
                  <a:srgbClr val="181818"/>
                </a:solidFill>
                <a:latin typeface="DejaVu Sans"/>
                <a:ea typeface="DejaVu Sans"/>
                <a:effectLst/>
              </a:rPr>
              <a:t>epoch</a:t>
            </a:r>
          </a:p>
        </p:txBody>
      </p:sp>
      <p:sp>
        <p:nvSpPr>
          <p:cNvPr id="44" name="rect 43"/>
          <p:cNvSpPr/>
          <p:nvPr/>
        </p:nvSpPr>
        <p:spPr>
          <a:xfrm>
            <a:off x="7900200" y="1272810"/>
            <a:ext cx="994840" cy="219450"/>
          </a:xfrm>
          <a:prstGeom prst="rect">
            <a:avLst/>
          </a:prstGeom>
          <a:solidFill>
            <a:srgbClr val="A9CEE8"/>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 name="request"/>
          <p:cNvSpPr txBox="1"/>
          <p:nvPr/>
        </p:nvSpPr>
        <p:spPr>
          <a:xfrm>
            <a:off x="7958720" y="1291463"/>
            <a:ext cx="724328" cy="201162"/>
          </a:xfrm>
          <a:prstGeom prst="rect">
            <a:avLst/>
          </a:prstGeom>
          <a:noFill/>
          <a:effectLst/>
        </p:spPr>
        <p:txBody>
          <a:bodyPr wrap="none" lIns="0" rIns="0" tIns="0" bIns="0" anchor="t">
            <a:spAutoFit/>
          </a:bodyPr>
          <a:lstStyle/>
          <a:p>
            <a:pPr algn="l">
              <a:lnSpc>
                <a:spcPct val="100000"/>
              </a:lnSpc>
              <a:spcBef>
                <a:spcPts val="0"/>
              </a:spcBef>
              <a:spcAft>
                <a:spcPts val="0"/>
              </a:spcAft>
            </a:pPr>
            <a:r>
              <a:rPr sz="1152" b="1" i="0" lang="en-US" spc="0">
                <a:solidFill>
                  <a:srgbClr val="181818"/>
                </a:solidFill>
                <a:latin typeface="DejaVu Sans"/>
                <a:ea typeface="DejaVu Sans"/>
                <a:effectLst/>
              </a:rPr>
              <a:t>request</a:t>
            </a:r>
          </a:p>
        </p:txBody>
      </p:sp>
      <p:sp>
        <p:nvSpPr>
          <p:cNvPr id="46" name="rect 45"/>
          <p:cNvSpPr/>
          <p:nvPr/>
        </p:nvSpPr>
        <p:spPr>
          <a:xfrm>
            <a:off x="6334790" y="1492260"/>
            <a:ext cx="892430" cy="219450"/>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7" name="P / C"/>
          <p:cNvSpPr txBox="1"/>
          <p:nvPr/>
        </p:nvSpPr>
        <p:spPr>
          <a:xfrm>
            <a:off x="6393310" y="1510913"/>
            <a:ext cx="420498" cy="201162"/>
          </a:xfrm>
          <a:prstGeom prst="rect">
            <a:avLst/>
          </a:prstGeom>
          <a:noFill/>
          <a:effectLst/>
        </p:spPr>
        <p:txBody>
          <a:bodyPr wrap="none" lIns="0" rIns="0" tIns="0" bIns="0" anchor="t">
            <a:spAutoFit/>
          </a:bodyPr>
          <a:lstStyle/>
          <a:p>
            <a:pPr algn="l">
              <a:lnSpc>
                <a:spcPct val="100000"/>
              </a:lnSpc>
              <a:spcBef>
                <a:spcPts val="0"/>
              </a:spcBef>
              <a:spcAft>
                <a:spcPts val="0"/>
              </a:spcAft>
            </a:pPr>
            <a:r>
              <a:rPr sz="1152" b="0" i="0" lang="en-US" spc="0">
                <a:solidFill>
                  <a:srgbClr val="181818"/>
                </a:solidFill>
                <a:latin typeface="DejaVu Sans"/>
                <a:ea typeface="DejaVu Sans"/>
                <a:effectLst/>
              </a:rPr>
              <a:t>P / C</a:t>
            </a:r>
          </a:p>
        </p:txBody>
      </p:sp>
      <p:sp>
        <p:nvSpPr>
          <p:cNvPr id="48" name="rect 47"/>
          <p:cNvSpPr/>
          <p:nvPr/>
        </p:nvSpPr>
        <p:spPr>
          <a:xfrm>
            <a:off x="7227220" y="1492260"/>
            <a:ext cx="672980" cy="219450"/>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9" name="e"/>
          <p:cNvSpPr txBox="1"/>
          <p:nvPr/>
        </p:nvSpPr>
        <p:spPr>
          <a:xfrm>
            <a:off x="7285740" y="1510913"/>
            <a:ext cx="177789" cy="201162"/>
          </a:xfrm>
          <a:prstGeom prst="rect">
            <a:avLst/>
          </a:prstGeom>
          <a:noFill/>
          <a:effectLst/>
        </p:spPr>
        <p:txBody>
          <a:bodyPr wrap="none" lIns="0" rIns="0" tIns="0" bIns="0" anchor="t">
            <a:spAutoFit/>
          </a:bodyPr>
          <a:lstStyle/>
          <a:p>
            <a:pPr algn="l">
              <a:lnSpc>
                <a:spcPct val="100000"/>
              </a:lnSpc>
              <a:spcBef>
                <a:spcPts val="0"/>
              </a:spcBef>
              <a:spcAft>
                <a:spcPts val="0"/>
              </a:spcAft>
            </a:pPr>
            <a:r>
              <a:rPr sz="1152" b="0" i="0" lang="en-US" spc="0">
                <a:solidFill>
                  <a:srgbClr val="181818"/>
                </a:solidFill>
                <a:latin typeface="DejaVu Sans"/>
                <a:ea typeface="DejaVu Sans"/>
                <a:effectLst/>
              </a:rPr>
              <a:t>e</a:t>
            </a:r>
          </a:p>
        </p:txBody>
      </p:sp>
      <p:sp>
        <p:nvSpPr>
          <p:cNvPr id="50" name="rect 49"/>
          <p:cNvSpPr/>
          <p:nvPr/>
        </p:nvSpPr>
        <p:spPr>
          <a:xfrm>
            <a:off x="7900200" y="1492260"/>
            <a:ext cx="994840" cy="219450"/>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1" name="r"/>
          <p:cNvSpPr txBox="1"/>
          <p:nvPr/>
        </p:nvSpPr>
        <p:spPr>
          <a:xfrm>
            <a:off x="7958720" y="1510913"/>
            <a:ext cx="147929" cy="201162"/>
          </a:xfrm>
          <a:prstGeom prst="rect">
            <a:avLst/>
          </a:prstGeom>
          <a:noFill/>
          <a:effectLst/>
        </p:spPr>
        <p:txBody>
          <a:bodyPr wrap="none" lIns="0" rIns="0" tIns="0" bIns="0" anchor="t">
            <a:spAutoFit/>
          </a:bodyPr>
          <a:lstStyle/>
          <a:p>
            <a:pPr algn="l">
              <a:lnSpc>
                <a:spcPct val="100000"/>
              </a:lnSpc>
              <a:spcBef>
                <a:spcPts val="0"/>
              </a:spcBef>
              <a:spcAft>
                <a:spcPts val="0"/>
              </a:spcAft>
            </a:pPr>
            <a:r>
              <a:rPr sz="1152" b="0" i="0" lang="en-US" spc="0">
                <a:solidFill>
                  <a:srgbClr val="181818"/>
                </a:solidFill>
                <a:latin typeface="DejaVu Sans"/>
                <a:ea typeface="DejaVu Sans"/>
                <a:effectLst/>
              </a:rPr>
              <a:t>r</a:t>
            </a:r>
          </a:p>
        </p:txBody>
      </p:sp>
      <p:sp>
        <p:nvSpPr>
          <p:cNvPr id="52" name="Causal identity"/>
          <p:cNvSpPr txBox="1"/>
          <p:nvPr/>
        </p:nvSpPr>
        <p:spPr>
          <a:xfrm>
            <a:off x="6988411" y="1744628"/>
            <a:ext cx="1238378" cy="208478"/>
          </a:xfrm>
          <a:prstGeom prst="rect">
            <a:avLst/>
          </a:prstGeom>
          <a:noFill/>
          <a:effectLst/>
        </p:spPr>
        <p:txBody>
          <a:bodyPr wrap="none" lIns="0" rIns="0" tIns="0" bIns="0" anchor="t">
            <a:spAutoFit/>
          </a:bodyPr>
          <a:lstStyle/>
          <a:p>
            <a:pPr algn="ctr">
              <a:lnSpc>
                <a:spcPct val="100000"/>
              </a:lnSpc>
              <a:spcBef>
                <a:spcPts val="0"/>
              </a:spcBef>
              <a:spcAft>
                <a:spcPts val="0"/>
              </a:spcAft>
            </a:pPr>
            <a:r>
              <a:rPr sz="1209" b="0" i="0" lang="en-US" spc="0">
                <a:solidFill>
                  <a:srgbClr val="181818"/>
                </a:solidFill>
                <a:latin typeface="DejaVu Sans"/>
                <a:ea typeface="DejaVu Sans"/>
                <a:effectLst/>
              </a:rPr>
              <a:t>Causal identity</a:t>
            </a:r>
          </a:p>
        </p:txBody>
      </p:sp>
      <p:sp>
        <p:nvSpPr>
          <p:cNvPr id="53" name="rect 52"/>
          <p:cNvSpPr/>
          <p:nvPr/>
        </p:nvSpPr>
        <p:spPr>
          <a:xfrm>
            <a:off x="9180325" y="1258180"/>
            <a:ext cx="702240" cy="563255"/>
          </a:xfrm>
          <a:prstGeom prst="roundRect">
            <a:avLst>
              <a:gd name="adj" fmla="val 2597"/>
            </a:avLst>
          </a:prstGeom>
          <a:solidFill>
            <a:srgbClr val="FFFFFF"/>
          </a:solidFill>
          <a:ln w="13898">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4" name="polygon 53"/>
          <p:cNvSpPr/>
          <p:nvPr/>
        </p:nvSpPr>
        <p:spPr>
          <a:xfrm>
            <a:off x="9707005" y="1258180"/>
            <a:ext cx="175560" cy="175560"/>
          </a:xfrm>
          <a:custGeom>
            <a:avLst/>
            <a:gdLst/>
            <a:ahLst/>
            <a:cxnLst/>
            <a:rect l="l" t="t" r="r" b="b"/>
            <a:pathLst>
              <a:path w="24" h="24">
                <a:moveTo>
                  <a:pt x="0" y="0"/>
                </a:moveTo>
                <a:lnTo>
                  <a:pt x="24" y="24"/>
                </a:lnTo>
                <a:lnTo>
                  <a:pt x="0" y="24"/>
                </a:lnTo>
                <a:close/>
              </a:path>
            </a:pathLst>
          </a:custGeom>
          <a:solidFill>
            <a:srgbClr val="FFFFF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5" name="rect 54"/>
          <p:cNvSpPr/>
          <p:nvPr/>
        </p:nvSpPr>
        <p:spPr>
          <a:xfrm>
            <a:off x="9268105" y="1433740"/>
            <a:ext cx="373943" cy="73150"/>
          </a:xfrm>
          <a:prstGeom prst="rect">
            <a:avLst/>
          </a:prstGeom>
          <a:solidFill>
            <a:srgbClr val="DDDDD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6" name="rect 55"/>
          <p:cNvSpPr/>
          <p:nvPr/>
        </p:nvSpPr>
        <p:spPr>
          <a:xfrm>
            <a:off x="9268105" y="1572725"/>
            <a:ext cx="436267" cy="73150"/>
          </a:xfrm>
          <a:prstGeom prst="rect">
            <a:avLst/>
          </a:prstGeom>
          <a:solidFill>
            <a:srgbClr val="F2BD7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7" name="path 56"/>
          <p:cNvSpPr/>
          <p:nvPr/>
        </p:nvSpPr>
        <p:spPr>
          <a:xfrm>
            <a:off x="10321465" y="1367905"/>
            <a:ext cx="804650" cy="424270"/>
          </a:xfrm>
          <a:custGeom>
            <a:avLst/>
            <a:gdLst/>
            <a:ahLst/>
            <a:cxnLst/>
            <a:rect l="l" t="t" r="r" b="b"/>
            <a:pathLst>
              <a:path w="110" h="58">
                <a:moveTo>
                  <a:pt x="0" y="58"/>
                </a:moveTo>
                <a:lnTo>
                  <a:pt x="23" y="58"/>
                </a:lnTo>
                <a:lnTo>
                  <a:pt x="23" y="38"/>
                </a:lnTo>
                <a:lnTo>
                  <a:pt x="49" y="38"/>
                </a:lnTo>
                <a:lnTo>
                  <a:pt x="49" y="22"/>
                </a:lnTo>
                <a:lnTo>
                  <a:pt x="80" y="22"/>
                </a:lnTo>
                <a:lnTo>
                  <a:pt x="80" y="0"/>
                </a:lnTo>
                <a:lnTo>
                  <a:pt x="110" y="0"/>
                </a:lnTo>
              </a:path>
            </a:pathLst>
          </a:custGeom>
          <a:noFill/>
          <a:ln w="18288">
            <a:solidFill>
              <a:srgbClr val="2676B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8" name="circle 57"/>
          <p:cNvSpPr/>
          <p:nvPr/>
        </p:nvSpPr>
        <p:spPr>
          <a:xfrm>
            <a:off x="11447975" y="1345960"/>
            <a:ext cx="336490" cy="336490"/>
          </a:xfrm>
          <a:prstGeom prst="ellipse">
            <a:avLst/>
          </a:prstGeom>
          <a:solidFill>
            <a:srgbClr val="FFFFF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9" name="path 58"/>
          <p:cNvSpPr/>
          <p:nvPr/>
        </p:nvSpPr>
        <p:spPr>
          <a:xfrm>
            <a:off x="11616220" y="1404480"/>
            <a:ext cx="95095" cy="153615"/>
          </a:xfrm>
          <a:custGeom>
            <a:avLst/>
            <a:gdLst/>
            <a:ahLst/>
            <a:cxnLst/>
            <a:rect l="l" t="t" r="r" b="b"/>
            <a:pathLst>
              <a:path w="13" h="21">
                <a:moveTo>
                  <a:pt x="0" y="0"/>
                </a:moveTo>
                <a:lnTo>
                  <a:pt x="0" y="15"/>
                </a:lnTo>
                <a:lnTo>
                  <a:pt x="13" y="21"/>
                </a:lnTo>
              </a:path>
            </a:pathLst>
          </a:custGeom>
          <a:noFill/>
          <a:ln w="14630">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0" name="Text / notice"/>
          <p:cNvSpPr txBox="1"/>
          <p:nvPr/>
        </p:nvSpPr>
        <p:spPr>
          <a:xfrm>
            <a:off x="9043069" y="1815949"/>
            <a:ext cx="976753" cy="201162"/>
          </a:xfrm>
          <a:prstGeom prst="rect">
            <a:avLst/>
          </a:prstGeom>
          <a:noFill/>
          <a:effectLst/>
        </p:spPr>
        <p:txBody>
          <a:bodyPr wrap="none" lIns="0" rIns="0" tIns="0" bIns="0" anchor="t">
            <a:spAutoFit/>
          </a:bodyPr>
          <a:lstStyle/>
          <a:p>
            <a:pPr algn="ctr">
              <a:lnSpc>
                <a:spcPct val="100000"/>
              </a:lnSpc>
              <a:spcBef>
                <a:spcPts val="0"/>
              </a:spcBef>
              <a:spcAft>
                <a:spcPts val="0"/>
              </a:spcAft>
            </a:pPr>
            <a:r>
              <a:rPr sz="1152" b="0" i="0" lang="en-US" spc="0">
                <a:solidFill>
                  <a:srgbClr val="181818"/>
                </a:solidFill>
                <a:latin typeface="DejaVu Sans"/>
                <a:ea typeface="DejaVu Sans"/>
                <a:effectLst/>
              </a:rPr>
              <a:t>Text / notice</a:t>
            </a:r>
          </a:p>
        </p:txBody>
      </p:sp>
      <p:sp>
        <p:nvSpPr>
          <p:cNvPr id="61" name="Service progress"/>
          <p:cNvSpPr txBox="1"/>
          <p:nvPr/>
        </p:nvSpPr>
        <p:spPr>
          <a:xfrm>
            <a:off x="10319179" y="1815949"/>
            <a:ext cx="1306642" cy="201162"/>
          </a:xfrm>
          <a:prstGeom prst="rect">
            <a:avLst/>
          </a:prstGeom>
          <a:noFill/>
          <a:effectLst/>
        </p:spPr>
        <p:txBody>
          <a:bodyPr wrap="none" lIns="0" rIns="0" tIns="0" bIns="0" anchor="t">
            <a:spAutoFit/>
          </a:bodyPr>
          <a:lstStyle/>
          <a:p>
            <a:pPr algn="ctr">
              <a:lnSpc>
                <a:spcPct val="100000"/>
              </a:lnSpc>
              <a:spcBef>
                <a:spcPts val="0"/>
              </a:spcBef>
              <a:spcAft>
                <a:spcPts val="0"/>
              </a:spcAft>
            </a:pPr>
            <a:r>
              <a:rPr sz="1152" b="0" i="0" lang="en-US" spc="0">
                <a:solidFill>
                  <a:srgbClr val="181818"/>
                </a:solidFill>
                <a:latin typeface="DejaVu Sans"/>
                <a:ea typeface="DejaVu Sans"/>
                <a:effectLst/>
              </a:rPr>
              <a:t>Service progress</a:t>
            </a:r>
          </a:p>
        </p:txBody>
      </p:sp>
      <p:sp>
        <p:nvSpPr>
          <p:cNvPr id="62" name="rect 61"/>
          <p:cNvSpPr/>
          <p:nvPr/>
        </p:nvSpPr>
        <p:spPr>
          <a:xfrm>
            <a:off x="11981970" y="1324015"/>
            <a:ext cx="190190" cy="365750"/>
          </a:xfrm>
          <a:prstGeom prst="roundRect">
            <a:avLst>
              <a:gd name="adj" fmla="val 3846"/>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3" name="rect 62"/>
          <p:cNvSpPr/>
          <p:nvPr/>
        </p:nvSpPr>
        <p:spPr>
          <a:xfrm>
            <a:off x="12216050" y="1324015"/>
            <a:ext cx="190190" cy="365750"/>
          </a:xfrm>
          <a:prstGeom prst="roundRect">
            <a:avLst>
              <a:gd name="adj" fmla="val 3846"/>
            </a:avLst>
          </a:prstGeom>
          <a:solidFill>
            <a:srgbClr val="F2BD7D"/>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4" name="rect 63"/>
          <p:cNvSpPr/>
          <p:nvPr/>
        </p:nvSpPr>
        <p:spPr>
          <a:xfrm>
            <a:off x="12450130" y="1324015"/>
            <a:ext cx="190190" cy="365750"/>
          </a:xfrm>
          <a:prstGeom prst="roundRect">
            <a:avLst>
              <a:gd name="adj" fmla="val 3846"/>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5" name="tokens"/>
          <p:cNvSpPr txBox="1"/>
          <p:nvPr/>
        </p:nvSpPr>
        <p:spPr>
          <a:xfrm>
            <a:off x="11945395" y="1764744"/>
            <a:ext cx="573170" cy="201162"/>
          </a:xfrm>
          <a:prstGeom prst="rect">
            <a:avLst/>
          </a:prstGeom>
          <a:noFill/>
          <a:effectLst/>
        </p:spPr>
        <p:txBody>
          <a:bodyPr wrap="none" lIns="0" rIns="0" tIns="0" bIns="0" anchor="t">
            <a:spAutoFit/>
          </a:bodyPr>
          <a:lstStyle/>
          <a:p>
            <a:pPr algn="l">
              <a:lnSpc>
                <a:spcPct val="100000"/>
              </a:lnSpc>
              <a:spcBef>
                <a:spcPts val="0"/>
              </a:spcBef>
              <a:spcAft>
                <a:spcPts val="0"/>
              </a:spcAft>
            </a:pPr>
            <a:r>
              <a:rPr sz="1152" b="0" i="0" lang="en-US" spc="0">
                <a:solidFill>
                  <a:srgbClr val="181818"/>
                </a:solidFill>
                <a:latin typeface="DejaVu Sans"/>
                <a:ea typeface="DejaVu Sans"/>
                <a:effectLst/>
              </a:rPr>
              <a:t>tokens</a:t>
            </a:r>
          </a:p>
        </p:txBody>
      </p:sp>
      <p:sp>
        <p:nvSpPr>
          <p:cNvPr id="66" name="rect 65"/>
          <p:cNvSpPr/>
          <p:nvPr/>
        </p:nvSpPr>
        <p:spPr>
          <a:xfrm>
            <a:off x="234080" y="2194500"/>
            <a:ext cx="6671280" cy="6173860"/>
          </a:xfrm>
          <a:prstGeom prst="roundRect">
            <a:avLst>
              <a:gd name="adj" fmla="val 236"/>
            </a:avLst>
          </a:prstGeom>
          <a:solidFill>
            <a:srgbClr val="E8F1F8"/>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7" name="rect 66"/>
          <p:cNvSpPr/>
          <p:nvPr/>
        </p:nvSpPr>
        <p:spPr>
          <a:xfrm>
            <a:off x="234080" y="2194500"/>
            <a:ext cx="6671280" cy="277970"/>
          </a:xfrm>
          <a:prstGeom prst="roundRect">
            <a:avLst>
              <a:gd name="adj" fmla="val 5263"/>
            </a:avLst>
          </a:prstGeom>
          <a:solidFill>
            <a:srgbClr val="A9CEE8"/>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8" name="BeliefKV control plane"/>
          <p:cNvSpPr txBox="1"/>
          <p:nvPr/>
        </p:nvSpPr>
        <p:spPr>
          <a:xfrm>
            <a:off x="336490" y="2204448"/>
            <a:ext cx="2668803" cy="268826"/>
          </a:xfrm>
          <a:prstGeom prst="rect">
            <a:avLst/>
          </a:prstGeom>
          <a:noFill/>
          <a:effectLst/>
        </p:spPr>
        <p:txBody>
          <a:bodyPr wrap="none" lIns="0" rIns="0" tIns="0" bIns="0" anchor="t">
            <a:spAutoFit/>
          </a:bodyPr>
          <a:lstStyle/>
          <a:p>
            <a:pPr algn="l">
              <a:lnSpc>
                <a:spcPct val="100000"/>
              </a:lnSpc>
              <a:spcBef>
                <a:spcPts val="0"/>
              </a:spcBef>
              <a:spcAft>
                <a:spcPts val="0"/>
              </a:spcAft>
            </a:pPr>
            <a:r>
              <a:rPr sz="1612" b="1" i="0" lang="en-US" spc="0">
                <a:solidFill>
                  <a:srgbClr val="181818"/>
                </a:solidFill>
                <a:latin typeface="DejaVu Sans"/>
                <a:ea typeface="DejaVu Sans"/>
                <a:effectLst/>
              </a:rPr>
              <a:t>BeliefKV control plane</a:t>
            </a:r>
          </a:p>
        </p:txBody>
      </p:sp>
      <p:sp>
        <p:nvSpPr>
          <p:cNvPr id="69" name="rect 68"/>
          <p:cNvSpPr/>
          <p:nvPr/>
        </p:nvSpPr>
        <p:spPr>
          <a:xfrm>
            <a:off x="7080920" y="2194500"/>
            <a:ext cx="5852000" cy="6173860"/>
          </a:xfrm>
          <a:prstGeom prst="roundRect">
            <a:avLst>
              <a:gd name="adj" fmla="val 250"/>
            </a:avLst>
          </a:prstGeom>
          <a:solidFill>
            <a:srgbClr val="EAF2E7"/>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0" name="rect 69"/>
          <p:cNvSpPr/>
          <p:nvPr/>
        </p:nvSpPr>
        <p:spPr>
          <a:xfrm>
            <a:off x="7080920" y="2194500"/>
            <a:ext cx="5852000" cy="277970"/>
          </a:xfrm>
          <a:prstGeom prst="roundRect">
            <a:avLst>
              <a:gd name="adj" fmla="val 5263"/>
            </a:avLst>
          </a:prstGeom>
          <a:solidFill>
            <a:srgbClr val="9DC38B"/>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1" name="Native SGLang data plane"/>
          <p:cNvSpPr txBox="1"/>
          <p:nvPr/>
        </p:nvSpPr>
        <p:spPr>
          <a:xfrm>
            <a:off x="7183330" y="2204448"/>
            <a:ext cx="3089530" cy="268826"/>
          </a:xfrm>
          <a:prstGeom prst="rect">
            <a:avLst/>
          </a:prstGeom>
          <a:noFill/>
          <a:effectLst/>
        </p:spPr>
        <p:txBody>
          <a:bodyPr wrap="none" lIns="0" rIns="0" tIns="0" bIns="0" anchor="t">
            <a:spAutoFit/>
          </a:bodyPr>
          <a:lstStyle/>
          <a:p>
            <a:pPr algn="l">
              <a:lnSpc>
                <a:spcPct val="100000"/>
              </a:lnSpc>
              <a:spcBef>
                <a:spcPts val="0"/>
              </a:spcBef>
              <a:spcAft>
                <a:spcPts val="0"/>
              </a:spcAft>
            </a:pPr>
            <a:r>
              <a:rPr sz="1612" b="1" i="0" lang="en-US" spc="0">
                <a:solidFill>
                  <a:srgbClr val="181818"/>
                </a:solidFill>
                <a:latin typeface="DejaVu Sans"/>
                <a:ea typeface="DejaVu Sans"/>
                <a:effectLst/>
              </a:rPr>
              <a:t>Native SGLang data plane</a:t>
            </a:r>
          </a:p>
        </p:txBody>
      </p:sp>
      <p:sp>
        <p:nvSpPr>
          <p:cNvPr id="72" name="path 71"/>
          <p:cNvSpPr/>
          <p:nvPr/>
        </p:nvSpPr>
        <p:spPr>
          <a:xfrm>
            <a:off x="3313695" y="2033570"/>
            <a:ext cx="4293905" cy="512050"/>
          </a:xfrm>
          <a:custGeom>
            <a:avLst/>
            <a:gdLst/>
            <a:ahLst/>
            <a:cxnLst/>
            <a:rect l="l" t="t" r="r" b="b"/>
            <a:pathLst>
              <a:path w="587" h="70">
                <a:moveTo>
                  <a:pt x="587" y="0"/>
                </a:moveTo>
                <a:lnTo>
                  <a:pt x="587" y="10"/>
                </a:lnTo>
                <a:lnTo>
                  <a:pt x="0" y="10"/>
                </a:lnTo>
                <a:lnTo>
                  <a:pt x="0" y="70"/>
                </a:lnTo>
              </a:path>
            </a:pathLst>
          </a:custGeom>
          <a:noFill/>
          <a:ln w="14630">
            <a:solidFill>
              <a:srgbClr val="2676B8"/>
            </a:solidFill>
            <a:prstDash val="dash"/>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3" name="arrowhead 72"/>
          <p:cNvSpPr/>
          <p:nvPr/>
        </p:nvSpPr>
        <p:spPr>
          <a:xfrm>
            <a:off x="3262490" y="2457840"/>
            <a:ext cx="102410" cy="102410"/>
          </a:xfrm>
          <a:custGeom>
            <a:avLst/>
            <a:gdLst/>
            <a:ahLst/>
            <a:cxnLst/>
            <a:rect l="l" t="t" r="r" b="b"/>
            <a:pathLst>
              <a:path w="14" h="14">
                <a:moveTo>
                  <a:pt x="7" y="14"/>
                </a:moveTo>
                <a:lnTo>
                  <a:pt x="0" y="0"/>
                </a:lnTo>
                <a:lnTo>
                  <a:pt x="14" y="0"/>
                </a:lnTo>
                <a:close/>
              </a:path>
            </a:pathLst>
          </a:custGeom>
          <a:solidFill>
            <a:srgbClr val="2676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4" name="path 73"/>
          <p:cNvSpPr/>
          <p:nvPr/>
        </p:nvSpPr>
        <p:spPr>
          <a:xfrm>
            <a:off x="5171705" y="2033570"/>
            <a:ext cx="4367055" cy="512050"/>
          </a:xfrm>
          <a:custGeom>
            <a:avLst/>
            <a:gdLst/>
            <a:ahLst/>
            <a:cxnLst/>
            <a:rect l="l" t="t" r="r" b="b"/>
            <a:pathLst>
              <a:path w="597" h="70">
                <a:moveTo>
                  <a:pt x="597" y="0"/>
                </a:moveTo>
                <a:lnTo>
                  <a:pt x="597" y="16"/>
                </a:lnTo>
                <a:lnTo>
                  <a:pt x="0" y="16"/>
                </a:lnTo>
                <a:lnTo>
                  <a:pt x="0" y="70"/>
                </a:lnTo>
              </a:path>
            </a:pathLst>
          </a:custGeom>
          <a:noFill/>
          <a:ln w="14630">
            <a:solidFill>
              <a:srgbClr val="2676B8"/>
            </a:solidFill>
            <a:prstDash val="dash"/>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5" name="arrowhead 74"/>
          <p:cNvSpPr/>
          <p:nvPr/>
        </p:nvSpPr>
        <p:spPr>
          <a:xfrm>
            <a:off x="5120500" y="2457840"/>
            <a:ext cx="102410" cy="102410"/>
          </a:xfrm>
          <a:custGeom>
            <a:avLst/>
            <a:gdLst/>
            <a:ahLst/>
            <a:cxnLst/>
            <a:rect l="l" t="t" r="r" b="b"/>
            <a:pathLst>
              <a:path w="14" h="14">
                <a:moveTo>
                  <a:pt x="7" y="14"/>
                </a:moveTo>
                <a:lnTo>
                  <a:pt x="0" y="0"/>
                </a:lnTo>
                <a:lnTo>
                  <a:pt x="14" y="0"/>
                </a:lnTo>
                <a:close/>
              </a:path>
            </a:pathLst>
          </a:custGeom>
          <a:solidFill>
            <a:srgbClr val="2676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6" name="rect 75"/>
          <p:cNvSpPr/>
          <p:nvPr/>
        </p:nvSpPr>
        <p:spPr>
          <a:xfrm>
            <a:off x="351120" y="2560250"/>
            <a:ext cx="3057670" cy="2311540"/>
          </a:xfrm>
          <a:prstGeom prst="roundRect">
            <a:avLst>
              <a:gd name="adj" fmla="val 632"/>
            </a:avLst>
          </a:prstGeom>
          <a:solidFill>
            <a:srgbClr val="EEEEEE"/>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7" name="rect 76"/>
          <p:cNvSpPr/>
          <p:nvPr/>
        </p:nvSpPr>
        <p:spPr>
          <a:xfrm>
            <a:off x="351120" y="2560250"/>
            <a:ext cx="3057670" cy="277970"/>
          </a:xfrm>
          <a:prstGeom prst="roundRect">
            <a:avLst>
              <a:gd name="adj" fmla="val 5263"/>
            </a:avLst>
          </a:prstGeom>
          <a:solidFill>
            <a:srgbClr val="A9CEE8"/>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8" name="1  Dependency state / RCCG"/>
          <p:cNvSpPr txBox="1"/>
          <p:nvPr/>
        </p:nvSpPr>
        <p:spPr>
          <a:xfrm>
            <a:off x="453530" y="2595801"/>
            <a:ext cx="2849250" cy="235909"/>
          </a:xfrm>
          <a:prstGeom prst="rect">
            <a:avLst/>
          </a:prstGeom>
          <a:noFill/>
          <a:effectLst/>
        </p:spPr>
        <p:txBody>
          <a:bodyPr wrap="none" lIns="0" rIns="0" tIns="0" bIns="0" anchor="t">
            <a:spAutoFit/>
          </a:bodyPr>
          <a:lstStyle/>
          <a:p>
            <a:pPr algn="l">
              <a:lnSpc>
                <a:spcPct val="100000"/>
              </a:lnSpc>
              <a:spcBef>
                <a:spcPts val="0"/>
              </a:spcBef>
              <a:spcAft>
                <a:spcPts val="0"/>
              </a:spcAft>
            </a:pPr>
            <a:r>
              <a:rPr sz="1382" b="1" i="0" lang="en-US" spc="0">
                <a:solidFill>
                  <a:srgbClr val="181818"/>
                </a:solidFill>
                <a:latin typeface="DejaVu Sans"/>
                <a:ea typeface="DejaVu Sans"/>
                <a:effectLst/>
              </a:rPr>
              <a:t>1  Dependency state / RCCG</a:t>
            </a:r>
          </a:p>
        </p:txBody>
      </p:sp>
      <p:sp>
        <p:nvSpPr>
          <p:cNvPr id="79" name="circle 78"/>
          <p:cNvSpPr/>
          <p:nvPr/>
        </p:nvSpPr>
        <p:spPr>
          <a:xfrm>
            <a:off x="490105" y="3277120"/>
            <a:ext cx="336490" cy="336490"/>
          </a:xfrm>
          <a:prstGeom prst="ellipse">
            <a:avLst/>
          </a:prstGeom>
          <a:solidFill>
            <a:srgbClr val="E9A6BF"/>
          </a:solidFill>
          <a:ln w="14630">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0" name="P"/>
          <p:cNvSpPr txBox="1"/>
          <p:nvPr/>
        </p:nvSpPr>
        <p:spPr>
          <a:xfrm>
            <a:off x="555483" y="3350124"/>
            <a:ext cx="205734" cy="217621"/>
          </a:xfrm>
          <a:prstGeom prst="rect">
            <a:avLst/>
          </a:prstGeom>
          <a:noFill/>
          <a:effectLst/>
        </p:spPr>
        <p:txBody>
          <a:bodyPr wrap="none" lIns="0" rIns="0" tIns="0" bIns="0" anchor="t">
            <a:spAutoFit/>
          </a:bodyPr>
          <a:lstStyle/>
          <a:p>
            <a:pPr algn="ctr">
              <a:lnSpc>
                <a:spcPct val="100000"/>
              </a:lnSpc>
              <a:spcBef>
                <a:spcPts val="0"/>
              </a:spcBef>
              <a:spcAft>
                <a:spcPts val="0"/>
              </a:spcAft>
            </a:pPr>
            <a:r>
              <a:rPr sz="1267" b="1" i="0" lang="en-US" spc="0">
                <a:solidFill>
                  <a:srgbClr val="181818"/>
                </a:solidFill>
                <a:latin typeface="DejaVu Sans"/>
                <a:ea typeface="DejaVu Sans"/>
                <a:effectLst/>
              </a:rPr>
              <a:t>P</a:t>
            </a:r>
          </a:p>
        </p:txBody>
      </p:sp>
      <p:sp>
        <p:nvSpPr>
          <p:cNvPr id="81" name="circle 80"/>
          <p:cNvSpPr/>
          <p:nvPr/>
        </p:nvSpPr>
        <p:spPr>
          <a:xfrm>
            <a:off x="1338645" y="2918685"/>
            <a:ext cx="336490" cy="336490"/>
          </a:xfrm>
          <a:prstGeom prst="ellipse">
            <a:avLst/>
          </a:prstGeom>
          <a:solidFill>
            <a:srgbClr val="B5D68B"/>
          </a:solidFill>
          <a:ln w="14630">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2" name="C1"/>
          <p:cNvSpPr txBox="1"/>
          <p:nvPr/>
        </p:nvSpPr>
        <p:spPr>
          <a:xfrm>
            <a:off x="1347960" y="2991689"/>
            <a:ext cx="317860" cy="217621"/>
          </a:xfrm>
          <a:prstGeom prst="rect">
            <a:avLst/>
          </a:prstGeom>
          <a:noFill/>
          <a:effectLst/>
        </p:spPr>
        <p:txBody>
          <a:bodyPr wrap="none" lIns="0" rIns="0" tIns="0" bIns="0" anchor="t">
            <a:spAutoFit/>
          </a:bodyPr>
          <a:lstStyle/>
          <a:p>
            <a:pPr algn="ctr">
              <a:lnSpc>
                <a:spcPct val="100000"/>
              </a:lnSpc>
              <a:spcBef>
                <a:spcPts val="0"/>
              </a:spcBef>
              <a:spcAft>
                <a:spcPts val="0"/>
              </a:spcAft>
            </a:pPr>
            <a:r>
              <a:rPr sz="1267" b="1" i="0" lang="en-US" spc="0">
                <a:solidFill>
                  <a:srgbClr val="181818"/>
                </a:solidFill>
                <a:latin typeface="DejaVu Sans"/>
                <a:ea typeface="DejaVu Sans"/>
                <a:effectLst/>
              </a:rPr>
              <a:t>C1</a:t>
            </a:r>
          </a:p>
        </p:txBody>
      </p:sp>
      <p:sp>
        <p:nvSpPr>
          <p:cNvPr id="83" name="circle 82"/>
          <p:cNvSpPr/>
          <p:nvPr/>
        </p:nvSpPr>
        <p:spPr>
          <a:xfrm>
            <a:off x="1338645" y="3562405"/>
            <a:ext cx="336490" cy="336490"/>
          </a:xfrm>
          <a:prstGeom prst="ellipse">
            <a:avLst/>
          </a:prstGeom>
          <a:solidFill>
            <a:srgbClr val="F2BD7D"/>
          </a:solidFill>
          <a:ln w="14630">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4" name="C2"/>
          <p:cNvSpPr txBox="1"/>
          <p:nvPr/>
        </p:nvSpPr>
        <p:spPr>
          <a:xfrm>
            <a:off x="1347960" y="3635409"/>
            <a:ext cx="317860" cy="217621"/>
          </a:xfrm>
          <a:prstGeom prst="rect">
            <a:avLst/>
          </a:prstGeom>
          <a:noFill/>
          <a:effectLst/>
        </p:spPr>
        <p:txBody>
          <a:bodyPr wrap="none" lIns="0" rIns="0" tIns="0" bIns="0" anchor="t">
            <a:spAutoFit/>
          </a:bodyPr>
          <a:lstStyle/>
          <a:p>
            <a:pPr algn="ctr">
              <a:lnSpc>
                <a:spcPct val="100000"/>
              </a:lnSpc>
              <a:spcBef>
                <a:spcPts val="0"/>
              </a:spcBef>
              <a:spcAft>
                <a:spcPts val="0"/>
              </a:spcAft>
            </a:pPr>
            <a:r>
              <a:rPr sz="1267" b="1" i="0" lang="en-US" spc="0">
                <a:solidFill>
                  <a:srgbClr val="181818"/>
                </a:solidFill>
                <a:latin typeface="DejaVu Sans"/>
                <a:ea typeface="DejaVu Sans"/>
                <a:effectLst/>
              </a:rPr>
              <a:t>C2</a:t>
            </a:r>
          </a:p>
        </p:txBody>
      </p:sp>
      <p:sp>
        <p:nvSpPr>
          <p:cNvPr id="85" name="path 84"/>
          <p:cNvSpPr/>
          <p:nvPr/>
        </p:nvSpPr>
        <p:spPr>
          <a:xfrm>
            <a:off x="1726340" y="2940630"/>
            <a:ext cx="131670" cy="131670"/>
          </a:xfrm>
          <a:custGeom>
            <a:avLst/>
            <a:gdLst/>
            <a:ahLst/>
            <a:cxnLst/>
            <a:rect l="l" t="t" r="r" b="b"/>
            <a:pathLst>
              <a:path w="18" h="18">
                <a:moveTo>
                  <a:pt x="0" y="9"/>
                </a:moveTo>
                <a:lnTo>
                  <a:pt x="6" y="18"/>
                </a:lnTo>
                <a:lnTo>
                  <a:pt x="18" y="0"/>
                </a:lnTo>
              </a:path>
            </a:pathLst>
          </a:custGeom>
          <a:noFill/>
          <a:ln w="20482">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6" name="polygon 85"/>
          <p:cNvSpPr/>
          <p:nvPr/>
        </p:nvSpPr>
        <p:spPr>
          <a:xfrm>
            <a:off x="2355430" y="3218600"/>
            <a:ext cx="687610" cy="438900"/>
          </a:xfrm>
          <a:custGeom>
            <a:avLst/>
            <a:gdLst/>
            <a:ahLst/>
            <a:cxnLst/>
            <a:rect l="l" t="t" r="r" b="b"/>
            <a:pathLst>
              <a:path w="94" h="60">
                <a:moveTo>
                  <a:pt x="47" y="0"/>
                </a:moveTo>
                <a:lnTo>
                  <a:pt x="94" y="30"/>
                </a:lnTo>
                <a:lnTo>
                  <a:pt x="47" y="60"/>
                </a:lnTo>
                <a:lnTo>
                  <a:pt x="0" y="30"/>
                </a:lnTo>
                <a:close/>
              </a:path>
            </a:pathLst>
          </a:custGeom>
          <a:solidFill>
            <a:srgbClr val="FFFFFF"/>
          </a:solidFill>
          <a:ln w="10972">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7" name="ALL"/>
          <p:cNvSpPr txBox="1"/>
          <p:nvPr/>
        </p:nvSpPr>
        <p:spPr>
          <a:xfrm>
            <a:off x="2490515" y="3346612"/>
            <a:ext cx="417441" cy="217621"/>
          </a:xfrm>
          <a:prstGeom prst="rect">
            <a:avLst/>
          </a:prstGeom>
          <a:noFill/>
          <a:effectLst/>
        </p:spPr>
        <p:txBody>
          <a:bodyPr wrap="none" lIns="0" rIns="0" tIns="0" bIns="0" anchor="t">
            <a:spAutoFit/>
          </a:bodyPr>
          <a:lstStyle/>
          <a:p>
            <a:pPr algn="ctr">
              <a:lnSpc>
                <a:spcPct val="100000"/>
              </a:lnSpc>
              <a:spcBef>
                <a:spcPts val="0"/>
              </a:spcBef>
              <a:spcAft>
                <a:spcPts val="0"/>
              </a:spcAft>
            </a:pPr>
            <a:r>
              <a:rPr sz="1267" b="1" i="0" lang="en-US" spc="0">
                <a:solidFill>
                  <a:srgbClr val="181818"/>
                </a:solidFill>
                <a:latin typeface="DejaVu Sans"/>
                <a:ea typeface="DejaVu Sans"/>
                <a:effectLst/>
              </a:rPr>
              <a:t>ALL</a:t>
            </a:r>
          </a:p>
        </p:txBody>
      </p:sp>
      <p:cxnSp>
        <p:nvCxnSpPr>
          <p:cNvPr id="88" name="path 87"/>
          <p:cNvCxnSpPr/>
          <p:nvPr/>
        </p:nvCxnSpPr>
        <p:spPr>
          <a:xfrm flipV="1">
            <a:off x="841225" y="3160080"/>
            <a:ext cx="482790" cy="212135"/>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sp>
        <p:nvSpPr>
          <p:cNvPr id="89" name="arrowhead 88"/>
          <p:cNvSpPr/>
          <p:nvPr/>
        </p:nvSpPr>
        <p:spPr>
          <a:xfrm>
            <a:off x="1221605" y="3145450"/>
            <a:ext cx="117040" cy="95095"/>
          </a:xfrm>
          <a:custGeom>
            <a:avLst/>
            <a:gdLst/>
            <a:ahLst/>
            <a:cxnLst/>
            <a:rect l="l" t="t" r="r" b="b"/>
            <a:pathLst>
              <a:path w="16" h="13">
                <a:moveTo>
                  <a:pt x="16" y="1"/>
                </a:moveTo>
                <a:lnTo>
                  <a:pt x="6" y="13"/>
                </a:lnTo>
                <a:lnTo>
                  <a:pt x="0" y="0"/>
                </a:lnTo>
                <a:close/>
              </a:path>
            </a:pathLst>
          </a:custGeom>
          <a:solidFill>
            <a:srgbClr val="18181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0" name="path 89"/>
          <p:cNvCxnSpPr/>
          <p:nvPr/>
        </p:nvCxnSpPr>
        <p:spPr>
          <a:xfrm>
            <a:off x="841225" y="3518515"/>
            <a:ext cx="482790" cy="153615"/>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sp>
        <p:nvSpPr>
          <p:cNvPr id="91" name="arrowhead 90"/>
          <p:cNvSpPr/>
          <p:nvPr/>
        </p:nvSpPr>
        <p:spPr>
          <a:xfrm>
            <a:off x="1228920" y="3598980"/>
            <a:ext cx="109725" cy="95095"/>
          </a:xfrm>
          <a:custGeom>
            <a:avLst/>
            <a:gdLst/>
            <a:ahLst/>
            <a:cxnLst/>
            <a:rect l="l" t="t" r="r" b="b"/>
            <a:pathLst>
              <a:path w="15" h="13">
                <a:moveTo>
                  <a:pt x="15" y="11"/>
                </a:moveTo>
                <a:lnTo>
                  <a:pt x="0" y="13"/>
                </a:lnTo>
                <a:lnTo>
                  <a:pt x="4" y="0"/>
                </a:lnTo>
                <a:close/>
              </a:path>
            </a:pathLst>
          </a:custGeom>
          <a:solidFill>
            <a:srgbClr val="18181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2" name="path 91"/>
          <p:cNvSpPr/>
          <p:nvPr/>
        </p:nvSpPr>
        <p:spPr>
          <a:xfrm>
            <a:off x="1697080" y="3086930"/>
            <a:ext cx="680295" cy="248710"/>
          </a:xfrm>
          <a:custGeom>
            <a:avLst/>
            <a:gdLst/>
            <a:ahLst/>
            <a:cxnLst/>
            <a:rect l="l" t="t" r="r" b="b"/>
            <a:pathLst>
              <a:path w="93" h="34">
                <a:moveTo>
                  <a:pt x="0" y="0"/>
                </a:moveTo>
                <a:lnTo>
                  <a:pt x="56" y="0"/>
                </a:lnTo>
                <a:lnTo>
                  <a:pt x="93" y="34"/>
                </a:lnTo>
              </a:path>
            </a:pathLst>
          </a:custGeom>
          <a:noFill/>
          <a:ln w="14630">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3" name="arrowhead 92"/>
          <p:cNvSpPr/>
          <p:nvPr/>
        </p:nvSpPr>
        <p:spPr>
          <a:xfrm>
            <a:off x="2282280" y="3240545"/>
            <a:ext cx="109725" cy="102410"/>
          </a:xfrm>
          <a:custGeom>
            <a:avLst/>
            <a:gdLst/>
            <a:ahLst/>
            <a:cxnLst/>
            <a:rect l="l" t="t" r="r" b="b"/>
            <a:pathLst>
              <a:path w="15" h="14">
                <a:moveTo>
                  <a:pt x="15" y="14"/>
                </a:moveTo>
                <a:lnTo>
                  <a:pt x="0" y="10"/>
                </a:lnTo>
                <a:lnTo>
                  <a:pt x="9" y="0"/>
                </a:lnTo>
                <a:close/>
              </a:path>
            </a:pathLst>
          </a:custGeom>
          <a:solidFill>
            <a:srgbClr val="18181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4" name="path 93"/>
          <p:cNvSpPr/>
          <p:nvPr/>
        </p:nvSpPr>
        <p:spPr>
          <a:xfrm>
            <a:off x="1697080" y="3533145"/>
            <a:ext cx="680295" cy="197505"/>
          </a:xfrm>
          <a:custGeom>
            <a:avLst/>
            <a:gdLst/>
            <a:ahLst/>
            <a:cxnLst/>
            <a:rect l="l" t="t" r="r" b="b"/>
            <a:pathLst>
              <a:path w="93" h="27">
                <a:moveTo>
                  <a:pt x="0" y="27"/>
                </a:moveTo>
                <a:lnTo>
                  <a:pt x="56" y="27"/>
                </a:lnTo>
                <a:lnTo>
                  <a:pt x="93" y="0"/>
                </a:lnTo>
              </a:path>
            </a:pathLst>
          </a:custGeom>
          <a:noFill/>
          <a:ln w="14630">
            <a:solidFill>
              <a:srgbClr val="BF333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5" name="arrowhead 94"/>
          <p:cNvSpPr/>
          <p:nvPr/>
        </p:nvSpPr>
        <p:spPr>
          <a:xfrm>
            <a:off x="2274965" y="3525830"/>
            <a:ext cx="117040" cy="102410"/>
          </a:xfrm>
          <a:custGeom>
            <a:avLst/>
            <a:gdLst/>
            <a:ahLst/>
            <a:cxnLst/>
            <a:rect l="l" t="t" r="r" b="b"/>
            <a:pathLst>
              <a:path w="16" h="14">
                <a:moveTo>
                  <a:pt x="16" y="0"/>
                </a:moveTo>
                <a:lnTo>
                  <a:pt x="9" y="14"/>
                </a:lnTo>
                <a:lnTo>
                  <a:pt x="0" y="2"/>
                </a:lnTo>
                <a:close/>
              </a:path>
            </a:pathLst>
          </a:custGeom>
          <a:solidFill>
            <a:srgbClr val="BF333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6" name="rect 95"/>
          <p:cNvSpPr/>
          <p:nvPr/>
        </p:nvSpPr>
        <p:spPr>
          <a:xfrm>
            <a:off x="468160" y="4008620"/>
            <a:ext cx="651035" cy="212135"/>
          </a:xfrm>
          <a:prstGeom prst="rect">
            <a:avLst/>
          </a:prstGeom>
          <a:solidFill>
            <a:srgbClr val="A9CEE8"/>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7" name="child"/>
          <p:cNvSpPr txBox="1"/>
          <p:nvPr/>
        </p:nvSpPr>
        <p:spPr>
          <a:xfrm>
            <a:off x="526680" y="4022080"/>
            <a:ext cx="483676" cy="201162"/>
          </a:xfrm>
          <a:prstGeom prst="rect">
            <a:avLst/>
          </a:prstGeom>
          <a:noFill/>
          <a:effectLst/>
        </p:spPr>
        <p:txBody>
          <a:bodyPr wrap="none" lIns="0" rIns="0" tIns="0" bIns="0" anchor="t">
            <a:spAutoFit/>
          </a:bodyPr>
          <a:lstStyle/>
          <a:p>
            <a:pPr algn="l">
              <a:lnSpc>
                <a:spcPct val="100000"/>
              </a:lnSpc>
              <a:spcBef>
                <a:spcPts val="0"/>
              </a:spcBef>
              <a:spcAft>
                <a:spcPts val="0"/>
              </a:spcAft>
            </a:pPr>
            <a:r>
              <a:rPr sz="1152" b="1" i="0" lang="en-US" spc="0">
                <a:solidFill>
                  <a:srgbClr val="181818"/>
                </a:solidFill>
                <a:latin typeface="DejaVu Sans"/>
                <a:ea typeface="DejaVu Sans"/>
                <a:effectLst/>
              </a:rPr>
              <a:t>child</a:t>
            </a:r>
          </a:p>
        </p:txBody>
      </p:sp>
      <p:sp>
        <p:nvSpPr>
          <p:cNvPr id="98" name="rect 97"/>
          <p:cNvSpPr/>
          <p:nvPr/>
        </p:nvSpPr>
        <p:spPr>
          <a:xfrm>
            <a:off x="1119195" y="4008620"/>
            <a:ext cx="1060675" cy="212135"/>
          </a:xfrm>
          <a:prstGeom prst="rect">
            <a:avLst/>
          </a:prstGeom>
          <a:solidFill>
            <a:srgbClr val="A9CEE8"/>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9" name="state"/>
          <p:cNvSpPr txBox="1"/>
          <p:nvPr/>
        </p:nvSpPr>
        <p:spPr>
          <a:xfrm>
            <a:off x="1177715" y="4022080"/>
            <a:ext cx="512736" cy="201162"/>
          </a:xfrm>
          <a:prstGeom prst="rect">
            <a:avLst/>
          </a:prstGeom>
          <a:noFill/>
          <a:effectLst/>
        </p:spPr>
        <p:txBody>
          <a:bodyPr wrap="none" lIns="0" rIns="0" tIns="0" bIns="0" anchor="t">
            <a:spAutoFit/>
          </a:bodyPr>
          <a:lstStyle/>
          <a:p>
            <a:pPr algn="l">
              <a:lnSpc>
                <a:spcPct val="100000"/>
              </a:lnSpc>
              <a:spcBef>
                <a:spcPts val="0"/>
              </a:spcBef>
              <a:spcAft>
                <a:spcPts val="0"/>
              </a:spcAft>
            </a:pPr>
            <a:r>
              <a:rPr sz="1152" b="1" i="0" lang="en-US" spc="0">
                <a:solidFill>
                  <a:srgbClr val="181818"/>
                </a:solidFill>
                <a:latin typeface="DejaVu Sans"/>
                <a:ea typeface="DejaVu Sans"/>
                <a:effectLst/>
              </a:rPr>
              <a:t>state</a:t>
            </a:r>
          </a:p>
        </p:txBody>
      </p:sp>
      <p:sp>
        <p:nvSpPr>
          <p:cNvPr id="100" name="rect 99"/>
          <p:cNvSpPr/>
          <p:nvPr/>
        </p:nvSpPr>
        <p:spPr>
          <a:xfrm>
            <a:off x="2179870" y="4008620"/>
            <a:ext cx="1097250" cy="212135"/>
          </a:xfrm>
          <a:prstGeom prst="rect">
            <a:avLst/>
          </a:prstGeom>
          <a:solidFill>
            <a:srgbClr val="A9CEE8"/>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1" name="waiter"/>
          <p:cNvSpPr txBox="1"/>
          <p:nvPr/>
        </p:nvSpPr>
        <p:spPr>
          <a:xfrm>
            <a:off x="2238390" y="4022080"/>
            <a:ext cx="613146" cy="201162"/>
          </a:xfrm>
          <a:prstGeom prst="rect">
            <a:avLst/>
          </a:prstGeom>
          <a:noFill/>
          <a:effectLst/>
        </p:spPr>
        <p:txBody>
          <a:bodyPr wrap="none" lIns="0" rIns="0" tIns="0" bIns="0" anchor="t">
            <a:spAutoFit/>
          </a:bodyPr>
          <a:lstStyle/>
          <a:p>
            <a:pPr algn="l">
              <a:lnSpc>
                <a:spcPct val="100000"/>
              </a:lnSpc>
              <a:spcBef>
                <a:spcPts val="0"/>
              </a:spcBef>
              <a:spcAft>
                <a:spcPts val="0"/>
              </a:spcAft>
            </a:pPr>
            <a:r>
              <a:rPr sz="1152" b="1" i="0" lang="en-US" spc="0">
                <a:solidFill>
                  <a:srgbClr val="181818"/>
                </a:solidFill>
                <a:latin typeface="DejaVu Sans"/>
                <a:ea typeface="DejaVu Sans"/>
                <a:effectLst/>
              </a:rPr>
              <a:t>waiter</a:t>
            </a:r>
          </a:p>
        </p:txBody>
      </p:sp>
      <p:sp>
        <p:nvSpPr>
          <p:cNvPr id="102" name="rect 101"/>
          <p:cNvSpPr/>
          <p:nvPr/>
        </p:nvSpPr>
        <p:spPr>
          <a:xfrm>
            <a:off x="468160" y="4220755"/>
            <a:ext cx="651035" cy="212135"/>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3" name="C1"/>
          <p:cNvSpPr txBox="1"/>
          <p:nvPr/>
        </p:nvSpPr>
        <p:spPr>
          <a:xfrm>
            <a:off x="526680" y="4234215"/>
            <a:ext cx="283028" cy="201162"/>
          </a:xfrm>
          <a:prstGeom prst="rect">
            <a:avLst/>
          </a:prstGeom>
          <a:noFill/>
          <a:effectLst/>
        </p:spPr>
        <p:txBody>
          <a:bodyPr wrap="none" lIns="0" rIns="0" tIns="0" bIns="0" anchor="t">
            <a:spAutoFit/>
          </a:bodyPr>
          <a:lstStyle/>
          <a:p>
            <a:pPr algn="l">
              <a:lnSpc>
                <a:spcPct val="100000"/>
              </a:lnSpc>
              <a:spcBef>
                <a:spcPts val="0"/>
              </a:spcBef>
              <a:spcAft>
                <a:spcPts val="0"/>
              </a:spcAft>
            </a:pPr>
            <a:r>
              <a:rPr sz="1152" b="0" i="0" lang="en-US" spc="0">
                <a:solidFill>
                  <a:srgbClr val="181818"/>
                </a:solidFill>
                <a:latin typeface="DejaVu Sans"/>
                <a:ea typeface="DejaVu Sans"/>
                <a:effectLst/>
              </a:rPr>
              <a:t>C1</a:t>
            </a:r>
          </a:p>
        </p:txBody>
      </p:sp>
      <p:sp>
        <p:nvSpPr>
          <p:cNvPr id="104" name="rect 103"/>
          <p:cNvSpPr/>
          <p:nvPr/>
        </p:nvSpPr>
        <p:spPr>
          <a:xfrm>
            <a:off x="1119195" y="4220755"/>
            <a:ext cx="1060675" cy="212135"/>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5" name="RETURN"/>
          <p:cNvSpPr txBox="1"/>
          <p:nvPr/>
        </p:nvSpPr>
        <p:spPr>
          <a:xfrm>
            <a:off x="1177715" y="4234215"/>
            <a:ext cx="689467" cy="201162"/>
          </a:xfrm>
          <a:prstGeom prst="rect">
            <a:avLst/>
          </a:prstGeom>
          <a:noFill/>
          <a:effectLst/>
        </p:spPr>
        <p:txBody>
          <a:bodyPr wrap="none" lIns="0" rIns="0" tIns="0" bIns="0" anchor="t">
            <a:spAutoFit/>
          </a:bodyPr>
          <a:lstStyle/>
          <a:p>
            <a:pPr algn="l">
              <a:lnSpc>
                <a:spcPct val="100000"/>
              </a:lnSpc>
              <a:spcBef>
                <a:spcPts val="0"/>
              </a:spcBef>
              <a:spcAft>
                <a:spcPts val="0"/>
              </a:spcAft>
            </a:pPr>
            <a:r>
              <a:rPr sz="1152" b="0" i="0" lang="en-US" spc="0">
                <a:solidFill>
                  <a:srgbClr val="181818"/>
                </a:solidFill>
                <a:latin typeface="DejaVu Sans"/>
                <a:ea typeface="DejaVu Sans"/>
                <a:effectLst/>
              </a:rPr>
              <a:t>RETURN</a:t>
            </a:r>
          </a:p>
        </p:txBody>
      </p:sp>
      <p:sp>
        <p:nvSpPr>
          <p:cNvPr id="106" name="rect 105"/>
          <p:cNvSpPr/>
          <p:nvPr/>
        </p:nvSpPr>
        <p:spPr>
          <a:xfrm>
            <a:off x="2179870" y="4220755"/>
            <a:ext cx="1097250" cy="212135"/>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7" name="P"/>
          <p:cNvSpPr txBox="1"/>
          <p:nvPr/>
        </p:nvSpPr>
        <p:spPr>
          <a:xfrm>
            <a:off x="2238390" y="4234215"/>
            <a:ext cx="176017" cy="201162"/>
          </a:xfrm>
          <a:prstGeom prst="rect">
            <a:avLst/>
          </a:prstGeom>
          <a:noFill/>
          <a:effectLst/>
        </p:spPr>
        <p:txBody>
          <a:bodyPr wrap="none" lIns="0" rIns="0" tIns="0" bIns="0" anchor="t">
            <a:spAutoFit/>
          </a:bodyPr>
          <a:lstStyle/>
          <a:p>
            <a:pPr algn="l">
              <a:lnSpc>
                <a:spcPct val="100000"/>
              </a:lnSpc>
              <a:spcBef>
                <a:spcPts val="0"/>
              </a:spcBef>
              <a:spcAft>
                <a:spcPts val="0"/>
              </a:spcAft>
            </a:pPr>
            <a:r>
              <a:rPr sz="1152" b="0" i="0" lang="en-US" spc="0">
                <a:solidFill>
                  <a:srgbClr val="181818"/>
                </a:solidFill>
                <a:latin typeface="DejaVu Sans"/>
                <a:ea typeface="DejaVu Sans"/>
                <a:effectLst/>
              </a:rPr>
              <a:t>P</a:t>
            </a:r>
          </a:p>
        </p:txBody>
      </p:sp>
      <p:sp>
        <p:nvSpPr>
          <p:cNvPr id="108" name="rect 107"/>
          <p:cNvSpPr/>
          <p:nvPr/>
        </p:nvSpPr>
        <p:spPr>
          <a:xfrm>
            <a:off x="468160" y="4432890"/>
            <a:ext cx="651035" cy="212135"/>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9" name="C2"/>
          <p:cNvSpPr txBox="1"/>
          <p:nvPr/>
        </p:nvSpPr>
        <p:spPr>
          <a:xfrm>
            <a:off x="526680" y="4446350"/>
            <a:ext cx="283028" cy="201162"/>
          </a:xfrm>
          <a:prstGeom prst="rect">
            <a:avLst/>
          </a:prstGeom>
          <a:noFill/>
          <a:effectLst/>
        </p:spPr>
        <p:txBody>
          <a:bodyPr wrap="none" lIns="0" rIns="0" tIns="0" bIns="0" anchor="t">
            <a:spAutoFit/>
          </a:bodyPr>
          <a:lstStyle/>
          <a:p>
            <a:pPr algn="l">
              <a:lnSpc>
                <a:spcPct val="100000"/>
              </a:lnSpc>
              <a:spcBef>
                <a:spcPts val="0"/>
              </a:spcBef>
              <a:spcAft>
                <a:spcPts val="0"/>
              </a:spcAft>
            </a:pPr>
            <a:r>
              <a:rPr sz="1152" b="0" i="0" lang="en-US" spc="0">
                <a:solidFill>
                  <a:srgbClr val="181818"/>
                </a:solidFill>
                <a:latin typeface="DejaVu Sans"/>
                <a:ea typeface="DejaVu Sans"/>
                <a:effectLst/>
              </a:rPr>
              <a:t>C2</a:t>
            </a:r>
          </a:p>
        </p:txBody>
      </p:sp>
      <p:sp>
        <p:nvSpPr>
          <p:cNvPr id="110" name="rect 109"/>
          <p:cNvSpPr/>
          <p:nvPr/>
        </p:nvSpPr>
        <p:spPr>
          <a:xfrm>
            <a:off x="1119195" y="4432890"/>
            <a:ext cx="1060675" cy="212135"/>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1" name="NOTICE"/>
          <p:cNvSpPr txBox="1"/>
          <p:nvPr/>
        </p:nvSpPr>
        <p:spPr>
          <a:xfrm>
            <a:off x="1177715" y="4446350"/>
            <a:ext cx="639491" cy="201162"/>
          </a:xfrm>
          <a:prstGeom prst="rect">
            <a:avLst/>
          </a:prstGeom>
          <a:noFill/>
          <a:effectLst/>
        </p:spPr>
        <p:txBody>
          <a:bodyPr wrap="none" lIns="0" rIns="0" tIns="0" bIns="0" anchor="t">
            <a:spAutoFit/>
          </a:bodyPr>
          <a:lstStyle/>
          <a:p>
            <a:pPr algn="l">
              <a:lnSpc>
                <a:spcPct val="100000"/>
              </a:lnSpc>
              <a:spcBef>
                <a:spcPts val="0"/>
              </a:spcBef>
              <a:spcAft>
                <a:spcPts val="0"/>
              </a:spcAft>
            </a:pPr>
            <a:r>
              <a:rPr sz="1152" b="0" i="0" lang="en-US" spc="0">
                <a:solidFill>
                  <a:srgbClr val="181818"/>
                </a:solidFill>
                <a:latin typeface="DejaVu Sans"/>
                <a:ea typeface="DejaVu Sans"/>
                <a:effectLst/>
              </a:rPr>
              <a:t>NOTICE</a:t>
            </a:r>
          </a:p>
        </p:txBody>
      </p:sp>
      <p:sp>
        <p:nvSpPr>
          <p:cNvPr id="112" name="rect 111"/>
          <p:cNvSpPr/>
          <p:nvPr/>
        </p:nvSpPr>
        <p:spPr>
          <a:xfrm>
            <a:off x="2179870" y="4432890"/>
            <a:ext cx="1097250" cy="212135"/>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3" name="P"/>
          <p:cNvSpPr txBox="1"/>
          <p:nvPr/>
        </p:nvSpPr>
        <p:spPr>
          <a:xfrm>
            <a:off x="2238390" y="4446350"/>
            <a:ext cx="176017" cy="201162"/>
          </a:xfrm>
          <a:prstGeom prst="rect">
            <a:avLst/>
          </a:prstGeom>
          <a:noFill/>
          <a:effectLst/>
        </p:spPr>
        <p:txBody>
          <a:bodyPr wrap="none" lIns="0" rIns="0" tIns="0" bIns="0" anchor="t">
            <a:spAutoFit/>
          </a:bodyPr>
          <a:lstStyle/>
          <a:p>
            <a:pPr algn="l">
              <a:lnSpc>
                <a:spcPct val="100000"/>
              </a:lnSpc>
              <a:spcBef>
                <a:spcPts val="0"/>
              </a:spcBef>
              <a:spcAft>
                <a:spcPts val="0"/>
              </a:spcAft>
            </a:pPr>
            <a:r>
              <a:rPr sz="1152" b="0" i="0" lang="en-US" spc="0">
                <a:solidFill>
                  <a:srgbClr val="181818"/>
                </a:solidFill>
                <a:latin typeface="DejaVu Sans"/>
                <a:ea typeface="DejaVu Sans"/>
                <a:effectLst/>
              </a:rPr>
              <a:t>P</a:t>
            </a:r>
          </a:p>
        </p:txBody>
      </p:sp>
      <p:sp>
        <p:nvSpPr>
          <p:cNvPr id="114" name="GraphDelta"/>
          <p:cNvSpPr txBox="1"/>
          <p:nvPr/>
        </p:nvSpPr>
        <p:spPr>
          <a:xfrm>
            <a:off x="475475" y="4634052"/>
            <a:ext cx="968837" cy="208478"/>
          </a:xfrm>
          <a:prstGeom prst="rect">
            <a:avLst/>
          </a:prstGeom>
          <a:noFill/>
          <a:effectLst/>
        </p:spPr>
        <p:txBody>
          <a:bodyPr wrap="none" lIns="0" rIns="0" tIns="0" bIns="0" anchor="t">
            <a:spAutoFit/>
          </a:bodyPr>
          <a:lstStyle/>
          <a:p>
            <a:pPr algn="l">
              <a:lnSpc>
                <a:spcPct val="100000"/>
              </a:lnSpc>
              <a:spcBef>
                <a:spcPts val="0"/>
              </a:spcBef>
              <a:spcAft>
                <a:spcPts val="0"/>
              </a:spcAft>
            </a:pPr>
            <a:r>
              <a:rPr sz="1209" b="0" i="0" lang="en-US" spc="0">
                <a:solidFill>
                  <a:srgbClr val="2676B8"/>
                </a:solidFill>
                <a:latin typeface="DejaVu Sans"/>
                <a:ea typeface="DejaVu Sans"/>
                <a:effectLst/>
              </a:rPr>
              <a:t>GraphDelta</a:t>
            </a:r>
          </a:p>
        </p:txBody>
      </p:sp>
      <p:sp>
        <p:nvSpPr>
          <p:cNvPr id="115" name="pending = {C2}"/>
          <p:cNvSpPr txBox="1"/>
          <p:nvPr/>
        </p:nvSpPr>
        <p:spPr>
          <a:xfrm>
            <a:off x="1762915" y="4634052"/>
            <a:ext cx="1467229" cy="208478"/>
          </a:xfrm>
          <a:prstGeom prst="rect">
            <a:avLst/>
          </a:prstGeom>
          <a:noFill/>
          <a:effectLst/>
        </p:spPr>
        <p:txBody>
          <a:bodyPr wrap="none" lIns="0" rIns="0" tIns="0" bIns="0" anchor="t">
            <a:spAutoFit/>
          </a:bodyPr>
          <a:lstStyle/>
          <a:p>
            <a:pPr algn="l">
              <a:lnSpc>
                <a:spcPct val="100000"/>
              </a:lnSpc>
              <a:spcBef>
                <a:spcPts val="0"/>
              </a:spcBef>
              <a:spcAft>
                <a:spcPts val="0"/>
              </a:spcAft>
            </a:pPr>
            <a:r>
              <a:rPr sz="1209" b="1" i="0" lang="en-US" spc="0">
                <a:solidFill>
                  <a:srgbClr val="181818"/>
                </a:solidFill>
                <a:latin typeface="DejaVu Sans"/>
                <a:ea typeface="DejaVu Sans"/>
                <a:effectLst/>
              </a:rPr>
              <a:t>pending = {C2}</a:t>
            </a:r>
          </a:p>
        </p:txBody>
      </p:sp>
      <p:sp>
        <p:nvSpPr>
          <p:cNvPr id="116" name="rect 115"/>
          <p:cNvSpPr/>
          <p:nvPr/>
        </p:nvSpPr>
        <p:spPr>
          <a:xfrm>
            <a:off x="3555090" y="2560250"/>
            <a:ext cx="3233230" cy="2311540"/>
          </a:xfrm>
          <a:prstGeom prst="roundRect">
            <a:avLst>
              <a:gd name="adj" fmla="val 632"/>
            </a:avLst>
          </a:prstGeom>
          <a:solidFill>
            <a:srgbClr val="EEEEEE"/>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7" name="rect 116"/>
          <p:cNvSpPr/>
          <p:nvPr/>
        </p:nvSpPr>
        <p:spPr>
          <a:xfrm>
            <a:off x="3555090" y="2560250"/>
            <a:ext cx="3233230" cy="277970"/>
          </a:xfrm>
          <a:prstGeom prst="roundRect">
            <a:avLst>
              <a:gd name="adj" fmla="val 5263"/>
            </a:avLst>
          </a:prstGeom>
          <a:solidFill>
            <a:srgbClr val="A9CEE8"/>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8" name="2  Async demand forecasts"/>
          <p:cNvSpPr txBox="1"/>
          <p:nvPr/>
        </p:nvSpPr>
        <p:spPr>
          <a:xfrm>
            <a:off x="3657500" y="2595801"/>
            <a:ext cx="2753155" cy="235909"/>
          </a:xfrm>
          <a:prstGeom prst="rect">
            <a:avLst/>
          </a:prstGeom>
          <a:noFill/>
          <a:effectLst/>
        </p:spPr>
        <p:txBody>
          <a:bodyPr wrap="none" lIns="0" rIns="0" tIns="0" bIns="0" anchor="t">
            <a:spAutoFit/>
          </a:bodyPr>
          <a:lstStyle/>
          <a:p>
            <a:pPr algn="l">
              <a:lnSpc>
                <a:spcPct val="100000"/>
              </a:lnSpc>
              <a:spcBef>
                <a:spcPts val="0"/>
              </a:spcBef>
              <a:spcAft>
                <a:spcPts val="0"/>
              </a:spcAft>
            </a:pPr>
            <a:r>
              <a:rPr sz="1382" b="1" i="0" lang="en-US" spc="0">
                <a:solidFill>
                  <a:srgbClr val="181818"/>
                </a:solidFill>
                <a:latin typeface="DejaVu Sans"/>
                <a:ea typeface="DejaVu Sans"/>
                <a:effectLst/>
              </a:rPr>
              <a:t>2  Async demand forecasts</a:t>
            </a:r>
          </a:p>
        </p:txBody>
      </p:sp>
      <p:sp>
        <p:nvSpPr>
          <p:cNvPr id="119" name="rect 118"/>
          <p:cNvSpPr/>
          <p:nvPr/>
        </p:nvSpPr>
        <p:spPr>
          <a:xfrm>
            <a:off x="3686760" y="2991835"/>
            <a:ext cx="219450" cy="307230"/>
          </a:xfrm>
          <a:prstGeom prst="roundRect">
            <a:avLst>
              <a:gd name="adj" fmla="val 3333"/>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0" name="rect 119"/>
          <p:cNvSpPr/>
          <p:nvPr/>
        </p:nvSpPr>
        <p:spPr>
          <a:xfrm>
            <a:off x="3942785" y="2991835"/>
            <a:ext cx="219450" cy="307230"/>
          </a:xfrm>
          <a:prstGeom prst="roundRect">
            <a:avLst>
              <a:gd name="adj" fmla="val 3333"/>
            </a:avLst>
          </a:prstGeom>
          <a:solidFill>
            <a:srgbClr val="F2BD7D"/>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1" name="rect 120"/>
          <p:cNvSpPr/>
          <p:nvPr/>
        </p:nvSpPr>
        <p:spPr>
          <a:xfrm>
            <a:off x="4198810" y="2991835"/>
            <a:ext cx="219450" cy="307230"/>
          </a:xfrm>
          <a:prstGeom prst="roundRect">
            <a:avLst>
              <a:gd name="adj" fmla="val 3333"/>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2" name="rect 121"/>
          <p:cNvSpPr/>
          <p:nvPr/>
        </p:nvSpPr>
        <p:spPr>
          <a:xfrm>
            <a:off x="4454835" y="2991835"/>
            <a:ext cx="219450" cy="307230"/>
          </a:xfrm>
          <a:prstGeom prst="roundRect">
            <a:avLst>
              <a:gd name="adj" fmla="val 3333"/>
            </a:avLst>
          </a:prstGeom>
          <a:solidFill>
            <a:srgbClr val="B5D68B"/>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23" name="path 122"/>
          <p:cNvCxnSpPr/>
          <p:nvPr/>
        </p:nvCxnSpPr>
        <p:spPr>
          <a:xfrm>
            <a:off x="4718175" y="3138135"/>
            <a:ext cx="285285" cy="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sp>
        <p:nvSpPr>
          <p:cNvPr id="124" name="arrowhead 123"/>
          <p:cNvSpPr/>
          <p:nvPr/>
        </p:nvSpPr>
        <p:spPr>
          <a:xfrm>
            <a:off x="4915680" y="3086930"/>
            <a:ext cx="102410" cy="102410"/>
          </a:xfrm>
          <a:custGeom>
            <a:avLst/>
            <a:gdLst/>
            <a:ahLst/>
            <a:cxnLst/>
            <a:rect l="l" t="t" r="r" b="b"/>
            <a:pathLst>
              <a:path w="14" h="14">
                <a:moveTo>
                  <a:pt x="14" y="7"/>
                </a:moveTo>
                <a:lnTo>
                  <a:pt x="0" y="14"/>
                </a:lnTo>
                <a:lnTo>
                  <a:pt x="0" y="0"/>
                </a:lnTo>
                <a:close/>
              </a:path>
            </a:pathLst>
          </a:custGeom>
          <a:solidFill>
            <a:srgbClr val="18181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5" name="rect 124"/>
          <p:cNvSpPr/>
          <p:nvPr/>
        </p:nvSpPr>
        <p:spPr>
          <a:xfrm>
            <a:off x="5113185" y="2940630"/>
            <a:ext cx="1543465" cy="475475"/>
          </a:xfrm>
          <a:prstGeom prst="roundRect">
            <a:avLst>
              <a:gd name="adj" fmla="val 3076"/>
            </a:avLst>
          </a:prstGeom>
          <a:solidFill>
            <a:srgbClr val="FFFFFF"/>
          </a:solidFill>
          <a:ln w="10972">
            <a:solidFill>
              <a:srgbClr val="181818"/>
            </a:solidFill>
            <a:prstDash val="dash"/>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6" name="CPU worker"/>
          <p:cNvSpPr txBox="1"/>
          <p:nvPr/>
        </p:nvSpPr>
        <p:spPr>
          <a:xfrm>
            <a:off x="5237540" y="2973548"/>
            <a:ext cx="1188202" cy="226765"/>
          </a:xfrm>
          <a:prstGeom prst="rect">
            <a:avLst/>
          </a:prstGeom>
          <a:noFill/>
          <a:effectLst/>
        </p:spPr>
        <p:txBody>
          <a:bodyPr wrap="none" lIns="0" rIns="0" tIns="0" bIns="0" anchor="t">
            <a:spAutoFit/>
          </a:bodyPr>
          <a:lstStyle/>
          <a:p>
            <a:pPr algn="l">
              <a:lnSpc>
                <a:spcPct val="100000"/>
              </a:lnSpc>
              <a:spcBef>
                <a:spcPts val="0"/>
              </a:spcBef>
              <a:spcAft>
                <a:spcPts val="0"/>
              </a:spcAft>
            </a:pPr>
            <a:r>
              <a:rPr sz="1324" b="1" i="0" lang="en-US" spc="0">
                <a:solidFill>
                  <a:srgbClr val="181818"/>
                </a:solidFill>
                <a:latin typeface="DejaVu Sans"/>
                <a:ea typeface="DejaVu Sans"/>
                <a:effectLst/>
              </a:rPr>
              <a:t>CPU worker</a:t>
            </a:r>
          </a:p>
        </p:txBody>
      </p:sp>
      <p:sp>
        <p:nvSpPr>
          <p:cNvPr id="127" name="text + progress"/>
          <p:cNvSpPr txBox="1"/>
          <p:nvPr/>
        </p:nvSpPr>
        <p:spPr>
          <a:xfrm>
            <a:off x="5237540" y="3176539"/>
            <a:ext cx="1223805" cy="201162"/>
          </a:xfrm>
          <a:prstGeom prst="rect">
            <a:avLst/>
          </a:prstGeom>
          <a:noFill/>
          <a:effectLst/>
        </p:spPr>
        <p:txBody>
          <a:bodyPr wrap="none" lIns="0" rIns="0" tIns="0" bIns="0" anchor="t">
            <a:spAutoFit/>
          </a:bodyPr>
          <a:lstStyle/>
          <a:p>
            <a:pPr algn="l">
              <a:lnSpc>
                <a:spcPct val="100000"/>
              </a:lnSpc>
              <a:spcBef>
                <a:spcPts val="0"/>
              </a:spcBef>
              <a:spcAft>
                <a:spcPts val="0"/>
              </a:spcAft>
            </a:pPr>
            <a:r>
              <a:rPr sz="1152" b="0" i="0" lang="en-US" spc="0">
                <a:solidFill>
                  <a:srgbClr val="181818"/>
                </a:solidFill>
                <a:latin typeface="DejaVu Sans"/>
                <a:ea typeface="DejaVu Sans"/>
                <a:effectLst/>
              </a:rPr>
              <a:t>text + progress</a:t>
            </a:r>
          </a:p>
        </p:txBody>
      </p:sp>
      <p:sp>
        <p:nvSpPr>
          <p:cNvPr id="128" name="p"/>
          <p:cNvSpPr txBox="1"/>
          <p:nvPr/>
        </p:nvSpPr>
        <p:spPr>
          <a:xfrm>
            <a:off x="4045195" y="3419762"/>
            <a:ext cx="179218" cy="234080"/>
          </a:xfrm>
          <a:prstGeom prst="rect">
            <a:avLst/>
          </a:prstGeom>
          <a:noFill/>
          <a:effectLst/>
        </p:spPr>
        <p:txBody>
          <a:bodyPr wrap="none" lIns="0" rIns="0" tIns="0" bIns="0" anchor="t">
            <a:spAutoFit/>
          </a:bodyPr>
          <a:lstStyle/>
          <a:p>
            <a:pPr algn="l">
              <a:lnSpc>
                <a:spcPct val="100000"/>
              </a:lnSpc>
              <a:spcBef>
                <a:spcPts val="0"/>
              </a:spcBef>
              <a:spcAft>
                <a:spcPts val="0"/>
              </a:spcAft>
            </a:pPr>
            <a:r>
              <a:rPr sz="1439" b="0" i="1" lang="en-US" spc="0">
                <a:solidFill>
                  <a:srgbClr val="181818"/>
                </a:solidFill>
                <a:latin typeface="Liberation Serif"/>
                <a:ea typeface="Liberation Serif"/>
                <a:effectLst/>
              </a:rPr>
              <a:t>p</a:t>
            </a:r>
          </a:p>
        </p:txBody>
      </p:sp>
      <p:sp>
        <p:nvSpPr>
          <p:cNvPr id="129" name="final"/>
          <p:cNvSpPr txBox="1"/>
          <p:nvPr/>
        </p:nvSpPr>
        <p:spPr>
          <a:xfrm>
            <a:off x="4143948" y="3524001"/>
            <a:ext cx="305601" cy="162759"/>
          </a:xfrm>
          <a:prstGeom prst="rect">
            <a:avLst/>
          </a:prstGeom>
          <a:noFill/>
          <a:effectLst/>
        </p:spPr>
        <p:txBody>
          <a:bodyPr wrap="none" lIns="0" rIns="0" tIns="0" bIns="0" anchor="t">
            <a:spAutoFit/>
          </a:bodyPr>
          <a:lstStyle/>
          <a:p>
            <a:pPr algn="l">
              <a:lnSpc>
                <a:spcPct val="100000"/>
              </a:lnSpc>
              <a:spcBef>
                <a:spcPts val="0"/>
              </a:spcBef>
              <a:spcAft>
                <a:spcPts val="0"/>
              </a:spcAft>
            </a:pPr>
            <a:r>
              <a:rPr sz="936" b="0" i="0" lang="en-US" spc="0">
                <a:solidFill>
                  <a:srgbClr val="181818"/>
                </a:solidFill>
                <a:latin typeface="Liberation Serif"/>
                <a:ea typeface="Liberation Serif"/>
                <a:effectLst/>
              </a:rPr>
              <a:t>final</a:t>
            </a:r>
          </a:p>
        </p:txBody>
      </p:sp>
      <p:sp>
        <p:nvSpPr>
          <p:cNvPr id="130" name="rect 129"/>
          <p:cNvSpPr/>
          <p:nvPr/>
        </p:nvSpPr>
        <p:spPr>
          <a:xfrm>
            <a:off x="3803800" y="3898895"/>
            <a:ext cx="190190" cy="124355"/>
          </a:xfrm>
          <a:prstGeom prst="rect">
            <a:avLst/>
          </a:prstGeom>
          <a:solidFill>
            <a:srgbClr val="A9CEE8"/>
          </a:solidFill>
          <a:ln w="8778">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1" name="rect 130"/>
          <p:cNvSpPr/>
          <p:nvPr/>
        </p:nvSpPr>
        <p:spPr>
          <a:xfrm>
            <a:off x="4103715" y="3803800"/>
            <a:ext cx="190190" cy="219450"/>
          </a:xfrm>
          <a:prstGeom prst="rect">
            <a:avLst/>
          </a:prstGeom>
          <a:solidFill>
            <a:srgbClr val="F2BD7D"/>
          </a:solidFill>
          <a:ln w="8778">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2" name="rect 131"/>
          <p:cNvSpPr/>
          <p:nvPr/>
        </p:nvSpPr>
        <p:spPr>
          <a:xfrm>
            <a:off x="4403630" y="3664815"/>
            <a:ext cx="190190" cy="358435"/>
          </a:xfrm>
          <a:prstGeom prst="rect">
            <a:avLst/>
          </a:prstGeom>
          <a:solidFill>
            <a:srgbClr val="E9A6BF"/>
          </a:solidFill>
          <a:ln w="8778">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33" name="line 132"/>
          <p:cNvCxnSpPr/>
          <p:nvPr/>
        </p:nvCxnSpPr>
        <p:spPr>
          <a:xfrm>
            <a:off x="5266800" y="3847690"/>
            <a:ext cx="1272810" cy="0"/>
          </a:xfrm>
          <a:prstGeom prst="line">
            <a:avLst/>
          </a:prstGeom>
          <a:ln w="18288">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134" name="line 133"/>
          <p:cNvCxnSpPr/>
          <p:nvPr/>
        </p:nvCxnSpPr>
        <p:spPr>
          <a:xfrm>
            <a:off x="5266800" y="3781855"/>
            <a:ext cx="0" cy="13167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135" name="line 134"/>
          <p:cNvCxnSpPr/>
          <p:nvPr/>
        </p:nvCxnSpPr>
        <p:spPr>
          <a:xfrm>
            <a:off x="6539610" y="3781855"/>
            <a:ext cx="0" cy="13167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sp>
        <p:nvSpPr>
          <p:cNvPr id="136" name="circle 135"/>
          <p:cNvSpPr/>
          <p:nvPr/>
        </p:nvSpPr>
        <p:spPr>
          <a:xfrm>
            <a:off x="5808110" y="3811115"/>
            <a:ext cx="73150" cy="73150"/>
          </a:xfrm>
          <a:prstGeom prst="ellipse">
            <a:avLst/>
          </a:prstGeom>
          <a:solidFill>
            <a:srgbClr val="181818"/>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7" name="["/>
          <p:cNvSpPr txBox="1"/>
          <p:nvPr/>
        </p:nvSpPr>
        <p:spPr>
          <a:xfrm>
            <a:off x="5537169" y="3983018"/>
            <a:ext cx="148672" cy="234080"/>
          </a:xfrm>
          <a:prstGeom prst="rect">
            <a:avLst/>
          </a:prstGeom>
          <a:noFill/>
          <a:effectLst/>
        </p:spPr>
        <p:txBody>
          <a:bodyPr wrap="none" lIns="0" rIns="0" tIns="0" bIns="0" anchor="t">
            <a:spAutoFit/>
          </a:bodyPr>
          <a:lstStyle/>
          <a:p>
            <a:pPr algn="l">
              <a:lnSpc>
                <a:spcPct val="100000"/>
              </a:lnSpc>
              <a:spcBef>
                <a:spcPts val="0"/>
              </a:spcBef>
              <a:spcAft>
                <a:spcPts val="0"/>
              </a:spcAft>
            </a:pPr>
            <a:r>
              <a:rPr sz="1439" b="0" i="0" lang="en-US" spc="0">
                <a:solidFill>
                  <a:srgbClr val="181818"/>
                </a:solidFill>
                <a:latin typeface="Liberation Serif"/>
                <a:ea typeface="Liberation Serif"/>
                <a:effectLst/>
              </a:rPr>
              <a:t>[</a:t>
            </a:r>
          </a:p>
        </p:txBody>
      </p:sp>
      <p:sp>
        <p:nvSpPr>
          <p:cNvPr id="138" name="W"/>
          <p:cNvSpPr txBox="1"/>
          <p:nvPr/>
        </p:nvSpPr>
        <p:spPr>
          <a:xfrm>
            <a:off x="5598061" y="3983018"/>
            <a:ext cx="240109" cy="234080"/>
          </a:xfrm>
          <a:prstGeom prst="rect">
            <a:avLst/>
          </a:prstGeom>
          <a:noFill/>
          <a:effectLst/>
        </p:spPr>
        <p:txBody>
          <a:bodyPr wrap="none" lIns="0" rIns="0" tIns="0" bIns="0" anchor="t">
            <a:spAutoFit/>
          </a:bodyPr>
          <a:lstStyle/>
          <a:p>
            <a:pPr algn="l">
              <a:lnSpc>
                <a:spcPct val="100000"/>
              </a:lnSpc>
              <a:spcBef>
                <a:spcPts val="0"/>
              </a:spcBef>
              <a:spcAft>
                <a:spcPts val="0"/>
              </a:spcAft>
            </a:pPr>
            <a:r>
              <a:rPr sz="1439" b="0" i="1" lang="en-US" spc="0">
                <a:solidFill>
                  <a:srgbClr val="181818"/>
                </a:solidFill>
                <a:latin typeface="Liberation Serif"/>
                <a:ea typeface="Liberation Serif"/>
                <a:effectLst/>
              </a:rPr>
              <a:t>W</a:t>
            </a:r>
          </a:p>
        </p:txBody>
      </p:sp>
      <p:sp>
        <p:nvSpPr>
          <p:cNvPr id="139" name="lo"/>
          <p:cNvSpPr txBox="1"/>
          <p:nvPr/>
        </p:nvSpPr>
        <p:spPr>
          <a:xfrm>
            <a:off x="5757705" y="4087256"/>
            <a:ext cx="180246" cy="162759"/>
          </a:xfrm>
          <a:prstGeom prst="rect">
            <a:avLst/>
          </a:prstGeom>
          <a:noFill/>
          <a:effectLst/>
        </p:spPr>
        <p:txBody>
          <a:bodyPr wrap="none" lIns="0" rIns="0" tIns="0" bIns="0" anchor="t">
            <a:spAutoFit/>
          </a:bodyPr>
          <a:lstStyle/>
          <a:p>
            <a:pPr algn="l">
              <a:lnSpc>
                <a:spcPct val="100000"/>
              </a:lnSpc>
              <a:spcBef>
                <a:spcPts val="0"/>
              </a:spcBef>
              <a:spcAft>
                <a:spcPts val="0"/>
              </a:spcAft>
            </a:pPr>
            <a:r>
              <a:rPr sz="936" b="0" i="0" lang="en-US" spc="0">
                <a:solidFill>
                  <a:srgbClr val="181818"/>
                </a:solidFill>
                <a:latin typeface="Liberation Serif"/>
                <a:ea typeface="Liberation Serif"/>
                <a:effectLst/>
              </a:rPr>
              <a:t>lo</a:t>
            </a:r>
          </a:p>
        </p:txBody>
      </p:sp>
      <p:sp>
        <p:nvSpPr>
          <p:cNvPr id="140" name=", "/>
          <p:cNvSpPr txBox="1"/>
          <p:nvPr/>
        </p:nvSpPr>
        <p:spPr>
          <a:xfrm>
            <a:off x="5857486" y="3983018"/>
            <a:ext cx="179218" cy="234080"/>
          </a:xfrm>
          <a:prstGeom prst="rect">
            <a:avLst/>
          </a:prstGeom>
          <a:noFill/>
          <a:effectLst/>
        </p:spPr>
        <p:txBody>
          <a:bodyPr wrap="none" lIns="0" rIns="0" tIns="0" bIns="0" anchor="t">
            <a:spAutoFit/>
          </a:bodyPr>
          <a:lstStyle/>
          <a:p>
            <a:pPr algn="l">
              <a:lnSpc>
                <a:spcPct val="100000"/>
              </a:lnSpc>
              <a:spcBef>
                <a:spcPts val="0"/>
              </a:spcBef>
              <a:spcAft>
                <a:spcPts val="0"/>
              </a:spcAft>
            </a:pPr>
            <a:r>
              <a:rPr sz="1439" b="0" i="0" lang="en-US" spc="0">
                <a:solidFill>
                  <a:srgbClr val="181818"/>
                </a:solidFill>
                <a:latin typeface="Liberation Serif"/>
                <a:ea typeface="Liberation Serif"/>
                <a:effectLst/>
              </a:rPr>
              <a:t>, </a:t>
            </a:r>
          </a:p>
        </p:txBody>
      </p:sp>
      <p:sp>
        <p:nvSpPr>
          <p:cNvPr id="141" name="W"/>
          <p:cNvSpPr txBox="1"/>
          <p:nvPr/>
        </p:nvSpPr>
        <p:spPr>
          <a:xfrm>
            <a:off x="5948924" y="3983018"/>
            <a:ext cx="240109" cy="234080"/>
          </a:xfrm>
          <a:prstGeom prst="rect">
            <a:avLst/>
          </a:prstGeom>
          <a:noFill/>
          <a:effectLst/>
        </p:spPr>
        <p:txBody>
          <a:bodyPr wrap="none" lIns="0" rIns="0" tIns="0" bIns="0" anchor="t">
            <a:spAutoFit/>
          </a:bodyPr>
          <a:lstStyle/>
          <a:p>
            <a:pPr algn="l">
              <a:lnSpc>
                <a:spcPct val="100000"/>
              </a:lnSpc>
              <a:spcBef>
                <a:spcPts val="0"/>
              </a:spcBef>
              <a:spcAft>
                <a:spcPts val="0"/>
              </a:spcAft>
            </a:pPr>
            <a:r>
              <a:rPr sz="1439" b="0" i="1" lang="en-US" spc="0">
                <a:solidFill>
                  <a:srgbClr val="181818"/>
                </a:solidFill>
                <a:latin typeface="Liberation Serif"/>
                <a:ea typeface="Liberation Serif"/>
                <a:effectLst/>
              </a:rPr>
              <a:t>W</a:t>
            </a:r>
          </a:p>
        </p:txBody>
      </p:sp>
      <p:sp>
        <p:nvSpPr>
          <p:cNvPr id="142" name="hi"/>
          <p:cNvSpPr txBox="1"/>
          <p:nvPr/>
        </p:nvSpPr>
        <p:spPr>
          <a:xfrm>
            <a:off x="6108568" y="4087256"/>
            <a:ext cx="180246" cy="162759"/>
          </a:xfrm>
          <a:prstGeom prst="rect">
            <a:avLst/>
          </a:prstGeom>
          <a:noFill/>
          <a:effectLst/>
        </p:spPr>
        <p:txBody>
          <a:bodyPr wrap="none" lIns="0" rIns="0" tIns="0" bIns="0" anchor="t">
            <a:spAutoFit/>
          </a:bodyPr>
          <a:lstStyle/>
          <a:p>
            <a:pPr algn="l">
              <a:lnSpc>
                <a:spcPct val="100000"/>
              </a:lnSpc>
              <a:spcBef>
                <a:spcPts val="0"/>
              </a:spcBef>
              <a:spcAft>
                <a:spcPts val="0"/>
              </a:spcAft>
            </a:pPr>
            <a:r>
              <a:rPr sz="936" b="0" i="0" lang="en-US" spc="0">
                <a:solidFill>
                  <a:srgbClr val="181818"/>
                </a:solidFill>
                <a:latin typeface="Liberation Serif"/>
                <a:ea typeface="Liberation Serif"/>
                <a:effectLst/>
              </a:rPr>
              <a:t>hi</a:t>
            </a:r>
          </a:p>
        </p:txBody>
      </p:sp>
      <p:sp>
        <p:nvSpPr>
          <p:cNvPr id="143" name="]"/>
          <p:cNvSpPr txBox="1"/>
          <p:nvPr/>
        </p:nvSpPr>
        <p:spPr>
          <a:xfrm>
            <a:off x="6208349" y="3983018"/>
            <a:ext cx="148672" cy="234080"/>
          </a:xfrm>
          <a:prstGeom prst="rect">
            <a:avLst/>
          </a:prstGeom>
          <a:noFill/>
          <a:effectLst/>
        </p:spPr>
        <p:txBody>
          <a:bodyPr wrap="none" lIns="0" rIns="0" tIns="0" bIns="0" anchor="t">
            <a:spAutoFit/>
          </a:bodyPr>
          <a:lstStyle/>
          <a:p>
            <a:pPr algn="l">
              <a:lnSpc>
                <a:spcPct val="100000"/>
              </a:lnSpc>
              <a:spcBef>
                <a:spcPts val="0"/>
              </a:spcBef>
              <a:spcAft>
                <a:spcPts val="0"/>
              </a:spcAft>
            </a:pPr>
            <a:r>
              <a:rPr sz="1439" b="0" i="0" lang="en-US" spc="0">
                <a:solidFill>
                  <a:srgbClr val="181818"/>
                </a:solidFill>
                <a:latin typeface="Liberation Serif"/>
                <a:ea typeface="Liberation Serif"/>
                <a:effectLst/>
              </a:rPr>
              <a:t>]</a:t>
            </a:r>
          </a:p>
        </p:txBody>
      </p:sp>
      <p:cxnSp>
        <p:nvCxnSpPr>
          <p:cNvPr id="144" name="line 143"/>
          <p:cNvCxnSpPr/>
          <p:nvPr/>
        </p:nvCxnSpPr>
        <p:spPr>
          <a:xfrm>
            <a:off x="3686760" y="4257330"/>
            <a:ext cx="2969890" cy="0"/>
          </a:xfrm>
          <a:prstGeom prst="line">
            <a:avLst/>
          </a:prstGeom>
          <a:ln w="7315">
            <a:solidFill>
              <a:srgbClr val="A6A6A6"/>
            </a:solidFill>
          </a:ln>
          <a:effectLst/>
        </p:spPr>
        <p:style>
          <a:lnRef idx="2">
            <a:schemeClr val="accent1"/>
          </a:lnRef>
          <a:fillRef idx="0">
            <a:schemeClr val="accent1"/>
          </a:fillRef>
          <a:effectRef idx="0">
            <a:schemeClr val="accent1"/>
          </a:effectRef>
          <a:fontRef idx="minor">
            <a:schemeClr val="tx1"/>
          </a:fontRef>
        </p:style>
      </p:cxnSp>
      <p:sp>
        <p:nvSpPr>
          <p:cNvPr id="145" name="circle 144"/>
          <p:cNvSpPr/>
          <p:nvPr/>
        </p:nvSpPr>
        <p:spPr>
          <a:xfrm>
            <a:off x="3701390" y="4374370"/>
            <a:ext cx="263340" cy="263340"/>
          </a:xfrm>
          <a:prstGeom prst="ellipse">
            <a:avLst/>
          </a:prstGeom>
          <a:solidFill>
            <a:srgbClr val="E9A6BF"/>
          </a:solidFill>
          <a:ln w="14630">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6" name="P"/>
          <p:cNvSpPr txBox="1"/>
          <p:nvPr/>
        </p:nvSpPr>
        <p:spPr>
          <a:xfrm>
            <a:off x="3735550" y="4418626"/>
            <a:ext cx="195019" cy="201162"/>
          </a:xfrm>
          <a:prstGeom prst="rect">
            <a:avLst/>
          </a:prstGeom>
          <a:noFill/>
          <a:effectLst/>
        </p:spPr>
        <p:txBody>
          <a:bodyPr wrap="none" lIns="0" rIns="0" tIns="0" bIns="0" anchor="t">
            <a:spAutoFit/>
          </a:bodyPr>
          <a:lstStyle/>
          <a:p>
            <a:pPr algn="ctr">
              <a:lnSpc>
                <a:spcPct val="100000"/>
              </a:lnSpc>
              <a:spcBef>
                <a:spcPts val="0"/>
              </a:spcBef>
              <a:spcAft>
                <a:spcPts val="0"/>
              </a:spcAft>
            </a:pPr>
            <a:r>
              <a:rPr sz="1152" b="1" i="0" lang="en-US" spc="0">
                <a:solidFill>
                  <a:srgbClr val="181818"/>
                </a:solidFill>
                <a:latin typeface="DejaVu Sans"/>
                <a:ea typeface="DejaVu Sans"/>
                <a:effectLst/>
              </a:rPr>
              <a:t>P</a:t>
            </a:r>
          </a:p>
        </p:txBody>
      </p:sp>
      <p:sp>
        <p:nvSpPr>
          <p:cNvPr id="147" name="JOIN"/>
          <p:cNvSpPr txBox="1"/>
          <p:nvPr/>
        </p:nvSpPr>
        <p:spPr>
          <a:xfrm>
            <a:off x="4052510" y="4421918"/>
            <a:ext cx="461216" cy="208478"/>
          </a:xfrm>
          <a:prstGeom prst="rect">
            <a:avLst/>
          </a:prstGeom>
          <a:noFill/>
          <a:effectLst/>
        </p:spPr>
        <p:txBody>
          <a:bodyPr wrap="none" lIns="0" rIns="0" tIns="0" bIns="0" anchor="t">
            <a:spAutoFit/>
          </a:bodyPr>
          <a:lstStyle/>
          <a:p>
            <a:pPr algn="l">
              <a:lnSpc>
                <a:spcPct val="100000"/>
              </a:lnSpc>
              <a:spcBef>
                <a:spcPts val="0"/>
              </a:spcBef>
              <a:spcAft>
                <a:spcPts val="0"/>
              </a:spcAft>
            </a:pPr>
            <a:r>
              <a:rPr sz="1209" b="1" i="0" lang="en-US" spc="0">
                <a:solidFill>
                  <a:srgbClr val="181818"/>
                </a:solidFill>
                <a:latin typeface="DejaVu Sans"/>
                <a:ea typeface="DejaVu Sans"/>
                <a:effectLst/>
              </a:rPr>
              <a:t>JOIN</a:t>
            </a:r>
          </a:p>
        </p:txBody>
      </p:sp>
      <p:sp>
        <p:nvSpPr>
          <p:cNvPr id="148" name="τ"/>
          <p:cNvSpPr txBox="1"/>
          <p:nvPr/>
        </p:nvSpPr>
        <p:spPr>
          <a:xfrm>
            <a:off x="4784010" y="4379856"/>
            <a:ext cx="158473" cy="250539"/>
          </a:xfrm>
          <a:prstGeom prst="rect">
            <a:avLst/>
          </a:prstGeom>
          <a:noFill/>
          <a:effectLst/>
        </p:spPr>
        <p:txBody>
          <a:bodyPr wrap="none" lIns="0" rIns="0" tIns="0" bIns="0" anchor="t">
            <a:spAutoFit/>
          </a:bodyPr>
          <a:lstStyle/>
          <a:p>
            <a:pPr algn="l">
              <a:lnSpc>
                <a:spcPct val="100000"/>
              </a:lnSpc>
              <a:spcBef>
                <a:spcPts val="0"/>
              </a:spcBef>
              <a:spcAft>
                <a:spcPts val="0"/>
              </a:spcAft>
            </a:pPr>
            <a:r>
              <a:rPr sz="1555" b="0" i="1" lang="en-US" spc="0">
                <a:solidFill>
                  <a:srgbClr val="181818"/>
                </a:solidFill>
                <a:latin typeface="Liberation Serif"/>
                <a:ea typeface="Liberation Serif"/>
                <a:effectLst/>
              </a:rPr>
              <a:t>τ</a:t>
            </a:r>
          </a:p>
        </p:txBody>
      </p:sp>
      <p:sp>
        <p:nvSpPr>
          <p:cNvPr id="149" name="join"/>
          <p:cNvSpPr txBox="1"/>
          <p:nvPr/>
        </p:nvSpPr>
        <p:spPr>
          <a:xfrm>
            <a:off x="4862018" y="4491410"/>
            <a:ext cx="286942" cy="173731"/>
          </a:xfrm>
          <a:prstGeom prst="rect">
            <a:avLst/>
          </a:prstGeom>
          <a:noFill/>
          <a:effectLst/>
        </p:spPr>
        <p:txBody>
          <a:bodyPr wrap="none" lIns="0" rIns="0" tIns="0" bIns="0" anchor="t">
            <a:spAutoFit/>
          </a:bodyPr>
          <a:lstStyle/>
          <a:p>
            <a:pPr algn="l">
              <a:lnSpc>
                <a:spcPct val="100000"/>
              </a:lnSpc>
              <a:spcBef>
                <a:spcPts val="0"/>
              </a:spcBef>
              <a:spcAft>
                <a:spcPts val="0"/>
              </a:spcAft>
            </a:pPr>
            <a:r>
              <a:rPr sz="1010" b="0" i="0" lang="en-US" spc="0">
                <a:solidFill>
                  <a:srgbClr val="181818"/>
                </a:solidFill>
                <a:latin typeface="Liberation Serif"/>
                <a:ea typeface="Liberation Serif"/>
                <a:effectLst/>
              </a:rPr>
              <a:t>join</a:t>
            </a:r>
          </a:p>
        </p:txBody>
      </p:sp>
      <p:sp>
        <p:nvSpPr>
          <p:cNvPr id="150" name="circle 149"/>
          <p:cNvSpPr/>
          <p:nvPr/>
        </p:nvSpPr>
        <p:spPr>
          <a:xfrm>
            <a:off x="5456990" y="4374370"/>
            <a:ext cx="263340" cy="263340"/>
          </a:xfrm>
          <a:prstGeom prst="ellipse">
            <a:avLst/>
          </a:prstGeom>
          <a:solidFill>
            <a:srgbClr val="FFFFF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1" name="path 150"/>
          <p:cNvSpPr/>
          <p:nvPr/>
        </p:nvSpPr>
        <p:spPr>
          <a:xfrm>
            <a:off x="5588660" y="4418260"/>
            <a:ext cx="73150" cy="117040"/>
          </a:xfrm>
          <a:custGeom>
            <a:avLst/>
            <a:gdLst/>
            <a:ahLst/>
            <a:cxnLst/>
            <a:rect l="l" t="t" r="r" b="b"/>
            <a:pathLst>
              <a:path w="10" h="16">
                <a:moveTo>
                  <a:pt x="0" y="0"/>
                </a:moveTo>
                <a:lnTo>
                  <a:pt x="0" y="12"/>
                </a:lnTo>
                <a:lnTo>
                  <a:pt x="10" y="16"/>
                </a:lnTo>
              </a:path>
            </a:pathLst>
          </a:custGeom>
          <a:noFill/>
          <a:ln w="14630">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2" name="τ"/>
          <p:cNvSpPr txBox="1"/>
          <p:nvPr/>
        </p:nvSpPr>
        <p:spPr>
          <a:xfrm>
            <a:off x="5830055" y="4379856"/>
            <a:ext cx="158473" cy="250539"/>
          </a:xfrm>
          <a:prstGeom prst="rect">
            <a:avLst/>
          </a:prstGeom>
          <a:noFill/>
          <a:effectLst/>
        </p:spPr>
        <p:txBody>
          <a:bodyPr wrap="none" lIns="0" rIns="0" tIns="0" bIns="0" anchor="t">
            <a:spAutoFit/>
          </a:bodyPr>
          <a:lstStyle/>
          <a:p>
            <a:pPr algn="l">
              <a:lnSpc>
                <a:spcPct val="100000"/>
              </a:lnSpc>
              <a:spcBef>
                <a:spcPts val="0"/>
              </a:spcBef>
              <a:spcAft>
                <a:spcPts val="0"/>
              </a:spcAft>
            </a:pPr>
            <a:r>
              <a:rPr sz="1555" b="0" i="1" lang="en-US" spc="0">
                <a:solidFill>
                  <a:srgbClr val="181818"/>
                </a:solidFill>
                <a:latin typeface="Liberation Serif"/>
                <a:ea typeface="Liberation Serif"/>
                <a:effectLst/>
              </a:rPr>
              <a:t>τ</a:t>
            </a:r>
          </a:p>
        </p:txBody>
      </p:sp>
      <p:sp>
        <p:nvSpPr>
          <p:cNvPr id="153" name="tool"/>
          <p:cNvSpPr txBox="1"/>
          <p:nvPr/>
        </p:nvSpPr>
        <p:spPr>
          <a:xfrm>
            <a:off x="5908063" y="4491410"/>
            <a:ext cx="286942" cy="173731"/>
          </a:xfrm>
          <a:prstGeom prst="rect">
            <a:avLst/>
          </a:prstGeom>
          <a:noFill/>
          <a:effectLst/>
        </p:spPr>
        <p:txBody>
          <a:bodyPr wrap="none" lIns="0" rIns="0" tIns="0" bIns="0" anchor="t">
            <a:spAutoFit/>
          </a:bodyPr>
          <a:lstStyle/>
          <a:p>
            <a:pPr algn="l">
              <a:lnSpc>
                <a:spcPct val="100000"/>
              </a:lnSpc>
              <a:spcBef>
                <a:spcPts val="0"/>
              </a:spcBef>
              <a:spcAft>
                <a:spcPts val="0"/>
              </a:spcAft>
            </a:pPr>
            <a:r>
              <a:rPr sz="1010" b="0" i="0" lang="en-US" spc="0">
                <a:solidFill>
                  <a:srgbClr val="181818"/>
                </a:solidFill>
                <a:latin typeface="Liberation Serif"/>
                <a:ea typeface="Liberation Serif"/>
                <a:effectLst/>
              </a:rPr>
              <a:t>tool</a:t>
            </a:r>
          </a:p>
        </p:txBody>
      </p:sp>
      <p:sp>
        <p:nvSpPr>
          <p:cNvPr id="154" name="Model → demand; runtime → action"/>
          <p:cNvSpPr txBox="1"/>
          <p:nvPr/>
        </p:nvSpPr>
        <p:spPr>
          <a:xfrm>
            <a:off x="3686760" y="4626738"/>
            <a:ext cx="2810874" cy="208478"/>
          </a:xfrm>
          <a:prstGeom prst="rect">
            <a:avLst/>
          </a:prstGeom>
          <a:noFill/>
          <a:effectLst/>
        </p:spPr>
        <p:txBody>
          <a:bodyPr wrap="none" lIns="0" rIns="0" tIns="0" bIns="0" anchor="t">
            <a:spAutoFit/>
          </a:bodyPr>
          <a:lstStyle/>
          <a:p>
            <a:pPr algn="l">
              <a:lnSpc>
                <a:spcPct val="100000"/>
              </a:lnSpc>
              <a:spcBef>
                <a:spcPts val="0"/>
              </a:spcBef>
              <a:spcAft>
                <a:spcPts val="0"/>
              </a:spcAft>
            </a:pPr>
            <a:r>
              <a:rPr sz="1209" b="0" i="0" lang="en-US" spc="0">
                <a:solidFill>
                  <a:srgbClr val="181818"/>
                </a:solidFill>
                <a:latin typeface="DejaVu Sans"/>
                <a:ea typeface="DejaVu Sans"/>
                <a:effectLst/>
              </a:rPr>
              <a:t>Model → demand; runtime → action</a:t>
            </a:r>
          </a:p>
        </p:txBody>
      </p:sp>
      <p:sp>
        <p:nvSpPr>
          <p:cNvPr id="155" name="rect 154"/>
          <p:cNvSpPr/>
          <p:nvPr/>
        </p:nvSpPr>
        <p:spPr>
          <a:xfrm>
            <a:off x="351120" y="5047350"/>
            <a:ext cx="6437200" cy="3203970"/>
          </a:xfrm>
          <a:prstGeom prst="roundRect">
            <a:avLst>
              <a:gd name="adj" fmla="val 456"/>
            </a:avLst>
          </a:prstGeom>
          <a:solidFill>
            <a:srgbClr val="EEEEEE"/>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6" name="rect 155"/>
          <p:cNvSpPr/>
          <p:nvPr/>
        </p:nvSpPr>
        <p:spPr>
          <a:xfrm>
            <a:off x="351120" y="5047350"/>
            <a:ext cx="6437200" cy="277970"/>
          </a:xfrm>
          <a:prstGeom prst="roundRect">
            <a:avLst>
              <a:gd name="adj" fmla="val 5263"/>
            </a:avLst>
          </a:prstGeom>
          <a:solidFill>
            <a:srgbClr val="A9CEE8"/>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7" name="3  Checkpoint, timing, capacity and execution order"/>
          <p:cNvSpPr txBox="1"/>
          <p:nvPr/>
        </p:nvSpPr>
        <p:spPr>
          <a:xfrm>
            <a:off x="453530" y="5082901"/>
            <a:ext cx="5225139" cy="235909"/>
          </a:xfrm>
          <a:prstGeom prst="rect">
            <a:avLst/>
          </a:prstGeom>
          <a:noFill/>
          <a:effectLst/>
        </p:spPr>
        <p:txBody>
          <a:bodyPr wrap="none" lIns="0" rIns="0" tIns="0" bIns="0" anchor="t">
            <a:spAutoFit/>
          </a:bodyPr>
          <a:lstStyle/>
          <a:p>
            <a:pPr algn="l">
              <a:lnSpc>
                <a:spcPct val="100000"/>
              </a:lnSpc>
              <a:spcBef>
                <a:spcPts val="0"/>
              </a:spcBef>
              <a:spcAft>
                <a:spcPts val="0"/>
              </a:spcAft>
            </a:pPr>
            <a:r>
              <a:rPr sz="1382" b="1" i="0" lang="en-US" spc="0">
                <a:solidFill>
                  <a:srgbClr val="181818"/>
                </a:solidFill>
                <a:latin typeface="DejaVu Sans"/>
                <a:ea typeface="DejaVu Sans"/>
                <a:effectLst/>
              </a:rPr>
              <a:t>3  Checkpoint, timing, capacity and execution order</a:t>
            </a:r>
          </a:p>
        </p:txBody>
      </p:sp>
      <p:cxnSp>
        <p:nvCxnSpPr>
          <p:cNvPr id="158" name="line 157"/>
          <p:cNvCxnSpPr/>
          <p:nvPr/>
        </p:nvCxnSpPr>
        <p:spPr>
          <a:xfrm>
            <a:off x="2443210" y="5442360"/>
            <a:ext cx="0" cy="2669975"/>
          </a:xfrm>
          <a:prstGeom prst="line">
            <a:avLst/>
          </a:prstGeom>
          <a:ln w="8778">
            <a:solidFill>
              <a:srgbClr val="A6A6A6"/>
            </a:solidFill>
          </a:ln>
          <a:effectLst/>
        </p:spPr>
        <p:style>
          <a:lnRef idx="2">
            <a:schemeClr val="accent1"/>
          </a:lnRef>
          <a:fillRef idx="0">
            <a:schemeClr val="accent1"/>
          </a:fillRef>
          <a:effectRef idx="0">
            <a:schemeClr val="accent1"/>
          </a:effectRef>
          <a:fontRef idx="minor">
            <a:schemeClr val="tx1"/>
          </a:fontRef>
        </p:style>
      </p:cxnSp>
      <p:cxnSp>
        <p:nvCxnSpPr>
          <p:cNvPr id="159" name="line 158"/>
          <p:cNvCxnSpPr/>
          <p:nvPr/>
        </p:nvCxnSpPr>
        <p:spPr>
          <a:xfrm>
            <a:off x="4593820" y="5442360"/>
            <a:ext cx="0" cy="2669975"/>
          </a:xfrm>
          <a:prstGeom prst="line">
            <a:avLst/>
          </a:prstGeom>
          <a:ln w="8778">
            <a:solidFill>
              <a:srgbClr val="A6A6A6"/>
            </a:solidFill>
          </a:ln>
          <a:effectLst/>
        </p:spPr>
        <p:style>
          <a:lnRef idx="2">
            <a:schemeClr val="accent1"/>
          </a:lnRef>
          <a:fillRef idx="0">
            <a:schemeClr val="accent1"/>
          </a:fillRef>
          <a:effectRef idx="0">
            <a:schemeClr val="accent1"/>
          </a:effectRef>
          <a:fontRef idx="minor">
            <a:schemeClr val="tx1"/>
          </a:fontRef>
        </p:style>
      </p:cxnSp>
      <p:sp>
        <p:nvSpPr>
          <p:cNvPr id="160" name="Reusable checkpoint"/>
          <p:cNvSpPr txBox="1"/>
          <p:nvPr/>
        </p:nvSpPr>
        <p:spPr>
          <a:xfrm>
            <a:off x="468160" y="5431388"/>
            <a:ext cx="1969449" cy="217621"/>
          </a:xfrm>
          <a:prstGeom prst="rect">
            <a:avLst/>
          </a:prstGeom>
          <a:noFill/>
          <a:effectLst/>
        </p:spPr>
        <p:txBody>
          <a:bodyPr wrap="none" lIns="0" rIns="0" tIns="0" bIns="0" anchor="t">
            <a:spAutoFit/>
          </a:bodyPr>
          <a:lstStyle/>
          <a:p>
            <a:pPr algn="l">
              <a:lnSpc>
                <a:spcPct val="100000"/>
              </a:lnSpc>
              <a:spcBef>
                <a:spcPts val="0"/>
              </a:spcBef>
              <a:spcAft>
                <a:spcPts val="0"/>
              </a:spcAft>
            </a:pPr>
            <a:r>
              <a:rPr sz="1267" b="1" i="0" lang="en-US" spc="0">
                <a:solidFill>
                  <a:srgbClr val="181818"/>
                </a:solidFill>
                <a:latin typeface="DejaVu Sans"/>
                <a:ea typeface="DejaVu Sans"/>
                <a:effectLst/>
              </a:rPr>
              <a:t>Reusable checkpoint</a:t>
            </a:r>
          </a:p>
        </p:txBody>
      </p:sp>
      <p:sp>
        <p:nvSpPr>
          <p:cNvPr id="161" name="rect 160"/>
          <p:cNvSpPr/>
          <p:nvPr/>
        </p:nvSpPr>
        <p:spPr>
          <a:xfrm>
            <a:off x="555940" y="5895890"/>
            <a:ext cx="314545" cy="234080"/>
          </a:xfrm>
          <a:prstGeom prst="roundRect">
            <a:avLst>
              <a:gd name="adj" fmla="val 3125"/>
            </a:avLst>
          </a:prstGeom>
          <a:solidFill>
            <a:srgbClr val="DDDDDD"/>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2" name="p0"/>
          <p:cNvSpPr txBox="1"/>
          <p:nvPr/>
        </p:nvSpPr>
        <p:spPr>
          <a:xfrm>
            <a:off x="560898" y="5922517"/>
            <a:ext cx="304630" cy="208478"/>
          </a:xfrm>
          <a:prstGeom prst="rect">
            <a:avLst/>
          </a:prstGeom>
          <a:noFill/>
          <a:effectLst/>
        </p:spPr>
        <p:txBody>
          <a:bodyPr wrap="none" lIns="0" rIns="0" tIns="0" bIns="0" anchor="t">
            <a:spAutoFit/>
          </a:bodyPr>
          <a:lstStyle/>
          <a:p>
            <a:pPr algn="ctr">
              <a:lnSpc>
                <a:spcPct val="100000"/>
              </a:lnSpc>
              <a:spcBef>
                <a:spcPts val="0"/>
              </a:spcBef>
              <a:spcAft>
                <a:spcPts val="0"/>
              </a:spcAft>
            </a:pPr>
            <a:r>
              <a:rPr sz="1209" b="1" i="0" lang="en-US" spc="0">
                <a:solidFill>
                  <a:srgbClr val="181818"/>
                </a:solidFill>
                <a:latin typeface="DejaVu Sans"/>
                <a:ea typeface="DejaVu Sans"/>
                <a:effectLst/>
              </a:rPr>
              <a:t>p0</a:t>
            </a:r>
          </a:p>
        </p:txBody>
      </p:sp>
      <p:sp>
        <p:nvSpPr>
          <p:cNvPr id="163" name="rect 162"/>
          <p:cNvSpPr/>
          <p:nvPr/>
        </p:nvSpPr>
        <p:spPr>
          <a:xfrm>
            <a:off x="1214290" y="5713015"/>
            <a:ext cx="314545" cy="234080"/>
          </a:xfrm>
          <a:prstGeom prst="roundRect">
            <a:avLst>
              <a:gd name="adj" fmla="val 3125"/>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4" name="p1"/>
          <p:cNvSpPr txBox="1"/>
          <p:nvPr/>
        </p:nvSpPr>
        <p:spPr>
          <a:xfrm>
            <a:off x="1219248" y="5739642"/>
            <a:ext cx="304630" cy="208478"/>
          </a:xfrm>
          <a:prstGeom prst="rect">
            <a:avLst/>
          </a:prstGeom>
          <a:noFill/>
          <a:effectLst/>
        </p:spPr>
        <p:txBody>
          <a:bodyPr wrap="none" lIns="0" rIns="0" tIns="0" bIns="0" anchor="t">
            <a:spAutoFit/>
          </a:bodyPr>
          <a:lstStyle/>
          <a:p>
            <a:pPr algn="ctr">
              <a:lnSpc>
                <a:spcPct val="100000"/>
              </a:lnSpc>
              <a:spcBef>
                <a:spcPts val="0"/>
              </a:spcBef>
              <a:spcAft>
                <a:spcPts val="0"/>
              </a:spcAft>
            </a:pPr>
            <a:r>
              <a:rPr sz="1209" b="1" i="0" lang="en-US" spc="0">
                <a:solidFill>
                  <a:srgbClr val="181818"/>
                </a:solidFill>
                <a:latin typeface="DejaVu Sans"/>
                <a:ea typeface="DejaVu Sans"/>
                <a:effectLst/>
              </a:rPr>
              <a:t>p1</a:t>
            </a:r>
          </a:p>
        </p:txBody>
      </p:sp>
      <p:sp>
        <p:nvSpPr>
          <p:cNvPr id="165" name="rect 164"/>
          <p:cNvSpPr/>
          <p:nvPr/>
        </p:nvSpPr>
        <p:spPr>
          <a:xfrm>
            <a:off x="1850695" y="5895890"/>
            <a:ext cx="314545" cy="234080"/>
          </a:xfrm>
          <a:prstGeom prst="roundRect">
            <a:avLst>
              <a:gd name="adj" fmla="val 3125"/>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6" name="p5"/>
          <p:cNvSpPr txBox="1"/>
          <p:nvPr/>
        </p:nvSpPr>
        <p:spPr>
          <a:xfrm>
            <a:off x="1855653" y="5922517"/>
            <a:ext cx="304630" cy="208478"/>
          </a:xfrm>
          <a:prstGeom prst="rect">
            <a:avLst/>
          </a:prstGeom>
          <a:noFill/>
          <a:effectLst/>
        </p:spPr>
        <p:txBody>
          <a:bodyPr wrap="none" lIns="0" rIns="0" tIns="0" bIns="0" anchor="t">
            <a:spAutoFit/>
          </a:bodyPr>
          <a:lstStyle/>
          <a:p>
            <a:pPr algn="ctr">
              <a:lnSpc>
                <a:spcPct val="100000"/>
              </a:lnSpc>
              <a:spcBef>
                <a:spcPts val="0"/>
              </a:spcBef>
              <a:spcAft>
                <a:spcPts val="0"/>
              </a:spcAft>
            </a:pPr>
            <a:r>
              <a:rPr sz="1209" b="1" i="0" lang="en-US" spc="0">
                <a:solidFill>
                  <a:srgbClr val="181818"/>
                </a:solidFill>
                <a:latin typeface="DejaVu Sans"/>
                <a:ea typeface="DejaVu Sans"/>
                <a:effectLst/>
              </a:rPr>
              <a:t>p5</a:t>
            </a:r>
          </a:p>
        </p:txBody>
      </p:sp>
      <p:cxnSp>
        <p:nvCxnSpPr>
          <p:cNvPr id="167" name="path 166"/>
          <p:cNvCxnSpPr/>
          <p:nvPr/>
        </p:nvCxnSpPr>
        <p:spPr>
          <a:xfrm flipV="1">
            <a:off x="877800" y="5881260"/>
            <a:ext cx="314545" cy="117040"/>
          </a:xfrm>
          <a:prstGeom prst="line">
            <a:avLst/>
          </a:prstGeom>
          <a:ln w="12435">
            <a:solidFill>
              <a:srgbClr val="181818"/>
            </a:solidFill>
          </a:ln>
          <a:effectLst/>
        </p:spPr>
        <p:style>
          <a:lnRef idx="2">
            <a:schemeClr val="accent1"/>
          </a:lnRef>
          <a:fillRef idx="0">
            <a:schemeClr val="accent1"/>
          </a:fillRef>
          <a:effectRef idx="0">
            <a:schemeClr val="accent1"/>
          </a:effectRef>
          <a:fontRef idx="minor">
            <a:schemeClr val="tx1"/>
          </a:fontRef>
        </p:style>
      </p:cxnSp>
      <p:sp>
        <p:nvSpPr>
          <p:cNvPr id="168" name="arrowhead 167"/>
          <p:cNvSpPr/>
          <p:nvPr/>
        </p:nvSpPr>
        <p:spPr>
          <a:xfrm>
            <a:off x="1104565" y="5866630"/>
            <a:ext cx="102410" cy="80465"/>
          </a:xfrm>
          <a:custGeom>
            <a:avLst/>
            <a:gdLst/>
            <a:ahLst/>
            <a:cxnLst/>
            <a:rect l="l" t="t" r="r" b="b"/>
            <a:pathLst>
              <a:path w="14" h="11">
                <a:moveTo>
                  <a:pt x="14" y="1"/>
                </a:moveTo>
                <a:lnTo>
                  <a:pt x="5" y="11"/>
                </a:lnTo>
                <a:lnTo>
                  <a:pt x="0" y="0"/>
                </a:lnTo>
                <a:close/>
              </a:path>
            </a:pathLst>
          </a:custGeom>
          <a:solidFill>
            <a:srgbClr val="18181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69" name="path 168"/>
          <p:cNvCxnSpPr/>
          <p:nvPr/>
        </p:nvCxnSpPr>
        <p:spPr>
          <a:xfrm>
            <a:off x="1536150" y="5881260"/>
            <a:ext cx="292600" cy="117040"/>
          </a:xfrm>
          <a:prstGeom prst="line">
            <a:avLst/>
          </a:prstGeom>
          <a:ln w="12435">
            <a:solidFill>
              <a:srgbClr val="BF3335"/>
            </a:solidFill>
          </a:ln>
          <a:effectLst/>
        </p:spPr>
        <p:style>
          <a:lnRef idx="2">
            <a:schemeClr val="accent1"/>
          </a:lnRef>
          <a:fillRef idx="0">
            <a:schemeClr val="accent1"/>
          </a:fillRef>
          <a:effectRef idx="0">
            <a:schemeClr val="accent1"/>
          </a:effectRef>
          <a:fontRef idx="minor">
            <a:schemeClr val="tx1"/>
          </a:fontRef>
        </p:style>
      </p:cxnSp>
      <p:sp>
        <p:nvSpPr>
          <p:cNvPr id="170" name="arrowhead 169"/>
          <p:cNvSpPr/>
          <p:nvPr/>
        </p:nvSpPr>
        <p:spPr>
          <a:xfrm>
            <a:off x="1740970" y="5932465"/>
            <a:ext cx="102410" cy="80465"/>
          </a:xfrm>
          <a:custGeom>
            <a:avLst/>
            <a:gdLst/>
            <a:ahLst/>
            <a:cxnLst/>
            <a:rect l="l" t="t" r="r" b="b"/>
            <a:pathLst>
              <a:path w="14" h="11">
                <a:moveTo>
                  <a:pt x="14" y="10"/>
                </a:moveTo>
                <a:lnTo>
                  <a:pt x="0" y="11"/>
                </a:lnTo>
                <a:lnTo>
                  <a:pt x="5" y="0"/>
                </a:lnTo>
                <a:close/>
              </a:path>
            </a:pathLst>
          </a:custGeom>
          <a:solidFill>
            <a:srgbClr val="BF333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1" name="rect 170"/>
          <p:cNvSpPr/>
          <p:nvPr/>
        </p:nvSpPr>
        <p:spPr>
          <a:xfrm>
            <a:off x="1221605" y="6342105"/>
            <a:ext cx="314545" cy="234080"/>
          </a:xfrm>
          <a:prstGeom prst="roundRect">
            <a:avLst>
              <a:gd name="adj" fmla="val 3125"/>
            </a:avLst>
          </a:prstGeom>
          <a:solidFill>
            <a:srgbClr val="FFFFFF"/>
          </a:solidFill>
          <a:ln w="13167">
            <a:solidFill>
              <a:srgbClr val="181818"/>
            </a:solidFill>
            <a:prstDash val="dash"/>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2" name="g"/>
          <p:cNvSpPr txBox="1"/>
          <p:nvPr/>
        </p:nvSpPr>
        <p:spPr>
          <a:xfrm>
            <a:off x="1280011" y="6368732"/>
            <a:ext cx="197734" cy="208478"/>
          </a:xfrm>
          <a:prstGeom prst="rect">
            <a:avLst/>
          </a:prstGeom>
          <a:noFill/>
          <a:effectLst/>
        </p:spPr>
        <p:txBody>
          <a:bodyPr wrap="none" lIns="0" rIns="0" tIns="0" bIns="0" anchor="t">
            <a:spAutoFit/>
          </a:bodyPr>
          <a:lstStyle/>
          <a:p>
            <a:pPr algn="ctr">
              <a:lnSpc>
                <a:spcPct val="100000"/>
              </a:lnSpc>
              <a:spcBef>
                <a:spcPts val="0"/>
              </a:spcBef>
              <a:spcAft>
                <a:spcPts val="0"/>
              </a:spcAft>
            </a:pPr>
            <a:r>
              <a:rPr sz="1209" b="1" i="0" lang="en-US" spc="0">
                <a:solidFill>
                  <a:srgbClr val="181818"/>
                </a:solidFill>
                <a:latin typeface="DejaVu Sans"/>
                <a:ea typeface="DejaVu Sans"/>
                <a:effectLst/>
              </a:rPr>
              <a:t>g</a:t>
            </a:r>
          </a:p>
        </p:txBody>
      </p:sp>
      <p:cxnSp>
        <p:nvCxnSpPr>
          <p:cNvPr id="173" name="path 172"/>
          <p:cNvCxnSpPr/>
          <p:nvPr/>
        </p:nvCxnSpPr>
        <p:spPr>
          <a:xfrm>
            <a:off x="855855" y="6129970"/>
            <a:ext cx="343805" cy="299915"/>
          </a:xfrm>
          <a:prstGeom prst="line">
            <a:avLst/>
          </a:prstGeom>
          <a:ln w="11704">
            <a:solidFill>
              <a:srgbClr val="969696"/>
            </a:solidFill>
            <a:prstDash val="dash"/>
          </a:ln>
          <a:effectLst/>
        </p:spPr>
        <p:style>
          <a:lnRef idx="2">
            <a:schemeClr val="accent1"/>
          </a:lnRef>
          <a:fillRef idx="0">
            <a:schemeClr val="accent1"/>
          </a:fillRef>
          <a:effectRef idx="0">
            <a:schemeClr val="accent1"/>
          </a:effectRef>
          <a:fontRef idx="minor">
            <a:schemeClr val="tx1"/>
          </a:fontRef>
        </p:style>
      </p:cxnSp>
      <p:sp>
        <p:nvSpPr>
          <p:cNvPr id="174" name="arrowhead 173"/>
          <p:cNvSpPr/>
          <p:nvPr/>
        </p:nvSpPr>
        <p:spPr>
          <a:xfrm>
            <a:off x="1119195" y="6356735"/>
            <a:ext cx="87780" cy="80465"/>
          </a:xfrm>
          <a:custGeom>
            <a:avLst/>
            <a:gdLst/>
            <a:ahLst/>
            <a:cxnLst/>
            <a:rect l="l" t="t" r="r" b="b"/>
            <a:pathLst>
              <a:path w="12" h="11">
                <a:moveTo>
                  <a:pt x="12" y="11"/>
                </a:moveTo>
                <a:lnTo>
                  <a:pt x="0" y="8"/>
                </a:lnTo>
                <a:lnTo>
                  <a:pt x="8" y="0"/>
                </a:lnTo>
                <a:close/>
              </a:path>
            </a:pathLst>
          </a:custGeom>
          <a:solidFill>
            <a:srgbClr val="96969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75" name="line 174"/>
          <p:cNvCxnSpPr/>
          <p:nvPr/>
        </p:nvCxnSpPr>
        <p:spPr>
          <a:xfrm>
            <a:off x="1645875" y="6407940"/>
            <a:ext cx="124355" cy="124355"/>
          </a:xfrm>
          <a:prstGeom prst="line">
            <a:avLst/>
          </a:prstGeom>
          <a:ln w="20482">
            <a:solidFill>
              <a:srgbClr val="969696"/>
            </a:solidFill>
          </a:ln>
          <a:effectLst/>
        </p:spPr>
        <p:style>
          <a:lnRef idx="2">
            <a:schemeClr val="accent1"/>
          </a:lnRef>
          <a:fillRef idx="0">
            <a:schemeClr val="accent1"/>
          </a:fillRef>
          <a:effectRef idx="0">
            <a:schemeClr val="accent1"/>
          </a:effectRef>
          <a:fontRef idx="minor">
            <a:schemeClr val="tx1"/>
          </a:fontRef>
        </p:style>
      </p:cxnSp>
      <p:cxnSp>
        <p:nvCxnSpPr>
          <p:cNvPr id="176" name="line 175"/>
          <p:cNvCxnSpPr/>
          <p:nvPr/>
        </p:nvCxnSpPr>
        <p:spPr>
          <a:xfrm flipV="1">
            <a:off x="1645875" y="6407940"/>
            <a:ext cx="124355" cy="124355"/>
          </a:xfrm>
          <a:prstGeom prst="line">
            <a:avLst/>
          </a:prstGeom>
          <a:ln w="20482">
            <a:solidFill>
              <a:srgbClr val="969696"/>
            </a:solidFill>
          </a:ln>
          <a:effectLst/>
        </p:spPr>
        <p:style>
          <a:lnRef idx="2">
            <a:schemeClr val="accent1"/>
          </a:lnRef>
          <a:fillRef idx="0">
            <a:schemeClr val="accent1"/>
          </a:fillRef>
          <a:effectRef idx="0">
            <a:schemeClr val="accent1"/>
          </a:effectRef>
          <a:fontRef idx="minor">
            <a:schemeClr val="tx1"/>
          </a:fontRef>
        </p:style>
      </p:cxnSp>
      <p:sp>
        <p:nvSpPr>
          <p:cNvPr id="177" name="c"/>
          <p:cNvSpPr txBox="1"/>
          <p:nvPr/>
        </p:nvSpPr>
        <p:spPr>
          <a:xfrm>
            <a:off x="1903529" y="6232380"/>
            <a:ext cx="178703" cy="257854"/>
          </a:xfrm>
          <a:prstGeom prst="rect">
            <a:avLst/>
          </a:prstGeom>
          <a:noFill/>
          <a:effectLst/>
        </p:spPr>
        <p:txBody>
          <a:bodyPr wrap="none" lIns="0" rIns="0" tIns="0" bIns="0" anchor="t">
            <a:spAutoFit/>
          </a:bodyPr>
          <a:lstStyle/>
          <a:p>
            <a:pPr algn="l">
              <a:lnSpc>
                <a:spcPct val="100000"/>
              </a:lnSpc>
              <a:spcBef>
                <a:spcPts val="0"/>
              </a:spcBef>
              <a:spcAft>
                <a:spcPts val="0"/>
              </a:spcAft>
            </a:pPr>
            <a:r>
              <a:rPr sz="1612" b="0" i="1" lang="en-US" spc="0">
                <a:solidFill>
                  <a:srgbClr val="181818"/>
                </a:solidFill>
                <a:latin typeface="Liberation Serif"/>
                <a:ea typeface="Liberation Serif"/>
                <a:effectLst/>
              </a:rPr>
              <a:t>c</a:t>
            </a:r>
          </a:p>
        </p:txBody>
      </p:sp>
      <p:sp>
        <p:nvSpPr>
          <p:cNvPr id="178" name="*"/>
          <p:cNvSpPr txBox="1"/>
          <p:nvPr/>
        </p:nvSpPr>
        <p:spPr>
          <a:xfrm>
            <a:off x="2001767" y="6188051"/>
            <a:ext cx="154529" cy="179218"/>
          </a:xfrm>
          <a:prstGeom prst="rect">
            <a:avLst/>
          </a:prstGeom>
          <a:noFill/>
          <a:effectLst/>
        </p:spPr>
        <p:txBody>
          <a:bodyPr wrap="none" lIns="0" rIns="0" tIns="0" bIns="0" anchor="t">
            <a:spAutoFit/>
          </a:bodyPr>
          <a:lstStyle/>
          <a:p>
            <a:pPr algn="l">
              <a:lnSpc>
                <a:spcPct val="100000"/>
              </a:lnSpc>
              <a:spcBef>
                <a:spcPts val="0"/>
              </a:spcBef>
              <a:spcAft>
                <a:spcPts val="0"/>
              </a:spcAft>
            </a:pPr>
            <a:r>
              <a:rPr sz="1048" b="0" i="0" lang="en-US" spc="0">
                <a:solidFill>
                  <a:srgbClr val="181818"/>
                </a:solidFill>
                <a:latin typeface="Liberation Serif"/>
                <a:ea typeface="Liberation Serif"/>
                <a:effectLst/>
              </a:rPr>
              <a:t>*</a:t>
            </a:r>
          </a:p>
        </p:txBody>
      </p:sp>
      <p:sp>
        <p:nvSpPr>
          <p:cNvPr id="179" name="context / epoch / prefix"/>
          <p:cNvSpPr txBox="1"/>
          <p:nvPr/>
        </p:nvSpPr>
        <p:spPr>
          <a:xfrm>
            <a:off x="475475" y="6731629"/>
            <a:ext cx="1788003" cy="201162"/>
          </a:xfrm>
          <a:prstGeom prst="rect">
            <a:avLst/>
          </a:prstGeom>
          <a:noFill/>
          <a:effectLst/>
        </p:spPr>
        <p:txBody>
          <a:bodyPr wrap="none" lIns="0" rIns="0" tIns="0" bIns="0" anchor="t">
            <a:spAutoFit/>
          </a:bodyPr>
          <a:lstStyle/>
          <a:p>
            <a:pPr algn="l">
              <a:lnSpc>
                <a:spcPct val="100000"/>
              </a:lnSpc>
              <a:spcBef>
                <a:spcPts val="0"/>
              </a:spcBef>
              <a:spcAft>
                <a:spcPts val="0"/>
              </a:spcAft>
            </a:pPr>
            <a:r>
              <a:rPr sz="1152" b="0" i="0" lang="en-US" spc="0">
                <a:solidFill>
                  <a:srgbClr val="181818"/>
                </a:solidFill>
                <a:latin typeface="DejaVu Sans"/>
                <a:ea typeface="DejaVu Sans"/>
                <a:effectLst/>
              </a:rPr>
              <a:t>context / epoch / prefix</a:t>
            </a:r>
          </a:p>
        </p:txBody>
      </p:sp>
      <p:sp>
        <p:nvSpPr>
          <p:cNvPr id="180" name="path 179"/>
          <p:cNvSpPr/>
          <p:nvPr/>
        </p:nvSpPr>
        <p:spPr>
          <a:xfrm>
            <a:off x="2245705" y="6707855"/>
            <a:ext cx="117040" cy="117040"/>
          </a:xfrm>
          <a:custGeom>
            <a:avLst/>
            <a:gdLst/>
            <a:ahLst/>
            <a:cxnLst/>
            <a:rect l="l" t="t" r="r" b="b"/>
            <a:pathLst>
              <a:path w="16" h="16">
                <a:moveTo>
                  <a:pt x="0" y="8"/>
                </a:moveTo>
                <a:lnTo>
                  <a:pt x="6" y="16"/>
                </a:lnTo>
                <a:lnTo>
                  <a:pt x="16" y="0"/>
                </a:lnTo>
              </a:path>
            </a:pathLst>
          </a:custGeom>
          <a:noFill/>
          <a:ln w="20482">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1" name="ΔFULL + required state"/>
          <p:cNvSpPr txBox="1"/>
          <p:nvPr/>
        </p:nvSpPr>
        <p:spPr>
          <a:xfrm>
            <a:off x="475475" y="7018742"/>
            <a:ext cx="1872897" cy="208478"/>
          </a:xfrm>
          <a:prstGeom prst="rect">
            <a:avLst/>
          </a:prstGeom>
          <a:noFill/>
          <a:effectLst/>
        </p:spPr>
        <p:txBody>
          <a:bodyPr wrap="none" lIns="0" rIns="0" tIns="0" bIns="0" anchor="t">
            <a:spAutoFit/>
          </a:bodyPr>
          <a:lstStyle/>
          <a:p>
            <a:pPr algn="l">
              <a:lnSpc>
                <a:spcPct val="100000"/>
              </a:lnSpc>
              <a:spcBef>
                <a:spcPts val="0"/>
              </a:spcBef>
              <a:spcAft>
                <a:spcPts val="0"/>
              </a:spcAft>
            </a:pPr>
            <a:r>
              <a:rPr sz="1209" b="0" i="0" lang="en-US" spc="0">
                <a:solidFill>
                  <a:srgbClr val="181818"/>
                </a:solidFill>
                <a:latin typeface="DejaVu Sans"/>
                <a:ea typeface="DejaVu Sans"/>
                <a:effectLst/>
              </a:rPr>
              <a:t>ΔFULL + required state</a:t>
            </a:r>
          </a:p>
        </p:txBody>
      </p:sp>
      <p:sp>
        <p:nvSpPr>
          <p:cNvPr id="182" name="Timing window"/>
          <p:cNvSpPr txBox="1"/>
          <p:nvPr/>
        </p:nvSpPr>
        <p:spPr>
          <a:xfrm>
            <a:off x="2560250" y="5431388"/>
            <a:ext cx="1454313" cy="217621"/>
          </a:xfrm>
          <a:prstGeom prst="rect">
            <a:avLst/>
          </a:prstGeom>
          <a:noFill/>
          <a:effectLst/>
        </p:spPr>
        <p:txBody>
          <a:bodyPr wrap="none" lIns="0" rIns="0" tIns="0" bIns="0" anchor="t">
            <a:spAutoFit/>
          </a:bodyPr>
          <a:lstStyle/>
          <a:p>
            <a:pPr algn="l">
              <a:lnSpc>
                <a:spcPct val="100000"/>
              </a:lnSpc>
              <a:spcBef>
                <a:spcPts val="0"/>
              </a:spcBef>
              <a:spcAft>
                <a:spcPts val="0"/>
              </a:spcAft>
            </a:pPr>
            <a:r>
              <a:rPr sz="1267" b="1" i="0" lang="en-US" spc="0">
                <a:solidFill>
                  <a:srgbClr val="181818"/>
                </a:solidFill>
                <a:latin typeface="DejaVu Sans"/>
                <a:ea typeface="DejaVu Sans"/>
                <a:effectLst/>
              </a:rPr>
              <a:t>Timing window</a:t>
            </a:r>
          </a:p>
        </p:txBody>
      </p:sp>
      <p:cxnSp>
        <p:nvCxnSpPr>
          <p:cNvPr id="183" name="line 182"/>
          <p:cNvCxnSpPr/>
          <p:nvPr/>
        </p:nvCxnSpPr>
        <p:spPr>
          <a:xfrm>
            <a:off x="2669975" y="6232380"/>
            <a:ext cx="1565410" cy="0"/>
          </a:xfrm>
          <a:prstGeom prst="line">
            <a:avLst/>
          </a:prstGeom>
          <a:ln w="8046">
            <a:solidFill>
              <a:srgbClr val="181818"/>
            </a:solidFill>
          </a:ln>
          <a:effectLst/>
        </p:spPr>
        <p:style>
          <a:lnRef idx="2">
            <a:schemeClr val="accent1"/>
          </a:lnRef>
          <a:fillRef idx="0">
            <a:schemeClr val="accent1"/>
          </a:fillRef>
          <a:effectRef idx="0">
            <a:schemeClr val="accent1"/>
          </a:effectRef>
          <a:fontRef idx="minor">
            <a:schemeClr val="tx1"/>
          </a:fontRef>
        </p:style>
      </p:cxnSp>
      <p:sp>
        <p:nvSpPr>
          <p:cNvPr id="184" name="path 183"/>
          <p:cNvSpPr/>
          <p:nvPr/>
        </p:nvSpPr>
        <p:spPr>
          <a:xfrm>
            <a:off x="2669975" y="5800795"/>
            <a:ext cx="1558095" cy="387695"/>
          </a:xfrm>
          <a:custGeom>
            <a:avLst/>
            <a:gdLst/>
            <a:ahLst/>
            <a:cxnLst/>
            <a:rect l="l" t="t" r="r" b="b"/>
            <a:pathLst>
              <a:path w="213" h="53">
                <a:moveTo>
                  <a:pt x="0" y="53"/>
                </a:moveTo>
                <a:lnTo>
                  <a:pt x="29" y="53"/>
                </a:lnTo>
                <a:lnTo>
                  <a:pt x="29" y="41"/>
                </a:lnTo>
                <a:lnTo>
                  <a:pt x="63" y="41"/>
                </a:lnTo>
                <a:lnTo>
                  <a:pt x="63" y="15"/>
                </a:lnTo>
                <a:lnTo>
                  <a:pt x="104" y="15"/>
                </a:lnTo>
                <a:lnTo>
                  <a:pt x="104" y="0"/>
                </a:lnTo>
                <a:lnTo>
                  <a:pt x="213" y="0"/>
                </a:lnTo>
              </a:path>
            </a:pathLst>
          </a:custGeom>
          <a:noFill/>
          <a:ln w="14630">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85" name="line 184"/>
          <p:cNvCxnSpPr/>
          <p:nvPr/>
        </p:nvCxnSpPr>
        <p:spPr>
          <a:xfrm>
            <a:off x="3423420" y="5764220"/>
            <a:ext cx="0" cy="512050"/>
          </a:xfrm>
          <a:prstGeom prst="line">
            <a:avLst/>
          </a:prstGeom>
          <a:ln w="13167">
            <a:solidFill>
              <a:srgbClr val="BF3335"/>
            </a:solidFill>
            <a:prstDash val="dash"/>
          </a:ln>
          <a:effectLst/>
        </p:spPr>
        <p:style>
          <a:lnRef idx="2">
            <a:schemeClr val="accent1"/>
          </a:lnRef>
          <a:fillRef idx="0">
            <a:schemeClr val="accent1"/>
          </a:fillRef>
          <a:effectRef idx="0">
            <a:schemeClr val="accent1"/>
          </a:effectRef>
          <a:fontRef idx="minor">
            <a:schemeClr val="tx1"/>
          </a:fontRef>
        </p:style>
      </p:cxnSp>
      <p:sp>
        <p:nvSpPr>
          <p:cNvPr id="186" name="S"/>
          <p:cNvSpPr txBox="1"/>
          <p:nvPr/>
        </p:nvSpPr>
        <p:spPr>
          <a:xfrm>
            <a:off x="3106989" y="6327475"/>
            <a:ext cx="190190" cy="257854"/>
          </a:xfrm>
          <a:prstGeom prst="rect">
            <a:avLst/>
          </a:prstGeom>
          <a:noFill/>
          <a:effectLst/>
        </p:spPr>
        <p:txBody>
          <a:bodyPr wrap="none" lIns="0" rIns="0" tIns="0" bIns="0" anchor="t">
            <a:spAutoFit/>
          </a:bodyPr>
          <a:lstStyle/>
          <a:p>
            <a:pPr algn="l">
              <a:lnSpc>
                <a:spcPct val="100000"/>
              </a:lnSpc>
              <a:spcBef>
                <a:spcPts val="0"/>
              </a:spcBef>
              <a:spcAft>
                <a:spcPts val="0"/>
              </a:spcAft>
            </a:pPr>
            <a:r>
              <a:rPr sz="1612" b="0" i="1" lang="en-US" spc="0">
                <a:solidFill>
                  <a:srgbClr val="181818"/>
                </a:solidFill>
                <a:latin typeface="Liberation Serif"/>
                <a:ea typeface="Liberation Serif"/>
                <a:effectLst/>
              </a:rPr>
              <a:t>S</a:t>
            </a:r>
          </a:p>
        </p:txBody>
      </p:sp>
      <p:sp>
        <p:nvSpPr>
          <p:cNvPr id="187" name="90"/>
          <p:cNvSpPr txBox="1"/>
          <p:nvPr/>
        </p:nvSpPr>
        <p:spPr>
          <a:xfrm>
            <a:off x="3216714" y="6440858"/>
            <a:ext cx="221279" cy="179218"/>
          </a:xfrm>
          <a:prstGeom prst="rect">
            <a:avLst/>
          </a:prstGeom>
          <a:noFill/>
          <a:effectLst/>
        </p:spPr>
        <p:txBody>
          <a:bodyPr wrap="none" lIns="0" rIns="0" tIns="0" bIns="0" anchor="t">
            <a:spAutoFit/>
          </a:bodyPr>
          <a:lstStyle/>
          <a:p>
            <a:pPr algn="l">
              <a:lnSpc>
                <a:spcPct val="100000"/>
              </a:lnSpc>
              <a:spcBef>
                <a:spcPts val="0"/>
              </a:spcBef>
              <a:spcAft>
                <a:spcPts val="0"/>
              </a:spcAft>
            </a:pPr>
            <a:r>
              <a:rPr sz="1048" b="0" i="0" lang="en-US" spc="0">
                <a:solidFill>
                  <a:srgbClr val="181818"/>
                </a:solidFill>
                <a:latin typeface="Liberation Serif"/>
                <a:ea typeface="Liberation Serif"/>
                <a:effectLst/>
              </a:rPr>
              <a:t>90</a:t>
            </a:r>
          </a:p>
        </p:txBody>
      </p:sp>
      <p:sp>
        <p:nvSpPr>
          <p:cNvPr id="188" name=" + "/>
          <p:cNvSpPr txBox="1"/>
          <p:nvPr/>
        </p:nvSpPr>
        <p:spPr>
          <a:xfrm>
            <a:off x="3357528" y="6327475"/>
            <a:ext cx="305716" cy="257854"/>
          </a:xfrm>
          <a:prstGeom prst="rect">
            <a:avLst/>
          </a:prstGeom>
          <a:noFill/>
          <a:effectLst/>
        </p:spPr>
        <p:txBody>
          <a:bodyPr wrap="none" lIns="0" rIns="0" tIns="0" bIns="0" anchor="t">
            <a:spAutoFit/>
          </a:bodyPr>
          <a:lstStyle/>
          <a:p>
            <a:pPr algn="l">
              <a:lnSpc>
                <a:spcPct val="100000"/>
              </a:lnSpc>
              <a:spcBef>
                <a:spcPts val="0"/>
              </a:spcBef>
              <a:spcAft>
                <a:spcPts val="0"/>
              </a:spcAft>
            </a:pPr>
            <a:r>
              <a:rPr sz="1612" b="0" i="0" lang="en-US" spc="0">
                <a:solidFill>
                  <a:srgbClr val="181818"/>
                </a:solidFill>
                <a:latin typeface="Liberation Serif"/>
                <a:ea typeface="Liberation Serif"/>
                <a:effectLst/>
              </a:rPr>
              <a:t> + </a:t>
            </a:r>
          </a:p>
        </p:txBody>
      </p:sp>
      <p:sp>
        <p:nvSpPr>
          <p:cNvPr id="189" name="Q"/>
          <p:cNvSpPr txBox="1"/>
          <p:nvPr/>
        </p:nvSpPr>
        <p:spPr>
          <a:xfrm>
            <a:off x="3575463" y="6327475"/>
            <a:ext cx="235709" cy="257854"/>
          </a:xfrm>
          <a:prstGeom prst="rect">
            <a:avLst/>
          </a:prstGeom>
          <a:noFill/>
          <a:effectLst/>
        </p:spPr>
        <p:txBody>
          <a:bodyPr wrap="none" lIns="0" rIns="0" tIns="0" bIns="0" anchor="t">
            <a:spAutoFit/>
          </a:bodyPr>
          <a:lstStyle/>
          <a:p>
            <a:pPr algn="l">
              <a:lnSpc>
                <a:spcPct val="100000"/>
              </a:lnSpc>
              <a:spcBef>
                <a:spcPts val="0"/>
              </a:spcBef>
              <a:spcAft>
                <a:spcPts val="0"/>
              </a:spcAft>
            </a:pPr>
            <a:r>
              <a:rPr sz="1612" b="0" i="1" lang="en-US" spc="0">
                <a:solidFill>
                  <a:srgbClr val="181818"/>
                </a:solidFill>
                <a:latin typeface="Liberation Serif"/>
                <a:ea typeface="Liberation Serif"/>
                <a:effectLst/>
              </a:rPr>
              <a:t>Q</a:t>
            </a:r>
          </a:p>
        </p:txBody>
      </p:sp>
      <p:sp>
        <p:nvSpPr>
          <p:cNvPr id="190" name="90"/>
          <p:cNvSpPr txBox="1"/>
          <p:nvPr/>
        </p:nvSpPr>
        <p:spPr>
          <a:xfrm>
            <a:off x="3730707" y="6440858"/>
            <a:ext cx="221279" cy="179218"/>
          </a:xfrm>
          <a:prstGeom prst="rect">
            <a:avLst/>
          </a:prstGeom>
          <a:noFill/>
          <a:effectLst/>
        </p:spPr>
        <p:txBody>
          <a:bodyPr wrap="none" lIns="0" rIns="0" tIns="0" bIns="0" anchor="t">
            <a:spAutoFit/>
          </a:bodyPr>
          <a:lstStyle/>
          <a:p>
            <a:pPr algn="l">
              <a:lnSpc>
                <a:spcPct val="100000"/>
              </a:lnSpc>
              <a:spcBef>
                <a:spcPts val="0"/>
              </a:spcBef>
              <a:spcAft>
                <a:spcPts val="0"/>
              </a:spcAft>
            </a:pPr>
            <a:r>
              <a:rPr sz="1048" b="0" i="0" lang="en-US" spc="0">
                <a:solidFill>
                  <a:srgbClr val="181818"/>
                </a:solidFill>
                <a:latin typeface="Liberation Serif"/>
                <a:ea typeface="Liberation Serif"/>
                <a:effectLst/>
              </a:rPr>
              <a:t>90</a:t>
            </a:r>
          </a:p>
        </p:txBody>
      </p:sp>
      <p:sp>
        <p:nvSpPr>
          <p:cNvPr id="191" name="polygon 190"/>
          <p:cNvSpPr/>
          <p:nvPr/>
        </p:nvSpPr>
        <p:spPr>
          <a:xfrm>
            <a:off x="2874795" y="6678595"/>
            <a:ext cx="1287440" cy="453530"/>
          </a:xfrm>
          <a:custGeom>
            <a:avLst/>
            <a:gdLst/>
            <a:ahLst/>
            <a:cxnLst/>
            <a:rect l="l" t="t" r="r" b="b"/>
            <a:pathLst>
              <a:path w="176" h="62">
                <a:moveTo>
                  <a:pt x="88" y="0"/>
                </a:moveTo>
                <a:lnTo>
                  <a:pt x="176" y="31"/>
                </a:lnTo>
                <a:lnTo>
                  <a:pt x="88" y="62"/>
                </a:lnTo>
                <a:lnTo>
                  <a:pt x="0" y="31"/>
                </a:lnTo>
                <a:close/>
              </a:path>
            </a:pathLst>
          </a:custGeom>
          <a:solidFill>
            <a:srgbClr val="FFFFFF"/>
          </a:solidFill>
          <a:ln w="10972">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2" name="τ"/>
          <p:cNvSpPr txBox="1"/>
          <p:nvPr/>
        </p:nvSpPr>
        <p:spPr>
          <a:xfrm>
            <a:off x="3284921" y="6782834"/>
            <a:ext cx="166331" cy="272484"/>
          </a:xfrm>
          <a:prstGeom prst="rect">
            <a:avLst/>
          </a:prstGeom>
          <a:noFill/>
          <a:effectLst/>
        </p:spPr>
        <p:txBody>
          <a:bodyPr wrap="none" lIns="0" rIns="0" tIns="0" bIns="0" anchor="t">
            <a:spAutoFit/>
          </a:bodyPr>
          <a:lstStyle/>
          <a:p>
            <a:pPr algn="l">
              <a:lnSpc>
                <a:spcPct val="100000"/>
              </a:lnSpc>
              <a:spcBef>
                <a:spcPts val="0"/>
              </a:spcBef>
              <a:spcAft>
                <a:spcPts val="0"/>
              </a:spcAft>
            </a:pPr>
            <a:r>
              <a:rPr sz="1727" b="0" i="1" lang="en-US" spc="0">
                <a:solidFill>
                  <a:srgbClr val="181818"/>
                </a:solidFill>
                <a:latin typeface="Liberation Serif"/>
                <a:ea typeface="Liberation Serif"/>
                <a:effectLst/>
              </a:rPr>
              <a:t>τ</a:t>
            </a:r>
          </a:p>
        </p:txBody>
      </p:sp>
      <p:sp>
        <p:nvSpPr>
          <p:cNvPr id="193" name=" ≤ "/>
          <p:cNvSpPr txBox="1"/>
          <p:nvPr/>
        </p:nvSpPr>
        <p:spPr>
          <a:xfrm>
            <a:off x="3363471" y="6782834"/>
            <a:ext cx="317945" cy="272484"/>
          </a:xfrm>
          <a:prstGeom prst="rect">
            <a:avLst/>
          </a:prstGeom>
          <a:noFill/>
          <a:effectLst/>
        </p:spPr>
        <p:txBody>
          <a:bodyPr wrap="none" lIns="0" rIns="0" tIns="0" bIns="0" anchor="t">
            <a:spAutoFit/>
          </a:bodyPr>
          <a:lstStyle/>
          <a:p>
            <a:pPr algn="l">
              <a:lnSpc>
                <a:spcPct val="100000"/>
              </a:lnSpc>
              <a:spcBef>
                <a:spcPts val="0"/>
              </a:spcBef>
              <a:spcAft>
                <a:spcPts val="0"/>
              </a:spcAft>
            </a:pPr>
            <a:r>
              <a:rPr sz="1727" b="0" i="0" lang="en-US" spc="0">
                <a:solidFill>
                  <a:srgbClr val="181818"/>
                </a:solidFill>
                <a:latin typeface="Liberation Serif"/>
                <a:ea typeface="Liberation Serif"/>
                <a:effectLst/>
              </a:rPr>
              <a:t> ≤ </a:t>
            </a:r>
          </a:p>
        </p:txBody>
      </p:sp>
      <p:sp>
        <p:nvSpPr>
          <p:cNvPr id="194" name="H"/>
          <p:cNvSpPr txBox="1"/>
          <p:nvPr/>
        </p:nvSpPr>
        <p:spPr>
          <a:xfrm>
            <a:off x="3593637" y="6782834"/>
            <a:ext cx="246253" cy="272484"/>
          </a:xfrm>
          <a:prstGeom prst="rect">
            <a:avLst/>
          </a:prstGeom>
          <a:noFill/>
          <a:effectLst/>
        </p:spPr>
        <p:txBody>
          <a:bodyPr wrap="none" lIns="0" rIns="0" tIns="0" bIns="0" anchor="t">
            <a:spAutoFit/>
          </a:bodyPr>
          <a:lstStyle/>
          <a:p>
            <a:pPr algn="l">
              <a:lnSpc>
                <a:spcPct val="100000"/>
              </a:lnSpc>
              <a:spcBef>
                <a:spcPts val="0"/>
              </a:spcBef>
              <a:spcAft>
                <a:spcPts val="0"/>
              </a:spcAft>
            </a:pPr>
            <a:r>
              <a:rPr sz="1727" b="0" i="1" lang="en-US" spc="0">
                <a:solidFill>
                  <a:srgbClr val="181818"/>
                </a:solidFill>
                <a:latin typeface="Liberation Serif"/>
                <a:ea typeface="Liberation Serif"/>
                <a:effectLst/>
              </a:rPr>
              <a:t>H</a:t>
            </a:r>
          </a:p>
        </p:txBody>
      </p:sp>
      <p:sp>
        <p:nvSpPr>
          <p:cNvPr id="195" name="Capacity + admission"/>
          <p:cNvSpPr txBox="1"/>
          <p:nvPr/>
        </p:nvSpPr>
        <p:spPr>
          <a:xfrm>
            <a:off x="4718175" y="5431388"/>
            <a:ext cx="2036199" cy="217621"/>
          </a:xfrm>
          <a:prstGeom prst="rect">
            <a:avLst/>
          </a:prstGeom>
          <a:noFill/>
          <a:effectLst/>
        </p:spPr>
        <p:txBody>
          <a:bodyPr wrap="none" lIns="0" rIns="0" tIns="0" bIns="0" anchor="t">
            <a:spAutoFit/>
          </a:bodyPr>
          <a:lstStyle/>
          <a:p>
            <a:pPr algn="l">
              <a:lnSpc>
                <a:spcPct val="100000"/>
              </a:lnSpc>
              <a:spcBef>
                <a:spcPts val="0"/>
              </a:spcBef>
              <a:spcAft>
                <a:spcPts val="0"/>
              </a:spcAft>
            </a:pPr>
            <a:r>
              <a:rPr sz="1267" b="1" i="0" lang="en-US" spc="0">
                <a:solidFill>
                  <a:srgbClr val="181818"/>
                </a:solidFill>
                <a:latin typeface="DejaVu Sans"/>
                <a:ea typeface="DejaVu Sans"/>
                <a:effectLst/>
              </a:rPr>
              <a:t>Capacity + admission</a:t>
            </a:r>
          </a:p>
        </p:txBody>
      </p:sp>
      <p:sp>
        <p:nvSpPr>
          <p:cNvPr id="196" name="rect 195"/>
          <p:cNvSpPr/>
          <p:nvPr/>
        </p:nvSpPr>
        <p:spPr>
          <a:xfrm>
            <a:off x="4747435" y="5764220"/>
            <a:ext cx="190190" cy="204820"/>
          </a:xfrm>
          <a:prstGeom prst="roundRect">
            <a:avLst>
              <a:gd name="adj" fmla="val 3846"/>
            </a:avLst>
          </a:prstGeom>
          <a:solidFill>
            <a:srgbClr val="FFFFF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7" name="rect 196"/>
          <p:cNvSpPr/>
          <p:nvPr/>
        </p:nvSpPr>
        <p:spPr>
          <a:xfrm>
            <a:off x="4966885" y="5764220"/>
            <a:ext cx="190190" cy="204820"/>
          </a:xfrm>
          <a:prstGeom prst="roundRect">
            <a:avLst>
              <a:gd name="adj" fmla="val 3846"/>
            </a:avLst>
          </a:prstGeom>
          <a:solidFill>
            <a:srgbClr val="FFFFF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8" name="rect 197"/>
          <p:cNvSpPr/>
          <p:nvPr/>
        </p:nvSpPr>
        <p:spPr>
          <a:xfrm>
            <a:off x="5186335" y="5764220"/>
            <a:ext cx="190190" cy="204820"/>
          </a:xfrm>
          <a:prstGeom prst="roundRect">
            <a:avLst>
              <a:gd name="adj" fmla="val 3846"/>
            </a:avLst>
          </a:prstGeom>
          <a:solidFill>
            <a:srgbClr val="FFFFF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9" name="rect 198"/>
          <p:cNvSpPr/>
          <p:nvPr/>
        </p:nvSpPr>
        <p:spPr>
          <a:xfrm>
            <a:off x="5405785" y="5764220"/>
            <a:ext cx="190190" cy="204820"/>
          </a:xfrm>
          <a:prstGeom prst="roundRect">
            <a:avLst>
              <a:gd name="adj" fmla="val 3846"/>
            </a:avLst>
          </a:prstGeom>
          <a:solidFill>
            <a:srgbClr val="B5D68B"/>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0" name="rect 199"/>
          <p:cNvSpPr/>
          <p:nvPr/>
        </p:nvSpPr>
        <p:spPr>
          <a:xfrm>
            <a:off x="5625235" y="5764220"/>
            <a:ext cx="190190" cy="204820"/>
          </a:xfrm>
          <a:prstGeom prst="roundRect">
            <a:avLst>
              <a:gd name="adj" fmla="val 3846"/>
            </a:avLst>
          </a:prstGeom>
          <a:solidFill>
            <a:srgbClr val="B5D68B"/>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1" name="rect 200"/>
          <p:cNvSpPr/>
          <p:nvPr/>
        </p:nvSpPr>
        <p:spPr>
          <a:xfrm>
            <a:off x="5844685" y="5764220"/>
            <a:ext cx="190190" cy="204820"/>
          </a:xfrm>
          <a:prstGeom prst="roundRect">
            <a:avLst>
              <a:gd name="adj" fmla="val 3846"/>
            </a:avLst>
          </a:prstGeom>
          <a:solidFill>
            <a:srgbClr val="B5D68B"/>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2" name="rect 201"/>
          <p:cNvSpPr/>
          <p:nvPr/>
        </p:nvSpPr>
        <p:spPr>
          <a:xfrm>
            <a:off x="6064135" y="5764220"/>
            <a:ext cx="190190" cy="204820"/>
          </a:xfrm>
          <a:prstGeom prst="roundRect">
            <a:avLst>
              <a:gd name="adj" fmla="val 3846"/>
            </a:avLst>
          </a:prstGeom>
          <a:solidFill>
            <a:srgbClr val="DDDDDD"/>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3" name="rect 202"/>
          <p:cNvSpPr/>
          <p:nvPr/>
        </p:nvSpPr>
        <p:spPr>
          <a:xfrm>
            <a:off x="6283585" y="5764220"/>
            <a:ext cx="190190" cy="204820"/>
          </a:xfrm>
          <a:prstGeom prst="roundRect">
            <a:avLst>
              <a:gd name="adj" fmla="val 3846"/>
            </a:avLst>
          </a:prstGeom>
          <a:solidFill>
            <a:srgbClr val="DDDDDD"/>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4" name="C"/>
          <p:cNvSpPr txBox="1"/>
          <p:nvPr/>
        </p:nvSpPr>
        <p:spPr>
          <a:xfrm>
            <a:off x="4799526" y="6011101"/>
            <a:ext cx="214650" cy="241395"/>
          </a:xfrm>
          <a:prstGeom prst="rect">
            <a:avLst/>
          </a:prstGeom>
          <a:noFill/>
          <a:effectLst/>
        </p:spPr>
        <p:txBody>
          <a:bodyPr wrap="none" lIns="0" rIns="0" tIns="0" bIns="0" anchor="t">
            <a:spAutoFit/>
          </a:bodyPr>
          <a:lstStyle/>
          <a:p>
            <a:pPr algn="l">
              <a:lnSpc>
                <a:spcPct val="100000"/>
              </a:lnSpc>
              <a:spcBef>
                <a:spcPts val="0"/>
              </a:spcBef>
              <a:spcAft>
                <a:spcPts val="0"/>
              </a:spcAft>
            </a:pPr>
            <a:r>
              <a:rPr sz="1497" b="0" i="1" lang="en-US" spc="0">
                <a:solidFill>
                  <a:srgbClr val="181818"/>
                </a:solidFill>
                <a:latin typeface="Liberation Serif"/>
                <a:ea typeface="Liberation Serif"/>
                <a:effectLst/>
              </a:rPr>
              <a:t>C</a:t>
            </a:r>
          </a:p>
        </p:txBody>
      </p:sp>
      <p:sp>
        <p:nvSpPr>
          <p:cNvPr id="205" name="free"/>
          <p:cNvSpPr txBox="1"/>
          <p:nvPr/>
        </p:nvSpPr>
        <p:spPr>
          <a:xfrm>
            <a:off x="4933710" y="6117169"/>
            <a:ext cx="280999" cy="168245"/>
          </a:xfrm>
          <a:prstGeom prst="rect">
            <a:avLst/>
          </a:prstGeom>
          <a:noFill/>
          <a:effectLst/>
        </p:spPr>
        <p:txBody>
          <a:bodyPr wrap="none" lIns="0" rIns="0" tIns="0" bIns="0" anchor="t">
            <a:spAutoFit/>
          </a:bodyPr>
          <a:lstStyle/>
          <a:p>
            <a:pPr algn="l">
              <a:lnSpc>
                <a:spcPct val="100000"/>
              </a:lnSpc>
              <a:spcBef>
                <a:spcPts val="0"/>
              </a:spcBef>
              <a:spcAft>
                <a:spcPts val="0"/>
              </a:spcAft>
            </a:pPr>
            <a:r>
              <a:rPr sz="973" b="0" i="0" lang="en-US" spc="0">
                <a:solidFill>
                  <a:srgbClr val="181818"/>
                </a:solidFill>
                <a:latin typeface="Liberation Serif"/>
                <a:ea typeface="Liberation Serif"/>
                <a:effectLst/>
              </a:rPr>
              <a:t>free</a:t>
            </a:r>
          </a:p>
        </p:txBody>
      </p:sp>
      <p:sp>
        <p:nvSpPr>
          <p:cNvPr id="206" name="C"/>
          <p:cNvSpPr txBox="1"/>
          <p:nvPr/>
        </p:nvSpPr>
        <p:spPr>
          <a:xfrm>
            <a:off x="5418172" y="6011101"/>
            <a:ext cx="214650" cy="241395"/>
          </a:xfrm>
          <a:prstGeom prst="rect">
            <a:avLst/>
          </a:prstGeom>
          <a:noFill/>
          <a:effectLst/>
        </p:spPr>
        <p:txBody>
          <a:bodyPr wrap="none" lIns="0" rIns="0" tIns="0" bIns="0" anchor="t">
            <a:spAutoFit/>
          </a:bodyPr>
          <a:lstStyle/>
          <a:p>
            <a:pPr algn="l">
              <a:lnSpc>
                <a:spcPct val="100000"/>
              </a:lnSpc>
              <a:spcBef>
                <a:spcPts val="0"/>
              </a:spcBef>
              <a:spcAft>
                <a:spcPts val="0"/>
              </a:spcAft>
            </a:pPr>
            <a:r>
              <a:rPr sz="1497" b="0" i="1" lang="en-US" spc="0">
                <a:solidFill>
                  <a:srgbClr val="181818"/>
                </a:solidFill>
                <a:latin typeface="Liberation Serif"/>
                <a:ea typeface="Liberation Serif"/>
                <a:effectLst/>
              </a:rPr>
              <a:t>C</a:t>
            </a:r>
          </a:p>
        </p:txBody>
      </p:sp>
      <p:sp>
        <p:nvSpPr>
          <p:cNvPr id="207" name="cold"/>
          <p:cNvSpPr txBox="1"/>
          <p:nvPr/>
        </p:nvSpPr>
        <p:spPr>
          <a:xfrm>
            <a:off x="5552356" y="6117169"/>
            <a:ext cx="301887" cy="168245"/>
          </a:xfrm>
          <a:prstGeom prst="rect">
            <a:avLst/>
          </a:prstGeom>
          <a:noFill/>
          <a:effectLst/>
        </p:spPr>
        <p:txBody>
          <a:bodyPr wrap="none" lIns="0" rIns="0" tIns="0" bIns="0" anchor="t">
            <a:spAutoFit/>
          </a:bodyPr>
          <a:lstStyle/>
          <a:p>
            <a:pPr algn="l">
              <a:lnSpc>
                <a:spcPct val="100000"/>
              </a:lnSpc>
              <a:spcBef>
                <a:spcPts val="0"/>
              </a:spcBef>
              <a:spcAft>
                <a:spcPts val="0"/>
              </a:spcAft>
            </a:pPr>
            <a:r>
              <a:rPr sz="973" b="0" i="0" lang="en-US" spc="0">
                <a:solidFill>
                  <a:srgbClr val="181818"/>
                </a:solidFill>
                <a:latin typeface="Liberation Serif"/>
                <a:ea typeface="Liberation Serif"/>
                <a:effectLst/>
              </a:rPr>
              <a:t>cold</a:t>
            </a:r>
          </a:p>
        </p:txBody>
      </p:sp>
      <p:sp>
        <p:nvSpPr>
          <p:cNvPr id="208" name="G"/>
          <p:cNvSpPr txBox="1"/>
          <p:nvPr/>
        </p:nvSpPr>
        <p:spPr>
          <a:xfrm>
            <a:off x="6085909" y="6011101"/>
            <a:ext cx="225136" cy="241395"/>
          </a:xfrm>
          <a:prstGeom prst="rect">
            <a:avLst/>
          </a:prstGeom>
          <a:noFill/>
          <a:effectLst/>
        </p:spPr>
        <p:txBody>
          <a:bodyPr wrap="none" lIns="0" rIns="0" tIns="0" bIns="0" anchor="t">
            <a:spAutoFit/>
          </a:bodyPr>
          <a:lstStyle/>
          <a:p>
            <a:pPr algn="l">
              <a:lnSpc>
                <a:spcPct val="100000"/>
              </a:lnSpc>
              <a:spcBef>
                <a:spcPts val="0"/>
              </a:spcBef>
              <a:spcAft>
                <a:spcPts val="0"/>
              </a:spcAft>
            </a:pPr>
            <a:r>
              <a:rPr sz="1497" b="0" i="1" lang="en-US" spc="0">
                <a:solidFill>
                  <a:srgbClr val="181818"/>
                </a:solidFill>
                <a:latin typeface="Liberation Serif"/>
                <a:ea typeface="Liberation Serif"/>
                <a:effectLst/>
              </a:rPr>
              <a:t>G</a:t>
            </a:r>
          </a:p>
        </p:txBody>
      </p:sp>
      <p:sp>
        <p:nvSpPr>
          <p:cNvPr id="209" name="next"/>
          <p:cNvSpPr txBox="1"/>
          <p:nvPr/>
        </p:nvSpPr>
        <p:spPr>
          <a:xfrm>
            <a:off x="6230580" y="6117169"/>
            <a:ext cx="301887" cy="168245"/>
          </a:xfrm>
          <a:prstGeom prst="rect">
            <a:avLst/>
          </a:prstGeom>
          <a:noFill/>
          <a:effectLst/>
        </p:spPr>
        <p:txBody>
          <a:bodyPr wrap="none" lIns="0" rIns="0" tIns="0" bIns="0" anchor="t">
            <a:spAutoFit/>
          </a:bodyPr>
          <a:lstStyle/>
          <a:p>
            <a:pPr algn="l">
              <a:lnSpc>
                <a:spcPct val="100000"/>
              </a:lnSpc>
              <a:spcBef>
                <a:spcPts val="0"/>
              </a:spcBef>
              <a:spcAft>
                <a:spcPts val="0"/>
              </a:spcAft>
            </a:pPr>
            <a:r>
              <a:rPr sz="973" b="0" i="0" lang="en-US" spc="0">
                <a:solidFill>
                  <a:srgbClr val="181818"/>
                </a:solidFill>
                <a:latin typeface="Liberation Serif"/>
                <a:ea typeface="Liberation Serif"/>
                <a:effectLst/>
              </a:rPr>
              <a:t>next</a:t>
            </a:r>
          </a:p>
        </p:txBody>
      </p:sp>
      <p:sp>
        <p:nvSpPr>
          <p:cNvPr id="210" name="rect 209"/>
          <p:cNvSpPr/>
          <p:nvPr/>
        </p:nvSpPr>
        <p:spPr>
          <a:xfrm>
            <a:off x="4754750" y="6334790"/>
            <a:ext cx="1879955" cy="204820"/>
          </a:xfrm>
          <a:prstGeom prst="roundRect">
            <a:avLst>
              <a:gd name="adj" fmla="val 7142"/>
            </a:avLst>
          </a:prstGeom>
          <a:solidFill>
            <a:srgbClr val="FFFFF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1" name="rect 210"/>
          <p:cNvSpPr/>
          <p:nvPr/>
        </p:nvSpPr>
        <p:spPr>
          <a:xfrm>
            <a:off x="4762065" y="6342105"/>
            <a:ext cx="73150" cy="190190"/>
          </a:xfrm>
          <a:prstGeom prst="rect">
            <a:avLst/>
          </a:prstGeom>
          <a:solidFill>
            <a:srgbClr val="DDDDD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2" name="old"/>
          <p:cNvSpPr txBox="1"/>
          <p:nvPr/>
        </p:nvSpPr>
        <p:spPr>
          <a:xfrm>
            <a:off x="4940668" y="6354614"/>
            <a:ext cx="330404" cy="192019"/>
          </a:xfrm>
          <a:prstGeom prst="rect">
            <a:avLst/>
          </a:prstGeom>
          <a:noFill/>
          <a:effectLst/>
        </p:spPr>
        <p:txBody>
          <a:bodyPr wrap="none" lIns="0" rIns="0" tIns="0" bIns="0" anchor="t">
            <a:spAutoFit/>
          </a:bodyPr>
          <a:lstStyle/>
          <a:p>
            <a:pPr algn="ctr">
              <a:lnSpc>
                <a:spcPct val="100000"/>
              </a:lnSpc>
              <a:spcBef>
                <a:spcPts val="0"/>
              </a:spcBef>
              <a:spcAft>
                <a:spcPts val="0"/>
              </a:spcAft>
            </a:pPr>
            <a:r>
              <a:rPr sz="1094" b="1" i="0" lang="en-US" spc="0">
                <a:solidFill>
                  <a:srgbClr val="181818"/>
                </a:solidFill>
                <a:latin typeface="DejaVu Sans"/>
                <a:ea typeface="DejaVu Sans"/>
                <a:effectLst/>
              </a:rPr>
              <a:t>old</a:t>
            </a:r>
          </a:p>
        </p:txBody>
      </p:sp>
      <p:sp>
        <p:nvSpPr>
          <p:cNvPr id="213" name="rect 212"/>
          <p:cNvSpPr/>
          <p:nvPr/>
        </p:nvSpPr>
        <p:spPr>
          <a:xfrm>
            <a:off x="6086080" y="6364050"/>
            <a:ext cx="109725" cy="146300"/>
          </a:xfrm>
          <a:prstGeom prst="roundRect">
            <a:avLst>
              <a:gd name="adj" fmla="val 6666"/>
            </a:avLst>
          </a:prstGeom>
          <a:solidFill>
            <a:srgbClr val="FFFFFF"/>
          </a:solidFill>
          <a:ln w="13167">
            <a:solidFill>
              <a:srgbClr val="181818"/>
            </a:solidFill>
            <a:prstDash val="dash"/>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4" name="rect 213"/>
          <p:cNvSpPr/>
          <p:nvPr/>
        </p:nvSpPr>
        <p:spPr>
          <a:xfrm>
            <a:off x="6232380" y="6364050"/>
            <a:ext cx="109725" cy="146300"/>
          </a:xfrm>
          <a:prstGeom prst="roundRect">
            <a:avLst>
              <a:gd name="adj" fmla="val 6666"/>
            </a:avLst>
          </a:prstGeom>
          <a:solidFill>
            <a:srgbClr val="FFFFFF"/>
          </a:solidFill>
          <a:ln w="13167">
            <a:solidFill>
              <a:srgbClr val="181818"/>
            </a:solidFill>
            <a:prstDash val="dash"/>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5" name="rect 214"/>
          <p:cNvSpPr/>
          <p:nvPr/>
        </p:nvSpPr>
        <p:spPr>
          <a:xfrm>
            <a:off x="6378680" y="6364050"/>
            <a:ext cx="109725" cy="146300"/>
          </a:xfrm>
          <a:prstGeom prst="roundRect">
            <a:avLst>
              <a:gd name="adj" fmla="val 6666"/>
            </a:avLst>
          </a:prstGeom>
          <a:solidFill>
            <a:srgbClr val="FFFFFF"/>
          </a:solidFill>
          <a:ln w="13167">
            <a:solidFill>
              <a:srgbClr val="181818"/>
            </a:solidFill>
            <a:prstDash val="dash"/>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6" name="rect 215"/>
          <p:cNvSpPr/>
          <p:nvPr/>
        </p:nvSpPr>
        <p:spPr>
          <a:xfrm>
            <a:off x="4754750" y="6605445"/>
            <a:ext cx="1879955" cy="204820"/>
          </a:xfrm>
          <a:prstGeom prst="roundRect">
            <a:avLst>
              <a:gd name="adj" fmla="val 7142"/>
            </a:avLst>
          </a:prstGeom>
          <a:solidFill>
            <a:srgbClr val="FFFFF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7" name="rect 216"/>
          <p:cNvSpPr/>
          <p:nvPr/>
        </p:nvSpPr>
        <p:spPr>
          <a:xfrm>
            <a:off x="4762065" y="6612760"/>
            <a:ext cx="73150" cy="190190"/>
          </a:xfrm>
          <a:prstGeom prst="rect">
            <a:avLst/>
          </a:prstGeom>
          <a:solidFill>
            <a:srgbClr val="B5D68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8" name="hit"/>
          <p:cNvSpPr txBox="1"/>
          <p:nvPr/>
        </p:nvSpPr>
        <p:spPr>
          <a:xfrm>
            <a:off x="4955470" y="6625269"/>
            <a:ext cx="300801" cy="192019"/>
          </a:xfrm>
          <a:prstGeom prst="rect">
            <a:avLst/>
          </a:prstGeom>
          <a:noFill/>
          <a:effectLst/>
        </p:spPr>
        <p:txBody>
          <a:bodyPr wrap="none" lIns="0" rIns="0" tIns="0" bIns="0" anchor="t">
            <a:spAutoFit/>
          </a:bodyPr>
          <a:lstStyle/>
          <a:p>
            <a:pPr algn="ctr">
              <a:lnSpc>
                <a:spcPct val="100000"/>
              </a:lnSpc>
              <a:spcBef>
                <a:spcPts val="0"/>
              </a:spcBef>
              <a:spcAft>
                <a:spcPts val="0"/>
              </a:spcAft>
            </a:pPr>
            <a:r>
              <a:rPr sz="1094" b="1" i="0" lang="en-US" spc="0">
                <a:solidFill>
                  <a:srgbClr val="181818"/>
                </a:solidFill>
                <a:latin typeface="DejaVu Sans"/>
                <a:ea typeface="DejaVu Sans"/>
                <a:effectLst/>
              </a:rPr>
              <a:t>hit</a:t>
            </a:r>
          </a:p>
        </p:txBody>
      </p:sp>
      <p:sp>
        <p:nvSpPr>
          <p:cNvPr id="219" name="rect 218"/>
          <p:cNvSpPr/>
          <p:nvPr/>
        </p:nvSpPr>
        <p:spPr>
          <a:xfrm>
            <a:off x="6086080" y="6634705"/>
            <a:ext cx="109725" cy="146300"/>
          </a:xfrm>
          <a:prstGeom prst="roundRect">
            <a:avLst>
              <a:gd name="adj" fmla="val 6666"/>
            </a:avLst>
          </a:prstGeom>
          <a:solidFill>
            <a:srgbClr val="B5D68B"/>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0" name="rect 219"/>
          <p:cNvSpPr/>
          <p:nvPr/>
        </p:nvSpPr>
        <p:spPr>
          <a:xfrm>
            <a:off x="6232380" y="6634705"/>
            <a:ext cx="109725" cy="146300"/>
          </a:xfrm>
          <a:prstGeom prst="roundRect">
            <a:avLst>
              <a:gd name="adj" fmla="val 6666"/>
            </a:avLst>
          </a:prstGeom>
          <a:solidFill>
            <a:srgbClr val="B5D68B"/>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1" name="rect 220"/>
          <p:cNvSpPr/>
          <p:nvPr/>
        </p:nvSpPr>
        <p:spPr>
          <a:xfrm>
            <a:off x="6378680" y="6634705"/>
            <a:ext cx="109725" cy="146300"/>
          </a:xfrm>
          <a:prstGeom prst="roundRect">
            <a:avLst>
              <a:gd name="adj" fmla="val 6666"/>
            </a:avLst>
          </a:prstGeom>
          <a:solidFill>
            <a:srgbClr val="B5D68B"/>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2" name="rect 221"/>
          <p:cNvSpPr/>
          <p:nvPr/>
        </p:nvSpPr>
        <p:spPr>
          <a:xfrm>
            <a:off x="4754750" y="6876100"/>
            <a:ext cx="1879955" cy="204820"/>
          </a:xfrm>
          <a:prstGeom prst="roundRect">
            <a:avLst>
              <a:gd name="adj" fmla="val 7142"/>
            </a:avLst>
          </a:prstGeom>
          <a:solidFill>
            <a:srgbClr val="FFFFF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3" name="rect 222"/>
          <p:cNvSpPr/>
          <p:nvPr/>
        </p:nvSpPr>
        <p:spPr>
          <a:xfrm>
            <a:off x="4762065" y="6883415"/>
            <a:ext cx="73150" cy="190190"/>
          </a:xfrm>
          <a:prstGeom prst="rect">
            <a:avLst/>
          </a:prstGeom>
          <a:solidFill>
            <a:srgbClr val="E9A6B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4" name="P"/>
          <p:cNvSpPr txBox="1"/>
          <p:nvPr/>
        </p:nvSpPr>
        <p:spPr>
          <a:xfrm>
            <a:off x="5011046" y="6895924"/>
            <a:ext cx="189647" cy="192019"/>
          </a:xfrm>
          <a:prstGeom prst="rect">
            <a:avLst/>
          </a:prstGeom>
          <a:noFill/>
          <a:effectLst/>
        </p:spPr>
        <p:txBody>
          <a:bodyPr wrap="none" lIns="0" rIns="0" tIns="0" bIns="0" anchor="t">
            <a:spAutoFit/>
          </a:bodyPr>
          <a:lstStyle/>
          <a:p>
            <a:pPr algn="ctr">
              <a:lnSpc>
                <a:spcPct val="100000"/>
              </a:lnSpc>
              <a:spcBef>
                <a:spcPts val="0"/>
              </a:spcBef>
              <a:spcAft>
                <a:spcPts val="0"/>
              </a:spcAft>
            </a:pPr>
            <a:r>
              <a:rPr sz="1094" b="1" i="0" lang="en-US" spc="0">
                <a:solidFill>
                  <a:srgbClr val="181818"/>
                </a:solidFill>
                <a:latin typeface="DejaVu Sans"/>
                <a:ea typeface="DejaVu Sans"/>
                <a:effectLst/>
              </a:rPr>
              <a:t>P</a:t>
            </a:r>
          </a:p>
        </p:txBody>
      </p:sp>
      <p:sp>
        <p:nvSpPr>
          <p:cNvPr id="225" name="rect 224"/>
          <p:cNvSpPr/>
          <p:nvPr/>
        </p:nvSpPr>
        <p:spPr>
          <a:xfrm>
            <a:off x="6086080" y="6905360"/>
            <a:ext cx="109725" cy="146300"/>
          </a:xfrm>
          <a:prstGeom prst="roundRect">
            <a:avLst>
              <a:gd name="adj" fmla="val 6666"/>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6" name="rect 225"/>
          <p:cNvSpPr/>
          <p:nvPr/>
        </p:nvSpPr>
        <p:spPr>
          <a:xfrm>
            <a:off x="6232380" y="6905360"/>
            <a:ext cx="109725" cy="146300"/>
          </a:xfrm>
          <a:prstGeom prst="roundRect">
            <a:avLst>
              <a:gd name="adj" fmla="val 6666"/>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7" name="rect 226"/>
          <p:cNvSpPr/>
          <p:nvPr/>
        </p:nvSpPr>
        <p:spPr>
          <a:xfrm>
            <a:off x="6378680" y="6905360"/>
            <a:ext cx="109725" cy="146300"/>
          </a:xfrm>
          <a:prstGeom prst="roundRect">
            <a:avLst>
              <a:gd name="adj" fmla="val 6666"/>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8" name="aging / batch fill"/>
          <p:cNvSpPr txBox="1"/>
          <p:nvPr/>
        </p:nvSpPr>
        <p:spPr>
          <a:xfrm>
            <a:off x="4740120" y="7128468"/>
            <a:ext cx="1331073" cy="208478"/>
          </a:xfrm>
          <a:prstGeom prst="rect">
            <a:avLst/>
          </a:prstGeom>
          <a:noFill/>
          <a:effectLst/>
        </p:spPr>
        <p:txBody>
          <a:bodyPr wrap="none" lIns="0" rIns="0" tIns="0" bIns="0" anchor="t">
            <a:spAutoFit/>
          </a:bodyPr>
          <a:lstStyle/>
          <a:p>
            <a:pPr algn="l">
              <a:lnSpc>
                <a:spcPct val="100000"/>
              </a:lnSpc>
              <a:spcBef>
                <a:spcPts val="0"/>
              </a:spcBef>
              <a:spcAft>
                <a:spcPts val="0"/>
              </a:spcAft>
            </a:pPr>
            <a:r>
              <a:rPr sz="1209" b="0" i="0" lang="en-US" spc="0">
                <a:solidFill>
                  <a:srgbClr val="181818"/>
                </a:solidFill>
                <a:latin typeface="DejaVu Sans"/>
                <a:ea typeface="DejaVu Sans"/>
                <a:effectLst/>
              </a:rPr>
              <a:t>aging / batch fill</a:t>
            </a:r>
          </a:p>
        </p:txBody>
      </p:sp>
      <p:cxnSp>
        <p:nvCxnSpPr>
          <p:cNvPr id="229" name="line 228"/>
          <p:cNvCxnSpPr/>
          <p:nvPr/>
        </p:nvCxnSpPr>
        <p:spPr>
          <a:xfrm>
            <a:off x="468160" y="7388150"/>
            <a:ext cx="6195805" cy="0"/>
          </a:xfrm>
          <a:prstGeom prst="line">
            <a:avLst/>
          </a:prstGeom>
          <a:ln w="8778">
            <a:solidFill>
              <a:srgbClr val="181818"/>
            </a:solidFill>
          </a:ln>
          <a:effectLst/>
        </p:spPr>
        <p:style>
          <a:lnRef idx="2">
            <a:schemeClr val="accent1"/>
          </a:lnRef>
          <a:fillRef idx="0">
            <a:schemeClr val="accent1"/>
          </a:fillRef>
          <a:effectRef idx="0">
            <a:schemeClr val="accent1"/>
          </a:effectRef>
          <a:fontRef idx="minor">
            <a:schemeClr val="tx1"/>
          </a:fontRef>
        </p:style>
      </p:cxnSp>
      <p:sp>
        <p:nvSpPr>
          <p:cNvPr id="230" name="PREPARE_HOST"/>
          <p:cNvSpPr txBox="1"/>
          <p:nvPr/>
        </p:nvSpPr>
        <p:spPr>
          <a:xfrm>
            <a:off x="475475" y="7464958"/>
            <a:ext cx="1478830" cy="217621"/>
          </a:xfrm>
          <a:prstGeom prst="rect">
            <a:avLst/>
          </a:prstGeom>
          <a:noFill/>
          <a:effectLst/>
        </p:spPr>
        <p:txBody>
          <a:bodyPr wrap="none" lIns="0" rIns="0" tIns="0" bIns="0" anchor="t">
            <a:spAutoFit/>
          </a:bodyPr>
          <a:lstStyle/>
          <a:p>
            <a:pPr algn="l">
              <a:lnSpc>
                <a:spcPct val="100000"/>
              </a:lnSpc>
              <a:spcBef>
                <a:spcPts val="0"/>
              </a:spcBef>
              <a:spcAft>
                <a:spcPts val="0"/>
              </a:spcAft>
            </a:pPr>
            <a:r>
              <a:rPr sz="1267" b="1" i="0" lang="en-US" spc="0">
                <a:solidFill>
                  <a:srgbClr val="181818"/>
                </a:solidFill>
                <a:latin typeface="DejaVu Sans"/>
                <a:ea typeface="DejaVu Sans"/>
                <a:effectLst/>
              </a:rPr>
              <a:t>PREPARE_HOST</a:t>
            </a:r>
          </a:p>
        </p:txBody>
      </p:sp>
      <p:sp>
        <p:nvSpPr>
          <p:cNvPr id="231" name="Reclaim cold FULL"/>
          <p:cNvSpPr txBox="1"/>
          <p:nvPr/>
        </p:nvSpPr>
        <p:spPr>
          <a:xfrm>
            <a:off x="2560250" y="7464958"/>
            <a:ext cx="1737055" cy="217621"/>
          </a:xfrm>
          <a:prstGeom prst="rect">
            <a:avLst/>
          </a:prstGeom>
          <a:noFill/>
          <a:effectLst/>
        </p:spPr>
        <p:txBody>
          <a:bodyPr wrap="none" lIns="0" rIns="0" tIns="0" bIns="0" anchor="t">
            <a:spAutoFit/>
          </a:bodyPr>
          <a:lstStyle/>
          <a:p>
            <a:pPr algn="l">
              <a:lnSpc>
                <a:spcPct val="100000"/>
              </a:lnSpc>
              <a:spcBef>
                <a:spcPts val="0"/>
              </a:spcBef>
              <a:spcAft>
                <a:spcPts val="0"/>
              </a:spcAft>
            </a:pPr>
            <a:r>
              <a:rPr sz="1267" b="1" i="0" lang="en-US" spc="0">
                <a:solidFill>
                  <a:srgbClr val="181818"/>
                </a:solidFill>
                <a:latin typeface="DejaVu Sans"/>
                <a:ea typeface="DejaVu Sans"/>
                <a:effectLst/>
              </a:rPr>
              <a:t>Reclaim cold FULL</a:t>
            </a:r>
          </a:p>
        </p:txBody>
      </p:sp>
      <p:sp>
        <p:nvSpPr>
          <p:cNvPr id="232" name="PREFETCH_GPU"/>
          <p:cNvSpPr txBox="1"/>
          <p:nvPr/>
        </p:nvSpPr>
        <p:spPr>
          <a:xfrm>
            <a:off x="4718175" y="7464958"/>
            <a:ext cx="1483202" cy="217621"/>
          </a:xfrm>
          <a:prstGeom prst="rect">
            <a:avLst/>
          </a:prstGeom>
          <a:noFill/>
          <a:effectLst/>
        </p:spPr>
        <p:txBody>
          <a:bodyPr wrap="none" lIns="0" rIns="0" tIns="0" bIns="0" anchor="t">
            <a:spAutoFit/>
          </a:bodyPr>
          <a:lstStyle/>
          <a:p>
            <a:pPr algn="l">
              <a:lnSpc>
                <a:spcPct val="100000"/>
              </a:lnSpc>
              <a:spcBef>
                <a:spcPts val="0"/>
              </a:spcBef>
              <a:spcAft>
                <a:spcPts val="0"/>
              </a:spcAft>
            </a:pPr>
            <a:r>
              <a:rPr sz="1267" b="1" i="0" lang="en-US" spc="0">
                <a:solidFill>
                  <a:srgbClr val="181818"/>
                </a:solidFill>
                <a:latin typeface="DejaVu Sans"/>
                <a:ea typeface="DejaVu Sans"/>
                <a:effectLst/>
              </a:rPr>
              <a:t>PREFETCH_GPU</a:t>
            </a:r>
          </a:p>
        </p:txBody>
      </p:sp>
      <p:sp>
        <p:nvSpPr>
          <p:cNvPr id="233" name="rect 232"/>
          <p:cNvSpPr/>
          <p:nvPr/>
        </p:nvSpPr>
        <p:spPr>
          <a:xfrm>
            <a:off x="497420" y="7768530"/>
            <a:ext cx="204820" cy="212135"/>
          </a:xfrm>
          <a:prstGeom prst="roundRect">
            <a:avLst>
              <a:gd name="adj" fmla="val 3571"/>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4" name="rect 233"/>
          <p:cNvSpPr/>
          <p:nvPr/>
        </p:nvSpPr>
        <p:spPr>
          <a:xfrm>
            <a:off x="738815" y="7768530"/>
            <a:ext cx="204820" cy="212135"/>
          </a:xfrm>
          <a:prstGeom prst="roundRect">
            <a:avLst>
              <a:gd name="adj" fmla="val 3571"/>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5" name="rect 234"/>
          <p:cNvSpPr/>
          <p:nvPr/>
        </p:nvSpPr>
        <p:spPr>
          <a:xfrm>
            <a:off x="980210" y="7768530"/>
            <a:ext cx="204820" cy="212135"/>
          </a:xfrm>
          <a:prstGeom prst="roundRect">
            <a:avLst>
              <a:gd name="adj" fmla="val 3571"/>
            </a:avLst>
          </a:prstGeom>
          <a:solidFill>
            <a:srgbClr val="FFFFFF"/>
          </a:solidFill>
          <a:ln w="13167">
            <a:solidFill>
              <a:srgbClr val="969696"/>
            </a:solidFill>
            <a:prstDash val="dash"/>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236" name="path 235"/>
          <p:cNvCxnSpPr/>
          <p:nvPr/>
        </p:nvCxnSpPr>
        <p:spPr>
          <a:xfrm>
            <a:off x="1258180" y="7870940"/>
            <a:ext cx="314545" cy="0"/>
          </a:xfrm>
          <a:prstGeom prst="line">
            <a:avLst/>
          </a:prstGeom>
          <a:ln w="14630">
            <a:solidFill>
              <a:srgbClr val="BF3335"/>
            </a:solidFill>
          </a:ln>
          <a:effectLst/>
        </p:spPr>
        <p:style>
          <a:lnRef idx="2">
            <a:schemeClr val="accent1"/>
          </a:lnRef>
          <a:fillRef idx="0">
            <a:schemeClr val="accent1"/>
          </a:fillRef>
          <a:effectRef idx="0">
            <a:schemeClr val="accent1"/>
          </a:effectRef>
          <a:fontRef idx="minor">
            <a:schemeClr val="tx1"/>
          </a:fontRef>
        </p:style>
      </p:cxnSp>
      <p:sp>
        <p:nvSpPr>
          <p:cNvPr id="237" name="arrowhead 236"/>
          <p:cNvSpPr/>
          <p:nvPr/>
        </p:nvSpPr>
        <p:spPr>
          <a:xfrm>
            <a:off x="1484945" y="7819735"/>
            <a:ext cx="102410" cy="102410"/>
          </a:xfrm>
          <a:custGeom>
            <a:avLst/>
            <a:gdLst/>
            <a:ahLst/>
            <a:cxnLst/>
            <a:rect l="l" t="t" r="r" b="b"/>
            <a:pathLst>
              <a:path w="14" h="14">
                <a:moveTo>
                  <a:pt x="14" y="7"/>
                </a:moveTo>
                <a:lnTo>
                  <a:pt x="0" y="14"/>
                </a:lnTo>
                <a:lnTo>
                  <a:pt x="0" y="0"/>
                </a:lnTo>
                <a:close/>
              </a:path>
            </a:pathLst>
          </a:custGeom>
          <a:solidFill>
            <a:srgbClr val="BF333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8" name="Host"/>
          <p:cNvSpPr txBox="1"/>
          <p:nvPr/>
        </p:nvSpPr>
        <p:spPr>
          <a:xfrm>
            <a:off x="1667820" y="7779502"/>
            <a:ext cx="470875" cy="226765"/>
          </a:xfrm>
          <a:prstGeom prst="rect">
            <a:avLst/>
          </a:prstGeom>
          <a:noFill/>
          <a:effectLst/>
        </p:spPr>
        <p:txBody>
          <a:bodyPr wrap="none" lIns="0" rIns="0" tIns="0" bIns="0" anchor="t">
            <a:spAutoFit/>
          </a:bodyPr>
          <a:lstStyle/>
          <a:p>
            <a:pPr algn="l">
              <a:lnSpc>
                <a:spcPct val="100000"/>
              </a:lnSpc>
              <a:spcBef>
                <a:spcPts val="0"/>
              </a:spcBef>
              <a:spcAft>
                <a:spcPts val="0"/>
              </a:spcAft>
            </a:pPr>
            <a:r>
              <a:rPr sz="1324" b="0" i="0" lang="en-US" spc="0">
                <a:solidFill>
                  <a:srgbClr val="181818"/>
                </a:solidFill>
                <a:latin typeface="DejaVu Sans"/>
                <a:ea typeface="DejaVu Sans"/>
                <a:effectLst/>
              </a:rPr>
              <a:t>Host</a:t>
            </a:r>
          </a:p>
        </p:txBody>
      </p:sp>
      <p:sp>
        <p:nvSpPr>
          <p:cNvPr id="239" name="rect 238"/>
          <p:cNvSpPr/>
          <p:nvPr/>
        </p:nvSpPr>
        <p:spPr>
          <a:xfrm>
            <a:off x="2582195" y="7768530"/>
            <a:ext cx="204820" cy="212135"/>
          </a:xfrm>
          <a:prstGeom prst="roundRect">
            <a:avLst>
              <a:gd name="adj" fmla="val 3571"/>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0" name="rect 239"/>
          <p:cNvSpPr/>
          <p:nvPr/>
        </p:nvSpPr>
        <p:spPr>
          <a:xfrm>
            <a:off x="2823590" y="7768530"/>
            <a:ext cx="204820" cy="212135"/>
          </a:xfrm>
          <a:prstGeom prst="roundRect">
            <a:avLst>
              <a:gd name="adj" fmla="val 3571"/>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241" name="path 240"/>
          <p:cNvCxnSpPr/>
          <p:nvPr/>
        </p:nvCxnSpPr>
        <p:spPr>
          <a:xfrm>
            <a:off x="3101560" y="7870940"/>
            <a:ext cx="263340" cy="0"/>
          </a:xfrm>
          <a:prstGeom prst="line">
            <a:avLst/>
          </a:prstGeom>
          <a:ln w="14630">
            <a:solidFill>
              <a:srgbClr val="BF3335"/>
            </a:solidFill>
          </a:ln>
          <a:effectLst/>
        </p:spPr>
        <p:style>
          <a:lnRef idx="2">
            <a:schemeClr val="accent1"/>
          </a:lnRef>
          <a:fillRef idx="0">
            <a:schemeClr val="accent1"/>
          </a:fillRef>
          <a:effectRef idx="0">
            <a:schemeClr val="accent1"/>
          </a:effectRef>
          <a:fontRef idx="minor">
            <a:schemeClr val="tx1"/>
          </a:fontRef>
        </p:style>
      </p:cxnSp>
      <p:sp>
        <p:nvSpPr>
          <p:cNvPr id="242" name="arrowhead 241"/>
          <p:cNvSpPr/>
          <p:nvPr/>
        </p:nvSpPr>
        <p:spPr>
          <a:xfrm>
            <a:off x="3277120" y="7819735"/>
            <a:ext cx="102410" cy="102410"/>
          </a:xfrm>
          <a:custGeom>
            <a:avLst/>
            <a:gdLst/>
            <a:ahLst/>
            <a:cxnLst/>
            <a:rect l="l" t="t" r="r" b="b"/>
            <a:pathLst>
              <a:path w="14" h="14">
                <a:moveTo>
                  <a:pt x="14" y="7"/>
                </a:moveTo>
                <a:lnTo>
                  <a:pt x="0" y="14"/>
                </a:lnTo>
                <a:lnTo>
                  <a:pt x="0" y="0"/>
                </a:lnTo>
                <a:close/>
              </a:path>
            </a:pathLst>
          </a:custGeom>
          <a:solidFill>
            <a:srgbClr val="BF333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3" name="rect 242"/>
          <p:cNvSpPr/>
          <p:nvPr/>
        </p:nvSpPr>
        <p:spPr>
          <a:xfrm>
            <a:off x="3489255" y="7768530"/>
            <a:ext cx="175560" cy="212135"/>
          </a:xfrm>
          <a:prstGeom prst="roundRect">
            <a:avLst>
              <a:gd name="adj" fmla="val 4166"/>
            </a:avLst>
          </a:prstGeom>
          <a:solidFill>
            <a:srgbClr val="FFFFF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4" name="rect 243"/>
          <p:cNvSpPr/>
          <p:nvPr/>
        </p:nvSpPr>
        <p:spPr>
          <a:xfrm>
            <a:off x="3701390" y="7768530"/>
            <a:ext cx="175560" cy="212135"/>
          </a:xfrm>
          <a:prstGeom prst="roundRect">
            <a:avLst>
              <a:gd name="adj" fmla="val 4166"/>
            </a:avLst>
          </a:prstGeom>
          <a:solidFill>
            <a:srgbClr val="FFFFF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5" name="rect 244"/>
          <p:cNvSpPr/>
          <p:nvPr/>
        </p:nvSpPr>
        <p:spPr>
          <a:xfrm>
            <a:off x="3913525" y="7768530"/>
            <a:ext cx="175560" cy="212135"/>
          </a:xfrm>
          <a:prstGeom prst="roundRect">
            <a:avLst>
              <a:gd name="adj" fmla="val 4166"/>
            </a:avLst>
          </a:prstGeom>
          <a:solidFill>
            <a:srgbClr val="FFFFF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6" name="rect 245"/>
          <p:cNvSpPr/>
          <p:nvPr/>
        </p:nvSpPr>
        <p:spPr>
          <a:xfrm>
            <a:off x="4740120" y="7768530"/>
            <a:ext cx="204820" cy="212135"/>
          </a:xfrm>
          <a:prstGeom prst="roundRect">
            <a:avLst>
              <a:gd name="adj" fmla="val 3571"/>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7" name="rect 246"/>
          <p:cNvSpPr/>
          <p:nvPr/>
        </p:nvSpPr>
        <p:spPr>
          <a:xfrm>
            <a:off x="4981515" y="7768530"/>
            <a:ext cx="204820" cy="212135"/>
          </a:xfrm>
          <a:prstGeom prst="roundRect">
            <a:avLst>
              <a:gd name="adj" fmla="val 3571"/>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8" name="rect 247"/>
          <p:cNvSpPr/>
          <p:nvPr/>
        </p:nvSpPr>
        <p:spPr>
          <a:xfrm>
            <a:off x="5222910" y="7768530"/>
            <a:ext cx="204820" cy="212135"/>
          </a:xfrm>
          <a:prstGeom prst="roundRect">
            <a:avLst>
              <a:gd name="adj" fmla="val 3571"/>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9" name="rect 248"/>
          <p:cNvSpPr/>
          <p:nvPr/>
        </p:nvSpPr>
        <p:spPr>
          <a:xfrm>
            <a:off x="5727645" y="7761215"/>
            <a:ext cx="277385" cy="207161"/>
          </a:xfrm>
          <a:prstGeom prst="roundRect">
            <a:avLst>
              <a:gd name="adj" fmla="val 3531"/>
            </a:avLst>
          </a:prstGeom>
          <a:solidFill>
            <a:srgbClr val="E9A6BF"/>
          </a:solidFill>
          <a:ln w="10972">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0" name="rect 249"/>
          <p:cNvSpPr/>
          <p:nvPr/>
        </p:nvSpPr>
        <p:spPr>
          <a:xfrm>
            <a:off x="5762757" y="7796327"/>
            <a:ext cx="52668" cy="49157"/>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1" name="rect 250"/>
          <p:cNvSpPr/>
          <p:nvPr/>
        </p:nvSpPr>
        <p:spPr>
          <a:xfrm>
            <a:off x="5840003" y="7796327"/>
            <a:ext cx="52668" cy="49157"/>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2" name="rect 251"/>
          <p:cNvSpPr/>
          <p:nvPr/>
        </p:nvSpPr>
        <p:spPr>
          <a:xfrm>
            <a:off x="5917250" y="7796327"/>
            <a:ext cx="52668" cy="49157"/>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3" name="rect 252"/>
          <p:cNvSpPr/>
          <p:nvPr/>
        </p:nvSpPr>
        <p:spPr>
          <a:xfrm>
            <a:off x="5762757" y="7873573"/>
            <a:ext cx="52668" cy="49157"/>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4" name="rect 253"/>
          <p:cNvSpPr/>
          <p:nvPr/>
        </p:nvSpPr>
        <p:spPr>
          <a:xfrm>
            <a:off x="5840003" y="7873573"/>
            <a:ext cx="52668" cy="49157"/>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5" name="rect 254"/>
          <p:cNvSpPr/>
          <p:nvPr/>
        </p:nvSpPr>
        <p:spPr>
          <a:xfrm>
            <a:off x="5917250" y="7873573"/>
            <a:ext cx="52668" cy="49157"/>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6" name="path 255"/>
          <p:cNvSpPr/>
          <p:nvPr/>
        </p:nvSpPr>
        <p:spPr>
          <a:xfrm>
            <a:off x="6356735" y="7739270"/>
            <a:ext cx="65835" cy="51205"/>
          </a:xfrm>
          <a:custGeom>
            <a:avLst/>
            <a:gdLst/>
            <a:ahLst/>
            <a:cxnLst/>
            <a:rect l="l" t="t" r="r" b="b"/>
            <a:pathLst>
              <a:path w="9" h="7">
                <a:moveTo>
                  <a:pt x="0" y="7"/>
                </a:moveTo>
                <a:lnTo>
                  <a:pt x="0" y="0"/>
                </a:lnTo>
                <a:lnTo>
                  <a:pt x="9" y="0"/>
                </a:lnTo>
                <a:lnTo>
                  <a:pt x="9" y="7"/>
                </a:lnTo>
              </a:path>
            </a:pathLst>
          </a:custGeom>
          <a:noFill/>
          <a:ln w="14630">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7" name="rect 256"/>
          <p:cNvSpPr/>
          <p:nvPr/>
        </p:nvSpPr>
        <p:spPr>
          <a:xfrm>
            <a:off x="6334790" y="7793767"/>
            <a:ext cx="114114" cy="95095"/>
          </a:xfrm>
          <a:prstGeom prst="roundRect">
            <a:avLst>
              <a:gd name="adj" fmla="val 15384"/>
            </a:avLst>
          </a:prstGeom>
          <a:solidFill>
            <a:srgbClr val="FFFFF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8" name="circle 257"/>
          <p:cNvSpPr/>
          <p:nvPr/>
        </p:nvSpPr>
        <p:spPr>
          <a:xfrm>
            <a:off x="6382338" y="7822295"/>
            <a:ext cx="19019" cy="19019"/>
          </a:xfrm>
          <a:prstGeom prst="ellipse">
            <a:avLst/>
          </a:prstGeom>
          <a:solidFill>
            <a:srgbClr val="181818"/>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9" name="path 258"/>
          <p:cNvSpPr/>
          <p:nvPr/>
        </p:nvSpPr>
        <p:spPr>
          <a:xfrm>
            <a:off x="1806805" y="4498725"/>
            <a:ext cx="1689765" cy="541310"/>
          </a:xfrm>
          <a:custGeom>
            <a:avLst/>
            <a:gdLst/>
            <a:ahLst/>
            <a:cxnLst/>
            <a:rect l="l" t="t" r="r" b="b"/>
            <a:pathLst>
              <a:path w="231" h="74">
                <a:moveTo>
                  <a:pt x="220" y="0"/>
                </a:moveTo>
                <a:lnTo>
                  <a:pt x="231" y="0"/>
                </a:lnTo>
                <a:lnTo>
                  <a:pt x="231" y="65"/>
                </a:lnTo>
                <a:lnTo>
                  <a:pt x="0" y="65"/>
                </a:lnTo>
                <a:lnTo>
                  <a:pt x="0" y="74"/>
                </a:lnTo>
              </a:path>
            </a:pathLst>
          </a:custGeom>
          <a:noFill/>
          <a:ln w="13167">
            <a:solidFill>
              <a:srgbClr val="2676B8"/>
            </a:solidFill>
            <a:prstDash val="dash"/>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0" name="arrowhead 259"/>
          <p:cNvSpPr/>
          <p:nvPr/>
        </p:nvSpPr>
        <p:spPr>
          <a:xfrm>
            <a:off x="1762915" y="4959570"/>
            <a:ext cx="87780" cy="95095"/>
          </a:xfrm>
          <a:custGeom>
            <a:avLst/>
            <a:gdLst/>
            <a:ahLst/>
            <a:cxnLst/>
            <a:rect l="l" t="t" r="r" b="b"/>
            <a:pathLst>
              <a:path w="12" h="13">
                <a:moveTo>
                  <a:pt x="6" y="13"/>
                </a:moveTo>
                <a:lnTo>
                  <a:pt x="0" y="0"/>
                </a:lnTo>
                <a:lnTo>
                  <a:pt x="12" y="0"/>
                </a:lnTo>
                <a:close/>
              </a:path>
            </a:pathLst>
          </a:custGeom>
          <a:solidFill>
            <a:srgbClr val="2676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261" name="path 260"/>
          <p:cNvCxnSpPr/>
          <p:nvPr/>
        </p:nvCxnSpPr>
        <p:spPr>
          <a:xfrm>
            <a:off x="5164390" y="4879105"/>
            <a:ext cx="0" cy="153615"/>
          </a:xfrm>
          <a:prstGeom prst="line">
            <a:avLst/>
          </a:prstGeom>
          <a:ln w="14630">
            <a:solidFill>
              <a:srgbClr val="BF3335"/>
            </a:solidFill>
          </a:ln>
          <a:effectLst/>
        </p:spPr>
        <p:style>
          <a:lnRef idx="2">
            <a:schemeClr val="accent1"/>
          </a:lnRef>
          <a:fillRef idx="0">
            <a:schemeClr val="accent1"/>
          </a:fillRef>
          <a:effectRef idx="0">
            <a:schemeClr val="accent1"/>
          </a:effectRef>
          <a:fontRef idx="minor">
            <a:schemeClr val="tx1"/>
          </a:fontRef>
        </p:style>
      </p:cxnSp>
      <p:sp>
        <p:nvSpPr>
          <p:cNvPr id="262" name="arrowhead 261"/>
          <p:cNvSpPr/>
          <p:nvPr/>
        </p:nvSpPr>
        <p:spPr>
          <a:xfrm>
            <a:off x="5113185" y="4944940"/>
            <a:ext cx="102410" cy="102410"/>
          </a:xfrm>
          <a:custGeom>
            <a:avLst/>
            <a:gdLst/>
            <a:ahLst/>
            <a:cxnLst/>
            <a:rect l="l" t="t" r="r" b="b"/>
            <a:pathLst>
              <a:path w="14" h="14">
                <a:moveTo>
                  <a:pt x="7" y="14"/>
                </a:moveTo>
                <a:lnTo>
                  <a:pt x="0" y="0"/>
                </a:lnTo>
                <a:lnTo>
                  <a:pt x="14" y="0"/>
                </a:lnTo>
                <a:close/>
              </a:path>
            </a:pathLst>
          </a:custGeom>
          <a:solidFill>
            <a:srgbClr val="BF333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3" name="rect 262"/>
          <p:cNvSpPr/>
          <p:nvPr/>
        </p:nvSpPr>
        <p:spPr>
          <a:xfrm>
            <a:off x="7212590" y="2560250"/>
            <a:ext cx="5588660" cy="1506890"/>
          </a:xfrm>
          <a:prstGeom prst="roundRect">
            <a:avLst>
              <a:gd name="adj" fmla="val 970"/>
            </a:avLst>
          </a:prstGeom>
          <a:solidFill>
            <a:srgbClr val="EEEEEE"/>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4" name="rect 263"/>
          <p:cNvSpPr/>
          <p:nvPr/>
        </p:nvSpPr>
        <p:spPr>
          <a:xfrm>
            <a:off x="7212590" y="2560250"/>
            <a:ext cx="5588660" cy="277970"/>
          </a:xfrm>
          <a:prstGeom prst="roundRect">
            <a:avLst>
              <a:gd name="adj" fmla="val 5263"/>
            </a:avLst>
          </a:prstGeom>
          <a:solidFill>
            <a:srgbClr val="9DC38B"/>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5" name="HBM: FULL pages + checkpoint state"/>
          <p:cNvSpPr txBox="1"/>
          <p:nvPr/>
        </p:nvSpPr>
        <p:spPr>
          <a:xfrm>
            <a:off x="7315000" y="2595801"/>
            <a:ext cx="3739908" cy="235909"/>
          </a:xfrm>
          <a:prstGeom prst="rect">
            <a:avLst/>
          </a:prstGeom>
          <a:noFill/>
          <a:effectLst/>
        </p:spPr>
        <p:txBody>
          <a:bodyPr wrap="none" lIns="0" rIns="0" tIns="0" bIns="0" anchor="t">
            <a:spAutoFit/>
          </a:bodyPr>
          <a:lstStyle/>
          <a:p>
            <a:pPr algn="l">
              <a:lnSpc>
                <a:spcPct val="100000"/>
              </a:lnSpc>
              <a:spcBef>
                <a:spcPts val="0"/>
              </a:spcBef>
              <a:spcAft>
                <a:spcPts val="0"/>
              </a:spcAft>
            </a:pPr>
            <a:r>
              <a:rPr sz="1382" b="1" i="0" lang="en-US" spc="0">
                <a:solidFill>
                  <a:srgbClr val="181818"/>
                </a:solidFill>
                <a:latin typeface="DejaVu Sans"/>
                <a:ea typeface="DejaVu Sans"/>
                <a:effectLst/>
              </a:rPr>
              <a:t>HBM: FULL pages + checkpoint state</a:t>
            </a:r>
          </a:p>
        </p:txBody>
      </p:sp>
      <p:sp>
        <p:nvSpPr>
          <p:cNvPr id="266" name="FULL"/>
          <p:cNvSpPr txBox="1"/>
          <p:nvPr/>
        </p:nvSpPr>
        <p:spPr>
          <a:xfrm>
            <a:off x="7329630" y="3017438"/>
            <a:ext cx="533481" cy="217621"/>
          </a:xfrm>
          <a:prstGeom prst="rect">
            <a:avLst/>
          </a:prstGeom>
          <a:noFill/>
          <a:effectLst/>
        </p:spPr>
        <p:txBody>
          <a:bodyPr wrap="none" lIns="0" rIns="0" tIns="0" bIns="0" anchor="t">
            <a:spAutoFit/>
          </a:bodyPr>
          <a:lstStyle/>
          <a:p>
            <a:pPr algn="l">
              <a:lnSpc>
                <a:spcPct val="100000"/>
              </a:lnSpc>
              <a:spcBef>
                <a:spcPts val="0"/>
              </a:spcBef>
              <a:spcAft>
                <a:spcPts val="0"/>
              </a:spcAft>
            </a:pPr>
            <a:r>
              <a:rPr sz="1267" b="1" i="0" lang="en-US" spc="0">
                <a:solidFill>
                  <a:srgbClr val="181818"/>
                </a:solidFill>
                <a:latin typeface="DejaVu Sans"/>
                <a:ea typeface="DejaVu Sans"/>
                <a:effectLst/>
              </a:rPr>
              <a:t>FULL</a:t>
            </a:r>
          </a:p>
        </p:txBody>
      </p:sp>
      <p:sp>
        <p:nvSpPr>
          <p:cNvPr id="267" name="rect 266"/>
          <p:cNvSpPr/>
          <p:nvPr/>
        </p:nvSpPr>
        <p:spPr>
          <a:xfrm>
            <a:off x="7922145" y="2955260"/>
            <a:ext cx="351120" cy="307230"/>
          </a:xfrm>
          <a:prstGeom prst="roundRect">
            <a:avLst>
              <a:gd name="adj" fmla="val 2380"/>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8" name="rect 267"/>
          <p:cNvSpPr/>
          <p:nvPr/>
        </p:nvSpPr>
        <p:spPr>
          <a:xfrm>
            <a:off x="8317155" y="2955260"/>
            <a:ext cx="351120" cy="307230"/>
          </a:xfrm>
          <a:prstGeom prst="roundRect">
            <a:avLst>
              <a:gd name="adj" fmla="val 2380"/>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9" name="rect 268"/>
          <p:cNvSpPr/>
          <p:nvPr/>
        </p:nvSpPr>
        <p:spPr>
          <a:xfrm>
            <a:off x="8712165" y="2955260"/>
            <a:ext cx="351120" cy="307230"/>
          </a:xfrm>
          <a:prstGeom prst="roundRect">
            <a:avLst>
              <a:gd name="adj" fmla="val 2380"/>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0" name="rect 269"/>
          <p:cNvSpPr/>
          <p:nvPr/>
        </p:nvSpPr>
        <p:spPr>
          <a:xfrm>
            <a:off x="9107175" y="2955260"/>
            <a:ext cx="351120" cy="307230"/>
          </a:xfrm>
          <a:prstGeom prst="roundRect">
            <a:avLst>
              <a:gd name="adj" fmla="val 2380"/>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1" name="rect 270"/>
          <p:cNvSpPr/>
          <p:nvPr/>
        </p:nvSpPr>
        <p:spPr>
          <a:xfrm>
            <a:off x="9502185" y="2955260"/>
            <a:ext cx="351120" cy="307230"/>
          </a:xfrm>
          <a:prstGeom prst="roundRect">
            <a:avLst>
              <a:gd name="adj" fmla="val 2380"/>
            </a:avLst>
          </a:prstGeom>
          <a:solidFill>
            <a:srgbClr val="B5D68B"/>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2" name="rect 271"/>
          <p:cNvSpPr/>
          <p:nvPr/>
        </p:nvSpPr>
        <p:spPr>
          <a:xfrm>
            <a:off x="9897195" y="2955260"/>
            <a:ext cx="351120" cy="307230"/>
          </a:xfrm>
          <a:prstGeom prst="roundRect">
            <a:avLst>
              <a:gd name="adj" fmla="val 2380"/>
            </a:avLst>
          </a:prstGeom>
          <a:solidFill>
            <a:srgbClr val="B5D68B"/>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3" name="rect 272"/>
          <p:cNvSpPr/>
          <p:nvPr/>
        </p:nvSpPr>
        <p:spPr>
          <a:xfrm>
            <a:off x="10292205" y="2955260"/>
            <a:ext cx="351120" cy="307230"/>
          </a:xfrm>
          <a:prstGeom prst="roundRect">
            <a:avLst>
              <a:gd name="adj" fmla="val 2380"/>
            </a:avLst>
          </a:prstGeom>
          <a:solidFill>
            <a:srgbClr val="B5D68B"/>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4" name="rect 273"/>
          <p:cNvSpPr/>
          <p:nvPr/>
        </p:nvSpPr>
        <p:spPr>
          <a:xfrm>
            <a:off x="10687215" y="2955260"/>
            <a:ext cx="351120" cy="307230"/>
          </a:xfrm>
          <a:prstGeom prst="roundRect">
            <a:avLst>
              <a:gd name="adj" fmla="val 2380"/>
            </a:avLst>
          </a:prstGeom>
          <a:solidFill>
            <a:srgbClr val="F2BD7D"/>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5" name="rect 274"/>
          <p:cNvSpPr/>
          <p:nvPr/>
        </p:nvSpPr>
        <p:spPr>
          <a:xfrm>
            <a:off x="11082225" y="2955260"/>
            <a:ext cx="351120" cy="307230"/>
          </a:xfrm>
          <a:prstGeom prst="roundRect">
            <a:avLst>
              <a:gd name="adj" fmla="val 2380"/>
            </a:avLst>
          </a:prstGeom>
          <a:solidFill>
            <a:srgbClr val="F2BD7D"/>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6" name="rect 275"/>
          <p:cNvSpPr/>
          <p:nvPr/>
        </p:nvSpPr>
        <p:spPr>
          <a:xfrm>
            <a:off x="11477235" y="2955260"/>
            <a:ext cx="351120" cy="307230"/>
          </a:xfrm>
          <a:prstGeom prst="roundRect">
            <a:avLst>
              <a:gd name="adj" fmla="val 2380"/>
            </a:avLst>
          </a:prstGeom>
          <a:solidFill>
            <a:srgbClr val="F2BD7D"/>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7" name="rect 276"/>
          <p:cNvSpPr/>
          <p:nvPr/>
        </p:nvSpPr>
        <p:spPr>
          <a:xfrm>
            <a:off x="11872245" y="2955260"/>
            <a:ext cx="351120" cy="307230"/>
          </a:xfrm>
          <a:prstGeom prst="roundRect">
            <a:avLst>
              <a:gd name="adj" fmla="val 2380"/>
            </a:avLst>
          </a:prstGeom>
          <a:solidFill>
            <a:srgbClr val="FFFFF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8" name="rect 277"/>
          <p:cNvSpPr/>
          <p:nvPr/>
        </p:nvSpPr>
        <p:spPr>
          <a:xfrm>
            <a:off x="12267255" y="2955260"/>
            <a:ext cx="351120" cy="307230"/>
          </a:xfrm>
          <a:prstGeom prst="roundRect">
            <a:avLst>
              <a:gd name="adj" fmla="val 2380"/>
            </a:avLst>
          </a:prstGeom>
          <a:solidFill>
            <a:srgbClr val="FFFFF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9" name="Mamba"/>
          <p:cNvSpPr txBox="1"/>
          <p:nvPr/>
        </p:nvSpPr>
        <p:spPr>
          <a:xfrm>
            <a:off x="7329630" y="3595322"/>
            <a:ext cx="748073" cy="217621"/>
          </a:xfrm>
          <a:prstGeom prst="rect">
            <a:avLst/>
          </a:prstGeom>
          <a:noFill/>
          <a:effectLst/>
        </p:spPr>
        <p:txBody>
          <a:bodyPr wrap="none" lIns="0" rIns="0" tIns="0" bIns="0" anchor="t">
            <a:spAutoFit/>
          </a:bodyPr>
          <a:lstStyle/>
          <a:p>
            <a:pPr algn="l">
              <a:lnSpc>
                <a:spcPct val="100000"/>
              </a:lnSpc>
              <a:spcBef>
                <a:spcPts val="0"/>
              </a:spcBef>
              <a:spcAft>
                <a:spcPts val="0"/>
              </a:spcAft>
            </a:pPr>
            <a:r>
              <a:rPr sz="1267" b="1" i="0" lang="en-US" spc="0">
                <a:solidFill>
                  <a:srgbClr val="181818"/>
                </a:solidFill>
                <a:latin typeface="DejaVu Sans"/>
                <a:ea typeface="DejaVu Sans"/>
                <a:effectLst/>
              </a:rPr>
              <a:t>Mamba</a:t>
            </a:r>
          </a:p>
        </p:txBody>
      </p:sp>
      <p:sp>
        <p:nvSpPr>
          <p:cNvPr id="280" name="rect 279"/>
          <p:cNvSpPr/>
          <p:nvPr/>
        </p:nvSpPr>
        <p:spPr>
          <a:xfrm>
            <a:off x="7987980" y="3533145"/>
            <a:ext cx="375625" cy="280530"/>
          </a:xfrm>
          <a:prstGeom prst="roundRect">
            <a:avLst>
              <a:gd name="adj" fmla="val 2607"/>
            </a:avLst>
          </a:prstGeom>
          <a:solidFill>
            <a:srgbClr val="E9A6BF"/>
          </a:solidFill>
          <a:ln w="10972">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1" name="rect 280"/>
          <p:cNvSpPr/>
          <p:nvPr/>
        </p:nvSpPr>
        <p:spPr>
          <a:xfrm>
            <a:off x="8035528" y="3580692"/>
            <a:ext cx="71321" cy="66566"/>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2" name="rect 281"/>
          <p:cNvSpPr/>
          <p:nvPr/>
        </p:nvSpPr>
        <p:spPr>
          <a:xfrm>
            <a:off x="8140132" y="3580692"/>
            <a:ext cx="71321" cy="66566"/>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3" name="rect 282"/>
          <p:cNvSpPr/>
          <p:nvPr/>
        </p:nvSpPr>
        <p:spPr>
          <a:xfrm>
            <a:off x="8244736" y="3580692"/>
            <a:ext cx="71321" cy="66566"/>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4" name="rect 283"/>
          <p:cNvSpPr/>
          <p:nvPr/>
        </p:nvSpPr>
        <p:spPr>
          <a:xfrm>
            <a:off x="8035528" y="3685297"/>
            <a:ext cx="71321" cy="66566"/>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5" name="rect 284"/>
          <p:cNvSpPr/>
          <p:nvPr/>
        </p:nvSpPr>
        <p:spPr>
          <a:xfrm>
            <a:off x="8140132" y="3685297"/>
            <a:ext cx="71321" cy="66566"/>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6" name="rect 285"/>
          <p:cNvSpPr/>
          <p:nvPr/>
        </p:nvSpPr>
        <p:spPr>
          <a:xfrm>
            <a:off x="8244736" y="3685297"/>
            <a:ext cx="71321" cy="66566"/>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7" name="P"/>
          <p:cNvSpPr txBox="1"/>
          <p:nvPr/>
        </p:nvSpPr>
        <p:spPr>
          <a:xfrm>
            <a:off x="8456140" y="3595322"/>
            <a:ext cx="180418" cy="208478"/>
          </a:xfrm>
          <a:prstGeom prst="rect">
            <a:avLst/>
          </a:prstGeom>
          <a:noFill/>
          <a:effectLst/>
        </p:spPr>
        <p:txBody>
          <a:bodyPr wrap="none" lIns="0" rIns="0" tIns="0" bIns="0" anchor="t">
            <a:spAutoFit/>
          </a:bodyPr>
          <a:lstStyle/>
          <a:p>
            <a:pPr algn="l">
              <a:lnSpc>
                <a:spcPct val="100000"/>
              </a:lnSpc>
              <a:spcBef>
                <a:spcPts val="0"/>
              </a:spcBef>
              <a:spcAft>
                <a:spcPts val="0"/>
              </a:spcAft>
            </a:pPr>
            <a:r>
              <a:rPr sz="1209" b="0" i="0" lang="en-US" spc="0">
                <a:solidFill>
                  <a:srgbClr val="181818"/>
                </a:solidFill>
                <a:latin typeface="DejaVu Sans"/>
                <a:ea typeface="DejaVu Sans"/>
                <a:effectLst/>
              </a:rPr>
              <a:t>P</a:t>
            </a:r>
          </a:p>
        </p:txBody>
      </p:sp>
      <p:sp>
        <p:nvSpPr>
          <p:cNvPr id="288" name="rect 287"/>
          <p:cNvSpPr/>
          <p:nvPr/>
        </p:nvSpPr>
        <p:spPr>
          <a:xfrm>
            <a:off x="9158380" y="3533145"/>
            <a:ext cx="375625" cy="280530"/>
          </a:xfrm>
          <a:prstGeom prst="roundRect">
            <a:avLst>
              <a:gd name="adj" fmla="val 2607"/>
            </a:avLst>
          </a:prstGeom>
          <a:solidFill>
            <a:srgbClr val="B5D68B"/>
          </a:solidFill>
          <a:ln w="10972">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9" name="rect 288"/>
          <p:cNvSpPr/>
          <p:nvPr/>
        </p:nvSpPr>
        <p:spPr>
          <a:xfrm>
            <a:off x="9205928" y="3580692"/>
            <a:ext cx="71321" cy="66566"/>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0" name="rect 289"/>
          <p:cNvSpPr/>
          <p:nvPr/>
        </p:nvSpPr>
        <p:spPr>
          <a:xfrm>
            <a:off x="9310532" y="3580692"/>
            <a:ext cx="71321" cy="66566"/>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1" name="rect 290"/>
          <p:cNvSpPr/>
          <p:nvPr/>
        </p:nvSpPr>
        <p:spPr>
          <a:xfrm>
            <a:off x="9415136" y="3580692"/>
            <a:ext cx="71321" cy="66566"/>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2" name="rect 291"/>
          <p:cNvSpPr/>
          <p:nvPr/>
        </p:nvSpPr>
        <p:spPr>
          <a:xfrm>
            <a:off x="9205928" y="3685297"/>
            <a:ext cx="71321" cy="66566"/>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3" name="rect 292"/>
          <p:cNvSpPr/>
          <p:nvPr/>
        </p:nvSpPr>
        <p:spPr>
          <a:xfrm>
            <a:off x="9310532" y="3685297"/>
            <a:ext cx="71321" cy="66566"/>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4" name="rect 293"/>
          <p:cNvSpPr/>
          <p:nvPr/>
        </p:nvSpPr>
        <p:spPr>
          <a:xfrm>
            <a:off x="9415136" y="3685297"/>
            <a:ext cx="71321" cy="66566"/>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5" name="C1"/>
          <p:cNvSpPr txBox="1"/>
          <p:nvPr/>
        </p:nvSpPr>
        <p:spPr>
          <a:xfrm>
            <a:off x="9626540" y="3595322"/>
            <a:ext cx="292771" cy="208478"/>
          </a:xfrm>
          <a:prstGeom prst="rect">
            <a:avLst/>
          </a:prstGeom>
          <a:noFill/>
          <a:effectLst/>
        </p:spPr>
        <p:txBody>
          <a:bodyPr wrap="none" lIns="0" rIns="0" tIns="0" bIns="0" anchor="t">
            <a:spAutoFit/>
          </a:bodyPr>
          <a:lstStyle/>
          <a:p>
            <a:pPr algn="l">
              <a:lnSpc>
                <a:spcPct val="100000"/>
              </a:lnSpc>
              <a:spcBef>
                <a:spcPts val="0"/>
              </a:spcBef>
              <a:spcAft>
                <a:spcPts val="0"/>
              </a:spcAft>
            </a:pPr>
            <a:r>
              <a:rPr sz="1209" b="0" i="0" lang="en-US" spc="0">
                <a:solidFill>
                  <a:srgbClr val="181818"/>
                </a:solidFill>
                <a:latin typeface="DejaVu Sans"/>
                <a:ea typeface="DejaVu Sans"/>
                <a:effectLst/>
              </a:rPr>
              <a:t>C1</a:t>
            </a:r>
          </a:p>
        </p:txBody>
      </p:sp>
      <p:sp>
        <p:nvSpPr>
          <p:cNvPr id="296" name="rect 295"/>
          <p:cNvSpPr/>
          <p:nvPr/>
        </p:nvSpPr>
        <p:spPr>
          <a:xfrm>
            <a:off x="10328780" y="3533145"/>
            <a:ext cx="375625" cy="280530"/>
          </a:xfrm>
          <a:prstGeom prst="roundRect">
            <a:avLst>
              <a:gd name="adj" fmla="val 2607"/>
            </a:avLst>
          </a:prstGeom>
          <a:solidFill>
            <a:srgbClr val="F2BD7D"/>
          </a:solidFill>
          <a:ln w="10972">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7" name="rect 296"/>
          <p:cNvSpPr/>
          <p:nvPr/>
        </p:nvSpPr>
        <p:spPr>
          <a:xfrm>
            <a:off x="10376328" y="3580692"/>
            <a:ext cx="71321" cy="66566"/>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8" name="rect 297"/>
          <p:cNvSpPr/>
          <p:nvPr/>
        </p:nvSpPr>
        <p:spPr>
          <a:xfrm>
            <a:off x="10480932" y="3580692"/>
            <a:ext cx="71321" cy="66566"/>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9" name="rect 298"/>
          <p:cNvSpPr/>
          <p:nvPr/>
        </p:nvSpPr>
        <p:spPr>
          <a:xfrm>
            <a:off x="10585536" y="3580692"/>
            <a:ext cx="71321" cy="66566"/>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0" name="rect 299"/>
          <p:cNvSpPr/>
          <p:nvPr/>
        </p:nvSpPr>
        <p:spPr>
          <a:xfrm>
            <a:off x="10376328" y="3685297"/>
            <a:ext cx="71321" cy="66566"/>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1" name="rect 300"/>
          <p:cNvSpPr/>
          <p:nvPr/>
        </p:nvSpPr>
        <p:spPr>
          <a:xfrm>
            <a:off x="10480932" y="3685297"/>
            <a:ext cx="71321" cy="66566"/>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2" name="rect 301"/>
          <p:cNvSpPr/>
          <p:nvPr/>
        </p:nvSpPr>
        <p:spPr>
          <a:xfrm>
            <a:off x="10585536" y="3685297"/>
            <a:ext cx="71321" cy="66566"/>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3" name="C2"/>
          <p:cNvSpPr txBox="1"/>
          <p:nvPr/>
        </p:nvSpPr>
        <p:spPr>
          <a:xfrm>
            <a:off x="10796940" y="3595322"/>
            <a:ext cx="292771" cy="208478"/>
          </a:xfrm>
          <a:prstGeom prst="rect">
            <a:avLst/>
          </a:prstGeom>
          <a:noFill/>
          <a:effectLst/>
        </p:spPr>
        <p:txBody>
          <a:bodyPr wrap="none" lIns="0" rIns="0" tIns="0" bIns="0" anchor="t">
            <a:spAutoFit/>
          </a:bodyPr>
          <a:lstStyle/>
          <a:p>
            <a:pPr algn="l">
              <a:lnSpc>
                <a:spcPct val="100000"/>
              </a:lnSpc>
              <a:spcBef>
                <a:spcPts val="0"/>
              </a:spcBef>
              <a:spcAft>
                <a:spcPts val="0"/>
              </a:spcAft>
            </a:pPr>
            <a:r>
              <a:rPr sz="1209" b="0" i="0" lang="en-US" spc="0">
                <a:solidFill>
                  <a:srgbClr val="181818"/>
                </a:solidFill>
                <a:latin typeface="DejaVu Sans"/>
                <a:ea typeface="DejaVu Sans"/>
                <a:effectLst/>
              </a:rPr>
              <a:t>C2</a:t>
            </a:r>
          </a:p>
        </p:txBody>
      </p:sp>
      <p:sp>
        <p:nvSpPr>
          <p:cNvPr id="304" name="rect 303"/>
          <p:cNvSpPr/>
          <p:nvPr/>
        </p:nvSpPr>
        <p:spPr>
          <a:xfrm>
            <a:off x="11499180" y="3533145"/>
            <a:ext cx="375625" cy="280530"/>
          </a:xfrm>
          <a:prstGeom prst="roundRect">
            <a:avLst>
              <a:gd name="adj" fmla="val 2607"/>
            </a:avLst>
          </a:prstGeom>
          <a:solidFill>
            <a:srgbClr val="FFFFFF"/>
          </a:solidFill>
          <a:ln w="10972">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5" name="rect 304"/>
          <p:cNvSpPr/>
          <p:nvPr/>
        </p:nvSpPr>
        <p:spPr>
          <a:xfrm>
            <a:off x="11546728" y="3580692"/>
            <a:ext cx="71321" cy="66566"/>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6" name="rect 305"/>
          <p:cNvSpPr/>
          <p:nvPr/>
        </p:nvSpPr>
        <p:spPr>
          <a:xfrm>
            <a:off x="11651332" y="3580692"/>
            <a:ext cx="71321" cy="66566"/>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7" name="rect 306"/>
          <p:cNvSpPr/>
          <p:nvPr/>
        </p:nvSpPr>
        <p:spPr>
          <a:xfrm>
            <a:off x="11755936" y="3580692"/>
            <a:ext cx="71321" cy="66566"/>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8" name="rect 307"/>
          <p:cNvSpPr/>
          <p:nvPr/>
        </p:nvSpPr>
        <p:spPr>
          <a:xfrm>
            <a:off x="11546728" y="3685297"/>
            <a:ext cx="71321" cy="66566"/>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9" name="rect 308"/>
          <p:cNvSpPr/>
          <p:nvPr/>
        </p:nvSpPr>
        <p:spPr>
          <a:xfrm>
            <a:off x="11651332" y="3685297"/>
            <a:ext cx="71321" cy="66566"/>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0" name="rect 309"/>
          <p:cNvSpPr/>
          <p:nvPr/>
        </p:nvSpPr>
        <p:spPr>
          <a:xfrm>
            <a:off x="11755936" y="3685297"/>
            <a:ext cx="71321" cy="66566"/>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1" name="free"/>
          <p:cNvSpPr txBox="1"/>
          <p:nvPr/>
        </p:nvSpPr>
        <p:spPr>
          <a:xfrm>
            <a:off x="11967340" y="3595322"/>
            <a:ext cx="390695" cy="208478"/>
          </a:xfrm>
          <a:prstGeom prst="rect">
            <a:avLst/>
          </a:prstGeom>
          <a:noFill/>
          <a:effectLst/>
        </p:spPr>
        <p:txBody>
          <a:bodyPr wrap="none" lIns="0" rIns="0" tIns="0" bIns="0" anchor="t">
            <a:spAutoFit/>
          </a:bodyPr>
          <a:lstStyle/>
          <a:p>
            <a:pPr algn="l">
              <a:lnSpc>
                <a:spcPct val="100000"/>
              </a:lnSpc>
              <a:spcBef>
                <a:spcPts val="0"/>
              </a:spcBef>
              <a:spcAft>
                <a:spcPts val="0"/>
              </a:spcAft>
            </a:pPr>
            <a:r>
              <a:rPr sz="1209" b="0" i="0" lang="en-US" spc="0">
                <a:solidFill>
                  <a:srgbClr val="181818"/>
                </a:solidFill>
                <a:latin typeface="DejaVu Sans"/>
                <a:ea typeface="DejaVu Sans"/>
                <a:effectLst/>
              </a:rPr>
              <a:t>free</a:t>
            </a:r>
          </a:p>
        </p:txBody>
      </p:sp>
      <p:sp>
        <p:nvSpPr>
          <p:cNvPr id="312" name="Native allocator · shared pages · growth reserve"/>
          <p:cNvSpPr txBox="1"/>
          <p:nvPr/>
        </p:nvSpPr>
        <p:spPr>
          <a:xfrm>
            <a:off x="7922145" y="3829402"/>
            <a:ext cx="3793170" cy="208478"/>
          </a:xfrm>
          <a:prstGeom prst="rect">
            <a:avLst/>
          </a:prstGeom>
          <a:noFill/>
          <a:effectLst/>
        </p:spPr>
        <p:txBody>
          <a:bodyPr wrap="none" lIns="0" rIns="0" tIns="0" bIns="0" anchor="t">
            <a:spAutoFit/>
          </a:bodyPr>
          <a:lstStyle/>
          <a:p>
            <a:pPr algn="l">
              <a:lnSpc>
                <a:spcPct val="100000"/>
              </a:lnSpc>
              <a:spcBef>
                <a:spcPts val="0"/>
              </a:spcBef>
              <a:spcAft>
                <a:spcPts val="0"/>
              </a:spcAft>
            </a:pPr>
            <a:r>
              <a:rPr sz="1209" b="0" i="0" lang="en-US" spc="0">
                <a:solidFill>
                  <a:srgbClr val="181818"/>
                </a:solidFill>
                <a:latin typeface="DejaVu Sans"/>
                <a:ea typeface="DejaVu Sans"/>
                <a:effectLst/>
              </a:rPr>
              <a:t>Native allocator · shared pages · growth reserve</a:t>
            </a:r>
          </a:p>
        </p:txBody>
      </p:sp>
      <p:sp>
        <p:nvSpPr>
          <p:cNvPr id="313" name="rect 312"/>
          <p:cNvSpPr/>
          <p:nvPr/>
        </p:nvSpPr>
        <p:spPr>
          <a:xfrm>
            <a:off x="7212590" y="4228070"/>
            <a:ext cx="2413950" cy="1492260"/>
          </a:xfrm>
          <a:prstGeom prst="roundRect">
            <a:avLst>
              <a:gd name="adj" fmla="val 980"/>
            </a:avLst>
          </a:prstGeom>
          <a:solidFill>
            <a:srgbClr val="EEEEEE"/>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4" name="rect 313"/>
          <p:cNvSpPr/>
          <p:nvPr/>
        </p:nvSpPr>
        <p:spPr>
          <a:xfrm>
            <a:off x="7212590" y="4228070"/>
            <a:ext cx="2413950" cy="277970"/>
          </a:xfrm>
          <a:prstGeom prst="roundRect">
            <a:avLst>
              <a:gd name="adj" fmla="val 5263"/>
            </a:avLst>
          </a:prstGeom>
          <a:solidFill>
            <a:srgbClr val="9DC38B"/>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5" name="UnifiedRadixCache"/>
          <p:cNvSpPr txBox="1"/>
          <p:nvPr/>
        </p:nvSpPr>
        <p:spPr>
          <a:xfrm>
            <a:off x="7315000" y="4263621"/>
            <a:ext cx="1938532" cy="235909"/>
          </a:xfrm>
          <a:prstGeom prst="rect">
            <a:avLst/>
          </a:prstGeom>
          <a:noFill/>
          <a:effectLst/>
        </p:spPr>
        <p:txBody>
          <a:bodyPr wrap="none" lIns="0" rIns="0" tIns="0" bIns="0" anchor="t">
            <a:spAutoFit/>
          </a:bodyPr>
          <a:lstStyle/>
          <a:p>
            <a:pPr algn="l">
              <a:lnSpc>
                <a:spcPct val="100000"/>
              </a:lnSpc>
              <a:spcBef>
                <a:spcPts val="0"/>
              </a:spcBef>
              <a:spcAft>
                <a:spcPts val="0"/>
              </a:spcAft>
            </a:pPr>
            <a:r>
              <a:rPr sz="1382" b="1" i="0" lang="en-US" spc="0">
                <a:solidFill>
                  <a:srgbClr val="181818"/>
                </a:solidFill>
                <a:latin typeface="DejaVu Sans"/>
                <a:ea typeface="DejaVu Sans"/>
                <a:effectLst/>
              </a:rPr>
              <a:t>UnifiedRadixCache</a:t>
            </a:r>
          </a:p>
        </p:txBody>
      </p:sp>
      <p:sp>
        <p:nvSpPr>
          <p:cNvPr id="316" name="rect 315"/>
          <p:cNvSpPr/>
          <p:nvPr/>
        </p:nvSpPr>
        <p:spPr>
          <a:xfrm>
            <a:off x="7351575" y="4879105"/>
            <a:ext cx="358435" cy="226765"/>
          </a:xfrm>
          <a:prstGeom prst="roundRect">
            <a:avLst>
              <a:gd name="adj" fmla="val 3225"/>
            </a:avLst>
          </a:prstGeom>
          <a:solidFill>
            <a:srgbClr val="DDDDDD"/>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7" name="p0"/>
          <p:cNvSpPr txBox="1"/>
          <p:nvPr/>
        </p:nvSpPr>
        <p:spPr>
          <a:xfrm>
            <a:off x="7378478" y="4902074"/>
            <a:ext cx="304630" cy="208478"/>
          </a:xfrm>
          <a:prstGeom prst="rect">
            <a:avLst/>
          </a:prstGeom>
          <a:noFill/>
          <a:effectLst/>
        </p:spPr>
        <p:txBody>
          <a:bodyPr wrap="none" lIns="0" rIns="0" tIns="0" bIns="0" anchor="t">
            <a:spAutoFit/>
          </a:bodyPr>
          <a:lstStyle/>
          <a:p>
            <a:pPr algn="ctr">
              <a:lnSpc>
                <a:spcPct val="100000"/>
              </a:lnSpc>
              <a:spcBef>
                <a:spcPts val="0"/>
              </a:spcBef>
              <a:spcAft>
                <a:spcPts val="0"/>
              </a:spcAft>
            </a:pPr>
            <a:r>
              <a:rPr sz="1209" b="1" i="0" lang="en-US" spc="0">
                <a:solidFill>
                  <a:srgbClr val="181818"/>
                </a:solidFill>
                <a:latin typeface="DejaVu Sans"/>
                <a:ea typeface="DejaVu Sans"/>
                <a:effectLst/>
              </a:rPr>
              <a:t>p0</a:t>
            </a:r>
          </a:p>
        </p:txBody>
      </p:sp>
      <p:sp>
        <p:nvSpPr>
          <p:cNvPr id="318" name="rect 317"/>
          <p:cNvSpPr/>
          <p:nvPr/>
        </p:nvSpPr>
        <p:spPr>
          <a:xfrm>
            <a:off x="8148910" y="4645025"/>
            <a:ext cx="358435" cy="226765"/>
          </a:xfrm>
          <a:prstGeom prst="roundRect">
            <a:avLst>
              <a:gd name="adj" fmla="val 3225"/>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9" name="P"/>
          <p:cNvSpPr txBox="1"/>
          <p:nvPr/>
        </p:nvSpPr>
        <p:spPr>
          <a:xfrm>
            <a:off x="8227946" y="4667994"/>
            <a:ext cx="200362" cy="208478"/>
          </a:xfrm>
          <a:prstGeom prst="rect">
            <a:avLst/>
          </a:prstGeom>
          <a:noFill/>
          <a:effectLst/>
        </p:spPr>
        <p:txBody>
          <a:bodyPr wrap="none" lIns="0" rIns="0" tIns="0" bIns="0" anchor="t">
            <a:spAutoFit/>
          </a:bodyPr>
          <a:lstStyle/>
          <a:p>
            <a:pPr algn="ctr">
              <a:lnSpc>
                <a:spcPct val="100000"/>
              </a:lnSpc>
              <a:spcBef>
                <a:spcPts val="0"/>
              </a:spcBef>
              <a:spcAft>
                <a:spcPts val="0"/>
              </a:spcAft>
            </a:pPr>
            <a:r>
              <a:rPr sz="1209" b="1" i="0" lang="en-US" spc="0">
                <a:solidFill>
                  <a:srgbClr val="181818"/>
                </a:solidFill>
                <a:latin typeface="DejaVu Sans"/>
                <a:ea typeface="DejaVu Sans"/>
                <a:effectLst/>
              </a:rPr>
              <a:t>P</a:t>
            </a:r>
          </a:p>
        </p:txBody>
      </p:sp>
      <p:sp>
        <p:nvSpPr>
          <p:cNvPr id="320" name="rect 319"/>
          <p:cNvSpPr/>
          <p:nvPr/>
        </p:nvSpPr>
        <p:spPr>
          <a:xfrm>
            <a:off x="8148910" y="5288745"/>
            <a:ext cx="358435" cy="226765"/>
          </a:xfrm>
          <a:prstGeom prst="roundRect">
            <a:avLst>
              <a:gd name="adj" fmla="val 3225"/>
            </a:avLst>
          </a:prstGeom>
          <a:solidFill>
            <a:srgbClr val="B5D68B"/>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1" name="C1"/>
          <p:cNvSpPr txBox="1"/>
          <p:nvPr/>
        </p:nvSpPr>
        <p:spPr>
          <a:xfrm>
            <a:off x="8174427" y="5311714"/>
            <a:ext cx="307401" cy="208478"/>
          </a:xfrm>
          <a:prstGeom prst="rect">
            <a:avLst/>
          </a:prstGeom>
          <a:noFill/>
          <a:effectLst/>
        </p:spPr>
        <p:txBody>
          <a:bodyPr wrap="none" lIns="0" rIns="0" tIns="0" bIns="0" anchor="t">
            <a:spAutoFit/>
          </a:bodyPr>
          <a:lstStyle/>
          <a:p>
            <a:pPr algn="ctr">
              <a:lnSpc>
                <a:spcPct val="100000"/>
              </a:lnSpc>
              <a:spcBef>
                <a:spcPts val="0"/>
              </a:spcBef>
              <a:spcAft>
                <a:spcPts val="0"/>
              </a:spcAft>
            </a:pPr>
            <a:r>
              <a:rPr sz="1209" b="1" i="0" lang="en-US" spc="0">
                <a:solidFill>
                  <a:srgbClr val="181818"/>
                </a:solidFill>
                <a:latin typeface="DejaVu Sans"/>
                <a:ea typeface="DejaVu Sans"/>
                <a:effectLst/>
              </a:rPr>
              <a:t>C1</a:t>
            </a:r>
          </a:p>
        </p:txBody>
      </p:sp>
      <p:sp>
        <p:nvSpPr>
          <p:cNvPr id="322" name="rect 321"/>
          <p:cNvSpPr/>
          <p:nvPr/>
        </p:nvSpPr>
        <p:spPr>
          <a:xfrm>
            <a:off x="8975505" y="4645025"/>
            <a:ext cx="358435" cy="226765"/>
          </a:xfrm>
          <a:prstGeom prst="roundRect">
            <a:avLst>
              <a:gd name="adj" fmla="val 3225"/>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3" name="c*"/>
          <p:cNvSpPr txBox="1"/>
          <p:nvPr/>
        </p:nvSpPr>
        <p:spPr>
          <a:xfrm>
            <a:off x="9025138" y="4667994"/>
            <a:ext cx="259168" cy="208478"/>
          </a:xfrm>
          <a:prstGeom prst="rect">
            <a:avLst/>
          </a:prstGeom>
          <a:noFill/>
          <a:effectLst/>
        </p:spPr>
        <p:txBody>
          <a:bodyPr wrap="none" lIns="0" rIns="0" tIns="0" bIns="0" anchor="t">
            <a:spAutoFit/>
          </a:bodyPr>
          <a:lstStyle/>
          <a:p>
            <a:pPr algn="ctr">
              <a:lnSpc>
                <a:spcPct val="100000"/>
              </a:lnSpc>
              <a:spcBef>
                <a:spcPts val="0"/>
              </a:spcBef>
              <a:spcAft>
                <a:spcPts val="0"/>
              </a:spcAft>
            </a:pPr>
            <a:r>
              <a:rPr sz="1209" b="1" i="0" lang="en-US" spc="0">
                <a:solidFill>
                  <a:srgbClr val="181818"/>
                </a:solidFill>
                <a:latin typeface="DejaVu Sans"/>
                <a:ea typeface="DejaVu Sans"/>
                <a:effectLst/>
              </a:rPr>
              <a:t>c*</a:t>
            </a:r>
          </a:p>
        </p:txBody>
      </p:sp>
      <p:cxnSp>
        <p:nvCxnSpPr>
          <p:cNvPr id="324" name="line 323"/>
          <p:cNvCxnSpPr/>
          <p:nvPr/>
        </p:nvCxnSpPr>
        <p:spPr>
          <a:xfrm flipV="1">
            <a:off x="7724640" y="4754750"/>
            <a:ext cx="402325" cy="212135"/>
          </a:xfrm>
          <a:prstGeom prst="line">
            <a:avLst/>
          </a:prstGeom>
          <a:ln w="12435">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325" name="line 324"/>
          <p:cNvCxnSpPr/>
          <p:nvPr/>
        </p:nvCxnSpPr>
        <p:spPr>
          <a:xfrm>
            <a:off x="7724640" y="5040035"/>
            <a:ext cx="402325" cy="343805"/>
          </a:xfrm>
          <a:prstGeom prst="line">
            <a:avLst/>
          </a:prstGeom>
          <a:ln w="12435">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326" name="path 325"/>
          <p:cNvCxnSpPr/>
          <p:nvPr/>
        </p:nvCxnSpPr>
        <p:spPr>
          <a:xfrm>
            <a:off x="8529290" y="4754750"/>
            <a:ext cx="424270" cy="0"/>
          </a:xfrm>
          <a:prstGeom prst="line">
            <a:avLst/>
          </a:prstGeom>
          <a:ln w="14630">
            <a:solidFill>
              <a:srgbClr val="BF3335"/>
            </a:solidFill>
          </a:ln>
          <a:effectLst/>
        </p:spPr>
        <p:style>
          <a:lnRef idx="2">
            <a:schemeClr val="accent1"/>
          </a:lnRef>
          <a:fillRef idx="0">
            <a:schemeClr val="accent1"/>
          </a:fillRef>
          <a:effectRef idx="0">
            <a:schemeClr val="accent1"/>
          </a:effectRef>
          <a:fontRef idx="minor">
            <a:schemeClr val="tx1"/>
          </a:fontRef>
        </p:style>
      </p:cxnSp>
      <p:sp>
        <p:nvSpPr>
          <p:cNvPr id="327" name="arrowhead 326"/>
          <p:cNvSpPr/>
          <p:nvPr/>
        </p:nvSpPr>
        <p:spPr>
          <a:xfrm>
            <a:off x="8865780" y="4703545"/>
            <a:ext cx="102410" cy="102410"/>
          </a:xfrm>
          <a:custGeom>
            <a:avLst/>
            <a:gdLst/>
            <a:ahLst/>
            <a:cxnLst/>
            <a:rect l="l" t="t" r="r" b="b"/>
            <a:pathLst>
              <a:path w="14" h="14">
                <a:moveTo>
                  <a:pt x="14" y="7"/>
                </a:moveTo>
                <a:lnTo>
                  <a:pt x="0" y="14"/>
                </a:lnTo>
                <a:lnTo>
                  <a:pt x="0" y="0"/>
                </a:lnTo>
                <a:close/>
              </a:path>
            </a:pathLst>
          </a:custGeom>
          <a:solidFill>
            <a:srgbClr val="BF333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8" name="path 327"/>
          <p:cNvSpPr/>
          <p:nvPr/>
        </p:nvSpPr>
        <p:spPr>
          <a:xfrm>
            <a:off x="7461300" y="5179020"/>
            <a:ext cx="65835" cy="51205"/>
          </a:xfrm>
          <a:custGeom>
            <a:avLst/>
            <a:gdLst/>
            <a:ahLst/>
            <a:cxnLst/>
            <a:rect l="l" t="t" r="r" b="b"/>
            <a:pathLst>
              <a:path w="9" h="7">
                <a:moveTo>
                  <a:pt x="0" y="7"/>
                </a:moveTo>
                <a:lnTo>
                  <a:pt x="0" y="0"/>
                </a:lnTo>
                <a:lnTo>
                  <a:pt x="9" y="0"/>
                </a:lnTo>
                <a:lnTo>
                  <a:pt x="9" y="7"/>
                </a:lnTo>
              </a:path>
            </a:pathLst>
          </a:custGeom>
          <a:noFill/>
          <a:ln w="14630">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9" name="rect 328"/>
          <p:cNvSpPr/>
          <p:nvPr/>
        </p:nvSpPr>
        <p:spPr>
          <a:xfrm>
            <a:off x="7439355" y="5233517"/>
            <a:ext cx="114114" cy="95095"/>
          </a:xfrm>
          <a:prstGeom prst="roundRect">
            <a:avLst>
              <a:gd name="adj" fmla="val 15384"/>
            </a:avLst>
          </a:prstGeom>
          <a:solidFill>
            <a:srgbClr val="FFFFF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0" name="circle 329"/>
          <p:cNvSpPr/>
          <p:nvPr/>
        </p:nvSpPr>
        <p:spPr>
          <a:xfrm>
            <a:off x="7486902" y="5262045"/>
            <a:ext cx="19019" cy="19019"/>
          </a:xfrm>
          <a:prstGeom prst="ellipse">
            <a:avLst/>
          </a:prstGeom>
          <a:solidFill>
            <a:srgbClr val="181818"/>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1" name="safe input"/>
          <p:cNvSpPr txBox="1"/>
          <p:nvPr/>
        </p:nvSpPr>
        <p:spPr>
          <a:xfrm>
            <a:off x="8756055" y="5319834"/>
            <a:ext cx="818080" cy="201162"/>
          </a:xfrm>
          <a:prstGeom prst="rect">
            <a:avLst/>
          </a:prstGeom>
          <a:noFill/>
          <a:effectLst/>
        </p:spPr>
        <p:txBody>
          <a:bodyPr wrap="none" lIns="0" rIns="0" tIns="0" bIns="0" anchor="t">
            <a:spAutoFit/>
          </a:bodyPr>
          <a:lstStyle/>
          <a:p>
            <a:pPr algn="l">
              <a:lnSpc>
                <a:spcPct val="100000"/>
              </a:lnSpc>
              <a:spcBef>
                <a:spcPts val="0"/>
              </a:spcBef>
              <a:spcAft>
                <a:spcPts val="0"/>
              </a:spcAft>
            </a:pPr>
            <a:r>
              <a:rPr sz="1152" b="0" i="0" lang="en-US" spc="0">
                <a:solidFill>
                  <a:srgbClr val="181818"/>
                </a:solidFill>
                <a:latin typeface="DejaVu Sans"/>
                <a:ea typeface="DejaVu Sans"/>
                <a:effectLst/>
              </a:rPr>
              <a:t>safe input</a:t>
            </a:r>
          </a:p>
        </p:txBody>
      </p:sp>
      <p:sp>
        <p:nvSpPr>
          <p:cNvPr id="332" name="rect 331"/>
          <p:cNvSpPr/>
          <p:nvPr/>
        </p:nvSpPr>
        <p:spPr>
          <a:xfrm>
            <a:off x="9787470" y="4228070"/>
            <a:ext cx="3013780" cy="1492260"/>
          </a:xfrm>
          <a:prstGeom prst="roundRect">
            <a:avLst>
              <a:gd name="adj" fmla="val 980"/>
            </a:avLst>
          </a:prstGeom>
          <a:solidFill>
            <a:srgbClr val="EEEEEE"/>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3" name="rect 332"/>
          <p:cNvSpPr/>
          <p:nvPr/>
        </p:nvSpPr>
        <p:spPr>
          <a:xfrm>
            <a:off x="9787470" y="4228070"/>
            <a:ext cx="3013780" cy="277970"/>
          </a:xfrm>
          <a:prstGeom prst="roundRect">
            <a:avLst>
              <a:gd name="adj" fmla="val 5263"/>
            </a:avLst>
          </a:prstGeom>
          <a:solidFill>
            <a:srgbClr val="F5D460"/>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4" name="HiCache / DMA"/>
          <p:cNvSpPr txBox="1"/>
          <p:nvPr/>
        </p:nvSpPr>
        <p:spPr>
          <a:xfrm>
            <a:off x="9889880" y="4258135"/>
            <a:ext cx="1593241" cy="243224"/>
          </a:xfrm>
          <a:prstGeom prst="rect">
            <a:avLst/>
          </a:prstGeom>
          <a:noFill/>
          <a:effectLst/>
        </p:spPr>
        <p:txBody>
          <a:bodyPr wrap="none" lIns="0" rIns="0" tIns="0" bIns="0" anchor="t">
            <a:spAutoFit/>
          </a:bodyPr>
          <a:lstStyle/>
          <a:p>
            <a:pPr algn="l">
              <a:lnSpc>
                <a:spcPct val="100000"/>
              </a:lnSpc>
              <a:spcBef>
                <a:spcPts val="0"/>
              </a:spcBef>
              <a:spcAft>
                <a:spcPts val="0"/>
              </a:spcAft>
            </a:pPr>
            <a:r>
              <a:rPr sz="1439" b="1" i="0" lang="en-US" spc="0">
                <a:solidFill>
                  <a:srgbClr val="181818"/>
                </a:solidFill>
                <a:latin typeface="DejaVu Sans"/>
                <a:ea typeface="DejaVu Sans"/>
                <a:effectLst/>
              </a:rPr>
              <a:t>HiCache / DMA</a:t>
            </a:r>
          </a:p>
        </p:txBody>
      </p:sp>
      <p:sp>
        <p:nvSpPr>
          <p:cNvPr id="335" name="rect 334"/>
          <p:cNvSpPr/>
          <p:nvPr/>
        </p:nvSpPr>
        <p:spPr>
          <a:xfrm>
            <a:off x="9911825" y="4652340"/>
            <a:ext cx="1214290" cy="577885"/>
          </a:xfrm>
          <a:prstGeom prst="roundRect">
            <a:avLst>
              <a:gd name="adj" fmla="val 3797"/>
            </a:avLst>
          </a:prstGeom>
          <a:solidFill>
            <a:srgbClr val="F5D460"/>
          </a:solidFill>
          <a:ln w="14630">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6" name="D2H"/>
          <p:cNvSpPr txBox="1"/>
          <p:nvPr/>
        </p:nvSpPr>
        <p:spPr>
          <a:xfrm>
            <a:off x="10250387" y="4687086"/>
            <a:ext cx="537167" cy="252368"/>
          </a:xfrm>
          <a:prstGeom prst="rect">
            <a:avLst/>
          </a:prstGeom>
          <a:noFill/>
          <a:effectLst/>
        </p:spPr>
        <p:txBody>
          <a:bodyPr wrap="none" lIns="0" rIns="0" tIns="0" bIns="0" anchor="t">
            <a:spAutoFit/>
          </a:bodyPr>
          <a:lstStyle/>
          <a:p>
            <a:pPr algn="ctr">
              <a:lnSpc>
                <a:spcPct val="100000"/>
              </a:lnSpc>
              <a:spcBef>
                <a:spcPts val="0"/>
              </a:spcBef>
              <a:spcAft>
                <a:spcPts val="0"/>
              </a:spcAft>
            </a:pPr>
            <a:r>
              <a:rPr sz="1497" b="1" i="0" lang="en-US" spc="0">
                <a:solidFill>
                  <a:srgbClr val="181818"/>
                </a:solidFill>
                <a:latin typeface="DejaVu Sans"/>
                <a:ea typeface="DejaVu Sans"/>
                <a:effectLst/>
              </a:rPr>
              <a:t>D2H</a:t>
            </a:r>
          </a:p>
        </p:txBody>
      </p:sp>
      <p:cxnSp>
        <p:nvCxnSpPr>
          <p:cNvPr id="337" name="path 336"/>
          <p:cNvCxnSpPr/>
          <p:nvPr/>
        </p:nvCxnSpPr>
        <p:spPr>
          <a:xfrm>
            <a:off x="10050810" y="5016408"/>
            <a:ext cx="936320" cy="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sp>
        <p:nvSpPr>
          <p:cNvPr id="338" name="arrowhead 337"/>
          <p:cNvSpPr/>
          <p:nvPr/>
        </p:nvSpPr>
        <p:spPr>
          <a:xfrm>
            <a:off x="10899350" y="4966885"/>
            <a:ext cx="102410" cy="102410"/>
          </a:xfrm>
          <a:custGeom>
            <a:avLst/>
            <a:gdLst/>
            <a:ahLst/>
            <a:cxnLst/>
            <a:rect l="l" t="t" r="r" b="b"/>
            <a:pathLst>
              <a:path w="14" h="14">
                <a:moveTo>
                  <a:pt x="14" y="7"/>
                </a:moveTo>
                <a:lnTo>
                  <a:pt x="0" y="14"/>
                </a:lnTo>
                <a:lnTo>
                  <a:pt x="0" y="0"/>
                </a:lnTo>
                <a:close/>
              </a:path>
            </a:pathLst>
          </a:custGeom>
          <a:solidFill>
            <a:srgbClr val="18181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339" name="path 338"/>
          <p:cNvCxnSpPr/>
          <p:nvPr/>
        </p:nvCxnSpPr>
        <p:spPr>
          <a:xfrm flipH="1">
            <a:off x="10050810" y="5126206"/>
            <a:ext cx="936320" cy="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sp>
        <p:nvSpPr>
          <p:cNvPr id="340" name="arrowhead 339"/>
          <p:cNvSpPr/>
          <p:nvPr/>
        </p:nvSpPr>
        <p:spPr>
          <a:xfrm>
            <a:off x="10036180" y="5076610"/>
            <a:ext cx="102410" cy="102410"/>
          </a:xfrm>
          <a:custGeom>
            <a:avLst/>
            <a:gdLst/>
            <a:ahLst/>
            <a:cxnLst/>
            <a:rect l="l" t="t" r="r" b="b"/>
            <a:pathLst>
              <a:path w="14" h="14">
                <a:moveTo>
                  <a:pt x="0" y="7"/>
                </a:moveTo>
                <a:lnTo>
                  <a:pt x="14" y="0"/>
                </a:lnTo>
                <a:lnTo>
                  <a:pt x="14" y="14"/>
                </a:lnTo>
                <a:close/>
              </a:path>
            </a:pathLst>
          </a:custGeom>
          <a:solidFill>
            <a:srgbClr val="18181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1" name="rect 340"/>
          <p:cNvSpPr/>
          <p:nvPr/>
        </p:nvSpPr>
        <p:spPr>
          <a:xfrm>
            <a:off x="11433345" y="4652340"/>
            <a:ext cx="1214290" cy="577885"/>
          </a:xfrm>
          <a:prstGeom prst="roundRect">
            <a:avLst>
              <a:gd name="adj" fmla="val 3797"/>
            </a:avLst>
          </a:prstGeom>
          <a:solidFill>
            <a:srgbClr val="F5D460"/>
          </a:solidFill>
          <a:ln w="14630">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2" name="H2D"/>
          <p:cNvSpPr txBox="1"/>
          <p:nvPr/>
        </p:nvSpPr>
        <p:spPr>
          <a:xfrm>
            <a:off x="11771907" y="4687086"/>
            <a:ext cx="537167" cy="252368"/>
          </a:xfrm>
          <a:prstGeom prst="rect">
            <a:avLst/>
          </a:prstGeom>
          <a:noFill/>
          <a:effectLst/>
        </p:spPr>
        <p:txBody>
          <a:bodyPr wrap="none" lIns="0" rIns="0" tIns="0" bIns="0" anchor="t">
            <a:spAutoFit/>
          </a:bodyPr>
          <a:lstStyle/>
          <a:p>
            <a:pPr algn="ctr">
              <a:lnSpc>
                <a:spcPct val="100000"/>
              </a:lnSpc>
              <a:spcBef>
                <a:spcPts val="0"/>
              </a:spcBef>
              <a:spcAft>
                <a:spcPts val="0"/>
              </a:spcAft>
            </a:pPr>
            <a:r>
              <a:rPr sz="1497" b="1" i="0" lang="en-US" spc="0">
                <a:solidFill>
                  <a:srgbClr val="181818"/>
                </a:solidFill>
                <a:latin typeface="DejaVu Sans"/>
                <a:ea typeface="DejaVu Sans"/>
                <a:effectLst/>
              </a:rPr>
              <a:t>H2D</a:t>
            </a:r>
          </a:p>
        </p:txBody>
      </p:sp>
      <p:cxnSp>
        <p:nvCxnSpPr>
          <p:cNvPr id="343" name="path 342"/>
          <p:cNvCxnSpPr/>
          <p:nvPr/>
        </p:nvCxnSpPr>
        <p:spPr>
          <a:xfrm>
            <a:off x="11572330" y="5016408"/>
            <a:ext cx="936320" cy="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sp>
        <p:nvSpPr>
          <p:cNvPr id="344" name="arrowhead 343"/>
          <p:cNvSpPr/>
          <p:nvPr/>
        </p:nvSpPr>
        <p:spPr>
          <a:xfrm>
            <a:off x="12420870" y="4966885"/>
            <a:ext cx="102410" cy="102410"/>
          </a:xfrm>
          <a:custGeom>
            <a:avLst/>
            <a:gdLst/>
            <a:ahLst/>
            <a:cxnLst/>
            <a:rect l="l" t="t" r="r" b="b"/>
            <a:pathLst>
              <a:path w="14" h="14">
                <a:moveTo>
                  <a:pt x="14" y="7"/>
                </a:moveTo>
                <a:lnTo>
                  <a:pt x="0" y="14"/>
                </a:lnTo>
                <a:lnTo>
                  <a:pt x="0" y="0"/>
                </a:lnTo>
                <a:close/>
              </a:path>
            </a:pathLst>
          </a:custGeom>
          <a:solidFill>
            <a:srgbClr val="18181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345" name="path 344"/>
          <p:cNvCxnSpPr/>
          <p:nvPr/>
        </p:nvCxnSpPr>
        <p:spPr>
          <a:xfrm flipH="1">
            <a:off x="11572330" y="5126206"/>
            <a:ext cx="936320" cy="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sp>
        <p:nvSpPr>
          <p:cNvPr id="346" name="arrowhead 345"/>
          <p:cNvSpPr/>
          <p:nvPr/>
        </p:nvSpPr>
        <p:spPr>
          <a:xfrm>
            <a:off x="11557700" y="5076610"/>
            <a:ext cx="102410" cy="102410"/>
          </a:xfrm>
          <a:custGeom>
            <a:avLst/>
            <a:gdLst/>
            <a:ahLst/>
            <a:cxnLst/>
            <a:rect l="l" t="t" r="r" b="b"/>
            <a:pathLst>
              <a:path w="14" h="14">
                <a:moveTo>
                  <a:pt x="0" y="7"/>
                </a:moveTo>
                <a:lnTo>
                  <a:pt x="14" y="0"/>
                </a:lnTo>
                <a:lnTo>
                  <a:pt x="14" y="14"/>
                </a:lnTo>
                <a:close/>
              </a:path>
            </a:pathLst>
          </a:custGeom>
          <a:solidFill>
            <a:srgbClr val="18181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7" name="rect 346"/>
          <p:cNvSpPr/>
          <p:nvPr/>
        </p:nvSpPr>
        <p:spPr>
          <a:xfrm>
            <a:off x="9941085" y="5391155"/>
            <a:ext cx="219450" cy="182875"/>
          </a:xfrm>
          <a:prstGeom prst="roundRect">
            <a:avLst>
              <a:gd name="adj" fmla="val 4000"/>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8" name="rect 347"/>
          <p:cNvSpPr/>
          <p:nvPr/>
        </p:nvSpPr>
        <p:spPr>
          <a:xfrm>
            <a:off x="10197110" y="5391155"/>
            <a:ext cx="219450" cy="182875"/>
          </a:xfrm>
          <a:prstGeom prst="roundRect">
            <a:avLst>
              <a:gd name="adj" fmla="val 4000"/>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9" name="rect 348"/>
          <p:cNvSpPr/>
          <p:nvPr/>
        </p:nvSpPr>
        <p:spPr>
          <a:xfrm>
            <a:off x="10453135" y="5391155"/>
            <a:ext cx="219450" cy="182875"/>
          </a:xfrm>
          <a:prstGeom prst="roundRect">
            <a:avLst>
              <a:gd name="adj" fmla="val 4000"/>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0" name="rect 349"/>
          <p:cNvSpPr/>
          <p:nvPr/>
        </p:nvSpPr>
        <p:spPr>
          <a:xfrm>
            <a:off x="10709160" y="5391155"/>
            <a:ext cx="219450" cy="182875"/>
          </a:xfrm>
          <a:prstGeom prst="roundRect">
            <a:avLst>
              <a:gd name="adj" fmla="val 4000"/>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1" name="rect 350"/>
          <p:cNvSpPr/>
          <p:nvPr/>
        </p:nvSpPr>
        <p:spPr>
          <a:xfrm>
            <a:off x="11477235" y="5391155"/>
            <a:ext cx="219450" cy="182875"/>
          </a:xfrm>
          <a:prstGeom prst="roundRect">
            <a:avLst>
              <a:gd name="adj" fmla="val 4000"/>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2" name="rect 351"/>
          <p:cNvSpPr/>
          <p:nvPr/>
        </p:nvSpPr>
        <p:spPr>
          <a:xfrm>
            <a:off x="11733260" y="5391155"/>
            <a:ext cx="219450" cy="182875"/>
          </a:xfrm>
          <a:prstGeom prst="roundRect">
            <a:avLst>
              <a:gd name="adj" fmla="val 4000"/>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3" name="rect 352"/>
          <p:cNvSpPr/>
          <p:nvPr/>
        </p:nvSpPr>
        <p:spPr>
          <a:xfrm>
            <a:off x="11989285" y="5391155"/>
            <a:ext cx="219450" cy="182875"/>
          </a:xfrm>
          <a:prstGeom prst="roundRect">
            <a:avLst>
              <a:gd name="adj" fmla="val 4000"/>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4" name="rect 353"/>
          <p:cNvSpPr/>
          <p:nvPr/>
        </p:nvSpPr>
        <p:spPr>
          <a:xfrm>
            <a:off x="12369665" y="5369210"/>
            <a:ext cx="248491" cy="185582"/>
          </a:xfrm>
          <a:prstGeom prst="roundRect">
            <a:avLst>
              <a:gd name="adj" fmla="val 3941"/>
            </a:avLst>
          </a:prstGeom>
          <a:solidFill>
            <a:srgbClr val="E9A6BF"/>
          </a:solidFill>
          <a:ln w="10972">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5" name="rect 354"/>
          <p:cNvSpPr/>
          <p:nvPr/>
        </p:nvSpPr>
        <p:spPr>
          <a:xfrm>
            <a:off x="12401120" y="5400664"/>
            <a:ext cx="47182" cy="44036"/>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6" name="rect 355"/>
          <p:cNvSpPr/>
          <p:nvPr/>
        </p:nvSpPr>
        <p:spPr>
          <a:xfrm>
            <a:off x="12470319" y="5400664"/>
            <a:ext cx="47182" cy="44036"/>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7" name="rect 356"/>
          <p:cNvSpPr/>
          <p:nvPr/>
        </p:nvSpPr>
        <p:spPr>
          <a:xfrm>
            <a:off x="12539519" y="5400664"/>
            <a:ext cx="47182" cy="44036"/>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8" name="rect 357"/>
          <p:cNvSpPr/>
          <p:nvPr/>
        </p:nvSpPr>
        <p:spPr>
          <a:xfrm>
            <a:off x="12401120" y="5469864"/>
            <a:ext cx="47182" cy="44036"/>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9" name="rect 358"/>
          <p:cNvSpPr/>
          <p:nvPr/>
        </p:nvSpPr>
        <p:spPr>
          <a:xfrm>
            <a:off x="12470319" y="5469864"/>
            <a:ext cx="47182" cy="44036"/>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0" name="rect 359"/>
          <p:cNvSpPr/>
          <p:nvPr/>
        </p:nvSpPr>
        <p:spPr>
          <a:xfrm>
            <a:off x="12539519" y="5469864"/>
            <a:ext cx="47182" cy="44036"/>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1" name="path 360"/>
          <p:cNvSpPr/>
          <p:nvPr/>
        </p:nvSpPr>
        <p:spPr>
          <a:xfrm>
            <a:off x="10526285" y="4074455"/>
            <a:ext cx="2033570" cy="555940"/>
          </a:xfrm>
          <a:custGeom>
            <a:avLst/>
            <a:gdLst/>
            <a:ahLst/>
            <a:cxnLst/>
            <a:rect l="l" t="t" r="r" b="b"/>
            <a:pathLst>
              <a:path w="278" h="76">
                <a:moveTo>
                  <a:pt x="278" y="0"/>
                </a:moveTo>
                <a:lnTo>
                  <a:pt x="278" y="66"/>
                </a:lnTo>
                <a:lnTo>
                  <a:pt x="0" y="66"/>
                </a:lnTo>
                <a:lnTo>
                  <a:pt x="0" y="76"/>
                </a:lnTo>
              </a:path>
            </a:pathLst>
          </a:custGeom>
          <a:noFill/>
          <a:ln w="14630">
            <a:solidFill>
              <a:srgbClr val="BF333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2" name="arrowhead 361"/>
          <p:cNvSpPr/>
          <p:nvPr/>
        </p:nvSpPr>
        <p:spPr>
          <a:xfrm>
            <a:off x="10475080" y="4542615"/>
            <a:ext cx="102410" cy="102410"/>
          </a:xfrm>
          <a:custGeom>
            <a:avLst/>
            <a:gdLst/>
            <a:ahLst/>
            <a:cxnLst/>
            <a:rect l="l" t="t" r="r" b="b"/>
            <a:pathLst>
              <a:path w="14" h="14">
                <a:moveTo>
                  <a:pt x="7" y="14"/>
                </a:moveTo>
                <a:lnTo>
                  <a:pt x="0" y="0"/>
                </a:lnTo>
                <a:lnTo>
                  <a:pt x="14" y="0"/>
                </a:lnTo>
                <a:close/>
              </a:path>
            </a:pathLst>
          </a:custGeom>
          <a:solidFill>
            <a:srgbClr val="BF333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363" name="path 362"/>
          <p:cNvCxnSpPr/>
          <p:nvPr/>
        </p:nvCxnSpPr>
        <p:spPr>
          <a:xfrm>
            <a:off x="10526285" y="5244855"/>
            <a:ext cx="0" cy="80465"/>
          </a:xfrm>
          <a:prstGeom prst="line">
            <a:avLst/>
          </a:prstGeom>
          <a:ln w="14630">
            <a:solidFill>
              <a:srgbClr val="BF3335"/>
            </a:solidFill>
          </a:ln>
          <a:effectLst/>
        </p:spPr>
        <p:style>
          <a:lnRef idx="2">
            <a:schemeClr val="accent1"/>
          </a:lnRef>
          <a:fillRef idx="0">
            <a:schemeClr val="accent1"/>
          </a:fillRef>
          <a:effectRef idx="0">
            <a:schemeClr val="accent1"/>
          </a:effectRef>
          <a:fontRef idx="minor">
            <a:schemeClr val="tx1"/>
          </a:fontRef>
        </p:style>
      </p:cxnSp>
      <p:sp>
        <p:nvSpPr>
          <p:cNvPr id="364" name="arrowhead 363"/>
          <p:cNvSpPr/>
          <p:nvPr/>
        </p:nvSpPr>
        <p:spPr>
          <a:xfrm>
            <a:off x="10475080" y="5237540"/>
            <a:ext cx="102410" cy="102410"/>
          </a:xfrm>
          <a:custGeom>
            <a:avLst/>
            <a:gdLst/>
            <a:ahLst/>
            <a:cxnLst/>
            <a:rect l="l" t="t" r="r" b="b"/>
            <a:pathLst>
              <a:path w="14" h="14">
                <a:moveTo>
                  <a:pt x="7" y="14"/>
                </a:moveTo>
                <a:lnTo>
                  <a:pt x="0" y="0"/>
                </a:lnTo>
                <a:lnTo>
                  <a:pt x="14" y="0"/>
                </a:lnTo>
                <a:close/>
              </a:path>
            </a:pathLst>
          </a:custGeom>
          <a:solidFill>
            <a:srgbClr val="BF333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365" name="path 364"/>
          <p:cNvCxnSpPr/>
          <p:nvPr/>
        </p:nvCxnSpPr>
        <p:spPr>
          <a:xfrm>
            <a:off x="10526285" y="5734960"/>
            <a:ext cx="0" cy="146300"/>
          </a:xfrm>
          <a:prstGeom prst="line">
            <a:avLst/>
          </a:prstGeom>
          <a:ln w="14630">
            <a:solidFill>
              <a:srgbClr val="BF3335"/>
            </a:solidFill>
          </a:ln>
          <a:effectLst/>
        </p:spPr>
        <p:style>
          <a:lnRef idx="2">
            <a:schemeClr val="accent1"/>
          </a:lnRef>
          <a:fillRef idx="0">
            <a:schemeClr val="accent1"/>
          </a:fillRef>
          <a:effectRef idx="0">
            <a:schemeClr val="accent1"/>
          </a:effectRef>
          <a:fontRef idx="minor">
            <a:schemeClr val="tx1"/>
          </a:fontRef>
        </p:style>
      </p:cxnSp>
      <p:sp>
        <p:nvSpPr>
          <p:cNvPr id="366" name="arrowhead 365"/>
          <p:cNvSpPr/>
          <p:nvPr/>
        </p:nvSpPr>
        <p:spPr>
          <a:xfrm>
            <a:off x="10475080" y="5793480"/>
            <a:ext cx="102410" cy="102410"/>
          </a:xfrm>
          <a:custGeom>
            <a:avLst/>
            <a:gdLst/>
            <a:ahLst/>
            <a:cxnLst/>
            <a:rect l="l" t="t" r="r" b="b"/>
            <a:pathLst>
              <a:path w="14" h="14">
                <a:moveTo>
                  <a:pt x="7" y="14"/>
                </a:moveTo>
                <a:lnTo>
                  <a:pt x="0" y="0"/>
                </a:lnTo>
                <a:lnTo>
                  <a:pt x="14" y="0"/>
                </a:lnTo>
                <a:close/>
              </a:path>
            </a:pathLst>
          </a:custGeom>
          <a:solidFill>
            <a:srgbClr val="BF333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367" name="path 366"/>
          <p:cNvCxnSpPr/>
          <p:nvPr/>
        </p:nvCxnSpPr>
        <p:spPr>
          <a:xfrm flipV="1">
            <a:off x="12040490" y="5734960"/>
            <a:ext cx="0" cy="146300"/>
          </a:xfrm>
          <a:prstGeom prst="line">
            <a:avLst/>
          </a:prstGeom>
          <a:ln w="14630">
            <a:solidFill>
              <a:srgbClr val="BF3335"/>
            </a:solidFill>
          </a:ln>
          <a:effectLst/>
        </p:spPr>
        <p:style>
          <a:lnRef idx="2">
            <a:schemeClr val="accent1"/>
          </a:lnRef>
          <a:fillRef idx="0">
            <a:schemeClr val="accent1"/>
          </a:fillRef>
          <a:effectRef idx="0">
            <a:schemeClr val="accent1"/>
          </a:effectRef>
          <a:fontRef idx="minor">
            <a:schemeClr val="tx1"/>
          </a:fontRef>
        </p:style>
      </p:cxnSp>
      <p:sp>
        <p:nvSpPr>
          <p:cNvPr id="368" name="arrowhead 367"/>
          <p:cNvSpPr/>
          <p:nvPr/>
        </p:nvSpPr>
        <p:spPr>
          <a:xfrm>
            <a:off x="11989285" y="5720330"/>
            <a:ext cx="102410" cy="102410"/>
          </a:xfrm>
          <a:custGeom>
            <a:avLst/>
            <a:gdLst/>
            <a:ahLst/>
            <a:cxnLst/>
            <a:rect l="l" t="t" r="r" b="b"/>
            <a:pathLst>
              <a:path w="14" h="14">
                <a:moveTo>
                  <a:pt x="7" y="0"/>
                </a:moveTo>
                <a:lnTo>
                  <a:pt x="14" y="14"/>
                </a:lnTo>
                <a:lnTo>
                  <a:pt x="0" y="14"/>
                </a:lnTo>
                <a:close/>
              </a:path>
            </a:pathLst>
          </a:custGeom>
          <a:solidFill>
            <a:srgbClr val="BF333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369" name="path 368"/>
          <p:cNvCxnSpPr/>
          <p:nvPr/>
        </p:nvCxnSpPr>
        <p:spPr>
          <a:xfrm flipV="1">
            <a:off x="12040490" y="4074455"/>
            <a:ext cx="0" cy="555940"/>
          </a:xfrm>
          <a:prstGeom prst="line">
            <a:avLst/>
          </a:prstGeom>
          <a:ln w="14630">
            <a:solidFill>
              <a:srgbClr val="BF3335"/>
            </a:solidFill>
          </a:ln>
          <a:effectLst/>
        </p:spPr>
        <p:style>
          <a:lnRef idx="2">
            <a:schemeClr val="accent1"/>
          </a:lnRef>
          <a:fillRef idx="0">
            <a:schemeClr val="accent1"/>
          </a:fillRef>
          <a:effectRef idx="0">
            <a:schemeClr val="accent1"/>
          </a:effectRef>
          <a:fontRef idx="minor">
            <a:schemeClr val="tx1"/>
          </a:fontRef>
        </p:style>
      </p:cxnSp>
      <p:sp>
        <p:nvSpPr>
          <p:cNvPr id="370" name="arrowhead 369"/>
          <p:cNvSpPr/>
          <p:nvPr/>
        </p:nvSpPr>
        <p:spPr>
          <a:xfrm>
            <a:off x="11989285" y="4059825"/>
            <a:ext cx="102410" cy="102410"/>
          </a:xfrm>
          <a:custGeom>
            <a:avLst/>
            <a:gdLst/>
            <a:ahLst/>
            <a:cxnLst/>
            <a:rect l="l" t="t" r="r" b="b"/>
            <a:pathLst>
              <a:path w="14" h="14">
                <a:moveTo>
                  <a:pt x="7" y="0"/>
                </a:moveTo>
                <a:lnTo>
                  <a:pt x="14" y="14"/>
                </a:lnTo>
                <a:lnTo>
                  <a:pt x="0" y="14"/>
                </a:lnTo>
                <a:close/>
              </a:path>
            </a:pathLst>
          </a:custGeom>
          <a:solidFill>
            <a:srgbClr val="BF333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371" name="path 370"/>
          <p:cNvCxnSpPr/>
          <p:nvPr/>
        </p:nvCxnSpPr>
        <p:spPr>
          <a:xfrm>
            <a:off x="9641170" y="4988830"/>
            <a:ext cx="131670" cy="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sp>
        <p:nvSpPr>
          <p:cNvPr id="372" name="arrowhead 371"/>
          <p:cNvSpPr/>
          <p:nvPr/>
        </p:nvSpPr>
        <p:spPr>
          <a:xfrm>
            <a:off x="9685060" y="4937625"/>
            <a:ext cx="102410" cy="102410"/>
          </a:xfrm>
          <a:custGeom>
            <a:avLst/>
            <a:gdLst/>
            <a:ahLst/>
            <a:cxnLst/>
            <a:rect l="l" t="t" r="r" b="b"/>
            <a:pathLst>
              <a:path w="14" h="14">
                <a:moveTo>
                  <a:pt x="14" y="7"/>
                </a:moveTo>
                <a:lnTo>
                  <a:pt x="0" y="14"/>
                </a:lnTo>
                <a:lnTo>
                  <a:pt x="0" y="0"/>
                </a:lnTo>
                <a:close/>
              </a:path>
            </a:pathLst>
          </a:custGeom>
          <a:solidFill>
            <a:srgbClr val="18181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3" name="rect 372"/>
          <p:cNvSpPr/>
          <p:nvPr/>
        </p:nvSpPr>
        <p:spPr>
          <a:xfrm>
            <a:off x="7212590" y="5895890"/>
            <a:ext cx="5588660" cy="1111880"/>
          </a:xfrm>
          <a:prstGeom prst="roundRect">
            <a:avLst>
              <a:gd name="adj" fmla="val 1315"/>
            </a:avLst>
          </a:prstGeom>
          <a:solidFill>
            <a:srgbClr val="EEEEEE"/>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4" name="rect 373"/>
          <p:cNvSpPr/>
          <p:nvPr/>
        </p:nvSpPr>
        <p:spPr>
          <a:xfrm>
            <a:off x="7212590" y="5895890"/>
            <a:ext cx="5588660" cy="277970"/>
          </a:xfrm>
          <a:prstGeom prst="roundRect">
            <a:avLst>
              <a:gd name="adj" fmla="val 5263"/>
            </a:avLst>
          </a:prstGeom>
          <a:solidFill>
            <a:srgbClr val="9DC38B"/>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5" name="Host pool: backed FULL + valid state"/>
          <p:cNvSpPr txBox="1"/>
          <p:nvPr/>
        </p:nvSpPr>
        <p:spPr>
          <a:xfrm>
            <a:off x="7315000" y="5931441"/>
            <a:ext cx="3734850" cy="235909"/>
          </a:xfrm>
          <a:prstGeom prst="rect">
            <a:avLst/>
          </a:prstGeom>
          <a:noFill/>
          <a:effectLst/>
        </p:spPr>
        <p:txBody>
          <a:bodyPr wrap="none" lIns="0" rIns="0" tIns="0" bIns="0" anchor="t">
            <a:spAutoFit/>
          </a:bodyPr>
          <a:lstStyle/>
          <a:p>
            <a:pPr algn="l">
              <a:lnSpc>
                <a:spcPct val="100000"/>
              </a:lnSpc>
              <a:spcBef>
                <a:spcPts val="0"/>
              </a:spcBef>
              <a:spcAft>
                <a:spcPts val="0"/>
              </a:spcAft>
            </a:pPr>
            <a:r>
              <a:rPr sz="1382" b="1" i="0" lang="en-US" spc="0">
                <a:solidFill>
                  <a:srgbClr val="181818"/>
                </a:solidFill>
                <a:latin typeface="DejaVu Sans"/>
                <a:ea typeface="DejaVu Sans"/>
                <a:effectLst/>
              </a:rPr>
              <a:t>Host pool: backed FULL + valid state</a:t>
            </a:r>
          </a:p>
        </p:txBody>
      </p:sp>
      <p:sp>
        <p:nvSpPr>
          <p:cNvPr id="376" name="FULL"/>
          <p:cNvSpPr txBox="1"/>
          <p:nvPr/>
        </p:nvSpPr>
        <p:spPr>
          <a:xfrm>
            <a:off x="7322315" y="6287242"/>
            <a:ext cx="533481" cy="217621"/>
          </a:xfrm>
          <a:prstGeom prst="rect">
            <a:avLst/>
          </a:prstGeom>
          <a:noFill/>
          <a:effectLst/>
        </p:spPr>
        <p:txBody>
          <a:bodyPr wrap="none" lIns="0" rIns="0" tIns="0" bIns="0" anchor="t">
            <a:spAutoFit/>
          </a:bodyPr>
          <a:lstStyle/>
          <a:p>
            <a:pPr algn="l">
              <a:lnSpc>
                <a:spcPct val="100000"/>
              </a:lnSpc>
              <a:spcBef>
                <a:spcPts val="0"/>
              </a:spcBef>
              <a:spcAft>
                <a:spcPts val="0"/>
              </a:spcAft>
            </a:pPr>
            <a:r>
              <a:rPr sz="1267" b="1" i="0" lang="en-US" spc="0">
                <a:solidFill>
                  <a:srgbClr val="181818"/>
                </a:solidFill>
                <a:latin typeface="DejaVu Sans"/>
                <a:ea typeface="DejaVu Sans"/>
                <a:effectLst/>
              </a:rPr>
              <a:t>FULL</a:t>
            </a:r>
          </a:p>
        </p:txBody>
      </p:sp>
      <p:sp>
        <p:nvSpPr>
          <p:cNvPr id="377" name="rect 376"/>
          <p:cNvSpPr/>
          <p:nvPr/>
        </p:nvSpPr>
        <p:spPr>
          <a:xfrm>
            <a:off x="7922145" y="6232380"/>
            <a:ext cx="351120" cy="234080"/>
          </a:xfrm>
          <a:prstGeom prst="roundRect">
            <a:avLst>
              <a:gd name="adj" fmla="val 3125"/>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8" name="rect 377"/>
          <p:cNvSpPr/>
          <p:nvPr/>
        </p:nvSpPr>
        <p:spPr>
          <a:xfrm>
            <a:off x="8317155" y="6232380"/>
            <a:ext cx="351120" cy="234080"/>
          </a:xfrm>
          <a:prstGeom prst="roundRect">
            <a:avLst>
              <a:gd name="adj" fmla="val 3125"/>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9" name="rect 378"/>
          <p:cNvSpPr/>
          <p:nvPr/>
        </p:nvSpPr>
        <p:spPr>
          <a:xfrm>
            <a:off x="8712165" y="6232380"/>
            <a:ext cx="351120" cy="234080"/>
          </a:xfrm>
          <a:prstGeom prst="roundRect">
            <a:avLst>
              <a:gd name="adj" fmla="val 3125"/>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0" name="rect 379"/>
          <p:cNvSpPr/>
          <p:nvPr/>
        </p:nvSpPr>
        <p:spPr>
          <a:xfrm>
            <a:off x="9107175" y="6232380"/>
            <a:ext cx="351120" cy="234080"/>
          </a:xfrm>
          <a:prstGeom prst="roundRect">
            <a:avLst>
              <a:gd name="adj" fmla="val 3125"/>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1" name="rect 380"/>
          <p:cNvSpPr/>
          <p:nvPr/>
        </p:nvSpPr>
        <p:spPr>
          <a:xfrm>
            <a:off x="9502185" y="6232380"/>
            <a:ext cx="351120" cy="234080"/>
          </a:xfrm>
          <a:prstGeom prst="roundRect">
            <a:avLst>
              <a:gd name="adj" fmla="val 3125"/>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2" name="rect 381"/>
          <p:cNvSpPr/>
          <p:nvPr/>
        </p:nvSpPr>
        <p:spPr>
          <a:xfrm>
            <a:off x="9897195" y="6232380"/>
            <a:ext cx="351120" cy="234080"/>
          </a:xfrm>
          <a:prstGeom prst="roundRect">
            <a:avLst>
              <a:gd name="adj" fmla="val 3125"/>
            </a:avLst>
          </a:prstGeom>
          <a:solidFill>
            <a:srgbClr val="B5D68B"/>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3" name="rect 382"/>
          <p:cNvSpPr/>
          <p:nvPr/>
        </p:nvSpPr>
        <p:spPr>
          <a:xfrm>
            <a:off x="10292205" y="6232380"/>
            <a:ext cx="351120" cy="234080"/>
          </a:xfrm>
          <a:prstGeom prst="roundRect">
            <a:avLst>
              <a:gd name="adj" fmla="val 3125"/>
            </a:avLst>
          </a:prstGeom>
          <a:solidFill>
            <a:srgbClr val="B5D68B"/>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4" name="rect 383"/>
          <p:cNvSpPr/>
          <p:nvPr/>
        </p:nvSpPr>
        <p:spPr>
          <a:xfrm>
            <a:off x="10687215" y="6232380"/>
            <a:ext cx="351120" cy="234080"/>
          </a:xfrm>
          <a:prstGeom prst="roundRect">
            <a:avLst>
              <a:gd name="adj" fmla="val 3125"/>
            </a:avLst>
          </a:prstGeom>
          <a:solidFill>
            <a:srgbClr val="B5D68B"/>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5" name="rect 384"/>
          <p:cNvSpPr/>
          <p:nvPr/>
        </p:nvSpPr>
        <p:spPr>
          <a:xfrm>
            <a:off x="11082225" y="6232380"/>
            <a:ext cx="351120" cy="234080"/>
          </a:xfrm>
          <a:prstGeom prst="roundRect">
            <a:avLst>
              <a:gd name="adj" fmla="val 3125"/>
            </a:avLst>
          </a:prstGeom>
          <a:solidFill>
            <a:srgbClr val="FFFFFF"/>
          </a:solidFill>
          <a:ln w="13167">
            <a:solidFill>
              <a:srgbClr val="969696"/>
            </a:solidFill>
            <a:prstDash val="dash"/>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6" name="rect 385"/>
          <p:cNvSpPr/>
          <p:nvPr/>
        </p:nvSpPr>
        <p:spPr>
          <a:xfrm>
            <a:off x="11477235" y="6232380"/>
            <a:ext cx="351120" cy="234080"/>
          </a:xfrm>
          <a:prstGeom prst="roundRect">
            <a:avLst>
              <a:gd name="adj" fmla="val 3125"/>
            </a:avLst>
          </a:prstGeom>
          <a:solidFill>
            <a:srgbClr val="FFFFFF"/>
          </a:solidFill>
          <a:ln w="13167">
            <a:solidFill>
              <a:srgbClr val="969696"/>
            </a:solidFill>
            <a:prstDash val="dash"/>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7" name="rect 386"/>
          <p:cNvSpPr/>
          <p:nvPr/>
        </p:nvSpPr>
        <p:spPr>
          <a:xfrm>
            <a:off x="11872245" y="6232380"/>
            <a:ext cx="351120" cy="234080"/>
          </a:xfrm>
          <a:prstGeom prst="roundRect">
            <a:avLst>
              <a:gd name="adj" fmla="val 3125"/>
            </a:avLst>
          </a:prstGeom>
          <a:solidFill>
            <a:srgbClr val="FFFFFF"/>
          </a:solidFill>
          <a:ln w="13167">
            <a:solidFill>
              <a:srgbClr val="969696"/>
            </a:solidFill>
            <a:prstDash val="dash"/>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8" name="rect 387"/>
          <p:cNvSpPr/>
          <p:nvPr/>
        </p:nvSpPr>
        <p:spPr>
          <a:xfrm>
            <a:off x="12267255" y="6232380"/>
            <a:ext cx="351120" cy="234080"/>
          </a:xfrm>
          <a:prstGeom prst="roundRect">
            <a:avLst>
              <a:gd name="adj" fmla="val 3125"/>
            </a:avLst>
          </a:prstGeom>
          <a:solidFill>
            <a:srgbClr val="FFFFFF"/>
          </a:solidFill>
          <a:ln w="13167">
            <a:solidFill>
              <a:srgbClr val="969696"/>
            </a:solidFill>
            <a:prstDash val="dash"/>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9" name="Mamba"/>
          <p:cNvSpPr txBox="1"/>
          <p:nvPr/>
        </p:nvSpPr>
        <p:spPr>
          <a:xfrm>
            <a:off x="7322315" y="6689568"/>
            <a:ext cx="748073" cy="217621"/>
          </a:xfrm>
          <a:prstGeom prst="rect">
            <a:avLst/>
          </a:prstGeom>
          <a:noFill/>
          <a:effectLst/>
        </p:spPr>
        <p:txBody>
          <a:bodyPr wrap="none" lIns="0" rIns="0" tIns="0" bIns="0" anchor="t">
            <a:spAutoFit/>
          </a:bodyPr>
          <a:lstStyle/>
          <a:p>
            <a:pPr algn="l">
              <a:lnSpc>
                <a:spcPct val="100000"/>
              </a:lnSpc>
              <a:spcBef>
                <a:spcPts val="0"/>
              </a:spcBef>
              <a:spcAft>
                <a:spcPts val="0"/>
              </a:spcAft>
            </a:pPr>
            <a:r>
              <a:rPr sz="1267" b="1" i="0" lang="en-US" spc="0">
                <a:solidFill>
                  <a:srgbClr val="181818"/>
                </a:solidFill>
                <a:latin typeface="DejaVu Sans"/>
                <a:ea typeface="DejaVu Sans"/>
                <a:effectLst/>
              </a:rPr>
              <a:t>Mamba</a:t>
            </a:r>
          </a:p>
        </p:txBody>
      </p:sp>
      <p:sp>
        <p:nvSpPr>
          <p:cNvPr id="390" name="rect 389"/>
          <p:cNvSpPr/>
          <p:nvPr/>
        </p:nvSpPr>
        <p:spPr>
          <a:xfrm>
            <a:off x="7987980" y="6649335"/>
            <a:ext cx="271606" cy="202845"/>
          </a:xfrm>
          <a:prstGeom prst="roundRect">
            <a:avLst>
              <a:gd name="adj" fmla="val 3606"/>
            </a:avLst>
          </a:prstGeom>
          <a:solidFill>
            <a:srgbClr val="E9A6BF"/>
          </a:solidFill>
          <a:ln w="10972">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1" name="rect 390"/>
          <p:cNvSpPr/>
          <p:nvPr/>
        </p:nvSpPr>
        <p:spPr>
          <a:xfrm>
            <a:off x="8022360" y="6683716"/>
            <a:ext cx="51571" cy="48133"/>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2" name="rect 391"/>
          <p:cNvSpPr/>
          <p:nvPr/>
        </p:nvSpPr>
        <p:spPr>
          <a:xfrm>
            <a:off x="8097998" y="6683716"/>
            <a:ext cx="51571" cy="48133"/>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3" name="rect 392"/>
          <p:cNvSpPr/>
          <p:nvPr/>
        </p:nvSpPr>
        <p:spPr>
          <a:xfrm>
            <a:off x="8173635" y="6683716"/>
            <a:ext cx="51571" cy="48133"/>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4" name="rect 393"/>
          <p:cNvSpPr/>
          <p:nvPr/>
        </p:nvSpPr>
        <p:spPr>
          <a:xfrm>
            <a:off x="8022360" y="6759353"/>
            <a:ext cx="51571" cy="48133"/>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5" name="rect 394"/>
          <p:cNvSpPr/>
          <p:nvPr/>
        </p:nvSpPr>
        <p:spPr>
          <a:xfrm>
            <a:off x="8097998" y="6759353"/>
            <a:ext cx="51571" cy="48133"/>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6" name="rect 395"/>
          <p:cNvSpPr/>
          <p:nvPr/>
        </p:nvSpPr>
        <p:spPr>
          <a:xfrm>
            <a:off x="8173635" y="6759353"/>
            <a:ext cx="51571" cy="48133"/>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7" name="P: c*"/>
          <p:cNvSpPr txBox="1"/>
          <p:nvPr/>
        </p:nvSpPr>
        <p:spPr>
          <a:xfrm>
            <a:off x="8324470" y="6673109"/>
            <a:ext cx="425413" cy="201162"/>
          </a:xfrm>
          <a:prstGeom prst="rect">
            <a:avLst/>
          </a:prstGeom>
          <a:noFill/>
          <a:effectLst/>
        </p:spPr>
        <p:txBody>
          <a:bodyPr wrap="none" lIns="0" rIns="0" tIns="0" bIns="0" anchor="t">
            <a:spAutoFit/>
          </a:bodyPr>
          <a:lstStyle/>
          <a:p>
            <a:pPr algn="l">
              <a:lnSpc>
                <a:spcPct val="100000"/>
              </a:lnSpc>
              <a:spcBef>
                <a:spcPts val="0"/>
              </a:spcBef>
              <a:spcAft>
                <a:spcPts val="0"/>
              </a:spcAft>
            </a:pPr>
            <a:r>
              <a:rPr sz="1152" b="0" i="0" lang="en-US" spc="0">
                <a:solidFill>
                  <a:srgbClr val="181818"/>
                </a:solidFill>
                <a:latin typeface="DejaVu Sans"/>
                <a:ea typeface="DejaVu Sans"/>
                <a:effectLst/>
              </a:rPr>
              <a:t>P: c*</a:t>
            </a:r>
          </a:p>
        </p:txBody>
      </p:sp>
      <p:sp>
        <p:nvSpPr>
          <p:cNvPr id="398" name="rect 397"/>
          <p:cNvSpPr/>
          <p:nvPr/>
        </p:nvSpPr>
        <p:spPr>
          <a:xfrm>
            <a:off x="9158380" y="6649335"/>
            <a:ext cx="271606" cy="202845"/>
          </a:xfrm>
          <a:prstGeom prst="roundRect">
            <a:avLst>
              <a:gd name="adj" fmla="val 3606"/>
            </a:avLst>
          </a:prstGeom>
          <a:solidFill>
            <a:srgbClr val="FFFFFF"/>
          </a:solidFill>
          <a:ln w="10972">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9" name="rect 398"/>
          <p:cNvSpPr/>
          <p:nvPr/>
        </p:nvSpPr>
        <p:spPr>
          <a:xfrm>
            <a:off x="9192760" y="6683716"/>
            <a:ext cx="51571" cy="48133"/>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0" name="rect 399"/>
          <p:cNvSpPr/>
          <p:nvPr/>
        </p:nvSpPr>
        <p:spPr>
          <a:xfrm>
            <a:off x="9268398" y="6683716"/>
            <a:ext cx="51571" cy="48133"/>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1" name="rect 400"/>
          <p:cNvSpPr/>
          <p:nvPr/>
        </p:nvSpPr>
        <p:spPr>
          <a:xfrm>
            <a:off x="9344035" y="6683716"/>
            <a:ext cx="51571" cy="48133"/>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2" name="rect 401"/>
          <p:cNvSpPr/>
          <p:nvPr/>
        </p:nvSpPr>
        <p:spPr>
          <a:xfrm>
            <a:off x="9192760" y="6759353"/>
            <a:ext cx="51571" cy="48133"/>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3" name="rect 402"/>
          <p:cNvSpPr/>
          <p:nvPr/>
        </p:nvSpPr>
        <p:spPr>
          <a:xfrm>
            <a:off x="9268398" y="6759353"/>
            <a:ext cx="51571" cy="48133"/>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4" name="rect 403"/>
          <p:cNvSpPr/>
          <p:nvPr/>
        </p:nvSpPr>
        <p:spPr>
          <a:xfrm>
            <a:off x="9344035" y="6759353"/>
            <a:ext cx="51571" cy="48133"/>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5" name="C1: ∅"/>
          <p:cNvSpPr txBox="1"/>
          <p:nvPr/>
        </p:nvSpPr>
        <p:spPr>
          <a:xfrm>
            <a:off x="9494870" y="6673109"/>
            <a:ext cx="506278" cy="201162"/>
          </a:xfrm>
          <a:prstGeom prst="rect">
            <a:avLst/>
          </a:prstGeom>
          <a:noFill/>
          <a:effectLst/>
        </p:spPr>
        <p:txBody>
          <a:bodyPr wrap="none" lIns="0" rIns="0" tIns="0" bIns="0" anchor="t">
            <a:spAutoFit/>
          </a:bodyPr>
          <a:lstStyle/>
          <a:p>
            <a:pPr algn="l">
              <a:lnSpc>
                <a:spcPct val="100000"/>
              </a:lnSpc>
              <a:spcBef>
                <a:spcPts val="0"/>
              </a:spcBef>
              <a:spcAft>
                <a:spcPts val="0"/>
              </a:spcAft>
            </a:pPr>
            <a:r>
              <a:rPr sz="1152" b="0" i="0" lang="en-US" spc="0">
                <a:solidFill>
                  <a:srgbClr val="181818"/>
                </a:solidFill>
                <a:latin typeface="DejaVu Sans"/>
                <a:ea typeface="DejaVu Sans"/>
                <a:effectLst/>
              </a:rPr>
              <a:t>C1: ∅</a:t>
            </a:r>
          </a:p>
        </p:txBody>
      </p:sp>
      <p:sp>
        <p:nvSpPr>
          <p:cNvPr id="406" name="rect 405"/>
          <p:cNvSpPr/>
          <p:nvPr/>
        </p:nvSpPr>
        <p:spPr>
          <a:xfrm>
            <a:off x="10328780" y="6649335"/>
            <a:ext cx="271606" cy="202845"/>
          </a:xfrm>
          <a:prstGeom prst="roundRect">
            <a:avLst>
              <a:gd name="adj" fmla="val 3606"/>
            </a:avLst>
          </a:prstGeom>
          <a:solidFill>
            <a:srgbClr val="F2BD7D"/>
          </a:solidFill>
          <a:ln w="10972">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7" name="rect 406"/>
          <p:cNvSpPr/>
          <p:nvPr/>
        </p:nvSpPr>
        <p:spPr>
          <a:xfrm>
            <a:off x="10363160" y="6683716"/>
            <a:ext cx="51571" cy="48133"/>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8" name="rect 407"/>
          <p:cNvSpPr/>
          <p:nvPr/>
        </p:nvSpPr>
        <p:spPr>
          <a:xfrm>
            <a:off x="10438798" y="6683716"/>
            <a:ext cx="51571" cy="48133"/>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9" name="rect 408"/>
          <p:cNvSpPr/>
          <p:nvPr/>
        </p:nvSpPr>
        <p:spPr>
          <a:xfrm>
            <a:off x="10514435" y="6683716"/>
            <a:ext cx="51571" cy="48133"/>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0" name="rect 409"/>
          <p:cNvSpPr/>
          <p:nvPr/>
        </p:nvSpPr>
        <p:spPr>
          <a:xfrm>
            <a:off x="10363160" y="6759353"/>
            <a:ext cx="51571" cy="48133"/>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1" name="rect 410"/>
          <p:cNvSpPr/>
          <p:nvPr/>
        </p:nvSpPr>
        <p:spPr>
          <a:xfrm>
            <a:off x="10438798" y="6759353"/>
            <a:ext cx="51571" cy="48133"/>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2" name="rect 411"/>
          <p:cNvSpPr/>
          <p:nvPr/>
        </p:nvSpPr>
        <p:spPr>
          <a:xfrm>
            <a:off x="10514435" y="6759353"/>
            <a:ext cx="51571" cy="48133"/>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3" name="C2"/>
          <p:cNvSpPr txBox="1"/>
          <p:nvPr/>
        </p:nvSpPr>
        <p:spPr>
          <a:xfrm>
            <a:off x="10665270" y="6673109"/>
            <a:ext cx="283028" cy="201162"/>
          </a:xfrm>
          <a:prstGeom prst="rect">
            <a:avLst/>
          </a:prstGeom>
          <a:noFill/>
          <a:effectLst/>
        </p:spPr>
        <p:txBody>
          <a:bodyPr wrap="none" lIns="0" rIns="0" tIns="0" bIns="0" anchor="t">
            <a:spAutoFit/>
          </a:bodyPr>
          <a:lstStyle/>
          <a:p>
            <a:pPr algn="l">
              <a:lnSpc>
                <a:spcPct val="100000"/>
              </a:lnSpc>
              <a:spcBef>
                <a:spcPts val="0"/>
              </a:spcBef>
              <a:spcAft>
                <a:spcPts val="0"/>
              </a:spcAft>
            </a:pPr>
            <a:r>
              <a:rPr sz="1152" b="0" i="0" lang="en-US" spc="0">
                <a:solidFill>
                  <a:srgbClr val="181818"/>
                </a:solidFill>
                <a:latin typeface="DejaVu Sans"/>
                <a:ea typeface="DejaVu Sans"/>
                <a:effectLst/>
              </a:rPr>
              <a:t>C2</a:t>
            </a:r>
          </a:p>
        </p:txBody>
      </p:sp>
      <p:sp>
        <p:nvSpPr>
          <p:cNvPr id="414" name="rect 413"/>
          <p:cNvSpPr/>
          <p:nvPr/>
        </p:nvSpPr>
        <p:spPr>
          <a:xfrm>
            <a:off x="11499180" y="6649335"/>
            <a:ext cx="271606" cy="202845"/>
          </a:xfrm>
          <a:prstGeom prst="roundRect">
            <a:avLst>
              <a:gd name="adj" fmla="val 3606"/>
            </a:avLst>
          </a:prstGeom>
          <a:solidFill>
            <a:srgbClr val="FFFFFF"/>
          </a:solidFill>
          <a:ln w="10972">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5" name="rect 414"/>
          <p:cNvSpPr/>
          <p:nvPr/>
        </p:nvSpPr>
        <p:spPr>
          <a:xfrm>
            <a:off x="11533560" y="6683716"/>
            <a:ext cx="51571" cy="48133"/>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6" name="rect 415"/>
          <p:cNvSpPr/>
          <p:nvPr/>
        </p:nvSpPr>
        <p:spPr>
          <a:xfrm>
            <a:off x="11609198" y="6683716"/>
            <a:ext cx="51571" cy="48133"/>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7" name="rect 416"/>
          <p:cNvSpPr/>
          <p:nvPr/>
        </p:nvSpPr>
        <p:spPr>
          <a:xfrm>
            <a:off x="11684835" y="6683716"/>
            <a:ext cx="51571" cy="48133"/>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8" name="rect 417"/>
          <p:cNvSpPr/>
          <p:nvPr/>
        </p:nvSpPr>
        <p:spPr>
          <a:xfrm>
            <a:off x="11533560" y="6759353"/>
            <a:ext cx="51571" cy="48133"/>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9" name="rect 418"/>
          <p:cNvSpPr/>
          <p:nvPr/>
        </p:nvSpPr>
        <p:spPr>
          <a:xfrm>
            <a:off x="11609198" y="6759353"/>
            <a:ext cx="51571" cy="48133"/>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0" name="rect 419"/>
          <p:cNvSpPr/>
          <p:nvPr/>
        </p:nvSpPr>
        <p:spPr>
          <a:xfrm>
            <a:off x="11684835" y="6759353"/>
            <a:ext cx="51571" cy="48133"/>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1" name="free"/>
          <p:cNvSpPr txBox="1"/>
          <p:nvPr/>
        </p:nvSpPr>
        <p:spPr>
          <a:xfrm>
            <a:off x="11835670" y="6673109"/>
            <a:ext cx="376265" cy="201162"/>
          </a:xfrm>
          <a:prstGeom prst="rect">
            <a:avLst/>
          </a:prstGeom>
          <a:noFill/>
          <a:effectLst/>
        </p:spPr>
        <p:txBody>
          <a:bodyPr wrap="none" lIns="0" rIns="0" tIns="0" bIns="0" anchor="t">
            <a:spAutoFit/>
          </a:bodyPr>
          <a:lstStyle/>
          <a:p>
            <a:pPr algn="l">
              <a:lnSpc>
                <a:spcPct val="100000"/>
              </a:lnSpc>
              <a:spcBef>
                <a:spcPts val="0"/>
              </a:spcBef>
              <a:spcAft>
                <a:spcPts val="0"/>
              </a:spcAft>
            </a:pPr>
            <a:r>
              <a:rPr sz="1152" b="0" i="0" lang="en-US" spc="0">
                <a:solidFill>
                  <a:srgbClr val="181818"/>
                </a:solidFill>
                <a:latin typeface="DejaVu Sans"/>
                <a:ea typeface="DejaVu Sans"/>
                <a:effectLst/>
              </a:rPr>
              <a:t>free</a:t>
            </a:r>
          </a:p>
        </p:txBody>
      </p:sp>
      <p:cxnSp>
        <p:nvCxnSpPr>
          <p:cNvPr id="422" name="path 421"/>
          <p:cNvCxnSpPr/>
          <p:nvPr/>
        </p:nvCxnSpPr>
        <p:spPr>
          <a:xfrm>
            <a:off x="6912675" y="6334790"/>
            <a:ext cx="277970" cy="0"/>
          </a:xfrm>
          <a:prstGeom prst="line">
            <a:avLst/>
          </a:prstGeom>
          <a:ln w="14630">
            <a:solidFill>
              <a:srgbClr val="BF3335"/>
            </a:solidFill>
          </a:ln>
          <a:effectLst/>
        </p:spPr>
        <p:style>
          <a:lnRef idx="2">
            <a:schemeClr val="accent1"/>
          </a:lnRef>
          <a:fillRef idx="0">
            <a:schemeClr val="accent1"/>
          </a:fillRef>
          <a:effectRef idx="0">
            <a:schemeClr val="accent1"/>
          </a:effectRef>
          <a:fontRef idx="minor">
            <a:schemeClr val="tx1"/>
          </a:fontRef>
        </p:style>
      </p:cxnSp>
      <p:sp>
        <p:nvSpPr>
          <p:cNvPr id="423" name="arrowhead 422"/>
          <p:cNvSpPr/>
          <p:nvPr/>
        </p:nvSpPr>
        <p:spPr>
          <a:xfrm>
            <a:off x="7102865" y="6283585"/>
            <a:ext cx="102410" cy="102410"/>
          </a:xfrm>
          <a:custGeom>
            <a:avLst/>
            <a:gdLst/>
            <a:ahLst/>
            <a:cxnLst/>
            <a:rect l="l" t="t" r="r" b="b"/>
            <a:pathLst>
              <a:path w="14" h="14">
                <a:moveTo>
                  <a:pt x="14" y="7"/>
                </a:moveTo>
                <a:lnTo>
                  <a:pt x="0" y="14"/>
                </a:lnTo>
                <a:lnTo>
                  <a:pt x="0" y="0"/>
                </a:lnTo>
                <a:close/>
              </a:path>
            </a:pathLst>
          </a:custGeom>
          <a:solidFill>
            <a:srgbClr val="BF333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4" name="rect 423"/>
          <p:cNvSpPr/>
          <p:nvPr/>
        </p:nvSpPr>
        <p:spPr>
          <a:xfrm>
            <a:off x="7212590" y="7168700"/>
            <a:ext cx="5588660" cy="1082620"/>
          </a:xfrm>
          <a:prstGeom prst="roundRect">
            <a:avLst>
              <a:gd name="adj" fmla="val 1351"/>
            </a:avLst>
          </a:prstGeom>
          <a:solidFill>
            <a:srgbClr val="EEEEEE"/>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5" name="rect 424"/>
          <p:cNvSpPr/>
          <p:nvPr/>
        </p:nvSpPr>
        <p:spPr>
          <a:xfrm>
            <a:off x="7212590" y="7168700"/>
            <a:ext cx="5588660" cy="277970"/>
          </a:xfrm>
          <a:prstGeom prst="roundRect">
            <a:avLst>
              <a:gd name="adj" fmla="val 5263"/>
            </a:avLst>
          </a:prstGeom>
          <a:solidFill>
            <a:srgbClr val="9DC38B"/>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6" name="Restore-aware native admission"/>
          <p:cNvSpPr txBox="1"/>
          <p:nvPr/>
        </p:nvSpPr>
        <p:spPr>
          <a:xfrm>
            <a:off x="7315000" y="7204251"/>
            <a:ext cx="3279663" cy="235909"/>
          </a:xfrm>
          <a:prstGeom prst="rect">
            <a:avLst/>
          </a:prstGeom>
          <a:noFill/>
          <a:effectLst/>
        </p:spPr>
        <p:txBody>
          <a:bodyPr wrap="none" lIns="0" rIns="0" tIns="0" bIns="0" anchor="t">
            <a:spAutoFit/>
          </a:bodyPr>
          <a:lstStyle/>
          <a:p>
            <a:pPr algn="l">
              <a:lnSpc>
                <a:spcPct val="100000"/>
              </a:lnSpc>
              <a:spcBef>
                <a:spcPts val="0"/>
              </a:spcBef>
              <a:spcAft>
                <a:spcPts val="0"/>
              </a:spcAft>
            </a:pPr>
            <a:r>
              <a:rPr sz="1382" b="1" i="0" lang="en-US" spc="0">
                <a:solidFill>
                  <a:srgbClr val="181818"/>
                </a:solidFill>
                <a:latin typeface="DejaVu Sans"/>
                <a:ea typeface="DejaVu Sans"/>
                <a:effectLst/>
              </a:rPr>
              <a:t>Restore-aware native admission</a:t>
            </a:r>
          </a:p>
        </p:txBody>
      </p:sp>
      <p:sp>
        <p:nvSpPr>
          <p:cNvPr id="427" name="rect 426"/>
          <p:cNvSpPr/>
          <p:nvPr/>
        </p:nvSpPr>
        <p:spPr>
          <a:xfrm>
            <a:off x="7336945" y="7534450"/>
            <a:ext cx="1265495" cy="182875"/>
          </a:xfrm>
          <a:prstGeom prst="roundRect">
            <a:avLst>
              <a:gd name="adj" fmla="val 8000"/>
            </a:avLst>
          </a:prstGeom>
          <a:solidFill>
            <a:srgbClr val="FFFFF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8" name="rect 427"/>
          <p:cNvSpPr/>
          <p:nvPr/>
        </p:nvSpPr>
        <p:spPr>
          <a:xfrm>
            <a:off x="7344260" y="7541765"/>
            <a:ext cx="73150" cy="168245"/>
          </a:xfrm>
          <a:prstGeom prst="rect">
            <a:avLst/>
          </a:prstGeom>
          <a:solidFill>
            <a:srgbClr val="DDDDD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9" name="old"/>
          <p:cNvSpPr txBox="1"/>
          <p:nvPr/>
        </p:nvSpPr>
        <p:spPr>
          <a:xfrm>
            <a:off x="7522863" y="7543301"/>
            <a:ext cx="330404" cy="192019"/>
          </a:xfrm>
          <a:prstGeom prst="rect">
            <a:avLst/>
          </a:prstGeom>
          <a:noFill/>
          <a:effectLst/>
        </p:spPr>
        <p:txBody>
          <a:bodyPr wrap="none" lIns="0" rIns="0" tIns="0" bIns="0" anchor="t">
            <a:spAutoFit/>
          </a:bodyPr>
          <a:lstStyle/>
          <a:p>
            <a:pPr algn="ctr">
              <a:lnSpc>
                <a:spcPct val="100000"/>
              </a:lnSpc>
              <a:spcBef>
                <a:spcPts val="0"/>
              </a:spcBef>
              <a:spcAft>
                <a:spcPts val="0"/>
              </a:spcAft>
            </a:pPr>
            <a:r>
              <a:rPr sz="1094" b="1" i="0" lang="en-US" spc="0">
                <a:solidFill>
                  <a:srgbClr val="181818"/>
                </a:solidFill>
                <a:latin typeface="DejaVu Sans"/>
                <a:ea typeface="DejaVu Sans"/>
                <a:effectLst/>
              </a:rPr>
              <a:t>old</a:t>
            </a:r>
          </a:p>
        </p:txBody>
      </p:sp>
      <p:sp>
        <p:nvSpPr>
          <p:cNvPr id="430" name="rect 429"/>
          <p:cNvSpPr/>
          <p:nvPr/>
        </p:nvSpPr>
        <p:spPr>
          <a:xfrm>
            <a:off x="8053815" y="7563710"/>
            <a:ext cx="109725" cy="124355"/>
          </a:xfrm>
          <a:prstGeom prst="roundRect">
            <a:avLst>
              <a:gd name="adj" fmla="val 6666"/>
            </a:avLst>
          </a:prstGeom>
          <a:solidFill>
            <a:srgbClr val="FFFFFF"/>
          </a:solidFill>
          <a:ln w="13167">
            <a:solidFill>
              <a:srgbClr val="181818"/>
            </a:solidFill>
            <a:prstDash val="dash"/>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1" name="rect 430"/>
          <p:cNvSpPr/>
          <p:nvPr/>
        </p:nvSpPr>
        <p:spPr>
          <a:xfrm>
            <a:off x="8200115" y="7563710"/>
            <a:ext cx="109725" cy="124355"/>
          </a:xfrm>
          <a:prstGeom prst="roundRect">
            <a:avLst>
              <a:gd name="adj" fmla="val 6666"/>
            </a:avLst>
          </a:prstGeom>
          <a:solidFill>
            <a:srgbClr val="FFFFFF"/>
          </a:solidFill>
          <a:ln w="13167">
            <a:solidFill>
              <a:srgbClr val="181818"/>
            </a:solidFill>
            <a:prstDash val="dash"/>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2" name="rect 431"/>
          <p:cNvSpPr/>
          <p:nvPr/>
        </p:nvSpPr>
        <p:spPr>
          <a:xfrm>
            <a:off x="8346415" y="7563710"/>
            <a:ext cx="109725" cy="124355"/>
          </a:xfrm>
          <a:prstGeom prst="roundRect">
            <a:avLst>
              <a:gd name="adj" fmla="val 6666"/>
            </a:avLst>
          </a:prstGeom>
          <a:solidFill>
            <a:srgbClr val="FFFFFF"/>
          </a:solidFill>
          <a:ln w="13167">
            <a:solidFill>
              <a:srgbClr val="181818"/>
            </a:solidFill>
            <a:prstDash val="dash"/>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3" name="rect 432"/>
          <p:cNvSpPr/>
          <p:nvPr/>
        </p:nvSpPr>
        <p:spPr>
          <a:xfrm>
            <a:off x="7336945" y="7753900"/>
            <a:ext cx="1265495" cy="182875"/>
          </a:xfrm>
          <a:prstGeom prst="roundRect">
            <a:avLst>
              <a:gd name="adj" fmla="val 8000"/>
            </a:avLst>
          </a:prstGeom>
          <a:solidFill>
            <a:srgbClr val="FFFFF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4" name="rect 433"/>
          <p:cNvSpPr/>
          <p:nvPr/>
        </p:nvSpPr>
        <p:spPr>
          <a:xfrm>
            <a:off x="7344260" y="7761215"/>
            <a:ext cx="73150" cy="168245"/>
          </a:xfrm>
          <a:prstGeom prst="rect">
            <a:avLst/>
          </a:prstGeom>
          <a:solidFill>
            <a:srgbClr val="B5D68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5" name="hit"/>
          <p:cNvSpPr txBox="1"/>
          <p:nvPr/>
        </p:nvSpPr>
        <p:spPr>
          <a:xfrm>
            <a:off x="7537665" y="7762751"/>
            <a:ext cx="300801" cy="192019"/>
          </a:xfrm>
          <a:prstGeom prst="rect">
            <a:avLst/>
          </a:prstGeom>
          <a:noFill/>
          <a:effectLst/>
        </p:spPr>
        <p:txBody>
          <a:bodyPr wrap="none" lIns="0" rIns="0" tIns="0" bIns="0" anchor="t">
            <a:spAutoFit/>
          </a:bodyPr>
          <a:lstStyle/>
          <a:p>
            <a:pPr algn="ctr">
              <a:lnSpc>
                <a:spcPct val="100000"/>
              </a:lnSpc>
              <a:spcBef>
                <a:spcPts val="0"/>
              </a:spcBef>
              <a:spcAft>
                <a:spcPts val="0"/>
              </a:spcAft>
            </a:pPr>
            <a:r>
              <a:rPr sz="1094" b="1" i="0" lang="en-US" spc="0">
                <a:solidFill>
                  <a:srgbClr val="181818"/>
                </a:solidFill>
                <a:latin typeface="DejaVu Sans"/>
                <a:ea typeface="DejaVu Sans"/>
                <a:effectLst/>
              </a:rPr>
              <a:t>hit</a:t>
            </a:r>
          </a:p>
        </p:txBody>
      </p:sp>
      <p:sp>
        <p:nvSpPr>
          <p:cNvPr id="436" name="rect 435"/>
          <p:cNvSpPr/>
          <p:nvPr/>
        </p:nvSpPr>
        <p:spPr>
          <a:xfrm>
            <a:off x="8053815" y="7783160"/>
            <a:ext cx="109725" cy="124355"/>
          </a:xfrm>
          <a:prstGeom prst="roundRect">
            <a:avLst>
              <a:gd name="adj" fmla="val 6666"/>
            </a:avLst>
          </a:prstGeom>
          <a:solidFill>
            <a:srgbClr val="B5D68B"/>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7" name="rect 436"/>
          <p:cNvSpPr/>
          <p:nvPr/>
        </p:nvSpPr>
        <p:spPr>
          <a:xfrm>
            <a:off x="8200115" y="7783160"/>
            <a:ext cx="109725" cy="124355"/>
          </a:xfrm>
          <a:prstGeom prst="roundRect">
            <a:avLst>
              <a:gd name="adj" fmla="val 6666"/>
            </a:avLst>
          </a:prstGeom>
          <a:solidFill>
            <a:srgbClr val="B5D68B"/>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8" name="rect 437"/>
          <p:cNvSpPr/>
          <p:nvPr/>
        </p:nvSpPr>
        <p:spPr>
          <a:xfrm>
            <a:off x="8346415" y="7783160"/>
            <a:ext cx="109725" cy="124355"/>
          </a:xfrm>
          <a:prstGeom prst="roundRect">
            <a:avLst>
              <a:gd name="adj" fmla="val 6666"/>
            </a:avLst>
          </a:prstGeom>
          <a:solidFill>
            <a:srgbClr val="B5D68B"/>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9" name="rect 438"/>
          <p:cNvSpPr/>
          <p:nvPr/>
        </p:nvSpPr>
        <p:spPr>
          <a:xfrm>
            <a:off x="7336945" y="7973350"/>
            <a:ext cx="1265495" cy="182875"/>
          </a:xfrm>
          <a:prstGeom prst="roundRect">
            <a:avLst>
              <a:gd name="adj" fmla="val 8000"/>
            </a:avLst>
          </a:prstGeom>
          <a:solidFill>
            <a:srgbClr val="FFFFF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0" name="rect 439"/>
          <p:cNvSpPr/>
          <p:nvPr/>
        </p:nvSpPr>
        <p:spPr>
          <a:xfrm>
            <a:off x="7344260" y="7980665"/>
            <a:ext cx="73150" cy="168245"/>
          </a:xfrm>
          <a:prstGeom prst="rect">
            <a:avLst/>
          </a:prstGeom>
          <a:solidFill>
            <a:srgbClr val="E9A6B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1" name="P"/>
          <p:cNvSpPr txBox="1"/>
          <p:nvPr/>
        </p:nvSpPr>
        <p:spPr>
          <a:xfrm>
            <a:off x="7593241" y="7982201"/>
            <a:ext cx="189647" cy="192019"/>
          </a:xfrm>
          <a:prstGeom prst="rect">
            <a:avLst/>
          </a:prstGeom>
          <a:noFill/>
          <a:effectLst/>
        </p:spPr>
        <p:txBody>
          <a:bodyPr wrap="none" lIns="0" rIns="0" tIns="0" bIns="0" anchor="t">
            <a:spAutoFit/>
          </a:bodyPr>
          <a:lstStyle/>
          <a:p>
            <a:pPr algn="ctr">
              <a:lnSpc>
                <a:spcPct val="100000"/>
              </a:lnSpc>
              <a:spcBef>
                <a:spcPts val="0"/>
              </a:spcBef>
              <a:spcAft>
                <a:spcPts val="0"/>
              </a:spcAft>
            </a:pPr>
            <a:r>
              <a:rPr sz="1094" b="1" i="0" lang="en-US" spc="0">
                <a:solidFill>
                  <a:srgbClr val="181818"/>
                </a:solidFill>
                <a:latin typeface="DejaVu Sans"/>
                <a:ea typeface="DejaVu Sans"/>
                <a:effectLst/>
              </a:rPr>
              <a:t>P</a:t>
            </a:r>
          </a:p>
        </p:txBody>
      </p:sp>
      <p:sp>
        <p:nvSpPr>
          <p:cNvPr id="442" name="rect 441"/>
          <p:cNvSpPr/>
          <p:nvPr/>
        </p:nvSpPr>
        <p:spPr>
          <a:xfrm>
            <a:off x="8053815" y="8002610"/>
            <a:ext cx="109725" cy="124355"/>
          </a:xfrm>
          <a:prstGeom prst="roundRect">
            <a:avLst>
              <a:gd name="adj" fmla="val 6666"/>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3" name="rect 442"/>
          <p:cNvSpPr/>
          <p:nvPr/>
        </p:nvSpPr>
        <p:spPr>
          <a:xfrm>
            <a:off x="8200115" y="8002610"/>
            <a:ext cx="109725" cy="124355"/>
          </a:xfrm>
          <a:prstGeom prst="roundRect">
            <a:avLst>
              <a:gd name="adj" fmla="val 6666"/>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4" name="rect 443"/>
          <p:cNvSpPr/>
          <p:nvPr/>
        </p:nvSpPr>
        <p:spPr>
          <a:xfrm>
            <a:off x="8346415" y="8002610"/>
            <a:ext cx="109725" cy="124355"/>
          </a:xfrm>
          <a:prstGeom prst="roundRect">
            <a:avLst>
              <a:gd name="adj" fmla="val 6666"/>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5" name="path 444"/>
          <p:cNvSpPr/>
          <p:nvPr/>
        </p:nvSpPr>
        <p:spPr>
          <a:xfrm>
            <a:off x="8624385" y="7622230"/>
            <a:ext cx="738815" cy="168245"/>
          </a:xfrm>
          <a:custGeom>
            <a:avLst/>
            <a:gdLst/>
            <a:ahLst/>
            <a:cxnLst/>
            <a:rect l="l" t="t" r="r" b="b"/>
            <a:pathLst>
              <a:path w="101" h="23">
                <a:moveTo>
                  <a:pt x="0" y="0"/>
                </a:moveTo>
                <a:lnTo>
                  <a:pt x="65" y="0"/>
                </a:lnTo>
                <a:lnTo>
                  <a:pt x="65" y="23"/>
                </a:lnTo>
                <a:lnTo>
                  <a:pt x="101" y="23"/>
                </a:lnTo>
              </a:path>
            </a:pathLst>
          </a:custGeom>
          <a:noFill/>
          <a:ln w="13167">
            <a:solidFill>
              <a:srgbClr val="181818"/>
            </a:solidFill>
            <a:prstDash val="dash"/>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6" name="arrowhead 445"/>
          <p:cNvSpPr/>
          <p:nvPr/>
        </p:nvSpPr>
        <p:spPr>
          <a:xfrm>
            <a:off x="9282735" y="7746585"/>
            <a:ext cx="95095" cy="87780"/>
          </a:xfrm>
          <a:custGeom>
            <a:avLst/>
            <a:gdLst/>
            <a:ahLst/>
            <a:cxnLst/>
            <a:rect l="l" t="t" r="r" b="b"/>
            <a:pathLst>
              <a:path w="13" h="12">
                <a:moveTo>
                  <a:pt x="13" y="6"/>
                </a:moveTo>
                <a:lnTo>
                  <a:pt x="0" y="12"/>
                </a:lnTo>
                <a:lnTo>
                  <a:pt x="0" y="0"/>
                </a:lnTo>
                <a:close/>
              </a:path>
            </a:pathLst>
          </a:custGeom>
          <a:solidFill>
            <a:srgbClr val="18181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447" name="path 446"/>
          <p:cNvCxnSpPr/>
          <p:nvPr/>
        </p:nvCxnSpPr>
        <p:spPr>
          <a:xfrm>
            <a:off x="8624385" y="7841680"/>
            <a:ext cx="738815" cy="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sp>
        <p:nvSpPr>
          <p:cNvPr id="448" name="arrowhead 447"/>
          <p:cNvSpPr/>
          <p:nvPr/>
        </p:nvSpPr>
        <p:spPr>
          <a:xfrm>
            <a:off x="9275420" y="7790475"/>
            <a:ext cx="102410" cy="102410"/>
          </a:xfrm>
          <a:custGeom>
            <a:avLst/>
            <a:gdLst/>
            <a:ahLst/>
            <a:cxnLst/>
            <a:rect l="l" t="t" r="r" b="b"/>
            <a:pathLst>
              <a:path w="14" h="14">
                <a:moveTo>
                  <a:pt x="14" y="7"/>
                </a:moveTo>
                <a:lnTo>
                  <a:pt x="0" y="14"/>
                </a:lnTo>
                <a:lnTo>
                  <a:pt x="0" y="0"/>
                </a:lnTo>
                <a:close/>
              </a:path>
            </a:pathLst>
          </a:custGeom>
          <a:solidFill>
            <a:srgbClr val="18181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9" name="path 448"/>
          <p:cNvSpPr/>
          <p:nvPr/>
        </p:nvSpPr>
        <p:spPr>
          <a:xfrm>
            <a:off x="8624385" y="7914830"/>
            <a:ext cx="738815" cy="146300"/>
          </a:xfrm>
          <a:custGeom>
            <a:avLst/>
            <a:gdLst/>
            <a:ahLst/>
            <a:cxnLst/>
            <a:rect l="l" t="t" r="r" b="b"/>
            <a:pathLst>
              <a:path w="101" h="20">
                <a:moveTo>
                  <a:pt x="0" y="20"/>
                </a:moveTo>
                <a:lnTo>
                  <a:pt x="65" y="20"/>
                </a:lnTo>
                <a:lnTo>
                  <a:pt x="65" y="0"/>
                </a:lnTo>
                <a:lnTo>
                  <a:pt x="101" y="0"/>
                </a:lnTo>
              </a:path>
            </a:pathLst>
          </a:custGeom>
          <a:noFill/>
          <a:ln w="14630">
            <a:solidFill>
              <a:srgbClr val="BF333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0" name="arrowhead 449"/>
          <p:cNvSpPr/>
          <p:nvPr/>
        </p:nvSpPr>
        <p:spPr>
          <a:xfrm>
            <a:off x="9275420" y="7863625"/>
            <a:ext cx="102410" cy="102410"/>
          </a:xfrm>
          <a:custGeom>
            <a:avLst/>
            <a:gdLst/>
            <a:ahLst/>
            <a:cxnLst/>
            <a:rect l="l" t="t" r="r" b="b"/>
            <a:pathLst>
              <a:path w="14" h="14">
                <a:moveTo>
                  <a:pt x="14" y="7"/>
                </a:moveTo>
                <a:lnTo>
                  <a:pt x="0" y="14"/>
                </a:lnTo>
                <a:lnTo>
                  <a:pt x="0" y="0"/>
                </a:lnTo>
                <a:close/>
              </a:path>
            </a:pathLst>
          </a:custGeom>
          <a:solidFill>
            <a:srgbClr val="BF333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1" name="PrefillAdder"/>
          <p:cNvSpPr txBox="1"/>
          <p:nvPr/>
        </p:nvSpPr>
        <p:spPr>
          <a:xfrm>
            <a:off x="9429035" y="7560052"/>
            <a:ext cx="1216347" cy="226765"/>
          </a:xfrm>
          <a:prstGeom prst="rect">
            <a:avLst/>
          </a:prstGeom>
          <a:noFill/>
          <a:effectLst/>
        </p:spPr>
        <p:txBody>
          <a:bodyPr wrap="none" lIns="0" rIns="0" tIns="0" bIns="0" anchor="t">
            <a:spAutoFit/>
          </a:bodyPr>
          <a:lstStyle/>
          <a:p>
            <a:pPr algn="l">
              <a:lnSpc>
                <a:spcPct val="100000"/>
              </a:lnSpc>
              <a:spcBef>
                <a:spcPts val="0"/>
              </a:spcBef>
              <a:spcAft>
                <a:spcPts val="0"/>
              </a:spcAft>
            </a:pPr>
            <a:r>
              <a:rPr sz="1324" b="1" i="0" lang="en-US" spc="0">
                <a:solidFill>
                  <a:srgbClr val="181818"/>
                </a:solidFill>
                <a:latin typeface="DejaVu Sans"/>
                <a:ea typeface="DejaVu Sans"/>
                <a:effectLst/>
              </a:rPr>
              <a:t>PrefillAdder</a:t>
            </a:r>
          </a:p>
        </p:txBody>
      </p:sp>
      <p:sp>
        <p:nvSpPr>
          <p:cNvPr id="452" name="KV ∧ slot"/>
          <p:cNvSpPr txBox="1"/>
          <p:nvPr/>
        </p:nvSpPr>
        <p:spPr>
          <a:xfrm>
            <a:off x="9638427" y="7839851"/>
            <a:ext cx="912546" cy="243224"/>
          </a:xfrm>
          <a:prstGeom prst="rect">
            <a:avLst/>
          </a:prstGeom>
          <a:noFill/>
          <a:effectLst/>
        </p:spPr>
        <p:txBody>
          <a:bodyPr wrap="none" lIns="0" rIns="0" tIns="0" bIns="0" anchor="t">
            <a:spAutoFit/>
          </a:bodyPr>
          <a:lstStyle/>
          <a:p>
            <a:pPr algn="ctr">
              <a:lnSpc>
                <a:spcPct val="100000"/>
              </a:lnSpc>
              <a:spcBef>
                <a:spcPts val="0"/>
              </a:spcBef>
              <a:spcAft>
                <a:spcPts val="0"/>
              </a:spcAft>
            </a:pPr>
            <a:r>
              <a:rPr sz="1439" b="0" i="0" lang="en-US" spc="0">
                <a:solidFill>
                  <a:srgbClr val="181818"/>
                </a:solidFill>
                <a:latin typeface="DejaVu Sans"/>
                <a:ea typeface="DejaVu Sans"/>
                <a:effectLst/>
              </a:rPr>
              <a:t>KV ∧ slot</a:t>
            </a:r>
          </a:p>
        </p:txBody>
      </p:sp>
      <p:cxnSp>
        <p:nvCxnSpPr>
          <p:cNvPr id="453" name="path 452"/>
          <p:cNvCxnSpPr/>
          <p:nvPr/>
        </p:nvCxnSpPr>
        <p:spPr>
          <a:xfrm>
            <a:off x="10826200" y="7856310"/>
            <a:ext cx="570570" cy="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sp>
        <p:nvSpPr>
          <p:cNvPr id="454" name="arrowhead 453"/>
          <p:cNvSpPr/>
          <p:nvPr/>
        </p:nvSpPr>
        <p:spPr>
          <a:xfrm>
            <a:off x="11308990" y="7805105"/>
            <a:ext cx="102410" cy="102410"/>
          </a:xfrm>
          <a:custGeom>
            <a:avLst/>
            <a:gdLst/>
            <a:ahLst/>
            <a:cxnLst/>
            <a:rect l="l" t="t" r="r" b="b"/>
            <a:pathLst>
              <a:path w="14" h="14">
                <a:moveTo>
                  <a:pt x="14" y="7"/>
                </a:moveTo>
                <a:lnTo>
                  <a:pt x="0" y="14"/>
                </a:lnTo>
                <a:lnTo>
                  <a:pt x="0" y="0"/>
                </a:lnTo>
                <a:close/>
              </a:path>
            </a:pathLst>
          </a:custGeom>
          <a:solidFill>
            <a:srgbClr val="18181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455" name="line 454"/>
          <p:cNvCxnSpPr/>
          <p:nvPr/>
        </p:nvCxnSpPr>
        <p:spPr>
          <a:xfrm>
            <a:off x="11660110" y="7461300"/>
            <a:ext cx="0" cy="7315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456" name="line 455"/>
          <p:cNvCxnSpPr/>
          <p:nvPr/>
        </p:nvCxnSpPr>
        <p:spPr>
          <a:xfrm>
            <a:off x="11660110" y="8141595"/>
            <a:ext cx="0" cy="7315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457" name="line 456"/>
          <p:cNvCxnSpPr/>
          <p:nvPr/>
        </p:nvCxnSpPr>
        <p:spPr>
          <a:xfrm>
            <a:off x="11806410" y="7461300"/>
            <a:ext cx="0" cy="7315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458" name="line 457"/>
          <p:cNvCxnSpPr/>
          <p:nvPr/>
        </p:nvCxnSpPr>
        <p:spPr>
          <a:xfrm>
            <a:off x="11806410" y="8141595"/>
            <a:ext cx="0" cy="7315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459" name="line 458"/>
          <p:cNvCxnSpPr/>
          <p:nvPr/>
        </p:nvCxnSpPr>
        <p:spPr>
          <a:xfrm>
            <a:off x="11952710" y="7461300"/>
            <a:ext cx="0" cy="7315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460" name="line 459"/>
          <p:cNvCxnSpPr/>
          <p:nvPr/>
        </p:nvCxnSpPr>
        <p:spPr>
          <a:xfrm>
            <a:off x="11952710" y="8141595"/>
            <a:ext cx="0" cy="7315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461" name="line 460"/>
          <p:cNvCxnSpPr/>
          <p:nvPr/>
        </p:nvCxnSpPr>
        <p:spPr>
          <a:xfrm>
            <a:off x="12099010" y="7461300"/>
            <a:ext cx="0" cy="7315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462" name="line 461"/>
          <p:cNvCxnSpPr/>
          <p:nvPr/>
        </p:nvCxnSpPr>
        <p:spPr>
          <a:xfrm>
            <a:off x="12099010" y="8141595"/>
            <a:ext cx="0" cy="7315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463" name="line 462"/>
          <p:cNvCxnSpPr/>
          <p:nvPr/>
        </p:nvCxnSpPr>
        <p:spPr>
          <a:xfrm>
            <a:off x="12245310" y="7461300"/>
            <a:ext cx="0" cy="7315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464" name="line 463"/>
          <p:cNvCxnSpPr/>
          <p:nvPr/>
        </p:nvCxnSpPr>
        <p:spPr>
          <a:xfrm>
            <a:off x="12245310" y="8141595"/>
            <a:ext cx="0" cy="7315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465" name="line 464"/>
          <p:cNvCxnSpPr/>
          <p:nvPr/>
        </p:nvCxnSpPr>
        <p:spPr>
          <a:xfrm>
            <a:off x="12391610" y="7461300"/>
            <a:ext cx="0" cy="7315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466" name="line 465"/>
          <p:cNvCxnSpPr/>
          <p:nvPr/>
        </p:nvCxnSpPr>
        <p:spPr>
          <a:xfrm>
            <a:off x="12391610" y="8141595"/>
            <a:ext cx="0" cy="7315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467" name="line 466"/>
          <p:cNvCxnSpPr/>
          <p:nvPr/>
        </p:nvCxnSpPr>
        <p:spPr>
          <a:xfrm>
            <a:off x="12537910" y="7461300"/>
            <a:ext cx="0" cy="7315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468" name="line 467"/>
          <p:cNvCxnSpPr/>
          <p:nvPr/>
        </p:nvCxnSpPr>
        <p:spPr>
          <a:xfrm>
            <a:off x="12537910" y="8141595"/>
            <a:ext cx="0" cy="7315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469" name="line 468"/>
          <p:cNvCxnSpPr/>
          <p:nvPr/>
        </p:nvCxnSpPr>
        <p:spPr>
          <a:xfrm>
            <a:off x="11484550" y="7644175"/>
            <a:ext cx="73150" cy="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470" name="line 469"/>
          <p:cNvCxnSpPr/>
          <p:nvPr/>
        </p:nvCxnSpPr>
        <p:spPr>
          <a:xfrm>
            <a:off x="12625690" y="7644175"/>
            <a:ext cx="73150" cy="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471" name="line 470"/>
          <p:cNvCxnSpPr/>
          <p:nvPr/>
        </p:nvCxnSpPr>
        <p:spPr>
          <a:xfrm>
            <a:off x="11484550" y="7790475"/>
            <a:ext cx="73150" cy="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472" name="line 471"/>
          <p:cNvCxnSpPr/>
          <p:nvPr/>
        </p:nvCxnSpPr>
        <p:spPr>
          <a:xfrm>
            <a:off x="12625690" y="7790475"/>
            <a:ext cx="73150" cy="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473" name="line 472"/>
          <p:cNvCxnSpPr/>
          <p:nvPr/>
        </p:nvCxnSpPr>
        <p:spPr>
          <a:xfrm>
            <a:off x="11484550" y="7936775"/>
            <a:ext cx="73150" cy="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474" name="line 473"/>
          <p:cNvCxnSpPr/>
          <p:nvPr/>
        </p:nvCxnSpPr>
        <p:spPr>
          <a:xfrm>
            <a:off x="12625690" y="7936775"/>
            <a:ext cx="73150" cy="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475" name="line 474"/>
          <p:cNvCxnSpPr/>
          <p:nvPr/>
        </p:nvCxnSpPr>
        <p:spPr>
          <a:xfrm>
            <a:off x="11484550" y="8083075"/>
            <a:ext cx="73150" cy="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476" name="line 475"/>
          <p:cNvCxnSpPr/>
          <p:nvPr/>
        </p:nvCxnSpPr>
        <p:spPr>
          <a:xfrm>
            <a:off x="12625690" y="8083075"/>
            <a:ext cx="73150" cy="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sp>
        <p:nvSpPr>
          <p:cNvPr id="477" name="rect 476"/>
          <p:cNvSpPr/>
          <p:nvPr/>
        </p:nvSpPr>
        <p:spPr>
          <a:xfrm>
            <a:off x="11557700" y="7534450"/>
            <a:ext cx="1067990" cy="607145"/>
          </a:xfrm>
          <a:prstGeom prst="roundRect">
            <a:avLst>
              <a:gd name="adj" fmla="val 2409"/>
            </a:avLst>
          </a:prstGeom>
          <a:solidFill>
            <a:srgbClr val="A9CEE8"/>
          </a:solidFill>
          <a:ln w="14630">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78" name="GPU"/>
          <p:cNvSpPr txBox="1"/>
          <p:nvPr/>
        </p:nvSpPr>
        <p:spPr>
          <a:xfrm>
            <a:off x="11840142" y="7581998"/>
            <a:ext cx="503106" cy="235909"/>
          </a:xfrm>
          <a:prstGeom prst="rect">
            <a:avLst/>
          </a:prstGeom>
          <a:noFill/>
          <a:effectLst/>
        </p:spPr>
        <p:txBody>
          <a:bodyPr wrap="none" lIns="0" rIns="0" tIns="0" bIns="0" anchor="t">
            <a:spAutoFit/>
          </a:bodyPr>
          <a:lstStyle/>
          <a:p>
            <a:pPr algn="ctr">
              <a:lnSpc>
                <a:spcPct val="100000"/>
              </a:lnSpc>
              <a:spcBef>
                <a:spcPts val="0"/>
              </a:spcBef>
              <a:spcAft>
                <a:spcPts val="0"/>
              </a:spcAft>
            </a:pPr>
            <a:r>
              <a:rPr sz="1382" b="1" i="0" lang="en-US" spc="0">
                <a:solidFill>
                  <a:srgbClr val="181818"/>
                </a:solidFill>
                <a:latin typeface="DejaVu Sans"/>
                <a:ea typeface="DejaVu Sans"/>
                <a:effectLst/>
              </a:rPr>
              <a:t>GPU</a:t>
            </a:r>
          </a:p>
        </p:txBody>
      </p:sp>
      <p:sp>
        <p:nvSpPr>
          <p:cNvPr id="479" name="rect 478"/>
          <p:cNvSpPr/>
          <p:nvPr/>
        </p:nvSpPr>
        <p:spPr>
          <a:xfrm>
            <a:off x="11652795" y="7841680"/>
            <a:ext cx="270655" cy="62178"/>
          </a:xfrm>
          <a:prstGeom prst="roundRect">
            <a:avLst>
              <a:gd name="adj" fmla="val 11764"/>
            </a:avLst>
          </a:prstGeom>
          <a:solidFill>
            <a:srgbClr val="E9A6BF"/>
          </a:solidFill>
          <a:ln w="8046">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0" name="rect 479"/>
          <p:cNvSpPr/>
          <p:nvPr/>
        </p:nvSpPr>
        <p:spPr>
          <a:xfrm>
            <a:off x="11955148" y="7841680"/>
            <a:ext cx="270655" cy="62178"/>
          </a:xfrm>
          <a:prstGeom prst="roundRect">
            <a:avLst>
              <a:gd name="adj" fmla="val 11764"/>
            </a:avLst>
          </a:prstGeom>
          <a:solidFill>
            <a:srgbClr val="B5D68B"/>
          </a:solidFill>
          <a:ln w="8046">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1" name="rect 480"/>
          <p:cNvSpPr/>
          <p:nvPr/>
        </p:nvSpPr>
        <p:spPr>
          <a:xfrm>
            <a:off x="12257502" y="7841680"/>
            <a:ext cx="270655" cy="62178"/>
          </a:xfrm>
          <a:prstGeom prst="roundRect">
            <a:avLst>
              <a:gd name="adj" fmla="val 11764"/>
            </a:avLst>
          </a:prstGeom>
          <a:solidFill>
            <a:srgbClr val="F2BD7D"/>
          </a:solidFill>
          <a:ln w="8046">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2" name="rect 481"/>
          <p:cNvSpPr/>
          <p:nvPr/>
        </p:nvSpPr>
        <p:spPr>
          <a:xfrm>
            <a:off x="11652795" y="7951405"/>
            <a:ext cx="270655" cy="62178"/>
          </a:xfrm>
          <a:prstGeom prst="roundRect">
            <a:avLst>
              <a:gd name="adj" fmla="val 11764"/>
            </a:avLst>
          </a:prstGeom>
          <a:solidFill>
            <a:srgbClr val="E9A6BF"/>
          </a:solidFill>
          <a:ln w="8046">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3" name="rect 482"/>
          <p:cNvSpPr/>
          <p:nvPr/>
        </p:nvSpPr>
        <p:spPr>
          <a:xfrm>
            <a:off x="11955148" y="7951405"/>
            <a:ext cx="270655" cy="62178"/>
          </a:xfrm>
          <a:prstGeom prst="roundRect">
            <a:avLst>
              <a:gd name="adj" fmla="val 11764"/>
            </a:avLst>
          </a:prstGeom>
          <a:solidFill>
            <a:srgbClr val="FFFFFF"/>
          </a:solidFill>
          <a:ln w="8046">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4" name="rect 483"/>
          <p:cNvSpPr/>
          <p:nvPr/>
        </p:nvSpPr>
        <p:spPr>
          <a:xfrm>
            <a:off x="12257502" y="7951405"/>
            <a:ext cx="270655" cy="62178"/>
          </a:xfrm>
          <a:prstGeom prst="roundRect">
            <a:avLst>
              <a:gd name="adj" fmla="val 11764"/>
            </a:avLst>
          </a:prstGeom>
          <a:solidFill>
            <a:srgbClr val="FFFFFF"/>
          </a:solidFill>
          <a:ln w="8046">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485" name="path 484"/>
          <p:cNvCxnSpPr/>
          <p:nvPr/>
        </p:nvCxnSpPr>
        <p:spPr>
          <a:xfrm>
            <a:off x="6912675" y="7614915"/>
            <a:ext cx="270655" cy="0"/>
          </a:xfrm>
          <a:prstGeom prst="line">
            <a:avLst/>
          </a:prstGeom>
          <a:ln w="14630">
            <a:solidFill>
              <a:srgbClr val="BF3335"/>
            </a:solidFill>
          </a:ln>
          <a:effectLst/>
        </p:spPr>
        <p:style>
          <a:lnRef idx="2">
            <a:schemeClr val="accent1"/>
          </a:lnRef>
          <a:fillRef idx="0">
            <a:schemeClr val="accent1"/>
          </a:fillRef>
          <a:effectRef idx="0">
            <a:schemeClr val="accent1"/>
          </a:effectRef>
          <a:fontRef idx="minor">
            <a:schemeClr val="tx1"/>
          </a:fontRef>
        </p:style>
      </p:cxnSp>
      <p:sp>
        <p:nvSpPr>
          <p:cNvPr id="486" name="arrowhead 485"/>
          <p:cNvSpPr/>
          <p:nvPr/>
        </p:nvSpPr>
        <p:spPr>
          <a:xfrm>
            <a:off x="7095550" y="7563710"/>
            <a:ext cx="102410" cy="102410"/>
          </a:xfrm>
          <a:custGeom>
            <a:avLst/>
            <a:gdLst/>
            <a:ahLst/>
            <a:cxnLst/>
            <a:rect l="l" t="t" r="r" b="b"/>
            <a:pathLst>
              <a:path w="14" h="14">
                <a:moveTo>
                  <a:pt x="14" y="7"/>
                </a:moveTo>
                <a:lnTo>
                  <a:pt x="0" y="14"/>
                </a:lnTo>
                <a:lnTo>
                  <a:pt x="0" y="0"/>
                </a:lnTo>
                <a:close/>
              </a:path>
            </a:pathLst>
          </a:custGeom>
          <a:solidFill>
            <a:srgbClr val="BF333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7" name="path 486"/>
          <p:cNvSpPr/>
          <p:nvPr/>
        </p:nvSpPr>
        <p:spPr>
          <a:xfrm>
            <a:off x="124355" y="4374370"/>
            <a:ext cx="12589115" cy="4089085"/>
          </a:xfrm>
          <a:custGeom>
            <a:avLst/>
            <a:gdLst/>
            <a:ahLst/>
            <a:cxnLst/>
            <a:rect l="l" t="t" r="r" b="b"/>
            <a:pathLst>
              <a:path w="1721" h="559">
                <a:moveTo>
                  <a:pt x="1721" y="531"/>
                </a:moveTo>
                <a:lnTo>
                  <a:pt x="1721" y="559"/>
                </a:lnTo>
                <a:lnTo>
                  <a:pt x="0" y="559"/>
                </a:lnTo>
                <a:lnTo>
                  <a:pt x="0" y="0"/>
                </a:lnTo>
                <a:lnTo>
                  <a:pt x="29" y="0"/>
                </a:lnTo>
              </a:path>
            </a:pathLst>
          </a:custGeom>
          <a:noFill/>
          <a:ln w="13167">
            <a:solidFill>
              <a:srgbClr val="2676B8"/>
            </a:solidFill>
            <a:prstDash val="dash"/>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8" name="arrowhead 487"/>
          <p:cNvSpPr/>
          <p:nvPr/>
        </p:nvSpPr>
        <p:spPr>
          <a:xfrm>
            <a:off x="256025" y="4330480"/>
            <a:ext cx="95095" cy="87780"/>
          </a:xfrm>
          <a:custGeom>
            <a:avLst/>
            <a:gdLst/>
            <a:ahLst/>
            <a:cxnLst/>
            <a:rect l="l" t="t" r="r" b="b"/>
            <a:pathLst>
              <a:path w="13" h="12">
                <a:moveTo>
                  <a:pt x="13" y="6"/>
                </a:moveTo>
                <a:lnTo>
                  <a:pt x="0" y="12"/>
                </a:lnTo>
                <a:lnTo>
                  <a:pt x="0" y="0"/>
                </a:lnTo>
                <a:close/>
              </a:path>
            </a:pathLst>
          </a:custGeom>
          <a:solidFill>
            <a:srgbClr val="2676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9" name="rect 488"/>
          <p:cNvSpPr/>
          <p:nvPr/>
        </p:nvSpPr>
        <p:spPr>
          <a:xfrm>
            <a:off x="351120" y="8602440"/>
            <a:ext cx="182875" cy="131670"/>
          </a:xfrm>
          <a:prstGeom prst="rect">
            <a:avLst/>
          </a:prstGeom>
          <a:solidFill>
            <a:srgbClr val="E9A6BF"/>
          </a:solidFill>
          <a:ln w="8046">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90" name="Parent"/>
          <p:cNvSpPr txBox="1"/>
          <p:nvPr/>
        </p:nvSpPr>
        <p:spPr>
          <a:xfrm>
            <a:off x="614460" y="8547578"/>
            <a:ext cx="579542" cy="208478"/>
          </a:xfrm>
          <a:prstGeom prst="rect">
            <a:avLst/>
          </a:prstGeom>
          <a:noFill/>
          <a:effectLst/>
        </p:spPr>
        <p:txBody>
          <a:bodyPr wrap="none" lIns="0" rIns="0" tIns="0" bIns="0" anchor="t">
            <a:spAutoFit/>
          </a:bodyPr>
          <a:lstStyle/>
          <a:p>
            <a:pPr algn="l">
              <a:lnSpc>
                <a:spcPct val="100000"/>
              </a:lnSpc>
              <a:spcBef>
                <a:spcPts val="0"/>
              </a:spcBef>
              <a:spcAft>
                <a:spcPts val="0"/>
              </a:spcAft>
            </a:pPr>
            <a:r>
              <a:rPr sz="1209" b="0" i="0" lang="en-US" spc="0">
                <a:solidFill>
                  <a:srgbClr val="181818"/>
                </a:solidFill>
                <a:latin typeface="DejaVu Sans"/>
                <a:ea typeface="DejaVu Sans"/>
                <a:effectLst/>
              </a:rPr>
              <a:t>Parent</a:t>
            </a:r>
          </a:p>
        </p:txBody>
      </p:sp>
      <p:sp>
        <p:nvSpPr>
          <p:cNvPr id="491" name="rect 490"/>
          <p:cNvSpPr/>
          <p:nvPr/>
        </p:nvSpPr>
        <p:spPr>
          <a:xfrm>
            <a:off x="1843380" y="8602440"/>
            <a:ext cx="182875" cy="131670"/>
          </a:xfrm>
          <a:prstGeom prst="rect">
            <a:avLst/>
          </a:prstGeom>
          <a:solidFill>
            <a:srgbClr val="B5D68B"/>
          </a:solidFill>
          <a:ln w="8046">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92" name="Child 1"/>
          <p:cNvSpPr txBox="1"/>
          <p:nvPr/>
        </p:nvSpPr>
        <p:spPr>
          <a:xfrm>
            <a:off x="2106720" y="8547578"/>
            <a:ext cx="621861" cy="208478"/>
          </a:xfrm>
          <a:prstGeom prst="rect">
            <a:avLst/>
          </a:prstGeom>
          <a:noFill/>
          <a:effectLst/>
        </p:spPr>
        <p:txBody>
          <a:bodyPr wrap="none" lIns="0" rIns="0" tIns="0" bIns="0" anchor="t">
            <a:spAutoFit/>
          </a:bodyPr>
          <a:lstStyle/>
          <a:p>
            <a:pPr algn="l">
              <a:lnSpc>
                <a:spcPct val="100000"/>
              </a:lnSpc>
              <a:spcBef>
                <a:spcPts val="0"/>
              </a:spcBef>
              <a:spcAft>
                <a:spcPts val="0"/>
              </a:spcAft>
            </a:pPr>
            <a:r>
              <a:rPr sz="1209" b="0" i="0" lang="en-US" spc="0">
                <a:solidFill>
                  <a:srgbClr val="181818"/>
                </a:solidFill>
                <a:latin typeface="DejaVu Sans"/>
                <a:ea typeface="DejaVu Sans"/>
                <a:effectLst/>
              </a:rPr>
              <a:t>Child 1</a:t>
            </a:r>
          </a:p>
        </p:txBody>
      </p:sp>
      <p:sp>
        <p:nvSpPr>
          <p:cNvPr id="493" name="rect 492"/>
          <p:cNvSpPr/>
          <p:nvPr/>
        </p:nvSpPr>
        <p:spPr>
          <a:xfrm>
            <a:off x="3364900" y="8602440"/>
            <a:ext cx="182875" cy="131670"/>
          </a:xfrm>
          <a:prstGeom prst="rect">
            <a:avLst/>
          </a:prstGeom>
          <a:solidFill>
            <a:srgbClr val="F2BD7D"/>
          </a:solidFill>
          <a:ln w="8046">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94" name="Child 2"/>
          <p:cNvSpPr txBox="1"/>
          <p:nvPr/>
        </p:nvSpPr>
        <p:spPr>
          <a:xfrm>
            <a:off x="3628240" y="8547578"/>
            <a:ext cx="621861" cy="208478"/>
          </a:xfrm>
          <a:prstGeom prst="rect">
            <a:avLst/>
          </a:prstGeom>
          <a:noFill/>
          <a:effectLst/>
        </p:spPr>
        <p:txBody>
          <a:bodyPr wrap="none" lIns="0" rIns="0" tIns="0" bIns="0" anchor="t">
            <a:spAutoFit/>
          </a:bodyPr>
          <a:lstStyle/>
          <a:p>
            <a:pPr algn="l">
              <a:lnSpc>
                <a:spcPct val="100000"/>
              </a:lnSpc>
              <a:spcBef>
                <a:spcPts val="0"/>
              </a:spcBef>
              <a:spcAft>
                <a:spcPts val="0"/>
              </a:spcAft>
            </a:pPr>
            <a:r>
              <a:rPr sz="1209" b="0" i="0" lang="en-US" spc="0">
                <a:solidFill>
                  <a:srgbClr val="181818"/>
                </a:solidFill>
                <a:latin typeface="DejaVu Sans"/>
                <a:ea typeface="DejaVu Sans"/>
                <a:effectLst/>
              </a:rPr>
              <a:t>Child 2</a:t>
            </a:r>
          </a:p>
        </p:txBody>
      </p:sp>
      <p:cxnSp>
        <p:nvCxnSpPr>
          <p:cNvPr id="495" name="path 494"/>
          <p:cNvCxnSpPr/>
          <p:nvPr/>
        </p:nvCxnSpPr>
        <p:spPr>
          <a:xfrm>
            <a:off x="5200965" y="8660960"/>
            <a:ext cx="329175" cy="0"/>
          </a:xfrm>
          <a:prstGeom prst="line">
            <a:avLst/>
          </a:prstGeom>
          <a:ln w="14630">
            <a:solidFill>
              <a:srgbClr val="BF3335"/>
            </a:solidFill>
          </a:ln>
          <a:effectLst/>
        </p:spPr>
        <p:style>
          <a:lnRef idx="2">
            <a:schemeClr val="accent1"/>
          </a:lnRef>
          <a:fillRef idx="0">
            <a:schemeClr val="accent1"/>
          </a:fillRef>
          <a:effectRef idx="0">
            <a:schemeClr val="accent1"/>
          </a:effectRef>
          <a:fontRef idx="minor">
            <a:schemeClr val="tx1"/>
          </a:fontRef>
        </p:style>
      </p:cxnSp>
      <p:sp>
        <p:nvSpPr>
          <p:cNvPr id="496" name="arrowhead 495"/>
          <p:cNvSpPr/>
          <p:nvPr/>
        </p:nvSpPr>
        <p:spPr>
          <a:xfrm>
            <a:off x="5442360" y="8609755"/>
            <a:ext cx="102410" cy="102410"/>
          </a:xfrm>
          <a:custGeom>
            <a:avLst/>
            <a:gdLst/>
            <a:ahLst/>
            <a:cxnLst/>
            <a:rect l="l" t="t" r="r" b="b"/>
            <a:pathLst>
              <a:path w="14" h="14">
                <a:moveTo>
                  <a:pt x="14" y="7"/>
                </a:moveTo>
                <a:lnTo>
                  <a:pt x="0" y="14"/>
                </a:lnTo>
                <a:lnTo>
                  <a:pt x="0" y="0"/>
                </a:lnTo>
                <a:close/>
              </a:path>
            </a:pathLst>
          </a:custGeom>
          <a:solidFill>
            <a:srgbClr val="BF333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97" name="Runtime action"/>
          <p:cNvSpPr txBox="1"/>
          <p:nvPr/>
        </p:nvSpPr>
        <p:spPr>
          <a:xfrm>
            <a:off x="5654495" y="8554892"/>
            <a:ext cx="1251094" cy="208478"/>
          </a:xfrm>
          <a:prstGeom prst="rect">
            <a:avLst/>
          </a:prstGeom>
          <a:noFill/>
          <a:effectLst/>
        </p:spPr>
        <p:txBody>
          <a:bodyPr wrap="none" lIns="0" rIns="0" tIns="0" bIns="0" anchor="t">
            <a:spAutoFit/>
          </a:bodyPr>
          <a:lstStyle/>
          <a:p>
            <a:pPr algn="l">
              <a:lnSpc>
                <a:spcPct val="100000"/>
              </a:lnSpc>
              <a:spcBef>
                <a:spcPts val="0"/>
              </a:spcBef>
              <a:spcAft>
                <a:spcPts val="0"/>
              </a:spcAft>
            </a:pPr>
            <a:r>
              <a:rPr sz="1209" b="0" i="0" lang="en-US" spc="0">
                <a:solidFill>
                  <a:srgbClr val="181818"/>
                </a:solidFill>
                <a:latin typeface="DejaVu Sans"/>
                <a:ea typeface="DejaVu Sans"/>
                <a:effectLst/>
              </a:rPr>
              <a:t>Runtime action</a:t>
            </a:r>
          </a:p>
        </p:txBody>
      </p:sp>
      <p:cxnSp>
        <p:nvCxnSpPr>
          <p:cNvPr id="498" name="path 497"/>
          <p:cNvCxnSpPr/>
          <p:nvPr/>
        </p:nvCxnSpPr>
        <p:spPr>
          <a:xfrm>
            <a:off x="7929460" y="8660960"/>
            <a:ext cx="329175" cy="0"/>
          </a:xfrm>
          <a:prstGeom prst="line">
            <a:avLst/>
          </a:prstGeom>
          <a:ln w="14630">
            <a:solidFill>
              <a:srgbClr val="2676B8"/>
            </a:solidFill>
            <a:prstDash val="dash"/>
          </a:ln>
          <a:effectLst/>
        </p:spPr>
        <p:style>
          <a:lnRef idx="2">
            <a:schemeClr val="accent1"/>
          </a:lnRef>
          <a:fillRef idx="0">
            <a:schemeClr val="accent1"/>
          </a:fillRef>
          <a:effectRef idx="0">
            <a:schemeClr val="accent1"/>
          </a:effectRef>
          <a:fontRef idx="minor">
            <a:schemeClr val="tx1"/>
          </a:fontRef>
        </p:style>
      </p:cxnSp>
      <p:sp>
        <p:nvSpPr>
          <p:cNvPr id="499" name="arrowhead 498"/>
          <p:cNvSpPr/>
          <p:nvPr/>
        </p:nvSpPr>
        <p:spPr>
          <a:xfrm>
            <a:off x="8170855" y="8609755"/>
            <a:ext cx="102410" cy="102410"/>
          </a:xfrm>
          <a:custGeom>
            <a:avLst/>
            <a:gdLst/>
            <a:ahLst/>
            <a:cxnLst/>
            <a:rect l="l" t="t" r="r" b="b"/>
            <a:pathLst>
              <a:path w="14" h="14">
                <a:moveTo>
                  <a:pt x="14" y="7"/>
                </a:moveTo>
                <a:lnTo>
                  <a:pt x="0" y="14"/>
                </a:lnTo>
                <a:lnTo>
                  <a:pt x="0" y="0"/>
                </a:lnTo>
                <a:close/>
              </a:path>
            </a:pathLst>
          </a:custGeom>
          <a:solidFill>
            <a:srgbClr val="2676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00" name="ACK / service / first reuse"/>
          <p:cNvSpPr txBox="1"/>
          <p:nvPr/>
        </p:nvSpPr>
        <p:spPr>
          <a:xfrm>
            <a:off x="8382990" y="8554892"/>
            <a:ext cx="2022540" cy="208478"/>
          </a:xfrm>
          <a:prstGeom prst="rect">
            <a:avLst/>
          </a:prstGeom>
          <a:noFill/>
          <a:effectLst/>
        </p:spPr>
        <p:txBody>
          <a:bodyPr wrap="none" lIns="0" rIns="0" tIns="0" bIns="0" anchor="t">
            <a:spAutoFit/>
          </a:bodyPr>
          <a:lstStyle/>
          <a:p>
            <a:pPr algn="l">
              <a:lnSpc>
                <a:spcPct val="100000"/>
              </a:lnSpc>
              <a:spcBef>
                <a:spcPts val="0"/>
              </a:spcBef>
              <a:spcAft>
                <a:spcPts val="0"/>
              </a:spcAft>
            </a:pPr>
            <a:r>
              <a:rPr sz="1209" b="0" i="0" lang="en-US" spc="0">
                <a:solidFill>
                  <a:srgbClr val="181818"/>
                </a:solidFill>
                <a:latin typeface="DejaVu Sans"/>
                <a:ea typeface="DejaVu Sans"/>
                <a:effectLst/>
              </a:rPr>
              <a:t>ACK / service / first reuse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From Completion Signals to Near-term Demand"/>
          <p:cNvSpPr txBox="1"/>
          <p:nvPr/>
        </p:nvSpPr>
        <p:spPr>
          <a:xfrm>
            <a:off x="292600" y="120698"/>
            <a:ext cx="7317629" cy="345634"/>
          </a:xfrm>
          <a:prstGeom prst="rect">
            <a:avLst/>
          </a:prstGeom>
          <a:noFill/>
          <a:effectLst/>
        </p:spPr>
        <p:txBody>
          <a:bodyPr wrap="none" lIns="0" rIns="0" tIns="0" bIns="0" anchor="t">
            <a:spAutoFit/>
          </a:bodyPr>
          <a:lstStyle/>
          <a:p>
            <a:pPr algn="l">
              <a:lnSpc>
                <a:spcPct val="100000"/>
              </a:lnSpc>
              <a:spcBef>
                <a:spcPts val="0"/>
              </a:spcBef>
              <a:spcAft>
                <a:spcPts val="0"/>
              </a:spcAft>
            </a:pPr>
            <a:r>
              <a:rPr sz="2131" b="1" i="0" lang="en-US" spc="0">
                <a:solidFill>
                  <a:srgbClr val="181818"/>
                </a:solidFill>
                <a:latin typeface="DejaVu Sans"/>
                <a:ea typeface="DejaVu Sans"/>
                <a:effectLst/>
              </a:rPr>
              <a:t>From Completion Signals to Near-term Demand</a:t>
            </a:r>
          </a:p>
        </p:txBody>
      </p:sp>
      <p:sp>
        <p:nvSpPr>
          <p:cNvPr id="3" name="Delivered content + service progress → separate phase / work heads → runtime timing"/>
          <p:cNvSpPr txBox="1"/>
          <p:nvPr/>
        </p:nvSpPr>
        <p:spPr>
          <a:xfrm>
            <a:off x="292600" y="479132"/>
            <a:ext cx="7723954" cy="235909"/>
          </a:xfrm>
          <a:prstGeom prst="rect">
            <a:avLst/>
          </a:prstGeom>
          <a:noFill/>
          <a:effectLst/>
        </p:spPr>
        <p:txBody>
          <a:bodyPr wrap="none" lIns="0" rIns="0" tIns="0" bIns="0" anchor="t">
            <a:spAutoFit/>
          </a:bodyPr>
          <a:lstStyle/>
          <a:p>
            <a:pPr algn="l">
              <a:lnSpc>
                <a:spcPct val="100000"/>
              </a:lnSpc>
              <a:spcBef>
                <a:spcPts val="0"/>
              </a:spcBef>
              <a:spcAft>
                <a:spcPts val="0"/>
              </a:spcAft>
            </a:pPr>
            <a:r>
              <a:rPr sz="1382" b="0" i="0" lang="en-US" spc="0">
                <a:solidFill>
                  <a:srgbClr val="535353"/>
                </a:solidFill>
                <a:latin typeface="DejaVu Sans"/>
                <a:ea typeface="DejaVu Sans"/>
                <a:effectLst/>
              </a:rPr>
              <a:t>Delivered content + service progress → separate phase / work heads → runtime timing</a:t>
            </a:r>
          </a:p>
        </p:txBody>
      </p:sp>
      <p:cxnSp>
        <p:nvCxnSpPr>
          <p:cNvPr id="4" name="line 3"/>
          <p:cNvCxnSpPr/>
          <p:nvPr/>
        </p:nvCxnSpPr>
        <p:spPr>
          <a:xfrm>
            <a:off x="292600" y="790020"/>
            <a:ext cx="12581800" cy="0"/>
          </a:xfrm>
          <a:prstGeom prst="line">
            <a:avLst/>
          </a:prstGeom>
          <a:ln w="11704">
            <a:solidFill>
              <a:srgbClr val="181818"/>
            </a:solidFill>
          </a:ln>
          <a:effectLst/>
        </p:spPr>
        <p:style>
          <a:lnRef idx="2">
            <a:schemeClr val="accent1"/>
          </a:lnRef>
          <a:fillRef idx="0">
            <a:schemeClr val="accent1"/>
          </a:fillRef>
          <a:effectRef idx="0">
            <a:schemeClr val="accent1"/>
          </a:effectRef>
          <a:fontRef idx="minor">
            <a:schemeClr val="tx1"/>
          </a:fontRef>
        </p:style>
      </p:cxnSp>
      <p:sp>
        <p:nvSpPr>
          <p:cNvPr id="5" name="rect 4"/>
          <p:cNvSpPr/>
          <p:nvPr/>
        </p:nvSpPr>
        <p:spPr>
          <a:xfrm>
            <a:off x="234080" y="907060"/>
            <a:ext cx="7753900" cy="4125660"/>
          </a:xfrm>
          <a:prstGeom prst="roundRect">
            <a:avLst>
              <a:gd name="adj" fmla="val 354"/>
            </a:avLst>
          </a:prstGeom>
          <a:solidFill>
            <a:srgbClr val="EEEEEE"/>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rect 5"/>
          <p:cNvSpPr/>
          <p:nvPr/>
        </p:nvSpPr>
        <p:spPr>
          <a:xfrm>
            <a:off x="234080" y="907060"/>
            <a:ext cx="7753900" cy="277970"/>
          </a:xfrm>
          <a:prstGeom prst="roundRect">
            <a:avLst>
              <a:gd name="adj" fmla="val 5263"/>
            </a:avLst>
          </a:prstGeom>
          <a:solidFill>
            <a:srgbClr val="A9CEE8"/>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a) Content, events and rolling work forecasts"/>
          <p:cNvSpPr txBox="1"/>
          <p:nvPr/>
        </p:nvSpPr>
        <p:spPr>
          <a:xfrm>
            <a:off x="336490" y="929810"/>
            <a:ext cx="5045836" cy="252368"/>
          </a:xfrm>
          <a:prstGeom prst="rect">
            <a:avLst/>
          </a:prstGeom>
          <a:noFill/>
          <a:effectLst/>
        </p:spPr>
        <p:txBody>
          <a:bodyPr wrap="none" lIns="0" rIns="0" tIns="0" bIns="0" anchor="t">
            <a:spAutoFit/>
          </a:bodyPr>
          <a:lstStyle/>
          <a:p>
            <a:pPr algn="l">
              <a:lnSpc>
                <a:spcPct val="100000"/>
              </a:lnSpc>
              <a:spcBef>
                <a:spcPts val="0"/>
              </a:spcBef>
              <a:spcAft>
                <a:spcPts val="0"/>
              </a:spcAft>
            </a:pPr>
            <a:r>
              <a:rPr sz="1497" b="1" i="0" lang="en-US" spc="0">
                <a:solidFill>
                  <a:srgbClr val="181818"/>
                </a:solidFill>
                <a:latin typeface="DejaVu Sans"/>
                <a:ea typeface="DejaVu Sans"/>
                <a:effectLst/>
              </a:rPr>
              <a:t>(a) Content, events and rolling work forecasts</a:t>
            </a:r>
          </a:p>
        </p:txBody>
      </p:sp>
      <p:sp>
        <p:nvSpPr>
          <p:cNvPr id="8" name="rect 7"/>
          <p:cNvSpPr/>
          <p:nvPr/>
        </p:nvSpPr>
        <p:spPr>
          <a:xfrm>
            <a:off x="416955" y="1609300"/>
            <a:ext cx="892430" cy="804650"/>
          </a:xfrm>
          <a:prstGeom prst="roundRect">
            <a:avLst>
              <a:gd name="adj" fmla="val 1818"/>
            </a:avLst>
          </a:prstGeom>
          <a:solidFill>
            <a:srgbClr val="FFFFFF"/>
          </a:solidFill>
          <a:ln w="13898">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polygon 8"/>
          <p:cNvSpPr/>
          <p:nvPr/>
        </p:nvSpPr>
        <p:spPr>
          <a:xfrm>
            <a:off x="1133825" y="1609300"/>
            <a:ext cx="175560" cy="175560"/>
          </a:xfrm>
          <a:custGeom>
            <a:avLst/>
            <a:gdLst/>
            <a:ahLst/>
            <a:cxnLst/>
            <a:rect l="l" t="t" r="r" b="b"/>
            <a:pathLst>
              <a:path w="24" h="24">
                <a:moveTo>
                  <a:pt x="0" y="0"/>
                </a:moveTo>
                <a:lnTo>
                  <a:pt x="24" y="24"/>
                </a:lnTo>
                <a:lnTo>
                  <a:pt x="0" y="24"/>
                </a:lnTo>
                <a:close/>
              </a:path>
            </a:pathLst>
          </a:custGeom>
          <a:solidFill>
            <a:srgbClr val="FFFFF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 9"/>
          <p:cNvSpPr/>
          <p:nvPr/>
        </p:nvSpPr>
        <p:spPr>
          <a:xfrm>
            <a:off x="504735" y="1784860"/>
            <a:ext cx="510880" cy="73150"/>
          </a:xfrm>
          <a:prstGeom prst="rect">
            <a:avLst/>
          </a:prstGeom>
          <a:solidFill>
            <a:srgbClr val="DDDDD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rect 10"/>
          <p:cNvSpPr/>
          <p:nvPr/>
        </p:nvSpPr>
        <p:spPr>
          <a:xfrm>
            <a:off x="504735" y="1923845"/>
            <a:ext cx="596026" cy="73150"/>
          </a:xfrm>
          <a:prstGeom prst="rect">
            <a:avLst/>
          </a:prstGeom>
          <a:solidFill>
            <a:srgbClr val="F2BD7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rect 11"/>
          <p:cNvSpPr/>
          <p:nvPr/>
        </p:nvSpPr>
        <p:spPr>
          <a:xfrm>
            <a:off x="504735" y="2062830"/>
            <a:ext cx="461211" cy="73150"/>
          </a:xfrm>
          <a:prstGeom prst="rect">
            <a:avLst/>
          </a:prstGeom>
          <a:solidFill>
            <a:srgbClr val="DDDDD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rect 12"/>
          <p:cNvSpPr/>
          <p:nvPr/>
        </p:nvSpPr>
        <p:spPr>
          <a:xfrm>
            <a:off x="504735" y="2201815"/>
            <a:ext cx="546357" cy="73150"/>
          </a:xfrm>
          <a:prstGeom prst="rect">
            <a:avLst/>
          </a:prstGeom>
          <a:solidFill>
            <a:srgbClr val="F2BD7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x"/>
          <p:cNvSpPr txBox="1"/>
          <p:nvPr/>
        </p:nvSpPr>
        <p:spPr>
          <a:xfrm>
            <a:off x="671323" y="1287440"/>
            <a:ext cx="181932" cy="266998"/>
          </a:xfrm>
          <a:prstGeom prst="rect">
            <a:avLst/>
          </a:prstGeom>
          <a:noFill/>
          <a:effectLst/>
        </p:spPr>
        <p:txBody>
          <a:bodyPr wrap="none" lIns="0" rIns="0" tIns="0" bIns="0" anchor="t">
            <a:spAutoFit/>
          </a:bodyPr>
          <a:lstStyle/>
          <a:p>
            <a:pPr algn="l">
              <a:lnSpc>
                <a:spcPct val="100000"/>
              </a:lnSpc>
              <a:spcBef>
                <a:spcPts val="0"/>
              </a:spcBef>
              <a:spcAft>
                <a:spcPts val="0"/>
              </a:spcAft>
            </a:pPr>
            <a:r>
              <a:rPr sz="1670" b="0" i="1" lang="en-US" spc="0">
                <a:solidFill>
                  <a:srgbClr val="181818"/>
                </a:solidFill>
                <a:latin typeface="Liberation Serif"/>
                <a:ea typeface="Liberation Serif"/>
                <a:effectLst/>
              </a:rPr>
              <a:t>x</a:t>
            </a:r>
          </a:p>
        </p:txBody>
      </p:sp>
      <p:sp>
        <p:nvSpPr>
          <p:cNvPr id="15" name="t−k:t"/>
          <p:cNvSpPr txBox="1"/>
          <p:nvPr/>
        </p:nvSpPr>
        <p:spPr>
          <a:xfrm>
            <a:off x="772790" y="1408138"/>
            <a:ext cx="348063" cy="182875"/>
          </a:xfrm>
          <a:prstGeom prst="rect">
            <a:avLst/>
          </a:prstGeom>
          <a:noFill/>
          <a:effectLst/>
        </p:spPr>
        <p:txBody>
          <a:bodyPr wrap="none" lIns="0" rIns="0" tIns="0" bIns="0" anchor="t">
            <a:spAutoFit/>
          </a:bodyPr>
          <a:lstStyle/>
          <a:p>
            <a:pPr algn="l">
              <a:lnSpc>
                <a:spcPct val="100000"/>
              </a:lnSpc>
              <a:spcBef>
                <a:spcPts val="0"/>
              </a:spcBef>
              <a:spcAft>
                <a:spcPts val="0"/>
              </a:spcAft>
            </a:pPr>
            <a:r>
              <a:rPr sz="1085" b="0" i="0" lang="en-US" spc="0">
                <a:solidFill>
                  <a:srgbClr val="181818"/>
                </a:solidFill>
                <a:latin typeface="Liberation Serif"/>
                <a:ea typeface="Liberation Serif"/>
                <a:effectLst/>
              </a:rPr>
              <a:t>t−k:t</a:t>
            </a:r>
          </a:p>
        </p:txBody>
      </p:sp>
      <p:cxnSp>
        <p:nvCxnSpPr>
          <p:cNvPr id="16" name="path 15"/>
          <p:cNvCxnSpPr/>
          <p:nvPr/>
        </p:nvCxnSpPr>
        <p:spPr>
          <a:xfrm>
            <a:off x="1331330" y="1967735"/>
            <a:ext cx="365750" cy="0"/>
          </a:xfrm>
          <a:prstGeom prst="line">
            <a:avLst/>
          </a:prstGeom>
          <a:ln w="19019">
            <a:solidFill>
              <a:srgbClr val="181818"/>
            </a:solidFill>
          </a:ln>
          <a:effectLst/>
        </p:spPr>
        <p:style>
          <a:lnRef idx="2">
            <a:schemeClr val="accent1"/>
          </a:lnRef>
          <a:fillRef idx="0">
            <a:schemeClr val="accent1"/>
          </a:fillRef>
          <a:effectRef idx="0">
            <a:schemeClr val="accent1"/>
          </a:effectRef>
          <a:fontRef idx="minor">
            <a:schemeClr val="tx1"/>
          </a:fontRef>
        </p:style>
      </p:cxnSp>
      <p:sp>
        <p:nvSpPr>
          <p:cNvPr id="17" name="arrowhead 16"/>
          <p:cNvSpPr/>
          <p:nvPr/>
        </p:nvSpPr>
        <p:spPr>
          <a:xfrm>
            <a:off x="1587355" y="1901900"/>
            <a:ext cx="131670" cy="131670"/>
          </a:xfrm>
          <a:custGeom>
            <a:avLst/>
            <a:gdLst/>
            <a:ahLst/>
            <a:cxnLst/>
            <a:rect l="l" t="t" r="r" b="b"/>
            <a:pathLst>
              <a:path w="18" h="18">
                <a:moveTo>
                  <a:pt x="18" y="9"/>
                </a:moveTo>
                <a:lnTo>
                  <a:pt x="0" y="18"/>
                </a:lnTo>
                <a:lnTo>
                  <a:pt x="0" y="0"/>
                </a:lnTo>
                <a:close/>
              </a:path>
            </a:pathLst>
          </a:custGeom>
          <a:solidFill>
            <a:srgbClr val="18181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8" name="line 17"/>
          <p:cNvCxnSpPr/>
          <p:nvPr/>
        </p:nvCxnSpPr>
        <p:spPr>
          <a:xfrm>
            <a:off x="1901900" y="1667820"/>
            <a:ext cx="365750" cy="0"/>
          </a:xfrm>
          <a:prstGeom prst="line">
            <a:avLst/>
          </a:prstGeom>
          <a:ln w="7315">
            <a:solidFill>
              <a:srgbClr val="A6A6A6"/>
            </a:solidFill>
          </a:ln>
          <a:effectLst/>
        </p:spPr>
        <p:style>
          <a:lnRef idx="2">
            <a:schemeClr val="accent1"/>
          </a:lnRef>
          <a:fillRef idx="0">
            <a:schemeClr val="accent1"/>
          </a:fillRef>
          <a:effectRef idx="0">
            <a:schemeClr val="accent1"/>
          </a:effectRef>
          <a:fontRef idx="minor">
            <a:schemeClr val="tx1"/>
          </a:fontRef>
        </p:style>
      </p:cxnSp>
      <p:cxnSp>
        <p:nvCxnSpPr>
          <p:cNvPr id="19" name="line 18"/>
          <p:cNvCxnSpPr/>
          <p:nvPr/>
        </p:nvCxnSpPr>
        <p:spPr>
          <a:xfrm>
            <a:off x="1901900" y="1667820"/>
            <a:ext cx="365750" cy="314545"/>
          </a:xfrm>
          <a:prstGeom prst="line">
            <a:avLst/>
          </a:prstGeom>
          <a:ln w="7315">
            <a:solidFill>
              <a:srgbClr val="A6A6A6"/>
            </a:solidFill>
          </a:ln>
          <a:effectLst/>
        </p:spPr>
        <p:style>
          <a:lnRef idx="2">
            <a:schemeClr val="accent1"/>
          </a:lnRef>
          <a:fillRef idx="0">
            <a:schemeClr val="accent1"/>
          </a:fillRef>
          <a:effectRef idx="0">
            <a:schemeClr val="accent1"/>
          </a:effectRef>
          <a:fontRef idx="minor">
            <a:schemeClr val="tx1"/>
          </a:fontRef>
        </p:style>
      </p:cxnSp>
      <p:cxnSp>
        <p:nvCxnSpPr>
          <p:cNvPr id="20" name="line 19"/>
          <p:cNvCxnSpPr/>
          <p:nvPr/>
        </p:nvCxnSpPr>
        <p:spPr>
          <a:xfrm>
            <a:off x="1901900" y="1667820"/>
            <a:ext cx="365750" cy="629090"/>
          </a:xfrm>
          <a:prstGeom prst="line">
            <a:avLst/>
          </a:prstGeom>
          <a:ln w="7315">
            <a:solidFill>
              <a:srgbClr val="A6A6A6"/>
            </a:solidFill>
          </a:ln>
          <a:effectLst/>
        </p:spPr>
        <p:style>
          <a:lnRef idx="2">
            <a:schemeClr val="accent1"/>
          </a:lnRef>
          <a:fillRef idx="0">
            <a:schemeClr val="accent1"/>
          </a:fillRef>
          <a:effectRef idx="0">
            <a:schemeClr val="accent1"/>
          </a:effectRef>
          <a:fontRef idx="minor">
            <a:schemeClr val="tx1"/>
          </a:fontRef>
        </p:style>
      </p:cxnSp>
      <p:cxnSp>
        <p:nvCxnSpPr>
          <p:cNvPr id="21" name="line 20"/>
          <p:cNvCxnSpPr/>
          <p:nvPr/>
        </p:nvCxnSpPr>
        <p:spPr>
          <a:xfrm flipV="1">
            <a:off x="1901900" y="1667820"/>
            <a:ext cx="365750" cy="314545"/>
          </a:xfrm>
          <a:prstGeom prst="line">
            <a:avLst/>
          </a:prstGeom>
          <a:ln w="7315">
            <a:solidFill>
              <a:srgbClr val="A6A6A6"/>
            </a:solidFill>
          </a:ln>
          <a:effectLst/>
        </p:spPr>
        <p:style>
          <a:lnRef idx="2">
            <a:schemeClr val="accent1"/>
          </a:lnRef>
          <a:fillRef idx="0">
            <a:schemeClr val="accent1"/>
          </a:fillRef>
          <a:effectRef idx="0">
            <a:schemeClr val="accent1"/>
          </a:effectRef>
          <a:fontRef idx="minor">
            <a:schemeClr val="tx1"/>
          </a:fontRef>
        </p:style>
      </p:cxnSp>
      <p:cxnSp>
        <p:nvCxnSpPr>
          <p:cNvPr id="22" name="line 21"/>
          <p:cNvCxnSpPr/>
          <p:nvPr/>
        </p:nvCxnSpPr>
        <p:spPr>
          <a:xfrm>
            <a:off x="1901900" y="1982365"/>
            <a:ext cx="365750" cy="0"/>
          </a:xfrm>
          <a:prstGeom prst="line">
            <a:avLst/>
          </a:prstGeom>
          <a:ln w="7315">
            <a:solidFill>
              <a:srgbClr val="A6A6A6"/>
            </a:solidFill>
          </a:ln>
          <a:effectLst/>
        </p:spPr>
        <p:style>
          <a:lnRef idx="2">
            <a:schemeClr val="accent1"/>
          </a:lnRef>
          <a:fillRef idx="0">
            <a:schemeClr val="accent1"/>
          </a:fillRef>
          <a:effectRef idx="0">
            <a:schemeClr val="accent1"/>
          </a:effectRef>
          <a:fontRef idx="minor">
            <a:schemeClr val="tx1"/>
          </a:fontRef>
        </p:style>
      </p:cxnSp>
      <p:cxnSp>
        <p:nvCxnSpPr>
          <p:cNvPr id="23" name="line 22"/>
          <p:cNvCxnSpPr/>
          <p:nvPr/>
        </p:nvCxnSpPr>
        <p:spPr>
          <a:xfrm>
            <a:off x="1901900" y="1982365"/>
            <a:ext cx="365750" cy="314545"/>
          </a:xfrm>
          <a:prstGeom prst="line">
            <a:avLst/>
          </a:prstGeom>
          <a:ln w="7315">
            <a:solidFill>
              <a:srgbClr val="A6A6A6"/>
            </a:solidFill>
          </a:ln>
          <a:effectLst/>
        </p:spPr>
        <p:style>
          <a:lnRef idx="2">
            <a:schemeClr val="accent1"/>
          </a:lnRef>
          <a:fillRef idx="0">
            <a:schemeClr val="accent1"/>
          </a:fillRef>
          <a:effectRef idx="0">
            <a:schemeClr val="accent1"/>
          </a:effectRef>
          <a:fontRef idx="minor">
            <a:schemeClr val="tx1"/>
          </a:fontRef>
        </p:style>
      </p:cxnSp>
      <p:cxnSp>
        <p:nvCxnSpPr>
          <p:cNvPr id="24" name="line 23"/>
          <p:cNvCxnSpPr/>
          <p:nvPr/>
        </p:nvCxnSpPr>
        <p:spPr>
          <a:xfrm flipV="1">
            <a:off x="1901900" y="1667820"/>
            <a:ext cx="365750" cy="629090"/>
          </a:xfrm>
          <a:prstGeom prst="line">
            <a:avLst/>
          </a:prstGeom>
          <a:ln w="7315">
            <a:solidFill>
              <a:srgbClr val="A6A6A6"/>
            </a:solidFill>
          </a:ln>
          <a:effectLst/>
        </p:spPr>
        <p:style>
          <a:lnRef idx="2">
            <a:schemeClr val="accent1"/>
          </a:lnRef>
          <a:fillRef idx="0">
            <a:schemeClr val="accent1"/>
          </a:fillRef>
          <a:effectRef idx="0">
            <a:schemeClr val="accent1"/>
          </a:effectRef>
          <a:fontRef idx="minor">
            <a:schemeClr val="tx1"/>
          </a:fontRef>
        </p:style>
      </p:cxnSp>
      <p:cxnSp>
        <p:nvCxnSpPr>
          <p:cNvPr id="25" name="line 24"/>
          <p:cNvCxnSpPr/>
          <p:nvPr/>
        </p:nvCxnSpPr>
        <p:spPr>
          <a:xfrm flipV="1">
            <a:off x="1901900" y="1982365"/>
            <a:ext cx="365750" cy="314545"/>
          </a:xfrm>
          <a:prstGeom prst="line">
            <a:avLst/>
          </a:prstGeom>
          <a:ln w="7315">
            <a:solidFill>
              <a:srgbClr val="A6A6A6"/>
            </a:solidFill>
          </a:ln>
          <a:effectLst/>
        </p:spPr>
        <p:style>
          <a:lnRef idx="2">
            <a:schemeClr val="accent1"/>
          </a:lnRef>
          <a:fillRef idx="0">
            <a:schemeClr val="accent1"/>
          </a:fillRef>
          <a:effectRef idx="0">
            <a:schemeClr val="accent1"/>
          </a:effectRef>
          <a:fontRef idx="minor">
            <a:schemeClr val="tx1"/>
          </a:fontRef>
        </p:style>
      </p:cxnSp>
      <p:cxnSp>
        <p:nvCxnSpPr>
          <p:cNvPr id="26" name="line 25"/>
          <p:cNvCxnSpPr/>
          <p:nvPr/>
        </p:nvCxnSpPr>
        <p:spPr>
          <a:xfrm>
            <a:off x="1901900" y="2296910"/>
            <a:ext cx="365750" cy="0"/>
          </a:xfrm>
          <a:prstGeom prst="line">
            <a:avLst/>
          </a:prstGeom>
          <a:ln w="7315">
            <a:solidFill>
              <a:srgbClr val="A6A6A6"/>
            </a:solidFill>
          </a:ln>
          <a:effectLst/>
        </p:spPr>
        <p:style>
          <a:lnRef idx="2">
            <a:schemeClr val="accent1"/>
          </a:lnRef>
          <a:fillRef idx="0">
            <a:schemeClr val="accent1"/>
          </a:fillRef>
          <a:effectRef idx="0">
            <a:schemeClr val="accent1"/>
          </a:effectRef>
          <a:fontRef idx="minor">
            <a:schemeClr val="tx1"/>
          </a:fontRef>
        </p:style>
      </p:cxnSp>
      <p:cxnSp>
        <p:nvCxnSpPr>
          <p:cNvPr id="27" name="line 26"/>
          <p:cNvCxnSpPr/>
          <p:nvPr/>
        </p:nvCxnSpPr>
        <p:spPr>
          <a:xfrm>
            <a:off x="2413950" y="1667820"/>
            <a:ext cx="365750" cy="0"/>
          </a:xfrm>
          <a:prstGeom prst="line">
            <a:avLst/>
          </a:prstGeom>
          <a:ln w="7315">
            <a:solidFill>
              <a:srgbClr val="A6A6A6"/>
            </a:solidFill>
          </a:ln>
          <a:effectLst/>
        </p:spPr>
        <p:style>
          <a:lnRef idx="2">
            <a:schemeClr val="accent1"/>
          </a:lnRef>
          <a:fillRef idx="0">
            <a:schemeClr val="accent1"/>
          </a:fillRef>
          <a:effectRef idx="0">
            <a:schemeClr val="accent1"/>
          </a:effectRef>
          <a:fontRef idx="minor">
            <a:schemeClr val="tx1"/>
          </a:fontRef>
        </p:style>
      </p:cxnSp>
      <p:cxnSp>
        <p:nvCxnSpPr>
          <p:cNvPr id="28" name="line 27"/>
          <p:cNvCxnSpPr/>
          <p:nvPr/>
        </p:nvCxnSpPr>
        <p:spPr>
          <a:xfrm>
            <a:off x="2413950" y="1667820"/>
            <a:ext cx="365750" cy="314545"/>
          </a:xfrm>
          <a:prstGeom prst="line">
            <a:avLst/>
          </a:prstGeom>
          <a:ln w="7315">
            <a:solidFill>
              <a:srgbClr val="A6A6A6"/>
            </a:solidFill>
          </a:ln>
          <a:effectLst/>
        </p:spPr>
        <p:style>
          <a:lnRef idx="2">
            <a:schemeClr val="accent1"/>
          </a:lnRef>
          <a:fillRef idx="0">
            <a:schemeClr val="accent1"/>
          </a:fillRef>
          <a:effectRef idx="0">
            <a:schemeClr val="accent1"/>
          </a:effectRef>
          <a:fontRef idx="minor">
            <a:schemeClr val="tx1"/>
          </a:fontRef>
        </p:style>
      </p:cxnSp>
      <p:cxnSp>
        <p:nvCxnSpPr>
          <p:cNvPr id="29" name="line 28"/>
          <p:cNvCxnSpPr/>
          <p:nvPr/>
        </p:nvCxnSpPr>
        <p:spPr>
          <a:xfrm>
            <a:off x="2413950" y="1667820"/>
            <a:ext cx="365750" cy="629090"/>
          </a:xfrm>
          <a:prstGeom prst="line">
            <a:avLst/>
          </a:prstGeom>
          <a:ln w="7315">
            <a:solidFill>
              <a:srgbClr val="A6A6A6"/>
            </a:solidFill>
          </a:ln>
          <a:effectLst/>
        </p:spPr>
        <p:style>
          <a:lnRef idx="2">
            <a:schemeClr val="accent1"/>
          </a:lnRef>
          <a:fillRef idx="0">
            <a:schemeClr val="accent1"/>
          </a:fillRef>
          <a:effectRef idx="0">
            <a:schemeClr val="accent1"/>
          </a:effectRef>
          <a:fontRef idx="minor">
            <a:schemeClr val="tx1"/>
          </a:fontRef>
        </p:style>
      </p:cxnSp>
      <p:cxnSp>
        <p:nvCxnSpPr>
          <p:cNvPr id="30" name="line 29"/>
          <p:cNvCxnSpPr/>
          <p:nvPr/>
        </p:nvCxnSpPr>
        <p:spPr>
          <a:xfrm flipV="1">
            <a:off x="2413950" y="1667820"/>
            <a:ext cx="365750" cy="314545"/>
          </a:xfrm>
          <a:prstGeom prst="line">
            <a:avLst/>
          </a:prstGeom>
          <a:ln w="7315">
            <a:solidFill>
              <a:srgbClr val="A6A6A6"/>
            </a:solidFill>
          </a:ln>
          <a:effectLst/>
        </p:spPr>
        <p:style>
          <a:lnRef idx="2">
            <a:schemeClr val="accent1"/>
          </a:lnRef>
          <a:fillRef idx="0">
            <a:schemeClr val="accent1"/>
          </a:fillRef>
          <a:effectRef idx="0">
            <a:schemeClr val="accent1"/>
          </a:effectRef>
          <a:fontRef idx="minor">
            <a:schemeClr val="tx1"/>
          </a:fontRef>
        </p:style>
      </p:cxnSp>
      <p:cxnSp>
        <p:nvCxnSpPr>
          <p:cNvPr id="31" name="line 30"/>
          <p:cNvCxnSpPr/>
          <p:nvPr/>
        </p:nvCxnSpPr>
        <p:spPr>
          <a:xfrm>
            <a:off x="2413950" y="1982365"/>
            <a:ext cx="365750" cy="0"/>
          </a:xfrm>
          <a:prstGeom prst="line">
            <a:avLst/>
          </a:prstGeom>
          <a:ln w="7315">
            <a:solidFill>
              <a:srgbClr val="A6A6A6"/>
            </a:solidFill>
          </a:ln>
          <a:effectLst/>
        </p:spPr>
        <p:style>
          <a:lnRef idx="2">
            <a:schemeClr val="accent1"/>
          </a:lnRef>
          <a:fillRef idx="0">
            <a:schemeClr val="accent1"/>
          </a:fillRef>
          <a:effectRef idx="0">
            <a:schemeClr val="accent1"/>
          </a:effectRef>
          <a:fontRef idx="minor">
            <a:schemeClr val="tx1"/>
          </a:fontRef>
        </p:style>
      </p:cxnSp>
      <p:cxnSp>
        <p:nvCxnSpPr>
          <p:cNvPr id="32" name="line 31"/>
          <p:cNvCxnSpPr/>
          <p:nvPr/>
        </p:nvCxnSpPr>
        <p:spPr>
          <a:xfrm>
            <a:off x="2413950" y="1982365"/>
            <a:ext cx="365750" cy="314545"/>
          </a:xfrm>
          <a:prstGeom prst="line">
            <a:avLst/>
          </a:prstGeom>
          <a:ln w="7315">
            <a:solidFill>
              <a:srgbClr val="A6A6A6"/>
            </a:solidFill>
          </a:ln>
          <a:effectLst/>
        </p:spPr>
        <p:style>
          <a:lnRef idx="2">
            <a:schemeClr val="accent1"/>
          </a:lnRef>
          <a:fillRef idx="0">
            <a:schemeClr val="accent1"/>
          </a:fillRef>
          <a:effectRef idx="0">
            <a:schemeClr val="accent1"/>
          </a:effectRef>
          <a:fontRef idx="minor">
            <a:schemeClr val="tx1"/>
          </a:fontRef>
        </p:style>
      </p:cxnSp>
      <p:cxnSp>
        <p:nvCxnSpPr>
          <p:cNvPr id="33" name="line 32"/>
          <p:cNvCxnSpPr/>
          <p:nvPr/>
        </p:nvCxnSpPr>
        <p:spPr>
          <a:xfrm flipV="1">
            <a:off x="2413950" y="1667820"/>
            <a:ext cx="365750" cy="629090"/>
          </a:xfrm>
          <a:prstGeom prst="line">
            <a:avLst/>
          </a:prstGeom>
          <a:ln w="7315">
            <a:solidFill>
              <a:srgbClr val="A6A6A6"/>
            </a:solidFill>
          </a:ln>
          <a:effectLst/>
        </p:spPr>
        <p:style>
          <a:lnRef idx="2">
            <a:schemeClr val="accent1"/>
          </a:lnRef>
          <a:fillRef idx="0">
            <a:schemeClr val="accent1"/>
          </a:fillRef>
          <a:effectRef idx="0">
            <a:schemeClr val="accent1"/>
          </a:effectRef>
          <a:fontRef idx="minor">
            <a:schemeClr val="tx1"/>
          </a:fontRef>
        </p:style>
      </p:cxnSp>
      <p:cxnSp>
        <p:nvCxnSpPr>
          <p:cNvPr id="34" name="line 33"/>
          <p:cNvCxnSpPr/>
          <p:nvPr/>
        </p:nvCxnSpPr>
        <p:spPr>
          <a:xfrm flipV="1">
            <a:off x="2413950" y="1982365"/>
            <a:ext cx="365750" cy="314545"/>
          </a:xfrm>
          <a:prstGeom prst="line">
            <a:avLst/>
          </a:prstGeom>
          <a:ln w="7315">
            <a:solidFill>
              <a:srgbClr val="A6A6A6"/>
            </a:solidFill>
          </a:ln>
          <a:effectLst/>
        </p:spPr>
        <p:style>
          <a:lnRef idx="2">
            <a:schemeClr val="accent1"/>
          </a:lnRef>
          <a:fillRef idx="0">
            <a:schemeClr val="accent1"/>
          </a:fillRef>
          <a:effectRef idx="0">
            <a:schemeClr val="accent1"/>
          </a:effectRef>
          <a:fontRef idx="minor">
            <a:schemeClr val="tx1"/>
          </a:fontRef>
        </p:style>
      </p:cxnSp>
      <p:cxnSp>
        <p:nvCxnSpPr>
          <p:cNvPr id="35" name="line 34"/>
          <p:cNvCxnSpPr/>
          <p:nvPr/>
        </p:nvCxnSpPr>
        <p:spPr>
          <a:xfrm>
            <a:off x="2413950" y="2296910"/>
            <a:ext cx="365750" cy="0"/>
          </a:xfrm>
          <a:prstGeom prst="line">
            <a:avLst/>
          </a:prstGeom>
          <a:ln w="7315">
            <a:solidFill>
              <a:srgbClr val="A6A6A6"/>
            </a:solidFill>
          </a:ln>
          <a:effectLst/>
        </p:spPr>
        <p:style>
          <a:lnRef idx="2">
            <a:schemeClr val="accent1"/>
          </a:lnRef>
          <a:fillRef idx="0">
            <a:schemeClr val="accent1"/>
          </a:fillRef>
          <a:effectRef idx="0">
            <a:schemeClr val="accent1"/>
          </a:effectRef>
          <a:fontRef idx="minor">
            <a:schemeClr val="tx1"/>
          </a:fontRef>
        </p:style>
      </p:cxnSp>
      <p:sp>
        <p:nvSpPr>
          <p:cNvPr id="36" name="circle 35"/>
          <p:cNvSpPr/>
          <p:nvPr/>
        </p:nvSpPr>
        <p:spPr>
          <a:xfrm>
            <a:off x="1755600" y="1594670"/>
            <a:ext cx="146300" cy="146300"/>
          </a:xfrm>
          <a:prstGeom prst="ellipse">
            <a:avLst/>
          </a:prstGeom>
          <a:solidFill>
            <a:srgbClr val="A9CEE8"/>
          </a:solidFill>
          <a:ln w="10241">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circle 36"/>
          <p:cNvSpPr/>
          <p:nvPr/>
        </p:nvSpPr>
        <p:spPr>
          <a:xfrm>
            <a:off x="1755600" y="1909215"/>
            <a:ext cx="146300" cy="146300"/>
          </a:xfrm>
          <a:prstGeom prst="ellipse">
            <a:avLst/>
          </a:prstGeom>
          <a:solidFill>
            <a:srgbClr val="A9CEE8"/>
          </a:solidFill>
          <a:ln w="10241">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circle 37"/>
          <p:cNvSpPr/>
          <p:nvPr/>
        </p:nvSpPr>
        <p:spPr>
          <a:xfrm>
            <a:off x="1755600" y="2223760"/>
            <a:ext cx="146300" cy="146300"/>
          </a:xfrm>
          <a:prstGeom prst="ellipse">
            <a:avLst/>
          </a:prstGeom>
          <a:solidFill>
            <a:srgbClr val="A9CEE8"/>
          </a:solidFill>
          <a:ln w="10241">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circle 38"/>
          <p:cNvSpPr/>
          <p:nvPr/>
        </p:nvSpPr>
        <p:spPr>
          <a:xfrm>
            <a:off x="2267650" y="1594670"/>
            <a:ext cx="146300" cy="146300"/>
          </a:xfrm>
          <a:prstGeom prst="ellipse">
            <a:avLst/>
          </a:prstGeom>
          <a:solidFill>
            <a:srgbClr val="A9CEE8"/>
          </a:solidFill>
          <a:ln w="10241">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circle 39"/>
          <p:cNvSpPr/>
          <p:nvPr/>
        </p:nvSpPr>
        <p:spPr>
          <a:xfrm>
            <a:off x="2267650" y="1909215"/>
            <a:ext cx="146300" cy="146300"/>
          </a:xfrm>
          <a:prstGeom prst="ellipse">
            <a:avLst/>
          </a:prstGeom>
          <a:solidFill>
            <a:srgbClr val="A9CEE8"/>
          </a:solidFill>
          <a:ln w="10241">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circle 40"/>
          <p:cNvSpPr/>
          <p:nvPr/>
        </p:nvSpPr>
        <p:spPr>
          <a:xfrm>
            <a:off x="2267650" y="2223760"/>
            <a:ext cx="146300" cy="146300"/>
          </a:xfrm>
          <a:prstGeom prst="ellipse">
            <a:avLst/>
          </a:prstGeom>
          <a:solidFill>
            <a:srgbClr val="A9CEE8"/>
          </a:solidFill>
          <a:ln w="10241">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circle 41"/>
          <p:cNvSpPr/>
          <p:nvPr/>
        </p:nvSpPr>
        <p:spPr>
          <a:xfrm>
            <a:off x="2779700" y="1594670"/>
            <a:ext cx="146300" cy="146300"/>
          </a:xfrm>
          <a:prstGeom prst="ellipse">
            <a:avLst/>
          </a:prstGeom>
          <a:solidFill>
            <a:srgbClr val="B5D68B"/>
          </a:solidFill>
          <a:ln w="10241">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circle 42"/>
          <p:cNvSpPr/>
          <p:nvPr/>
        </p:nvSpPr>
        <p:spPr>
          <a:xfrm>
            <a:off x="2779700" y="1909215"/>
            <a:ext cx="146300" cy="146300"/>
          </a:xfrm>
          <a:prstGeom prst="ellipse">
            <a:avLst/>
          </a:prstGeom>
          <a:solidFill>
            <a:srgbClr val="B5D68B"/>
          </a:solidFill>
          <a:ln w="10241">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circle 43"/>
          <p:cNvSpPr/>
          <p:nvPr/>
        </p:nvSpPr>
        <p:spPr>
          <a:xfrm>
            <a:off x="2779700" y="2223760"/>
            <a:ext cx="146300" cy="146300"/>
          </a:xfrm>
          <a:prstGeom prst="ellipse">
            <a:avLst/>
          </a:prstGeom>
          <a:solidFill>
            <a:srgbClr val="B5D68B"/>
          </a:solidFill>
          <a:ln w="10241">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 name="path 44"/>
          <p:cNvSpPr/>
          <p:nvPr/>
        </p:nvSpPr>
        <p:spPr>
          <a:xfrm>
            <a:off x="2911370" y="1338645"/>
            <a:ext cx="65835" cy="51205"/>
          </a:xfrm>
          <a:custGeom>
            <a:avLst/>
            <a:gdLst/>
            <a:ahLst/>
            <a:cxnLst/>
            <a:rect l="l" t="t" r="r" b="b"/>
            <a:pathLst>
              <a:path w="9" h="7">
                <a:moveTo>
                  <a:pt x="0" y="7"/>
                </a:moveTo>
                <a:lnTo>
                  <a:pt x="0" y="0"/>
                </a:lnTo>
                <a:lnTo>
                  <a:pt x="9" y="0"/>
                </a:lnTo>
                <a:lnTo>
                  <a:pt x="9" y="7"/>
                </a:lnTo>
              </a:path>
            </a:pathLst>
          </a:custGeom>
          <a:noFill/>
          <a:ln w="14630">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6" name="rect 45"/>
          <p:cNvSpPr/>
          <p:nvPr/>
        </p:nvSpPr>
        <p:spPr>
          <a:xfrm>
            <a:off x="2889425" y="1393142"/>
            <a:ext cx="114114" cy="95095"/>
          </a:xfrm>
          <a:prstGeom prst="roundRect">
            <a:avLst>
              <a:gd name="adj" fmla="val 15384"/>
            </a:avLst>
          </a:prstGeom>
          <a:solidFill>
            <a:srgbClr val="FFFFF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7" name="circle 46"/>
          <p:cNvSpPr/>
          <p:nvPr/>
        </p:nvSpPr>
        <p:spPr>
          <a:xfrm>
            <a:off x="2936972" y="1421670"/>
            <a:ext cx="19019" cy="19019"/>
          </a:xfrm>
          <a:prstGeom prst="ellipse">
            <a:avLst/>
          </a:prstGeom>
          <a:solidFill>
            <a:srgbClr val="181818"/>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 name="request / epoch"/>
          <p:cNvSpPr txBox="1"/>
          <p:nvPr/>
        </p:nvSpPr>
        <p:spPr>
          <a:xfrm>
            <a:off x="3138135" y="1281954"/>
            <a:ext cx="1231835" cy="201162"/>
          </a:xfrm>
          <a:prstGeom prst="rect">
            <a:avLst/>
          </a:prstGeom>
          <a:noFill/>
          <a:effectLst/>
        </p:spPr>
        <p:txBody>
          <a:bodyPr wrap="none" lIns="0" rIns="0" tIns="0" bIns="0" anchor="t">
            <a:spAutoFit/>
          </a:bodyPr>
          <a:lstStyle/>
          <a:p>
            <a:pPr algn="l">
              <a:lnSpc>
                <a:spcPct val="100000"/>
              </a:lnSpc>
              <a:spcBef>
                <a:spcPts val="0"/>
              </a:spcBef>
              <a:spcAft>
                <a:spcPts val="0"/>
              </a:spcAft>
            </a:pPr>
            <a:r>
              <a:rPr sz="1152" b="0" i="0" lang="en-US" spc="0">
                <a:solidFill>
                  <a:srgbClr val="535353"/>
                </a:solidFill>
                <a:latin typeface="DejaVu Sans"/>
                <a:ea typeface="DejaVu Sans"/>
                <a:effectLst/>
              </a:rPr>
              <a:t>request / epoch</a:t>
            </a:r>
          </a:p>
        </p:txBody>
      </p:sp>
      <p:sp>
        <p:nvSpPr>
          <p:cNvPr id="49" name="Frozen encoder"/>
          <p:cNvSpPr txBox="1"/>
          <p:nvPr/>
        </p:nvSpPr>
        <p:spPr>
          <a:xfrm>
            <a:off x="1567010" y="2454182"/>
            <a:ext cx="1547580" cy="226765"/>
          </a:xfrm>
          <a:prstGeom prst="rect">
            <a:avLst/>
          </a:prstGeom>
          <a:noFill/>
          <a:effectLst/>
        </p:spPr>
        <p:txBody>
          <a:bodyPr wrap="none" lIns="0" rIns="0" tIns="0" bIns="0" anchor="t">
            <a:spAutoFit/>
          </a:bodyPr>
          <a:lstStyle/>
          <a:p>
            <a:pPr algn="ctr">
              <a:lnSpc>
                <a:spcPct val="100000"/>
              </a:lnSpc>
              <a:spcBef>
                <a:spcPts val="0"/>
              </a:spcBef>
              <a:spcAft>
                <a:spcPts val="0"/>
              </a:spcAft>
            </a:pPr>
            <a:r>
              <a:rPr sz="1324" b="1" i="0" lang="en-US" spc="0">
                <a:solidFill>
                  <a:srgbClr val="181818"/>
                </a:solidFill>
                <a:latin typeface="DejaVu Sans"/>
                <a:ea typeface="DejaVu Sans"/>
                <a:effectLst/>
              </a:rPr>
              <a:t>Frozen encoder</a:t>
            </a:r>
          </a:p>
        </p:txBody>
      </p:sp>
      <p:cxnSp>
        <p:nvCxnSpPr>
          <p:cNvPr id="50" name="path 49"/>
          <p:cNvCxnSpPr/>
          <p:nvPr/>
        </p:nvCxnSpPr>
        <p:spPr>
          <a:xfrm>
            <a:off x="2947945" y="1967735"/>
            <a:ext cx="365750" cy="0"/>
          </a:xfrm>
          <a:prstGeom prst="line">
            <a:avLst/>
          </a:prstGeom>
          <a:ln w="19019">
            <a:solidFill>
              <a:srgbClr val="181818"/>
            </a:solidFill>
          </a:ln>
          <a:effectLst/>
        </p:spPr>
        <p:style>
          <a:lnRef idx="2">
            <a:schemeClr val="accent1"/>
          </a:lnRef>
          <a:fillRef idx="0">
            <a:schemeClr val="accent1"/>
          </a:fillRef>
          <a:effectRef idx="0">
            <a:schemeClr val="accent1"/>
          </a:effectRef>
          <a:fontRef idx="minor">
            <a:schemeClr val="tx1"/>
          </a:fontRef>
        </p:style>
      </p:cxnSp>
      <p:sp>
        <p:nvSpPr>
          <p:cNvPr id="51" name="arrowhead 50"/>
          <p:cNvSpPr/>
          <p:nvPr/>
        </p:nvSpPr>
        <p:spPr>
          <a:xfrm>
            <a:off x="3203970" y="1901900"/>
            <a:ext cx="131670" cy="131670"/>
          </a:xfrm>
          <a:custGeom>
            <a:avLst/>
            <a:gdLst/>
            <a:ahLst/>
            <a:cxnLst/>
            <a:rect l="l" t="t" r="r" b="b"/>
            <a:pathLst>
              <a:path w="18" h="18">
                <a:moveTo>
                  <a:pt x="18" y="9"/>
                </a:moveTo>
                <a:lnTo>
                  <a:pt x="0" y="18"/>
                </a:lnTo>
                <a:lnTo>
                  <a:pt x="0" y="0"/>
                </a:lnTo>
                <a:close/>
              </a:path>
            </a:pathLst>
          </a:custGeom>
          <a:solidFill>
            <a:srgbClr val="18181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2" name="rect 51"/>
          <p:cNvSpPr/>
          <p:nvPr/>
        </p:nvSpPr>
        <p:spPr>
          <a:xfrm>
            <a:off x="3408790" y="1594670"/>
            <a:ext cx="197505" cy="102410"/>
          </a:xfrm>
          <a:prstGeom prst="rect">
            <a:avLst/>
          </a:prstGeom>
          <a:solidFill>
            <a:srgbClr val="A9CEE8"/>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3" name="rect 52"/>
          <p:cNvSpPr/>
          <p:nvPr/>
        </p:nvSpPr>
        <p:spPr>
          <a:xfrm>
            <a:off x="3408790" y="1719025"/>
            <a:ext cx="197505" cy="102410"/>
          </a:xfrm>
          <a:prstGeom prst="rect">
            <a:avLst/>
          </a:prstGeom>
          <a:solidFill>
            <a:srgbClr val="F2BD7D"/>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4" name="rect 53"/>
          <p:cNvSpPr/>
          <p:nvPr/>
        </p:nvSpPr>
        <p:spPr>
          <a:xfrm>
            <a:off x="3408790" y="1843380"/>
            <a:ext cx="197505" cy="102410"/>
          </a:xfrm>
          <a:prstGeom prst="rect">
            <a:avLst/>
          </a:prstGeom>
          <a:solidFill>
            <a:srgbClr val="A9CEE8"/>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5" name="rect 54"/>
          <p:cNvSpPr/>
          <p:nvPr/>
        </p:nvSpPr>
        <p:spPr>
          <a:xfrm>
            <a:off x="3408790" y="1967735"/>
            <a:ext cx="197505" cy="102410"/>
          </a:xfrm>
          <a:prstGeom prst="rect">
            <a:avLst/>
          </a:prstGeom>
          <a:solidFill>
            <a:srgbClr val="B5D68B"/>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6" name="rect 55"/>
          <p:cNvSpPr/>
          <p:nvPr/>
        </p:nvSpPr>
        <p:spPr>
          <a:xfrm>
            <a:off x="3408790" y="2092090"/>
            <a:ext cx="197505" cy="102410"/>
          </a:xfrm>
          <a:prstGeom prst="rect">
            <a:avLst/>
          </a:prstGeom>
          <a:solidFill>
            <a:srgbClr val="E9A6B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7" name="rect 56"/>
          <p:cNvSpPr/>
          <p:nvPr/>
        </p:nvSpPr>
        <p:spPr>
          <a:xfrm>
            <a:off x="3408790" y="2216445"/>
            <a:ext cx="197505" cy="102410"/>
          </a:xfrm>
          <a:prstGeom prst="rect">
            <a:avLst/>
          </a:prstGeom>
          <a:solidFill>
            <a:srgbClr val="A9CEE8"/>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8" name="z"/>
          <p:cNvSpPr txBox="1"/>
          <p:nvPr/>
        </p:nvSpPr>
        <p:spPr>
          <a:xfrm>
            <a:off x="3443551" y="2406635"/>
            <a:ext cx="170331" cy="266998"/>
          </a:xfrm>
          <a:prstGeom prst="rect">
            <a:avLst/>
          </a:prstGeom>
          <a:noFill/>
          <a:effectLst/>
        </p:spPr>
        <p:txBody>
          <a:bodyPr wrap="none" lIns="0" rIns="0" tIns="0" bIns="0" anchor="t">
            <a:spAutoFit/>
          </a:bodyPr>
          <a:lstStyle/>
          <a:p>
            <a:pPr algn="l">
              <a:lnSpc>
                <a:spcPct val="100000"/>
              </a:lnSpc>
              <a:spcBef>
                <a:spcPts val="0"/>
              </a:spcBef>
              <a:spcAft>
                <a:spcPts val="0"/>
              </a:spcAft>
            </a:pPr>
            <a:r>
              <a:rPr sz="1670" b="0" i="1" lang="en-US" spc="0">
                <a:solidFill>
                  <a:srgbClr val="181818"/>
                </a:solidFill>
                <a:latin typeface="Liberation Serif"/>
                <a:ea typeface="Liberation Serif"/>
                <a:effectLst/>
              </a:rPr>
              <a:t>z</a:t>
            </a:r>
          </a:p>
        </p:txBody>
      </p:sp>
      <p:sp>
        <p:nvSpPr>
          <p:cNvPr id="59" name="t"/>
          <p:cNvSpPr txBox="1"/>
          <p:nvPr/>
        </p:nvSpPr>
        <p:spPr>
          <a:xfrm>
            <a:off x="3533416" y="2527332"/>
            <a:ext cx="125898" cy="182875"/>
          </a:xfrm>
          <a:prstGeom prst="rect">
            <a:avLst/>
          </a:prstGeom>
          <a:noFill/>
          <a:effectLst/>
        </p:spPr>
        <p:txBody>
          <a:bodyPr wrap="none" lIns="0" rIns="0" tIns="0" bIns="0" anchor="t">
            <a:spAutoFit/>
          </a:bodyPr>
          <a:lstStyle/>
          <a:p>
            <a:pPr algn="l">
              <a:lnSpc>
                <a:spcPct val="100000"/>
              </a:lnSpc>
              <a:spcBef>
                <a:spcPts val="0"/>
              </a:spcBef>
              <a:spcAft>
                <a:spcPts val="0"/>
              </a:spcAft>
            </a:pPr>
            <a:r>
              <a:rPr sz="1085" b="0" i="0" lang="en-US" spc="0">
                <a:solidFill>
                  <a:srgbClr val="181818"/>
                </a:solidFill>
                <a:latin typeface="Liberation Serif"/>
                <a:ea typeface="Liberation Serif"/>
                <a:effectLst/>
              </a:rPr>
              <a:t>t</a:t>
            </a:r>
          </a:p>
        </p:txBody>
      </p:sp>
      <p:sp>
        <p:nvSpPr>
          <p:cNvPr id="60" name="circle 59"/>
          <p:cNvSpPr/>
          <p:nvPr/>
        </p:nvSpPr>
        <p:spPr>
          <a:xfrm>
            <a:off x="4037880" y="1792175"/>
            <a:ext cx="351120" cy="351120"/>
          </a:xfrm>
          <a:prstGeom prst="ellipse">
            <a:avLst/>
          </a:prstGeom>
          <a:solidFill>
            <a:srgbClr val="FFFFFF"/>
          </a:solidFill>
          <a:ln w="11704">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61" name="line 60"/>
          <p:cNvCxnSpPr/>
          <p:nvPr/>
        </p:nvCxnSpPr>
        <p:spPr>
          <a:xfrm>
            <a:off x="4184180" y="1894585"/>
            <a:ext cx="0" cy="146300"/>
          </a:xfrm>
          <a:prstGeom prst="line">
            <a:avLst/>
          </a:prstGeom>
          <a:ln w="13167">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62" name="line 61"/>
          <p:cNvCxnSpPr/>
          <p:nvPr/>
        </p:nvCxnSpPr>
        <p:spPr>
          <a:xfrm>
            <a:off x="4242700" y="1894585"/>
            <a:ext cx="0" cy="146300"/>
          </a:xfrm>
          <a:prstGeom prst="line">
            <a:avLst/>
          </a:prstGeom>
          <a:ln w="13167">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63" name="path 62"/>
          <p:cNvCxnSpPr/>
          <p:nvPr/>
        </p:nvCxnSpPr>
        <p:spPr>
          <a:xfrm>
            <a:off x="3628240" y="1967735"/>
            <a:ext cx="387695" cy="0"/>
          </a:xfrm>
          <a:prstGeom prst="line">
            <a:avLst/>
          </a:prstGeom>
          <a:ln w="19019">
            <a:solidFill>
              <a:srgbClr val="181818"/>
            </a:solidFill>
          </a:ln>
          <a:effectLst/>
        </p:spPr>
        <p:style>
          <a:lnRef idx="2">
            <a:schemeClr val="accent1"/>
          </a:lnRef>
          <a:fillRef idx="0">
            <a:schemeClr val="accent1"/>
          </a:fillRef>
          <a:effectRef idx="0">
            <a:schemeClr val="accent1"/>
          </a:effectRef>
          <a:fontRef idx="minor">
            <a:schemeClr val="tx1"/>
          </a:fontRef>
        </p:style>
      </p:cxnSp>
      <p:sp>
        <p:nvSpPr>
          <p:cNvPr id="64" name="arrowhead 63"/>
          <p:cNvSpPr/>
          <p:nvPr/>
        </p:nvSpPr>
        <p:spPr>
          <a:xfrm>
            <a:off x="3906210" y="1901900"/>
            <a:ext cx="131670" cy="131670"/>
          </a:xfrm>
          <a:custGeom>
            <a:avLst/>
            <a:gdLst/>
            <a:ahLst/>
            <a:cxnLst/>
            <a:rect l="l" t="t" r="r" b="b"/>
            <a:pathLst>
              <a:path w="18" h="18">
                <a:moveTo>
                  <a:pt x="18" y="9"/>
                </a:moveTo>
                <a:lnTo>
                  <a:pt x="0" y="18"/>
                </a:lnTo>
                <a:lnTo>
                  <a:pt x="0" y="0"/>
                </a:lnTo>
                <a:close/>
              </a:path>
            </a:pathLst>
          </a:custGeom>
          <a:solidFill>
            <a:srgbClr val="18181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5" name="polygon 64"/>
          <p:cNvSpPr/>
          <p:nvPr/>
        </p:nvSpPr>
        <p:spPr>
          <a:xfrm>
            <a:off x="416955" y="2867480"/>
            <a:ext cx="914375" cy="431585"/>
          </a:xfrm>
          <a:custGeom>
            <a:avLst/>
            <a:gdLst/>
            <a:ahLst/>
            <a:cxnLst/>
            <a:rect l="l" t="t" r="r" b="b"/>
            <a:pathLst>
              <a:path w="125" h="59">
                <a:moveTo>
                  <a:pt x="0" y="0"/>
                </a:moveTo>
                <a:lnTo>
                  <a:pt x="125" y="0"/>
                </a:lnTo>
                <a:lnTo>
                  <a:pt x="125" y="47"/>
                </a:lnTo>
                <a:lnTo>
                  <a:pt x="58" y="47"/>
                </a:lnTo>
                <a:lnTo>
                  <a:pt x="43" y="59"/>
                </a:lnTo>
                <a:lnTo>
                  <a:pt x="43" y="47"/>
                </a:lnTo>
                <a:lnTo>
                  <a:pt x="0" y="47"/>
                </a:lnTo>
                <a:close/>
              </a:path>
            </a:pathLst>
          </a:custGeom>
          <a:solidFill>
            <a:srgbClr val="F2BD7D"/>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6" name="Notice"/>
          <p:cNvSpPr txBox="1"/>
          <p:nvPr/>
        </p:nvSpPr>
        <p:spPr>
          <a:xfrm>
            <a:off x="522437" y="2936972"/>
            <a:ext cx="696097" cy="226765"/>
          </a:xfrm>
          <a:prstGeom prst="rect">
            <a:avLst/>
          </a:prstGeom>
          <a:noFill/>
          <a:effectLst/>
        </p:spPr>
        <p:txBody>
          <a:bodyPr wrap="none" lIns="0" rIns="0" tIns="0" bIns="0" anchor="t">
            <a:spAutoFit/>
          </a:bodyPr>
          <a:lstStyle/>
          <a:p>
            <a:pPr algn="ctr">
              <a:lnSpc>
                <a:spcPct val="100000"/>
              </a:lnSpc>
              <a:spcBef>
                <a:spcPts val="0"/>
              </a:spcBef>
              <a:spcAft>
                <a:spcPts val="0"/>
              </a:spcAft>
            </a:pPr>
            <a:r>
              <a:rPr sz="1324" b="1" i="0" lang="en-US" spc="0">
                <a:solidFill>
                  <a:srgbClr val="181818"/>
                </a:solidFill>
                <a:latin typeface="DejaVu Sans"/>
                <a:ea typeface="DejaVu Sans"/>
                <a:effectLst/>
              </a:rPr>
              <a:t>Notice</a:t>
            </a:r>
          </a:p>
        </p:txBody>
      </p:sp>
      <p:sp>
        <p:nvSpPr>
          <p:cNvPr id="67" name="path 66"/>
          <p:cNvSpPr/>
          <p:nvPr/>
        </p:nvSpPr>
        <p:spPr>
          <a:xfrm>
            <a:off x="1836065" y="2765070"/>
            <a:ext cx="731500" cy="343805"/>
          </a:xfrm>
          <a:custGeom>
            <a:avLst/>
            <a:gdLst/>
            <a:ahLst/>
            <a:cxnLst/>
            <a:rect l="l" t="t" r="r" b="b"/>
            <a:pathLst>
              <a:path w="100" h="47">
                <a:moveTo>
                  <a:pt x="0" y="47"/>
                </a:moveTo>
                <a:lnTo>
                  <a:pt x="24" y="47"/>
                </a:lnTo>
                <a:lnTo>
                  <a:pt x="24" y="32"/>
                </a:lnTo>
                <a:lnTo>
                  <a:pt x="49" y="32"/>
                </a:lnTo>
                <a:lnTo>
                  <a:pt x="49" y="16"/>
                </a:lnTo>
                <a:lnTo>
                  <a:pt x="76" y="16"/>
                </a:lnTo>
                <a:lnTo>
                  <a:pt x="76" y="0"/>
                </a:lnTo>
                <a:lnTo>
                  <a:pt x="100" y="0"/>
                </a:lnTo>
              </a:path>
            </a:pathLst>
          </a:custGeom>
          <a:noFill/>
          <a:ln w="18288">
            <a:solidFill>
              <a:srgbClr val="2676B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8" name="N"/>
          <p:cNvSpPr txBox="1"/>
          <p:nvPr/>
        </p:nvSpPr>
        <p:spPr>
          <a:xfrm>
            <a:off x="1947147" y="3233230"/>
            <a:ext cx="224393" cy="257854"/>
          </a:xfrm>
          <a:prstGeom prst="rect">
            <a:avLst/>
          </a:prstGeom>
          <a:noFill/>
          <a:effectLst/>
        </p:spPr>
        <p:txBody>
          <a:bodyPr wrap="none" lIns="0" rIns="0" tIns="0" bIns="0" anchor="t">
            <a:spAutoFit/>
          </a:bodyPr>
          <a:lstStyle/>
          <a:p>
            <a:pPr algn="l">
              <a:lnSpc>
                <a:spcPct val="100000"/>
              </a:lnSpc>
              <a:spcBef>
                <a:spcPts val="0"/>
              </a:spcBef>
              <a:spcAft>
                <a:spcPts val="0"/>
              </a:spcAft>
            </a:pPr>
            <a:r>
              <a:rPr sz="1612" b="0" i="1" lang="en-US" spc="0">
                <a:solidFill>
                  <a:srgbClr val="181818"/>
                </a:solidFill>
                <a:latin typeface="Liberation Serif"/>
                <a:ea typeface="Liberation Serif"/>
                <a:effectLst/>
              </a:rPr>
              <a:t>N</a:t>
            </a:r>
          </a:p>
        </p:txBody>
      </p:sp>
      <p:sp>
        <p:nvSpPr>
          <p:cNvPr id="69" name="t"/>
          <p:cNvSpPr txBox="1"/>
          <p:nvPr/>
        </p:nvSpPr>
        <p:spPr>
          <a:xfrm>
            <a:off x="2091076" y="3346612"/>
            <a:ext cx="124869" cy="179218"/>
          </a:xfrm>
          <a:prstGeom prst="rect">
            <a:avLst/>
          </a:prstGeom>
          <a:noFill/>
          <a:effectLst/>
        </p:spPr>
        <p:txBody>
          <a:bodyPr wrap="none" lIns="0" rIns="0" tIns="0" bIns="0" anchor="t">
            <a:spAutoFit/>
          </a:bodyPr>
          <a:lstStyle/>
          <a:p>
            <a:pPr algn="l">
              <a:lnSpc>
                <a:spcPct val="100000"/>
              </a:lnSpc>
              <a:spcBef>
                <a:spcPts val="0"/>
              </a:spcBef>
              <a:spcAft>
                <a:spcPts val="0"/>
              </a:spcAft>
            </a:pPr>
            <a:r>
              <a:rPr sz="1048" b="0" i="0" lang="en-US" spc="0">
                <a:solidFill>
                  <a:srgbClr val="181818"/>
                </a:solidFill>
                <a:latin typeface="Liberation Serif"/>
                <a:ea typeface="Liberation Serif"/>
                <a:effectLst/>
              </a:rPr>
              <a:t>t</a:t>
            </a:r>
          </a:p>
        </p:txBody>
      </p:sp>
      <p:sp>
        <p:nvSpPr>
          <p:cNvPr id="70" name=", { }"/>
          <p:cNvSpPr txBox="1"/>
          <p:nvPr/>
        </p:nvSpPr>
        <p:spPr>
          <a:xfrm>
            <a:off x="2135480" y="3233230"/>
            <a:ext cx="438043" cy="257854"/>
          </a:xfrm>
          <a:prstGeom prst="rect">
            <a:avLst/>
          </a:prstGeom>
          <a:noFill/>
          <a:effectLst/>
        </p:spPr>
        <p:txBody>
          <a:bodyPr wrap="none" lIns="0" rIns="0" tIns="0" bIns="0" anchor="t">
            <a:spAutoFit/>
          </a:bodyPr>
          <a:lstStyle/>
          <a:p>
            <a:pPr algn="l">
              <a:lnSpc>
                <a:spcPct val="100000"/>
              </a:lnSpc>
              <a:spcBef>
                <a:spcPts val="0"/>
              </a:spcBef>
              <a:spcAft>
                <a:spcPts val="0"/>
              </a:spcAft>
            </a:pPr>
            <a:r>
              <a:rPr sz="1612" b="0" i="0" lang="en-US" spc="0">
                <a:solidFill>
                  <a:srgbClr val="181818"/>
                </a:solidFill>
                <a:latin typeface="Liberation Serif"/>
                <a:ea typeface="Liberation Serif"/>
                <a:effectLst/>
              </a:rPr>
              <a:t>, { }</a:t>
            </a:r>
          </a:p>
        </p:txBody>
      </p:sp>
      <p:sp>
        <p:nvSpPr>
          <p:cNvPr id="71" name="rect 70"/>
          <p:cNvSpPr/>
          <p:nvPr/>
        </p:nvSpPr>
        <p:spPr>
          <a:xfrm>
            <a:off x="2735810" y="2845535"/>
            <a:ext cx="563255" cy="212135"/>
          </a:xfrm>
          <a:prstGeom prst="rect">
            <a:avLst/>
          </a:prstGeom>
          <a:solidFill>
            <a:srgbClr val="A9CEE8"/>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2" name="notice"/>
          <p:cNvSpPr txBox="1"/>
          <p:nvPr/>
        </p:nvSpPr>
        <p:spPr>
          <a:xfrm>
            <a:off x="2794330" y="2866310"/>
            <a:ext cx="572942" cy="192019"/>
          </a:xfrm>
          <a:prstGeom prst="rect">
            <a:avLst/>
          </a:prstGeom>
          <a:noFill/>
          <a:effectLst/>
        </p:spPr>
        <p:txBody>
          <a:bodyPr wrap="none" lIns="0" rIns="0" tIns="0" bIns="0" anchor="t">
            <a:spAutoFit/>
          </a:bodyPr>
          <a:lstStyle/>
          <a:p>
            <a:pPr algn="l">
              <a:lnSpc>
                <a:spcPct val="100000"/>
              </a:lnSpc>
              <a:spcBef>
                <a:spcPts val="0"/>
              </a:spcBef>
              <a:spcAft>
                <a:spcPts val="0"/>
              </a:spcAft>
            </a:pPr>
            <a:r>
              <a:rPr sz="1094" b="1" i="0" lang="en-US" spc="0">
                <a:solidFill>
                  <a:srgbClr val="181818"/>
                </a:solidFill>
                <a:latin typeface="DejaVu Sans"/>
                <a:ea typeface="DejaVu Sans"/>
                <a:effectLst/>
              </a:rPr>
              <a:t>notice</a:t>
            </a:r>
          </a:p>
        </p:txBody>
      </p:sp>
      <p:sp>
        <p:nvSpPr>
          <p:cNvPr id="73" name="rect 72"/>
          <p:cNvSpPr/>
          <p:nvPr/>
        </p:nvSpPr>
        <p:spPr>
          <a:xfrm>
            <a:off x="3299065" y="2845535"/>
            <a:ext cx="585200" cy="212135"/>
          </a:xfrm>
          <a:prstGeom prst="rect">
            <a:avLst/>
          </a:prstGeom>
          <a:solidFill>
            <a:srgbClr val="A9CEE8"/>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4" name="tokens"/>
          <p:cNvSpPr txBox="1"/>
          <p:nvPr/>
        </p:nvSpPr>
        <p:spPr>
          <a:xfrm>
            <a:off x="3357585" y="2866310"/>
            <a:ext cx="614346" cy="192019"/>
          </a:xfrm>
          <a:prstGeom prst="rect">
            <a:avLst/>
          </a:prstGeom>
          <a:noFill/>
          <a:effectLst/>
        </p:spPr>
        <p:txBody>
          <a:bodyPr wrap="none" lIns="0" rIns="0" tIns="0" bIns="0" anchor="t">
            <a:spAutoFit/>
          </a:bodyPr>
          <a:lstStyle/>
          <a:p>
            <a:pPr algn="l">
              <a:lnSpc>
                <a:spcPct val="100000"/>
              </a:lnSpc>
              <a:spcBef>
                <a:spcPts val="0"/>
              </a:spcBef>
              <a:spcAft>
                <a:spcPts val="0"/>
              </a:spcAft>
            </a:pPr>
            <a:r>
              <a:rPr sz="1094" b="1" i="0" lang="en-US" spc="0">
                <a:solidFill>
                  <a:srgbClr val="181818"/>
                </a:solidFill>
                <a:latin typeface="DejaVu Sans"/>
                <a:ea typeface="DejaVu Sans"/>
                <a:effectLst/>
              </a:rPr>
              <a:t>tokens</a:t>
            </a:r>
          </a:p>
        </p:txBody>
      </p:sp>
      <p:sp>
        <p:nvSpPr>
          <p:cNvPr id="75" name="rect 74"/>
          <p:cNvSpPr/>
          <p:nvPr/>
        </p:nvSpPr>
        <p:spPr>
          <a:xfrm>
            <a:off x="3884265" y="2845535"/>
            <a:ext cx="577885" cy="212135"/>
          </a:xfrm>
          <a:prstGeom prst="rect">
            <a:avLst/>
          </a:prstGeom>
          <a:solidFill>
            <a:srgbClr val="A9CEE8"/>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6" name="syntax"/>
          <p:cNvSpPr txBox="1"/>
          <p:nvPr/>
        </p:nvSpPr>
        <p:spPr>
          <a:xfrm>
            <a:off x="3942785" y="2866310"/>
            <a:ext cx="609917" cy="192019"/>
          </a:xfrm>
          <a:prstGeom prst="rect">
            <a:avLst/>
          </a:prstGeom>
          <a:noFill/>
          <a:effectLst/>
        </p:spPr>
        <p:txBody>
          <a:bodyPr wrap="none" lIns="0" rIns="0" tIns="0" bIns="0" anchor="t">
            <a:spAutoFit/>
          </a:bodyPr>
          <a:lstStyle/>
          <a:p>
            <a:pPr algn="l">
              <a:lnSpc>
                <a:spcPct val="100000"/>
              </a:lnSpc>
              <a:spcBef>
                <a:spcPts val="0"/>
              </a:spcBef>
              <a:spcAft>
                <a:spcPts val="0"/>
              </a:spcAft>
            </a:pPr>
            <a:r>
              <a:rPr sz="1094" b="1" i="0" lang="en-US" spc="0">
                <a:solidFill>
                  <a:srgbClr val="181818"/>
                </a:solidFill>
                <a:latin typeface="DejaVu Sans"/>
                <a:ea typeface="DejaVu Sans"/>
                <a:effectLst/>
              </a:rPr>
              <a:t>syntax</a:t>
            </a:r>
          </a:p>
        </p:txBody>
      </p:sp>
      <p:sp>
        <p:nvSpPr>
          <p:cNvPr id="77" name="rect 76"/>
          <p:cNvSpPr/>
          <p:nvPr/>
        </p:nvSpPr>
        <p:spPr>
          <a:xfrm>
            <a:off x="2735810" y="3057670"/>
            <a:ext cx="563255" cy="212135"/>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8" name="1"/>
          <p:cNvSpPr txBox="1"/>
          <p:nvPr/>
        </p:nvSpPr>
        <p:spPr>
          <a:xfrm>
            <a:off x="2794330" y="3078445"/>
            <a:ext cx="176217" cy="192019"/>
          </a:xfrm>
          <a:prstGeom prst="rect">
            <a:avLst/>
          </a:prstGeom>
          <a:noFill/>
          <a:effectLst/>
        </p:spPr>
        <p:txBody>
          <a:bodyPr wrap="none" lIns="0" rIns="0" tIns="0" bIns="0" anchor="t">
            <a:spAutoFit/>
          </a:bodyPr>
          <a:lstStyle/>
          <a:p>
            <a:pPr algn="l">
              <a:lnSpc>
                <a:spcPct val="100000"/>
              </a:lnSpc>
              <a:spcBef>
                <a:spcPts val="0"/>
              </a:spcBef>
              <a:spcAft>
                <a:spcPts val="0"/>
              </a:spcAft>
            </a:pPr>
            <a:r>
              <a:rPr sz="1094" b="0" i="0" lang="en-US" spc="0">
                <a:solidFill>
                  <a:srgbClr val="181818"/>
                </a:solidFill>
                <a:latin typeface="DejaVu Sans"/>
                <a:ea typeface="DejaVu Sans"/>
                <a:effectLst/>
              </a:rPr>
              <a:t>1</a:t>
            </a:r>
          </a:p>
        </p:txBody>
      </p:sp>
      <p:sp>
        <p:nvSpPr>
          <p:cNvPr id="79" name="rect 78"/>
          <p:cNvSpPr/>
          <p:nvPr/>
        </p:nvSpPr>
        <p:spPr>
          <a:xfrm>
            <a:off x="3299065" y="3057670"/>
            <a:ext cx="585200" cy="212135"/>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0" name="N(t)"/>
          <p:cNvSpPr txBox="1"/>
          <p:nvPr/>
        </p:nvSpPr>
        <p:spPr>
          <a:xfrm>
            <a:off x="3357585" y="3078445"/>
            <a:ext cx="354720" cy="192019"/>
          </a:xfrm>
          <a:prstGeom prst="rect">
            <a:avLst/>
          </a:prstGeom>
          <a:noFill/>
          <a:effectLst/>
        </p:spPr>
        <p:txBody>
          <a:bodyPr wrap="none" lIns="0" rIns="0" tIns="0" bIns="0" anchor="t">
            <a:spAutoFit/>
          </a:bodyPr>
          <a:lstStyle/>
          <a:p>
            <a:pPr algn="l">
              <a:lnSpc>
                <a:spcPct val="100000"/>
              </a:lnSpc>
              <a:spcBef>
                <a:spcPts val="0"/>
              </a:spcBef>
              <a:spcAft>
                <a:spcPts val="0"/>
              </a:spcAft>
            </a:pPr>
            <a:r>
              <a:rPr sz="1094" b="0" i="0" lang="en-US" spc="0">
                <a:solidFill>
                  <a:srgbClr val="181818"/>
                </a:solidFill>
                <a:latin typeface="DejaVu Sans"/>
                <a:ea typeface="DejaVu Sans"/>
                <a:effectLst/>
              </a:rPr>
              <a:t>N(t)</a:t>
            </a:r>
          </a:p>
        </p:txBody>
      </p:sp>
      <p:sp>
        <p:nvSpPr>
          <p:cNvPr id="81" name="rect 80"/>
          <p:cNvSpPr/>
          <p:nvPr/>
        </p:nvSpPr>
        <p:spPr>
          <a:xfrm>
            <a:off x="3884265" y="3057670"/>
            <a:ext cx="577885" cy="212135"/>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2" name="{ }"/>
          <p:cNvSpPr txBox="1"/>
          <p:nvPr/>
        </p:nvSpPr>
        <p:spPr>
          <a:xfrm>
            <a:off x="3942785" y="3078445"/>
            <a:ext cx="308830" cy="192019"/>
          </a:xfrm>
          <a:prstGeom prst="rect">
            <a:avLst/>
          </a:prstGeom>
          <a:noFill/>
          <a:effectLst/>
        </p:spPr>
        <p:txBody>
          <a:bodyPr wrap="none" lIns="0" rIns="0" tIns="0" bIns="0" anchor="t">
            <a:spAutoFit/>
          </a:bodyPr>
          <a:lstStyle/>
          <a:p>
            <a:pPr algn="l">
              <a:lnSpc>
                <a:spcPct val="100000"/>
              </a:lnSpc>
              <a:spcBef>
                <a:spcPts val="0"/>
              </a:spcBef>
              <a:spcAft>
                <a:spcPts val="0"/>
              </a:spcAft>
            </a:pPr>
            <a:r>
              <a:rPr sz="1094" b="0" i="0" lang="en-US" spc="0">
                <a:solidFill>
                  <a:srgbClr val="181818"/>
                </a:solidFill>
                <a:latin typeface="DejaVu Sans"/>
                <a:ea typeface="DejaVu Sans"/>
                <a:effectLst/>
              </a:rPr>
              <a:t>{ }</a:t>
            </a:r>
          </a:p>
        </p:txBody>
      </p:sp>
      <p:sp>
        <p:nvSpPr>
          <p:cNvPr id="83" name="path 82"/>
          <p:cNvSpPr/>
          <p:nvPr/>
        </p:nvSpPr>
        <p:spPr>
          <a:xfrm>
            <a:off x="1345960" y="2172555"/>
            <a:ext cx="2867480" cy="870485"/>
          </a:xfrm>
          <a:custGeom>
            <a:avLst/>
            <a:gdLst/>
            <a:ahLst/>
            <a:cxnLst/>
            <a:rect l="l" t="t" r="r" b="b"/>
            <a:pathLst>
              <a:path w="392" h="119">
                <a:moveTo>
                  <a:pt x="0" y="119"/>
                </a:moveTo>
                <a:lnTo>
                  <a:pt x="25" y="119"/>
                </a:lnTo>
                <a:lnTo>
                  <a:pt x="25" y="73"/>
                </a:lnTo>
                <a:lnTo>
                  <a:pt x="392" y="73"/>
                </a:lnTo>
                <a:lnTo>
                  <a:pt x="392" y="0"/>
                </a:lnTo>
              </a:path>
            </a:pathLst>
          </a:custGeom>
          <a:noFill/>
          <a:ln w="14630">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4" name="arrowhead 83"/>
          <p:cNvSpPr/>
          <p:nvPr/>
        </p:nvSpPr>
        <p:spPr>
          <a:xfrm>
            <a:off x="4162235" y="2157925"/>
            <a:ext cx="102410" cy="102410"/>
          </a:xfrm>
          <a:custGeom>
            <a:avLst/>
            <a:gdLst/>
            <a:ahLst/>
            <a:cxnLst/>
            <a:rect l="l" t="t" r="r" b="b"/>
            <a:pathLst>
              <a:path w="14" h="14">
                <a:moveTo>
                  <a:pt x="7" y="0"/>
                </a:moveTo>
                <a:lnTo>
                  <a:pt x="14" y="14"/>
                </a:lnTo>
                <a:lnTo>
                  <a:pt x="0" y="14"/>
                </a:lnTo>
                <a:close/>
              </a:path>
            </a:pathLst>
          </a:custGeom>
          <a:solidFill>
            <a:srgbClr val="18181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85" name="path 84"/>
          <p:cNvCxnSpPr/>
          <p:nvPr/>
        </p:nvCxnSpPr>
        <p:spPr>
          <a:xfrm>
            <a:off x="2596825" y="2991835"/>
            <a:ext cx="117040" cy="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sp>
        <p:nvSpPr>
          <p:cNvPr id="86" name="arrowhead 85"/>
          <p:cNvSpPr/>
          <p:nvPr/>
        </p:nvSpPr>
        <p:spPr>
          <a:xfrm>
            <a:off x="2626085" y="2940630"/>
            <a:ext cx="102410" cy="102410"/>
          </a:xfrm>
          <a:custGeom>
            <a:avLst/>
            <a:gdLst/>
            <a:ahLst/>
            <a:cxnLst/>
            <a:rect l="l" t="t" r="r" b="b"/>
            <a:pathLst>
              <a:path w="14" h="14">
                <a:moveTo>
                  <a:pt x="14" y="7"/>
                </a:moveTo>
                <a:lnTo>
                  <a:pt x="0" y="14"/>
                </a:lnTo>
                <a:lnTo>
                  <a:pt x="0" y="0"/>
                </a:lnTo>
                <a:close/>
              </a:path>
            </a:pathLst>
          </a:custGeom>
          <a:solidFill>
            <a:srgbClr val="18181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7" name="path 86"/>
          <p:cNvSpPr/>
          <p:nvPr/>
        </p:nvSpPr>
        <p:spPr>
          <a:xfrm>
            <a:off x="4213440" y="2172555"/>
            <a:ext cx="314545" cy="1009470"/>
          </a:xfrm>
          <a:custGeom>
            <a:avLst/>
            <a:gdLst/>
            <a:ahLst/>
            <a:cxnLst/>
            <a:rect l="l" t="t" r="r" b="b"/>
            <a:pathLst>
              <a:path w="43" h="138">
                <a:moveTo>
                  <a:pt x="36" y="138"/>
                </a:moveTo>
                <a:lnTo>
                  <a:pt x="43" y="138"/>
                </a:lnTo>
                <a:lnTo>
                  <a:pt x="43" y="53"/>
                </a:lnTo>
                <a:lnTo>
                  <a:pt x="0" y="53"/>
                </a:lnTo>
                <a:lnTo>
                  <a:pt x="0" y="0"/>
                </a:lnTo>
              </a:path>
            </a:pathLst>
          </a:custGeom>
          <a:noFill/>
          <a:ln w="14630">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8" name="arrowhead 87"/>
          <p:cNvSpPr/>
          <p:nvPr/>
        </p:nvSpPr>
        <p:spPr>
          <a:xfrm>
            <a:off x="4162235" y="2157925"/>
            <a:ext cx="102410" cy="102410"/>
          </a:xfrm>
          <a:custGeom>
            <a:avLst/>
            <a:gdLst/>
            <a:ahLst/>
            <a:cxnLst/>
            <a:rect l="l" t="t" r="r" b="b"/>
            <a:pathLst>
              <a:path w="14" h="14">
                <a:moveTo>
                  <a:pt x="7" y="0"/>
                </a:moveTo>
                <a:lnTo>
                  <a:pt x="14" y="14"/>
                </a:lnTo>
                <a:lnTo>
                  <a:pt x="0" y="14"/>
                </a:lnTo>
                <a:close/>
              </a:path>
            </a:pathLst>
          </a:custGeom>
          <a:solidFill>
            <a:srgbClr val="18181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9" name="path 88"/>
          <p:cNvSpPr/>
          <p:nvPr/>
        </p:nvSpPr>
        <p:spPr>
          <a:xfrm>
            <a:off x="4410945" y="1784860"/>
            <a:ext cx="453530" cy="182875"/>
          </a:xfrm>
          <a:custGeom>
            <a:avLst/>
            <a:gdLst/>
            <a:ahLst/>
            <a:cxnLst/>
            <a:rect l="l" t="t" r="r" b="b"/>
            <a:pathLst>
              <a:path w="62" h="25">
                <a:moveTo>
                  <a:pt x="0" y="25"/>
                </a:moveTo>
                <a:lnTo>
                  <a:pt x="33" y="25"/>
                </a:lnTo>
                <a:lnTo>
                  <a:pt x="33" y="0"/>
                </a:lnTo>
                <a:lnTo>
                  <a:pt x="62" y="0"/>
                </a:lnTo>
              </a:path>
            </a:pathLst>
          </a:custGeom>
          <a:noFill/>
          <a:ln w="19019">
            <a:solidFill>
              <a:srgbClr val="BF333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0" name="arrowhead 89"/>
          <p:cNvSpPr/>
          <p:nvPr/>
        </p:nvSpPr>
        <p:spPr>
          <a:xfrm>
            <a:off x="4754750" y="1719025"/>
            <a:ext cx="131670" cy="131670"/>
          </a:xfrm>
          <a:custGeom>
            <a:avLst/>
            <a:gdLst/>
            <a:ahLst/>
            <a:cxnLst/>
            <a:rect l="l" t="t" r="r" b="b"/>
            <a:pathLst>
              <a:path w="18" h="18">
                <a:moveTo>
                  <a:pt x="18" y="9"/>
                </a:moveTo>
                <a:lnTo>
                  <a:pt x="0" y="18"/>
                </a:lnTo>
                <a:lnTo>
                  <a:pt x="0" y="0"/>
                </a:lnTo>
                <a:close/>
              </a:path>
            </a:pathLst>
          </a:custGeom>
          <a:solidFill>
            <a:srgbClr val="BF333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1" name="path 90"/>
          <p:cNvSpPr/>
          <p:nvPr/>
        </p:nvSpPr>
        <p:spPr>
          <a:xfrm>
            <a:off x="4652340" y="1967735"/>
            <a:ext cx="212135" cy="950950"/>
          </a:xfrm>
          <a:custGeom>
            <a:avLst/>
            <a:gdLst/>
            <a:ahLst/>
            <a:cxnLst/>
            <a:rect l="l" t="t" r="r" b="b"/>
            <a:pathLst>
              <a:path w="29" h="130">
                <a:moveTo>
                  <a:pt x="0" y="0"/>
                </a:moveTo>
                <a:lnTo>
                  <a:pt x="0" y="130"/>
                </a:lnTo>
                <a:lnTo>
                  <a:pt x="29" y="130"/>
                </a:lnTo>
              </a:path>
            </a:pathLst>
          </a:custGeom>
          <a:noFill/>
          <a:ln w="19019">
            <a:solidFill>
              <a:srgbClr val="BF333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2" name="arrowhead 91"/>
          <p:cNvSpPr/>
          <p:nvPr/>
        </p:nvSpPr>
        <p:spPr>
          <a:xfrm>
            <a:off x="4754750" y="2852850"/>
            <a:ext cx="131670" cy="131670"/>
          </a:xfrm>
          <a:custGeom>
            <a:avLst/>
            <a:gdLst/>
            <a:ahLst/>
            <a:cxnLst/>
            <a:rect l="l" t="t" r="r" b="b"/>
            <a:pathLst>
              <a:path w="18" h="18">
                <a:moveTo>
                  <a:pt x="18" y="9"/>
                </a:moveTo>
                <a:lnTo>
                  <a:pt x="0" y="18"/>
                </a:lnTo>
                <a:lnTo>
                  <a:pt x="0" y="0"/>
                </a:lnTo>
                <a:close/>
              </a:path>
            </a:pathLst>
          </a:custGeom>
          <a:solidFill>
            <a:srgbClr val="BF333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3" name="rect 92"/>
          <p:cNvSpPr/>
          <p:nvPr/>
        </p:nvSpPr>
        <p:spPr>
          <a:xfrm>
            <a:off x="4974200" y="1572725"/>
            <a:ext cx="73150" cy="73150"/>
          </a:xfrm>
          <a:prstGeom prst="rect">
            <a:avLst/>
          </a:prstGeom>
          <a:solidFill>
            <a:srgbClr val="F2BD7D"/>
          </a:solidFill>
          <a:ln w="5852">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4" name="rect 93"/>
          <p:cNvSpPr/>
          <p:nvPr/>
        </p:nvSpPr>
        <p:spPr>
          <a:xfrm>
            <a:off x="5076610" y="1572725"/>
            <a:ext cx="73150" cy="73150"/>
          </a:xfrm>
          <a:prstGeom prst="rect">
            <a:avLst/>
          </a:prstGeom>
          <a:solidFill>
            <a:srgbClr val="A9CEE8"/>
          </a:solidFill>
          <a:ln w="5852">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5" name="rect 94"/>
          <p:cNvSpPr/>
          <p:nvPr/>
        </p:nvSpPr>
        <p:spPr>
          <a:xfrm>
            <a:off x="5179020" y="1572725"/>
            <a:ext cx="73150" cy="73150"/>
          </a:xfrm>
          <a:prstGeom prst="rect">
            <a:avLst/>
          </a:prstGeom>
          <a:solidFill>
            <a:srgbClr val="A9CEE8"/>
          </a:solidFill>
          <a:ln w="5852">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6" name="rect 95"/>
          <p:cNvSpPr/>
          <p:nvPr/>
        </p:nvSpPr>
        <p:spPr>
          <a:xfrm>
            <a:off x="4974200" y="1675135"/>
            <a:ext cx="73150" cy="73150"/>
          </a:xfrm>
          <a:prstGeom prst="rect">
            <a:avLst/>
          </a:prstGeom>
          <a:solidFill>
            <a:srgbClr val="A9CEE8"/>
          </a:solidFill>
          <a:ln w="5852">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7" name="rect 96"/>
          <p:cNvSpPr/>
          <p:nvPr/>
        </p:nvSpPr>
        <p:spPr>
          <a:xfrm>
            <a:off x="5076610" y="1675135"/>
            <a:ext cx="73150" cy="73150"/>
          </a:xfrm>
          <a:prstGeom prst="rect">
            <a:avLst/>
          </a:prstGeom>
          <a:solidFill>
            <a:srgbClr val="F2BD7D"/>
          </a:solidFill>
          <a:ln w="5852">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8" name="rect 97"/>
          <p:cNvSpPr/>
          <p:nvPr/>
        </p:nvSpPr>
        <p:spPr>
          <a:xfrm>
            <a:off x="5179020" y="1675135"/>
            <a:ext cx="73150" cy="73150"/>
          </a:xfrm>
          <a:prstGeom prst="rect">
            <a:avLst/>
          </a:prstGeom>
          <a:solidFill>
            <a:srgbClr val="A9CEE8"/>
          </a:solidFill>
          <a:ln w="5852">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9" name="rect 98"/>
          <p:cNvSpPr/>
          <p:nvPr/>
        </p:nvSpPr>
        <p:spPr>
          <a:xfrm>
            <a:off x="4974200" y="1777545"/>
            <a:ext cx="73150" cy="73150"/>
          </a:xfrm>
          <a:prstGeom prst="rect">
            <a:avLst/>
          </a:prstGeom>
          <a:solidFill>
            <a:srgbClr val="A9CEE8"/>
          </a:solidFill>
          <a:ln w="5852">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0" name="rect 99"/>
          <p:cNvSpPr/>
          <p:nvPr/>
        </p:nvSpPr>
        <p:spPr>
          <a:xfrm>
            <a:off x="5076610" y="1777545"/>
            <a:ext cx="73150" cy="73150"/>
          </a:xfrm>
          <a:prstGeom prst="rect">
            <a:avLst/>
          </a:prstGeom>
          <a:solidFill>
            <a:srgbClr val="A9CEE8"/>
          </a:solidFill>
          <a:ln w="5852">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1" name="rect 100"/>
          <p:cNvSpPr/>
          <p:nvPr/>
        </p:nvSpPr>
        <p:spPr>
          <a:xfrm>
            <a:off x="5179020" y="1777545"/>
            <a:ext cx="73150" cy="73150"/>
          </a:xfrm>
          <a:prstGeom prst="rect">
            <a:avLst/>
          </a:prstGeom>
          <a:solidFill>
            <a:srgbClr val="F2BD7D"/>
          </a:solidFill>
          <a:ln w="5852">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2" name="Phase"/>
          <p:cNvSpPr txBox="1"/>
          <p:nvPr/>
        </p:nvSpPr>
        <p:spPr>
          <a:xfrm>
            <a:off x="5376525" y="1634902"/>
            <a:ext cx="683467" cy="235909"/>
          </a:xfrm>
          <a:prstGeom prst="rect">
            <a:avLst/>
          </a:prstGeom>
          <a:noFill/>
          <a:effectLst/>
        </p:spPr>
        <p:txBody>
          <a:bodyPr wrap="none" lIns="0" rIns="0" tIns="0" bIns="0" anchor="t">
            <a:spAutoFit/>
          </a:bodyPr>
          <a:lstStyle/>
          <a:p>
            <a:pPr algn="l">
              <a:lnSpc>
                <a:spcPct val="100000"/>
              </a:lnSpc>
              <a:spcBef>
                <a:spcPts val="0"/>
              </a:spcBef>
              <a:spcAft>
                <a:spcPts val="0"/>
              </a:spcAft>
            </a:pPr>
            <a:r>
              <a:rPr sz="1382" b="1" i="0" lang="en-US" spc="0">
                <a:solidFill>
                  <a:srgbClr val="181818"/>
                </a:solidFill>
                <a:latin typeface="DejaVu Sans"/>
                <a:ea typeface="DejaVu Sans"/>
                <a:effectLst/>
              </a:rPr>
              <a:t>Phase</a:t>
            </a:r>
          </a:p>
        </p:txBody>
      </p:sp>
      <p:sp>
        <p:nvSpPr>
          <p:cNvPr id="103" name="rect 102"/>
          <p:cNvSpPr/>
          <p:nvPr/>
        </p:nvSpPr>
        <p:spPr>
          <a:xfrm>
            <a:off x="4974200" y="2706550"/>
            <a:ext cx="73150" cy="73150"/>
          </a:xfrm>
          <a:prstGeom prst="rect">
            <a:avLst/>
          </a:prstGeom>
          <a:solidFill>
            <a:srgbClr val="F2BD7D"/>
          </a:solidFill>
          <a:ln w="5852">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4" name="rect 103"/>
          <p:cNvSpPr/>
          <p:nvPr/>
        </p:nvSpPr>
        <p:spPr>
          <a:xfrm>
            <a:off x="5076610" y="2706550"/>
            <a:ext cx="73150" cy="73150"/>
          </a:xfrm>
          <a:prstGeom prst="rect">
            <a:avLst/>
          </a:prstGeom>
          <a:solidFill>
            <a:srgbClr val="A9CEE8"/>
          </a:solidFill>
          <a:ln w="5852">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5" name="rect 104"/>
          <p:cNvSpPr/>
          <p:nvPr/>
        </p:nvSpPr>
        <p:spPr>
          <a:xfrm>
            <a:off x="5179020" y="2706550"/>
            <a:ext cx="73150" cy="73150"/>
          </a:xfrm>
          <a:prstGeom prst="rect">
            <a:avLst/>
          </a:prstGeom>
          <a:solidFill>
            <a:srgbClr val="A9CEE8"/>
          </a:solidFill>
          <a:ln w="5852">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6" name="rect 105"/>
          <p:cNvSpPr/>
          <p:nvPr/>
        </p:nvSpPr>
        <p:spPr>
          <a:xfrm>
            <a:off x="4974200" y="2808960"/>
            <a:ext cx="73150" cy="73150"/>
          </a:xfrm>
          <a:prstGeom prst="rect">
            <a:avLst/>
          </a:prstGeom>
          <a:solidFill>
            <a:srgbClr val="A9CEE8"/>
          </a:solidFill>
          <a:ln w="5852">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7" name="rect 106"/>
          <p:cNvSpPr/>
          <p:nvPr/>
        </p:nvSpPr>
        <p:spPr>
          <a:xfrm>
            <a:off x="5076610" y="2808960"/>
            <a:ext cx="73150" cy="73150"/>
          </a:xfrm>
          <a:prstGeom prst="rect">
            <a:avLst/>
          </a:prstGeom>
          <a:solidFill>
            <a:srgbClr val="F2BD7D"/>
          </a:solidFill>
          <a:ln w="5852">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8" name="rect 107"/>
          <p:cNvSpPr/>
          <p:nvPr/>
        </p:nvSpPr>
        <p:spPr>
          <a:xfrm>
            <a:off x="5179020" y="2808960"/>
            <a:ext cx="73150" cy="73150"/>
          </a:xfrm>
          <a:prstGeom prst="rect">
            <a:avLst/>
          </a:prstGeom>
          <a:solidFill>
            <a:srgbClr val="A9CEE8"/>
          </a:solidFill>
          <a:ln w="5852">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9" name="rect 108"/>
          <p:cNvSpPr/>
          <p:nvPr/>
        </p:nvSpPr>
        <p:spPr>
          <a:xfrm>
            <a:off x="4974200" y="2911370"/>
            <a:ext cx="73150" cy="73150"/>
          </a:xfrm>
          <a:prstGeom prst="rect">
            <a:avLst/>
          </a:prstGeom>
          <a:solidFill>
            <a:srgbClr val="A9CEE8"/>
          </a:solidFill>
          <a:ln w="5852">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0" name="rect 109"/>
          <p:cNvSpPr/>
          <p:nvPr/>
        </p:nvSpPr>
        <p:spPr>
          <a:xfrm>
            <a:off x="5076610" y="2911370"/>
            <a:ext cx="73150" cy="73150"/>
          </a:xfrm>
          <a:prstGeom prst="rect">
            <a:avLst/>
          </a:prstGeom>
          <a:solidFill>
            <a:srgbClr val="A9CEE8"/>
          </a:solidFill>
          <a:ln w="5852">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1" name="rect 110"/>
          <p:cNvSpPr/>
          <p:nvPr/>
        </p:nvSpPr>
        <p:spPr>
          <a:xfrm>
            <a:off x="5179020" y="2911370"/>
            <a:ext cx="73150" cy="73150"/>
          </a:xfrm>
          <a:prstGeom prst="rect">
            <a:avLst/>
          </a:prstGeom>
          <a:solidFill>
            <a:srgbClr val="F2BD7D"/>
          </a:solidFill>
          <a:ln w="5852">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2" name="Work"/>
          <p:cNvSpPr txBox="1"/>
          <p:nvPr/>
        </p:nvSpPr>
        <p:spPr>
          <a:xfrm>
            <a:off x="5376525" y="2768728"/>
            <a:ext cx="599116" cy="235909"/>
          </a:xfrm>
          <a:prstGeom prst="rect">
            <a:avLst/>
          </a:prstGeom>
          <a:noFill/>
          <a:effectLst/>
        </p:spPr>
        <p:txBody>
          <a:bodyPr wrap="none" lIns="0" rIns="0" tIns="0" bIns="0" anchor="t">
            <a:spAutoFit/>
          </a:bodyPr>
          <a:lstStyle/>
          <a:p>
            <a:pPr algn="l">
              <a:lnSpc>
                <a:spcPct val="100000"/>
              </a:lnSpc>
              <a:spcBef>
                <a:spcPts val="0"/>
              </a:spcBef>
              <a:spcAft>
                <a:spcPts val="0"/>
              </a:spcAft>
            </a:pPr>
            <a:r>
              <a:rPr sz="1382" b="1" i="0" lang="en-US" spc="0">
                <a:solidFill>
                  <a:srgbClr val="181818"/>
                </a:solidFill>
                <a:latin typeface="DejaVu Sans"/>
                <a:ea typeface="DejaVu Sans"/>
                <a:effectLst/>
              </a:rPr>
              <a:t>Work</a:t>
            </a:r>
          </a:p>
        </p:txBody>
      </p:sp>
      <p:cxnSp>
        <p:nvCxnSpPr>
          <p:cNvPr id="113" name="path 112"/>
          <p:cNvCxnSpPr/>
          <p:nvPr/>
        </p:nvCxnSpPr>
        <p:spPr>
          <a:xfrm>
            <a:off x="5998300" y="1784860"/>
            <a:ext cx="307230" cy="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sp>
        <p:nvSpPr>
          <p:cNvPr id="114" name="arrowhead 113"/>
          <p:cNvSpPr/>
          <p:nvPr/>
        </p:nvSpPr>
        <p:spPr>
          <a:xfrm>
            <a:off x="6217750" y="1733655"/>
            <a:ext cx="102410" cy="102410"/>
          </a:xfrm>
          <a:custGeom>
            <a:avLst/>
            <a:gdLst/>
            <a:ahLst/>
            <a:cxnLst/>
            <a:rect l="l" t="t" r="r" b="b"/>
            <a:pathLst>
              <a:path w="14" h="14">
                <a:moveTo>
                  <a:pt x="14" y="7"/>
                </a:moveTo>
                <a:lnTo>
                  <a:pt x="0" y="14"/>
                </a:lnTo>
                <a:lnTo>
                  <a:pt x="0" y="0"/>
                </a:lnTo>
                <a:close/>
              </a:path>
            </a:pathLst>
          </a:custGeom>
          <a:solidFill>
            <a:srgbClr val="18181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15" name="path 114"/>
          <p:cNvCxnSpPr/>
          <p:nvPr/>
        </p:nvCxnSpPr>
        <p:spPr>
          <a:xfrm>
            <a:off x="6137285" y="2918685"/>
            <a:ext cx="168245" cy="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sp>
        <p:nvSpPr>
          <p:cNvPr id="116" name="arrowhead 115"/>
          <p:cNvSpPr/>
          <p:nvPr/>
        </p:nvSpPr>
        <p:spPr>
          <a:xfrm>
            <a:off x="6217750" y="2867480"/>
            <a:ext cx="102410" cy="102410"/>
          </a:xfrm>
          <a:custGeom>
            <a:avLst/>
            <a:gdLst/>
            <a:ahLst/>
            <a:cxnLst/>
            <a:rect l="l" t="t" r="r" b="b"/>
            <a:pathLst>
              <a:path w="14" h="14">
                <a:moveTo>
                  <a:pt x="14" y="7"/>
                </a:moveTo>
                <a:lnTo>
                  <a:pt x="0" y="14"/>
                </a:lnTo>
                <a:lnTo>
                  <a:pt x="0" y="0"/>
                </a:lnTo>
                <a:close/>
              </a:path>
            </a:pathLst>
          </a:custGeom>
          <a:solidFill>
            <a:srgbClr val="18181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7" name="rect 116"/>
          <p:cNvSpPr/>
          <p:nvPr/>
        </p:nvSpPr>
        <p:spPr>
          <a:xfrm>
            <a:off x="6466460" y="2062830"/>
            <a:ext cx="226765" cy="160930"/>
          </a:xfrm>
          <a:prstGeom prst="rect">
            <a:avLst/>
          </a:prstGeom>
          <a:solidFill>
            <a:srgbClr val="A9CEE8"/>
          </a:solidFill>
          <a:ln w="9509">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8" name="W"/>
          <p:cNvSpPr txBox="1"/>
          <p:nvPr/>
        </p:nvSpPr>
        <p:spPr>
          <a:xfrm>
            <a:off x="6456345" y="2307882"/>
            <a:ext cx="239681" cy="208478"/>
          </a:xfrm>
          <a:prstGeom prst="rect">
            <a:avLst/>
          </a:prstGeom>
          <a:noFill/>
          <a:effectLst/>
        </p:spPr>
        <p:txBody>
          <a:bodyPr wrap="none" lIns="0" rIns="0" tIns="0" bIns="0" anchor="t">
            <a:spAutoFit/>
          </a:bodyPr>
          <a:lstStyle/>
          <a:p>
            <a:pPr algn="ctr">
              <a:lnSpc>
                <a:spcPct val="100000"/>
              </a:lnSpc>
              <a:spcBef>
                <a:spcPts val="0"/>
              </a:spcBef>
              <a:spcAft>
                <a:spcPts val="0"/>
              </a:spcAft>
            </a:pPr>
            <a:r>
              <a:rPr sz="1209" b="0" i="0" lang="en-US" spc="0">
                <a:solidFill>
                  <a:srgbClr val="181818"/>
                </a:solidFill>
                <a:latin typeface="DejaVu Sans"/>
                <a:ea typeface="DejaVu Sans"/>
                <a:effectLst/>
              </a:rPr>
              <a:t>W</a:t>
            </a:r>
          </a:p>
        </p:txBody>
      </p:sp>
      <p:sp>
        <p:nvSpPr>
          <p:cNvPr id="119" name="rect 118"/>
          <p:cNvSpPr/>
          <p:nvPr/>
        </p:nvSpPr>
        <p:spPr>
          <a:xfrm>
            <a:off x="6919990" y="1931160"/>
            <a:ext cx="226765" cy="292600"/>
          </a:xfrm>
          <a:prstGeom prst="rect">
            <a:avLst/>
          </a:prstGeom>
          <a:solidFill>
            <a:srgbClr val="F2BD7D"/>
          </a:solidFill>
          <a:ln w="9509">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0" name="N"/>
          <p:cNvSpPr txBox="1"/>
          <p:nvPr/>
        </p:nvSpPr>
        <p:spPr>
          <a:xfrm>
            <a:off x="6928362" y="2307882"/>
            <a:ext cx="202706" cy="208478"/>
          </a:xfrm>
          <a:prstGeom prst="rect">
            <a:avLst/>
          </a:prstGeom>
          <a:noFill/>
          <a:effectLst/>
        </p:spPr>
        <p:txBody>
          <a:bodyPr wrap="none" lIns="0" rIns="0" tIns="0" bIns="0" anchor="t">
            <a:spAutoFit/>
          </a:bodyPr>
          <a:lstStyle/>
          <a:p>
            <a:pPr algn="ctr">
              <a:lnSpc>
                <a:spcPct val="100000"/>
              </a:lnSpc>
              <a:spcBef>
                <a:spcPts val="0"/>
              </a:spcBef>
              <a:spcAft>
                <a:spcPts val="0"/>
              </a:spcAft>
            </a:pPr>
            <a:r>
              <a:rPr sz="1209" b="0" i="0" lang="en-US" spc="0">
                <a:solidFill>
                  <a:srgbClr val="181818"/>
                </a:solidFill>
                <a:latin typeface="DejaVu Sans"/>
                <a:ea typeface="DejaVu Sans"/>
                <a:effectLst/>
              </a:rPr>
              <a:t>N</a:t>
            </a:r>
          </a:p>
        </p:txBody>
      </p:sp>
      <p:sp>
        <p:nvSpPr>
          <p:cNvPr id="121" name="rect 120"/>
          <p:cNvSpPr/>
          <p:nvPr/>
        </p:nvSpPr>
        <p:spPr>
          <a:xfrm>
            <a:off x="7373520" y="1689765"/>
            <a:ext cx="226765" cy="533995"/>
          </a:xfrm>
          <a:prstGeom prst="rect">
            <a:avLst/>
          </a:prstGeom>
          <a:solidFill>
            <a:srgbClr val="E9A6BF"/>
          </a:solidFill>
          <a:ln w="9509">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2" name="F"/>
          <p:cNvSpPr txBox="1"/>
          <p:nvPr/>
        </p:nvSpPr>
        <p:spPr>
          <a:xfrm>
            <a:off x="7395179" y="2307882"/>
            <a:ext cx="176131" cy="208478"/>
          </a:xfrm>
          <a:prstGeom prst="rect">
            <a:avLst/>
          </a:prstGeom>
          <a:noFill/>
          <a:effectLst/>
        </p:spPr>
        <p:txBody>
          <a:bodyPr wrap="none" lIns="0" rIns="0" tIns="0" bIns="0" anchor="t">
            <a:spAutoFit/>
          </a:bodyPr>
          <a:lstStyle/>
          <a:p>
            <a:pPr algn="ctr">
              <a:lnSpc>
                <a:spcPct val="100000"/>
              </a:lnSpc>
              <a:spcBef>
                <a:spcPts val="0"/>
              </a:spcBef>
              <a:spcAft>
                <a:spcPts val="0"/>
              </a:spcAft>
            </a:pPr>
            <a:r>
              <a:rPr sz="1209" b="0" i="0" lang="en-US" spc="0">
                <a:solidFill>
                  <a:srgbClr val="181818"/>
                </a:solidFill>
                <a:latin typeface="DejaVu Sans"/>
                <a:ea typeface="DejaVu Sans"/>
                <a:effectLst/>
              </a:rPr>
              <a:t>F</a:t>
            </a:r>
          </a:p>
        </p:txBody>
      </p:sp>
      <p:sp>
        <p:nvSpPr>
          <p:cNvPr id="123" name="p"/>
          <p:cNvSpPr txBox="1"/>
          <p:nvPr/>
        </p:nvSpPr>
        <p:spPr>
          <a:xfrm>
            <a:off x="6864442" y="1265495"/>
            <a:ext cx="193848" cy="266998"/>
          </a:xfrm>
          <a:prstGeom prst="rect">
            <a:avLst/>
          </a:prstGeom>
          <a:noFill/>
          <a:effectLst/>
        </p:spPr>
        <p:txBody>
          <a:bodyPr wrap="none" lIns="0" rIns="0" tIns="0" bIns="0" anchor="t">
            <a:spAutoFit/>
          </a:bodyPr>
          <a:lstStyle/>
          <a:p>
            <a:pPr algn="l">
              <a:lnSpc>
                <a:spcPct val="100000"/>
              </a:lnSpc>
              <a:spcBef>
                <a:spcPts val="0"/>
              </a:spcBef>
              <a:spcAft>
                <a:spcPts val="0"/>
              </a:spcAft>
            </a:pPr>
            <a:r>
              <a:rPr sz="1670" b="0" i="1" lang="en-US" spc="0">
                <a:solidFill>
                  <a:srgbClr val="181818"/>
                </a:solidFill>
                <a:latin typeface="Liberation Serif"/>
                <a:ea typeface="Liberation Serif"/>
                <a:effectLst/>
              </a:rPr>
              <a:t>p</a:t>
            </a:r>
          </a:p>
        </p:txBody>
      </p:sp>
      <p:sp>
        <p:nvSpPr>
          <p:cNvPr id="124" name="phase"/>
          <p:cNvSpPr txBox="1"/>
          <p:nvPr/>
        </p:nvSpPr>
        <p:spPr>
          <a:xfrm>
            <a:off x="6977824" y="1386192"/>
            <a:ext cx="400039" cy="182875"/>
          </a:xfrm>
          <a:prstGeom prst="rect">
            <a:avLst/>
          </a:prstGeom>
          <a:noFill/>
          <a:effectLst/>
        </p:spPr>
        <p:txBody>
          <a:bodyPr wrap="none" lIns="0" rIns="0" tIns="0" bIns="0" anchor="t">
            <a:spAutoFit/>
          </a:bodyPr>
          <a:lstStyle/>
          <a:p>
            <a:pPr algn="l">
              <a:lnSpc>
                <a:spcPct val="100000"/>
              </a:lnSpc>
              <a:spcBef>
                <a:spcPts val="0"/>
              </a:spcBef>
              <a:spcAft>
                <a:spcPts val="0"/>
              </a:spcAft>
            </a:pPr>
            <a:r>
              <a:rPr sz="1085" b="0" i="0" lang="en-US" spc="0">
                <a:solidFill>
                  <a:srgbClr val="181818"/>
                </a:solidFill>
                <a:latin typeface="Liberation Serif"/>
                <a:ea typeface="Liberation Serif"/>
                <a:effectLst/>
              </a:rPr>
              <a:t>phase</a:t>
            </a:r>
          </a:p>
        </p:txBody>
      </p:sp>
      <p:cxnSp>
        <p:nvCxnSpPr>
          <p:cNvPr id="125" name="line 124"/>
          <p:cNvCxnSpPr/>
          <p:nvPr/>
        </p:nvCxnSpPr>
        <p:spPr>
          <a:xfrm>
            <a:off x="6444515" y="2918685"/>
            <a:ext cx="1345960" cy="0"/>
          </a:xfrm>
          <a:prstGeom prst="line">
            <a:avLst/>
          </a:prstGeom>
          <a:ln w="18288">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126" name="line 125"/>
          <p:cNvCxnSpPr/>
          <p:nvPr/>
        </p:nvCxnSpPr>
        <p:spPr>
          <a:xfrm>
            <a:off x="6444515" y="2852850"/>
            <a:ext cx="0" cy="13167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127" name="line 126"/>
          <p:cNvCxnSpPr/>
          <p:nvPr/>
        </p:nvCxnSpPr>
        <p:spPr>
          <a:xfrm>
            <a:off x="7790475" y="2852850"/>
            <a:ext cx="0" cy="13167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sp>
        <p:nvSpPr>
          <p:cNvPr id="128" name="circle 127"/>
          <p:cNvSpPr/>
          <p:nvPr/>
        </p:nvSpPr>
        <p:spPr>
          <a:xfrm>
            <a:off x="7110180" y="2882110"/>
            <a:ext cx="73150" cy="73150"/>
          </a:xfrm>
          <a:prstGeom prst="ellipse">
            <a:avLst/>
          </a:prstGeom>
          <a:solidFill>
            <a:srgbClr val="181818"/>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9" name="["/>
          <p:cNvSpPr txBox="1"/>
          <p:nvPr/>
        </p:nvSpPr>
        <p:spPr>
          <a:xfrm>
            <a:off x="6595887" y="3105218"/>
            <a:ext cx="148672" cy="234080"/>
          </a:xfrm>
          <a:prstGeom prst="rect">
            <a:avLst/>
          </a:prstGeom>
          <a:noFill/>
          <a:effectLst/>
        </p:spPr>
        <p:txBody>
          <a:bodyPr wrap="none" lIns="0" rIns="0" tIns="0" bIns="0" anchor="t">
            <a:spAutoFit/>
          </a:bodyPr>
          <a:lstStyle/>
          <a:p>
            <a:pPr algn="l">
              <a:lnSpc>
                <a:spcPct val="100000"/>
              </a:lnSpc>
              <a:spcBef>
                <a:spcPts val="0"/>
              </a:spcBef>
              <a:spcAft>
                <a:spcPts val="0"/>
              </a:spcAft>
            </a:pPr>
            <a:r>
              <a:rPr sz="1439" b="0" i="0" lang="en-US" spc="0">
                <a:solidFill>
                  <a:srgbClr val="181818"/>
                </a:solidFill>
                <a:latin typeface="Liberation Serif"/>
                <a:ea typeface="Liberation Serif"/>
                <a:effectLst/>
              </a:rPr>
              <a:t>[</a:t>
            </a:r>
          </a:p>
        </p:txBody>
      </p:sp>
      <p:sp>
        <p:nvSpPr>
          <p:cNvPr id="130" name="W"/>
          <p:cNvSpPr txBox="1"/>
          <p:nvPr/>
        </p:nvSpPr>
        <p:spPr>
          <a:xfrm>
            <a:off x="6656779" y="3105218"/>
            <a:ext cx="240109" cy="234080"/>
          </a:xfrm>
          <a:prstGeom prst="rect">
            <a:avLst/>
          </a:prstGeom>
          <a:noFill/>
          <a:effectLst/>
        </p:spPr>
        <p:txBody>
          <a:bodyPr wrap="none" lIns="0" rIns="0" tIns="0" bIns="0" anchor="t">
            <a:spAutoFit/>
          </a:bodyPr>
          <a:lstStyle/>
          <a:p>
            <a:pPr algn="l">
              <a:lnSpc>
                <a:spcPct val="100000"/>
              </a:lnSpc>
              <a:spcBef>
                <a:spcPts val="0"/>
              </a:spcBef>
              <a:spcAft>
                <a:spcPts val="0"/>
              </a:spcAft>
            </a:pPr>
            <a:r>
              <a:rPr sz="1439" b="0" i="1" lang="en-US" spc="0">
                <a:solidFill>
                  <a:srgbClr val="181818"/>
                </a:solidFill>
                <a:latin typeface="Liberation Serif"/>
                <a:ea typeface="Liberation Serif"/>
                <a:effectLst/>
              </a:rPr>
              <a:t>W</a:t>
            </a:r>
          </a:p>
        </p:txBody>
      </p:sp>
      <p:sp>
        <p:nvSpPr>
          <p:cNvPr id="131" name="lo"/>
          <p:cNvSpPr txBox="1"/>
          <p:nvPr/>
        </p:nvSpPr>
        <p:spPr>
          <a:xfrm>
            <a:off x="6816423" y="3209456"/>
            <a:ext cx="180246" cy="162759"/>
          </a:xfrm>
          <a:prstGeom prst="rect">
            <a:avLst/>
          </a:prstGeom>
          <a:noFill/>
          <a:effectLst/>
        </p:spPr>
        <p:txBody>
          <a:bodyPr wrap="none" lIns="0" rIns="0" tIns="0" bIns="0" anchor="t">
            <a:spAutoFit/>
          </a:bodyPr>
          <a:lstStyle/>
          <a:p>
            <a:pPr algn="l">
              <a:lnSpc>
                <a:spcPct val="100000"/>
              </a:lnSpc>
              <a:spcBef>
                <a:spcPts val="0"/>
              </a:spcBef>
              <a:spcAft>
                <a:spcPts val="0"/>
              </a:spcAft>
            </a:pPr>
            <a:r>
              <a:rPr sz="936" b="0" i="0" lang="en-US" spc="0">
                <a:solidFill>
                  <a:srgbClr val="181818"/>
                </a:solidFill>
                <a:latin typeface="Liberation Serif"/>
                <a:ea typeface="Liberation Serif"/>
                <a:effectLst/>
              </a:rPr>
              <a:t>lo</a:t>
            </a:r>
          </a:p>
        </p:txBody>
      </p:sp>
      <p:sp>
        <p:nvSpPr>
          <p:cNvPr id="132" name=", "/>
          <p:cNvSpPr txBox="1"/>
          <p:nvPr/>
        </p:nvSpPr>
        <p:spPr>
          <a:xfrm>
            <a:off x="6916204" y="3105218"/>
            <a:ext cx="179218" cy="234080"/>
          </a:xfrm>
          <a:prstGeom prst="rect">
            <a:avLst/>
          </a:prstGeom>
          <a:noFill/>
          <a:effectLst/>
        </p:spPr>
        <p:txBody>
          <a:bodyPr wrap="none" lIns="0" rIns="0" tIns="0" bIns="0" anchor="t">
            <a:spAutoFit/>
          </a:bodyPr>
          <a:lstStyle/>
          <a:p>
            <a:pPr algn="l">
              <a:lnSpc>
                <a:spcPct val="100000"/>
              </a:lnSpc>
              <a:spcBef>
                <a:spcPts val="0"/>
              </a:spcBef>
              <a:spcAft>
                <a:spcPts val="0"/>
              </a:spcAft>
            </a:pPr>
            <a:r>
              <a:rPr sz="1439" b="0" i="0" lang="en-US" spc="0">
                <a:solidFill>
                  <a:srgbClr val="181818"/>
                </a:solidFill>
                <a:latin typeface="Liberation Serif"/>
                <a:ea typeface="Liberation Serif"/>
                <a:effectLst/>
              </a:rPr>
              <a:t>, </a:t>
            </a:r>
          </a:p>
        </p:txBody>
      </p:sp>
      <p:sp>
        <p:nvSpPr>
          <p:cNvPr id="133" name="W"/>
          <p:cNvSpPr txBox="1"/>
          <p:nvPr/>
        </p:nvSpPr>
        <p:spPr>
          <a:xfrm>
            <a:off x="7007641" y="3105218"/>
            <a:ext cx="240109" cy="234080"/>
          </a:xfrm>
          <a:prstGeom prst="rect">
            <a:avLst/>
          </a:prstGeom>
          <a:noFill/>
          <a:effectLst/>
        </p:spPr>
        <p:txBody>
          <a:bodyPr wrap="none" lIns="0" rIns="0" tIns="0" bIns="0" anchor="t">
            <a:spAutoFit/>
          </a:bodyPr>
          <a:lstStyle/>
          <a:p>
            <a:pPr algn="l">
              <a:lnSpc>
                <a:spcPct val="100000"/>
              </a:lnSpc>
              <a:spcBef>
                <a:spcPts val="0"/>
              </a:spcBef>
              <a:spcAft>
                <a:spcPts val="0"/>
              </a:spcAft>
            </a:pPr>
            <a:r>
              <a:rPr sz="1439" b="0" i="1" lang="en-US" spc="0">
                <a:solidFill>
                  <a:srgbClr val="181818"/>
                </a:solidFill>
                <a:latin typeface="Liberation Serif"/>
                <a:ea typeface="Liberation Serif"/>
                <a:effectLst/>
              </a:rPr>
              <a:t>W</a:t>
            </a:r>
          </a:p>
        </p:txBody>
      </p:sp>
      <p:sp>
        <p:nvSpPr>
          <p:cNvPr id="134" name="c"/>
          <p:cNvSpPr txBox="1"/>
          <p:nvPr/>
        </p:nvSpPr>
        <p:spPr>
          <a:xfrm>
            <a:off x="7167286" y="3209456"/>
            <a:ext cx="140528" cy="162759"/>
          </a:xfrm>
          <a:prstGeom prst="rect">
            <a:avLst/>
          </a:prstGeom>
          <a:noFill/>
          <a:effectLst/>
        </p:spPr>
        <p:txBody>
          <a:bodyPr wrap="none" lIns="0" rIns="0" tIns="0" bIns="0" anchor="t">
            <a:spAutoFit/>
          </a:bodyPr>
          <a:lstStyle/>
          <a:p>
            <a:pPr algn="l">
              <a:lnSpc>
                <a:spcPct val="100000"/>
              </a:lnSpc>
              <a:spcBef>
                <a:spcPts val="0"/>
              </a:spcBef>
              <a:spcAft>
                <a:spcPts val="0"/>
              </a:spcAft>
            </a:pPr>
            <a:r>
              <a:rPr sz="936" b="0" i="0" lang="en-US" spc="0">
                <a:solidFill>
                  <a:srgbClr val="181818"/>
                </a:solidFill>
                <a:latin typeface="Liberation Serif"/>
                <a:ea typeface="Liberation Serif"/>
                <a:effectLst/>
              </a:rPr>
              <a:t>c</a:t>
            </a:r>
          </a:p>
        </p:txBody>
      </p:sp>
      <p:sp>
        <p:nvSpPr>
          <p:cNvPr id="135" name=", "/>
          <p:cNvSpPr txBox="1"/>
          <p:nvPr/>
        </p:nvSpPr>
        <p:spPr>
          <a:xfrm>
            <a:off x="7227349" y="3105218"/>
            <a:ext cx="179218" cy="234080"/>
          </a:xfrm>
          <a:prstGeom prst="rect">
            <a:avLst/>
          </a:prstGeom>
          <a:noFill/>
          <a:effectLst/>
        </p:spPr>
        <p:txBody>
          <a:bodyPr wrap="none" lIns="0" rIns="0" tIns="0" bIns="0" anchor="t">
            <a:spAutoFit/>
          </a:bodyPr>
          <a:lstStyle/>
          <a:p>
            <a:pPr algn="l">
              <a:lnSpc>
                <a:spcPct val="100000"/>
              </a:lnSpc>
              <a:spcBef>
                <a:spcPts val="0"/>
              </a:spcBef>
              <a:spcAft>
                <a:spcPts val="0"/>
              </a:spcAft>
            </a:pPr>
            <a:r>
              <a:rPr sz="1439" b="0" i="0" lang="en-US" spc="0">
                <a:solidFill>
                  <a:srgbClr val="181818"/>
                </a:solidFill>
                <a:latin typeface="Liberation Serif"/>
                <a:ea typeface="Liberation Serif"/>
                <a:effectLst/>
              </a:rPr>
              <a:t>, </a:t>
            </a:r>
          </a:p>
        </p:txBody>
      </p:sp>
      <p:sp>
        <p:nvSpPr>
          <p:cNvPr id="136" name="W"/>
          <p:cNvSpPr txBox="1"/>
          <p:nvPr/>
        </p:nvSpPr>
        <p:spPr>
          <a:xfrm>
            <a:off x="7318786" y="3105218"/>
            <a:ext cx="240109" cy="234080"/>
          </a:xfrm>
          <a:prstGeom prst="rect">
            <a:avLst/>
          </a:prstGeom>
          <a:noFill/>
          <a:effectLst/>
        </p:spPr>
        <p:txBody>
          <a:bodyPr wrap="none" lIns="0" rIns="0" tIns="0" bIns="0" anchor="t">
            <a:spAutoFit/>
          </a:bodyPr>
          <a:lstStyle/>
          <a:p>
            <a:pPr algn="l">
              <a:lnSpc>
                <a:spcPct val="100000"/>
              </a:lnSpc>
              <a:spcBef>
                <a:spcPts val="0"/>
              </a:spcBef>
              <a:spcAft>
                <a:spcPts val="0"/>
              </a:spcAft>
            </a:pPr>
            <a:r>
              <a:rPr sz="1439" b="0" i="1" lang="en-US" spc="0">
                <a:solidFill>
                  <a:srgbClr val="181818"/>
                </a:solidFill>
                <a:latin typeface="Liberation Serif"/>
                <a:ea typeface="Liberation Serif"/>
                <a:effectLst/>
              </a:rPr>
              <a:t>W</a:t>
            </a:r>
          </a:p>
        </p:txBody>
      </p:sp>
      <p:sp>
        <p:nvSpPr>
          <p:cNvPr id="137" name="hi"/>
          <p:cNvSpPr txBox="1"/>
          <p:nvPr/>
        </p:nvSpPr>
        <p:spPr>
          <a:xfrm>
            <a:off x="7478430" y="3209456"/>
            <a:ext cx="180246" cy="162759"/>
          </a:xfrm>
          <a:prstGeom prst="rect">
            <a:avLst/>
          </a:prstGeom>
          <a:noFill/>
          <a:effectLst/>
        </p:spPr>
        <p:txBody>
          <a:bodyPr wrap="none" lIns="0" rIns="0" tIns="0" bIns="0" anchor="t">
            <a:spAutoFit/>
          </a:bodyPr>
          <a:lstStyle/>
          <a:p>
            <a:pPr algn="l">
              <a:lnSpc>
                <a:spcPct val="100000"/>
              </a:lnSpc>
              <a:spcBef>
                <a:spcPts val="0"/>
              </a:spcBef>
              <a:spcAft>
                <a:spcPts val="0"/>
              </a:spcAft>
            </a:pPr>
            <a:r>
              <a:rPr sz="936" b="0" i="0" lang="en-US" spc="0">
                <a:solidFill>
                  <a:srgbClr val="181818"/>
                </a:solidFill>
                <a:latin typeface="Liberation Serif"/>
                <a:ea typeface="Liberation Serif"/>
                <a:effectLst/>
              </a:rPr>
              <a:t>hi</a:t>
            </a:r>
          </a:p>
        </p:txBody>
      </p:sp>
      <p:sp>
        <p:nvSpPr>
          <p:cNvPr id="138" name="]"/>
          <p:cNvSpPr txBox="1"/>
          <p:nvPr/>
        </p:nvSpPr>
        <p:spPr>
          <a:xfrm>
            <a:off x="7578211" y="3105218"/>
            <a:ext cx="148672" cy="234080"/>
          </a:xfrm>
          <a:prstGeom prst="rect">
            <a:avLst/>
          </a:prstGeom>
          <a:noFill/>
          <a:effectLst/>
        </p:spPr>
        <p:txBody>
          <a:bodyPr wrap="none" lIns="0" rIns="0" tIns="0" bIns="0" anchor="t">
            <a:spAutoFit/>
          </a:bodyPr>
          <a:lstStyle/>
          <a:p>
            <a:pPr algn="l">
              <a:lnSpc>
                <a:spcPct val="100000"/>
              </a:lnSpc>
              <a:spcBef>
                <a:spcPts val="0"/>
              </a:spcBef>
              <a:spcAft>
                <a:spcPts val="0"/>
              </a:spcAft>
            </a:pPr>
            <a:r>
              <a:rPr sz="1439" b="0" i="0" lang="en-US" spc="0">
                <a:solidFill>
                  <a:srgbClr val="181818"/>
                </a:solidFill>
                <a:latin typeface="Liberation Serif"/>
                <a:ea typeface="Liberation Serif"/>
                <a:effectLst/>
              </a:rPr>
              <a:t>]</a:t>
            </a:r>
          </a:p>
        </p:txBody>
      </p:sp>
      <p:cxnSp>
        <p:nvCxnSpPr>
          <p:cNvPr id="139" name="line 138"/>
          <p:cNvCxnSpPr/>
          <p:nvPr/>
        </p:nvCxnSpPr>
        <p:spPr>
          <a:xfrm>
            <a:off x="351120" y="3540460"/>
            <a:ext cx="7519820" cy="0"/>
          </a:xfrm>
          <a:prstGeom prst="line">
            <a:avLst/>
          </a:prstGeom>
          <a:ln w="8778">
            <a:solidFill>
              <a:srgbClr val="181818"/>
            </a:solidFill>
          </a:ln>
          <a:effectLst/>
        </p:spPr>
        <p:style>
          <a:lnRef idx="2">
            <a:schemeClr val="accent1"/>
          </a:lnRef>
          <a:fillRef idx="0">
            <a:schemeClr val="accent1"/>
          </a:fillRef>
          <a:effectRef idx="0">
            <a:schemeClr val="accent1"/>
          </a:effectRef>
          <a:fontRef idx="minor">
            <a:schemeClr val="tx1"/>
          </a:fontRef>
        </p:style>
      </p:cxnSp>
      <p:sp>
        <p:nvSpPr>
          <p:cNvPr id="140" name="Online snapshots → revised endpoints"/>
          <p:cNvSpPr txBox="1"/>
          <p:nvPr/>
        </p:nvSpPr>
        <p:spPr>
          <a:xfrm>
            <a:off x="358435" y="3609952"/>
            <a:ext cx="3849204" cy="235909"/>
          </a:xfrm>
          <a:prstGeom prst="rect">
            <a:avLst/>
          </a:prstGeom>
          <a:noFill/>
          <a:effectLst/>
        </p:spPr>
        <p:txBody>
          <a:bodyPr wrap="none" lIns="0" rIns="0" tIns="0" bIns="0" anchor="t">
            <a:spAutoFit/>
          </a:bodyPr>
          <a:lstStyle/>
          <a:p>
            <a:pPr algn="l">
              <a:lnSpc>
                <a:spcPct val="100000"/>
              </a:lnSpc>
              <a:spcBef>
                <a:spcPts val="0"/>
              </a:spcBef>
              <a:spcAft>
                <a:spcPts val="0"/>
              </a:spcAft>
            </a:pPr>
            <a:r>
              <a:rPr sz="1382" b="1" i="0" lang="en-US" spc="0">
                <a:solidFill>
                  <a:srgbClr val="181818"/>
                </a:solidFill>
                <a:latin typeface="DejaVu Sans"/>
                <a:ea typeface="DejaVu Sans"/>
                <a:effectLst/>
              </a:rPr>
              <a:t>Online snapshots → revised endpoints</a:t>
            </a:r>
          </a:p>
        </p:txBody>
      </p:sp>
      <p:sp>
        <p:nvSpPr>
          <p:cNvPr id="141" name="N"/>
          <p:cNvSpPr txBox="1"/>
          <p:nvPr/>
        </p:nvSpPr>
        <p:spPr>
          <a:xfrm>
            <a:off x="3788927" y="3853176"/>
            <a:ext cx="214650" cy="241395"/>
          </a:xfrm>
          <a:prstGeom prst="rect">
            <a:avLst/>
          </a:prstGeom>
          <a:noFill/>
          <a:effectLst/>
        </p:spPr>
        <p:txBody>
          <a:bodyPr wrap="none" lIns="0" rIns="0" tIns="0" bIns="0" anchor="t">
            <a:spAutoFit/>
          </a:bodyPr>
          <a:lstStyle/>
          <a:p>
            <a:pPr algn="l">
              <a:lnSpc>
                <a:spcPct val="100000"/>
              </a:lnSpc>
              <a:spcBef>
                <a:spcPts val="0"/>
              </a:spcBef>
              <a:spcAft>
                <a:spcPts val="0"/>
              </a:spcAft>
            </a:pPr>
            <a:r>
              <a:rPr sz="1497" b="0" i="1" lang="en-US" spc="0">
                <a:solidFill>
                  <a:srgbClr val="181818"/>
                </a:solidFill>
                <a:latin typeface="Liberation Serif"/>
                <a:ea typeface="Liberation Serif"/>
                <a:effectLst/>
              </a:rPr>
              <a:t>N</a:t>
            </a:r>
          </a:p>
        </p:txBody>
      </p:sp>
      <p:sp>
        <p:nvSpPr>
          <p:cNvPr id="142" name="t"/>
          <p:cNvSpPr txBox="1"/>
          <p:nvPr/>
        </p:nvSpPr>
        <p:spPr>
          <a:xfrm>
            <a:off x="3923112" y="3959244"/>
            <a:ext cx="122326" cy="168245"/>
          </a:xfrm>
          <a:prstGeom prst="rect">
            <a:avLst/>
          </a:prstGeom>
          <a:noFill/>
          <a:effectLst/>
        </p:spPr>
        <p:txBody>
          <a:bodyPr wrap="none" lIns="0" rIns="0" tIns="0" bIns="0" anchor="t">
            <a:spAutoFit/>
          </a:bodyPr>
          <a:lstStyle/>
          <a:p>
            <a:pPr algn="l">
              <a:lnSpc>
                <a:spcPct val="100000"/>
              </a:lnSpc>
              <a:spcBef>
                <a:spcPts val="0"/>
              </a:spcBef>
              <a:spcAft>
                <a:spcPts val="0"/>
              </a:spcAft>
            </a:pPr>
            <a:r>
              <a:rPr sz="973" b="0" i="0" lang="en-US" spc="0">
                <a:solidFill>
                  <a:srgbClr val="181818"/>
                </a:solidFill>
                <a:latin typeface="Liberation Serif"/>
                <a:ea typeface="Liberation Serif"/>
                <a:effectLst/>
              </a:rPr>
              <a:t>t</a:t>
            </a:r>
          </a:p>
        </p:txBody>
      </p:sp>
      <p:sp>
        <p:nvSpPr>
          <p:cNvPr id="143" name="W"/>
          <p:cNvSpPr txBox="1"/>
          <p:nvPr/>
        </p:nvSpPr>
        <p:spPr>
          <a:xfrm>
            <a:off x="6185690" y="3853176"/>
            <a:ext cx="246224" cy="241395"/>
          </a:xfrm>
          <a:prstGeom prst="rect">
            <a:avLst/>
          </a:prstGeom>
          <a:noFill/>
          <a:effectLst/>
        </p:spPr>
        <p:txBody>
          <a:bodyPr wrap="none" lIns="0" rIns="0" tIns="0" bIns="0" anchor="t">
            <a:spAutoFit/>
          </a:bodyPr>
          <a:lstStyle/>
          <a:p>
            <a:pPr algn="l">
              <a:lnSpc>
                <a:spcPct val="100000"/>
              </a:lnSpc>
              <a:spcBef>
                <a:spcPts val="0"/>
              </a:spcBef>
              <a:spcAft>
                <a:spcPts val="0"/>
              </a:spcAft>
            </a:pPr>
            <a:r>
              <a:rPr sz="1497" b="0" i="1" lang="en-US" spc="0">
                <a:solidFill>
                  <a:srgbClr val="181818"/>
                </a:solidFill>
                <a:latin typeface="Liberation Serif"/>
                <a:ea typeface="Liberation Serif"/>
                <a:effectLst/>
              </a:rPr>
              <a:t>W</a:t>
            </a:r>
          </a:p>
        </p:txBody>
      </p:sp>
      <p:sp>
        <p:nvSpPr>
          <p:cNvPr id="144" name="lo"/>
          <p:cNvSpPr txBox="1"/>
          <p:nvPr/>
        </p:nvSpPr>
        <p:spPr>
          <a:xfrm>
            <a:off x="6351449" y="3959244"/>
            <a:ext cx="184504" cy="168245"/>
          </a:xfrm>
          <a:prstGeom prst="rect">
            <a:avLst/>
          </a:prstGeom>
          <a:noFill/>
          <a:effectLst/>
        </p:spPr>
        <p:txBody>
          <a:bodyPr wrap="none" lIns="0" rIns="0" tIns="0" bIns="0" anchor="t">
            <a:spAutoFit/>
          </a:bodyPr>
          <a:lstStyle/>
          <a:p>
            <a:pPr algn="l">
              <a:lnSpc>
                <a:spcPct val="100000"/>
              </a:lnSpc>
              <a:spcBef>
                <a:spcPts val="0"/>
              </a:spcBef>
              <a:spcAft>
                <a:spcPts val="0"/>
              </a:spcAft>
            </a:pPr>
            <a:r>
              <a:rPr sz="973" b="0" i="0" lang="en-US" spc="0">
                <a:solidFill>
                  <a:srgbClr val="181818"/>
                </a:solidFill>
                <a:latin typeface="Liberation Serif"/>
                <a:ea typeface="Liberation Serif"/>
                <a:effectLst/>
              </a:rPr>
              <a:t>lo</a:t>
            </a:r>
          </a:p>
        </p:txBody>
      </p:sp>
      <p:sp>
        <p:nvSpPr>
          <p:cNvPr id="145" name=" … "/>
          <p:cNvSpPr txBox="1"/>
          <p:nvPr/>
        </p:nvSpPr>
        <p:spPr>
          <a:xfrm>
            <a:off x="6455488" y="3853176"/>
            <a:ext cx="373065" cy="241395"/>
          </a:xfrm>
          <a:prstGeom prst="rect">
            <a:avLst/>
          </a:prstGeom>
          <a:noFill/>
          <a:effectLst/>
        </p:spPr>
        <p:txBody>
          <a:bodyPr wrap="none" lIns="0" rIns="0" tIns="0" bIns="0" anchor="t">
            <a:spAutoFit/>
          </a:bodyPr>
          <a:lstStyle/>
          <a:p>
            <a:pPr algn="l">
              <a:lnSpc>
                <a:spcPct val="100000"/>
              </a:lnSpc>
              <a:spcBef>
                <a:spcPts val="0"/>
              </a:spcBef>
              <a:spcAft>
                <a:spcPts val="0"/>
              </a:spcAft>
            </a:pPr>
            <a:r>
              <a:rPr sz="1497" b="0" i="0" lang="en-US" spc="0">
                <a:solidFill>
                  <a:srgbClr val="181818"/>
                </a:solidFill>
                <a:latin typeface="Liberation Serif"/>
                <a:ea typeface="Liberation Serif"/>
                <a:effectLst/>
              </a:rPr>
              <a:t> … </a:t>
            </a:r>
          </a:p>
        </p:txBody>
      </p:sp>
      <p:sp>
        <p:nvSpPr>
          <p:cNvPr id="146" name="W"/>
          <p:cNvSpPr txBox="1"/>
          <p:nvPr/>
        </p:nvSpPr>
        <p:spPr>
          <a:xfrm>
            <a:off x="6740772" y="3853176"/>
            <a:ext cx="246224" cy="241395"/>
          </a:xfrm>
          <a:prstGeom prst="rect">
            <a:avLst/>
          </a:prstGeom>
          <a:noFill/>
          <a:effectLst/>
        </p:spPr>
        <p:txBody>
          <a:bodyPr wrap="none" lIns="0" rIns="0" tIns="0" bIns="0" anchor="t">
            <a:spAutoFit/>
          </a:bodyPr>
          <a:lstStyle/>
          <a:p>
            <a:pPr algn="l">
              <a:lnSpc>
                <a:spcPct val="100000"/>
              </a:lnSpc>
              <a:spcBef>
                <a:spcPts val="0"/>
              </a:spcBef>
              <a:spcAft>
                <a:spcPts val="0"/>
              </a:spcAft>
            </a:pPr>
            <a:r>
              <a:rPr sz="1497" b="0" i="1" lang="en-US" spc="0">
                <a:solidFill>
                  <a:srgbClr val="181818"/>
                </a:solidFill>
                <a:latin typeface="Liberation Serif"/>
                <a:ea typeface="Liberation Serif"/>
                <a:effectLst/>
              </a:rPr>
              <a:t>W</a:t>
            </a:r>
          </a:p>
        </p:txBody>
      </p:sp>
      <p:sp>
        <p:nvSpPr>
          <p:cNvPr id="147" name="hi"/>
          <p:cNvSpPr txBox="1"/>
          <p:nvPr/>
        </p:nvSpPr>
        <p:spPr>
          <a:xfrm>
            <a:off x="6906532" y="3959244"/>
            <a:ext cx="184504" cy="168245"/>
          </a:xfrm>
          <a:prstGeom prst="rect">
            <a:avLst/>
          </a:prstGeom>
          <a:noFill/>
          <a:effectLst/>
        </p:spPr>
        <p:txBody>
          <a:bodyPr wrap="none" lIns="0" rIns="0" tIns="0" bIns="0" anchor="t">
            <a:spAutoFit/>
          </a:bodyPr>
          <a:lstStyle/>
          <a:p>
            <a:pPr algn="l">
              <a:lnSpc>
                <a:spcPct val="100000"/>
              </a:lnSpc>
              <a:spcBef>
                <a:spcPts val="0"/>
              </a:spcBef>
              <a:spcAft>
                <a:spcPts val="0"/>
              </a:spcAft>
            </a:pPr>
            <a:r>
              <a:rPr sz="973" b="0" i="0" lang="en-US" spc="0">
                <a:solidFill>
                  <a:srgbClr val="181818"/>
                </a:solidFill>
                <a:latin typeface="Liberation Serif"/>
                <a:ea typeface="Liberation Serif"/>
                <a:effectLst/>
              </a:rPr>
              <a:t>hi</a:t>
            </a:r>
          </a:p>
        </p:txBody>
      </p:sp>
      <p:sp>
        <p:nvSpPr>
          <p:cNvPr id="148" name="t"/>
          <p:cNvSpPr txBox="1"/>
          <p:nvPr/>
        </p:nvSpPr>
        <p:spPr>
          <a:xfrm>
            <a:off x="533081" y="4079941"/>
            <a:ext cx="142642" cy="250539"/>
          </a:xfrm>
          <a:prstGeom prst="rect">
            <a:avLst/>
          </a:prstGeom>
          <a:noFill/>
          <a:effectLst/>
        </p:spPr>
        <p:txBody>
          <a:bodyPr wrap="none" lIns="0" rIns="0" tIns="0" bIns="0" anchor="t">
            <a:spAutoFit/>
          </a:bodyPr>
          <a:lstStyle/>
          <a:p>
            <a:pPr algn="l">
              <a:lnSpc>
                <a:spcPct val="100000"/>
              </a:lnSpc>
              <a:spcBef>
                <a:spcPts val="0"/>
              </a:spcBef>
              <a:spcAft>
                <a:spcPts val="0"/>
              </a:spcAft>
            </a:pPr>
            <a:r>
              <a:rPr sz="1555" b="0" i="1" lang="en-US" spc="0">
                <a:solidFill>
                  <a:srgbClr val="181818"/>
                </a:solidFill>
                <a:latin typeface="Liberation Serif"/>
                <a:ea typeface="Liberation Serif"/>
                <a:effectLst/>
              </a:rPr>
              <a:t>t</a:t>
            </a:r>
          </a:p>
        </p:txBody>
      </p:sp>
      <p:sp>
        <p:nvSpPr>
          <p:cNvPr id="149" name="0"/>
          <p:cNvSpPr txBox="1"/>
          <p:nvPr/>
        </p:nvSpPr>
        <p:spPr>
          <a:xfrm>
            <a:off x="595258" y="4191495"/>
            <a:ext cx="151786" cy="173731"/>
          </a:xfrm>
          <a:prstGeom prst="rect">
            <a:avLst/>
          </a:prstGeom>
          <a:noFill/>
          <a:effectLst/>
        </p:spPr>
        <p:txBody>
          <a:bodyPr wrap="none" lIns="0" rIns="0" tIns="0" bIns="0" anchor="t">
            <a:spAutoFit/>
          </a:bodyPr>
          <a:lstStyle/>
          <a:p>
            <a:pPr algn="l">
              <a:lnSpc>
                <a:spcPct val="100000"/>
              </a:lnSpc>
              <a:spcBef>
                <a:spcPts val="0"/>
              </a:spcBef>
              <a:spcAft>
                <a:spcPts val="0"/>
              </a:spcAft>
            </a:pPr>
            <a:r>
              <a:rPr sz="1010" b="0" i="0" lang="en-US" spc="0">
                <a:solidFill>
                  <a:srgbClr val="181818"/>
                </a:solidFill>
                <a:latin typeface="Liberation Serif"/>
                <a:ea typeface="Liberation Serif"/>
                <a:effectLst/>
              </a:rPr>
              <a:t>0</a:t>
            </a:r>
          </a:p>
        </p:txBody>
      </p:sp>
      <p:sp>
        <p:nvSpPr>
          <p:cNvPr id="150" name="rect 149"/>
          <p:cNvSpPr/>
          <p:nvPr/>
        </p:nvSpPr>
        <p:spPr>
          <a:xfrm>
            <a:off x="907060" y="4118345"/>
            <a:ext cx="212135" cy="168245"/>
          </a:xfrm>
          <a:prstGeom prst="roundRect">
            <a:avLst>
              <a:gd name="adj" fmla="val 4347"/>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1" name="rect 150"/>
          <p:cNvSpPr/>
          <p:nvPr/>
        </p:nvSpPr>
        <p:spPr>
          <a:xfrm>
            <a:off x="1155770" y="4118345"/>
            <a:ext cx="212135" cy="168245"/>
          </a:xfrm>
          <a:prstGeom prst="roundRect">
            <a:avLst>
              <a:gd name="adj" fmla="val 4347"/>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2" name="rect 151"/>
          <p:cNvSpPr/>
          <p:nvPr/>
        </p:nvSpPr>
        <p:spPr>
          <a:xfrm>
            <a:off x="1404480" y="4118345"/>
            <a:ext cx="212135" cy="168245"/>
          </a:xfrm>
          <a:prstGeom prst="roundRect">
            <a:avLst>
              <a:gd name="adj" fmla="val 4347"/>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3" name="rect 152"/>
          <p:cNvSpPr/>
          <p:nvPr/>
        </p:nvSpPr>
        <p:spPr>
          <a:xfrm>
            <a:off x="1653190" y="4118345"/>
            <a:ext cx="212135" cy="168245"/>
          </a:xfrm>
          <a:prstGeom prst="roundRect">
            <a:avLst>
              <a:gd name="adj" fmla="val 4347"/>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4" name="path 153"/>
          <p:cNvCxnSpPr/>
          <p:nvPr/>
        </p:nvCxnSpPr>
        <p:spPr>
          <a:xfrm>
            <a:off x="1982365" y="4198810"/>
            <a:ext cx="672980" cy="0"/>
          </a:xfrm>
          <a:prstGeom prst="line">
            <a:avLst/>
          </a:prstGeom>
          <a:ln w="13167">
            <a:solidFill>
              <a:srgbClr val="2676B8"/>
            </a:solidFill>
            <a:prstDash val="dash"/>
          </a:ln>
          <a:effectLst/>
        </p:spPr>
        <p:style>
          <a:lnRef idx="2">
            <a:schemeClr val="accent1"/>
          </a:lnRef>
          <a:fillRef idx="0">
            <a:schemeClr val="accent1"/>
          </a:fillRef>
          <a:effectRef idx="0">
            <a:schemeClr val="accent1"/>
          </a:effectRef>
          <a:fontRef idx="minor">
            <a:schemeClr val="tx1"/>
          </a:fontRef>
        </p:style>
      </p:cxnSp>
      <p:sp>
        <p:nvSpPr>
          <p:cNvPr id="155" name="arrowhead 154"/>
          <p:cNvSpPr/>
          <p:nvPr/>
        </p:nvSpPr>
        <p:spPr>
          <a:xfrm>
            <a:off x="2574880" y="4154920"/>
            <a:ext cx="95095" cy="87780"/>
          </a:xfrm>
          <a:custGeom>
            <a:avLst/>
            <a:gdLst/>
            <a:ahLst/>
            <a:cxnLst/>
            <a:rect l="l" t="t" r="r" b="b"/>
            <a:pathLst>
              <a:path w="13" h="12">
                <a:moveTo>
                  <a:pt x="13" y="6"/>
                </a:moveTo>
                <a:lnTo>
                  <a:pt x="0" y="12"/>
                </a:lnTo>
                <a:lnTo>
                  <a:pt x="0" y="0"/>
                </a:lnTo>
                <a:close/>
              </a:path>
            </a:pathLst>
          </a:custGeom>
          <a:solidFill>
            <a:srgbClr val="2676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6" name="rect 155"/>
          <p:cNvSpPr/>
          <p:nvPr/>
        </p:nvSpPr>
        <p:spPr>
          <a:xfrm>
            <a:off x="2904055" y="4132975"/>
            <a:ext cx="804650" cy="131670"/>
          </a:xfrm>
          <a:prstGeom prst="rect">
            <a:avLst/>
          </a:prstGeom>
          <a:solidFill>
            <a:srgbClr val="A9CEE8"/>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7" name="path 156"/>
          <p:cNvCxnSpPr/>
          <p:nvPr/>
        </p:nvCxnSpPr>
        <p:spPr>
          <a:xfrm>
            <a:off x="4871790" y="4198810"/>
            <a:ext cx="321860" cy="0"/>
          </a:xfrm>
          <a:prstGeom prst="line">
            <a:avLst/>
          </a:prstGeom>
          <a:ln w="13167">
            <a:solidFill>
              <a:srgbClr val="181818"/>
            </a:solidFill>
          </a:ln>
          <a:effectLst/>
        </p:spPr>
        <p:style>
          <a:lnRef idx="2">
            <a:schemeClr val="accent1"/>
          </a:lnRef>
          <a:fillRef idx="0">
            <a:schemeClr val="accent1"/>
          </a:fillRef>
          <a:effectRef idx="0">
            <a:schemeClr val="accent1"/>
          </a:effectRef>
          <a:fontRef idx="minor">
            <a:schemeClr val="tx1"/>
          </a:fontRef>
        </p:style>
      </p:cxnSp>
      <p:sp>
        <p:nvSpPr>
          <p:cNvPr id="158" name="arrowhead 157"/>
          <p:cNvSpPr/>
          <p:nvPr/>
        </p:nvSpPr>
        <p:spPr>
          <a:xfrm>
            <a:off x="5113185" y="4154920"/>
            <a:ext cx="95095" cy="87780"/>
          </a:xfrm>
          <a:custGeom>
            <a:avLst/>
            <a:gdLst/>
            <a:ahLst/>
            <a:cxnLst/>
            <a:rect l="l" t="t" r="r" b="b"/>
            <a:pathLst>
              <a:path w="13" h="12">
                <a:moveTo>
                  <a:pt x="13" y="6"/>
                </a:moveTo>
                <a:lnTo>
                  <a:pt x="0" y="12"/>
                </a:lnTo>
                <a:lnTo>
                  <a:pt x="0" y="0"/>
                </a:lnTo>
                <a:close/>
              </a:path>
            </a:pathLst>
          </a:custGeom>
          <a:solidFill>
            <a:srgbClr val="18181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9" name="line 158"/>
          <p:cNvCxnSpPr/>
          <p:nvPr/>
        </p:nvCxnSpPr>
        <p:spPr>
          <a:xfrm>
            <a:off x="5691070" y="4198810"/>
            <a:ext cx="1967735" cy="0"/>
          </a:xfrm>
          <a:prstGeom prst="line">
            <a:avLst/>
          </a:prstGeom>
          <a:ln w="18288">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160" name="line 159"/>
          <p:cNvCxnSpPr/>
          <p:nvPr/>
        </p:nvCxnSpPr>
        <p:spPr>
          <a:xfrm>
            <a:off x="5691070" y="4132975"/>
            <a:ext cx="0" cy="13167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161" name="line 160"/>
          <p:cNvCxnSpPr/>
          <p:nvPr/>
        </p:nvCxnSpPr>
        <p:spPr>
          <a:xfrm>
            <a:off x="7658805" y="4132975"/>
            <a:ext cx="0" cy="13167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sp>
        <p:nvSpPr>
          <p:cNvPr id="162" name="circle 161"/>
          <p:cNvSpPr/>
          <p:nvPr/>
        </p:nvSpPr>
        <p:spPr>
          <a:xfrm>
            <a:off x="6802950" y="4162235"/>
            <a:ext cx="73150" cy="73150"/>
          </a:xfrm>
          <a:prstGeom prst="ellipse">
            <a:avLst/>
          </a:prstGeom>
          <a:solidFill>
            <a:srgbClr val="181818"/>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3" name="t"/>
          <p:cNvSpPr txBox="1"/>
          <p:nvPr/>
        </p:nvSpPr>
        <p:spPr>
          <a:xfrm>
            <a:off x="533081" y="4365226"/>
            <a:ext cx="142642" cy="250539"/>
          </a:xfrm>
          <a:prstGeom prst="rect">
            <a:avLst/>
          </a:prstGeom>
          <a:noFill/>
          <a:effectLst/>
        </p:spPr>
        <p:txBody>
          <a:bodyPr wrap="none" lIns="0" rIns="0" tIns="0" bIns="0" anchor="t">
            <a:spAutoFit/>
          </a:bodyPr>
          <a:lstStyle/>
          <a:p>
            <a:pPr algn="l">
              <a:lnSpc>
                <a:spcPct val="100000"/>
              </a:lnSpc>
              <a:spcBef>
                <a:spcPts val="0"/>
              </a:spcBef>
              <a:spcAft>
                <a:spcPts val="0"/>
              </a:spcAft>
            </a:pPr>
            <a:r>
              <a:rPr sz="1555" b="0" i="1" lang="en-US" spc="0">
                <a:solidFill>
                  <a:srgbClr val="181818"/>
                </a:solidFill>
                <a:latin typeface="Liberation Serif"/>
                <a:ea typeface="Liberation Serif"/>
                <a:effectLst/>
              </a:rPr>
              <a:t>t</a:t>
            </a:r>
          </a:p>
        </p:txBody>
      </p:sp>
      <p:sp>
        <p:nvSpPr>
          <p:cNvPr id="164" name="1"/>
          <p:cNvSpPr txBox="1"/>
          <p:nvPr/>
        </p:nvSpPr>
        <p:spPr>
          <a:xfrm>
            <a:off x="595258" y="4476780"/>
            <a:ext cx="151786" cy="173731"/>
          </a:xfrm>
          <a:prstGeom prst="rect">
            <a:avLst/>
          </a:prstGeom>
          <a:noFill/>
          <a:effectLst/>
        </p:spPr>
        <p:txBody>
          <a:bodyPr wrap="none" lIns="0" rIns="0" tIns="0" bIns="0" anchor="t">
            <a:spAutoFit/>
          </a:bodyPr>
          <a:lstStyle/>
          <a:p>
            <a:pPr algn="l">
              <a:lnSpc>
                <a:spcPct val="100000"/>
              </a:lnSpc>
              <a:spcBef>
                <a:spcPts val="0"/>
              </a:spcBef>
              <a:spcAft>
                <a:spcPts val="0"/>
              </a:spcAft>
            </a:pPr>
            <a:r>
              <a:rPr sz="1010" b="0" i="0" lang="en-US" spc="0">
                <a:solidFill>
                  <a:srgbClr val="181818"/>
                </a:solidFill>
                <a:latin typeface="Liberation Serif"/>
                <a:ea typeface="Liberation Serif"/>
                <a:effectLst/>
              </a:rPr>
              <a:t>1</a:t>
            </a:r>
          </a:p>
        </p:txBody>
      </p:sp>
      <p:sp>
        <p:nvSpPr>
          <p:cNvPr id="165" name="rect 164"/>
          <p:cNvSpPr/>
          <p:nvPr/>
        </p:nvSpPr>
        <p:spPr>
          <a:xfrm>
            <a:off x="907060" y="4403630"/>
            <a:ext cx="212135" cy="168245"/>
          </a:xfrm>
          <a:prstGeom prst="roundRect">
            <a:avLst>
              <a:gd name="adj" fmla="val 4347"/>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6" name="rect 165"/>
          <p:cNvSpPr/>
          <p:nvPr/>
        </p:nvSpPr>
        <p:spPr>
          <a:xfrm>
            <a:off x="1155770" y="4403630"/>
            <a:ext cx="212135" cy="168245"/>
          </a:xfrm>
          <a:prstGeom prst="roundRect">
            <a:avLst>
              <a:gd name="adj" fmla="val 4347"/>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7" name="rect 166"/>
          <p:cNvSpPr/>
          <p:nvPr/>
        </p:nvSpPr>
        <p:spPr>
          <a:xfrm>
            <a:off x="1404480" y="4403630"/>
            <a:ext cx="212135" cy="168245"/>
          </a:xfrm>
          <a:prstGeom prst="roundRect">
            <a:avLst>
              <a:gd name="adj" fmla="val 4347"/>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8" name="rect 167"/>
          <p:cNvSpPr/>
          <p:nvPr/>
        </p:nvSpPr>
        <p:spPr>
          <a:xfrm>
            <a:off x="1653190" y="4403630"/>
            <a:ext cx="212135" cy="168245"/>
          </a:xfrm>
          <a:prstGeom prst="roundRect">
            <a:avLst>
              <a:gd name="adj" fmla="val 4347"/>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69" name="path 168"/>
          <p:cNvCxnSpPr/>
          <p:nvPr/>
        </p:nvCxnSpPr>
        <p:spPr>
          <a:xfrm>
            <a:off x="1982365" y="4484095"/>
            <a:ext cx="672980" cy="0"/>
          </a:xfrm>
          <a:prstGeom prst="line">
            <a:avLst/>
          </a:prstGeom>
          <a:ln w="13167">
            <a:solidFill>
              <a:srgbClr val="2676B8"/>
            </a:solidFill>
            <a:prstDash val="dash"/>
          </a:ln>
          <a:effectLst/>
        </p:spPr>
        <p:style>
          <a:lnRef idx="2">
            <a:schemeClr val="accent1"/>
          </a:lnRef>
          <a:fillRef idx="0">
            <a:schemeClr val="accent1"/>
          </a:fillRef>
          <a:effectRef idx="0">
            <a:schemeClr val="accent1"/>
          </a:effectRef>
          <a:fontRef idx="minor">
            <a:schemeClr val="tx1"/>
          </a:fontRef>
        </p:style>
      </p:cxnSp>
      <p:sp>
        <p:nvSpPr>
          <p:cNvPr id="170" name="arrowhead 169"/>
          <p:cNvSpPr/>
          <p:nvPr/>
        </p:nvSpPr>
        <p:spPr>
          <a:xfrm>
            <a:off x="2574880" y="4440205"/>
            <a:ext cx="95095" cy="87780"/>
          </a:xfrm>
          <a:custGeom>
            <a:avLst/>
            <a:gdLst/>
            <a:ahLst/>
            <a:cxnLst/>
            <a:rect l="l" t="t" r="r" b="b"/>
            <a:pathLst>
              <a:path w="13" h="12">
                <a:moveTo>
                  <a:pt x="13" y="6"/>
                </a:moveTo>
                <a:lnTo>
                  <a:pt x="0" y="12"/>
                </a:lnTo>
                <a:lnTo>
                  <a:pt x="0" y="0"/>
                </a:lnTo>
                <a:close/>
              </a:path>
            </a:pathLst>
          </a:custGeom>
          <a:solidFill>
            <a:srgbClr val="2676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1" name="rect 170"/>
          <p:cNvSpPr/>
          <p:nvPr/>
        </p:nvSpPr>
        <p:spPr>
          <a:xfrm>
            <a:off x="2904055" y="4418260"/>
            <a:ext cx="1316700" cy="131670"/>
          </a:xfrm>
          <a:prstGeom prst="rect">
            <a:avLst/>
          </a:prstGeom>
          <a:solidFill>
            <a:srgbClr val="A9CEE8"/>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72" name="path 171"/>
          <p:cNvCxnSpPr/>
          <p:nvPr/>
        </p:nvCxnSpPr>
        <p:spPr>
          <a:xfrm>
            <a:off x="4871790" y="4484095"/>
            <a:ext cx="321860" cy="0"/>
          </a:xfrm>
          <a:prstGeom prst="line">
            <a:avLst/>
          </a:prstGeom>
          <a:ln w="13167">
            <a:solidFill>
              <a:srgbClr val="181818"/>
            </a:solidFill>
          </a:ln>
          <a:effectLst/>
        </p:spPr>
        <p:style>
          <a:lnRef idx="2">
            <a:schemeClr val="accent1"/>
          </a:lnRef>
          <a:fillRef idx="0">
            <a:schemeClr val="accent1"/>
          </a:fillRef>
          <a:effectRef idx="0">
            <a:schemeClr val="accent1"/>
          </a:effectRef>
          <a:fontRef idx="minor">
            <a:schemeClr val="tx1"/>
          </a:fontRef>
        </p:style>
      </p:cxnSp>
      <p:sp>
        <p:nvSpPr>
          <p:cNvPr id="173" name="arrowhead 172"/>
          <p:cNvSpPr/>
          <p:nvPr/>
        </p:nvSpPr>
        <p:spPr>
          <a:xfrm>
            <a:off x="5113185" y="4440205"/>
            <a:ext cx="95095" cy="87780"/>
          </a:xfrm>
          <a:custGeom>
            <a:avLst/>
            <a:gdLst/>
            <a:ahLst/>
            <a:cxnLst/>
            <a:rect l="l" t="t" r="r" b="b"/>
            <a:pathLst>
              <a:path w="13" h="12">
                <a:moveTo>
                  <a:pt x="13" y="6"/>
                </a:moveTo>
                <a:lnTo>
                  <a:pt x="0" y="12"/>
                </a:lnTo>
                <a:lnTo>
                  <a:pt x="0" y="0"/>
                </a:lnTo>
                <a:close/>
              </a:path>
            </a:pathLst>
          </a:custGeom>
          <a:solidFill>
            <a:srgbClr val="18181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74" name="line 173"/>
          <p:cNvCxnSpPr/>
          <p:nvPr/>
        </p:nvCxnSpPr>
        <p:spPr>
          <a:xfrm>
            <a:off x="5303375" y="4484095"/>
            <a:ext cx="1601985" cy="0"/>
          </a:xfrm>
          <a:prstGeom prst="line">
            <a:avLst/>
          </a:prstGeom>
          <a:ln w="18288">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175" name="line 174"/>
          <p:cNvCxnSpPr/>
          <p:nvPr/>
        </p:nvCxnSpPr>
        <p:spPr>
          <a:xfrm>
            <a:off x="5303375" y="4418260"/>
            <a:ext cx="0" cy="13167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176" name="line 175"/>
          <p:cNvCxnSpPr/>
          <p:nvPr/>
        </p:nvCxnSpPr>
        <p:spPr>
          <a:xfrm>
            <a:off x="6905360" y="4418260"/>
            <a:ext cx="0" cy="13167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sp>
        <p:nvSpPr>
          <p:cNvPr id="177" name="circle 176"/>
          <p:cNvSpPr/>
          <p:nvPr/>
        </p:nvSpPr>
        <p:spPr>
          <a:xfrm>
            <a:off x="6086080" y="4447520"/>
            <a:ext cx="73150" cy="73150"/>
          </a:xfrm>
          <a:prstGeom prst="ellipse">
            <a:avLst/>
          </a:prstGeom>
          <a:solidFill>
            <a:srgbClr val="181818"/>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8" name="t"/>
          <p:cNvSpPr txBox="1"/>
          <p:nvPr/>
        </p:nvSpPr>
        <p:spPr>
          <a:xfrm>
            <a:off x="533081" y="4650511"/>
            <a:ext cx="142642" cy="250539"/>
          </a:xfrm>
          <a:prstGeom prst="rect">
            <a:avLst/>
          </a:prstGeom>
          <a:noFill/>
          <a:effectLst/>
        </p:spPr>
        <p:txBody>
          <a:bodyPr wrap="none" lIns="0" rIns="0" tIns="0" bIns="0" anchor="t">
            <a:spAutoFit/>
          </a:bodyPr>
          <a:lstStyle/>
          <a:p>
            <a:pPr algn="l">
              <a:lnSpc>
                <a:spcPct val="100000"/>
              </a:lnSpc>
              <a:spcBef>
                <a:spcPts val="0"/>
              </a:spcBef>
              <a:spcAft>
                <a:spcPts val="0"/>
              </a:spcAft>
            </a:pPr>
            <a:r>
              <a:rPr sz="1555" b="0" i="1" lang="en-US" spc="0">
                <a:solidFill>
                  <a:srgbClr val="181818"/>
                </a:solidFill>
                <a:latin typeface="Liberation Serif"/>
                <a:ea typeface="Liberation Serif"/>
                <a:effectLst/>
              </a:rPr>
              <a:t>t</a:t>
            </a:r>
          </a:p>
        </p:txBody>
      </p:sp>
      <p:sp>
        <p:nvSpPr>
          <p:cNvPr id="179" name="2"/>
          <p:cNvSpPr txBox="1"/>
          <p:nvPr/>
        </p:nvSpPr>
        <p:spPr>
          <a:xfrm>
            <a:off x="595258" y="4762065"/>
            <a:ext cx="151786" cy="173731"/>
          </a:xfrm>
          <a:prstGeom prst="rect">
            <a:avLst/>
          </a:prstGeom>
          <a:noFill/>
          <a:effectLst/>
        </p:spPr>
        <p:txBody>
          <a:bodyPr wrap="none" lIns="0" rIns="0" tIns="0" bIns="0" anchor="t">
            <a:spAutoFit/>
          </a:bodyPr>
          <a:lstStyle/>
          <a:p>
            <a:pPr algn="l">
              <a:lnSpc>
                <a:spcPct val="100000"/>
              </a:lnSpc>
              <a:spcBef>
                <a:spcPts val="0"/>
              </a:spcBef>
              <a:spcAft>
                <a:spcPts val="0"/>
              </a:spcAft>
            </a:pPr>
            <a:r>
              <a:rPr sz="1010" b="0" i="0" lang="en-US" spc="0">
                <a:solidFill>
                  <a:srgbClr val="181818"/>
                </a:solidFill>
                <a:latin typeface="Liberation Serif"/>
                <a:ea typeface="Liberation Serif"/>
                <a:effectLst/>
              </a:rPr>
              <a:t>2</a:t>
            </a:r>
          </a:p>
        </p:txBody>
      </p:sp>
      <p:sp>
        <p:nvSpPr>
          <p:cNvPr id="180" name="rect 179"/>
          <p:cNvSpPr/>
          <p:nvPr/>
        </p:nvSpPr>
        <p:spPr>
          <a:xfrm>
            <a:off x="907060" y="4688915"/>
            <a:ext cx="212135" cy="168245"/>
          </a:xfrm>
          <a:prstGeom prst="roundRect">
            <a:avLst>
              <a:gd name="adj" fmla="val 4347"/>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1" name="rect 180"/>
          <p:cNvSpPr/>
          <p:nvPr/>
        </p:nvSpPr>
        <p:spPr>
          <a:xfrm>
            <a:off x="1155770" y="4688915"/>
            <a:ext cx="212135" cy="168245"/>
          </a:xfrm>
          <a:prstGeom prst="roundRect">
            <a:avLst>
              <a:gd name="adj" fmla="val 4347"/>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2" name="rect 181"/>
          <p:cNvSpPr/>
          <p:nvPr/>
        </p:nvSpPr>
        <p:spPr>
          <a:xfrm>
            <a:off x="1404480" y="4688915"/>
            <a:ext cx="212135" cy="168245"/>
          </a:xfrm>
          <a:prstGeom prst="roundRect">
            <a:avLst>
              <a:gd name="adj" fmla="val 4347"/>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3" name="rect 182"/>
          <p:cNvSpPr/>
          <p:nvPr/>
        </p:nvSpPr>
        <p:spPr>
          <a:xfrm>
            <a:off x="1653190" y="4688915"/>
            <a:ext cx="212135" cy="168245"/>
          </a:xfrm>
          <a:prstGeom prst="roundRect">
            <a:avLst>
              <a:gd name="adj" fmla="val 4347"/>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84" name="path 183"/>
          <p:cNvCxnSpPr/>
          <p:nvPr/>
        </p:nvCxnSpPr>
        <p:spPr>
          <a:xfrm>
            <a:off x="1982365" y="4769380"/>
            <a:ext cx="672980" cy="0"/>
          </a:xfrm>
          <a:prstGeom prst="line">
            <a:avLst/>
          </a:prstGeom>
          <a:ln w="13167">
            <a:solidFill>
              <a:srgbClr val="2676B8"/>
            </a:solidFill>
            <a:prstDash val="dash"/>
          </a:ln>
          <a:effectLst/>
        </p:spPr>
        <p:style>
          <a:lnRef idx="2">
            <a:schemeClr val="accent1"/>
          </a:lnRef>
          <a:fillRef idx="0">
            <a:schemeClr val="accent1"/>
          </a:fillRef>
          <a:effectRef idx="0">
            <a:schemeClr val="accent1"/>
          </a:effectRef>
          <a:fontRef idx="minor">
            <a:schemeClr val="tx1"/>
          </a:fontRef>
        </p:style>
      </p:cxnSp>
      <p:sp>
        <p:nvSpPr>
          <p:cNvPr id="185" name="arrowhead 184"/>
          <p:cNvSpPr/>
          <p:nvPr/>
        </p:nvSpPr>
        <p:spPr>
          <a:xfrm>
            <a:off x="2574880" y="4725490"/>
            <a:ext cx="95095" cy="87780"/>
          </a:xfrm>
          <a:custGeom>
            <a:avLst/>
            <a:gdLst/>
            <a:ahLst/>
            <a:cxnLst/>
            <a:rect l="l" t="t" r="r" b="b"/>
            <a:pathLst>
              <a:path w="13" h="12">
                <a:moveTo>
                  <a:pt x="13" y="6"/>
                </a:moveTo>
                <a:lnTo>
                  <a:pt x="0" y="12"/>
                </a:lnTo>
                <a:lnTo>
                  <a:pt x="0" y="0"/>
                </a:lnTo>
                <a:close/>
              </a:path>
            </a:pathLst>
          </a:custGeom>
          <a:solidFill>
            <a:srgbClr val="2676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6" name="rect 185"/>
          <p:cNvSpPr/>
          <p:nvPr/>
        </p:nvSpPr>
        <p:spPr>
          <a:xfrm>
            <a:off x="2904055" y="4703545"/>
            <a:ext cx="1792175" cy="131670"/>
          </a:xfrm>
          <a:prstGeom prst="rect">
            <a:avLst/>
          </a:prstGeom>
          <a:solidFill>
            <a:srgbClr val="A9CEE8"/>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87" name="path 186"/>
          <p:cNvCxnSpPr/>
          <p:nvPr/>
        </p:nvCxnSpPr>
        <p:spPr>
          <a:xfrm>
            <a:off x="4871790" y="4769380"/>
            <a:ext cx="321860" cy="0"/>
          </a:xfrm>
          <a:prstGeom prst="line">
            <a:avLst/>
          </a:prstGeom>
          <a:ln w="13167">
            <a:solidFill>
              <a:srgbClr val="181818"/>
            </a:solidFill>
          </a:ln>
          <a:effectLst/>
        </p:spPr>
        <p:style>
          <a:lnRef idx="2">
            <a:schemeClr val="accent1"/>
          </a:lnRef>
          <a:fillRef idx="0">
            <a:schemeClr val="accent1"/>
          </a:fillRef>
          <a:effectRef idx="0">
            <a:schemeClr val="accent1"/>
          </a:effectRef>
          <a:fontRef idx="minor">
            <a:schemeClr val="tx1"/>
          </a:fontRef>
        </p:style>
      </p:cxnSp>
      <p:sp>
        <p:nvSpPr>
          <p:cNvPr id="188" name="arrowhead 187"/>
          <p:cNvSpPr/>
          <p:nvPr/>
        </p:nvSpPr>
        <p:spPr>
          <a:xfrm>
            <a:off x="5113185" y="4725490"/>
            <a:ext cx="95095" cy="87780"/>
          </a:xfrm>
          <a:custGeom>
            <a:avLst/>
            <a:gdLst/>
            <a:ahLst/>
            <a:cxnLst/>
            <a:rect l="l" t="t" r="r" b="b"/>
            <a:pathLst>
              <a:path w="13" h="12">
                <a:moveTo>
                  <a:pt x="13" y="6"/>
                </a:moveTo>
                <a:lnTo>
                  <a:pt x="0" y="12"/>
                </a:lnTo>
                <a:lnTo>
                  <a:pt x="0" y="0"/>
                </a:lnTo>
                <a:close/>
              </a:path>
            </a:pathLst>
          </a:custGeom>
          <a:solidFill>
            <a:srgbClr val="18181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89" name="line 188"/>
          <p:cNvCxnSpPr/>
          <p:nvPr/>
        </p:nvCxnSpPr>
        <p:spPr>
          <a:xfrm>
            <a:off x="5515510" y="4769380"/>
            <a:ext cx="1726340" cy="0"/>
          </a:xfrm>
          <a:prstGeom prst="line">
            <a:avLst/>
          </a:prstGeom>
          <a:ln w="18288">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190" name="line 189"/>
          <p:cNvCxnSpPr/>
          <p:nvPr/>
        </p:nvCxnSpPr>
        <p:spPr>
          <a:xfrm>
            <a:off x="5515510" y="4703545"/>
            <a:ext cx="0" cy="13167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191" name="line 190"/>
          <p:cNvCxnSpPr/>
          <p:nvPr/>
        </p:nvCxnSpPr>
        <p:spPr>
          <a:xfrm>
            <a:off x="7241850" y="4703545"/>
            <a:ext cx="0" cy="13167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sp>
        <p:nvSpPr>
          <p:cNvPr id="192" name="circle 191"/>
          <p:cNvSpPr/>
          <p:nvPr/>
        </p:nvSpPr>
        <p:spPr>
          <a:xfrm>
            <a:off x="6554240" y="4732805"/>
            <a:ext cx="73150" cy="73150"/>
          </a:xfrm>
          <a:prstGeom prst="ellipse">
            <a:avLst/>
          </a:prstGeom>
          <a:solidFill>
            <a:srgbClr val="181818"/>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3" name="path 192"/>
          <p:cNvSpPr/>
          <p:nvPr/>
        </p:nvSpPr>
        <p:spPr>
          <a:xfrm>
            <a:off x="314545" y="1989680"/>
            <a:ext cx="7483245" cy="2904055"/>
          </a:xfrm>
          <a:custGeom>
            <a:avLst/>
            <a:gdLst/>
            <a:ahLst/>
            <a:cxnLst/>
            <a:rect l="l" t="t" r="r" b="b"/>
            <a:pathLst>
              <a:path w="1023" h="397">
                <a:moveTo>
                  <a:pt x="1023" y="397"/>
                </a:moveTo>
                <a:lnTo>
                  <a:pt x="0" y="397"/>
                </a:lnTo>
                <a:lnTo>
                  <a:pt x="0" y="0"/>
                </a:lnTo>
                <a:lnTo>
                  <a:pt x="11" y="0"/>
                </a:lnTo>
              </a:path>
            </a:pathLst>
          </a:custGeom>
          <a:noFill/>
          <a:ln w="11704">
            <a:solidFill>
              <a:srgbClr val="2676B8"/>
            </a:solidFill>
            <a:prstDash val="dash"/>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4" name="arrowhead 193"/>
          <p:cNvSpPr/>
          <p:nvPr/>
        </p:nvSpPr>
        <p:spPr>
          <a:xfrm>
            <a:off x="321860" y="1945790"/>
            <a:ext cx="87780" cy="87780"/>
          </a:xfrm>
          <a:custGeom>
            <a:avLst/>
            <a:gdLst/>
            <a:ahLst/>
            <a:cxnLst/>
            <a:rect l="l" t="t" r="r" b="b"/>
            <a:pathLst>
              <a:path w="12" h="12">
                <a:moveTo>
                  <a:pt x="12" y="6"/>
                </a:moveTo>
                <a:lnTo>
                  <a:pt x="0" y="12"/>
                </a:lnTo>
                <a:lnTo>
                  <a:pt x="0" y="0"/>
                </a:lnTo>
                <a:close/>
              </a:path>
            </a:pathLst>
          </a:custGeom>
          <a:solidFill>
            <a:srgbClr val="2676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5" name="rect 194"/>
          <p:cNvSpPr/>
          <p:nvPr/>
        </p:nvSpPr>
        <p:spPr>
          <a:xfrm>
            <a:off x="8163540" y="907060"/>
            <a:ext cx="4769380" cy="4125660"/>
          </a:xfrm>
          <a:prstGeom prst="roundRect">
            <a:avLst>
              <a:gd name="adj" fmla="val 354"/>
            </a:avLst>
          </a:prstGeom>
          <a:solidFill>
            <a:srgbClr val="EEEEEE"/>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6" name="rect 195"/>
          <p:cNvSpPr/>
          <p:nvPr/>
        </p:nvSpPr>
        <p:spPr>
          <a:xfrm>
            <a:off x="8163540" y="907060"/>
            <a:ext cx="4769380" cy="277970"/>
          </a:xfrm>
          <a:prstGeom prst="roundRect">
            <a:avLst>
              <a:gd name="adj" fmla="val 5263"/>
            </a:avLst>
          </a:prstGeom>
          <a:solidFill>
            <a:srgbClr val="A9CEE8"/>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7" name="(b) JOIN projection + observed service"/>
          <p:cNvSpPr txBox="1"/>
          <p:nvPr/>
        </p:nvSpPr>
        <p:spPr>
          <a:xfrm>
            <a:off x="8265950" y="929810"/>
            <a:ext cx="4199267" cy="252368"/>
          </a:xfrm>
          <a:prstGeom prst="rect">
            <a:avLst/>
          </a:prstGeom>
          <a:noFill/>
          <a:effectLst/>
        </p:spPr>
        <p:txBody>
          <a:bodyPr wrap="none" lIns="0" rIns="0" tIns="0" bIns="0" anchor="t">
            <a:spAutoFit/>
          </a:bodyPr>
          <a:lstStyle/>
          <a:p>
            <a:pPr algn="l">
              <a:lnSpc>
                <a:spcPct val="100000"/>
              </a:lnSpc>
              <a:spcBef>
                <a:spcPts val="0"/>
              </a:spcBef>
              <a:spcAft>
                <a:spcPts val="0"/>
              </a:spcAft>
            </a:pPr>
            <a:r>
              <a:rPr sz="1497" b="1" i="0" lang="en-US" spc="0">
                <a:solidFill>
                  <a:srgbClr val="181818"/>
                </a:solidFill>
                <a:latin typeface="DejaVu Sans"/>
                <a:ea typeface="DejaVu Sans"/>
                <a:effectLst/>
              </a:rPr>
              <a:t>(b) JOIN projection + observed service</a:t>
            </a:r>
          </a:p>
        </p:txBody>
      </p:sp>
      <p:sp>
        <p:nvSpPr>
          <p:cNvPr id="198" name="circle 197"/>
          <p:cNvSpPr/>
          <p:nvPr/>
        </p:nvSpPr>
        <p:spPr>
          <a:xfrm>
            <a:off x="8426880" y="1821435"/>
            <a:ext cx="351120" cy="351120"/>
          </a:xfrm>
          <a:prstGeom prst="ellipse">
            <a:avLst/>
          </a:prstGeom>
          <a:solidFill>
            <a:srgbClr val="E9A6BF"/>
          </a:solidFill>
          <a:ln w="14630">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9" name="P"/>
          <p:cNvSpPr txBox="1"/>
          <p:nvPr/>
        </p:nvSpPr>
        <p:spPr>
          <a:xfrm>
            <a:off x="8496901" y="1896926"/>
            <a:ext cx="211078" cy="226765"/>
          </a:xfrm>
          <a:prstGeom prst="rect">
            <a:avLst/>
          </a:prstGeom>
          <a:noFill/>
          <a:effectLst/>
        </p:spPr>
        <p:txBody>
          <a:bodyPr wrap="none" lIns="0" rIns="0" tIns="0" bIns="0" anchor="t">
            <a:spAutoFit/>
          </a:bodyPr>
          <a:lstStyle/>
          <a:p>
            <a:pPr algn="ctr">
              <a:lnSpc>
                <a:spcPct val="100000"/>
              </a:lnSpc>
              <a:spcBef>
                <a:spcPts val="0"/>
              </a:spcBef>
              <a:spcAft>
                <a:spcPts val="0"/>
              </a:spcAft>
            </a:pPr>
            <a:r>
              <a:rPr sz="1324" b="1" i="0" lang="en-US" spc="0">
                <a:solidFill>
                  <a:srgbClr val="181818"/>
                </a:solidFill>
                <a:latin typeface="DejaVu Sans"/>
                <a:ea typeface="DejaVu Sans"/>
                <a:effectLst/>
              </a:rPr>
              <a:t>P</a:t>
            </a:r>
          </a:p>
        </p:txBody>
      </p:sp>
      <p:sp>
        <p:nvSpPr>
          <p:cNvPr id="200" name="circle 199"/>
          <p:cNvSpPr/>
          <p:nvPr/>
        </p:nvSpPr>
        <p:spPr>
          <a:xfrm>
            <a:off x="9443665" y="1382535"/>
            <a:ext cx="351120" cy="351120"/>
          </a:xfrm>
          <a:prstGeom prst="ellipse">
            <a:avLst/>
          </a:prstGeom>
          <a:solidFill>
            <a:srgbClr val="B5D68B"/>
          </a:solidFill>
          <a:ln w="14630">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1" name="C1"/>
          <p:cNvSpPr txBox="1"/>
          <p:nvPr/>
        </p:nvSpPr>
        <p:spPr>
          <a:xfrm>
            <a:off x="9455066" y="1458026"/>
            <a:ext cx="328318" cy="226765"/>
          </a:xfrm>
          <a:prstGeom prst="rect">
            <a:avLst/>
          </a:prstGeom>
          <a:noFill/>
          <a:effectLst/>
        </p:spPr>
        <p:txBody>
          <a:bodyPr wrap="none" lIns="0" rIns="0" tIns="0" bIns="0" anchor="t">
            <a:spAutoFit/>
          </a:bodyPr>
          <a:lstStyle/>
          <a:p>
            <a:pPr algn="ctr">
              <a:lnSpc>
                <a:spcPct val="100000"/>
              </a:lnSpc>
              <a:spcBef>
                <a:spcPts val="0"/>
              </a:spcBef>
              <a:spcAft>
                <a:spcPts val="0"/>
              </a:spcAft>
            </a:pPr>
            <a:r>
              <a:rPr sz="1324" b="1" i="0" lang="en-US" spc="0">
                <a:solidFill>
                  <a:srgbClr val="181818"/>
                </a:solidFill>
                <a:latin typeface="DejaVu Sans"/>
                <a:ea typeface="DejaVu Sans"/>
                <a:effectLst/>
              </a:rPr>
              <a:t>C1</a:t>
            </a:r>
          </a:p>
        </p:txBody>
      </p:sp>
      <p:sp>
        <p:nvSpPr>
          <p:cNvPr id="202" name="circle 201"/>
          <p:cNvSpPr/>
          <p:nvPr/>
        </p:nvSpPr>
        <p:spPr>
          <a:xfrm>
            <a:off x="9443665" y="2267650"/>
            <a:ext cx="351120" cy="351120"/>
          </a:xfrm>
          <a:prstGeom prst="ellipse">
            <a:avLst/>
          </a:prstGeom>
          <a:solidFill>
            <a:srgbClr val="F2BD7D"/>
          </a:solidFill>
          <a:ln w="14630">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3" name="C2"/>
          <p:cNvSpPr txBox="1"/>
          <p:nvPr/>
        </p:nvSpPr>
        <p:spPr>
          <a:xfrm>
            <a:off x="9455066" y="2343141"/>
            <a:ext cx="328318" cy="226765"/>
          </a:xfrm>
          <a:prstGeom prst="rect">
            <a:avLst/>
          </a:prstGeom>
          <a:noFill/>
          <a:effectLst/>
        </p:spPr>
        <p:txBody>
          <a:bodyPr wrap="none" lIns="0" rIns="0" tIns="0" bIns="0" anchor="t">
            <a:spAutoFit/>
          </a:bodyPr>
          <a:lstStyle/>
          <a:p>
            <a:pPr algn="ctr">
              <a:lnSpc>
                <a:spcPct val="100000"/>
              </a:lnSpc>
              <a:spcBef>
                <a:spcPts val="0"/>
              </a:spcBef>
              <a:spcAft>
                <a:spcPts val="0"/>
              </a:spcAft>
            </a:pPr>
            <a:r>
              <a:rPr sz="1324" b="1" i="0" lang="en-US" spc="0">
                <a:solidFill>
                  <a:srgbClr val="181818"/>
                </a:solidFill>
                <a:latin typeface="DejaVu Sans"/>
                <a:ea typeface="DejaVu Sans"/>
                <a:effectLst/>
              </a:rPr>
              <a:t>C2</a:t>
            </a:r>
          </a:p>
        </p:txBody>
      </p:sp>
      <p:sp>
        <p:nvSpPr>
          <p:cNvPr id="204" name="path 203"/>
          <p:cNvSpPr/>
          <p:nvPr/>
        </p:nvSpPr>
        <p:spPr>
          <a:xfrm>
            <a:off x="9875250" y="1404480"/>
            <a:ext cx="131670" cy="131670"/>
          </a:xfrm>
          <a:custGeom>
            <a:avLst/>
            <a:gdLst/>
            <a:ahLst/>
            <a:cxnLst/>
            <a:rect l="l" t="t" r="r" b="b"/>
            <a:pathLst>
              <a:path w="18" h="18">
                <a:moveTo>
                  <a:pt x="0" y="9"/>
                </a:moveTo>
                <a:lnTo>
                  <a:pt x="6" y="18"/>
                </a:lnTo>
                <a:lnTo>
                  <a:pt x="18" y="0"/>
                </a:lnTo>
              </a:path>
            </a:pathLst>
          </a:custGeom>
          <a:noFill/>
          <a:ln w="20482">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5" name="polygon 204"/>
          <p:cNvSpPr/>
          <p:nvPr/>
        </p:nvSpPr>
        <p:spPr>
          <a:xfrm>
            <a:off x="10694530" y="1726340"/>
            <a:ext cx="819280" cy="541310"/>
          </a:xfrm>
          <a:custGeom>
            <a:avLst/>
            <a:gdLst/>
            <a:ahLst/>
            <a:cxnLst/>
            <a:rect l="l" t="t" r="r" b="b"/>
            <a:pathLst>
              <a:path w="112" h="74">
                <a:moveTo>
                  <a:pt x="56" y="0"/>
                </a:moveTo>
                <a:lnTo>
                  <a:pt x="112" y="37"/>
                </a:lnTo>
                <a:lnTo>
                  <a:pt x="56" y="74"/>
                </a:lnTo>
                <a:lnTo>
                  <a:pt x="0" y="37"/>
                </a:lnTo>
                <a:close/>
              </a:path>
            </a:pathLst>
          </a:custGeom>
          <a:solidFill>
            <a:srgbClr val="FFFFFF"/>
          </a:solidFill>
          <a:ln w="10972">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6" name="ALL"/>
          <p:cNvSpPr txBox="1"/>
          <p:nvPr/>
        </p:nvSpPr>
        <p:spPr>
          <a:xfrm>
            <a:off x="10872990" y="1892756"/>
            <a:ext cx="462359" cy="243224"/>
          </a:xfrm>
          <a:prstGeom prst="rect">
            <a:avLst/>
          </a:prstGeom>
          <a:noFill/>
          <a:effectLst/>
        </p:spPr>
        <p:txBody>
          <a:bodyPr wrap="none" lIns="0" rIns="0" tIns="0" bIns="0" anchor="t">
            <a:spAutoFit/>
          </a:bodyPr>
          <a:lstStyle/>
          <a:p>
            <a:pPr algn="ctr">
              <a:lnSpc>
                <a:spcPct val="100000"/>
              </a:lnSpc>
              <a:spcBef>
                <a:spcPts val="0"/>
              </a:spcBef>
              <a:spcAft>
                <a:spcPts val="0"/>
              </a:spcAft>
            </a:pPr>
            <a:r>
              <a:rPr sz="1439" b="1" i="0" lang="en-US" spc="0">
                <a:solidFill>
                  <a:srgbClr val="181818"/>
                </a:solidFill>
                <a:latin typeface="DejaVu Sans"/>
                <a:ea typeface="DejaVu Sans"/>
                <a:effectLst/>
              </a:rPr>
              <a:t>ALL</a:t>
            </a:r>
          </a:p>
        </p:txBody>
      </p:sp>
      <p:sp>
        <p:nvSpPr>
          <p:cNvPr id="207" name="circle 206"/>
          <p:cNvSpPr/>
          <p:nvPr/>
        </p:nvSpPr>
        <p:spPr>
          <a:xfrm>
            <a:off x="12245310" y="1821435"/>
            <a:ext cx="351120" cy="351120"/>
          </a:xfrm>
          <a:prstGeom prst="ellipse">
            <a:avLst/>
          </a:prstGeom>
          <a:solidFill>
            <a:srgbClr val="E9A6BF"/>
          </a:solidFill>
          <a:ln w="14630">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8" name="P"/>
          <p:cNvSpPr txBox="1"/>
          <p:nvPr/>
        </p:nvSpPr>
        <p:spPr>
          <a:xfrm>
            <a:off x="12315331" y="1896926"/>
            <a:ext cx="211078" cy="226765"/>
          </a:xfrm>
          <a:prstGeom prst="rect">
            <a:avLst/>
          </a:prstGeom>
          <a:noFill/>
          <a:effectLst/>
        </p:spPr>
        <p:txBody>
          <a:bodyPr wrap="none" lIns="0" rIns="0" tIns="0" bIns="0" anchor="t">
            <a:spAutoFit/>
          </a:bodyPr>
          <a:lstStyle/>
          <a:p>
            <a:pPr algn="ctr">
              <a:lnSpc>
                <a:spcPct val="100000"/>
              </a:lnSpc>
              <a:spcBef>
                <a:spcPts val="0"/>
              </a:spcBef>
              <a:spcAft>
                <a:spcPts val="0"/>
              </a:spcAft>
            </a:pPr>
            <a:r>
              <a:rPr sz="1324" b="1" i="0" lang="en-US" spc="0">
                <a:solidFill>
                  <a:srgbClr val="181818"/>
                </a:solidFill>
                <a:latin typeface="DejaVu Sans"/>
                <a:ea typeface="DejaVu Sans"/>
                <a:effectLst/>
              </a:rPr>
              <a:t>P</a:t>
            </a:r>
          </a:p>
        </p:txBody>
      </p:sp>
      <p:cxnSp>
        <p:nvCxnSpPr>
          <p:cNvPr id="209" name="path 208"/>
          <p:cNvCxnSpPr/>
          <p:nvPr/>
        </p:nvCxnSpPr>
        <p:spPr>
          <a:xfrm flipV="1">
            <a:off x="8799945" y="1638560"/>
            <a:ext cx="621775" cy="285285"/>
          </a:xfrm>
          <a:prstGeom prst="line">
            <a:avLst/>
          </a:prstGeom>
          <a:ln w="16093">
            <a:solidFill>
              <a:srgbClr val="181818"/>
            </a:solidFill>
          </a:ln>
          <a:effectLst/>
        </p:spPr>
        <p:style>
          <a:lnRef idx="2">
            <a:schemeClr val="accent1"/>
          </a:lnRef>
          <a:fillRef idx="0">
            <a:schemeClr val="accent1"/>
          </a:fillRef>
          <a:effectRef idx="0">
            <a:schemeClr val="accent1"/>
          </a:effectRef>
          <a:fontRef idx="minor">
            <a:schemeClr val="tx1"/>
          </a:fontRef>
        </p:style>
      </p:cxnSp>
      <p:sp>
        <p:nvSpPr>
          <p:cNvPr id="210" name="arrowhead 209"/>
          <p:cNvSpPr/>
          <p:nvPr/>
        </p:nvSpPr>
        <p:spPr>
          <a:xfrm>
            <a:off x="9311995" y="1623930"/>
            <a:ext cx="124355" cy="102410"/>
          </a:xfrm>
          <a:custGeom>
            <a:avLst/>
            <a:gdLst/>
            <a:ahLst/>
            <a:cxnLst/>
            <a:rect l="l" t="t" r="r" b="b"/>
            <a:pathLst>
              <a:path w="17" h="14">
                <a:moveTo>
                  <a:pt x="17" y="1"/>
                </a:moveTo>
                <a:lnTo>
                  <a:pt x="6" y="14"/>
                </a:lnTo>
                <a:lnTo>
                  <a:pt x="0" y="0"/>
                </a:lnTo>
                <a:close/>
              </a:path>
            </a:pathLst>
          </a:custGeom>
          <a:solidFill>
            <a:srgbClr val="18181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211" name="path 210"/>
          <p:cNvCxnSpPr/>
          <p:nvPr/>
        </p:nvCxnSpPr>
        <p:spPr>
          <a:xfrm>
            <a:off x="8799945" y="2092090"/>
            <a:ext cx="621775" cy="263340"/>
          </a:xfrm>
          <a:prstGeom prst="line">
            <a:avLst/>
          </a:prstGeom>
          <a:ln w="16093">
            <a:solidFill>
              <a:srgbClr val="181818"/>
            </a:solidFill>
          </a:ln>
          <a:effectLst/>
        </p:spPr>
        <p:style>
          <a:lnRef idx="2">
            <a:schemeClr val="accent1"/>
          </a:lnRef>
          <a:fillRef idx="0">
            <a:schemeClr val="accent1"/>
          </a:fillRef>
          <a:effectRef idx="0">
            <a:schemeClr val="accent1"/>
          </a:effectRef>
          <a:fontRef idx="minor">
            <a:schemeClr val="tx1"/>
          </a:fontRef>
        </p:style>
      </p:cxnSp>
      <p:sp>
        <p:nvSpPr>
          <p:cNvPr id="212" name="arrowhead 211"/>
          <p:cNvSpPr/>
          <p:nvPr/>
        </p:nvSpPr>
        <p:spPr>
          <a:xfrm>
            <a:off x="9311995" y="2267650"/>
            <a:ext cx="124355" cy="102410"/>
          </a:xfrm>
          <a:custGeom>
            <a:avLst/>
            <a:gdLst/>
            <a:ahLst/>
            <a:cxnLst/>
            <a:rect l="l" t="t" r="r" b="b"/>
            <a:pathLst>
              <a:path w="17" h="14">
                <a:moveTo>
                  <a:pt x="17" y="13"/>
                </a:moveTo>
                <a:lnTo>
                  <a:pt x="0" y="14"/>
                </a:lnTo>
                <a:lnTo>
                  <a:pt x="6" y="0"/>
                </a:lnTo>
                <a:close/>
              </a:path>
            </a:pathLst>
          </a:custGeom>
          <a:solidFill>
            <a:srgbClr val="18181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3" name="path 212"/>
          <p:cNvSpPr/>
          <p:nvPr/>
        </p:nvSpPr>
        <p:spPr>
          <a:xfrm>
            <a:off x="9816730" y="1558095"/>
            <a:ext cx="914375" cy="321860"/>
          </a:xfrm>
          <a:custGeom>
            <a:avLst/>
            <a:gdLst/>
            <a:ahLst/>
            <a:cxnLst/>
            <a:rect l="l" t="t" r="r" b="b"/>
            <a:pathLst>
              <a:path w="125" h="44">
                <a:moveTo>
                  <a:pt x="0" y="0"/>
                </a:moveTo>
                <a:lnTo>
                  <a:pt x="62" y="0"/>
                </a:lnTo>
                <a:lnTo>
                  <a:pt x="125" y="44"/>
                </a:lnTo>
              </a:path>
            </a:pathLst>
          </a:custGeom>
          <a:noFill/>
          <a:ln w="16093">
            <a:solidFill>
              <a:srgbClr val="96969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4" name="arrowhead 213"/>
          <p:cNvSpPr/>
          <p:nvPr/>
        </p:nvSpPr>
        <p:spPr>
          <a:xfrm>
            <a:off x="10621380" y="1777545"/>
            <a:ext cx="124355" cy="109725"/>
          </a:xfrm>
          <a:custGeom>
            <a:avLst/>
            <a:gdLst/>
            <a:ahLst/>
            <a:cxnLst/>
            <a:rect l="l" t="t" r="r" b="b"/>
            <a:pathLst>
              <a:path w="17" h="15">
                <a:moveTo>
                  <a:pt x="17" y="15"/>
                </a:moveTo>
                <a:lnTo>
                  <a:pt x="0" y="13"/>
                </a:lnTo>
                <a:lnTo>
                  <a:pt x="9" y="0"/>
                </a:lnTo>
                <a:close/>
              </a:path>
            </a:pathLst>
          </a:custGeom>
          <a:solidFill>
            <a:srgbClr val="96969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5" name="path 214"/>
          <p:cNvSpPr/>
          <p:nvPr/>
        </p:nvSpPr>
        <p:spPr>
          <a:xfrm>
            <a:off x="9816730" y="2114035"/>
            <a:ext cx="914375" cy="329175"/>
          </a:xfrm>
          <a:custGeom>
            <a:avLst/>
            <a:gdLst/>
            <a:ahLst/>
            <a:cxnLst/>
            <a:rect l="l" t="t" r="r" b="b"/>
            <a:pathLst>
              <a:path w="125" h="45">
                <a:moveTo>
                  <a:pt x="0" y="45"/>
                </a:moveTo>
                <a:lnTo>
                  <a:pt x="62" y="45"/>
                </a:lnTo>
                <a:lnTo>
                  <a:pt x="125" y="0"/>
                </a:lnTo>
              </a:path>
            </a:pathLst>
          </a:custGeom>
          <a:noFill/>
          <a:ln w="16093">
            <a:solidFill>
              <a:srgbClr val="BF333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6" name="arrowhead 215"/>
          <p:cNvSpPr/>
          <p:nvPr/>
        </p:nvSpPr>
        <p:spPr>
          <a:xfrm>
            <a:off x="10621380" y="2106720"/>
            <a:ext cx="124355" cy="109725"/>
          </a:xfrm>
          <a:custGeom>
            <a:avLst/>
            <a:gdLst/>
            <a:ahLst/>
            <a:cxnLst/>
            <a:rect l="l" t="t" r="r" b="b"/>
            <a:pathLst>
              <a:path w="17" h="15">
                <a:moveTo>
                  <a:pt x="17" y="0"/>
                </a:moveTo>
                <a:lnTo>
                  <a:pt x="9" y="15"/>
                </a:lnTo>
                <a:lnTo>
                  <a:pt x="0" y="2"/>
                </a:lnTo>
                <a:close/>
              </a:path>
            </a:pathLst>
          </a:custGeom>
          <a:solidFill>
            <a:srgbClr val="BF333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217" name="path 216"/>
          <p:cNvCxnSpPr/>
          <p:nvPr/>
        </p:nvCxnSpPr>
        <p:spPr>
          <a:xfrm>
            <a:off x="11528440" y="1996995"/>
            <a:ext cx="694925" cy="0"/>
          </a:xfrm>
          <a:prstGeom prst="line">
            <a:avLst/>
          </a:prstGeom>
          <a:ln w="16093">
            <a:solidFill>
              <a:srgbClr val="BF3335"/>
            </a:solidFill>
          </a:ln>
          <a:effectLst/>
        </p:spPr>
        <p:style>
          <a:lnRef idx="2">
            <a:schemeClr val="accent1"/>
          </a:lnRef>
          <a:fillRef idx="0">
            <a:schemeClr val="accent1"/>
          </a:fillRef>
          <a:effectRef idx="0">
            <a:schemeClr val="accent1"/>
          </a:effectRef>
          <a:fontRef idx="minor">
            <a:schemeClr val="tx1"/>
          </a:fontRef>
        </p:style>
      </p:cxnSp>
      <p:sp>
        <p:nvSpPr>
          <p:cNvPr id="218" name="arrowhead 217"/>
          <p:cNvSpPr/>
          <p:nvPr/>
        </p:nvSpPr>
        <p:spPr>
          <a:xfrm>
            <a:off x="12128270" y="1938475"/>
            <a:ext cx="109725" cy="117040"/>
          </a:xfrm>
          <a:custGeom>
            <a:avLst/>
            <a:gdLst/>
            <a:ahLst/>
            <a:cxnLst/>
            <a:rect l="l" t="t" r="r" b="b"/>
            <a:pathLst>
              <a:path w="15" h="16">
                <a:moveTo>
                  <a:pt x="15" y="8"/>
                </a:moveTo>
                <a:lnTo>
                  <a:pt x="0" y="16"/>
                </a:lnTo>
                <a:lnTo>
                  <a:pt x="0" y="0"/>
                </a:lnTo>
                <a:close/>
              </a:path>
            </a:pathLst>
          </a:custGeom>
          <a:solidFill>
            <a:srgbClr val="BF333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9" name="rect 218"/>
          <p:cNvSpPr/>
          <p:nvPr/>
        </p:nvSpPr>
        <p:spPr>
          <a:xfrm>
            <a:off x="8331785" y="2845535"/>
            <a:ext cx="782705" cy="212135"/>
          </a:xfrm>
          <a:prstGeom prst="rect">
            <a:avLst/>
          </a:prstGeom>
          <a:solidFill>
            <a:srgbClr val="A9CEE8"/>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0" name="group"/>
          <p:cNvSpPr txBox="1"/>
          <p:nvPr/>
        </p:nvSpPr>
        <p:spPr>
          <a:xfrm>
            <a:off x="8390305" y="2853508"/>
            <a:ext cx="598316" cy="208478"/>
          </a:xfrm>
          <a:prstGeom prst="rect">
            <a:avLst/>
          </a:prstGeom>
          <a:noFill/>
          <a:effectLst/>
        </p:spPr>
        <p:txBody>
          <a:bodyPr wrap="none" lIns="0" rIns="0" tIns="0" bIns="0" anchor="t">
            <a:spAutoFit/>
          </a:bodyPr>
          <a:lstStyle/>
          <a:p>
            <a:pPr algn="l">
              <a:lnSpc>
                <a:spcPct val="100000"/>
              </a:lnSpc>
              <a:spcBef>
                <a:spcPts val="0"/>
              </a:spcBef>
              <a:spcAft>
                <a:spcPts val="0"/>
              </a:spcAft>
            </a:pPr>
            <a:r>
              <a:rPr sz="1209" b="1" i="0" lang="en-US" spc="0">
                <a:solidFill>
                  <a:srgbClr val="181818"/>
                </a:solidFill>
                <a:latin typeface="DejaVu Sans"/>
                <a:ea typeface="DejaVu Sans"/>
                <a:effectLst/>
              </a:rPr>
              <a:t>group</a:t>
            </a:r>
          </a:p>
        </p:txBody>
      </p:sp>
      <p:sp>
        <p:nvSpPr>
          <p:cNvPr id="221" name="rect 220"/>
          <p:cNvSpPr/>
          <p:nvPr/>
        </p:nvSpPr>
        <p:spPr>
          <a:xfrm>
            <a:off x="9114490" y="2845535"/>
            <a:ext cx="1806805" cy="212135"/>
          </a:xfrm>
          <a:prstGeom prst="rect">
            <a:avLst/>
          </a:prstGeom>
          <a:solidFill>
            <a:srgbClr val="A9CEE8"/>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2" name="pending"/>
          <p:cNvSpPr txBox="1"/>
          <p:nvPr/>
        </p:nvSpPr>
        <p:spPr>
          <a:xfrm>
            <a:off x="9173010" y="2853508"/>
            <a:ext cx="793192" cy="208478"/>
          </a:xfrm>
          <a:prstGeom prst="rect">
            <a:avLst/>
          </a:prstGeom>
          <a:noFill/>
          <a:effectLst/>
        </p:spPr>
        <p:txBody>
          <a:bodyPr wrap="none" lIns="0" rIns="0" tIns="0" bIns="0" anchor="t">
            <a:spAutoFit/>
          </a:bodyPr>
          <a:lstStyle/>
          <a:p>
            <a:pPr algn="l">
              <a:lnSpc>
                <a:spcPct val="100000"/>
              </a:lnSpc>
              <a:spcBef>
                <a:spcPts val="0"/>
              </a:spcBef>
              <a:spcAft>
                <a:spcPts val="0"/>
              </a:spcAft>
            </a:pPr>
            <a:r>
              <a:rPr sz="1209" b="1" i="0" lang="en-US" spc="0">
                <a:solidFill>
                  <a:srgbClr val="181818"/>
                </a:solidFill>
                <a:latin typeface="DejaVu Sans"/>
                <a:ea typeface="DejaVu Sans"/>
                <a:effectLst/>
              </a:rPr>
              <a:t>pending</a:t>
            </a:r>
          </a:p>
        </p:txBody>
      </p:sp>
      <p:sp>
        <p:nvSpPr>
          <p:cNvPr id="223" name="rect 222"/>
          <p:cNvSpPr/>
          <p:nvPr/>
        </p:nvSpPr>
        <p:spPr>
          <a:xfrm>
            <a:off x="10921295" y="2845535"/>
            <a:ext cx="1814120" cy="212135"/>
          </a:xfrm>
          <a:prstGeom prst="rect">
            <a:avLst/>
          </a:prstGeom>
          <a:solidFill>
            <a:srgbClr val="A9CEE8"/>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4" name="signal"/>
          <p:cNvSpPr txBox="1"/>
          <p:nvPr/>
        </p:nvSpPr>
        <p:spPr>
          <a:xfrm>
            <a:off x="10979815" y="2853508"/>
            <a:ext cx="607516" cy="208478"/>
          </a:xfrm>
          <a:prstGeom prst="rect">
            <a:avLst/>
          </a:prstGeom>
          <a:noFill/>
          <a:effectLst/>
        </p:spPr>
        <p:txBody>
          <a:bodyPr wrap="none" lIns="0" rIns="0" tIns="0" bIns="0" anchor="t">
            <a:spAutoFit/>
          </a:bodyPr>
          <a:lstStyle/>
          <a:p>
            <a:pPr algn="l">
              <a:lnSpc>
                <a:spcPct val="100000"/>
              </a:lnSpc>
              <a:spcBef>
                <a:spcPts val="0"/>
              </a:spcBef>
              <a:spcAft>
                <a:spcPts val="0"/>
              </a:spcAft>
            </a:pPr>
            <a:r>
              <a:rPr sz="1209" b="1" i="0" lang="en-US" spc="0">
                <a:solidFill>
                  <a:srgbClr val="181818"/>
                </a:solidFill>
                <a:latin typeface="DejaVu Sans"/>
                <a:ea typeface="DejaVu Sans"/>
                <a:effectLst/>
              </a:rPr>
              <a:t>signal</a:t>
            </a:r>
          </a:p>
        </p:txBody>
      </p:sp>
      <p:sp>
        <p:nvSpPr>
          <p:cNvPr id="225" name="rect 224"/>
          <p:cNvSpPr/>
          <p:nvPr/>
        </p:nvSpPr>
        <p:spPr>
          <a:xfrm>
            <a:off x="8331785" y="3057670"/>
            <a:ext cx="782705" cy="212135"/>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6" name="g"/>
          <p:cNvSpPr txBox="1"/>
          <p:nvPr/>
        </p:nvSpPr>
        <p:spPr>
          <a:xfrm>
            <a:off x="8390305" y="3065643"/>
            <a:ext cx="185304" cy="208478"/>
          </a:xfrm>
          <a:prstGeom prst="rect">
            <a:avLst/>
          </a:prstGeom>
          <a:noFill/>
          <a:effectLst/>
        </p:spPr>
        <p:txBody>
          <a:bodyPr wrap="none" lIns="0" rIns="0" tIns="0" bIns="0" anchor="t">
            <a:spAutoFit/>
          </a:bodyPr>
          <a:lstStyle/>
          <a:p>
            <a:pPr algn="l">
              <a:lnSpc>
                <a:spcPct val="100000"/>
              </a:lnSpc>
              <a:spcBef>
                <a:spcPts val="0"/>
              </a:spcBef>
              <a:spcAft>
                <a:spcPts val="0"/>
              </a:spcAft>
            </a:pPr>
            <a:r>
              <a:rPr sz="1209" b="0" i="0" lang="en-US" spc="0">
                <a:solidFill>
                  <a:srgbClr val="181818"/>
                </a:solidFill>
                <a:latin typeface="DejaVu Sans"/>
                <a:ea typeface="DejaVu Sans"/>
                <a:effectLst/>
              </a:rPr>
              <a:t>g</a:t>
            </a:r>
          </a:p>
        </p:txBody>
      </p:sp>
      <p:sp>
        <p:nvSpPr>
          <p:cNvPr id="227" name="rect 226"/>
          <p:cNvSpPr/>
          <p:nvPr/>
        </p:nvSpPr>
        <p:spPr>
          <a:xfrm>
            <a:off x="9114490" y="3057670"/>
            <a:ext cx="1806805" cy="212135"/>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8" name="{C1, C2}"/>
          <p:cNvSpPr txBox="1"/>
          <p:nvPr/>
        </p:nvSpPr>
        <p:spPr>
          <a:xfrm>
            <a:off x="9173010" y="3065643"/>
            <a:ext cx="790877" cy="208478"/>
          </a:xfrm>
          <a:prstGeom prst="rect">
            <a:avLst/>
          </a:prstGeom>
          <a:noFill/>
          <a:effectLst/>
        </p:spPr>
        <p:txBody>
          <a:bodyPr wrap="none" lIns="0" rIns="0" tIns="0" bIns="0" anchor="t">
            <a:spAutoFit/>
          </a:bodyPr>
          <a:lstStyle/>
          <a:p>
            <a:pPr algn="l">
              <a:lnSpc>
                <a:spcPct val="100000"/>
              </a:lnSpc>
              <a:spcBef>
                <a:spcPts val="0"/>
              </a:spcBef>
              <a:spcAft>
                <a:spcPts val="0"/>
              </a:spcAft>
            </a:pPr>
            <a:r>
              <a:rPr sz="1209" b="0" i="0" lang="en-US" spc="0">
                <a:solidFill>
                  <a:srgbClr val="181818"/>
                </a:solidFill>
                <a:latin typeface="DejaVu Sans"/>
                <a:ea typeface="DejaVu Sans"/>
                <a:effectLst/>
              </a:rPr>
              <a:t>{C1, C2}</a:t>
            </a:r>
          </a:p>
        </p:txBody>
      </p:sp>
      <p:sp>
        <p:nvSpPr>
          <p:cNvPr id="229" name="rect 228"/>
          <p:cNvSpPr/>
          <p:nvPr/>
        </p:nvSpPr>
        <p:spPr>
          <a:xfrm>
            <a:off x="10921295" y="3057670"/>
            <a:ext cx="1814120" cy="212135"/>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0" name="WAIT"/>
          <p:cNvSpPr txBox="1"/>
          <p:nvPr/>
        </p:nvSpPr>
        <p:spPr>
          <a:xfrm>
            <a:off x="10979815" y="3065643"/>
            <a:ext cx="475532" cy="208478"/>
          </a:xfrm>
          <a:prstGeom prst="rect">
            <a:avLst/>
          </a:prstGeom>
          <a:noFill/>
          <a:effectLst/>
        </p:spPr>
        <p:txBody>
          <a:bodyPr wrap="none" lIns="0" rIns="0" tIns="0" bIns="0" anchor="t">
            <a:spAutoFit/>
          </a:bodyPr>
          <a:lstStyle/>
          <a:p>
            <a:pPr algn="l">
              <a:lnSpc>
                <a:spcPct val="100000"/>
              </a:lnSpc>
              <a:spcBef>
                <a:spcPts val="0"/>
              </a:spcBef>
              <a:spcAft>
                <a:spcPts val="0"/>
              </a:spcAft>
            </a:pPr>
            <a:r>
              <a:rPr sz="1209" b="0" i="0" lang="en-US" spc="0">
                <a:solidFill>
                  <a:srgbClr val="181818"/>
                </a:solidFill>
                <a:latin typeface="DejaVu Sans"/>
                <a:ea typeface="DejaVu Sans"/>
                <a:effectLst/>
              </a:rPr>
              <a:t>WAIT</a:t>
            </a:r>
          </a:p>
        </p:txBody>
      </p:sp>
      <p:sp>
        <p:nvSpPr>
          <p:cNvPr id="231" name="rect 230"/>
          <p:cNvSpPr/>
          <p:nvPr/>
        </p:nvSpPr>
        <p:spPr>
          <a:xfrm>
            <a:off x="8331785" y="3269805"/>
            <a:ext cx="782705" cy="212135"/>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2" name="g"/>
          <p:cNvSpPr txBox="1"/>
          <p:nvPr/>
        </p:nvSpPr>
        <p:spPr>
          <a:xfrm>
            <a:off x="8390305" y="3277778"/>
            <a:ext cx="185304" cy="208478"/>
          </a:xfrm>
          <a:prstGeom prst="rect">
            <a:avLst/>
          </a:prstGeom>
          <a:noFill/>
          <a:effectLst/>
        </p:spPr>
        <p:txBody>
          <a:bodyPr wrap="none" lIns="0" rIns="0" tIns="0" bIns="0" anchor="t">
            <a:spAutoFit/>
          </a:bodyPr>
          <a:lstStyle/>
          <a:p>
            <a:pPr algn="l">
              <a:lnSpc>
                <a:spcPct val="100000"/>
              </a:lnSpc>
              <a:spcBef>
                <a:spcPts val="0"/>
              </a:spcBef>
              <a:spcAft>
                <a:spcPts val="0"/>
              </a:spcAft>
            </a:pPr>
            <a:r>
              <a:rPr sz="1209" b="0" i="0" lang="en-US" spc="0">
                <a:solidFill>
                  <a:srgbClr val="181818"/>
                </a:solidFill>
                <a:latin typeface="DejaVu Sans"/>
                <a:ea typeface="DejaVu Sans"/>
                <a:effectLst/>
              </a:rPr>
              <a:t>g</a:t>
            </a:r>
          </a:p>
        </p:txBody>
      </p:sp>
      <p:sp>
        <p:nvSpPr>
          <p:cNvPr id="233" name="rect 232"/>
          <p:cNvSpPr/>
          <p:nvPr/>
        </p:nvSpPr>
        <p:spPr>
          <a:xfrm>
            <a:off x="9114490" y="3269805"/>
            <a:ext cx="1806805" cy="212135"/>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4" name="{C2}"/>
          <p:cNvSpPr txBox="1"/>
          <p:nvPr/>
        </p:nvSpPr>
        <p:spPr>
          <a:xfrm>
            <a:off x="9173010" y="3277778"/>
            <a:ext cx="488219" cy="208478"/>
          </a:xfrm>
          <a:prstGeom prst="rect">
            <a:avLst/>
          </a:prstGeom>
          <a:noFill/>
          <a:effectLst/>
        </p:spPr>
        <p:txBody>
          <a:bodyPr wrap="none" lIns="0" rIns="0" tIns="0" bIns="0" anchor="t">
            <a:spAutoFit/>
          </a:bodyPr>
          <a:lstStyle/>
          <a:p>
            <a:pPr algn="l">
              <a:lnSpc>
                <a:spcPct val="100000"/>
              </a:lnSpc>
              <a:spcBef>
                <a:spcPts val="0"/>
              </a:spcBef>
              <a:spcAft>
                <a:spcPts val="0"/>
              </a:spcAft>
            </a:pPr>
            <a:r>
              <a:rPr sz="1209" b="0" i="0" lang="en-US" spc="0">
                <a:solidFill>
                  <a:srgbClr val="181818"/>
                </a:solidFill>
                <a:latin typeface="DejaVu Sans"/>
                <a:ea typeface="DejaVu Sans"/>
                <a:effectLst/>
              </a:rPr>
              <a:t>{C2}</a:t>
            </a:r>
          </a:p>
        </p:txBody>
      </p:sp>
      <p:sp>
        <p:nvSpPr>
          <p:cNvPr id="235" name="rect 234"/>
          <p:cNvSpPr/>
          <p:nvPr/>
        </p:nvSpPr>
        <p:spPr>
          <a:xfrm>
            <a:off x="10921295" y="3269805"/>
            <a:ext cx="1814120" cy="212135"/>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6" name="NOTICE"/>
          <p:cNvSpPr txBox="1"/>
          <p:nvPr/>
        </p:nvSpPr>
        <p:spPr>
          <a:xfrm>
            <a:off x="10979815" y="3277778"/>
            <a:ext cx="667122" cy="208478"/>
          </a:xfrm>
          <a:prstGeom prst="rect">
            <a:avLst/>
          </a:prstGeom>
          <a:noFill/>
          <a:effectLst/>
        </p:spPr>
        <p:txBody>
          <a:bodyPr wrap="none" lIns="0" rIns="0" tIns="0" bIns="0" anchor="t">
            <a:spAutoFit/>
          </a:bodyPr>
          <a:lstStyle/>
          <a:p>
            <a:pPr algn="l">
              <a:lnSpc>
                <a:spcPct val="100000"/>
              </a:lnSpc>
              <a:spcBef>
                <a:spcPts val="0"/>
              </a:spcBef>
              <a:spcAft>
                <a:spcPts val="0"/>
              </a:spcAft>
            </a:pPr>
            <a:r>
              <a:rPr sz="1209" b="0" i="0" lang="en-US" spc="0">
                <a:solidFill>
                  <a:srgbClr val="181818"/>
                </a:solidFill>
                <a:latin typeface="DejaVu Sans"/>
                <a:ea typeface="DejaVu Sans"/>
                <a:effectLst/>
              </a:rPr>
              <a:t>NOTICE</a:t>
            </a:r>
          </a:p>
        </p:txBody>
      </p:sp>
      <p:sp>
        <p:nvSpPr>
          <p:cNvPr id="237" name="τ"/>
          <p:cNvSpPr txBox="1"/>
          <p:nvPr/>
        </p:nvSpPr>
        <p:spPr>
          <a:xfrm>
            <a:off x="8368360" y="3695904"/>
            <a:ext cx="171560" cy="290771"/>
          </a:xfrm>
          <a:prstGeom prst="rect">
            <a:avLst/>
          </a:prstGeom>
          <a:noFill/>
          <a:effectLst/>
        </p:spPr>
        <p:txBody>
          <a:bodyPr wrap="none" lIns="0" rIns="0" tIns="0" bIns="0" anchor="t">
            <a:spAutoFit/>
          </a:bodyPr>
          <a:lstStyle/>
          <a:p>
            <a:pPr algn="l">
              <a:lnSpc>
                <a:spcPct val="100000"/>
              </a:lnSpc>
              <a:spcBef>
                <a:spcPts val="0"/>
              </a:spcBef>
              <a:spcAft>
                <a:spcPts val="0"/>
              </a:spcAft>
            </a:pPr>
            <a:r>
              <a:rPr sz="1843" b="0" i="1" lang="en-US" spc="0">
                <a:solidFill>
                  <a:srgbClr val="181818"/>
                </a:solidFill>
                <a:latin typeface="Liberation Serif"/>
                <a:ea typeface="Liberation Serif"/>
                <a:effectLst/>
              </a:rPr>
              <a:t>τ</a:t>
            </a:r>
          </a:p>
        </p:txBody>
      </p:sp>
      <p:sp>
        <p:nvSpPr>
          <p:cNvPr id="238" name="join"/>
          <p:cNvSpPr txBox="1"/>
          <p:nvPr/>
        </p:nvSpPr>
        <p:spPr>
          <a:xfrm>
            <a:off x="8459455" y="3829402"/>
            <a:ext cx="323917" cy="197505"/>
          </a:xfrm>
          <a:prstGeom prst="rect">
            <a:avLst/>
          </a:prstGeom>
          <a:noFill/>
          <a:effectLst/>
        </p:spPr>
        <p:txBody>
          <a:bodyPr wrap="none" lIns="0" rIns="0" tIns="0" bIns="0" anchor="t">
            <a:spAutoFit/>
          </a:bodyPr>
          <a:lstStyle/>
          <a:p>
            <a:pPr algn="l">
              <a:lnSpc>
                <a:spcPct val="100000"/>
              </a:lnSpc>
              <a:spcBef>
                <a:spcPts val="0"/>
              </a:spcBef>
              <a:spcAft>
                <a:spcPts val="0"/>
              </a:spcAft>
            </a:pPr>
            <a:r>
              <a:rPr sz="1198" b="0" i="0" lang="en-US" spc="0">
                <a:solidFill>
                  <a:srgbClr val="181818"/>
                </a:solidFill>
                <a:latin typeface="Liberation Serif"/>
                <a:ea typeface="Liberation Serif"/>
                <a:effectLst/>
              </a:rPr>
              <a:t>join</a:t>
            </a:r>
          </a:p>
        </p:txBody>
      </p:sp>
      <p:sp>
        <p:nvSpPr>
          <p:cNvPr id="239" name="("/>
          <p:cNvSpPr txBox="1"/>
          <p:nvPr/>
        </p:nvSpPr>
        <p:spPr>
          <a:xfrm>
            <a:off x="8702907" y="3695904"/>
            <a:ext cx="165730" cy="290771"/>
          </a:xfrm>
          <a:prstGeom prst="rect">
            <a:avLst/>
          </a:prstGeom>
          <a:noFill/>
          <a:effectLst/>
        </p:spPr>
        <p:txBody>
          <a:bodyPr wrap="none" lIns="0" rIns="0" tIns="0" bIns="0" anchor="t">
            <a:spAutoFit/>
          </a:bodyPr>
          <a:lstStyle/>
          <a:p>
            <a:pPr algn="l">
              <a:lnSpc>
                <a:spcPct val="100000"/>
              </a:lnSpc>
              <a:spcBef>
                <a:spcPts val="0"/>
              </a:spcBef>
              <a:spcAft>
                <a:spcPts val="0"/>
              </a:spcAft>
            </a:pPr>
            <a:r>
              <a:rPr sz="1843" b="0" i="0" lang="en-US" spc="0">
                <a:solidFill>
                  <a:srgbClr val="181818"/>
                </a:solidFill>
                <a:latin typeface="Liberation Serif"/>
                <a:ea typeface="Liberation Serif"/>
                <a:effectLst/>
              </a:rPr>
              <a:t>(</a:t>
            </a:r>
          </a:p>
        </p:txBody>
      </p:sp>
      <p:sp>
        <p:nvSpPr>
          <p:cNvPr id="240" name="t"/>
          <p:cNvSpPr txBox="1"/>
          <p:nvPr/>
        </p:nvSpPr>
        <p:spPr>
          <a:xfrm>
            <a:off x="8780857" y="3695904"/>
            <a:ext cx="152815" cy="290771"/>
          </a:xfrm>
          <a:prstGeom prst="rect">
            <a:avLst/>
          </a:prstGeom>
          <a:noFill/>
          <a:effectLst/>
        </p:spPr>
        <p:txBody>
          <a:bodyPr wrap="none" lIns="0" rIns="0" tIns="0" bIns="0" anchor="t">
            <a:spAutoFit/>
          </a:bodyPr>
          <a:lstStyle/>
          <a:p>
            <a:pPr algn="l">
              <a:lnSpc>
                <a:spcPct val="100000"/>
              </a:lnSpc>
              <a:spcBef>
                <a:spcPts val="0"/>
              </a:spcBef>
              <a:spcAft>
                <a:spcPts val="0"/>
              </a:spcAft>
            </a:pPr>
            <a:r>
              <a:rPr sz="1843" b="0" i="1" lang="en-US" spc="0">
                <a:solidFill>
                  <a:srgbClr val="181818"/>
                </a:solidFill>
                <a:latin typeface="Liberation Serif"/>
                <a:ea typeface="Liberation Serif"/>
                <a:effectLst/>
              </a:rPr>
              <a:t>t</a:t>
            </a:r>
          </a:p>
        </p:txBody>
      </p:sp>
      <p:sp>
        <p:nvSpPr>
          <p:cNvPr id="241" name=") = "/>
          <p:cNvSpPr txBox="1"/>
          <p:nvPr/>
        </p:nvSpPr>
        <p:spPr>
          <a:xfrm>
            <a:off x="8845892" y="3695904"/>
            <a:ext cx="414783" cy="290771"/>
          </a:xfrm>
          <a:prstGeom prst="rect">
            <a:avLst/>
          </a:prstGeom>
          <a:noFill/>
          <a:effectLst/>
        </p:spPr>
        <p:txBody>
          <a:bodyPr wrap="none" lIns="0" rIns="0" tIns="0" bIns="0" anchor="t">
            <a:spAutoFit/>
          </a:bodyPr>
          <a:lstStyle/>
          <a:p>
            <a:pPr algn="l">
              <a:lnSpc>
                <a:spcPct val="100000"/>
              </a:lnSpc>
              <a:spcBef>
                <a:spcPts val="0"/>
              </a:spcBef>
              <a:spcAft>
                <a:spcPts val="0"/>
              </a:spcAft>
            </a:pPr>
            <a:r>
              <a:rPr sz="1843" b="0" i="0" lang="en-US" spc="0">
                <a:solidFill>
                  <a:srgbClr val="181818"/>
                </a:solidFill>
                <a:latin typeface="Liberation Serif"/>
                <a:ea typeface="Liberation Serif"/>
                <a:effectLst/>
              </a:rPr>
              <a:t>) = </a:t>
            </a:r>
          </a:p>
        </p:txBody>
      </p:sp>
      <p:sp>
        <p:nvSpPr>
          <p:cNvPr id="242" name="["/>
          <p:cNvSpPr txBox="1"/>
          <p:nvPr/>
        </p:nvSpPr>
        <p:spPr>
          <a:xfrm>
            <a:off x="9984975" y="3527659"/>
            <a:ext cx="165730" cy="290771"/>
          </a:xfrm>
          <a:prstGeom prst="rect">
            <a:avLst/>
          </a:prstGeom>
          <a:noFill/>
          <a:effectLst/>
        </p:spPr>
        <p:txBody>
          <a:bodyPr wrap="none" lIns="0" rIns="0" tIns="0" bIns="0" anchor="t">
            <a:spAutoFit/>
          </a:bodyPr>
          <a:lstStyle/>
          <a:p>
            <a:pPr algn="l">
              <a:lnSpc>
                <a:spcPct val="100000"/>
              </a:lnSpc>
              <a:spcBef>
                <a:spcPts val="0"/>
              </a:spcBef>
              <a:spcAft>
                <a:spcPts val="0"/>
              </a:spcAft>
            </a:pPr>
            <a:r>
              <a:rPr sz="1843" b="0" i="0" lang="en-US" spc="0">
                <a:solidFill>
                  <a:srgbClr val="181818"/>
                </a:solidFill>
                <a:latin typeface="Liberation Serif"/>
                <a:ea typeface="Liberation Serif"/>
                <a:effectLst/>
              </a:rPr>
              <a:t>[</a:t>
            </a:r>
          </a:p>
        </p:txBody>
      </p:sp>
      <p:sp>
        <p:nvSpPr>
          <p:cNvPr id="243" name="W"/>
          <p:cNvSpPr txBox="1"/>
          <p:nvPr/>
        </p:nvSpPr>
        <p:spPr>
          <a:xfrm>
            <a:off x="10062925" y="3527659"/>
            <a:ext cx="282770" cy="290771"/>
          </a:xfrm>
          <a:prstGeom prst="rect">
            <a:avLst/>
          </a:prstGeom>
          <a:noFill/>
          <a:effectLst/>
        </p:spPr>
        <p:txBody>
          <a:bodyPr wrap="none" lIns="0" rIns="0" tIns="0" bIns="0" anchor="t">
            <a:spAutoFit/>
          </a:bodyPr>
          <a:lstStyle/>
          <a:p>
            <a:pPr algn="l">
              <a:lnSpc>
                <a:spcPct val="100000"/>
              </a:lnSpc>
              <a:spcBef>
                <a:spcPts val="0"/>
              </a:spcBef>
              <a:spcAft>
                <a:spcPts val="0"/>
              </a:spcAft>
            </a:pPr>
            <a:r>
              <a:rPr sz="1843" b="0" i="1" lang="en-US" spc="0">
                <a:solidFill>
                  <a:srgbClr val="181818"/>
                </a:solidFill>
                <a:latin typeface="Liberation Serif"/>
                <a:ea typeface="Liberation Serif"/>
                <a:effectLst/>
              </a:rPr>
              <a:t>W</a:t>
            </a:r>
          </a:p>
        </p:txBody>
      </p:sp>
      <p:sp>
        <p:nvSpPr>
          <p:cNvPr id="244" name=" − Δ"/>
          <p:cNvSpPr txBox="1"/>
          <p:nvPr/>
        </p:nvSpPr>
        <p:spPr>
          <a:xfrm>
            <a:off x="10257916" y="3527659"/>
            <a:ext cx="474446" cy="290771"/>
          </a:xfrm>
          <a:prstGeom prst="rect">
            <a:avLst/>
          </a:prstGeom>
          <a:noFill/>
          <a:effectLst/>
        </p:spPr>
        <p:txBody>
          <a:bodyPr wrap="none" lIns="0" rIns="0" tIns="0" bIns="0" anchor="t">
            <a:spAutoFit/>
          </a:bodyPr>
          <a:lstStyle/>
          <a:p>
            <a:pPr algn="l">
              <a:lnSpc>
                <a:spcPct val="100000"/>
              </a:lnSpc>
              <a:spcBef>
                <a:spcPts val="0"/>
              </a:spcBef>
              <a:spcAft>
                <a:spcPts val="0"/>
              </a:spcAft>
            </a:pPr>
            <a:r>
              <a:rPr sz="1843" b="0" i="0" lang="en-US" spc="0">
                <a:solidFill>
                  <a:srgbClr val="181818"/>
                </a:solidFill>
                <a:latin typeface="Liberation Serif"/>
                <a:ea typeface="Liberation Serif"/>
                <a:effectLst/>
              </a:rPr>
              <a:t> − Δ</a:t>
            </a:r>
          </a:p>
        </p:txBody>
      </p:sp>
      <p:sp>
        <p:nvSpPr>
          <p:cNvPr id="245" name="N"/>
          <p:cNvSpPr txBox="1"/>
          <p:nvPr/>
        </p:nvSpPr>
        <p:spPr>
          <a:xfrm>
            <a:off x="10644582" y="3527659"/>
            <a:ext cx="243910" cy="290771"/>
          </a:xfrm>
          <a:prstGeom prst="rect">
            <a:avLst/>
          </a:prstGeom>
          <a:noFill/>
          <a:effectLst/>
        </p:spPr>
        <p:txBody>
          <a:bodyPr wrap="none" lIns="0" rIns="0" tIns="0" bIns="0" anchor="t">
            <a:spAutoFit/>
          </a:bodyPr>
          <a:lstStyle/>
          <a:p>
            <a:pPr algn="l">
              <a:lnSpc>
                <a:spcPct val="100000"/>
              </a:lnSpc>
              <a:spcBef>
                <a:spcPts val="0"/>
              </a:spcBef>
              <a:spcAft>
                <a:spcPts val="0"/>
              </a:spcAft>
            </a:pPr>
            <a:r>
              <a:rPr sz="1843" b="0" i="1" lang="en-US" spc="0">
                <a:solidFill>
                  <a:srgbClr val="181818"/>
                </a:solidFill>
                <a:latin typeface="Liberation Serif"/>
                <a:ea typeface="Liberation Serif"/>
                <a:effectLst/>
              </a:rPr>
              <a:t>N</a:t>
            </a:r>
          </a:p>
        </p:txBody>
      </p:sp>
      <p:sp>
        <p:nvSpPr>
          <p:cNvPr id="246" name="]"/>
          <p:cNvSpPr txBox="1"/>
          <p:nvPr/>
        </p:nvSpPr>
        <p:spPr>
          <a:xfrm>
            <a:off x="10800712" y="3527659"/>
            <a:ext cx="178875" cy="290771"/>
          </a:xfrm>
          <a:prstGeom prst="rect">
            <a:avLst/>
          </a:prstGeom>
          <a:noFill/>
          <a:effectLst/>
        </p:spPr>
        <p:txBody>
          <a:bodyPr wrap="none" lIns="0" rIns="0" tIns="0" bIns="0" anchor="t">
            <a:spAutoFit/>
          </a:bodyPr>
          <a:lstStyle/>
          <a:p>
            <a:pPr algn="l">
              <a:lnSpc>
                <a:spcPct val="100000"/>
              </a:lnSpc>
              <a:spcBef>
                <a:spcPts val="0"/>
              </a:spcBef>
              <a:spcAft>
                <a:spcPts val="0"/>
              </a:spcAft>
            </a:pPr>
            <a:r>
              <a:rPr sz="1843" b="0" i="1" lang="en-US" spc="0">
                <a:solidFill>
                  <a:srgbClr val="181818"/>
                </a:solidFill>
                <a:latin typeface="Liberation Serif"/>
                <a:ea typeface="Liberation Serif"/>
                <a:effectLst/>
              </a:rPr>
              <a:t>]</a:t>
            </a:r>
          </a:p>
        </p:txBody>
      </p:sp>
      <p:sp>
        <p:nvSpPr>
          <p:cNvPr id="247" name="+"/>
          <p:cNvSpPr txBox="1"/>
          <p:nvPr/>
        </p:nvSpPr>
        <p:spPr>
          <a:xfrm>
            <a:off x="10899121" y="3661158"/>
            <a:ext cx="173388" cy="197505"/>
          </a:xfrm>
          <a:prstGeom prst="rect">
            <a:avLst/>
          </a:prstGeom>
          <a:noFill/>
          <a:effectLst/>
        </p:spPr>
        <p:txBody>
          <a:bodyPr wrap="none" lIns="0" rIns="0" tIns="0" bIns="0" anchor="t">
            <a:spAutoFit/>
          </a:bodyPr>
          <a:lstStyle/>
          <a:p>
            <a:pPr algn="l">
              <a:lnSpc>
                <a:spcPct val="100000"/>
              </a:lnSpc>
              <a:spcBef>
                <a:spcPts val="0"/>
              </a:spcBef>
              <a:spcAft>
                <a:spcPts val="0"/>
              </a:spcAft>
            </a:pPr>
            <a:r>
              <a:rPr sz="1198" b="0" i="0" lang="en-US" spc="0">
                <a:solidFill>
                  <a:srgbClr val="181818"/>
                </a:solidFill>
                <a:latin typeface="Liberation Serif"/>
                <a:ea typeface="Liberation Serif"/>
                <a:effectLst/>
              </a:rPr>
              <a:t>+</a:t>
            </a:r>
          </a:p>
        </p:txBody>
      </p:sp>
      <p:cxnSp>
        <p:nvCxnSpPr>
          <p:cNvPr id="248" name="line 247"/>
          <p:cNvCxnSpPr/>
          <p:nvPr/>
        </p:nvCxnSpPr>
        <p:spPr>
          <a:xfrm>
            <a:off x="9911825" y="3803800"/>
            <a:ext cx="1153370" cy="0"/>
          </a:xfrm>
          <a:prstGeom prst="line">
            <a:avLst/>
          </a:prstGeom>
          <a:ln w="13167">
            <a:solidFill>
              <a:srgbClr val="181818"/>
            </a:solidFill>
          </a:ln>
          <a:effectLst/>
        </p:spPr>
        <p:style>
          <a:lnRef idx="2">
            <a:schemeClr val="accent1"/>
          </a:lnRef>
          <a:fillRef idx="0">
            <a:schemeClr val="accent1"/>
          </a:fillRef>
          <a:effectRef idx="0">
            <a:schemeClr val="accent1"/>
          </a:effectRef>
          <a:fontRef idx="minor">
            <a:schemeClr val="tx1"/>
          </a:fontRef>
        </p:style>
      </p:cxnSp>
      <p:sp>
        <p:nvSpPr>
          <p:cNvPr id="249" name="v"/>
          <p:cNvSpPr txBox="1"/>
          <p:nvPr/>
        </p:nvSpPr>
        <p:spPr>
          <a:xfrm>
            <a:off x="10326094" y="3849519"/>
            <a:ext cx="191676" cy="290771"/>
          </a:xfrm>
          <a:prstGeom prst="rect">
            <a:avLst/>
          </a:prstGeom>
          <a:noFill/>
          <a:effectLst/>
        </p:spPr>
        <p:txBody>
          <a:bodyPr wrap="none" lIns="0" rIns="0" tIns="0" bIns="0" anchor="t">
            <a:spAutoFit/>
          </a:bodyPr>
          <a:lstStyle/>
          <a:p>
            <a:pPr algn="l">
              <a:lnSpc>
                <a:spcPct val="100000"/>
              </a:lnSpc>
              <a:spcBef>
                <a:spcPts val="0"/>
              </a:spcBef>
              <a:spcAft>
                <a:spcPts val="0"/>
              </a:spcAft>
            </a:pPr>
            <a:r>
              <a:rPr sz="1843" b="0" i="1" lang="en-US" spc="0">
                <a:solidFill>
                  <a:srgbClr val="181818"/>
                </a:solidFill>
                <a:latin typeface="Liberation Serif"/>
                <a:ea typeface="Liberation Serif"/>
                <a:effectLst/>
              </a:rPr>
              <a:t>v</a:t>
            </a:r>
          </a:p>
        </p:txBody>
      </p:sp>
      <p:sp>
        <p:nvSpPr>
          <p:cNvPr id="250" name="("/>
          <p:cNvSpPr txBox="1"/>
          <p:nvPr/>
        </p:nvSpPr>
        <p:spPr>
          <a:xfrm>
            <a:off x="10429990" y="3849519"/>
            <a:ext cx="165730" cy="290771"/>
          </a:xfrm>
          <a:prstGeom prst="rect">
            <a:avLst/>
          </a:prstGeom>
          <a:noFill/>
          <a:effectLst/>
        </p:spPr>
        <p:txBody>
          <a:bodyPr wrap="none" lIns="0" rIns="0" tIns="0" bIns="0" anchor="t">
            <a:spAutoFit/>
          </a:bodyPr>
          <a:lstStyle/>
          <a:p>
            <a:pPr algn="l">
              <a:lnSpc>
                <a:spcPct val="100000"/>
              </a:lnSpc>
              <a:spcBef>
                <a:spcPts val="0"/>
              </a:spcBef>
              <a:spcAft>
                <a:spcPts val="0"/>
              </a:spcAft>
            </a:pPr>
            <a:r>
              <a:rPr sz="1843" b="0" i="0" lang="en-US" spc="0">
                <a:solidFill>
                  <a:srgbClr val="181818"/>
                </a:solidFill>
                <a:latin typeface="Liberation Serif"/>
                <a:ea typeface="Liberation Serif"/>
                <a:effectLst/>
              </a:rPr>
              <a:t>(</a:t>
            </a:r>
          </a:p>
        </p:txBody>
      </p:sp>
      <p:sp>
        <p:nvSpPr>
          <p:cNvPr id="251" name="t"/>
          <p:cNvSpPr txBox="1"/>
          <p:nvPr/>
        </p:nvSpPr>
        <p:spPr>
          <a:xfrm>
            <a:off x="10507940" y="3849519"/>
            <a:ext cx="152815" cy="290771"/>
          </a:xfrm>
          <a:prstGeom prst="rect">
            <a:avLst/>
          </a:prstGeom>
          <a:noFill/>
          <a:effectLst/>
        </p:spPr>
        <p:txBody>
          <a:bodyPr wrap="none" lIns="0" rIns="0" tIns="0" bIns="0" anchor="t">
            <a:spAutoFit/>
          </a:bodyPr>
          <a:lstStyle/>
          <a:p>
            <a:pPr algn="l">
              <a:lnSpc>
                <a:spcPct val="100000"/>
              </a:lnSpc>
              <a:spcBef>
                <a:spcPts val="0"/>
              </a:spcBef>
              <a:spcAft>
                <a:spcPts val="0"/>
              </a:spcAft>
            </a:pPr>
            <a:r>
              <a:rPr sz="1843" b="0" i="1" lang="en-US" spc="0">
                <a:solidFill>
                  <a:srgbClr val="181818"/>
                </a:solidFill>
                <a:latin typeface="Liberation Serif"/>
                <a:ea typeface="Liberation Serif"/>
                <a:effectLst/>
              </a:rPr>
              <a:t>t</a:t>
            </a:r>
          </a:p>
        </p:txBody>
      </p:sp>
      <p:sp>
        <p:nvSpPr>
          <p:cNvPr id="252" name=")"/>
          <p:cNvSpPr txBox="1"/>
          <p:nvPr/>
        </p:nvSpPr>
        <p:spPr>
          <a:xfrm>
            <a:off x="10572975" y="3849519"/>
            <a:ext cx="165730" cy="290771"/>
          </a:xfrm>
          <a:prstGeom prst="rect">
            <a:avLst/>
          </a:prstGeom>
          <a:noFill/>
          <a:effectLst/>
        </p:spPr>
        <p:txBody>
          <a:bodyPr wrap="none" lIns="0" rIns="0" tIns="0" bIns="0" anchor="t">
            <a:spAutoFit/>
          </a:bodyPr>
          <a:lstStyle/>
          <a:p>
            <a:pPr algn="l">
              <a:lnSpc>
                <a:spcPct val="100000"/>
              </a:lnSpc>
              <a:spcBef>
                <a:spcPts val="0"/>
              </a:spcBef>
              <a:spcAft>
                <a:spcPts val="0"/>
              </a:spcAft>
            </a:pPr>
            <a:r>
              <a:rPr sz="1843" b="0" i="0" lang="en-US" spc="0">
                <a:solidFill>
                  <a:srgbClr val="181818"/>
                </a:solidFill>
                <a:latin typeface="Liberation Serif"/>
                <a:ea typeface="Liberation Serif"/>
                <a:effectLst/>
              </a:rPr>
              <a:t>)</a:t>
            </a:r>
          </a:p>
        </p:txBody>
      </p:sp>
      <p:sp>
        <p:nvSpPr>
          <p:cNvPr id="253" name="pending = 1"/>
          <p:cNvSpPr txBox="1"/>
          <p:nvPr/>
        </p:nvSpPr>
        <p:spPr>
          <a:xfrm>
            <a:off x="11411400" y="3734308"/>
            <a:ext cx="1235635" cy="226765"/>
          </a:xfrm>
          <a:prstGeom prst="rect">
            <a:avLst/>
          </a:prstGeom>
          <a:noFill/>
          <a:effectLst/>
        </p:spPr>
        <p:txBody>
          <a:bodyPr wrap="none" lIns="0" rIns="0" tIns="0" bIns="0" anchor="t">
            <a:spAutoFit/>
          </a:bodyPr>
          <a:lstStyle/>
          <a:p>
            <a:pPr algn="l">
              <a:lnSpc>
                <a:spcPct val="100000"/>
              </a:lnSpc>
              <a:spcBef>
                <a:spcPts val="0"/>
              </a:spcBef>
              <a:spcAft>
                <a:spcPts val="0"/>
              </a:spcAft>
            </a:pPr>
            <a:r>
              <a:rPr sz="1324" b="1" i="0" lang="en-US" spc="0">
                <a:solidFill>
                  <a:srgbClr val="181818"/>
                </a:solidFill>
                <a:latin typeface="DejaVu Sans"/>
                <a:ea typeface="DejaVu Sans"/>
                <a:effectLst/>
              </a:rPr>
              <a:t>pending = 1</a:t>
            </a:r>
          </a:p>
        </p:txBody>
      </p:sp>
      <p:cxnSp>
        <p:nvCxnSpPr>
          <p:cNvPr id="254" name="line 253"/>
          <p:cNvCxnSpPr/>
          <p:nvPr/>
        </p:nvCxnSpPr>
        <p:spPr>
          <a:xfrm>
            <a:off x="8324470" y="4235385"/>
            <a:ext cx="4454835" cy="0"/>
          </a:xfrm>
          <a:prstGeom prst="line">
            <a:avLst/>
          </a:prstGeom>
          <a:ln w="7315">
            <a:solidFill>
              <a:srgbClr val="A6A6A6"/>
            </a:solidFill>
          </a:ln>
          <a:effectLst/>
        </p:spPr>
        <p:style>
          <a:lnRef idx="2">
            <a:schemeClr val="accent1"/>
          </a:lnRef>
          <a:fillRef idx="0">
            <a:schemeClr val="accent1"/>
          </a:fillRef>
          <a:effectRef idx="0">
            <a:schemeClr val="accent1"/>
          </a:effectRef>
          <a:fontRef idx="minor">
            <a:schemeClr val="tx1"/>
          </a:fontRef>
        </p:style>
      </p:cxnSp>
      <p:sp>
        <p:nvSpPr>
          <p:cNvPr id="255" name="rect 254"/>
          <p:cNvSpPr/>
          <p:nvPr/>
        </p:nvSpPr>
        <p:spPr>
          <a:xfrm>
            <a:off x="8412250" y="4425575"/>
            <a:ext cx="512050" cy="168245"/>
          </a:xfrm>
          <a:prstGeom prst="rect">
            <a:avLst/>
          </a:prstGeom>
          <a:solidFill>
            <a:srgbClr val="A9CEE8"/>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256" name="line 255"/>
          <p:cNvCxnSpPr/>
          <p:nvPr/>
        </p:nvCxnSpPr>
        <p:spPr>
          <a:xfrm>
            <a:off x="8960875" y="4513355"/>
            <a:ext cx="409640" cy="0"/>
          </a:xfrm>
          <a:prstGeom prst="line">
            <a:avLst/>
          </a:prstGeom>
          <a:ln w="9509">
            <a:solidFill>
              <a:srgbClr val="969696"/>
            </a:solidFill>
            <a:prstDash val="dash"/>
          </a:ln>
          <a:effectLst/>
        </p:spPr>
        <p:style>
          <a:lnRef idx="2">
            <a:schemeClr val="accent1"/>
          </a:lnRef>
          <a:fillRef idx="0">
            <a:schemeClr val="accent1"/>
          </a:fillRef>
          <a:effectRef idx="0">
            <a:schemeClr val="accent1"/>
          </a:effectRef>
          <a:fontRef idx="minor">
            <a:schemeClr val="tx1"/>
          </a:fontRef>
        </p:style>
      </p:cxnSp>
      <p:sp>
        <p:nvSpPr>
          <p:cNvPr id="257" name="rect 256"/>
          <p:cNvSpPr/>
          <p:nvPr/>
        </p:nvSpPr>
        <p:spPr>
          <a:xfrm>
            <a:off x="9472925" y="4425575"/>
            <a:ext cx="321860" cy="168245"/>
          </a:xfrm>
          <a:prstGeom prst="rect">
            <a:avLst/>
          </a:prstGeom>
          <a:solidFill>
            <a:srgbClr val="A9CEE8"/>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258" name="line 257"/>
          <p:cNvCxnSpPr/>
          <p:nvPr/>
        </p:nvCxnSpPr>
        <p:spPr>
          <a:xfrm>
            <a:off x="9831360" y="4513355"/>
            <a:ext cx="599830" cy="0"/>
          </a:xfrm>
          <a:prstGeom prst="line">
            <a:avLst/>
          </a:prstGeom>
          <a:ln w="9509">
            <a:solidFill>
              <a:srgbClr val="969696"/>
            </a:solidFill>
            <a:prstDash val="dash"/>
          </a:ln>
          <a:effectLst/>
        </p:spPr>
        <p:style>
          <a:lnRef idx="2">
            <a:schemeClr val="accent1"/>
          </a:lnRef>
          <a:fillRef idx="0">
            <a:schemeClr val="accent1"/>
          </a:fillRef>
          <a:effectRef idx="0">
            <a:schemeClr val="accent1"/>
          </a:effectRef>
          <a:fontRef idx="minor">
            <a:schemeClr val="tx1"/>
          </a:fontRef>
        </p:style>
      </p:cxnSp>
      <p:sp>
        <p:nvSpPr>
          <p:cNvPr id="259" name="rect 258"/>
          <p:cNvSpPr/>
          <p:nvPr/>
        </p:nvSpPr>
        <p:spPr>
          <a:xfrm>
            <a:off x="10533600" y="4425575"/>
            <a:ext cx="651035" cy="168245"/>
          </a:xfrm>
          <a:prstGeom prst="rect">
            <a:avLst/>
          </a:prstGeom>
          <a:solidFill>
            <a:srgbClr val="A9CEE8"/>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260" name="line 259"/>
          <p:cNvCxnSpPr/>
          <p:nvPr/>
        </p:nvCxnSpPr>
        <p:spPr>
          <a:xfrm>
            <a:off x="11221210" y="4513355"/>
            <a:ext cx="270655" cy="0"/>
          </a:xfrm>
          <a:prstGeom prst="line">
            <a:avLst/>
          </a:prstGeom>
          <a:ln w="9509">
            <a:solidFill>
              <a:srgbClr val="969696"/>
            </a:solidFill>
            <a:prstDash val="dash"/>
          </a:ln>
          <a:effectLst/>
        </p:spPr>
        <p:style>
          <a:lnRef idx="2">
            <a:schemeClr val="accent1"/>
          </a:lnRef>
          <a:fillRef idx="0">
            <a:schemeClr val="accent1"/>
          </a:fillRef>
          <a:effectRef idx="0">
            <a:schemeClr val="accent1"/>
          </a:effectRef>
          <a:fontRef idx="minor">
            <a:schemeClr val="tx1"/>
          </a:fontRef>
        </p:style>
      </p:cxnSp>
      <p:sp>
        <p:nvSpPr>
          <p:cNvPr id="261" name="rect 260"/>
          <p:cNvSpPr/>
          <p:nvPr/>
        </p:nvSpPr>
        <p:spPr>
          <a:xfrm>
            <a:off x="11594275" y="4425575"/>
            <a:ext cx="416955" cy="168245"/>
          </a:xfrm>
          <a:prstGeom prst="rect">
            <a:avLst/>
          </a:prstGeom>
          <a:solidFill>
            <a:srgbClr val="A9CEE8"/>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262" name="line 261"/>
          <p:cNvCxnSpPr/>
          <p:nvPr/>
        </p:nvCxnSpPr>
        <p:spPr>
          <a:xfrm>
            <a:off x="12047805" y="4513355"/>
            <a:ext cx="504735" cy="0"/>
          </a:xfrm>
          <a:prstGeom prst="line">
            <a:avLst/>
          </a:prstGeom>
          <a:ln w="9509">
            <a:solidFill>
              <a:srgbClr val="969696"/>
            </a:solidFill>
            <a:prstDash val="dash"/>
          </a:ln>
          <a:effectLst/>
        </p:spPr>
        <p:style>
          <a:lnRef idx="2">
            <a:schemeClr val="accent1"/>
          </a:lnRef>
          <a:fillRef idx="0">
            <a:schemeClr val="accent1"/>
          </a:fillRef>
          <a:effectRef idx="0">
            <a:schemeClr val="accent1"/>
          </a:effectRef>
          <a:fontRef idx="minor">
            <a:schemeClr val="tx1"/>
          </a:fontRef>
        </p:style>
      </p:cxnSp>
      <p:sp>
        <p:nvSpPr>
          <p:cNvPr id="263" name="v"/>
          <p:cNvSpPr txBox="1"/>
          <p:nvPr/>
        </p:nvSpPr>
        <p:spPr>
          <a:xfrm>
            <a:off x="8382990" y="4703545"/>
            <a:ext cx="178703" cy="257854"/>
          </a:xfrm>
          <a:prstGeom prst="rect">
            <a:avLst/>
          </a:prstGeom>
          <a:noFill/>
          <a:effectLst/>
        </p:spPr>
        <p:txBody>
          <a:bodyPr wrap="none" lIns="0" rIns="0" tIns="0" bIns="0" anchor="t">
            <a:spAutoFit/>
          </a:bodyPr>
          <a:lstStyle/>
          <a:p>
            <a:pPr algn="l">
              <a:lnSpc>
                <a:spcPct val="100000"/>
              </a:lnSpc>
              <a:spcBef>
                <a:spcPts val="0"/>
              </a:spcBef>
              <a:spcAft>
                <a:spcPts val="0"/>
              </a:spcAft>
            </a:pPr>
            <a:r>
              <a:rPr sz="1612" b="0" i="1" lang="en-US" spc="0">
                <a:solidFill>
                  <a:srgbClr val="181818"/>
                </a:solidFill>
                <a:latin typeface="Liberation Serif"/>
                <a:ea typeface="Liberation Serif"/>
                <a:effectLst/>
              </a:rPr>
              <a:t>v</a:t>
            </a:r>
          </a:p>
        </p:txBody>
      </p:sp>
      <p:sp>
        <p:nvSpPr>
          <p:cNvPr id="264" name="("/>
          <p:cNvSpPr txBox="1"/>
          <p:nvPr/>
        </p:nvSpPr>
        <p:spPr>
          <a:xfrm>
            <a:off x="8473913" y="4703545"/>
            <a:ext cx="155987" cy="257854"/>
          </a:xfrm>
          <a:prstGeom prst="rect">
            <a:avLst/>
          </a:prstGeom>
          <a:noFill/>
          <a:effectLst/>
        </p:spPr>
        <p:txBody>
          <a:bodyPr wrap="none" lIns="0" rIns="0" tIns="0" bIns="0" anchor="t">
            <a:spAutoFit/>
          </a:bodyPr>
          <a:lstStyle/>
          <a:p>
            <a:pPr algn="l">
              <a:lnSpc>
                <a:spcPct val="100000"/>
              </a:lnSpc>
              <a:spcBef>
                <a:spcPts val="0"/>
              </a:spcBef>
              <a:spcAft>
                <a:spcPts val="0"/>
              </a:spcAft>
            </a:pPr>
            <a:r>
              <a:rPr sz="1612" b="0" i="0" lang="en-US" spc="0">
                <a:solidFill>
                  <a:srgbClr val="181818"/>
                </a:solidFill>
                <a:latin typeface="Liberation Serif"/>
                <a:ea typeface="Liberation Serif"/>
                <a:effectLst/>
              </a:rPr>
              <a:t>(</a:t>
            </a:r>
          </a:p>
        </p:txBody>
      </p:sp>
      <p:sp>
        <p:nvSpPr>
          <p:cNvPr id="265" name="t"/>
          <p:cNvSpPr txBox="1"/>
          <p:nvPr/>
        </p:nvSpPr>
        <p:spPr>
          <a:xfrm>
            <a:off x="8542120" y="4703545"/>
            <a:ext cx="144700" cy="257854"/>
          </a:xfrm>
          <a:prstGeom prst="rect">
            <a:avLst/>
          </a:prstGeom>
          <a:noFill/>
          <a:effectLst/>
        </p:spPr>
        <p:txBody>
          <a:bodyPr wrap="none" lIns="0" rIns="0" tIns="0" bIns="0" anchor="t">
            <a:spAutoFit/>
          </a:bodyPr>
          <a:lstStyle/>
          <a:p>
            <a:pPr algn="l">
              <a:lnSpc>
                <a:spcPct val="100000"/>
              </a:lnSpc>
              <a:spcBef>
                <a:spcPts val="0"/>
              </a:spcBef>
              <a:spcAft>
                <a:spcPts val="0"/>
              </a:spcAft>
            </a:pPr>
            <a:r>
              <a:rPr sz="1612" b="0" i="1" lang="en-US" spc="0">
                <a:solidFill>
                  <a:srgbClr val="181818"/>
                </a:solidFill>
                <a:latin typeface="Liberation Serif"/>
                <a:ea typeface="Liberation Serif"/>
                <a:effectLst/>
              </a:rPr>
              <a:t>t</a:t>
            </a:r>
          </a:p>
        </p:txBody>
      </p:sp>
      <p:sp>
        <p:nvSpPr>
          <p:cNvPr id="266" name=")"/>
          <p:cNvSpPr txBox="1"/>
          <p:nvPr/>
        </p:nvSpPr>
        <p:spPr>
          <a:xfrm>
            <a:off x="8599040" y="4703545"/>
            <a:ext cx="155987" cy="257854"/>
          </a:xfrm>
          <a:prstGeom prst="rect">
            <a:avLst/>
          </a:prstGeom>
          <a:noFill/>
          <a:effectLst/>
        </p:spPr>
        <p:txBody>
          <a:bodyPr wrap="none" lIns="0" rIns="0" tIns="0" bIns="0" anchor="t">
            <a:spAutoFit/>
          </a:bodyPr>
          <a:lstStyle/>
          <a:p>
            <a:pPr algn="l">
              <a:lnSpc>
                <a:spcPct val="100000"/>
              </a:lnSpc>
              <a:spcBef>
                <a:spcPts val="0"/>
              </a:spcBef>
              <a:spcAft>
                <a:spcPts val="0"/>
              </a:spcAft>
            </a:pPr>
            <a:r>
              <a:rPr sz="1612" b="0" i="0" lang="en-US" spc="0">
                <a:solidFill>
                  <a:srgbClr val="181818"/>
                </a:solidFill>
                <a:latin typeface="Liberation Serif"/>
                <a:ea typeface="Liberation Serif"/>
                <a:effectLst/>
              </a:rPr>
              <a:t>)</a:t>
            </a:r>
          </a:p>
        </p:txBody>
      </p:sp>
      <p:sp>
        <p:nvSpPr>
          <p:cNvPr id="267" name="served work"/>
          <p:cNvSpPr txBox="1"/>
          <p:nvPr/>
        </p:nvSpPr>
        <p:spPr>
          <a:xfrm>
            <a:off x="9107175" y="4714518"/>
            <a:ext cx="1029015" cy="208478"/>
          </a:xfrm>
          <a:prstGeom prst="rect">
            <a:avLst/>
          </a:prstGeom>
          <a:noFill/>
          <a:effectLst/>
        </p:spPr>
        <p:txBody>
          <a:bodyPr wrap="none" lIns="0" rIns="0" tIns="0" bIns="0" anchor="t">
            <a:spAutoFit/>
          </a:bodyPr>
          <a:lstStyle/>
          <a:p>
            <a:pPr algn="l">
              <a:lnSpc>
                <a:spcPct val="100000"/>
              </a:lnSpc>
              <a:spcBef>
                <a:spcPts val="0"/>
              </a:spcBef>
              <a:spcAft>
                <a:spcPts val="0"/>
              </a:spcAft>
            </a:pPr>
            <a:r>
              <a:rPr sz="1209" b="0" i="0" lang="en-US" spc="0">
                <a:solidFill>
                  <a:srgbClr val="181818"/>
                </a:solidFill>
                <a:latin typeface="DejaVu Sans"/>
                <a:ea typeface="DejaVu Sans"/>
                <a:effectLst/>
              </a:rPr>
              <a:t>served work</a:t>
            </a:r>
          </a:p>
        </p:txBody>
      </p:sp>
      <p:sp>
        <p:nvSpPr>
          <p:cNvPr id="268" name="queue separate"/>
          <p:cNvSpPr txBox="1"/>
          <p:nvPr/>
        </p:nvSpPr>
        <p:spPr>
          <a:xfrm>
            <a:off x="10738420" y="4714518"/>
            <a:ext cx="1296127" cy="208478"/>
          </a:xfrm>
          <a:prstGeom prst="rect">
            <a:avLst/>
          </a:prstGeom>
          <a:noFill/>
          <a:effectLst/>
        </p:spPr>
        <p:txBody>
          <a:bodyPr wrap="none" lIns="0" rIns="0" tIns="0" bIns="0" anchor="t">
            <a:spAutoFit/>
          </a:bodyPr>
          <a:lstStyle/>
          <a:p>
            <a:pPr algn="l">
              <a:lnSpc>
                <a:spcPct val="100000"/>
              </a:lnSpc>
              <a:spcBef>
                <a:spcPts val="0"/>
              </a:spcBef>
              <a:spcAft>
                <a:spcPts val="0"/>
              </a:spcAft>
            </a:pPr>
            <a:r>
              <a:rPr sz="1209" b="0" i="0" lang="en-US" spc="0">
                <a:solidFill>
                  <a:srgbClr val="181818"/>
                </a:solidFill>
                <a:latin typeface="DejaVu Sans"/>
                <a:ea typeface="DejaVu Sans"/>
                <a:effectLst/>
              </a:rPr>
              <a:t>queue separate</a:t>
            </a:r>
          </a:p>
        </p:txBody>
      </p:sp>
      <p:sp>
        <p:nvSpPr>
          <p:cNvPr id="269" name="rect 268"/>
          <p:cNvSpPr/>
          <p:nvPr/>
        </p:nvSpPr>
        <p:spPr>
          <a:xfrm>
            <a:off x="234080" y="5208280"/>
            <a:ext cx="6129970" cy="1996995"/>
          </a:xfrm>
          <a:prstGeom prst="roundRect">
            <a:avLst>
              <a:gd name="adj" fmla="val 732"/>
            </a:avLst>
          </a:prstGeom>
          <a:solidFill>
            <a:srgbClr val="EEEEEE"/>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0" name="rect 269"/>
          <p:cNvSpPr/>
          <p:nvPr/>
        </p:nvSpPr>
        <p:spPr>
          <a:xfrm>
            <a:off x="234080" y="5208280"/>
            <a:ext cx="6129970" cy="277970"/>
          </a:xfrm>
          <a:prstGeom prst="roundRect">
            <a:avLst>
              <a:gd name="adj" fmla="val 5263"/>
            </a:avLst>
          </a:prstGeom>
          <a:solidFill>
            <a:srgbClr val="A9CEE8"/>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1" name="(c) Conditional tool timing"/>
          <p:cNvSpPr txBox="1"/>
          <p:nvPr/>
        </p:nvSpPr>
        <p:spPr>
          <a:xfrm>
            <a:off x="336490" y="5231030"/>
            <a:ext cx="2904369" cy="252368"/>
          </a:xfrm>
          <a:prstGeom prst="rect">
            <a:avLst/>
          </a:prstGeom>
          <a:noFill/>
          <a:effectLst/>
        </p:spPr>
        <p:txBody>
          <a:bodyPr wrap="none" lIns="0" rIns="0" tIns="0" bIns="0" anchor="t">
            <a:spAutoFit/>
          </a:bodyPr>
          <a:lstStyle/>
          <a:p>
            <a:pPr algn="l">
              <a:lnSpc>
                <a:spcPct val="100000"/>
              </a:lnSpc>
              <a:spcBef>
                <a:spcPts val="0"/>
              </a:spcBef>
              <a:spcAft>
                <a:spcPts val="0"/>
              </a:spcAft>
            </a:pPr>
            <a:r>
              <a:rPr sz="1497" b="1" i="0" lang="en-US" spc="0">
                <a:solidFill>
                  <a:srgbClr val="181818"/>
                </a:solidFill>
                <a:latin typeface="DejaVu Sans"/>
                <a:ea typeface="DejaVu Sans"/>
                <a:effectLst/>
              </a:rPr>
              <a:t>(c) Conditional tool timing</a:t>
            </a:r>
          </a:p>
        </p:txBody>
      </p:sp>
      <p:sp>
        <p:nvSpPr>
          <p:cNvPr id="272" name="rect 271"/>
          <p:cNvSpPr/>
          <p:nvPr/>
        </p:nvSpPr>
        <p:spPr>
          <a:xfrm>
            <a:off x="365750" y="5683755"/>
            <a:ext cx="833910" cy="212135"/>
          </a:xfrm>
          <a:prstGeom prst="rect">
            <a:avLst/>
          </a:prstGeom>
          <a:solidFill>
            <a:srgbClr val="A9CEE8"/>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3" name="project"/>
          <p:cNvSpPr txBox="1"/>
          <p:nvPr/>
        </p:nvSpPr>
        <p:spPr>
          <a:xfrm>
            <a:off x="424270" y="5691728"/>
            <a:ext cx="700354" cy="208478"/>
          </a:xfrm>
          <a:prstGeom prst="rect">
            <a:avLst/>
          </a:prstGeom>
          <a:noFill/>
          <a:effectLst/>
        </p:spPr>
        <p:txBody>
          <a:bodyPr wrap="none" lIns="0" rIns="0" tIns="0" bIns="0" anchor="t">
            <a:spAutoFit/>
          </a:bodyPr>
          <a:lstStyle/>
          <a:p>
            <a:pPr algn="l">
              <a:lnSpc>
                <a:spcPct val="100000"/>
              </a:lnSpc>
              <a:spcBef>
                <a:spcPts val="0"/>
              </a:spcBef>
              <a:spcAft>
                <a:spcPts val="0"/>
              </a:spcAft>
            </a:pPr>
            <a:r>
              <a:rPr sz="1209" b="1" i="0" lang="en-US" spc="0">
                <a:solidFill>
                  <a:srgbClr val="181818"/>
                </a:solidFill>
                <a:latin typeface="DejaVu Sans"/>
                <a:ea typeface="DejaVu Sans"/>
                <a:effectLst/>
              </a:rPr>
              <a:t>project</a:t>
            </a:r>
          </a:p>
        </p:txBody>
      </p:sp>
      <p:sp>
        <p:nvSpPr>
          <p:cNvPr id="274" name="rect 273"/>
          <p:cNvSpPr/>
          <p:nvPr/>
        </p:nvSpPr>
        <p:spPr>
          <a:xfrm>
            <a:off x="1199660" y="5683755"/>
            <a:ext cx="855855" cy="212135"/>
          </a:xfrm>
          <a:prstGeom prst="rect">
            <a:avLst/>
          </a:prstGeom>
          <a:solidFill>
            <a:srgbClr val="A9CEE8"/>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5" name="cmd"/>
          <p:cNvSpPr txBox="1"/>
          <p:nvPr/>
        </p:nvSpPr>
        <p:spPr>
          <a:xfrm>
            <a:off x="1258180" y="5691728"/>
            <a:ext cx="448872" cy="208478"/>
          </a:xfrm>
          <a:prstGeom prst="rect">
            <a:avLst/>
          </a:prstGeom>
          <a:noFill/>
          <a:effectLst/>
        </p:spPr>
        <p:txBody>
          <a:bodyPr wrap="none" lIns="0" rIns="0" tIns="0" bIns="0" anchor="t">
            <a:spAutoFit/>
          </a:bodyPr>
          <a:lstStyle/>
          <a:p>
            <a:pPr algn="l">
              <a:lnSpc>
                <a:spcPct val="100000"/>
              </a:lnSpc>
              <a:spcBef>
                <a:spcPts val="0"/>
              </a:spcBef>
              <a:spcAft>
                <a:spcPts val="0"/>
              </a:spcAft>
            </a:pPr>
            <a:r>
              <a:rPr sz="1209" b="1" i="0" lang="en-US" spc="0">
                <a:solidFill>
                  <a:srgbClr val="181818"/>
                </a:solidFill>
                <a:latin typeface="DejaVu Sans"/>
                <a:ea typeface="DejaVu Sans"/>
                <a:effectLst/>
              </a:rPr>
              <a:t>cmd</a:t>
            </a:r>
          </a:p>
        </p:txBody>
      </p:sp>
      <p:sp>
        <p:nvSpPr>
          <p:cNvPr id="276" name="rect 275"/>
          <p:cNvSpPr/>
          <p:nvPr/>
        </p:nvSpPr>
        <p:spPr>
          <a:xfrm>
            <a:off x="2055515" y="5683755"/>
            <a:ext cx="753445" cy="212135"/>
          </a:xfrm>
          <a:prstGeom prst="rect">
            <a:avLst/>
          </a:prstGeom>
          <a:solidFill>
            <a:srgbClr val="A9CEE8"/>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7" name="done"/>
          <p:cNvSpPr txBox="1"/>
          <p:nvPr/>
        </p:nvSpPr>
        <p:spPr>
          <a:xfrm>
            <a:off x="2114035" y="5691728"/>
            <a:ext cx="516793" cy="208478"/>
          </a:xfrm>
          <a:prstGeom prst="rect">
            <a:avLst/>
          </a:prstGeom>
          <a:noFill/>
          <a:effectLst/>
        </p:spPr>
        <p:txBody>
          <a:bodyPr wrap="none" lIns="0" rIns="0" tIns="0" bIns="0" anchor="t">
            <a:spAutoFit/>
          </a:bodyPr>
          <a:lstStyle/>
          <a:p>
            <a:pPr algn="l">
              <a:lnSpc>
                <a:spcPct val="100000"/>
              </a:lnSpc>
              <a:spcBef>
                <a:spcPts val="0"/>
              </a:spcBef>
              <a:spcAft>
                <a:spcPts val="0"/>
              </a:spcAft>
            </a:pPr>
            <a:r>
              <a:rPr sz="1209" b="1" i="0" lang="en-US" spc="0">
                <a:solidFill>
                  <a:srgbClr val="181818"/>
                </a:solidFill>
                <a:latin typeface="DejaVu Sans"/>
                <a:ea typeface="DejaVu Sans"/>
                <a:effectLst/>
              </a:rPr>
              <a:t>done</a:t>
            </a:r>
          </a:p>
        </p:txBody>
      </p:sp>
      <p:sp>
        <p:nvSpPr>
          <p:cNvPr id="278" name="rect 277"/>
          <p:cNvSpPr/>
          <p:nvPr/>
        </p:nvSpPr>
        <p:spPr>
          <a:xfrm>
            <a:off x="365750" y="5895890"/>
            <a:ext cx="833910" cy="212135"/>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9" name="p"/>
          <p:cNvSpPr txBox="1"/>
          <p:nvPr/>
        </p:nvSpPr>
        <p:spPr>
          <a:xfrm>
            <a:off x="424270" y="5903863"/>
            <a:ext cx="185304" cy="208478"/>
          </a:xfrm>
          <a:prstGeom prst="rect">
            <a:avLst/>
          </a:prstGeom>
          <a:noFill/>
          <a:effectLst/>
        </p:spPr>
        <p:txBody>
          <a:bodyPr wrap="none" lIns="0" rIns="0" tIns="0" bIns="0" anchor="t">
            <a:spAutoFit/>
          </a:bodyPr>
          <a:lstStyle/>
          <a:p>
            <a:pPr algn="l">
              <a:lnSpc>
                <a:spcPct val="100000"/>
              </a:lnSpc>
              <a:spcBef>
                <a:spcPts val="0"/>
              </a:spcBef>
              <a:spcAft>
                <a:spcPts val="0"/>
              </a:spcAft>
            </a:pPr>
            <a:r>
              <a:rPr sz="1209" b="0" i="0" lang="en-US" spc="0">
                <a:solidFill>
                  <a:srgbClr val="181818"/>
                </a:solidFill>
                <a:latin typeface="DejaVu Sans"/>
                <a:ea typeface="DejaVu Sans"/>
                <a:effectLst/>
              </a:rPr>
              <a:t>p</a:t>
            </a:r>
          </a:p>
        </p:txBody>
      </p:sp>
      <p:sp>
        <p:nvSpPr>
          <p:cNvPr id="280" name="rect 279"/>
          <p:cNvSpPr/>
          <p:nvPr/>
        </p:nvSpPr>
        <p:spPr>
          <a:xfrm>
            <a:off x="1199660" y="5895890"/>
            <a:ext cx="855855" cy="212135"/>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1" name="k"/>
          <p:cNvSpPr txBox="1"/>
          <p:nvPr/>
        </p:nvSpPr>
        <p:spPr>
          <a:xfrm>
            <a:off x="1258180" y="5903863"/>
            <a:ext cx="176732" cy="208478"/>
          </a:xfrm>
          <a:prstGeom prst="rect">
            <a:avLst/>
          </a:prstGeom>
          <a:noFill/>
          <a:effectLst/>
        </p:spPr>
        <p:txBody>
          <a:bodyPr wrap="none" lIns="0" rIns="0" tIns="0" bIns="0" anchor="t">
            <a:spAutoFit/>
          </a:bodyPr>
          <a:lstStyle/>
          <a:p>
            <a:pPr algn="l">
              <a:lnSpc>
                <a:spcPct val="100000"/>
              </a:lnSpc>
              <a:spcBef>
                <a:spcPts val="0"/>
              </a:spcBef>
              <a:spcAft>
                <a:spcPts val="0"/>
              </a:spcAft>
            </a:pPr>
            <a:r>
              <a:rPr sz="1209" b="0" i="0" lang="en-US" spc="0">
                <a:solidFill>
                  <a:srgbClr val="181818"/>
                </a:solidFill>
                <a:latin typeface="DejaVu Sans"/>
                <a:ea typeface="DejaVu Sans"/>
                <a:effectLst/>
              </a:rPr>
              <a:t>k</a:t>
            </a:r>
          </a:p>
        </p:txBody>
      </p:sp>
      <p:sp>
        <p:nvSpPr>
          <p:cNvPr id="282" name="rect 281"/>
          <p:cNvSpPr/>
          <p:nvPr/>
        </p:nvSpPr>
        <p:spPr>
          <a:xfrm>
            <a:off x="2055515" y="5895890"/>
            <a:ext cx="753445" cy="212135"/>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3" name="T1"/>
          <p:cNvSpPr txBox="1"/>
          <p:nvPr/>
        </p:nvSpPr>
        <p:spPr>
          <a:xfrm>
            <a:off x="2114035" y="5903863"/>
            <a:ext cx="279342" cy="208478"/>
          </a:xfrm>
          <a:prstGeom prst="rect">
            <a:avLst/>
          </a:prstGeom>
          <a:noFill/>
          <a:effectLst/>
        </p:spPr>
        <p:txBody>
          <a:bodyPr wrap="none" lIns="0" rIns="0" tIns="0" bIns="0" anchor="t">
            <a:spAutoFit/>
          </a:bodyPr>
          <a:lstStyle/>
          <a:p>
            <a:pPr algn="l">
              <a:lnSpc>
                <a:spcPct val="100000"/>
              </a:lnSpc>
              <a:spcBef>
                <a:spcPts val="0"/>
              </a:spcBef>
              <a:spcAft>
                <a:spcPts val="0"/>
              </a:spcAft>
            </a:pPr>
            <a:r>
              <a:rPr sz="1209" b="0" i="0" lang="en-US" spc="0">
                <a:solidFill>
                  <a:srgbClr val="181818"/>
                </a:solidFill>
                <a:latin typeface="DejaVu Sans"/>
                <a:ea typeface="DejaVu Sans"/>
                <a:effectLst/>
              </a:rPr>
              <a:t>T1</a:t>
            </a:r>
          </a:p>
        </p:txBody>
      </p:sp>
      <p:sp>
        <p:nvSpPr>
          <p:cNvPr id="284" name="rect 283"/>
          <p:cNvSpPr/>
          <p:nvPr/>
        </p:nvSpPr>
        <p:spPr>
          <a:xfrm>
            <a:off x="365750" y="6108025"/>
            <a:ext cx="833910" cy="212135"/>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5" name="p"/>
          <p:cNvSpPr txBox="1"/>
          <p:nvPr/>
        </p:nvSpPr>
        <p:spPr>
          <a:xfrm>
            <a:off x="424270" y="6115998"/>
            <a:ext cx="185304" cy="208478"/>
          </a:xfrm>
          <a:prstGeom prst="rect">
            <a:avLst/>
          </a:prstGeom>
          <a:noFill/>
          <a:effectLst/>
        </p:spPr>
        <p:txBody>
          <a:bodyPr wrap="none" lIns="0" rIns="0" tIns="0" bIns="0" anchor="t">
            <a:spAutoFit/>
          </a:bodyPr>
          <a:lstStyle/>
          <a:p>
            <a:pPr algn="l">
              <a:lnSpc>
                <a:spcPct val="100000"/>
              </a:lnSpc>
              <a:spcBef>
                <a:spcPts val="0"/>
              </a:spcBef>
              <a:spcAft>
                <a:spcPts val="0"/>
              </a:spcAft>
            </a:pPr>
            <a:r>
              <a:rPr sz="1209" b="0" i="0" lang="en-US" spc="0">
                <a:solidFill>
                  <a:srgbClr val="181818"/>
                </a:solidFill>
                <a:latin typeface="DejaVu Sans"/>
                <a:ea typeface="DejaVu Sans"/>
                <a:effectLst/>
              </a:rPr>
              <a:t>p</a:t>
            </a:r>
          </a:p>
        </p:txBody>
      </p:sp>
      <p:sp>
        <p:nvSpPr>
          <p:cNvPr id="286" name="rect 285"/>
          <p:cNvSpPr/>
          <p:nvPr/>
        </p:nvSpPr>
        <p:spPr>
          <a:xfrm>
            <a:off x="1199660" y="6108025"/>
            <a:ext cx="855855" cy="212135"/>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7" name="k"/>
          <p:cNvSpPr txBox="1"/>
          <p:nvPr/>
        </p:nvSpPr>
        <p:spPr>
          <a:xfrm>
            <a:off x="1258180" y="6115998"/>
            <a:ext cx="176732" cy="208478"/>
          </a:xfrm>
          <a:prstGeom prst="rect">
            <a:avLst/>
          </a:prstGeom>
          <a:noFill/>
          <a:effectLst/>
        </p:spPr>
        <p:txBody>
          <a:bodyPr wrap="none" lIns="0" rIns="0" tIns="0" bIns="0" anchor="t">
            <a:spAutoFit/>
          </a:bodyPr>
          <a:lstStyle/>
          <a:p>
            <a:pPr algn="l">
              <a:lnSpc>
                <a:spcPct val="100000"/>
              </a:lnSpc>
              <a:spcBef>
                <a:spcPts val="0"/>
              </a:spcBef>
              <a:spcAft>
                <a:spcPts val="0"/>
              </a:spcAft>
            </a:pPr>
            <a:r>
              <a:rPr sz="1209" b="0" i="0" lang="en-US" spc="0">
                <a:solidFill>
                  <a:srgbClr val="181818"/>
                </a:solidFill>
                <a:latin typeface="DejaVu Sans"/>
                <a:ea typeface="DejaVu Sans"/>
                <a:effectLst/>
              </a:rPr>
              <a:t>k</a:t>
            </a:r>
          </a:p>
        </p:txBody>
      </p:sp>
      <p:sp>
        <p:nvSpPr>
          <p:cNvPr id="288" name="rect 287"/>
          <p:cNvSpPr/>
          <p:nvPr/>
        </p:nvSpPr>
        <p:spPr>
          <a:xfrm>
            <a:off x="2055515" y="6108025"/>
            <a:ext cx="753445" cy="212135"/>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9" name="T2"/>
          <p:cNvSpPr txBox="1"/>
          <p:nvPr/>
        </p:nvSpPr>
        <p:spPr>
          <a:xfrm>
            <a:off x="2114035" y="6115998"/>
            <a:ext cx="279342" cy="208478"/>
          </a:xfrm>
          <a:prstGeom prst="rect">
            <a:avLst/>
          </a:prstGeom>
          <a:noFill/>
          <a:effectLst/>
        </p:spPr>
        <p:txBody>
          <a:bodyPr wrap="none" lIns="0" rIns="0" tIns="0" bIns="0" anchor="t">
            <a:spAutoFit/>
          </a:bodyPr>
          <a:lstStyle/>
          <a:p>
            <a:pPr algn="l">
              <a:lnSpc>
                <a:spcPct val="100000"/>
              </a:lnSpc>
              <a:spcBef>
                <a:spcPts val="0"/>
              </a:spcBef>
              <a:spcAft>
                <a:spcPts val="0"/>
              </a:spcAft>
            </a:pPr>
            <a:r>
              <a:rPr sz="1209" b="0" i="0" lang="en-US" spc="0">
                <a:solidFill>
                  <a:srgbClr val="181818"/>
                </a:solidFill>
                <a:latin typeface="DejaVu Sans"/>
                <a:ea typeface="DejaVu Sans"/>
                <a:effectLst/>
              </a:rPr>
              <a:t>T2</a:t>
            </a:r>
          </a:p>
        </p:txBody>
      </p:sp>
      <p:cxnSp>
        <p:nvCxnSpPr>
          <p:cNvPr id="290" name="path 289"/>
          <p:cNvCxnSpPr/>
          <p:nvPr/>
        </p:nvCxnSpPr>
        <p:spPr>
          <a:xfrm>
            <a:off x="2823590" y="5990985"/>
            <a:ext cx="234080" cy="0"/>
          </a:xfrm>
          <a:prstGeom prst="line">
            <a:avLst/>
          </a:prstGeom>
          <a:ln w="13167">
            <a:solidFill>
              <a:srgbClr val="181818"/>
            </a:solidFill>
          </a:ln>
          <a:effectLst/>
        </p:spPr>
        <p:style>
          <a:lnRef idx="2">
            <a:schemeClr val="accent1"/>
          </a:lnRef>
          <a:fillRef idx="0">
            <a:schemeClr val="accent1"/>
          </a:fillRef>
          <a:effectRef idx="0">
            <a:schemeClr val="accent1"/>
          </a:effectRef>
          <a:fontRef idx="minor">
            <a:schemeClr val="tx1"/>
          </a:fontRef>
        </p:style>
      </p:cxnSp>
      <p:sp>
        <p:nvSpPr>
          <p:cNvPr id="291" name="arrowhead 290"/>
          <p:cNvSpPr/>
          <p:nvPr/>
        </p:nvSpPr>
        <p:spPr>
          <a:xfrm>
            <a:off x="2977205" y="5947095"/>
            <a:ext cx="95095" cy="87780"/>
          </a:xfrm>
          <a:custGeom>
            <a:avLst/>
            <a:gdLst/>
            <a:ahLst/>
            <a:cxnLst/>
            <a:rect l="l" t="t" r="r" b="b"/>
            <a:pathLst>
              <a:path w="13" h="12">
                <a:moveTo>
                  <a:pt x="13" y="6"/>
                </a:moveTo>
                <a:lnTo>
                  <a:pt x="0" y="12"/>
                </a:lnTo>
                <a:lnTo>
                  <a:pt x="0" y="0"/>
                </a:lnTo>
                <a:close/>
              </a:path>
            </a:pathLst>
          </a:custGeom>
          <a:solidFill>
            <a:srgbClr val="18181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2" name="rect 291"/>
          <p:cNvSpPr/>
          <p:nvPr/>
        </p:nvSpPr>
        <p:spPr>
          <a:xfrm>
            <a:off x="3745280" y="5683755"/>
            <a:ext cx="746130" cy="768075"/>
          </a:xfrm>
          <a:prstGeom prst="rect">
            <a:avLst/>
          </a:prstGeom>
          <a:solidFill>
            <a:srgbClr val="B5D68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293" name="line 292"/>
          <p:cNvCxnSpPr/>
          <p:nvPr/>
        </p:nvCxnSpPr>
        <p:spPr>
          <a:xfrm>
            <a:off x="3160080" y="6451830"/>
            <a:ext cx="1345960" cy="0"/>
          </a:xfrm>
          <a:prstGeom prst="line">
            <a:avLst/>
          </a:prstGeom>
          <a:ln w="10241">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294" name="line 293"/>
          <p:cNvCxnSpPr/>
          <p:nvPr/>
        </p:nvCxnSpPr>
        <p:spPr>
          <a:xfrm flipV="1">
            <a:off x="3160080" y="5691070"/>
            <a:ext cx="0" cy="760760"/>
          </a:xfrm>
          <a:prstGeom prst="line">
            <a:avLst/>
          </a:prstGeom>
          <a:ln w="10241">
            <a:solidFill>
              <a:srgbClr val="181818"/>
            </a:solidFill>
          </a:ln>
          <a:effectLst/>
        </p:spPr>
        <p:style>
          <a:lnRef idx="2">
            <a:schemeClr val="accent1"/>
          </a:lnRef>
          <a:fillRef idx="0">
            <a:schemeClr val="accent1"/>
          </a:fillRef>
          <a:effectRef idx="0">
            <a:schemeClr val="accent1"/>
          </a:effectRef>
          <a:fontRef idx="minor">
            <a:schemeClr val="tx1"/>
          </a:fontRef>
        </p:style>
      </p:cxnSp>
      <p:sp>
        <p:nvSpPr>
          <p:cNvPr id="295" name="path 294"/>
          <p:cNvSpPr/>
          <p:nvPr/>
        </p:nvSpPr>
        <p:spPr>
          <a:xfrm>
            <a:off x="3160080" y="5734960"/>
            <a:ext cx="1338645" cy="702240"/>
          </a:xfrm>
          <a:custGeom>
            <a:avLst/>
            <a:gdLst/>
            <a:ahLst/>
            <a:cxnLst/>
            <a:rect l="l" t="t" r="r" b="b"/>
            <a:pathLst>
              <a:path w="183" h="96">
                <a:moveTo>
                  <a:pt x="0" y="96"/>
                </a:moveTo>
                <a:lnTo>
                  <a:pt x="32" y="96"/>
                </a:lnTo>
                <a:lnTo>
                  <a:pt x="32" y="77"/>
                </a:lnTo>
                <a:lnTo>
                  <a:pt x="61" y="77"/>
                </a:lnTo>
                <a:lnTo>
                  <a:pt x="61" y="53"/>
                </a:lnTo>
                <a:lnTo>
                  <a:pt x="96" y="53"/>
                </a:lnTo>
                <a:lnTo>
                  <a:pt x="96" y="22"/>
                </a:lnTo>
                <a:lnTo>
                  <a:pt x="140" y="22"/>
                </a:lnTo>
                <a:lnTo>
                  <a:pt x="140" y="0"/>
                </a:lnTo>
                <a:lnTo>
                  <a:pt x="183" y="0"/>
                </a:lnTo>
              </a:path>
            </a:pathLst>
          </a:custGeom>
          <a:noFill/>
          <a:ln w="16824">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296" name="line 295"/>
          <p:cNvCxnSpPr/>
          <p:nvPr/>
        </p:nvCxnSpPr>
        <p:spPr>
          <a:xfrm>
            <a:off x="3737965" y="5691070"/>
            <a:ext cx="0" cy="811965"/>
          </a:xfrm>
          <a:prstGeom prst="line">
            <a:avLst/>
          </a:prstGeom>
          <a:ln w="11704">
            <a:solidFill>
              <a:srgbClr val="BF3335"/>
            </a:solidFill>
            <a:prstDash val="dash"/>
          </a:ln>
          <a:effectLst/>
        </p:spPr>
        <p:style>
          <a:lnRef idx="2">
            <a:schemeClr val="accent1"/>
          </a:lnRef>
          <a:fillRef idx="0">
            <a:schemeClr val="accent1"/>
          </a:fillRef>
          <a:effectRef idx="0">
            <a:schemeClr val="accent1"/>
          </a:effectRef>
          <a:fontRef idx="minor">
            <a:schemeClr val="tx1"/>
          </a:fontRef>
        </p:style>
      </p:cxnSp>
      <p:sp>
        <p:nvSpPr>
          <p:cNvPr id="297" name="a"/>
          <p:cNvSpPr txBox="1"/>
          <p:nvPr/>
        </p:nvSpPr>
        <p:spPr>
          <a:xfrm>
            <a:off x="3694075" y="6477432"/>
            <a:ext cx="175560" cy="224936"/>
          </a:xfrm>
          <a:prstGeom prst="rect">
            <a:avLst/>
          </a:prstGeom>
          <a:noFill/>
          <a:effectLst/>
        </p:spPr>
        <p:txBody>
          <a:bodyPr wrap="none" lIns="0" rIns="0" tIns="0" bIns="0" anchor="t">
            <a:spAutoFit/>
          </a:bodyPr>
          <a:lstStyle/>
          <a:p>
            <a:pPr algn="l">
              <a:lnSpc>
                <a:spcPct val="100000"/>
              </a:lnSpc>
              <a:spcBef>
                <a:spcPts val="0"/>
              </a:spcBef>
              <a:spcAft>
                <a:spcPts val="0"/>
              </a:spcAft>
            </a:pPr>
            <a:r>
              <a:rPr sz="1382" b="0" i="1" lang="en-US" spc="0">
                <a:solidFill>
                  <a:srgbClr val="BF3335"/>
                </a:solidFill>
                <a:latin typeface="Liberation Serif"/>
                <a:ea typeface="Liberation Serif"/>
                <a:effectLst/>
              </a:rPr>
              <a:t>a</a:t>
            </a:r>
          </a:p>
        </p:txBody>
      </p:sp>
      <p:sp>
        <p:nvSpPr>
          <p:cNvPr id="298" name="circle 297"/>
          <p:cNvSpPr/>
          <p:nvPr/>
        </p:nvSpPr>
        <p:spPr>
          <a:xfrm>
            <a:off x="4659655" y="5647180"/>
            <a:ext cx="292600" cy="292600"/>
          </a:xfrm>
          <a:prstGeom prst="ellipse">
            <a:avLst/>
          </a:prstGeom>
          <a:solidFill>
            <a:srgbClr val="FFFFF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9" name="path 298"/>
          <p:cNvSpPr/>
          <p:nvPr/>
        </p:nvSpPr>
        <p:spPr>
          <a:xfrm>
            <a:off x="4805955" y="5698385"/>
            <a:ext cx="80465" cy="131670"/>
          </a:xfrm>
          <a:custGeom>
            <a:avLst/>
            <a:gdLst/>
            <a:ahLst/>
            <a:cxnLst/>
            <a:rect l="l" t="t" r="r" b="b"/>
            <a:pathLst>
              <a:path w="11" h="18">
                <a:moveTo>
                  <a:pt x="0" y="0"/>
                </a:moveTo>
                <a:lnTo>
                  <a:pt x="0" y="13"/>
                </a:lnTo>
                <a:lnTo>
                  <a:pt x="11" y="18"/>
                </a:lnTo>
              </a:path>
            </a:pathLst>
          </a:custGeom>
          <a:noFill/>
          <a:ln w="14630">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300" name="line 299"/>
          <p:cNvCxnSpPr/>
          <p:nvPr/>
        </p:nvCxnSpPr>
        <p:spPr>
          <a:xfrm>
            <a:off x="4835215" y="6217750"/>
            <a:ext cx="1280125" cy="0"/>
          </a:xfrm>
          <a:prstGeom prst="line">
            <a:avLst/>
          </a:prstGeom>
          <a:ln w="18288">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301" name="line 300"/>
          <p:cNvCxnSpPr/>
          <p:nvPr/>
        </p:nvCxnSpPr>
        <p:spPr>
          <a:xfrm>
            <a:off x="4835215" y="6151915"/>
            <a:ext cx="0" cy="13167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302" name="line 301"/>
          <p:cNvCxnSpPr/>
          <p:nvPr/>
        </p:nvCxnSpPr>
        <p:spPr>
          <a:xfrm>
            <a:off x="6115340" y="6151915"/>
            <a:ext cx="0" cy="13167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sp>
        <p:nvSpPr>
          <p:cNvPr id="303" name="circle 302"/>
          <p:cNvSpPr/>
          <p:nvPr/>
        </p:nvSpPr>
        <p:spPr>
          <a:xfrm>
            <a:off x="5435045" y="6181175"/>
            <a:ext cx="73150" cy="73150"/>
          </a:xfrm>
          <a:prstGeom prst="ellipse">
            <a:avLst/>
          </a:prstGeom>
          <a:solidFill>
            <a:srgbClr val="181818"/>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4" name="q"/>
          <p:cNvSpPr txBox="1"/>
          <p:nvPr/>
        </p:nvSpPr>
        <p:spPr>
          <a:xfrm>
            <a:off x="4722747" y="6375022"/>
            <a:ext cx="179218" cy="234080"/>
          </a:xfrm>
          <a:prstGeom prst="rect">
            <a:avLst/>
          </a:prstGeom>
          <a:noFill/>
          <a:effectLst/>
        </p:spPr>
        <p:txBody>
          <a:bodyPr wrap="none" lIns="0" rIns="0" tIns="0" bIns="0" anchor="t">
            <a:spAutoFit/>
          </a:bodyPr>
          <a:lstStyle/>
          <a:p>
            <a:pPr algn="l">
              <a:lnSpc>
                <a:spcPct val="100000"/>
              </a:lnSpc>
              <a:spcBef>
                <a:spcPts val="0"/>
              </a:spcBef>
              <a:spcAft>
                <a:spcPts val="0"/>
              </a:spcAft>
            </a:pPr>
            <a:r>
              <a:rPr sz="1439" b="0" i="1" lang="en-US" spc="0">
                <a:solidFill>
                  <a:srgbClr val="181818"/>
                </a:solidFill>
                <a:latin typeface="Liberation Serif"/>
                <a:ea typeface="Liberation Serif"/>
                <a:effectLst/>
              </a:rPr>
              <a:t>q</a:t>
            </a:r>
          </a:p>
        </p:txBody>
      </p:sp>
      <p:sp>
        <p:nvSpPr>
          <p:cNvPr id="305" name="10"/>
          <p:cNvSpPr txBox="1"/>
          <p:nvPr/>
        </p:nvSpPr>
        <p:spPr>
          <a:xfrm>
            <a:off x="4821499" y="6479261"/>
            <a:ext cx="206649" cy="162759"/>
          </a:xfrm>
          <a:prstGeom prst="rect">
            <a:avLst/>
          </a:prstGeom>
          <a:noFill/>
          <a:effectLst/>
        </p:spPr>
        <p:txBody>
          <a:bodyPr wrap="none" lIns="0" rIns="0" tIns="0" bIns="0" anchor="t">
            <a:spAutoFit/>
          </a:bodyPr>
          <a:lstStyle/>
          <a:p>
            <a:pPr algn="l">
              <a:lnSpc>
                <a:spcPct val="100000"/>
              </a:lnSpc>
              <a:spcBef>
                <a:spcPts val="0"/>
              </a:spcBef>
              <a:spcAft>
                <a:spcPts val="0"/>
              </a:spcAft>
            </a:pPr>
            <a:r>
              <a:rPr sz="936" b="0" i="0" lang="en-US" spc="0">
                <a:solidFill>
                  <a:srgbClr val="181818"/>
                </a:solidFill>
                <a:latin typeface="Liberation Serif"/>
                <a:ea typeface="Liberation Serif"/>
                <a:effectLst/>
              </a:rPr>
              <a:t>10</a:t>
            </a:r>
          </a:p>
        </p:txBody>
      </p:sp>
      <p:sp>
        <p:nvSpPr>
          <p:cNvPr id="306" name="q"/>
          <p:cNvSpPr txBox="1"/>
          <p:nvPr/>
        </p:nvSpPr>
        <p:spPr>
          <a:xfrm>
            <a:off x="5359152" y="6375022"/>
            <a:ext cx="179218" cy="234080"/>
          </a:xfrm>
          <a:prstGeom prst="rect">
            <a:avLst/>
          </a:prstGeom>
          <a:noFill/>
          <a:effectLst/>
        </p:spPr>
        <p:txBody>
          <a:bodyPr wrap="none" lIns="0" rIns="0" tIns="0" bIns="0" anchor="t">
            <a:spAutoFit/>
          </a:bodyPr>
          <a:lstStyle/>
          <a:p>
            <a:pPr algn="l">
              <a:lnSpc>
                <a:spcPct val="100000"/>
              </a:lnSpc>
              <a:spcBef>
                <a:spcPts val="0"/>
              </a:spcBef>
              <a:spcAft>
                <a:spcPts val="0"/>
              </a:spcAft>
            </a:pPr>
            <a:r>
              <a:rPr sz="1439" b="0" i="1" lang="en-US" spc="0">
                <a:solidFill>
                  <a:srgbClr val="181818"/>
                </a:solidFill>
                <a:latin typeface="Liberation Serif"/>
                <a:ea typeface="Liberation Serif"/>
                <a:effectLst/>
              </a:rPr>
              <a:t>q</a:t>
            </a:r>
          </a:p>
        </p:txBody>
      </p:sp>
      <p:sp>
        <p:nvSpPr>
          <p:cNvPr id="307" name="50"/>
          <p:cNvSpPr txBox="1"/>
          <p:nvPr/>
        </p:nvSpPr>
        <p:spPr>
          <a:xfrm>
            <a:off x="5457904" y="6479261"/>
            <a:ext cx="206649" cy="162759"/>
          </a:xfrm>
          <a:prstGeom prst="rect">
            <a:avLst/>
          </a:prstGeom>
          <a:noFill/>
          <a:effectLst/>
        </p:spPr>
        <p:txBody>
          <a:bodyPr wrap="none" lIns="0" rIns="0" tIns="0" bIns="0" anchor="t">
            <a:spAutoFit/>
          </a:bodyPr>
          <a:lstStyle/>
          <a:p>
            <a:pPr algn="l">
              <a:lnSpc>
                <a:spcPct val="100000"/>
              </a:lnSpc>
              <a:spcBef>
                <a:spcPts val="0"/>
              </a:spcBef>
              <a:spcAft>
                <a:spcPts val="0"/>
              </a:spcAft>
            </a:pPr>
            <a:r>
              <a:rPr sz="936" b="0" i="0" lang="en-US" spc="0">
                <a:solidFill>
                  <a:srgbClr val="181818"/>
                </a:solidFill>
                <a:latin typeface="Liberation Serif"/>
                <a:ea typeface="Liberation Serif"/>
                <a:effectLst/>
              </a:rPr>
              <a:t>50</a:t>
            </a:r>
          </a:p>
        </p:txBody>
      </p:sp>
      <p:sp>
        <p:nvSpPr>
          <p:cNvPr id="308" name="q"/>
          <p:cNvSpPr txBox="1"/>
          <p:nvPr/>
        </p:nvSpPr>
        <p:spPr>
          <a:xfrm>
            <a:off x="6002872" y="6375022"/>
            <a:ext cx="179218" cy="234080"/>
          </a:xfrm>
          <a:prstGeom prst="rect">
            <a:avLst/>
          </a:prstGeom>
          <a:noFill/>
          <a:effectLst/>
        </p:spPr>
        <p:txBody>
          <a:bodyPr wrap="none" lIns="0" rIns="0" tIns="0" bIns="0" anchor="t">
            <a:spAutoFit/>
          </a:bodyPr>
          <a:lstStyle/>
          <a:p>
            <a:pPr algn="l">
              <a:lnSpc>
                <a:spcPct val="100000"/>
              </a:lnSpc>
              <a:spcBef>
                <a:spcPts val="0"/>
              </a:spcBef>
              <a:spcAft>
                <a:spcPts val="0"/>
              </a:spcAft>
            </a:pPr>
            <a:r>
              <a:rPr sz="1439" b="0" i="1" lang="en-US" spc="0">
                <a:solidFill>
                  <a:srgbClr val="181818"/>
                </a:solidFill>
                <a:latin typeface="Liberation Serif"/>
                <a:ea typeface="Liberation Serif"/>
                <a:effectLst/>
              </a:rPr>
              <a:t>q</a:t>
            </a:r>
          </a:p>
        </p:txBody>
      </p:sp>
      <p:sp>
        <p:nvSpPr>
          <p:cNvPr id="309" name="90"/>
          <p:cNvSpPr txBox="1"/>
          <p:nvPr/>
        </p:nvSpPr>
        <p:spPr>
          <a:xfrm>
            <a:off x="6101624" y="6479261"/>
            <a:ext cx="206649" cy="162759"/>
          </a:xfrm>
          <a:prstGeom prst="rect">
            <a:avLst/>
          </a:prstGeom>
          <a:noFill/>
          <a:effectLst/>
        </p:spPr>
        <p:txBody>
          <a:bodyPr wrap="none" lIns="0" rIns="0" tIns="0" bIns="0" anchor="t">
            <a:spAutoFit/>
          </a:bodyPr>
          <a:lstStyle/>
          <a:p>
            <a:pPr algn="l">
              <a:lnSpc>
                <a:spcPct val="100000"/>
              </a:lnSpc>
              <a:spcBef>
                <a:spcPts val="0"/>
              </a:spcBef>
              <a:spcAft>
                <a:spcPts val="0"/>
              </a:spcAft>
            </a:pPr>
            <a:r>
              <a:rPr sz="936" b="0" i="0" lang="en-US" spc="0">
                <a:solidFill>
                  <a:srgbClr val="181818"/>
                </a:solidFill>
                <a:latin typeface="Liberation Serif"/>
                <a:ea typeface="Liberation Serif"/>
                <a:effectLst/>
              </a:rPr>
              <a:t>90</a:t>
            </a:r>
          </a:p>
        </p:txBody>
      </p:sp>
      <p:sp>
        <p:nvSpPr>
          <p:cNvPr id="310" name="P("/>
          <p:cNvSpPr txBox="1"/>
          <p:nvPr/>
        </p:nvSpPr>
        <p:spPr>
          <a:xfrm>
            <a:off x="365750" y="6826724"/>
            <a:ext cx="282913" cy="272484"/>
          </a:xfrm>
          <a:prstGeom prst="rect">
            <a:avLst/>
          </a:prstGeom>
          <a:noFill/>
          <a:effectLst/>
        </p:spPr>
        <p:txBody>
          <a:bodyPr wrap="none" lIns="0" rIns="0" tIns="0" bIns="0" anchor="t">
            <a:spAutoFit/>
          </a:bodyPr>
          <a:lstStyle/>
          <a:p>
            <a:pPr algn="l">
              <a:lnSpc>
                <a:spcPct val="100000"/>
              </a:lnSpc>
              <a:spcBef>
                <a:spcPts val="0"/>
              </a:spcBef>
              <a:spcAft>
                <a:spcPts val="0"/>
              </a:spcAft>
            </a:pPr>
            <a:r>
              <a:rPr sz="1727" b="0" i="0" lang="en-US" spc="0">
                <a:solidFill>
                  <a:srgbClr val="181818"/>
                </a:solidFill>
                <a:latin typeface="Liberation Serif"/>
                <a:ea typeface="Liberation Serif"/>
                <a:effectLst/>
              </a:rPr>
              <a:t>P(</a:t>
            </a:r>
          </a:p>
        </p:txBody>
      </p:sp>
      <p:sp>
        <p:nvSpPr>
          <p:cNvPr id="311" name="T"/>
          <p:cNvSpPr txBox="1"/>
          <p:nvPr/>
        </p:nvSpPr>
        <p:spPr>
          <a:xfrm>
            <a:off x="560883" y="6826724"/>
            <a:ext cx="209820" cy="272484"/>
          </a:xfrm>
          <a:prstGeom prst="rect">
            <a:avLst/>
          </a:prstGeom>
          <a:noFill/>
          <a:effectLst/>
        </p:spPr>
        <p:txBody>
          <a:bodyPr wrap="none" lIns="0" rIns="0" tIns="0" bIns="0" anchor="t">
            <a:spAutoFit/>
          </a:bodyPr>
          <a:lstStyle/>
          <a:p>
            <a:pPr algn="l">
              <a:lnSpc>
                <a:spcPct val="100000"/>
              </a:lnSpc>
              <a:spcBef>
                <a:spcPts val="0"/>
              </a:spcBef>
              <a:spcAft>
                <a:spcPts val="0"/>
              </a:spcAft>
            </a:pPr>
            <a:r>
              <a:rPr sz="1727" b="0" i="1" lang="en-US" spc="0">
                <a:solidFill>
                  <a:srgbClr val="181818"/>
                </a:solidFill>
                <a:latin typeface="Liberation Serif"/>
                <a:ea typeface="Liberation Serif"/>
                <a:effectLst/>
              </a:rPr>
              <a:t>T</a:t>
            </a:r>
          </a:p>
        </p:txBody>
      </p:sp>
      <p:sp>
        <p:nvSpPr>
          <p:cNvPr id="312" name=" ≤ "/>
          <p:cNvSpPr txBox="1"/>
          <p:nvPr/>
        </p:nvSpPr>
        <p:spPr>
          <a:xfrm>
            <a:off x="682924" y="6826724"/>
            <a:ext cx="317945" cy="272484"/>
          </a:xfrm>
          <a:prstGeom prst="rect">
            <a:avLst/>
          </a:prstGeom>
          <a:noFill/>
          <a:effectLst/>
        </p:spPr>
        <p:txBody>
          <a:bodyPr wrap="none" lIns="0" rIns="0" tIns="0" bIns="0" anchor="t">
            <a:spAutoFit/>
          </a:bodyPr>
          <a:lstStyle/>
          <a:p>
            <a:pPr algn="l">
              <a:lnSpc>
                <a:spcPct val="100000"/>
              </a:lnSpc>
              <a:spcBef>
                <a:spcPts val="0"/>
              </a:spcBef>
              <a:spcAft>
                <a:spcPts val="0"/>
              </a:spcAft>
            </a:pPr>
            <a:r>
              <a:rPr sz="1727" b="0" i="0" lang="en-US" spc="0">
                <a:solidFill>
                  <a:srgbClr val="181818"/>
                </a:solidFill>
                <a:latin typeface="Liberation Serif"/>
                <a:ea typeface="Liberation Serif"/>
                <a:effectLst/>
              </a:rPr>
              <a:t> ≤ </a:t>
            </a:r>
          </a:p>
        </p:txBody>
      </p:sp>
      <p:sp>
        <p:nvSpPr>
          <p:cNvPr id="313" name="a"/>
          <p:cNvSpPr txBox="1"/>
          <p:nvPr/>
        </p:nvSpPr>
        <p:spPr>
          <a:xfrm>
            <a:off x="913089" y="6826724"/>
            <a:ext cx="197505" cy="272484"/>
          </a:xfrm>
          <a:prstGeom prst="rect">
            <a:avLst/>
          </a:prstGeom>
          <a:noFill/>
          <a:effectLst/>
        </p:spPr>
        <p:txBody>
          <a:bodyPr wrap="none" lIns="0" rIns="0" tIns="0" bIns="0" anchor="t">
            <a:spAutoFit/>
          </a:bodyPr>
          <a:lstStyle/>
          <a:p>
            <a:pPr algn="l">
              <a:lnSpc>
                <a:spcPct val="100000"/>
              </a:lnSpc>
              <a:spcBef>
                <a:spcPts val="0"/>
              </a:spcBef>
              <a:spcAft>
                <a:spcPts val="0"/>
              </a:spcAft>
            </a:pPr>
            <a:r>
              <a:rPr sz="1727" b="0" i="1" lang="en-US" spc="0">
                <a:solidFill>
                  <a:srgbClr val="181818"/>
                </a:solidFill>
                <a:latin typeface="Liberation Serif"/>
                <a:ea typeface="Liberation Serif"/>
                <a:effectLst/>
              </a:rPr>
              <a:t>a</a:t>
            </a:r>
          </a:p>
        </p:txBody>
      </p:sp>
      <p:sp>
        <p:nvSpPr>
          <p:cNvPr id="314" name=" + "/>
          <p:cNvSpPr txBox="1"/>
          <p:nvPr/>
        </p:nvSpPr>
        <p:spPr>
          <a:xfrm>
            <a:off x="1022814" y="6826724"/>
            <a:ext cx="321260" cy="272484"/>
          </a:xfrm>
          <a:prstGeom prst="rect">
            <a:avLst/>
          </a:prstGeom>
          <a:noFill/>
          <a:effectLst/>
        </p:spPr>
        <p:txBody>
          <a:bodyPr wrap="none" lIns="0" rIns="0" tIns="0" bIns="0" anchor="t">
            <a:spAutoFit/>
          </a:bodyPr>
          <a:lstStyle/>
          <a:p>
            <a:pPr algn="l">
              <a:lnSpc>
                <a:spcPct val="100000"/>
              </a:lnSpc>
              <a:spcBef>
                <a:spcPts val="0"/>
              </a:spcBef>
              <a:spcAft>
                <a:spcPts val="0"/>
              </a:spcAft>
            </a:pPr>
            <a:r>
              <a:rPr sz="1727" b="0" i="0" lang="en-US" spc="0">
                <a:solidFill>
                  <a:srgbClr val="181818"/>
                </a:solidFill>
                <a:latin typeface="Liberation Serif"/>
                <a:ea typeface="Liberation Serif"/>
                <a:effectLst/>
              </a:rPr>
              <a:t> + </a:t>
            </a:r>
          </a:p>
        </p:txBody>
      </p:sp>
      <p:sp>
        <p:nvSpPr>
          <p:cNvPr id="315" name="r"/>
          <p:cNvSpPr txBox="1"/>
          <p:nvPr/>
        </p:nvSpPr>
        <p:spPr>
          <a:xfrm>
            <a:off x="1256294" y="6826724"/>
            <a:ext cx="173188" cy="272484"/>
          </a:xfrm>
          <a:prstGeom prst="rect">
            <a:avLst/>
          </a:prstGeom>
          <a:noFill/>
          <a:effectLst/>
        </p:spPr>
        <p:txBody>
          <a:bodyPr wrap="none" lIns="0" rIns="0" tIns="0" bIns="0" anchor="t">
            <a:spAutoFit/>
          </a:bodyPr>
          <a:lstStyle/>
          <a:p>
            <a:pPr algn="l">
              <a:lnSpc>
                <a:spcPct val="100000"/>
              </a:lnSpc>
              <a:spcBef>
                <a:spcPts val="0"/>
              </a:spcBef>
              <a:spcAft>
                <a:spcPts val="0"/>
              </a:spcAft>
            </a:pPr>
            <a:r>
              <a:rPr sz="1727" b="0" i="1" lang="en-US" spc="0">
                <a:solidFill>
                  <a:srgbClr val="181818"/>
                </a:solidFill>
                <a:latin typeface="Liberation Serif"/>
                <a:ea typeface="Liberation Serif"/>
                <a:effectLst/>
              </a:rPr>
              <a:t>r</a:t>
            </a:r>
          </a:p>
        </p:txBody>
      </p:sp>
      <p:sp>
        <p:nvSpPr>
          <p:cNvPr id="316" name=" | "/>
          <p:cNvSpPr txBox="1"/>
          <p:nvPr/>
        </p:nvSpPr>
        <p:spPr>
          <a:xfrm>
            <a:off x="1341702" y="6826724"/>
            <a:ext cx="241452" cy="272484"/>
          </a:xfrm>
          <a:prstGeom prst="rect">
            <a:avLst/>
          </a:prstGeom>
          <a:noFill/>
          <a:effectLst/>
        </p:spPr>
        <p:txBody>
          <a:bodyPr wrap="none" lIns="0" rIns="0" tIns="0" bIns="0" anchor="t">
            <a:spAutoFit/>
          </a:bodyPr>
          <a:lstStyle/>
          <a:p>
            <a:pPr algn="l">
              <a:lnSpc>
                <a:spcPct val="100000"/>
              </a:lnSpc>
              <a:spcBef>
                <a:spcPts val="0"/>
              </a:spcBef>
              <a:spcAft>
                <a:spcPts val="0"/>
              </a:spcAft>
            </a:pPr>
            <a:r>
              <a:rPr sz="1727" b="0" i="0" lang="en-US" spc="0">
                <a:solidFill>
                  <a:srgbClr val="181818"/>
                </a:solidFill>
                <a:latin typeface="Liberation Serif"/>
                <a:ea typeface="Liberation Serif"/>
                <a:effectLst/>
              </a:rPr>
              <a:t> | </a:t>
            </a:r>
          </a:p>
        </p:txBody>
      </p:sp>
      <p:sp>
        <p:nvSpPr>
          <p:cNvPr id="317" name="T"/>
          <p:cNvSpPr txBox="1"/>
          <p:nvPr/>
        </p:nvSpPr>
        <p:spPr>
          <a:xfrm>
            <a:off x="1495375" y="6826724"/>
            <a:ext cx="209820" cy="272484"/>
          </a:xfrm>
          <a:prstGeom prst="rect">
            <a:avLst/>
          </a:prstGeom>
          <a:noFill/>
          <a:effectLst/>
        </p:spPr>
        <p:txBody>
          <a:bodyPr wrap="none" lIns="0" rIns="0" tIns="0" bIns="0" anchor="t">
            <a:spAutoFit/>
          </a:bodyPr>
          <a:lstStyle/>
          <a:p>
            <a:pPr algn="l">
              <a:lnSpc>
                <a:spcPct val="100000"/>
              </a:lnSpc>
              <a:spcBef>
                <a:spcPts val="0"/>
              </a:spcBef>
              <a:spcAft>
                <a:spcPts val="0"/>
              </a:spcAft>
            </a:pPr>
            <a:r>
              <a:rPr sz="1727" b="0" i="1" lang="en-US" spc="0">
                <a:solidFill>
                  <a:srgbClr val="181818"/>
                </a:solidFill>
                <a:latin typeface="Liberation Serif"/>
                <a:ea typeface="Liberation Serif"/>
                <a:effectLst/>
              </a:rPr>
              <a:t>T</a:t>
            </a:r>
          </a:p>
        </p:txBody>
      </p:sp>
      <p:sp>
        <p:nvSpPr>
          <p:cNvPr id="318" name=" &gt; "/>
          <p:cNvSpPr txBox="1"/>
          <p:nvPr/>
        </p:nvSpPr>
        <p:spPr>
          <a:xfrm>
            <a:off x="1617415" y="6826724"/>
            <a:ext cx="321260" cy="272484"/>
          </a:xfrm>
          <a:prstGeom prst="rect">
            <a:avLst/>
          </a:prstGeom>
          <a:noFill/>
          <a:effectLst/>
        </p:spPr>
        <p:txBody>
          <a:bodyPr wrap="none" lIns="0" rIns="0" tIns="0" bIns="0" anchor="t">
            <a:spAutoFit/>
          </a:bodyPr>
          <a:lstStyle/>
          <a:p>
            <a:pPr algn="l">
              <a:lnSpc>
                <a:spcPct val="100000"/>
              </a:lnSpc>
              <a:spcBef>
                <a:spcPts val="0"/>
              </a:spcBef>
              <a:spcAft>
                <a:spcPts val="0"/>
              </a:spcAft>
            </a:pPr>
            <a:r>
              <a:rPr sz="1727" b="0" i="0" lang="en-US" spc="0">
                <a:solidFill>
                  <a:srgbClr val="181818"/>
                </a:solidFill>
                <a:latin typeface="Liberation Serif"/>
                <a:ea typeface="Liberation Serif"/>
                <a:effectLst/>
              </a:rPr>
              <a:t> &gt; </a:t>
            </a:r>
          </a:p>
        </p:txBody>
      </p:sp>
      <p:sp>
        <p:nvSpPr>
          <p:cNvPr id="319" name="a"/>
          <p:cNvSpPr txBox="1"/>
          <p:nvPr/>
        </p:nvSpPr>
        <p:spPr>
          <a:xfrm>
            <a:off x="1850895" y="6826724"/>
            <a:ext cx="197505" cy="272484"/>
          </a:xfrm>
          <a:prstGeom prst="rect">
            <a:avLst/>
          </a:prstGeom>
          <a:noFill/>
          <a:effectLst/>
        </p:spPr>
        <p:txBody>
          <a:bodyPr wrap="none" lIns="0" rIns="0" tIns="0" bIns="0" anchor="t">
            <a:spAutoFit/>
          </a:bodyPr>
          <a:lstStyle/>
          <a:p>
            <a:pPr algn="l">
              <a:lnSpc>
                <a:spcPct val="100000"/>
              </a:lnSpc>
              <a:spcBef>
                <a:spcPts val="0"/>
              </a:spcBef>
              <a:spcAft>
                <a:spcPts val="0"/>
              </a:spcAft>
            </a:pPr>
            <a:r>
              <a:rPr sz="1727" b="0" i="1" lang="en-US" spc="0">
                <a:solidFill>
                  <a:srgbClr val="181818"/>
                </a:solidFill>
                <a:latin typeface="Liberation Serif"/>
                <a:ea typeface="Liberation Serif"/>
                <a:effectLst/>
              </a:rPr>
              <a:t>a</a:t>
            </a:r>
          </a:p>
        </p:txBody>
      </p:sp>
      <p:sp>
        <p:nvSpPr>
          <p:cNvPr id="320" name=")"/>
          <p:cNvSpPr txBox="1"/>
          <p:nvPr/>
        </p:nvSpPr>
        <p:spPr>
          <a:xfrm>
            <a:off x="1960620" y="6826724"/>
            <a:ext cx="160873" cy="272484"/>
          </a:xfrm>
          <a:prstGeom prst="rect">
            <a:avLst/>
          </a:prstGeom>
          <a:noFill/>
          <a:effectLst/>
        </p:spPr>
        <p:txBody>
          <a:bodyPr wrap="none" lIns="0" rIns="0" tIns="0" bIns="0" anchor="t">
            <a:spAutoFit/>
          </a:bodyPr>
          <a:lstStyle/>
          <a:p>
            <a:pPr algn="l">
              <a:lnSpc>
                <a:spcPct val="100000"/>
              </a:lnSpc>
              <a:spcBef>
                <a:spcPts val="0"/>
              </a:spcBef>
              <a:spcAft>
                <a:spcPts val="0"/>
              </a:spcAft>
            </a:pPr>
            <a:r>
              <a:rPr sz="1727" b="0" i="0" lang="en-US" spc="0">
                <a:solidFill>
                  <a:srgbClr val="181818"/>
                </a:solidFill>
                <a:latin typeface="Liberation Serif"/>
                <a:ea typeface="Liberation Serif"/>
                <a:effectLst/>
              </a:rPr>
              <a:t>)</a:t>
            </a:r>
          </a:p>
        </p:txBody>
      </p:sp>
      <p:sp>
        <p:nvSpPr>
          <p:cNvPr id="321" name=" = "/>
          <p:cNvSpPr txBox="1"/>
          <p:nvPr/>
        </p:nvSpPr>
        <p:spPr>
          <a:xfrm>
            <a:off x="2633400" y="6839525"/>
            <a:ext cx="313488" cy="266998"/>
          </a:xfrm>
          <a:prstGeom prst="rect">
            <a:avLst/>
          </a:prstGeom>
          <a:noFill/>
          <a:effectLst/>
        </p:spPr>
        <p:txBody>
          <a:bodyPr wrap="none" lIns="0" rIns="0" tIns="0" bIns="0" anchor="t">
            <a:spAutoFit/>
          </a:bodyPr>
          <a:lstStyle/>
          <a:p>
            <a:pPr algn="l">
              <a:lnSpc>
                <a:spcPct val="100000"/>
              </a:lnSpc>
              <a:spcBef>
                <a:spcPts val="0"/>
              </a:spcBef>
              <a:spcAft>
                <a:spcPts val="0"/>
              </a:spcAft>
            </a:pPr>
            <a:r>
              <a:rPr sz="1670" b="0" i="0" lang="en-US" spc="0">
                <a:solidFill>
                  <a:srgbClr val="181818"/>
                </a:solidFill>
                <a:latin typeface="Liberation Serif"/>
                <a:ea typeface="Liberation Serif"/>
                <a:effectLst/>
              </a:rPr>
              <a:t> = </a:t>
            </a:r>
          </a:p>
        </p:txBody>
      </p:sp>
      <p:sp>
        <p:nvSpPr>
          <p:cNvPr id="322" name="F"/>
          <p:cNvSpPr txBox="1"/>
          <p:nvPr/>
        </p:nvSpPr>
        <p:spPr>
          <a:xfrm>
            <a:off x="3064985" y="6689568"/>
            <a:ext cx="199477" cy="234080"/>
          </a:xfrm>
          <a:prstGeom prst="rect">
            <a:avLst/>
          </a:prstGeom>
          <a:noFill/>
          <a:effectLst/>
        </p:spPr>
        <p:txBody>
          <a:bodyPr wrap="none" lIns="0" rIns="0" tIns="0" bIns="0" anchor="t">
            <a:spAutoFit/>
          </a:bodyPr>
          <a:lstStyle/>
          <a:p>
            <a:pPr algn="l">
              <a:lnSpc>
                <a:spcPct val="100000"/>
              </a:lnSpc>
              <a:spcBef>
                <a:spcPts val="0"/>
              </a:spcBef>
              <a:spcAft>
                <a:spcPts val="0"/>
              </a:spcAft>
            </a:pPr>
            <a:r>
              <a:rPr sz="1439" b="0" i="1" lang="en-US" spc="0">
                <a:solidFill>
                  <a:srgbClr val="181818"/>
                </a:solidFill>
                <a:latin typeface="Liberation Serif"/>
                <a:ea typeface="Liberation Serif"/>
                <a:effectLst/>
              </a:rPr>
              <a:t>F</a:t>
            </a:r>
          </a:p>
        </p:txBody>
      </p:sp>
      <p:sp>
        <p:nvSpPr>
          <p:cNvPr id="323" name="("/>
          <p:cNvSpPr txBox="1"/>
          <p:nvPr/>
        </p:nvSpPr>
        <p:spPr>
          <a:xfrm>
            <a:off x="3176682" y="6689568"/>
            <a:ext cx="148672" cy="234080"/>
          </a:xfrm>
          <a:prstGeom prst="rect">
            <a:avLst/>
          </a:prstGeom>
          <a:noFill/>
          <a:effectLst/>
        </p:spPr>
        <p:txBody>
          <a:bodyPr wrap="none" lIns="0" rIns="0" tIns="0" bIns="0" anchor="t">
            <a:spAutoFit/>
          </a:bodyPr>
          <a:lstStyle/>
          <a:p>
            <a:pPr algn="l">
              <a:lnSpc>
                <a:spcPct val="100000"/>
              </a:lnSpc>
              <a:spcBef>
                <a:spcPts val="0"/>
              </a:spcBef>
              <a:spcAft>
                <a:spcPts val="0"/>
              </a:spcAft>
            </a:pPr>
            <a:r>
              <a:rPr sz="1439" b="0" i="0" lang="en-US" spc="0">
                <a:solidFill>
                  <a:srgbClr val="181818"/>
                </a:solidFill>
                <a:latin typeface="Liberation Serif"/>
                <a:ea typeface="Liberation Serif"/>
                <a:effectLst/>
              </a:rPr>
              <a:t>(</a:t>
            </a:r>
          </a:p>
        </p:txBody>
      </p:sp>
      <p:sp>
        <p:nvSpPr>
          <p:cNvPr id="324" name="a"/>
          <p:cNvSpPr txBox="1"/>
          <p:nvPr/>
        </p:nvSpPr>
        <p:spPr>
          <a:xfrm>
            <a:off x="3237573" y="6689568"/>
            <a:ext cx="179218" cy="234080"/>
          </a:xfrm>
          <a:prstGeom prst="rect">
            <a:avLst/>
          </a:prstGeom>
          <a:noFill/>
          <a:effectLst/>
        </p:spPr>
        <p:txBody>
          <a:bodyPr wrap="none" lIns="0" rIns="0" tIns="0" bIns="0" anchor="t">
            <a:spAutoFit/>
          </a:bodyPr>
          <a:lstStyle/>
          <a:p>
            <a:pPr algn="l">
              <a:lnSpc>
                <a:spcPct val="100000"/>
              </a:lnSpc>
              <a:spcBef>
                <a:spcPts val="0"/>
              </a:spcBef>
              <a:spcAft>
                <a:spcPts val="0"/>
              </a:spcAft>
            </a:pPr>
            <a:r>
              <a:rPr sz="1439" b="0" i="1" lang="en-US" spc="0">
                <a:solidFill>
                  <a:srgbClr val="181818"/>
                </a:solidFill>
                <a:latin typeface="Liberation Serif"/>
                <a:ea typeface="Liberation Serif"/>
                <a:effectLst/>
              </a:rPr>
              <a:t>a</a:t>
            </a:r>
          </a:p>
        </p:txBody>
      </p:sp>
      <p:sp>
        <p:nvSpPr>
          <p:cNvPr id="325" name=" + "/>
          <p:cNvSpPr txBox="1"/>
          <p:nvPr/>
        </p:nvSpPr>
        <p:spPr>
          <a:xfrm>
            <a:off x="3329011" y="6689568"/>
            <a:ext cx="282342" cy="234080"/>
          </a:xfrm>
          <a:prstGeom prst="rect">
            <a:avLst/>
          </a:prstGeom>
          <a:noFill/>
          <a:effectLst/>
        </p:spPr>
        <p:txBody>
          <a:bodyPr wrap="none" lIns="0" rIns="0" tIns="0" bIns="0" anchor="t">
            <a:spAutoFit/>
          </a:bodyPr>
          <a:lstStyle/>
          <a:p>
            <a:pPr algn="l">
              <a:lnSpc>
                <a:spcPct val="100000"/>
              </a:lnSpc>
              <a:spcBef>
                <a:spcPts val="0"/>
              </a:spcBef>
              <a:spcAft>
                <a:spcPts val="0"/>
              </a:spcAft>
            </a:pPr>
            <a:r>
              <a:rPr sz="1439" b="0" i="0" lang="en-US" spc="0">
                <a:solidFill>
                  <a:srgbClr val="181818"/>
                </a:solidFill>
                <a:latin typeface="Liberation Serif"/>
                <a:ea typeface="Liberation Serif"/>
                <a:effectLst/>
              </a:rPr>
              <a:t> + </a:t>
            </a:r>
          </a:p>
        </p:txBody>
      </p:sp>
      <p:sp>
        <p:nvSpPr>
          <p:cNvPr id="326" name="r"/>
          <p:cNvSpPr txBox="1"/>
          <p:nvPr/>
        </p:nvSpPr>
        <p:spPr>
          <a:xfrm>
            <a:off x="3523573" y="6689568"/>
            <a:ext cx="158958" cy="234080"/>
          </a:xfrm>
          <a:prstGeom prst="rect">
            <a:avLst/>
          </a:prstGeom>
          <a:noFill/>
          <a:effectLst/>
        </p:spPr>
        <p:txBody>
          <a:bodyPr wrap="none" lIns="0" rIns="0" tIns="0" bIns="0" anchor="t">
            <a:spAutoFit/>
          </a:bodyPr>
          <a:lstStyle/>
          <a:p>
            <a:pPr algn="l">
              <a:lnSpc>
                <a:spcPct val="100000"/>
              </a:lnSpc>
              <a:spcBef>
                <a:spcPts val="0"/>
              </a:spcBef>
              <a:spcAft>
                <a:spcPts val="0"/>
              </a:spcAft>
            </a:pPr>
            <a:r>
              <a:rPr sz="1439" b="0" i="1" lang="en-US" spc="0">
                <a:solidFill>
                  <a:srgbClr val="181818"/>
                </a:solidFill>
                <a:latin typeface="Liberation Serif"/>
                <a:ea typeface="Liberation Serif"/>
                <a:effectLst/>
              </a:rPr>
              <a:t>r</a:t>
            </a:r>
          </a:p>
        </p:txBody>
      </p:sp>
      <p:sp>
        <p:nvSpPr>
          <p:cNvPr id="327" name=") − "/>
          <p:cNvSpPr txBox="1"/>
          <p:nvPr/>
        </p:nvSpPr>
        <p:spPr>
          <a:xfrm>
            <a:off x="3594751" y="6689568"/>
            <a:ext cx="343234" cy="234080"/>
          </a:xfrm>
          <a:prstGeom prst="rect">
            <a:avLst/>
          </a:prstGeom>
          <a:noFill/>
          <a:effectLst/>
        </p:spPr>
        <p:txBody>
          <a:bodyPr wrap="none" lIns="0" rIns="0" tIns="0" bIns="0" anchor="t">
            <a:spAutoFit/>
          </a:bodyPr>
          <a:lstStyle/>
          <a:p>
            <a:pPr algn="l">
              <a:lnSpc>
                <a:spcPct val="100000"/>
              </a:lnSpc>
              <a:spcBef>
                <a:spcPts val="0"/>
              </a:spcBef>
              <a:spcAft>
                <a:spcPts val="0"/>
              </a:spcAft>
            </a:pPr>
            <a:r>
              <a:rPr sz="1439" b="0" i="0" lang="en-US" spc="0">
                <a:solidFill>
                  <a:srgbClr val="181818"/>
                </a:solidFill>
                <a:latin typeface="Liberation Serif"/>
                <a:ea typeface="Liberation Serif"/>
                <a:effectLst/>
              </a:rPr>
              <a:t>) − </a:t>
            </a:r>
          </a:p>
        </p:txBody>
      </p:sp>
      <p:sp>
        <p:nvSpPr>
          <p:cNvPr id="328" name="F"/>
          <p:cNvSpPr txBox="1"/>
          <p:nvPr/>
        </p:nvSpPr>
        <p:spPr>
          <a:xfrm>
            <a:off x="3850205" y="6689568"/>
            <a:ext cx="199477" cy="234080"/>
          </a:xfrm>
          <a:prstGeom prst="rect">
            <a:avLst/>
          </a:prstGeom>
          <a:noFill/>
          <a:effectLst/>
        </p:spPr>
        <p:txBody>
          <a:bodyPr wrap="none" lIns="0" rIns="0" tIns="0" bIns="0" anchor="t">
            <a:spAutoFit/>
          </a:bodyPr>
          <a:lstStyle/>
          <a:p>
            <a:pPr algn="l">
              <a:lnSpc>
                <a:spcPct val="100000"/>
              </a:lnSpc>
              <a:spcBef>
                <a:spcPts val="0"/>
              </a:spcBef>
              <a:spcAft>
                <a:spcPts val="0"/>
              </a:spcAft>
            </a:pPr>
            <a:r>
              <a:rPr sz="1439" b="0" i="1" lang="en-US" spc="0">
                <a:solidFill>
                  <a:srgbClr val="181818"/>
                </a:solidFill>
                <a:latin typeface="Liberation Serif"/>
                <a:ea typeface="Liberation Serif"/>
                <a:effectLst/>
              </a:rPr>
              <a:t>F</a:t>
            </a:r>
          </a:p>
        </p:txBody>
      </p:sp>
      <p:sp>
        <p:nvSpPr>
          <p:cNvPr id="329" name="("/>
          <p:cNvSpPr txBox="1"/>
          <p:nvPr/>
        </p:nvSpPr>
        <p:spPr>
          <a:xfrm>
            <a:off x="3961901" y="6689568"/>
            <a:ext cx="148672" cy="234080"/>
          </a:xfrm>
          <a:prstGeom prst="rect">
            <a:avLst/>
          </a:prstGeom>
          <a:noFill/>
          <a:effectLst/>
        </p:spPr>
        <p:txBody>
          <a:bodyPr wrap="none" lIns="0" rIns="0" tIns="0" bIns="0" anchor="t">
            <a:spAutoFit/>
          </a:bodyPr>
          <a:lstStyle/>
          <a:p>
            <a:pPr algn="l">
              <a:lnSpc>
                <a:spcPct val="100000"/>
              </a:lnSpc>
              <a:spcBef>
                <a:spcPts val="0"/>
              </a:spcBef>
              <a:spcAft>
                <a:spcPts val="0"/>
              </a:spcAft>
            </a:pPr>
            <a:r>
              <a:rPr sz="1439" b="0" i="0" lang="en-US" spc="0">
                <a:solidFill>
                  <a:srgbClr val="181818"/>
                </a:solidFill>
                <a:latin typeface="Liberation Serif"/>
                <a:ea typeface="Liberation Serif"/>
                <a:effectLst/>
              </a:rPr>
              <a:t>(</a:t>
            </a:r>
          </a:p>
        </p:txBody>
      </p:sp>
      <p:sp>
        <p:nvSpPr>
          <p:cNvPr id="330" name="a"/>
          <p:cNvSpPr txBox="1"/>
          <p:nvPr/>
        </p:nvSpPr>
        <p:spPr>
          <a:xfrm>
            <a:off x="4022793" y="6689568"/>
            <a:ext cx="179218" cy="234080"/>
          </a:xfrm>
          <a:prstGeom prst="rect">
            <a:avLst/>
          </a:prstGeom>
          <a:noFill/>
          <a:effectLst/>
        </p:spPr>
        <p:txBody>
          <a:bodyPr wrap="none" lIns="0" rIns="0" tIns="0" bIns="0" anchor="t">
            <a:spAutoFit/>
          </a:bodyPr>
          <a:lstStyle/>
          <a:p>
            <a:pPr algn="l">
              <a:lnSpc>
                <a:spcPct val="100000"/>
              </a:lnSpc>
              <a:spcBef>
                <a:spcPts val="0"/>
              </a:spcBef>
              <a:spcAft>
                <a:spcPts val="0"/>
              </a:spcAft>
            </a:pPr>
            <a:r>
              <a:rPr sz="1439" b="0" i="1" lang="en-US" spc="0">
                <a:solidFill>
                  <a:srgbClr val="181818"/>
                </a:solidFill>
                <a:latin typeface="Liberation Serif"/>
                <a:ea typeface="Liberation Serif"/>
                <a:effectLst/>
              </a:rPr>
              <a:t>a</a:t>
            </a:r>
          </a:p>
        </p:txBody>
      </p:sp>
      <p:sp>
        <p:nvSpPr>
          <p:cNvPr id="331" name=")"/>
          <p:cNvSpPr txBox="1"/>
          <p:nvPr/>
        </p:nvSpPr>
        <p:spPr>
          <a:xfrm>
            <a:off x="4114230" y="6689568"/>
            <a:ext cx="148672" cy="234080"/>
          </a:xfrm>
          <a:prstGeom prst="rect">
            <a:avLst/>
          </a:prstGeom>
          <a:noFill/>
          <a:effectLst/>
        </p:spPr>
        <p:txBody>
          <a:bodyPr wrap="none" lIns="0" rIns="0" tIns="0" bIns="0" anchor="t">
            <a:spAutoFit/>
          </a:bodyPr>
          <a:lstStyle/>
          <a:p>
            <a:pPr algn="l">
              <a:lnSpc>
                <a:spcPct val="100000"/>
              </a:lnSpc>
              <a:spcBef>
                <a:spcPts val="0"/>
              </a:spcBef>
              <a:spcAft>
                <a:spcPts val="0"/>
              </a:spcAft>
            </a:pPr>
            <a:r>
              <a:rPr sz="1439" b="0" i="0" lang="en-US" spc="0">
                <a:solidFill>
                  <a:srgbClr val="181818"/>
                </a:solidFill>
                <a:latin typeface="Liberation Serif"/>
                <a:ea typeface="Liberation Serif"/>
                <a:effectLst/>
              </a:rPr>
              <a:t>)</a:t>
            </a:r>
          </a:p>
        </p:txBody>
      </p:sp>
      <p:cxnSp>
        <p:nvCxnSpPr>
          <p:cNvPr id="332" name="line 331"/>
          <p:cNvCxnSpPr/>
          <p:nvPr/>
        </p:nvCxnSpPr>
        <p:spPr>
          <a:xfrm>
            <a:off x="2991835" y="6919990"/>
            <a:ext cx="1256437" cy="0"/>
          </a:xfrm>
          <a:prstGeom prst="line">
            <a:avLst/>
          </a:prstGeom>
          <a:ln w="13167">
            <a:solidFill>
              <a:srgbClr val="181818"/>
            </a:solidFill>
          </a:ln>
          <a:effectLst/>
        </p:spPr>
        <p:style>
          <a:lnRef idx="2">
            <a:schemeClr val="accent1"/>
          </a:lnRef>
          <a:fillRef idx="0">
            <a:schemeClr val="accent1"/>
          </a:fillRef>
          <a:effectRef idx="0">
            <a:schemeClr val="accent1"/>
          </a:effectRef>
          <a:fontRef idx="minor">
            <a:schemeClr val="tx1"/>
          </a:fontRef>
        </p:style>
      </p:cxnSp>
      <p:sp>
        <p:nvSpPr>
          <p:cNvPr id="333" name="1 − "/>
          <p:cNvSpPr txBox="1"/>
          <p:nvPr/>
        </p:nvSpPr>
        <p:spPr>
          <a:xfrm>
            <a:off x="3314595" y="6960222"/>
            <a:ext cx="373779" cy="234080"/>
          </a:xfrm>
          <a:prstGeom prst="rect">
            <a:avLst/>
          </a:prstGeom>
          <a:noFill/>
          <a:effectLst/>
        </p:spPr>
        <p:txBody>
          <a:bodyPr wrap="none" lIns="0" rIns="0" tIns="0" bIns="0" anchor="t">
            <a:spAutoFit/>
          </a:bodyPr>
          <a:lstStyle/>
          <a:p>
            <a:pPr algn="l">
              <a:lnSpc>
                <a:spcPct val="100000"/>
              </a:lnSpc>
              <a:spcBef>
                <a:spcPts val="0"/>
              </a:spcBef>
              <a:spcAft>
                <a:spcPts val="0"/>
              </a:spcAft>
            </a:pPr>
            <a:r>
              <a:rPr sz="1439" b="0" i="0" lang="en-US" spc="0">
                <a:solidFill>
                  <a:srgbClr val="181818"/>
                </a:solidFill>
                <a:latin typeface="Liberation Serif"/>
                <a:ea typeface="Liberation Serif"/>
                <a:effectLst/>
              </a:rPr>
              <a:t>1 − </a:t>
            </a:r>
          </a:p>
        </p:txBody>
      </p:sp>
      <p:sp>
        <p:nvSpPr>
          <p:cNvPr id="334" name="F"/>
          <p:cNvSpPr txBox="1"/>
          <p:nvPr/>
        </p:nvSpPr>
        <p:spPr>
          <a:xfrm>
            <a:off x="3600594" y="6960222"/>
            <a:ext cx="199477" cy="234080"/>
          </a:xfrm>
          <a:prstGeom prst="rect">
            <a:avLst/>
          </a:prstGeom>
          <a:noFill/>
          <a:effectLst/>
        </p:spPr>
        <p:txBody>
          <a:bodyPr wrap="none" lIns="0" rIns="0" tIns="0" bIns="0" anchor="t">
            <a:spAutoFit/>
          </a:bodyPr>
          <a:lstStyle/>
          <a:p>
            <a:pPr algn="l">
              <a:lnSpc>
                <a:spcPct val="100000"/>
              </a:lnSpc>
              <a:spcBef>
                <a:spcPts val="0"/>
              </a:spcBef>
              <a:spcAft>
                <a:spcPts val="0"/>
              </a:spcAft>
            </a:pPr>
            <a:r>
              <a:rPr sz="1439" b="0" i="1" lang="en-US" spc="0">
                <a:solidFill>
                  <a:srgbClr val="181818"/>
                </a:solidFill>
                <a:latin typeface="Liberation Serif"/>
                <a:ea typeface="Liberation Serif"/>
                <a:effectLst/>
              </a:rPr>
              <a:t>F</a:t>
            </a:r>
          </a:p>
        </p:txBody>
      </p:sp>
      <p:sp>
        <p:nvSpPr>
          <p:cNvPr id="335" name="("/>
          <p:cNvSpPr txBox="1"/>
          <p:nvPr/>
        </p:nvSpPr>
        <p:spPr>
          <a:xfrm>
            <a:off x="3712291" y="6960222"/>
            <a:ext cx="148672" cy="234080"/>
          </a:xfrm>
          <a:prstGeom prst="rect">
            <a:avLst/>
          </a:prstGeom>
          <a:noFill/>
          <a:effectLst/>
        </p:spPr>
        <p:txBody>
          <a:bodyPr wrap="none" lIns="0" rIns="0" tIns="0" bIns="0" anchor="t">
            <a:spAutoFit/>
          </a:bodyPr>
          <a:lstStyle/>
          <a:p>
            <a:pPr algn="l">
              <a:lnSpc>
                <a:spcPct val="100000"/>
              </a:lnSpc>
              <a:spcBef>
                <a:spcPts val="0"/>
              </a:spcBef>
              <a:spcAft>
                <a:spcPts val="0"/>
              </a:spcAft>
            </a:pPr>
            <a:r>
              <a:rPr sz="1439" b="0" i="0" lang="en-US" spc="0">
                <a:solidFill>
                  <a:srgbClr val="181818"/>
                </a:solidFill>
                <a:latin typeface="Liberation Serif"/>
                <a:ea typeface="Liberation Serif"/>
                <a:effectLst/>
              </a:rPr>
              <a:t>(</a:t>
            </a:r>
          </a:p>
        </p:txBody>
      </p:sp>
      <p:sp>
        <p:nvSpPr>
          <p:cNvPr id="336" name="a"/>
          <p:cNvSpPr txBox="1"/>
          <p:nvPr/>
        </p:nvSpPr>
        <p:spPr>
          <a:xfrm>
            <a:off x="3773183" y="6960222"/>
            <a:ext cx="179218" cy="234080"/>
          </a:xfrm>
          <a:prstGeom prst="rect">
            <a:avLst/>
          </a:prstGeom>
          <a:noFill/>
          <a:effectLst/>
        </p:spPr>
        <p:txBody>
          <a:bodyPr wrap="none" lIns="0" rIns="0" tIns="0" bIns="0" anchor="t">
            <a:spAutoFit/>
          </a:bodyPr>
          <a:lstStyle/>
          <a:p>
            <a:pPr algn="l">
              <a:lnSpc>
                <a:spcPct val="100000"/>
              </a:lnSpc>
              <a:spcBef>
                <a:spcPts val="0"/>
              </a:spcBef>
              <a:spcAft>
                <a:spcPts val="0"/>
              </a:spcAft>
            </a:pPr>
            <a:r>
              <a:rPr sz="1439" b="0" i="1" lang="en-US" spc="0">
                <a:solidFill>
                  <a:srgbClr val="181818"/>
                </a:solidFill>
                <a:latin typeface="Liberation Serif"/>
                <a:ea typeface="Liberation Serif"/>
                <a:effectLst/>
              </a:rPr>
              <a:t>a</a:t>
            </a:r>
          </a:p>
        </p:txBody>
      </p:sp>
      <p:sp>
        <p:nvSpPr>
          <p:cNvPr id="337" name=")"/>
          <p:cNvSpPr txBox="1"/>
          <p:nvPr/>
        </p:nvSpPr>
        <p:spPr>
          <a:xfrm>
            <a:off x="3864620" y="6960222"/>
            <a:ext cx="148672" cy="234080"/>
          </a:xfrm>
          <a:prstGeom prst="rect">
            <a:avLst/>
          </a:prstGeom>
          <a:noFill/>
          <a:effectLst/>
        </p:spPr>
        <p:txBody>
          <a:bodyPr wrap="none" lIns="0" rIns="0" tIns="0" bIns="0" anchor="t">
            <a:spAutoFit/>
          </a:bodyPr>
          <a:lstStyle/>
          <a:p>
            <a:pPr algn="l">
              <a:lnSpc>
                <a:spcPct val="100000"/>
              </a:lnSpc>
              <a:spcBef>
                <a:spcPts val="0"/>
              </a:spcBef>
              <a:spcAft>
                <a:spcPts val="0"/>
              </a:spcAft>
            </a:pPr>
            <a:r>
              <a:rPr sz="1439" b="0" i="0" lang="en-US" spc="0">
                <a:solidFill>
                  <a:srgbClr val="181818"/>
                </a:solidFill>
                <a:latin typeface="Liberation Serif"/>
                <a:ea typeface="Liberation Serif"/>
                <a:effectLst/>
              </a:rPr>
              <a:t>)</a:t>
            </a:r>
          </a:p>
        </p:txBody>
      </p:sp>
      <p:cxnSp>
        <p:nvCxnSpPr>
          <p:cNvPr id="338" name="path 337"/>
          <p:cNvCxnSpPr/>
          <p:nvPr/>
        </p:nvCxnSpPr>
        <p:spPr>
          <a:xfrm>
            <a:off x="4557245" y="6919990"/>
            <a:ext cx="526680" cy="0"/>
          </a:xfrm>
          <a:prstGeom prst="line">
            <a:avLst/>
          </a:prstGeom>
          <a:ln w="14630">
            <a:solidFill>
              <a:srgbClr val="BF3335"/>
            </a:solidFill>
          </a:ln>
          <a:effectLst/>
        </p:spPr>
        <p:style>
          <a:lnRef idx="2">
            <a:schemeClr val="accent1"/>
          </a:lnRef>
          <a:fillRef idx="0">
            <a:schemeClr val="accent1"/>
          </a:fillRef>
          <a:effectRef idx="0">
            <a:schemeClr val="accent1"/>
          </a:effectRef>
          <a:fontRef idx="minor">
            <a:schemeClr val="tx1"/>
          </a:fontRef>
        </p:style>
      </p:cxnSp>
      <p:sp>
        <p:nvSpPr>
          <p:cNvPr id="339" name="arrowhead 338"/>
          <p:cNvSpPr/>
          <p:nvPr/>
        </p:nvSpPr>
        <p:spPr>
          <a:xfrm>
            <a:off x="4996145" y="6868785"/>
            <a:ext cx="102410" cy="102410"/>
          </a:xfrm>
          <a:custGeom>
            <a:avLst/>
            <a:gdLst/>
            <a:ahLst/>
            <a:cxnLst/>
            <a:rect l="l" t="t" r="r" b="b"/>
            <a:pathLst>
              <a:path w="14" h="14">
                <a:moveTo>
                  <a:pt x="14" y="7"/>
                </a:moveTo>
                <a:lnTo>
                  <a:pt x="0" y="14"/>
                </a:lnTo>
                <a:lnTo>
                  <a:pt x="0" y="0"/>
                </a:lnTo>
                <a:close/>
              </a:path>
            </a:pathLst>
          </a:custGeom>
          <a:solidFill>
            <a:srgbClr val="BF333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0" name="τ"/>
          <p:cNvSpPr txBox="1"/>
          <p:nvPr/>
        </p:nvSpPr>
        <p:spPr>
          <a:xfrm>
            <a:off x="5406757" y="6782834"/>
            <a:ext cx="171560" cy="290771"/>
          </a:xfrm>
          <a:prstGeom prst="rect">
            <a:avLst/>
          </a:prstGeom>
          <a:noFill/>
          <a:effectLst/>
        </p:spPr>
        <p:txBody>
          <a:bodyPr wrap="none" lIns="0" rIns="0" tIns="0" bIns="0" anchor="t">
            <a:spAutoFit/>
          </a:bodyPr>
          <a:lstStyle/>
          <a:p>
            <a:pPr algn="l">
              <a:lnSpc>
                <a:spcPct val="100000"/>
              </a:lnSpc>
              <a:spcBef>
                <a:spcPts val="0"/>
              </a:spcBef>
              <a:spcAft>
                <a:spcPts val="0"/>
              </a:spcAft>
            </a:pPr>
            <a:r>
              <a:rPr sz="1843" b="0" i="1" lang="en-US" spc="0">
                <a:solidFill>
                  <a:srgbClr val="181818"/>
                </a:solidFill>
                <a:latin typeface="Liberation Serif"/>
                <a:ea typeface="Liberation Serif"/>
                <a:effectLst/>
              </a:rPr>
              <a:t>τ</a:t>
            </a:r>
          </a:p>
        </p:txBody>
      </p:sp>
      <p:sp>
        <p:nvSpPr>
          <p:cNvPr id="341" name="tool"/>
          <p:cNvSpPr txBox="1"/>
          <p:nvPr/>
        </p:nvSpPr>
        <p:spPr>
          <a:xfrm>
            <a:off x="5497851" y="6916332"/>
            <a:ext cx="323917" cy="197505"/>
          </a:xfrm>
          <a:prstGeom prst="rect">
            <a:avLst/>
          </a:prstGeom>
          <a:noFill/>
          <a:effectLst/>
        </p:spPr>
        <p:txBody>
          <a:bodyPr wrap="none" lIns="0" rIns="0" tIns="0" bIns="0" anchor="t">
            <a:spAutoFit/>
          </a:bodyPr>
          <a:lstStyle/>
          <a:p>
            <a:pPr algn="l">
              <a:lnSpc>
                <a:spcPct val="100000"/>
              </a:lnSpc>
              <a:spcBef>
                <a:spcPts val="0"/>
              </a:spcBef>
              <a:spcAft>
                <a:spcPts val="0"/>
              </a:spcAft>
            </a:pPr>
            <a:r>
              <a:rPr sz="1198" b="0" i="0" lang="en-US" spc="0">
                <a:solidFill>
                  <a:srgbClr val="181818"/>
                </a:solidFill>
                <a:latin typeface="Liberation Serif"/>
                <a:ea typeface="Liberation Serif"/>
                <a:effectLst/>
              </a:rPr>
              <a:t>tool</a:t>
            </a:r>
          </a:p>
        </p:txBody>
      </p:sp>
      <p:sp>
        <p:nvSpPr>
          <p:cNvPr id="342" name="rect 341"/>
          <p:cNvSpPr/>
          <p:nvPr/>
        </p:nvSpPr>
        <p:spPr>
          <a:xfrm>
            <a:off x="6539610" y="5208280"/>
            <a:ext cx="6393310" cy="1996995"/>
          </a:xfrm>
          <a:prstGeom prst="roundRect">
            <a:avLst>
              <a:gd name="adj" fmla="val 732"/>
            </a:avLst>
          </a:prstGeom>
          <a:solidFill>
            <a:srgbClr val="EEEEEE"/>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3" name="rect 342"/>
          <p:cNvSpPr/>
          <p:nvPr/>
        </p:nvSpPr>
        <p:spPr>
          <a:xfrm>
            <a:off x="6539610" y="5208280"/>
            <a:ext cx="6393310" cy="277970"/>
          </a:xfrm>
          <a:prstGeom prst="roundRect">
            <a:avLst>
              <a:gd name="adj" fmla="val 5263"/>
            </a:avLst>
          </a:prstGeom>
          <a:solidFill>
            <a:srgbClr val="9DC38B"/>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4" name="(d) Runtime: cost, timing and physical checks"/>
          <p:cNvSpPr txBox="1"/>
          <p:nvPr/>
        </p:nvSpPr>
        <p:spPr>
          <a:xfrm>
            <a:off x="6642020" y="5231030"/>
            <a:ext cx="4992402" cy="252368"/>
          </a:xfrm>
          <a:prstGeom prst="rect">
            <a:avLst/>
          </a:prstGeom>
          <a:noFill/>
          <a:effectLst/>
        </p:spPr>
        <p:txBody>
          <a:bodyPr wrap="none" lIns="0" rIns="0" tIns="0" bIns="0" anchor="t">
            <a:spAutoFit/>
          </a:bodyPr>
          <a:lstStyle/>
          <a:p>
            <a:pPr algn="l">
              <a:lnSpc>
                <a:spcPct val="100000"/>
              </a:lnSpc>
              <a:spcBef>
                <a:spcPts val="0"/>
              </a:spcBef>
              <a:spcAft>
                <a:spcPts val="0"/>
              </a:spcAft>
            </a:pPr>
            <a:r>
              <a:rPr sz="1497" b="1" i="0" lang="en-US" spc="0">
                <a:solidFill>
                  <a:srgbClr val="181818"/>
                </a:solidFill>
                <a:latin typeface="DejaVu Sans"/>
                <a:ea typeface="DejaVu Sans"/>
                <a:effectLst/>
              </a:rPr>
              <a:t>(d) Runtime: cost, timing and physical checks</a:t>
            </a:r>
          </a:p>
        </p:txBody>
      </p:sp>
      <p:sp>
        <p:nvSpPr>
          <p:cNvPr id="345" name="rect 344"/>
          <p:cNvSpPr/>
          <p:nvPr/>
        </p:nvSpPr>
        <p:spPr>
          <a:xfrm>
            <a:off x="6685910" y="5625235"/>
            <a:ext cx="753445" cy="212135"/>
          </a:xfrm>
          <a:prstGeom prst="rect">
            <a:avLst/>
          </a:prstGeom>
          <a:solidFill>
            <a:srgbClr val="A9CEE8"/>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6" name="dir"/>
          <p:cNvSpPr txBox="1"/>
          <p:nvPr/>
        </p:nvSpPr>
        <p:spPr>
          <a:xfrm>
            <a:off x="6744430" y="5633208"/>
            <a:ext cx="326146" cy="208478"/>
          </a:xfrm>
          <a:prstGeom prst="rect">
            <a:avLst/>
          </a:prstGeom>
          <a:noFill/>
          <a:effectLst/>
        </p:spPr>
        <p:txBody>
          <a:bodyPr wrap="none" lIns="0" rIns="0" tIns="0" bIns="0" anchor="t">
            <a:spAutoFit/>
          </a:bodyPr>
          <a:lstStyle/>
          <a:p>
            <a:pPr algn="l">
              <a:lnSpc>
                <a:spcPct val="100000"/>
              </a:lnSpc>
              <a:spcBef>
                <a:spcPts val="0"/>
              </a:spcBef>
              <a:spcAft>
                <a:spcPts val="0"/>
              </a:spcAft>
            </a:pPr>
            <a:r>
              <a:rPr sz="1209" b="1" i="0" lang="en-US" spc="0">
                <a:solidFill>
                  <a:srgbClr val="181818"/>
                </a:solidFill>
                <a:latin typeface="DejaVu Sans"/>
                <a:ea typeface="DejaVu Sans"/>
                <a:effectLst/>
              </a:rPr>
              <a:t>dir</a:t>
            </a:r>
          </a:p>
        </p:txBody>
      </p:sp>
      <p:sp>
        <p:nvSpPr>
          <p:cNvPr id="347" name="rect 346"/>
          <p:cNvSpPr/>
          <p:nvPr/>
        </p:nvSpPr>
        <p:spPr>
          <a:xfrm>
            <a:off x="7439355" y="5625235"/>
            <a:ext cx="921690" cy="212135"/>
          </a:xfrm>
          <a:prstGeom prst="rect">
            <a:avLst/>
          </a:prstGeom>
          <a:solidFill>
            <a:srgbClr val="A9CEE8"/>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8" name="shape"/>
          <p:cNvSpPr txBox="1"/>
          <p:nvPr/>
        </p:nvSpPr>
        <p:spPr>
          <a:xfrm>
            <a:off x="7497875" y="5633208"/>
            <a:ext cx="606373" cy="208478"/>
          </a:xfrm>
          <a:prstGeom prst="rect">
            <a:avLst/>
          </a:prstGeom>
          <a:noFill/>
          <a:effectLst/>
        </p:spPr>
        <p:txBody>
          <a:bodyPr wrap="none" lIns="0" rIns="0" tIns="0" bIns="0" anchor="t">
            <a:spAutoFit/>
          </a:bodyPr>
          <a:lstStyle/>
          <a:p>
            <a:pPr algn="l">
              <a:lnSpc>
                <a:spcPct val="100000"/>
              </a:lnSpc>
              <a:spcBef>
                <a:spcPts val="0"/>
              </a:spcBef>
              <a:spcAft>
                <a:spcPts val="0"/>
              </a:spcAft>
            </a:pPr>
            <a:r>
              <a:rPr sz="1209" b="1" i="0" lang="en-US" spc="0">
                <a:solidFill>
                  <a:srgbClr val="181818"/>
                </a:solidFill>
                <a:latin typeface="DejaVu Sans"/>
                <a:ea typeface="DejaVu Sans"/>
                <a:effectLst/>
              </a:rPr>
              <a:t>shape</a:t>
            </a:r>
          </a:p>
        </p:txBody>
      </p:sp>
      <p:sp>
        <p:nvSpPr>
          <p:cNvPr id="349" name="rect 348"/>
          <p:cNvSpPr/>
          <p:nvPr/>
        </p:nvSpPr>
        <p:spPr>
          <a:xfrm>
            <a:off x="8361045" y="5625235"/>
            <a:ext cx="1016785" cy="212135"/>
          </a:xfrm>
          <a:prstGeom prst="rect">
            <a:avLst/>
          </a:prstGeom>
          <a:solidFill>
            <a:srgbClr val="A9CEE8"/>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0" name="bytes"/>
          <p:cNvSpPr txBox="1"/>
          <p:nvPr/>
        </p:nvSpPr>
        <p:spPr>
          <a:xfrm>
            <a:off x="8419565" y="5633208"/>
            <a:ext cx="566912" cy="208478"/>
          </a:xfrm>
          <a:prstGeom prst="rect">
            <a:avLst/>
          </a:prstGeom>
          <a:noFill/>
          <a:effectLst/>
        </p:spPr>
        <p:txBody>
          <a:bodyPr wrap="none" lIns="0" rIns="0" tIns="0" bIns="0" anchor="t">
            <a:spAutoFit/>
          </a:bodyPr>
          <a:lstStyle/>
          <a:p>
            <a:pPr algn="l">
              <a:lnSpc>
                <a:spcPct val="100000"/>
              </a:lnSpc>
              <a:spcBef>
                <a:spcPts val="0"/>
              </a:spcBef>
              <a:spcAft>
                <a:spcPts val="0"/>
              </a:spcAft>
            </a:pPr>
            <a:r>
              <a:rPr sz="1209" b="1" i="0" lang="en-US" spc="0">
                <a:solidFill>
                  <a:srgbClr val="181818"/>
                </a:solidFill>
                <a:latin typeface="DejaVu Sans"/>
                <a:ea typeface="DejaVu Sans"/>
                <a:effectLst/>
              </a:rPr>
              <a:t>bytes</a:t>
            </a:r>
          </a:p>
        </p:txBody>
      </p:sp>
      <p:sp>
        <p:nvSpPr>
          <p:cNvPr id="351" name="rect 350"/>
          <p:cNvSpPr/>
          <p:nvPr/>
        </p:nvSpPr>
        <p:spPr>
          <a:xfrm>
            <a:off x="6685910" y="5837370"/>
            <a:ext cx="753445" cy="212135"/>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2" name="H2D"/>
          <p:cNvSpPr txBox="1"/>
          <p:nvPr/>
        </p:nvSpPr>
        <p:spPr>
          <a:xfrm>
            <a:off x="6744430" y="5845343"/>
            <a:ext cx="419327" cy="208478"/>
          </a:xfrm>
          <a:prstGeom prst="rect">
            <a:avLst/>
          </a:prstGeom>
          <a:noFill/>
          <a:effectLst/>
        </p:spPr>
        <p:txBody>
          <a:bodyPr wrap="none" lIns="0" rIns="0" tIns="0" bIns="0" anchor="t">
            <a:spAutoFit/>
          </a:bodyPr>
          <a:lstStyle/>
          <a:p>
            <a:pPr algn="l">
              <a:lnSpc>
                <a:spcPct val="100000"/>
              </a:lnSpc>
              <a:spcBef>
                <a:spcPts val="0"/>
              </a:spcBef>
              <a:spcAft>
                <a:spcPts val="0"/>
              </a:spcAft>
            </a:pPr>
            <a:r>
              <a:rPr sz="1209" b="0" i="0" lang="en-US" spc="0">
                <a:solidFill>
                  <a:srgbClr val="181818"/>
                </a:solidFill>
                <a:latin typeface="DejaVu Sans"/>
                <a:ea typeface="DejaVu Sans"/>
                <a:effectLst/>
              </a:rPr>
              <a:t>H2D</a:t>
            </a:r>
          </a:p>
        </p:txBody>
      </p:sp>
      <p:sp>
        <p:nvSpPr>
          <p:cNvPr id="353" name="rect 352"/>
          <p:cNvSpPr/>
          <p:nvPr/>
        </p:nvSpPr>
        <p:spPr>
          <a:xfrm>
            <a:off x="7439355" y="5837370"/>
            <a:ext cx="921690" cy="212135"/>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4" name="extents"/>
          <p:cNvSpPr txBox="1"/>
          <p:nvPr/>
        </p:nvSpPr>
        <p:spPr>
          <a:xfrm>
            <a:off x="7497875" y="5845343"/>
            <a:ext cx="662922" cy="208478"/>
          </a:xfrm>
          <a:prstGeom prst="rect">
            <a:avLst/>
          </a:prstGeom>
          <a:noFill/>
          <a:effectLst/>
        </p:spPr>
        <p:txBody>
          <a:bodyPr wrap="none" lIns="0" rIns="0" tIns="0" bIns="0" anchor="t">
            <a:spAutoFit/>
          </a:bodyPr>
          <a:lstStyle/>
          <a:p>
            <a:pPr algn="l">
              <a:lnSpc>
                <a:spcPct val="100000"/>
              </a:lnSpc>
              <a:spcBef>
                <a:spcPts val="0"/>
              </a:spcBef>
              <a:spcAft>
                <a:spcPts val="0"/>
              </a:spcAft>
            </a:pPr>
            <a:r>
              <a:rPr sz="1209" b="0" i="0" lang="en-US" spc="0">
                <a:solidFill>
                  <a:srgbClr val="181818"/>
                </a:solidFill>
                <a:latin typeface="DejaVu Sans"/>
                <a:ea typeface="DejaVu Sans"/>
                <a:effectLst/>
              </a:rPr>
              <a:t>extents</a:t>
            </a:r>
          </a:p>
        </p:txBody>
      </p:sp>
      <p:sp>
        <p:nvSpPr>
          <p:cNvPr id="355" name="rect 354"/>
          <p:cNvSpPr/>
          <p:nvPr/>
        </p:nvSpPr>
        <p:spPr>
          <a:xfrm>
            <a:off x="8361045" y="5837370"/>
            <a:ext cx="1016785" cy="212135"/>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6" name="B"/>
          <p:cNvSpPr txBox="1"/>
          <p:nvPr/>
        </p:nvSpPr>
        <p:spPr>
          <a:xfrm>
            <a:off x="8419565" y="5845343"/>
            <a:ext cx="193162" cy="208478"/>
          </a:xfrm>
          <a:prstGeom prst="rect">
            <a:avLst/>
          </a:prstGeom>
          <a:noFill/>
          <a:effectLst/>
        </p:spPr>
        <p:txBody>
          <a:bodyPr wrap="none" lIns="0" rIns="0" tIns="0" bIns="0" anchor="t">
            <a:spAutoFit/>
          </a:bodyPr>
          <a:lstStyle/>
          <a:p>
            <a:pPr algn="l">
              <a:lnSpc>
                <a:spcPct val="100000"/>
              </a:lnSpc>
              <a:spcBef>
                <a:spcPts val="0"/>
              </a:spcBef>
              <a:spcAft>
                <a:spcPts val="0"/>
              </a:spcAft>
            </a:pPr>
            <a:r>
              <a:rPr sz="1209" b="0" i="0" lang="en-US" spc="0">
                <a:solidFill>
                  <a:srgbClr val="181818"/>
                </a:solidFill>
                <a:latin typeface="DejaVu Sans"/>
                <a:ea typeface="DejaVu Sans"/>
                <a:effectLst/>
              </a:rPr>
              <a:t>B</a:t>
            </a:r>
          </a:p>
        </p:txBody>
      </p:sp>
      <p:sp>
        <p:nvSpPr>
          <p:cNvPr id="357" name="submit → ACK"/>
          <p:cNvSpPr txBox="1"/>
          <p:nvPr/>
        </p:nvSpPr>
        <p:spPr>
          <a:xfrm>
            <a:off x="9655800" y="5621578"/>
            <a:ext cx="1152055" cy="208478"/>
          </a:xfrm>
          <a:prstGeom prst="rect">
            <a:avLst/>
          </a:prstGeom>
          <a:noFill/>
          <a:effectLst/>
        </p:spPr>
        <p:txBody>
          <a:bodyPr wrap="none" lIns="0" rIns="0" tIns="0" bIns="0" anchor="t">
            <a:spAutoFit/>
          </a:bodyPr>
          <a:lstStyle/>
          <a:p>
            <a:pPr algn="l">
              <a:lnSpc>
                <a:spcPct val="100000"/>
              </a:lnSpc>
              <a:spcBef>
                <a:spcPts val="0"/>
              </a:spcBef>
              <a:spcAft>
                <a:spcPts val="0"/>
              </a:spcAft>
            </a:pPr>
            <a:r>
              <a:rPr sz="1209" b="0" i="0" lang="en-US" spc="0">
                <a:solidFill>
                  <a:srgbClr val="181818"/>
                </a:solidFill>
                <a:latin typeface="DejaVu Sans"/>
                <a:ea typeface="DejaVu Sans"/>
                <a:effectLst/>
              </a:rPr>
              <a:t>submit → ACK</a:t>
            </a:r>
          </a:p>
        </p:txBody>
      </p:sp>
      <p:sp>
        <p:nvSpPr>
          <p:cNvPr id="358" name="enqueue → submit"/>
          <p:cNvSpPr txBox="1"/>
          <p:nvPr/>
        </p:nvSpPr>
        <p:spPr>
          <a:xfrm>
            <a:off x="11206580" y="5621578"/>
            <a:ext cx="1514805" cy="208478"/>
          </a:xfrm>
          <a:prstGeom prst="rect">
            <a:avLst/>
          </a:prstGeom>
          <a:noFill/>
          <a:effectLst/>
        </p:spPr>
        <p:txBody>
          <a:bodyPr wrap="none" lIns="0" rIns="0" tIns="0" bIns="0" anchor="t">
            <a:spAutoFit/>
          </a:bodyPr>
          <a:lstStyle/>
          <a:p>
            <a:pPr algn="l">
              <a:lnSpc>
                <a:spcPct val="100000"/>
              </a:lnSpc>
              <a:spcBef>
                <a:spcPts val="0"/>
              </a:spcBef>
              <a:spcAft>
                <a:spcPts val="0"/>
              </a:spcAft>
            </a:pPr>
            <a:r>
              <a:rPr sz="1209" b="0" i="0" lang="en-US" spc="0">
                <a:solidFill>
                  <a:srgbClr val="181818"/>
                </a:solidFill>
                <a:latin typeface="DejaVu Sans"/>
                <a:ea typeface="DejaVu Sans"/>
                <a:effectLst/>
              </a:rPr>
              <a:t>enqueue → submit</a:t>
            </a:r>
          </a:p>
        </p:txBody>
      </p:sp>
      <p:sp>
        <p:nvSpPr>
          <p:cNvPr id="359" name="rect 358"/>
          <p:cNvSpPr/>
          <p:nvPr/>
        </p:nvSpPr>
        <p:spPr>
          <a:xfrm>
            <a:off x="9692375" y="6049505"/>
            <a:ext cx="124355" cy="102410"/>
          </a:xfrm>
          <a:prstGeom prst="rect">
            <a:avLst/>
          </a:prstGeom>
          <a:solidFill>
            <a:srgbClr val="A9CEE8"/>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0" name="rect 359"/>
          <p:cNvSpPr/>
          <p:nvPr/>
        </p:nvSpPr>
        <p:spPr>
          <a:xfrm>
            <a:off x="11301675" y="6080228"/>
            <a:ext cx="124355" cy="71687"/>
          </a:xfrm>
          <a:prstGeom prst="rect">
            <a:avLst/>
          </a:prstGeom>
          <a:solidFill>
            <a:srgbClr val="F2BD7D"/>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1" name="rect 360"/>
          <p:cNvSpPr/>
          <p:nvPr/>
        </p:nvSpPr>
        <p:spPr>
          <a:xfrm>
            <a:off x="9875250" y="5969040"/>
            <a:ext cx="124355" cy="182875"/>
          </a:xfrm>
          <a:prstGeom prst="rect">
            <a:avLst/>
          </a:prstGeom>
          <a:solidFill>
            <a:srgbClr val="A9CEE8"/>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2" name="rect 361"/>
          <p:cNvSpPr/>
          <p:nvPr/>
        </p:nvSpPr>
        <p:spPr>
          <a:xfrm>
            <a:off x="11484550" y="6023902"/>
            <a:ext cx="124355" cy="128012"/>
          </a:xfrm>
          <a:prstGeom prst="rect">
            <a:avLst/>
          </a:prstGeom>
          <a:solidFill>
            <a:srgbClr val="F2BD7D"/>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3" name="rect 362"/>
          <p:cNvSpPr/>
          <p:nvPr/>
        </p:nvSpPr>
        <p:spPr>
          <a:xfrm>
            <a:off x="10058125" y="5866630"/>
            <a:ext cx="124355" cy="285285"/>
          </a:xfrm>
          <a:prstGeom prst="rect">
            <a:avLst/>
          </a:prstGeom>
          <a:solidFill>
            <a:srgbClr val="A9CEE8"/>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4" name="rect 363"/>
          <p:cNvSpPr/>
          <p:nvPr/>
        </p:nvSpPr>
        <p:spPr>
          <a:xfrm>
            <a:off x="11667425" y="5952216"/>
            <a:ext cx="124355" cy="199699"/>
          </a:xfrm>
          <a:prstGeom prst="rect">
            <a:avLst/>
          </a:prstGeom>
          <a:solidFill>
            <a:srgbClr val="F2BD7D"/>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5" name="rect 364"/>
          <p:cNvSpPr/>
          <p:nvPr/>
        </p:nvSpPr>
        <p:spPr>
          <a:xfrm>
            <a:off x="10241000" y="5932465"/>
            <a:ext cx="124355" cy="219450"/>
          </a:xfrm>
          <a:prstGeom prst="rect">
            <a:avLst/>
          </a:prstGeom>
          <a:solidFill>
            <a:srgbClr val="A9CEE8"/>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6" name="rect 365"/>
          <p:cNvSpPr/>
          <p:nvPr/>
        </p:nvSpPr>
        <p:spPr>
          <a:xfrm>
            <a:off x="11850300" y="5998300"/>
            <a:ext cx="124355" cy="153615"/>
          </a:xfrm>
          <a:prstGeom prst="rect">
            <a:avLst/>
          </a:prstGeom>
          <a:solidFill>
            <a:srgbClr val="F2BD7D"/>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7" name="S"/>
          <p:cNvSpPr txBox="1"/>
          <p:nvPr/>
        </p:nvSpPr>
        <p:spPr>
          <a:xfrm>
            <a:off x="10657955" y="5952581"/>
            <a:ext cx="182875" cy="241395"/>
          </a:xfrm>
          <a:prstGeom prst="rect">
            <a:avLst/>
          </a:prstGeom>
          <a:noFill/>
          <a:effectLst/>
        </p:spPr>
        <p:txBody>
          <a:bodyPr wrap="none" lIns="0" rIns="0" tIns="0" bIns="0" anchor="t">
            <a:spAutoFit/>
          </a:bodyPr>
          <a:lstStyle/>
          <a:p>
            <a:pPr algn="l">
              <a:lnSpc>
                <a:spcPct val="100000"/>
              </a:lnSpc>
              <a:spcBef>
                <a:spcPts val="0"/>
              </a:spcBef>
              <a:spcAft>
                <a:spcPts val="0"/>
              </a:spcAft>
            </a:pPr>
            <a:r>
              <a:rPr sz="1497" b="0" i="1" lang="en-US" spc="0">
                <a:solidFill>
                  <a:srgbClr val="181818"/>
                </a:solidFill>
                <a:latin typeface="Liberation Serif"/>
                <a:ea typeface="Liberation Serif"/>
                <a:effectLst/>
              </a:rPr>
              <a:t>S</a:t>
            </a:r>
          </a:p>
        </p:txBody>
      </p:sp>
      <p:sp>
        <p:nvSpPr>
          <p:cNvPr id="368" name="90"/>
          <p:cNvSpPr txBox="1"/>
          <p:nvPr/>
        </p:nvSpPr>
        <p:spPr>
          <a:xfrm>
            <a:off x="10760365" y="6058649"/>
            <a:ext cx="212135" cy="168245"/>
          </a:xfrm>
          <a:prstGeom prst="rect">
            <a:avLst/>
          </a:prstGeom>
          <a:noFill/>
          <a:effectLst/>
        </p:spPr>
        <p:txBody>
          <a:bodyPr wrap="none" lIns="0" rIns="0" tIns="0" bIns="0" anchor="t">
            <a:spAutoFit/>
          </a:bodyPr>
          <a:lstStyle/>
          <a:p>
            <a:pPr algn="l">
              <a:lnSpc>
                <a:spcPct val="100000"/>
              </a:lnSpc>
              <a:spcBef>
                <a:spcPts val="0"/>
              </a:spcBef>
              <a:spcAft>
                <a:spcPts val="0"/>
              </a:spcAft>
            </a:pPr>
            <a:r>
              <a:rPr sz="973" b="0" i="0" lang="en-US" spc="0">
                <a:solidFill>
                  <a:srgbClr val="181818"/>
                </a:solidFill>
                <a:latin typeface="Liberation Serif"/>
                <a:ea typeface="Liberation Serif"/>
                <a:effectLst/>
              </a:rPr>
              <a:t>90</a:t>
            </a:r>
          </a:p>
        </p:txBody>
      </p:sp>
      <p:sp>
        <p:nvSpPr>
          <p:cNvPr id="369" name="Q"/>
          <p:cNvSpPr txBox="1"/>
          <p:nvPr/>
        </p:nvSpPr>
        <p:spPr>
          <a:xfrm>
            <a:off x="12245310" y="5952581"/>
            <a:ext cx="225136" cy="241395"/>
          </a:xfrm>
          <a:prstGeom prst="rect">
            <a:avLst/>
          </a:prstGeom>
          <a:noFill/>
          <a:effectLst/>
        </p:spPr>
        <p:txBody>
          <a:bodyPr wrap="none" lIns="0" rIns="0" tIns="0" bIns="0" anchor="t">
            <a:spAutoFit/>
          </a:bodyPr>
          <a:lstStyle/>
          <a:p>
            <a:pPr algn="l">
              <a:lnSpc>
                <a:spcPct val="100000"/>
              </a:lnSpc>
              <a:spcBef>
                <a:spcPts val="0"/>
              </a:spcBef>
              <a:spcAft>
                <a:spcPts val="0"/>
              </a:spcAft>
            </a:pPr>
            <a:r>
              <a:rPr sz="1497" b="0" i="1" lang="en-US" spc="0">
                <a:solidFill>
                  <a:srgbClr val="181818"/>
                </a:solidFill>
                <a:latin typeface="Liberation Serif"/>
                <a:ea typeface="Liberation Serif"/>
                <a:effectLst/>
              </a:rPr>
              <a:t>Q</a:t>
            </a:r>
          </a:p>
        </p:txBody>
      </p:sp>
      <p:sp>
        <p:nvSpPr>
          <p:cNvPr id="370" name="90"/>
          <p:cNvSpPr txBox="1"/>
          <p:nvPr/>
        </p:nvSpPr>
        <p:spPr>
          <a:xfrm>
            <a:off x="12389981" y="6058649"/>
            <a:ext cx="212135" cy="168245"/>
          </a:xfrm>
          <a:prstGeom prst="rect">
            <a:avLst/>
          </a:prstGeom>
          <a:noFill/>
          <a:effectLst/>
        </p:spPr>
        <p:txBody>
          <a:bodyPr wrap="none" lIns="0" rIns="0" tIns="0" bIns="0" anchor="t">
            <a:spAutoFit/>
          </a:bodyPr>
          <a:lstStyle/>
          <a:p>
            <a:pPr algn="l">
              <a:lnSpc>
                <a:spcPct val="100000"/>
              </a:lnSpc>
              <a:spcBef>
                <a:spcPts val="0"/>
              </a:spcBef>
              <a:spcAft>
                <a:spcPts val="0"/>
              </a:spcAft>
            </a:pPr>
            <a:r>
              <a:rPr sz="973" b="0" i="0" lang="en-US" spc="0">
                <a:solidFill>
                  <a:srgbClr val="181818"/>
                </a:solidFill>
                <a:latin typeface="Liberation Serif"/>
                <a:ea typeface="Liberation Serif"/>
                <a:effectLst/>
              </a:rPr>
              <a:t>90</a:t>
            </a:r>
          </a:p>
        </p:txBody>
      </p:sp>
      <p:sp>
        <p:nvSpPr>
          <p:cNvPr id="371" name="H"/>
          <p:cNvSpPr txBox="1"/>
          <p:nvPr/>
        </p:nvSpPr>
        <p:spPr>
          <a:xfrm>
            <a:off x="6700540" y="6278099"/>
            <a:ext cx="251539" cy="281628"/>
          </a:xfrm>
          <a:prstGeom prst="rect">
            <a:avLst/>
          </a:prstGeom>
          <a:noFill/>
          <a:effectLst/>
        </p:spPr>
        <p:txBody>
          <a:bodyPr wrap="none" lIns="0" rIns="0" tIns="0" bIns="0" anchor="t">
            <a:spAutoFit/>
          </a:bodyPr>
          <a:lstStyle/>
          <a:p>
            <a:pPr algn="l">
              <a:lnSpc>
                <a:spcPct val="100000"/>
              </a:lnSpc>
              <a:spcBef>
                <a:spcPts val="0"/>
              </a:spcBef>
              <a:spcAft>
                <a:spcPts val="0"/>
              </a:spcAft>
            </a:pPr>
            <a:r>
              <a:rPr sz="1785" b="0" i="1" lang="en-US" spc="0">
                <a:solidFill>
                  <a:srgbClr val="181818"/>
                </a:solidFill>
                <a:latin typeface="Liberation Serif"/>
                <a:ea typeface="Liberation Serif"/>
                <a:effectLst/>
              </a:rPr>
              <a:t>H</a:t>
            </a:r>
          </a:p>
        </p:txBody>
      </p:sp>
      <p:sp>
        <p:nvSpPr>
          <p:cNvPr id="372" name=" = min("/>
          <p:cNvSpPr txBox="1"/>
          <p:nvPr/>
        </p:nvSpPr>
        <p:spPr>
          <a:xfrm>
            <a:off x="6864299" y="6278099"/>
            <a:ext cx="757360" cy="281628"/>
          </a:xfrm>
          <a:prstGeom prst="rect">
            <a:avLst/>
          </a:prstGeom>
          <a:noFill/>
          <a:effectLst/>
        </p:spPr>
        <p:txBody>
          <a:bodyPr wrap="none" lIns="0" rIns="0" tIns="0" bIns="0" anchor="t">
            <a:spAutoFit/>
          </a:bodyPr>
          <a:lstStyle/>
          <a:p>
            <a:pPr algn="l">
              <a:lnSpc>
                <a:spcPct val="100000"/>
              </a:lnSpc>
              <a:spcBef>
                <a:spcPts val="0"/>
              </a:spcBef>
              <a:spcAft>
                <a:spcPts val="0"/>
              </a:spcAft>
            </a:pPr>
            <a:r>
              <a:rPr sz="1785" b="0" i="0" lang="en-US" spc="0">
                <a:solidFill>
                  <a:srgbClr val="181818"/>
                </a:solidFill>
                <a:latin typeface="Liberation Serif"/>
                <a:ea typeface="Liberation Serif"/>
                <a:effectLst/>
              </a:rPr>
              <a:t> = min(</a:t>
            </a:r>
          </a:p>
        </p:txBody>
      </p:sp>
      <p:sp>
        <p:nvSpPr>
          <p:cNvPr id="373" name="L"/>
          <p:cNvSpPr txBox="1"/>
          <p:nvPr/>
        </p:nvSpPr>
        <p:spPr>
          <a:xfrm>
            <a:off x="7533879" y="6278099"/>
            <a:ext cx="213907" cy="281628"/>
          </a:xfrm>
          <a:prstGeom prst="rect">
            <a:avLst/>
          </a:prstGeom>
          <a:noFill/>
          <a:effectLst/>
        </p:spPr>
        <p:txBody>
          <a:bodyPr wrap="none" lIns="0" rIns="0" tIns="0" bIns="0" anchor="t">
            <a:spAutoFit/>
          </a:bodyPr>
          <a:lstStyle/>
          <a:p>
            <a:pPr algn="l">
              <a:lnSpc>
                <a:spcPct val="100000"/>
              </a:lnSpc>
              <a:spcBef>
                <a:spcPts val="0"/>
              </a:spcBef>
              <a:spcAft>
                <a:spcPts val="0"/>
              </a:spcAft>
            </a:pPr>
            <a:r>
              <a:rPr sz="1785" b="0" i="1" lang="en-US" spc="0">
                <a:solidFill>
                  <a:srgbClr val="181818"/>
                </a:solidFill>
                <a:latin typeface="Liberation Serif"/>
                <a:ea typeface="Liberation Serif"/>
                <a:effectLst/>
              </a:rPr>
              <a:t>L</a:t>
            </a:r>
          </a:p>
        </p:txBody>
      </p:sp>
      <p:sp>
        <p:nvSpPr>
          <p:cNvPr id="374" name=", "/>
          <p:cNvSpPr txBox="1"/>
          <p:nvPr/>
        </p:nvSpPr>
        <p:spPr>
          <a:xfrm>
            <a:off x="7660005" y="6278099"/>
            <a:ext cx="201162" cy="281628"/>
          </a:xfrm>
          <a:prstGeom prst="rect">
            <a:avLst/>
          </a:prstGeom>
          <a:noFill/>
          <a:effectLst/>
        </p:spPr>
        <p:txBody>
          <a:bodyPr wrap="none" lIns="0" rIns="0" tIns="0" bIns="0" anchor="t">
            <a:spAutoFit/>
          </a:bodyPr>
          <a:lstStyle/>
          <a:p>
            <a:pPr algn="l">
              <a:lnSpc>
                <a:spcPct val="100000"/>
              </a:lnSpc>
              <a:spcBef>
                <a:spcPts val="0"/>
              </a:spcBef>
              <a:spcAft>
                <a:spcPts val="0"/>
              </a:spcAft>
            </a:pPr>
            <a:r>
              <a:rPr sz="1785" b="0" i="0" lang="en-US" spc="0">
                <a:solidFill>
                  <a:srgbClr val="181818"/>
                </a:solidFill>
                <a:latin typeface="Liberation Serif"/>
                <a:ea typeface="Liberation Serif"/>
                <a:effectLst/>
              </a:rPr>
              <a:t>, </a:t>
            </a:r>
          </a:p>
        </p:txBody>
      </p:sp>
      <p:sp>
        <p:nvSpPr>
          <p:cNvPr id="375" name="S"/>
          <p:cNvSpPr txBox="1"/>
          <p:nvPr/>
        </p:nvSpPr>
        <p:spPr>
          <a:xfrm>
            <a:off x="7773388" y="6278099"/>
            <a:ext cx="201162" cy="281628"/>
          </a:xfrm>
          <a:prstGeom prst="rect">
            <a:avLst/>
          </a:prstGeom>
          <a:noFill/>
          <a:effectLst/>
        </p:spPr>
        <p:txBody>
          <a:bodyPr wrap="none" lIns="0" rIns="0" tIns="0" bIns="0" anchor="t">
            <a:spAutoFit/>
          </a:bodyPr>
          <a:lstStyle/>
          <a:p>
            <a:pPr algn="l">
              <a:lnSpc>
                <a:spcPct val="100000"/>
              </a:lnSpc>
              <a:spcBef>
                <a:spcPts val="0"/>
              </a:spcBef>
              <a:spcAft>
                <a:spcPts val="0"/>
              </a:spcAft>
            </a:pPr>
            <a:r>
              <a:rPr sz="1785" b="0" i="1" lang="en-US" spc="0">
                <a:solidFill>
                  <a:srgbClr val="181818"/>
                </a:solidFill>
                <a:latin typeface="Liberation Serif"/>
                <a:ea typeface="Liberation Serif"/>
                <a:effectLst/>
              </a:rPr>
              <a:t>S</a:t>
            </a:r>
          </a:p>
        </p:txBody>
      </p:sp>
      <p:sp>
        <p:nvSpPr>
          <p:cNvPr id="376" name="90"/>
          <p:cNvSpPr txBox="1"/>
          <p:nvPr/>
        </p:nvSpPr>
        <p:spPr>
          <a:xfrm>
            <a:off x="7894085" y="6404282"/>
            <a:ext cx="235909" cy="195676"/>
          </a:xfrm>
          <a:prstGeom prst="rect">
            <a:avLst/>
          </a:prstGeom>
          <a:noFill/>
          <a:effectLst/>
        </p:spPr>
        <p:txBody>
          <a:bodyPr wrap="none" lIns="0" rIns="0" tIns="0" bIns="0" anchor="t">
            <a:spAutoFit/>
          </a:bodyPr>
          <a:lstStyle/>
          <a:p>
            <a:pPr algn="l">
              <a:lnSpc>
                <a:spcPct val="100000"/>
              </a:lnSpc>
              <a:spcBef>
                <a:spcPts val="0"/>
              </a:spcBef>
              <a:spcAft>
                <a:spcPts val="0"/>
              </a:spcAft>
            </a:pPr>
            <a:r>
              <a:rPr sz="1160" b="0" i="0" lang="en-US" spc="0">
                <a:solidFill>
                  <a:srgbClr val="181818"/>
                </a:solidFill>
                <a:latin typeface="Liberation Serif"/>
                <a:ea typeface="Liberation Serif"/>
                <a:effectLst/>
              </a:rPr>
              <a:t>90</a:t>
            </a:r>
          </a:p>
        </p:txBody>
      </p:sp>
      <p:sp>
        <p:nvSpPr>
          <p:cNvPr id="377" name=" + "/>
          <p:cNvSpPr txBox="1"/>
          <p:nvPr/>
        </p:nvSpPr>
        <p:spPr>
          <a:xfrm>
            <a:off x="8049529" y="6278099"/>
            <a:ext cx="329061" cy="281628"/>
          </a:xfrm>
          <a:prstGeom prst="rect">
            <a:avLst/>
          </a:prstGeom>
          <a:noFill/>
          <a:effectLst/>
        </p:spPr>
        <p:txBody>
          <a:bodyPr wrap="none" lIns="0" rIns="0" tIns="0" bIns="0" anchor="t">
            <a:spAutoFit/>
          </a:bodyPr>
          <a:lstStyle/>
          <a:p>
            <a:pPr algn="l">
              <a:lnSpc>
                <a:spcPct val="100000"/>
              </a:lnSpc>
              <a:spcBef>
                <a:spcPts val="0"/>
              </a:spcBef>
              <a:spcAft>
                <a:spcPts val="0"/>
              </a:spcAft>
            </a:pPr>
            <a:r>
              <a:rPr sz="1785" b="0" i="0" lang="en-US" spc="0">
                <a:solidFill>
                  <a:srgbClr val="181818"/>
                </a:solidFill>
                <a:latin typeface="Liberation Serif"/>
                <a:ea typeface="Liberation Serif"/>
                <a:effectLst/>
              </a:rPr>
              <a:t> + </a:t>
            </a:r>
          </a:p>
        </p:txBody>
      </p:sp>
      <p:sp>
        <p:nvSpPr>
          <p:cNvPr id="378" name="Q"/>
          <p:cNvSpPr txBox="1"/>
          <p:nvPr/>
        </p:nvSpPr>
        <p:spPr>
          <a:xfrm>
            <a:off x="8290810" y="6278099"/>
            <a:ext cx="251539" cy="281628"/>
          </a:xfrm>
          <a:prstGeom prst="rect">
            <a:avLst/>
          </a:prstGeom>
          <a:noFill/>
          <a:effectLst/>
        </p:spPr>
        <p:txBody>
          <a:bodyPr wrap="none" lIns="0" rIns="0" tIns="0" bIns="0" anchor="t">
            <a:spAutoFit/>
          </a:bodyPr>
          <a:lstStyle/>
          <a:p>
            <a:pPr algn="l">
              <a:lnSpc>
                <a:spcPct val="100000"/>
              </a:lnSpc>
              <a:spcBef>
                <a:spcPts val="0"/>
              </a:spcBef>
              <a:spcAft>
                <a:spcPts val="0"/>
              </a:spcAft>
            </a:pPr>
            <a:r>
              <a:rPr sz="1785" b="0" i="1" lang="en-US" spc="0">
                <a:solidFill>
                  <a:srgbClr val="181818"/>
                </a:solidFill>
                <a:latin typeface="Liberation Serif"/>
                <a:ea typeface="Liberation Serif"/>
                <a:effectLst/>
              </a:rPr>
              <a:t>Q</a:t>
            </a:r>
          </a:p>
        </p:txBody>
      </p:sp>
      <p:sp>
        <p:nvSpPr>
          <p:cNvPr id="379" name="90"/>
          <p:cNvSpPr txBox="1"/>
          <p:nvPr/>
        </p:nvSpPr>
        <p:spPr>
          <a:xfrm>
            <a:off x="8461883" y="6404282"/>
            <a:ext cx="235909" cy="195676"/>
          </a:xfrm>
          <a:prstGeom prst="rect">
            <a:avLst/>
          </a:prstGeom>
          <a:noFill/>
          <a:effectLst/>
        </p:spPr>
        <p:txBody>
          <a:bodyPr wrap="none" lIns="0" rIns="0" tIns="0" bIns="0" anchor="t">
            <a:spAutoFit/>
          </a:bodyPr>
          <a:lstStyle/>
          <a:p>
            <a:pPr algn="l">
              <a:lnSpc>
                <a:spcPct val="100000"/>
              </a:lnSpc>
              <a:spcBef>
                <a:spcPts val="0"/>
              </a:spcBef>
              <a:spcAft>
                <a:spcPts val="0"/>
              </a:spcAft>
            </a:pPr>
            <a:r>
              <a:rPr sz="1160" b="0" i="0" lang="en-US" spc="0">
                <a:solidFill>
                  <a:srgbClr val="181818"/>
                </a:solidFill>
                <a:latin typeface="Liberation Serif"/>
                <a:ea typeface="Liberation Serif"/>
                <a:effectLst/>
              </a:rPr>
              <a:t>90</a:t>
            </a:r>
          </a:p>
        </p:txBody>
      </p:sp>
      <p:sp>
        <p:nvSpPr>
          <p:cNvPr id="380" name=" + "/>
          <p:cNvSpPr txBox="1"/>
          <p:nvPr/>
        </p:nvSpPr>
        <p:spPr>
          <a:xfrm>
            <a:off x="8617327" y="6278099"/>
            <a:ext cx="329061" cy="281628"/>
          </a:xfrm>
          <a:prstGeom prst="rect">
            <a:avLst/>
          </a:prstGeom>
          <a:noFill/>
          <a:effectLst/>
        </p:spPr>
        <p:txBody>
          <a:bodyPr wrap="none" lIns="0" rIns="0" tIns="0" bIns="0" anchor="t">
            <a:spAutoFit/>
          </a:bodyPr>
          <a:lstStyle/>
          <a:p>
            <a:pPr algn="l">
              <a:lnSpc>
                <a:spcPct val="100000"/>
              </a:lnSpc>
              <a:spcBef>
                <a:spcPts val="0"/>
              </a:spcBef>
              <a:spcAft>
                <a:spcPts val="0"/>
              </a:spcAft>
            </a:pPr>
            <a:r>
              <a:rPr sz="1785" b="0" i="0" lang="en-US" spc="0">
                <a:solidFill>
                  <a:srgbClr val="181818"/>
                </a:solidFill>
                <a:latin typeface="Liberation Serif"/>
                <a:ea typeface="Liberation Serif"/>
                <a:effectLst/>
              </a:rPr>
              <a:t> + </a:t>
            </a:r>
          </a:p>
        </p:txBody>
      </p:sp>
      <p:sp>
        <p:nvSpPr>
          <p:cNvPr id="381" name="Δ"/>
          <p:cNvSpPr txBox="1"/>
          <p:nvPr/>
        </p:nvSpPr>
        <p:spPr>
          <a:xfrm>
            <a:off x="8858608" y="6278099"/>
            <a:ext cx="220879" cy="281628"/>
          </a:xfrm>
          <a:prstGeom prst="rect">
            <a:avLst/>
          </a:prstGeom>
          <a:noFill/>
          <a:effectLst/>
        </p:spPr>
        <p:txBody>
          <a:bodyPr wrap="none" lIns="0" rIns="0" tIns="0" bIns="0" anchor="t">
            <a:spAutoFit/>
          </a:bodyPr>
          <a:lstStyle/>
          <a:p>
            <a:pPr algn="l">
              <a:lnSpc>
                <a:spcPct val="100000"/>
              </a:lnSpc>
              <a:spcBef>
                <a:spcPts val="0"/>
              </a:spcBef>
              <a:spcAft>
                <a:spcPts val="0"/>
              </a:spcAft>
            </a:pPr>
            <a:r>
              <a:rPr sz="1785" b="0" i="1" lang="en-US" spc="0">
                <a:solidFill>
                  <a:srgbClr val="181818"/>
                </a:solidFill>
                <a:latin typeface="Liberation Serif"/>
                <a:ea typeface="Liberation Serif"/>
                <a:effectLst/>
              </a:rPr>
              <a:t>Δ</a:t>
            </a:r>
          </a:p>
        </p:txBody>
      </p:sp>
      <p:sp>
        <p:nvSpPr>
          <p:cNvPr id="382" name="obs"/>
          <p:cNvSpPr txBox="1"/>
          <p:nvPr/>
        </p:nvSpPr>
        <p:spPr>
          <a:xfrm>
            <a:off x="8999022" y="6404282"/>
            <a:ext cx="293543" cy="195676"/>
          </a:xfrm>
          <a:prstGeom prst="rect">
            <a:avLst/>
          </a:prstGeom>
          <a:noFill/>
          <a:effectLst/>
        </p:spPr>
        <p:txBody>
          <a:bodyPr wrap="none" lIns="0" rIns="0" tIns="0" bIns="0" anchor="t">
            <a:spAutoFit/>
          </a:bodyPr>
          <a:lstStyle/>
          <a:p>
            <a:pPr algn="l">
              <a:lnSpc>
                <a:spcPct val="100000"/>
              </a:lnSpc>
              <a:spcBef>
                <a:spcPts val="0"/>
              </a:spcBef>
              <a:spcAft>
                <a:spcPts val="0"/>
              </a:spcAft>
            </a:pPr>
            <a:r>
              <a:rPr sz="1160" b="0" i="0" lang="en-US" spc="0">
                <a:solidFill>
                  <a:srgbClr val="181818"/>
                </a:solidFill>
                <a:latin typeface="Liberation Serif"/>
                <a:ea typeface="Liberation Serif"/>
                <a:effectLst/>
              </a:rPr>
              <a:t>obs</a:t>
            </a:r>
          </a:p>
        </p:txBody>
      </p:sp>
      <p:sp>
        <p:nvSpPr>
          <p:cNvPr id="383" name=" + "/>
          <p:cNvSpPr txBox="1"/>
          <p:nvPr/>
        </p:nvSpPr>
        <p:spPr>
          <a:xfrm>
            <a:off x="9212100" y="6278099"/>
            <a:ext cx="329061" cy="281628"/>
          </a:xfrm>
          <a:prstGeom prst="rect">
            <a:avLst/>
          </a:prstGeom>
          <a:noFill/>
          <a:effectLst/>
        </p:spPr>
        <p:txBody>
          <a:bodyPr wrap="none" lIns="0" rIns="0" tIns="0" bIns="0" anchor="t">
            <a:spAutoFit/>
          </a:bodyPr>
          <a:lstStyle/>
          <a:p>
            <a:pPr algn="l">
              <a:lnSpc>
                <a:spcPct val="100000"/>
              </a:lnSpc>
              <a:spcBef>
                <a:spcPts val="0"/>
              </a:spcBef>
              <a:spcAft>
                <a:spcPts val="0"/>
              </a:spcAft>
            </a:pPr>
            <a:r>
              <a:rPr sz="1785" b="0" i="0" lang="en-US" spc="0">
                <a:solidFill>
                  <a:srgbClr val="181818"/>
                </a:solidFill>
                <a:latin typeface="Liberation Serif"/>
                <a:ea typeface="Liberation Serif"/>
                <a:effectLst/>
              </a:rPr>
              <a:t> + </a:t>
            </a:r>
          </a:p>
        </p:txBody>
      </p:sp>
      <p:sp>
        <p:nvSpPr>
          <p:cNvPr id="384" name="ε"/>
          <p:cNvSpPr txBox="1"/>
          <p:nvPr/>
        </p:nvSpPr>
        <p:spPr>
          <a:xfrm>
            <a:off x="9453380" y="6278099"/>
            <a:ext cx="177132" cy="281628"/>
          </a:xfrm>
          <a:prstGeom prst="rect">
            <a:avLst/>
          </a:prstGeom>
          <a:noFill/>
          <a:effectLst/>
        </p:spPr>
        <p:txBody>
          <a:bodyPr wrap="none" lIns="0" rIns="0" tIns="0" bIns="0" anchor="t">
            <a:spAutoFit/>
          </a:bodyPr>
          <a:lstStyle/>
          <a:p>
            <a:pPr algn="l">
              <a:lnSpc>
                <a:spcPct val="100000"/>
              </a:lnSpc>
              <a:spcBef>
                <a:spcPts val="0"/>
              </a:spcBef>
              <a:spcAft>
                <a:spcPts val="0"/>
              </a:spcAft>
            </a:pPr>
            <a:r>
              <a:rPr sz="1785" b="0" i="1" lang="en-US" spc="0">
                <a:solidFill>
                  <a:srgbClr val="181818"/>
                </a:solidFill>
                <a:latin typeface="Liberation Serif"/>
                <a:ea typeface="Liberation Serif"/>
                <a:effectLst/>
              </a:rPr>
              <a:t>ε</a:t>
            </a:r>
          </a:p>
        </p:txBody>
      </p:sp>
      <p:sp>
        <p:nvSpPr>
          <p:cNvPr id="385" name="early"/>
          <p:cNvSpPr txBox="1"/>
          <p:nvPr/>
        </p:nvSpPr>
        <p:spPr>
          <a:xfrm>
            <a:off x="9550047" y="6404282"/>
            <a:ext cx="383809" cy="195676"/>
          </a:xfrm>
          <a:prstGeom prst="rect">
            <a:avLst/>
          </a:prstGeom>
          <a:noFill/>
          <a:effectLst/>
        </p:spPr>
        <p:txBody>
          <a:bodyPr wrap="none" lIns="0" rIns="0" tIns="0" bIns="0" anchor="t">
            <a:spAutoFit/>
          </a:bodyPr>
          <a:lstStyle/>
          <a:p>
            <a:pPr algn="l">
              <a:lnSpc>
                <a:spcPct val="100000"/>
              </a:lnSpc>
              <a:spcBef>
                <a:spcPts val="0"/>
              </a:spcBef>
              <a:spcAft>
                <a:spcPts val="0"/>
              </a:spcAft>
            </a:pPr>
            <a:r>
              <a:rPr sz="1160" b="0" i="0" lang="en-US" spc="0">
                <a:solidFill>
                  <a:srgbClr val="181818"/>
                </a:solidFill>
                <a:latin typeface="Liberation Serif"/>
                <a:ea typeface="Liberation Serif"/>
                <a:effectLst/>
              </a:rPr>
              <a:t>early</a:t>
            </a:r>
          </a:p>
        </p:txBody>
      </p:sp>
      <p:sp>
        <p:nvSpPr>
          <p:cNvPr id="386" name=")"/>
          <p:cNvSpPr txBox="1"/>
          <p:nvPr/>
        </p:nvSpPr>
        <p:spPr>
          <a:xfrm>
            <a:off x="9853391" y="6278099"/>
            <a:ext cx="163302" cy="281628"/>
          </a:xfrm>
          <a:prstGeom prst="rect">
            <a:avLst/>
          </a:prstGeom>
          <a:noFill/>
          <a:effectLst/>
        </p:spPr>
        <p:txBody>
          <a:bodyPr wrap="none" lIns="0" rIns="0" tIns="0" bIns="0" anchor="t">
            <a:spAutoFit/>
          </a:bodyPr>
          <a:lstStyle/>
          <a:p>
            <a:pPr algn="l">
              <a:lnSpc>
                <a:spcPct val="100000"/>
              </a:lnSpc>
              <a:spcBef>
                <a:spcPts val="0"/>
              </a:spcBef>
              <a:spcAft>
                <a:spcPts val="0"/>
              </a:spcAft>
            </a:pPr>
            <a:r>
              <a:rPr sz="1785" b="0" i="0" lang="en-US" spc="0">
                <a:solidFill>
                  <a:srgbClr val="181818"/>
                </a:solidFill>
                <a:latin typeface="Liberation Serif"/>
                <a:ea typeface="Liberation Serif"/>
                <a:effectLst/>
              </a:rPr>
              <a:t>)</a:t>
            </a:r>
          </a:p>
        </p:txBody>
      </p:sp>
      <p:sp>
        <p:nvSpPr>
          <p:cNvPr id="387" name="polygon 386"/>
          <p:cNvSpPr/>
          <p:nvPr/>
        </p:nvSpPr>
        <p:spPr>
          <a:xfrm>
            <a:off x="7841680" y="6700540"/>
            <a:ext cx="1302070" cy="409640"/>
          </a:xfrm>
          <a:custGeom>
            <a:avLst/>
            <a:gdLst/>
            <a:ahLst/>
            <a:cxnLst/>
            <a:rect l="l" t="t" r="r" b="b"/>
            <a:pathLst>
              <a:path w="178" h="56">
                <a:moveTo>
                  <a:pt x="89" y="0"/>
                </a:moveTo>
                <a:lnTo>
                  <a:pt x="178" y="28"/>
                </a:lnTo>
                <a:lnTo>
                  <a:pt x="89" y="56"/>
                </a:lnTo>
                <a:lnTo>
                  <a:pt x="0" y="28"/>
                </a:lnTo>
                <a:close/>
              </a:path>
            </a:pathLst>
          </a:custGeom>
          <a:solidFill>
            <a:srgbClr val="FFFFFF"/>
          </a:solidFill>
          <a:ln w="10972">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8" name="τ"/>
          <p:cNvSpPr txBox="1"/>
          <p:nvPr/>
        </p:nvSpPr>
        <p:spPr>
          <a:xfrm>
            <a:off x="8251334" y="6768204"/>
            <a:ext cx="168931" cy="281628"/>
          </a:xfrm>
          <a:prstGeom prst="rect">
            <a:avLst/>
          </a:prstGeom>
          <a:noFill/>
          <a:effectLst/>
        </p:spPr>
        <p:txBody>
          <a:bodyPr wrap="none" lIns="0" rIns="0" tIns="0" bIns="0" anchor="t">
            <a:spAutoFit/>
          </a:bodyPr>
          <a:lstStyle/>
          <a:p>
            <a:pPr algn="l">
              <a:lnSpc>
                <a:spcPct val="100000"/>
              </a:lnSpc>
              <a:spcBef>
                <a:spcPts val="0"/>
              </a:spcBef>
              <a:spcAft>
                <a:spcPts val="0"/>
              </a:spcAft>
            </a:pPr>
            <a:r>
              <a:rPr sz="1785" b="0" i="1" lang="en-US" spc="0">
                <a:solidFill>
                  <a:srgbClr val="181818"/>
                </a:solidFill>
                <a:latin typeface="Liberation Serif"/>
                <a:ea typeface="Liberation Serif"/>
                <a:effectLst/>
              </a:rPr>
              <a:t>τ</a:t>
            </a:r>
          </a:p>
        </p:txBody>
      </p:sp>
      <p:sp>
        <p:nvSpPr>
          <p:cNvPr id="389" name=" ≤ "/>
          <p:cNvSpPr txBox="1"/>
          <p:nvPr/>
        </p:nvSpPr>
        <p:spPr>
          <a:xfrm>
            <a:off x="8332485" y="6768204"/>
            <a:ext cx="325632" cy="281628"/>
          </a:xfrm>
          <a:prstGeom prst="rect">
            <a:avLst/>
          </a:prstGeom>
          <a:noFill/>
          <a:effectLst/>
        </p:spPr>
        <p:txBody>
          <a:bodyPr wrap="none" lIns="0" rIns="0" tIns="0" bIns="0" anchor="t">
            <a:spAutoFit/>
          </a:bodyPr>
          <a:lstStyle/>
          <a:p>
            <a:pPr algn="l">
              <a:lnSpc>
                <a:spcPct val="100000"/>
              </a:lnSpc>
              <a:spcBef>
                <a:spcPts val="0"/>
              </a:spcBef>
              <a:spcAft>
                <a:spcPts val="0"/>
              </a:spcAft>
            </a:pPr>
            <a:r>
              <a:rPr sz="1785" b="0" i="0" lang="en-US" spc="0">
                <a:solidFill>
                  <a:srgbClr val="181818"/>
                </a:solidFill>
                <a:latin typeface="Liberation Serif"/>
                <a:ea typeface="Liberation Serif"/>
                <a:effectLst/>
              </a:rPr>
              <a:t> ≤ </a:t>
            </a:r>
          </a:p>
        </p:txBody>
      </p:sp>
      <p:sp>
        <p:nvSpPr>
          <p:cNvPr id="390" name="H"/>
          <p:cNvSpPr txBox="1"/>
          <p:nvPr/>
        </p:nvSpPr>
        <p:spPr>
          <a:xfrm>
            <a:off x="8570337" y="6768204"/>
            <a:ext cx="251539" cy="281628"/>
          </a:xfrm>
          <a:prstGeom prst="rect">
            <a:avLst/>
          </a:prstGeom>
          <a:noFill/>
          <a:effectLst/>
        </p:spPr>
        <p:txBody>
          <a:bodyPr wrap="none" lIns="0" rIns="0" tIns="0" bIns="0" anchor="t">
            <a:spAutoFit/>
          </a:bodyPr>
          <a:lstStyle/>
          <a:p>
            <a:pPr algn="l">
              <a:lnSpc>
                <a:spcPct val="100000"/>
              </a:lnSpc>
              <a:spcBef>
                <a:spcPts val="0"/>
              </a:spcBef>
              <a:spcAft>
                <a:spcPts val="0"/>
              </a:spcAft>
            </a:pPr>
            <a:r>
              <a:rPr sz="1785" b="0" i="1" lang="en-US" spc="0">
                <a:solidFill>
                  <a:srgbClr val="181818"/>
                </a:solidFill>
                <a:latin typeface="Liberation Serif"/>
                <a:ea typeface="Liberation Serif"/>
                <a:effectLst/>
              </a:rPr>
              <a:t>H</a:t>
            </a:r>
          </a:p>
        </p:txBody>
      </p:sp>
      <p:cxnSp>
        <p:nvCxnSpPr>
          <p:cNvPr id="391" name="path 390"/>
          <p:cNvCxnSpPr/>
          <p:nvPr/>
        </p:nvCxnSpPr>
        <p:spPr>
          <a:xfrm>
            <a:off x="9180325" y="6905360"/>
            <a:ext cx="475475" cy="0"/>
          </a:xfrm>
          <a:prstGeom prst="line">
            <a:avLst/>
          </a:prstGeom>
          <a:ln w="14630">
            <a:solidFill>
              <a:srgbClr val="BF3335"/>
            </a:solidFill>
          </a:ln>
          <a:effectLst/>
        </p:spPr>
        <p:style>
          <a:lnRef idx="2">
            <a:schemeClr val="accent1"/>
          </a:lnRef>
          <a:fillRef idx="0">
            <a:schemeClr val="accent1"/>
          </a:fillRef>
          <a:effectRef idx="0">
            <a:schemeClr val="accent1"/>
          </a:effectRef>
          <a:fontRef idx="minor">
            <a:schemeClr val="tx1"/>
          </a:fontRef>
        </p:style>
      </p:cxnSp>
      <p:sp>
        <p:nvSpPr>
          <p:cNvPr id="392" name="arrowhead 391"/>
          <p:cNvSpPr/>
          <p:nvPr/>
        </p:nvSpPr>
        <p:spPr>
          <a:xfrm>
            <a:off x="9568020" y="6854155"/>
            <a:ext cx="102410" cy="102410"/>
          </a:xfrm>
          <a:custGeom>
            <a:avLst/>
            <a:gdLst/>
            <a:ahLst/>
            <a:cxnLst/>
            <a:rect l="l" t="t" r="r" b="b"/>
            <a:pathLst>
              <a:path w="14" h="14">
                <a:moveTo>
                  <a:pt x="14" y="7"/>
                </a:moveTo>
                <a:lnTo>
                  <a:pt x="0" y="14"/>
                </a:lnTo>
                <a:lnTo>
                  <a:pt x="0" y="0"/>
                </a:lnTo>
                <a:close/>
              </a:path>
            </a:pathLst>
          </a:custGeom>
          <a:solidFill>
            <a:srgbClr val="BF333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3" name="circle 392"/>
          <p:cNvSpPr/>
          <p:nvPr/>
        </p:nvSpPr>
        <p:spPr>
          <a:xfrm>
            <a:off x="9692375" y="6773690"/>
            <a:ext cx="263340" cy="263340"/>
          </a:xfrm>
          <a:prstGeom prst="ellipse">
            <a:avLst/>
          </a:prstGeom>
          <a:solidFill>
            <a:srgbClr val="FFFFFF"/>
          </a:solidFill>
          <a:ln w="11704">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4" name="path 393"/>
          <p:cNvSpPr/>
          <p:nvPr/>
        </p:nvSpPr>
        <p:spPr>
          <a:xfrm>
            <a:off x="9765525" y="6846840"/>
            <a:ext cx="117040" cy="102410"/>
          </a:xfrm>
          <a:custGeom>
            <a:avLst/>
            <a:gdLst/>
            <a:ahLst/>
            <a:cxnLst/>
            <a:rect l="l" t="t" r="r" b="b"/>
            <a:pathLst>
              <a:path w="16" h="14">
                <a:moveTo>
                  <a:pt x="0" y="14"/>
                </a:moveTo>
                <a:lnTo>
                  <a:pt x="8" y="0"/>
                </a:lnTo>
                <a:lnTo>
                  <a:pt x="16" y="14"/>
                </a:lnTo>
              </a:path>
            </a:pathLst>
          </a:custGeom>
          <a:no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5" name="c"/>
          <p:cNvSpPr txBox="1"/>
          <p:nvPr/>
        </p:nvSpPr>
        <p:spPr>
          <a:xfrm>
            <a:off x="10058125" y="6631048"/>
            <a:ext cx="168959" cy="234080"/>
          </a:xfrm>
          <a:prstGeom prst="rect">
            <a:avLst/>
          </a:prstGeom>
          <a:noFill/>
          <a:effectLst/>
        </p:spPr>
        <p:txBody>
          <a:bodyPr wrap="none" lIns="0" rIns="0" tIns="0" bIns="0" anchor="t">
            <a:spAutoFit/>
          </a:bodyPr>
          <a:lstStyle/>
          <a:p>
            <a:pPr algn="l">
              <a:lnSpc>
                <a:spcPct val="100000"/>
              </a:lnSpc>
              <a:spcBef>
                <a:spcPts val="0"/>
              </a:spcBef>
              <a:spcAft>
                <a:spcPts val="0"/>
              </a:spcAft>
            </a:pPr>
            <a:r>
              <a:rPr sz="1439" b="0" i="1" lang="en-US" spc="0">
                <a:solidFill>
                  <a:srgbClr val="181818"/>
                </a:solidFill>
                <a:latin typeface="Liberation Serif"/>
                <a:ea typeface="Liberation Serif"/>
                <a:effectLst/>
              </a:rPr>
              <a:t>c</a:t>
            </a:r>
          </a:p>
        </p:txBody>
      </p:sp>
      <p:sp>
        <p:nvSpPr>
          <p:cNvPr id="396" name="*"/>
          <p:cNvSpPr txBox="1"/>
          <p:nvPr/>
        </p:nvSpPr>
        <p:spPr>
          <a:xfrm>
            <a:off x="10146619" y="6594472"/>
            <a:ext cx="147214" cy="162759"/>
          </a:xfrm>
          <a:prstGeom prst="rect">
            <a:avLst/>
          </a:prstGeom>
          <a:noFill/>
          <a:effectLst/>
        </p:spPr>
        <p:txBody>
          <a:bodyPr wrap="none" lIns="0" rIns="0" tIns="0" bIns="0" anchor="t">
            <a:spAutoFit/>
          </a:bodyPr>
          <a:lstStyle/>
          <a:p>
            <a:pPr algn="l">
              <a:lnSpc>
                <a:spcPct val="100000"/>
              </a:lnSpc>
              <a:spcBef>
                <a:spcPts val="0"/>
              </a:spcBef>
              <a:spcAft>
                <a:spcPts val="0"/>
              </a:spcAft>
            </a:pPr>
            <a:r>
              <a:rPr sz="936" b="0" i="0" lang="en-US" spc="0">
                <a:solidFill>
                  <a:srgbClr val="181818"/>
                </a:solidFill>
                <a:latin typeface="Liberation Serif"/>
                <a:ea typeface="Liberation Serif"/>
                <a:effectLst/>
              </a:rPr>
              <a:t>*</a:t>
            </a:r>
          </a:p>
        </p:txBody>
      </p:sp>
      <p:sp>
        <p:nvSpPr>
          <p:cNvPr id="397" name=" / "/>
          <p:cNvSpPr txBox="1"/>
          <p:nvPr/>
        </p:nvSpPr>
        <p:spPr>
          <a:xfrm>
            <a:off x="10213369" y="6631048"/>
            <a:ext cx="230022" cy="234080"/>
          </a:xfrm>
          <a:prstGeom prst="rect">
            <a:avLst/>
          </a:prstGeom>
          <a:noFill/>
          <a:effectLst/>
        </p:spPr>
        <p:txBody>
          <a:bodyPr wrap="none" lIns="0" rIns="0" tIns="0" bIns="0" anchor="t">
            <a:spAutoFit/>
          </a:bodyPr>
          <a:lstStyle/>
          <a:p>
            <a:pPr algn="l">
              <a:lnSpc>
                <a:spcPct val="100000"/>
              </a:lnSpc>
              <a:spcBef>
                <a:spcPts val="0"/>
              </a:spcBef>
              <a:spcAft>
                <a:spcPts val="0"/>
              </a:spcAft>
            </a:pPr>
            <a:r>
              <a:rPr sz="1439" b="0" i="0" lang="en-US" spc="0">
                <a:solidFill>
                  <a:srgbClr val="181818"/>
                </a:solidFill>
                <a:latin typeface="Liberation Serif"/>
                <a:ea typeface="Liberation Serif"/>
                <a:effectLst/>
              </a:rPr>
              <a:t> / </a:t>
            </a:r>
          </a:p>
        </p:txBody>
      </p:sp>
      <p:sp>
        <p:nvSpPr>
          <p:cNvPr id="398" name="B"/>
          <p:cNvSpPr txBox="1"/>
          <p:nvPr/>
        </p:nvSpPr>
        <p:spPr>
          <a:xfrm>
            <a:off x="10355611" y="6631048"/>
            <a:ext cx="199477" cy="234080"/>
          </a:xfrm>
          <a:prstGeom prst="rect">
            <a:avLst/>
          </a:prstGeom>
          <a:noFill/>
          <a:effectLst/>
        </p:spPr>
        <p:txBody>
          <a:bodyPr wrap="none" lIns="0" rIns="0" tIns="0" bIns="0" anchor="t">
            <a:spAutoFit/>
          </a:bodyPr>
          <a:lstStyle/>
          <a:p>
            <a:pPr algn="l">
              <a:lnSpc>
                <a:spcPct val="100000"/>
              </a:lnSpc>
              <a:spcBef>
                <a:spcPts val="0"/>
              </a:spcBef>
              <a:spcAft>
                <a:spcPts val="0"/>
              </a:spcAft>
            </a:pPr>
            <a:r>
              <a:rPr sz="1439" b="0" i="1" lang="en-US" spc="0">
                <a:solidFill>
                  <a:srgbClr val="181818"/>
                </a:solidFill>
                <a:latin typeface="Liberation Serif"/>
                <a:ea typeface="Liberation Serif"/>
                <a:effectLst/>
              </a:rPr>
              <a:t>B</a:t>
            </a:r>
          </a:p>
        </p:txBody>
      </p:sp>
      <p:sp>
        <p:nvSpPr>
          <p:cNvPr id="399" name="path 398"/>
          <p:cNvSpPr/>
          <p:nvPr/>
        </p:nvSpPr>
        <p:spPr>
          <a:xfrm>
            <a:off x="9824045" y="6590815"/>
            <a:ext cx="870485" cy="204820"/>
          </a:xfrm>
          <a:custGeom>
            <a:avLst/>
            <a:gdLst/>
            <a:ahLst/>
            <a:cxnLst/>
            <a:rect l="l" t="t" r="r" b="b"/>
            <a:pathLst>
              <a:path w="119" h="28">
                <a:moveTo>
                  <a:pt x="107" y="28"/>
                </a:moveTo>
                <a:lnTo>
                  <a:pt x="119" y="28"/>
                </a:lnTo>
                <a:lnTo>
                  <a:pt x="119" y="0"/>
                </a:lnTo>
                <a:lnTo>
                  <a:pt x="0" y="0"/>
                </a:lnTo>
                <a:lnTo>
                  <a:pt x="0" y="22"/>
                </a:lnTo>
              </a:path>
            </a:pathLst>
          </a:custGeom>
          <a:noFill/>
          <a:ln w="1243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0" name="arrowhead 399"/>
          <p:cNvSpPr/>
          <p:nvPr/>
        </p:nvSpPr>
        <p:spPr>
          <a:xfrm>
            <a:off x="9780155" y="6678595"/>
            <a:ext cx="87780" cy="87780"/>
          </a:xfrm>
          <a:custGeom>
            <a:avLst/>
            <a:gdLst/>
            <a:ahLst/>
            <a:cxnLst/>
            <a:rect l="l" t="t" r="r" b="b"/>
            <a:pathLst>
              <a:path w="12" h="12">
                <a:moveTo>
                  <a:pt x="6" y="12"/>
                </a:moveTo>
                <a:lnTo>
                  <a:pt x="0" y="0"/>
                </a:lnTo>
                <a:lnTo>
                  <a:pt x="12" y="0"/>
                </a:lnTo>
                <a:close/>
              </a:path>
            </a:pathLst>
          </a:custGeom>
          <a:solidFill>
            <a:srgbClr val="18181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401" name="path 400"/>
          <p:cNvCxnSpPr/>
          <p:nvPr/>
        </p:nvCxnSpPr>
        <p:spPr>
          <a:xfrm>
            <a:off x="9984975" y="6905360"/>
            <a:ext cx="1316700" cy="0"/>
          </a:xfrm>
          <a:prstGeom prst="line">
            <a:avLst/>
          </a:prstGeom>
          <a:ln w="14630">
            <a:solidFill>
              <a:srgbClr val="BF3335"/>
            </a:solidFill>
          </a:ln>
          <a:effectLst/>
        </p:spPr>
        <p:style>
          <a:lnRef idx="2">
            <a:schemeClr val="accent1"/>
          </a:lnRef>
          <a:fillRef idx="0">
            <a:schemeClr val="accent1"/>
          </a:fillRef>
          <a:effectRef idx="0">
            <a:schemeClr val="accent1"/>
          </a:effectRef>
          <a:fontRef idx="minor">
            <a:schemeClr val="tx1"/>
          </a:fontRef>
        </p:style>
      </p:cxnSp>
      <p:sp>
        <p:nvSpPr>
          <p:cNvPr id="402" name="arrowhead 401"/>
          <p:cNvSpPr/>
          <p:nvPr/>
        </p:nvSpPr>
        <p:spPr>
          <a:xfrm>
            <a:off x="11213895" y="6854155"/>
            <a:ext cx="102410" cy="102410"/>
          </a:xfrm>
          <a:custGeom>
            <a:avLst/>
            <a:gdLst/>
            <a:ahLst/>
            <a:cxnLst/>
            <a:rect l="l" t="t" r="r" b="b"/>
            <a:pathLst>
              <a:path w="14" h="14">
                <a:moveTo>
                  <a:pt x="14" y="7"/>
                </a:moveTo>
                <a:lnTo>
                  <a:pt x="0" y="14"/>
                </a:lnTo>
                <a:lnTo>
                  <a:pt x="0" y="0"/>
                </a:lnTo>
                <a:close/>
              </a:path>
            </a:pathLst>
          </a:custGeom>
          <a:solidFill>
            <a:srgbClr val="BF333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3" name="rect 402"/>
          <p:cNvSpPr/>
          <p:nvPr/>
        </p:nvSpPr>
        <p:spPr>
          <a:xfrm>
            <a:off x="11411400" y="6715170"/>
            <a:ext cx="1353275" cy="402325"/>
          </a:xfrm>
          <a:prstGeom prst="roundRect">
            <a:avLst>
              <a:gd name="adj" fmla="val 5454"/>
            </a:avLst>
          </a:prstGeom>
          <a:solidFill>
            <a:srgbClr val="F5D460"/>
          </a:solidFill>
          <a:ln w="14630">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4" name="H2D"/>
          <p:cNvSpPr txBox="1"/>
          <p:nvPr/>
        </p:nvSpPr>
        <p:spPr>
          <a:xfrm>
            <a:off x="11819454" y="6718828"/>
            <a:ext cx="537167" cy="252368"/>
          </a:xfrm>
          <a:prstGeom prst="rect">
            <a:avLst/>
          </a:prstGeom>
          <a:noFill/>
          <a:effectLst/>
        </p:spPr>
        <p:txBody>
          <a:bodyPr wrap="none" lIns="0" rIns="0" tIns="0" bIns="0" anchor="t">
            <a:spAutoFit/>
          </a:bodyPr>
          <a:lstStyle/>
          <a:p>
            <a:pPr algn="ctr">
              <a:lnSpc>
                <a:spcPct val="100000"/>
              </a:lnSpc>
              <a:spcBef>
                <a:spcPts val="0"/>
              </a:spcBef>
              <a:spcAft>
                <a:spcPts val="0"/>
              </a:spcAft>
            </a:pPr>
            <a:r>
              <a:rPr sz="1497" b="1" i="0" lang="en-US" spc="0">
                <a:solidFill>
                  <a:srgbClr val="181818"/>
                </a:solidFill>
                <a:latin typeface="DejaVu Sans"/>
                <a:ea typeface="DejaVu Sans"/>
                <a:effectLst/>
              </a:rPr>
              <a:t>H2D</a:t>
            </a:r>
          </a:p>
        </p:txBody>
      </p:sp>
      <p:cxnSp>
        <p:nvCxnSpPr>
          <p:cNvPr id="405" name="path 404"/>
          <p:cNvCxnSpPr/>
          <p:nvPr/>
        </p:nvCxnSpPr>
        <p:spPr>
          <a:xfrm>
            <a:off x="11550385" y="6968635"/>
            <a:ext cx="1075305" cy="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sp>
        <p:nvSpPr>
          <p:cNvPr id="406" name="arrowhead 405"/>
          <p:cNvSpPr/>
          <p:nvPr/>
        </p:nvSpPr>
        <p:spPr>
          <a:xfrm>
            <a:off x="12537910" y="6919990"/>
            <a:ext cx="102410" cy="102410"/>
          </a:xfrm>
          <a:custGeom>
            <a:avLst/>
            <a:gdLst/>
            <a:ahLst/>
            <a:cxnLst/>
            <a:rect l="l" t="t" r="r" b="b"/>
            <a:pathLst>
              <a:path w="14" h="14">
                <a:moveTo>
                  <a:pt x="14" y="7"/>
                </a:moveTo>
                <a:lnTo>
                  <a:pt x="0" y="14"/>
                </a:lnTo>
                <a:lnTo>
                  <a:pt x="0" y="0"/>
                </a:lnTo>
                <a:close/>
              </a:path>
            </a:pathLst>
          </a:custGeom>
          <a:solidFill>
            <a:srgbClr val="18181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407" name="path 406"/>
          <p:cNvCxnSpPr/>
          <p:nvPr/>
        </p:nvCxnSpPr>
        <p:spPr>
          <a:xfrm flipH="1">
            <a:off x="11550385" y="7045076"/>
            <a:ext cx="1075305" cy="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sp>
        <p:nvSpPr>
          <p:cNvPr id="408" name="arrowhead 407"/>
          <p:cNvSpPr/>
          <p:nvPr/>
        </p:nvSpPr>
        <p:spPr>
          <a:xfrm>
            <a:off x="11535755" y="6993140"/>
            <a:ext cx="102410" cy="102410"/>
          </a:xfrm>
          <a:custGeom>
            <a:avLst/>
            <a:gdLst/>
            <a:ahLst/>
            <a:cxnLst/>
            <a:rect l="l" t="t" r="r" b="b"/>
            <a:pathLst>
              <a:path w="14" h="14">
                <a:moveTo>
                  <a:pt x="0" y="7"/>
                </a:moveTo>
                <a:lnTo>
                  <a:pt x="14" y="0"/>
                </a:lnTo>
                <a:lnTo>
                  <a:pt x="14" y="14"/>
                </a:lnTo>
                <a:close/>
              </a:path>
            </a:pathLst>
          </a:custGeom>
          <a:solidFill>
            <a:srgbClr val="18181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9" name="path 408"/>
          <p:cNvSpPr/>
          <p:nvPr/>
        </p:nvSpPr>
        <p:spPr>
          <a:xfrm>
            <a:off x="6451830" y="5040035"/>
            <a:ext cx="4549930" cy="1865325"/>
          </a:xfrm>
          <a:custGeom>
            <a:avLst/>
            <a:gdLst/>
            <a:ahLst/>
            <a:cxnLst/>
            <a:rect l="l" t="t" r="r" b="b"/>
            <a:pathLst>
              <a:path w="622" h="255">
                <a:moveTo>
                  <a:pt x="622" y="0"/>
                </a:moveTo>
                <a:lnTo>
                  <a:pt x="622" y="11"/>
                </a:lnTo>
                <a:lnTo>
                  <a:pt x="0" y="11"/>
                </a:lnTo>
                <a:lnTo>
                  <a:pt x="0" y="255"/>
                </a:lnTo>
                <a:lnTo>
                  <a:pt x="186" y="255"/>
                </a:lnTo>
              </a:path>
            </a:pathLst>
          </a:custGeom>
          <a:noFill/>
          <a:ln w="14630">
            <a:solidFill>
              <a:srgbClr val="BF333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0" name="arrowhead 409"/>
          <p:cNvSpPr/>
          <p:nvPr/>
        </p:nvSpPr>
        <p:spPr>
          <a:xfrm>
            <a:off x="7724640" y="6854155"/>
            <a:ext cx="102410" cy="102410"/>
          </a:xfrm>
          <a:custGeom>
            <a:avLst/>
            <a:gdLst/>
            <a:ahLst/>
            <a:cxnLst/>
            <a:rect l="l" t="t" r="r" b="b"/>
            <a:pathLst>
              <a:path w="14" h="14">
                <a:moveTo>
                  <a:pt x="14" y="7"/>
                </a:moveTo>
                <a:lnTo>
                  <a:pt x="0" y="14"/>
                </a:lnTo>
                <a:lnTo>
                  <a:pt x="0" y="0"/>
                </a:lnTo>
                <a:close/>
              </a:path>
            </a:pathLst>
          </a:custGeom>
          <a:solidFill>
            <a:srgbClr val="BF333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411" name="line 410"/>
          <p:cNvCxnSpPr/>
          <p:nvPr/>
        </p:nvCxnSpPr>
        <p:spPr>
          <a:xfrm>
            <a:off x="6034875" y="6905360"/>
            <a:ext cx="416955" cy="0"/>
          </a:xfrm>
          <a:prstGeom prst="line">
            <a:avLst/>
          </a:prstGeom>
          <a:ln w="14630">
            <a:solidFill>
              <a:srgbClr val="BF3335"/>
            </a:solidFill>
          </a:ln>
          <a:effectLst/>
        </p:spPr>
        <p:style>
          <a:lnRef idx="2">
            <a:schemeClr val="accent1"/>
          </a:lnRef>
          <a:fillRef idx="0">
            <a:schemeClr val="accent1"/>
          </a:fillRef>
          <a:effectRef idx="0">
            <a:schemeClr val="accent1"/>
          </a:effectRef>
          <a:fontRef idx="minor">
            <a:schemeClr val="tx1"/>
          </a:fontRef>
        </p:style>
      </p:cxnSp>
      <p:sp>
        <p:nvSpPr>
          <p:cNvPr id="412" name="circle 411"/>
          <p:cNvSpPr/>
          <p:nvPr/>
        </p:nvSpPr>
        <p:spPr>
          <a:xfrm>
            <a:off x="6422570" y="6876100"/>
            <a:ext cx="58520" cy="58520"/>
          </a:xfrm>
          <a:prstGeom prst="ellipse">
            <a:avLst/>
          </a:prstGeom>
          <a:solidFill>
            <a:srgbClr val="BF3335"/>
          </a:solidFill>
          <a:ln w="7315">
            <a:solidFill>
              <a:srgbClr val="BF333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413" name="line 412"/>
          <p:cNvCxnSpPr/>
          <p:nvPr/>
        </p:nvCxnSpPr>
        <p:spPr>
          <a:xfrm>
            <a:off x="8485400" y="7527135"/>
            <a:ext cx="0" cy="1177715"/>
          </a:xfrm>
          <a:prstGeom prst="line">
            <a:avLst/>
          </a:prstGeom>
          <a:ln w="12435">
            <a:solidFill>
              <a:srgbClr val="969696"/>
            </a:solidFill>
            <a:prstDash val="dash"/>
          </a:ln>
          <a:effectLst/>
        </p:spPr>
        <p:style>
          <a:lnRef idx="2">
            <a:schemeClr val="accent1"/>
          </a:lnRef>
          <a:fillRef idx="0">
            <a:schemeClr val="accent1"/>
          </a:fillRef>
          <a:effectRef idx="0">
            <a:schemeClr val="accent1"/>
          </a:effectRef>
          <a:fontRef idx="minor">
            <a:schemeClr val="tx1"/>
          </a:fontRef>
        </p:style>
      </p:cxnSp>
      <p:sp>
        <p:nvSpPr>
          <p:cNvPr id="414" name="RETURN / TOOL_END"/>
          <p:cNvSpPr txBox="1"/>
          <p:nvPr/>
        </p:nvSpPr>
        <p:spPr>
          <a:xfrm>
            <a:off x="8573180" y="7347918"/>
            <a:ext cx="1936189" cy="217621"/>
          </a:xfrm>
          <a:prstGeom prst="rect">
            <a:avLst/>
          </a:prstGeom>
          <a:noFill/>
          <a:effectLst/>
        </p:spPr>
        <p:txBody>
          <a:bodyPr wrap="none" lIns="0" rIns="0" tIns="0" bIns="0" anchor="t">
            <a:spAutoFit/>
          </a:bodyPr>
          <a:lstStyle/>
          <a:p>
            <a:pPr algn="l">
              <a:lnSpc>
                <a:spcPct val="100000"/>
              </a:lnSpc>
              <a:spcBef>
                <a:spcPts val="0"/>
              </a:spcBef>
              <a:spcAft>
                <a:spcPts val="0"/>
              </a:spcAft>
            </a:pPr>
            <a:r>
              <a:rPr sz="1267" b="1" i="0" lang="en-US" spc="0">
                <a:solidFill>
                  <a:srgbClr val="181818"/>
                </a:solidFill>
                <a:latin typeface="DejaVu Sans"/>
                <a:ea typeface="DejaVu Sans"/>
                <a:effectLst/>
              </a:rPr>
              <a:t>RETURN / TOOL_END</a:t>
            </a:r>
          </a:p>
        </p:txBody>
      </p:sp>
      <p:cxnSp>
        <p:nvCxnSpPr>
          <p:cNvPr id="415" name="line 414"/>
          <p:cNvCxnSpPr/>
          <p:nvPr/>
        </p:nvCxnSpPr>
        <p:spPr>
          <a:xfrm>
            <a:off x="6583500" y="7519820"/>
            <a:ext cx="1872640" cy="0"/>
          </a:xfrm>
          <a:prstGeom prst="line">
            <a:avLst/>
          </a:prstGeom>
          <a:ln w="14630">
            <a:solidFill>
              <a:srgbClr val="BF3335"/>
            </a:solidFill>
          </a:ln>
          <a:effectLst/>
        </p:spPr>
        <p:style>
          <a:lnRef idx="2">
            <a:schemeClr val="accent1"/>
          </a:lnRef>
          <a:fillRef idx="0">
            <a:schemeClr val="accent1"/>
          </a:fillRef>
          <a:effectRef idx="0">
            <a:schemeClr val="accent1"/>
          </a:effectRef>
          <a:fontRef idx="minor">
            <a:schemeClr val="tx1"/>
          </a:fontRef>
        </p:style>
      </p:cxnSp>
      <p:cxnSp>
        <p:nvCxnSpPr>
          <p:cNvPr id="416" name="line 415"/>
          <p:cNvCxnSpPr/>
          <p:nvPr/>
        </p:nvCxnSpPr>
        <p:spPr>
          <a:xfrm>
            <a:off x="6583500" y="7475930"/>
            <a:ext cx="0" cy="80465"/>
          </a:xfrm>
          <a:prstGeom prst="line">
            <a:avLst/>
          </a:prstGeom>
          <a:ln w="14630">
            <a:solidFill>
              <a:srgbClr val="BF3335"/>
            </a:solidFill>
          </a:ln>
          <a:effectLst/>
        </p:spPr>
        <p:style>
          <a:lnRef idx="2">
            <a:schemeClr val="accent1"/>
          </a:lnRef>
          <a:fillRef idx="0">
            <a:schemeClr val="accent1"/>
          </a:fillRef>
          <a:effectRef idx="0">
            <a:schemeClr val="accent1"/>
          </a:effectRef>
          <a:fontRef idx="minor">
            <a:schemeClr val="tx1"/>
          </a:fontRef>
        </p:style>
      </p:cxnSp>
      <p:sp>
        <p:nvSpPr>
          <p:cNvPr id="417" name="Δ"/>
          <p:cNvSpPr txBox="1"/>
          <p:nvPr/>
        </p:nvSpPr>
        <p:spPr>
          <a:xfrm>
            <a:off x="7377092" y="7304028"/>
            <a:ext cx="205391" cy="234080"/>
          </a:xfrm>
          <a:prstGeom prst="rect">
            <a:avLst/>
          </a:prstGeom>
          <a:noFill/>
          <a:effectLst/>
        </p:spPr>
        <p:txBody>
          <a:bodyPr wrap="none" lIns="0" rIns="0" tIns="0" bIns="0" anchor="t">
            <a:spAutoFit/>
          </a:bodyPr>
          <a:lstStyle/>
          <a:p>
            <a:pPr algn="l">
              <a:lnSpc>
                <a:spcPct val="100000"/>
              </a:lnSpc>
              <a:spcBef>
                <a:spcPts val="0"/>
              </a:spcBef>
              <a:spcAft>
                <a:spcPts val="0"/>
              </a:spcAft>
            </a:pPr>
            <a:r>
              <a:rPr sz="1439" b="0" i="0" lang="en-US" spc="0">
                <a:solidFill>
                  <a:srgbClr val="BF3335"/>
                </a:solidFill>
                <a:latin typeface="Liberation Serif"/>
                <a:ea typeface="Liberation Serif"/>
                <a:effectLst/>
              </a:rPr>
              <a:t>Δ</a:t>
            </a:r>
          </a:p>
        </p:txBody>
      </p:sp>
      <p:sp>
        <p:nvSpPr>
          <p:cNvPr id="418" name="t"/>
          <p:cNvSpPr txBox="1"/>
          <p:nvPr/>
        </p:nvSpPr>
        <p:spPr>
          <a:xfrm>
            <a:off x="7494703" y="7304028"/>
            <a:ext cx="138585" cy="234080"/>
          </a:xfrm>
          <a:prstGeom prst="rect">
            <a:avLst/>
          </a:prstGeom>
          <a:noFill/>
          <a:effectLst/>
        </p:spPr>
        <p:txBody>
          <a:bodyPr wrap="none" lIns="0" rIns="0" tIns="0" bIns="0" anchor="t">
            <a:spAutoFit/>
          </a:bodyPr>
          <a:lstStyle/>
          <a:p>
            <a:pPr algn="l">
              <a:lnSpc>
                <a:spcPct val="100000"/>
              </a:lnSpc>
              <a:spcBef>
                <a:spcPts val="0"/>
              </a:spcBef>
              <a:spcAft>
                <a:spcPts val="0"/>
              </a:spcAft>
            </a:pPr>
            <a:r>
              <a:rPr sz="1439" b="0" i="1" lang="en-US" spc="0">
                <a:solidFill>
                  <a:srgbClr val="BF3335"/>
                </a:solidFill>
                <a:latin typeface="Liberation Serif"/>
                <a:ea typeface="Liberation Serif"/>
                <a:effectLst/>
              </a:rPr>
              <a:t>t</a:t>
            </a:r>
          </a:p>
        </p:txBody>
      </p:sp>
      <p:sp>
        <p:nvSpPr>
          <p:cNvPr id="419" name="child / tool"/>
          <p:cNvSpPr txBox="1"/>
          <p:nvPr/>
        </p:nvSpPr>
        <p:spPr>
          <a:xfrm>
            <a:off x="475475" y="7605771"/>
            <a:ext cx="1221862" cy="252368"/>
          </a:xfrm>
          <a:prstGeom prst="rect">
            <a:avLst/>
          </a:prstGeom>
          <a:noFill/>
          <a:effectLst/>
        </p:spPr>
        <p:txBody>
          <a:bodyPr wrap="none" lIns="0" rIns="0" tIns="0" bIns="0" anchor="t">
            <a:spAutoFit/>
          </a:bodyPr>
          <a:lstStyle/>
          <a:p>
            <a:pPr algn="l">
              <a:lnSpc>
                <a:spcPct val="100000"/>
              </a:lnSpc>
              <a:spcBef>
                <a:spcPts val="0"/>
              </a:spcBef>
              <a:spcAft>
                <a:spcPts val="0"/>
              </a:spcAft>
            </a:pPr>
            <a:r>
              <a:rPr sz="1497" b="1" i="0" lang="en-US" spc="0">
                <a:solidFill>
                  <a:srgbClr val="181818"/>
                </a:solidFill>
                <a:latin typeface="DejaVu Sans"/>
                <a:ea typeface="DejaVu Sans"/>
                <a:effectLst/>
              </a:rPr>
              <a:t>child / tool</a:t>
            </a:r>
          </a:p>
        </p:txBody>
      </p:sp>
      <p:cxnSp>
        <p:nvCxnSpPr>
          <p:cNvPr id="420" name="line 419"/>
          <p:cNvCxnSpPr/>
          <p:nvPr/>
        </p:nvCxnSpPr>
        <p:spPr>
          <a:xfrm>
            <a:off x="2633400" y="7724640"/>
            <a:ext cx="10241000" cy="0"/>
          </a:xfrm>
          <a:prstGeom prst="line">
            <a:avLst/>
          </a:prstGeom>
          <a:ln w="7315">
            <a:solidFill>
              <a:srgbClr val="A6A6A6"/>
            </a:solidFill>
          </a:ln>
          <a:effectLst/>
        </p:spPr>
        <p:style>
          <a:lnRef idx="2">
            <a:schemeClr val="accent1"/>
          </a:lnRef>
          <a:fillRef idx="0">
            <a:schemeClr val="accent1"/>
          </a:fillRef>
          <a:effectRef idx="0">
            <a:schemeClr val="accent1"/>
          </a:effectRef>
          <a:fontRef idx="minor">
            <a:schemeClr val="tx1"/>
          </a:fontRef>
        </p:style>
      </p:cxnSp>
      <p:sp>
        <p:nvSpPr>
          <p:cNvPr id="421" name="prefetch"/>
          <p:cNvSpPr txBox="1"/>
          <p:nvPr/>
        </p:nvSpPr>
        <p:spPr>
          <a:xfrm>
            <a:off x="475475" y="8030041"/>
            <a:ext cx="997555" cy="252368"/>
          </a:xfrm>
          <a:prstGeom prst="rect">
            <a:avLst/>
          </a:prstGeom>
          <a:noFill/>
          <a:effectLst/>
        </p:spPr>
        <p:txBody>
          <a:bodyPr wrap="none" lIns="0" rIns="0" tIns="0" bIns="0" anchor="t">
            <a:spAutoFit/>
          </a:bodyPr>
          <a:lstStyle/>
          <a:p>
            <a:pPr algn="l">
              <a:lnSpc>
                <a:spcPct val="100000"/>
              </a:lnSpc>
              <a:spcBef>
                <a:spcPts val="0"/>
              </a:spcBef>
              <a:spcAft>
                <a:spcPts val="0"/>
              </a:spcAft>
            </a:pPr>
            <a:r>
              <a:rPr sz="1497" b="1" i="0" lang="en-US" spc="0">
                <a:solidFill>
                  <a:srgbClr val="181818"/>
                </a:solidFill>
                <a:latin typeface="DejaVu Sans"/>
                <a:ea typeface="DejaVu Sans"/>
                <a:effectLst/>
              </a:rPr>
              <a:t>prefetch</a:t>
            </a:r>
          </a:p>
        </p:txBody>
      </p:sp>
      <p:cxnSp>
        <p:nvCxnSpPr>
          <p:cNvPr id="422" name="line 421"/>
          <p:cNvCxnSpPr/>
          <p:nvPr/>
        </p:nvCxnSpPr>
        <p:spPr>
          <a:xfrm>
            <a:off x="2633400" y="8148910"/>
            <a:ext cx="10241000" cy="0"/>
          </a:xfrm>
          <a:prstGeom prst="line">
            <a:avLst/>
          </a:prstGeom>
          <a:ln w="7315">
            <a:solidFill>
              <a:srgbClr val="A6A6A6"/>
            </a:solidFill>
          </a:ln>
          <a:effectLst/>
        </p:spPr>
        <p:style>
          <a:lnRef idx="2">
            <a:schemeClr val="accent1"/>
          </a:lnRef>
          <a:fillRef idx="0">
            <a:schemeClr val="accent1"/>
          </a:fillRef>
          <a:effectRef idx="0">
            <a:schemeClr val="accent1"/>
          </a:effectRef>
          <a:fontRef idx="minor">
            <a:schemeClr val="tx1"/>
          </a:fontRef>
        </p:style>
      </p:cxnSp>
      <p:sp>
        <p:nvSpPr>
          <p:cNvPr id="423" name="reactive"/>
          <p:cNvSpPr txBox="1"/>
          <p:nvPr/>
        </p:nvSpPr>
        <p:spPr>
          <a:xfrm>
            <a:off x="475475" y="8454311"/>
            <a:ext cx="960780" cy="252368"/>
          </a:xfrm>
          <a:prstGeom prst="rect">
            <a:avLst/>
          </a:prstGeom>
          <a:noFill/>
          <a:effectLst/>
        </p:spPr>
        <p:txBody>
          <a:bodyPr wrap="none" lIns="0" rIns="0" tIns="0" bIns="0" anchor="t">
            <a:spAutoFit/>
          </a:bodyPr>
          <a:lstStyle/>
          <a:p>
            <a:pPr algn="l">
              <a:lnSpc>
                <a:spcPct val="100000"/>
              </a:lnSpc>
              <a:spcBef>
                <a:spcPts val="0"/>
              </a:spcBef>
              <a:spcAft>
                <a:spcPts val="0"/>
              </a:spcAft>
            </a:pPr>
            <a:r>
              <a:rPr sz="1497" b="1" i="0" lang="en-US" spc="0">
                <a:solidFill>
                  <a:srgbClr val="181818"/>
                </a:solidFill>
                <a:latin typeface="DejaVu Sans"/>
                <a:ea typeface="DejaVu Sans"/>
                <a:effectLst/>
              </a:rPr>
              <a:t>reactive</a:t>
            </a:r>
          </a:p>
        </p:txBody>
      </p:sp>
      <p:cxnSp>
        <p:nvCxnSpPr>
          <p:cNvPr id="424" name="line 423"/>
          <p:cNvCxnSpPr/>
          <p:nvPr/>
        </p:nvCxnSpPr>
        <p:spPr>
          <a:xfrm>
            <a:off x="2633400" y="8573180"/>
            <a:ext cx="10241000" cy="0"/>
          </a:xfrm>
          <a:prstGeom prst="line">
            <a:avLst/>
          </a:prstGeom>
          <a:ln w="7315">
            <a:solidFill>
              <a:srgbClr val="A6A6A6"/>
            </a:solidFill>
          </a:ln>
          <a:effectLst/>
        </p:spPr>
        <p:style>
          <a:lnRef idx="2">
            <a:schemeClr val="accent1"/>
          </a:lnRef>
          <a:fillRef idx="0">
            <a:schemeClr val="accent1"/>
          </a:fillRef>
          <a:effectRef idx="0">
            <a:schemeClr val="accent1"/>
          </a:effectRef>
          <a:fontRef idx="minor">
            <a:schemeClr val="tx1"/>
          </a:fontRef>
        </p:style>
      </p:cxnSp>
      <p:sp>
        <p:nvSpPr>
          <p:cNvPr id="425" name="rect 424"/>
          <p:cNvSpPr/>
          <p:nvPr/>
        </p:nvSpPr>
        <p:spPr>
          <a:xfrm>
            <a:off x="2633400" y="7600285"/>
            <a:ext cx="5852000" cy="248710"/>
          </a:xfrm>
          <a:prstGeom prst="roundRect">
            <a:avLst>
              <a:gd name="adj" fmla="val 2941"/>
            </a:avLst>
          </a:prstGeom>
          <a:solidFill>
            <a:srgbClr val="F2BD7D"/>
          </a:solidFill>
          <a:ln w="10972">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6" name="decode / tool"/>
          <p:cNvSpPr txBox="1"/>
          <p:nvPr/>
        </p:nvSpPr>
        <p:spPr>
          <a:xfrm>
            <a:off x="4508955" y="7613086"/>
            <a:ext cx="1281611" cy="243224"/>
          </a:xfrm>
          <a:prstGeom prst="rect">
            <a:avLst/>
          </a:prstGeom>
          <a:noFill/>
          <a:effectLst/>
        </p:spPr>
        <p:txBody>
          <a:bodyPr wrap="none" lIns="0" rIns="0" tIns="0" bIns="0" anchor="t">
            <a:spAutoFit/>
          </a:bodyPr>
          <a:lstStyle/>
          <a:p>
            <a:pPr algn="ctr">
              <a:lnSpc>
                <a:spcPct val="100000"/>
              </a:lnSpc>
              <a:spcBef>
                <a:spcPts val="0"/>
              </a:spcBef>
              <a:spcAft>
                <a:spcPts val="0"/>
              </a:spcAft>
            </a:pPr>
            <a:r>
              <a:rPr sz="1439" b="0" i="0" lang="en-US" spc="0">
                <a:solidFill>
                  <a:srgbClr val="181818"/>
                </a:solidFill>
                <a:latin typeface="DejaVu Sans"/>
                <a:ea typeface="DejaVu Sans"/>
                <a:effectLst/>
              </a:rPr>
              <a:t>decode / tool</a:t>
            </a:r>
          </a:p>
        </p:txBody>
      </p:sp>
      <p:sp>
        <p:nvSpPr>
          <p:cNvPr id="427" name="rect 426"/>
          <p:cNvSpPr/>
          <p:nvPr/>
        </p:nvSpPr>
        <p:spPr>
          <a:xfrm>
            <a:off x="6583500" y="8024555"/>
            <a:ext cx="2926000" cy="248710"/>
          </a:xfrm>
          <a:prstGeom prst="roundRect">
            <a:avLst>
              <a:gd name="adj" fmla="val 2941"/>
            </a:avLst>
          </a:prstGeom>
          <a:solidFill>
            <a:srgbClr val="F5D460"/>
          </a:solidFill>
          <a:ln w="10972">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8" name="H2D"/>
          <p:cNvSpPr txBox="1"/>
          <p:nvPr/>
        </p:nvSpPr>
        <p:spPr>
          <a:xfrm>
            <a:off x="7658962" y="8037356"/>
            <a:ext cx="482476" cy="243224"/>
          </a:xfrm>
          <a:prstGeom prst="rect">
            <a:avLst/>
          </a:prstGeom>
          <a:noFill/>
          <a:effectLst/>
        </p:spPr>
        <p:txBody>
          <a:bodyPr wrap="none" lIns="0" rIns="0" tIns="0" bIns="0" anchor="t">
            <a:spAutoFit/>
          </a:bodyPr>
          <a:lstStyle/>
          <a:p>
            <a:pPr algn="ctr">
              <a:lnSpc>
                <a:spcPct val="100000"/>
              </a:lnSpc>
              <a:spcBef>
                <a:spcPts val="0"/>
              </a:spcBef>
              <a:spcAft>
                <a:spcPts val="0"/>
              </a:spcAft>
            </a:pPr>
            <a:r>
              <a:rPr sz="1439" b="0" i="0" lang="en-US" spc="0">
                <a:solidFill>
                  <a:srgbClr val="181818"/>
                </a:solidFill>
                <a:latin typeface="DejaVu Sans"/>
                <a:ea typeface="DejaVu Sans"/>
                <a:effectLst/>
              </a:rPr>
              <a:t>H2D</a:t>
            </a:r>
          </a:p>
        </p:txBody>
      </p:sp>
      <p:sp>
        <p:nvSpPr>
          <p:cNvPr id="429" name="rect 428"/>
          <p:cNvSpPr/>
          <p:nvPr/>
        </p:nvSpPr>
        <p:spPr>
          <a:xfrm>
            <a:off x="9509500" y="8024555"/>
            <a:ext cx="1170400" cy="248710"/>
          </a:xfrm>
          <a:prstGeom prst="roundRect">
            <a:avLst>
              <a:gd name="adj" fmla="val 2941"/>
            </a:avLst>
          </a:prstGeom>
          <a:solidFill>
            <a:srgbClr val="DDDDDD"/>
          </a:solidFill>
          <a:ln w="9509">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0" name="rect 429"/>
          <p:cNvSpPr/>
          <p:nvPr/>
        </p:nvSpPr>
        <p:spPr>
          <a:xfrm>
            <a:off x="10679900" y="8024555"/>
            <a:ext cx="2194500" cy="248710"/>
          </a:xfrm>
          <a:prstGeom prst="roundRect">
            <a:avLst>
              <a:gd name="adj" fmla="val 2941"/>
            </a:avLst>
          </a:prstGeom>
          <a:solidFill>
            <a:srgbClr val="A9CEE8"/>
          </a:solidFill>
          <a:ln w="10972">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1" name="GPU"/>
          <p:cNvSpPr txBox="1"/>
          <p:nvPr/>
        </p:nvSpPr>
        <p:spPr>
          <a:xfrm>
            <a:off x="11540355" y="8037356"/>
            <a:ext cx="473589" cy="243224"/>
          </a:xfrm>
          <a:prstGeom prst="rect">
            <a:avLst/>
          </a:prstGeom>
          <a:noFill/>
          <a:effectLst/>
        </p:spPr>
        <p:txBody>
          <a:bodyPr wrap="none" lIns="0" rIns="0" tIns="0" bIns="0" anchor="t">
            <a:spAutoFit/>
          </a:bodyPr>
          <a:lstStyle/>
          <a:p>
            <a:pPr algn="ctr">
              <a:lnSpc>
                <a:spcPct val="100000"/>
              </a:lnSpc>
              <a:spcBef>
                <a:spcPts val="0"/>
              </a:spcBef>
              <a:spcAft>
                <a:spcPts val="0"/>
              </a:spcAft>
            </a:pPr>
            <a:r>
              <a:rPr sz="1439" b="0" i="0" lang="en-US" spc="0">
                <a:solidFill>
                  <a:srgbClr val="181818"/>
                </a:solidFill>
                <a:latin typeface="DejaVu Sans"/>
                <a:ea typeface="DejaVu Sans"/>
                <a:effectLst/>
              </a:rPr>
              <a:t>GPU</a:t>
            </a:r>
          </a:p>
        </p:txBody>
      </p:sp>
      <p:sp>
        <p:nvSpPr>
          <p:cNvPr id="432" name="ACK"/>
          <p:cNvSpPr txBox="1"/>
          <p:nvPr/>
        </p:nvSpPr>
        <p:spPr>
          <a:xfrm>
            <a:off x="9538760" y="7830708"/>
            <a:ext cx="398182" cy="208478"/>
          </a:xfrm>
          <a:prstGeom prst="rect">
            <a:avLst/>
          </a:prstGeom>
          <a:noFill/>
          <a:effectLst/>
        </p:spPr>
        <p:txBody>
          <a:bodyPr wrap="none" lIns="0" rIns="0" tIns="0" bIns="0" anchor="t">
            <a:spAutoFit/>
          </a:bodyPr>
          <a:lstStyle/>
          <a:p>
            <a:pPr algn="l">
              <a:lnSpc>
                <a:spcPct val="100000"/>
              </a:lnSpc>
              <a:spcBef>
                <a:spcPts val="0"/>
              </a:spcBef>
              <a:spcAft>
                <a:spcPts val="0"/>
              </a:spcAft>
            </a:pPr>
            <a:r>
              <a:rPr sz="1209" b="0" i="0" lang="en-US" spc="0">
                <a:solidFill>
                  <a:srgbClr val="181818"/>
                </a:solidFill>
                <a:latin typeface="DejaVu Sans"/>
                <a:ea typeface="DejaVu Sans"/>
                <a:effectLst/>
              </a:rPr>
              <a:t>ACK</a:t>
            </a:r>
          </a:p>
        </p:txBody>
      </p:sp>
      <p:sp>
        <p:nvSpPr>
          <p:cNvPr id="433" name="First use"/>
          <p:cNvSpPr txBox="1"/>
          <p:nvPr/>
        </p:nvSpPr>
        <p:spPr>
          <a:xfrm>
            <a:off x="10731105" y="7830708"/>
            <a:ext cx="731814" cy="208478"/>
          </a:xfrm>
          <a:prstGeom prst="rect">
            <a:avLst/>
          </a:prstGeom>
          <a:noFill/>
          <a:effectLst/>
        </p:spPr>
        <p:txBody>
          <a:bodyPr wrap="none" lIns="0" rIns="0" tIns="0" bIns="0" anchor="t">
            <a:spAutoFit/>
          </a:bodyPr>
          <a:lstStyle/>
          <a:p>
            <a:pPr algn="l">
              <a:lnSpc>
                <a:spcPct val="100000"/>
              </a:lnSpc>
              <a:spcBef>
                <a:spcPts val="0"/>
              </a:spcBef>
              <a:spcAft>
                <a:spcPts val="0"/>
              </a:spcAft>
            </a:pPr>
            <a:r>
              <a:rPr sz="1209" b="0" i="0" lang="en-US" spc="0">
                <a:solidFill>
                  <a:srgbClr val="181818"/>
                </a:solidFill>
                <a:latin typeface="DejaVu Sans"/>
                <a:ea typeface="DejaVu Sans"/>
                <a:effectLst/>
              </a:rPr>
              <a:t>First use</a:t>
            </a:r>
          </a:p>
        </p:txBody>
      </p:sp>
      <p:sp>
        <p:nvSpPr>
          <p:cNvPr id="434" name="rect 433"/>
          <p:cNvSpPr/>
          <p:nvPr/>
        </p:nvSpPr>
        <p:spPr>
          <a:xfrm>
            <a:off x="8485400" y="8448825"/>
            <a:ext cx="2926000" cy="248710"/>
          </a:xfrm>
          <a:prstGeom prst="roundRect">
            <a:avLst>
              <a:gd name="adj" fmla="val 2941"/>
            </a:avLst>
          </a:prstGeom>
          <a:solidFill>
            <a:srgbClr val="F5D460"/>
          </a:solidFill>
          <a:ln w="10972">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5" name="H2D"/>
          <p:cNvSpPr txBox="1"/>
          <p:nvPr/>
        </p:nvSpPr>
        <p:spPr>
          <a:xfrm>
            <a:off x="9707162" y="8461626"/>
            <a:ext cx="482476" cy="243224"/>
          </a:xfrm>
          <a:prstGeom prst="rect">
            <a:avLst/>
          </a:prstGeom>
          <a:noFill/>
          <a:effectLst/>
        </p:spPr>
        <p:txBody>
          <a:bodyPr wrap="none" lIns="0" rIns="0" tIns="0" bIns="0" anchor="t">
            <a:spAutoFit/>
          </a:bodyPr>
          <a:lstStyle/>
          <a:p>
            <a:pPr algn="ctr">
              <a:lnSpc>
                <a:spcPct val="100000"/>
              </a:lnSpc>
              <a:spcBef>
                <a:spcPts val="0"/>
              </a:spcBef>
              <a:spcAft>
                <a:spcPts val="0"/>
              </a:spcAft>
            </a:pPr>
            <a:r>
              <a:rPr sz="1439" b="0" i="0" lang="en-US" spc="0">
                <a:solidFill>
                  <a:srgbClr val="181818"/>
                </a:solidFill>
                <a:latin typeface="DejaVu Sans"/>
                <a:ea typeface="DejaVu Sans"/>
                <a:effectLst/>
              </a:rPr>
              <a:t>H2D</a:t>
            </a:r>
          </a:p>
        </p:txBody>
      </p:sp>
      <p:sp>
        <p:nvSpPr>
          <p:cNvPr id="436" name="rect 435"/>
          <p:cNvSpPr/>
          <p:nvPr/>
        </p:nvSpPr>
        <p:spPr>
          <a:xfrm>
            <a:off x="11411400" y="8448825"/>
            <a:ext cx="1463000" cy="248710"/>
          </a:xfrm>
          <a:prstGeom prst="roundRect">
            <a:avLst>
              <a:gd name="adj" fmla="val 2941"/>
            </a:avLst>
          </a:prstGeom>
          <a:solidFill>
            <a:srgbClr val="A9CEE8"/>
          </a:solidFill>
          <a:ln w="10972">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7" name="GPU"/>
          <p:cNvSpPr txBox="1"/>
          <p:nvPr/>
        </p:nvSpPr>
        <p:spPr>
          <a:xfrm>
            <a:off x="11906105" y="8461626"/>
            <a:ext cx="473589" cy="243224"/>
          </a:xfrm>
          <a:prstGeom prst="rect">
            <a:avLst/>
          </a:prstGeom>
          <a:noFill/>
          <a:effectLst/>
        </p:spPr>
        <p:txBody>
          <a:bodyPr wrap="none" lIns="0" rIns="0" tIns="0" bIns="0" anchor="t">
            <a:spAutoFit/>
          </a:bodyPr>
          <a:lstStyle/>
          <a:p>
            <a:pPr algn="ctr">
              <a:lnSpc>
                <a:spcPct val="100000"/>
              </a:lnSpc>
              <a:spcBef>
                <a:spcPts val="0"/>
              </a:spcBef>
              <a:spcAft>
                <a:spcPts val="0"/>
              </a:spcAft>
            </a:pPr>
            <a:r>
              <a:rPr sz="1439" b="0" i="0" lang="en-US" spc="0">
                <a:solidFill>
                  <a:srgbClr val="181818"/>
                </a:solidFill>
                <a:latin typeface="DejaVu Sans"/>
                <a:ea typeface="DejaVu Sans"/>
                <a:effectLst/>
              </a:rPr>
              <a:t>GPU</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V Lifecycle and Restore-aware Admission"/>
          <p:cNvSpPr txBox="1"/>
          <p:nvPr/>
        </p:nvSpPr>
        <p:spPr>
          <a:xfrm>
            <a:off x="292600" y="120698"/>
            <a:ext cx="6594958" cy="345634"/>
          </a:xfrm>
          <a:prstGeom prst="rect">
            <a:avLst/>
          </a:prstGeom>
          <a:noFill/>
          <a:effectLst/>
        </p:spPr>
        <p:txBody>
          <a:bodyPr wrap="none" lIns="0" rIns="0" tIns="0" bIns="0" anchor="t">
            <a:spAutoFit/>
          </a:bodyPr>
          <a:lstStyle/>
          <a:p>
            <a:pPr algn="l">
              <a:lnSpc>
                <a:spcPct val="100000"/>
              </a:lnSpc>
              <a:spcBef>
                <a:spcPts val="0"/>
              </a:spcBef>
              <a:spcAft>
                <a:spcPts val="0"/>
              </a:spcAft>
            </a:pPr>
            <a:r>
              <a:rPr sz="2131" b="1" i="0" lang="en-US" spc="0">
                <a:solidFill>
                  <a:srgbClr val="181818"/>
                </a:solidFill>
                <a:latin typeface="DejaVu Sans"/>
                <a:ea typeface="DejaVu Sans"/>
                <a:effectLst/>
              </a:rPr>
              <a:t>KV Lifecycle and Restore-aware Admission</a:t>
            </a:r>
          </a:p>
        </p:txBody>
      </p:sp>
      <p:sp>
        <p:nvSpPr>
          <p:cNvPr id="3" name="Stable FULL extents · checkpoint state · missing pages · child-to-parent capacity"/>
          <p:cNvSpPr txBox="1"/>
          <p:nvPr/>
        </p:nvSpPr>
        <p:spPr>
          <a:xfrm>
            <a:off x="292600" y="479132"/>
            <a:ext cx="7157670" cy="235909"/>
          </a:xfrm>
          <a:prstGeom prst="rect">
            <a:avLst/>
          </a:prstGeom>
          <a:noFill/>
          <a:effectLst/>
        </p:spPr>
        <p:txBody>
          <a:bodyPr wrap="none" lIns="0" rIns="0" tIns="0" bIns="0" anchor="t">
            <a:spAutoFit/>
          </a:bodyPr>
          <a:lstStyle/>
          <a:p>
            <a:pPr algn="l">
              <a:lnSpc>
                <a:spcPct val="100000"/>
              </a:lnSpc>
              <a:spcBef>
                <a:spcPts val="0"/>
              </a:spcBef>
              <a:spcAft>
                <a:spcPts val="0"/>
              </a:spcAft>
            </a:pPr>
            <a:r>
              <a:rPr sz="1382" b="0" i="0" lang="en-US" spc="0">
                <a:solidFill>
                  <a:srgbClr val="535353"/>
                </a:solidFill>
                <a:latin typeface="DejaVu Sans"/>
                <a:ea typeface="DejaVu Sans"/>
                <a:effectLst/>
              </a:rPr>
              <a:t>Stable FULL extents · checkpoint state · missing pages · child-to-parent capacity</a:t>
            </a:r>
          </a:p>
        </p:txBody>
      </p:sp>
      <p:cxnSp>
        <p:nvCxnSpPr>
          <p:cNvPr id="4" name="line 3"/>
          <p:cNvCxnSpPr/>
          <p:nvPr/>
        </p:nvCxnSpPr>
        <p:spPr>
          <a:xfrm>
            <a:off x="292600" y="790020"/>
            <a:ext cx="12581800" cy="0"/>
          </a:xfrm>
          <a:prstGeom prst="line">
            <a:avLst/>
          </a:prstGeom>
          <a:ln w="11704">
            <a:solidFill>
              <a:srgbClr val="181818"/>
            </a:solidFill>
          </a:ln>
          <a:effectLst/>
        </p:spPr>
        <p:style>
          <a:lnRef idx="2">
            <a:schemeClr val="accent1"/>
          </a:lnRef>
          <a:fillRef idx="0">
            <a:schemeClr val="accent1"/>
          </a:fillRef>
          <a:effectRef idx="0">
            <a:schemeClr val="accent1"/>
          </a:effectRef>
          <a:fontRef idx="minor">
            <a:schemeClr val="tx1"/>
          </a:fontRef>
        </p:style>
      </p:cxnSp>
      <p:sp>
        <p:nvSpPr>
          <p:cNvPr id="5" name="rect 4"/>
          <p:cNvSpPr/>
          <p:nvPr/>
        </p:nvSpPr>
        <p:spPr>
          <a:xfrm>
            <a:off x="292600" y="965580"/>
            <a:ext cx="7607600" cy="2084775"/>
          </a:xfrm>
          <a:prstGeom prst="roundRect">
            <a:avLst>
              <a:gd name="adj" fmla="val 701"/>
            </a:avLst>
          </a:prstGeom>
          <a:solidFill>
            <a:srgbClr val="EEEEEE"/>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rect 5"/>
          <p:cNvSpPr/>
          <p:nvPr/>
        </p:nvSpPr>
        <p:spPr>
          <a:xfrm>
            <a:off x="292600" y="965580"/>
            <a:ext cx="7607600" cy="277970"/>
          </a:xfrm>
          <a:prstGeom prst="roundRect">
            <a:avLst>
              <a:gd name="adj" fmla="val 5263"/>
            </a:avLst>
          </a:prstGeom>
          <a:solidFill>
            <a:srgbClr val="9DC38B"/>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a) Stable FULL: incremental PREPARE_HOST"/>
          <p:cNvSpPr txBox="1"/>
          <p:nvPr/>
        </p:nvSpPr>
        <p:spPr>
          <a:xfrm>
            <a:off x="395010" y="988330"/>
            <a:ext cx="4871361" cy="252368"/>
          </a:xfrm>
          <a:prstGeom prst="rect">
            <a:avLst/>
          </a:prstGeom>
          <a:noFill/>
          <a:effectLst/>
        </p:spPr>
        <p:txBody>
          <a:bodyPr wrap="none" lIns="0" rIns="0" tIns="0" bIns="0" anchor="t">
            <a:spAutoFit/>
          </a:bodyPr>
          <a:lstStyle/>
          <a:p>
            <a:pPr algn="l">
              <a:lnSpc>
                <a:spcPct val="100000"/>
              </a:lnSpc>
              <a:spcBef>
                <a:spcPts val="0"/>
              </a:spcBef>
              <a:spcAft>
                <a:spcPts val="0"/>
              </a:spcAft>
            </a:pPr>
            <a:r>
              <a:rPr sz="1497" b="1" i="0" lang="en-US" spc="0">
                <a:solidFill>
                  <a:srgbClr val="181818"/>
                </a:solidFill>
                <a:latin typeface="DejaVu Sans"/>
                <a:ea typeface="DejaVu Sans"/>
                <a:effectLst/>
              </a:rPr>
              <a:t>(a) Stable FULL: incremental PREPARE_HOST</a:t>
            </a:r>
          </a:p>
        </p:txBody>
      </p:sp>
      <p:sp>
        <p:nvSpPr>
          <p:cNvPr id="8" name="HBM"/>
          <p:cNvSpPr txBox="1"/>
          <p:nvPr/>
        </p:nvSpPr>
        <p:spPr>
          <a:xfrm>
            <a:off x="497420" y="1594670"/>
            <a:ext cx="619146" cy="268826"/>
          </a:xfrm>
          <a:prstGeom prst="rect">
            <a:avLst/>
          </a:prstGeom>
          <a:noFill/>
          <a:effectLst/>
        </p:spPr>
        <p:txBody>
          <a:bodyPr wrap="none" lIns="0" rIns="0" tIns="0" bIns="0" anchor="t">
            <a:spAutoFit/>
          </a:bodyPr>
          <a:lstStyle/>
          <a:p>
            <a:pPr algn="l">
              <a:lnSpc>
                <a:spcPct val="100000"/>
              </a:lnSpc>
              <a:spcBef>
                <a:spcPts val="0"/>
              </a:spcBef>
              <a:spcAft>
                <a:spcPts val="0"/>
              </a:spcAft>
            </a:pPr>
            <a:r>
              <a:rPr sz="1612" b="1" i="0" lang="en-US" spc="0">
                <a:solidFill>
                  <a:srgbClr val="181818"/>
                </a:solidFill>
                <a:latin typeface="DejaVu Sans"/>
                <a:ea typeface="DejaVu Sans"/>
                <a:effectLst/>
              </a:rPr>
              <a:t>HBM</a:t>
            </a:r>
          </a:p>
        </p:txBody>
      </p:sp>
      <p:sp>
        <p:nvSpPr>
          <p:cNvPr id="9" name="Host"/>
          <p:cNvSpPr txBox="1"/>
          <p:nvPr/>
        </p:nvSpPr>
        <p:spPr>
          <a:xfrm>
            <a:off x="497420" y="2201815"/>
            <a:ext cx="619775" cy="268826"/>
          </a:xfrm>
          <a:prstGeom prst="rect">
            <a:avLst/>
          </a:prstGeom>
          <a:noFill/>
          <a:effectLst/>
        </p:spPr>
        <p:txBody>
          <a:bodyPr wrap="none" lIns="0" rIns="0" tIns="0" bIns="0" anchor="t">
            <a:spAutoFit/>
          </a:bodyPr>
          <a:lstStyle/>
          <a:p>
            <a:pPr algn="l">
              <a:lnSpc>
                <a:spcPct val="100000"/>
              </a:lnSpc>
              <a:spcBef>
                <a:spcPts val="0"/>
              </a:spcBef>
              <a:spcAft>
                <a:spcPts val="0"/>
              </a:spcAft>
            </a:pPr>
            <a:r>
              <a:rPr sz="1612" b="1" i="0" lang="en-US" spc="0">
                <a:solidFill>
                  <a:srgbClr val="181818"/>
                </a:solidFill>
                <a:latin typeface="DejaVu Sans"/>
                <a:ea typeface="DejaVu Sans"/>
                <a:effectLst/>
              </a:rPr>
              <a:t>Host</a:t>
            </a:r>
          </a:p>
        </p:txBody>
      </p:sp>
      <p:sp>
        <p:nvSpPr>
          <p:cNvPr id="10" name="path 9"/>
          <p:cNvSpPr/>
          <p:nvPr/>
        </p:nvSpPr>
        <p:spPr>
          <a:xfrm>
            <a:off x="1558095" y="1477630"/>
            <a:ext cx="1097250" cy="51205"/>
          </a:xfrm>
          <a:custGeom>
            <a:avLst/>
            <a:gdLst/>
            <a:ahLst/>
            <a:cxnLst/>
            <a:rect l="l" t="t" r="r" b="b"/>
            <a:pathLst>
              <a:path w="150" h="7">
                <a:moveTo>
                  <a:pt x="0" y="7"/>
                </a:moveTo>
                <a:lnTo>
                  <a:pt x="0" y="0"/>
                </a:lnTo>
                <a:lnTo>
                  <a:pt x="150" y="0"/>
                </a:lnTo>
                <a:lnTo>
                  <a:pt x="150" y="7"/>
                </a:lnTo>
              </a:path>
            </a:pathLst>
          </a:custGeom>
          <a:noFill/>
          <a:ln w="11704">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e"/>
          <p:cNvSpPr txBox="1"/>
          <p:nvPr/>
        </p:nvSpPr>
        <p:spPr>
          <a:xfrm>
            <a:off x="2032098" y="1254522"/>
            <a:ext cx="165702" cy="224936"/>
          </a:xfrm>
          <a:prstGeom prst="rect">
            <a:avLst/>
          </a:prstGeom>
          <a:noFill/>
          <a:effectLst/>
        </p:spPr>
        <p:txBody>
          <a:bodyPr wrap="none" lIns="0" rIns="0" tIns="0" bIns="0" anchor="t">
            <a:spAutoFit/>
          </a:bodyPr>
          <a:lstStyle/>
          <a:p>
            <a:pPr algn="l">
              <a:lnSpc>
                <a:spcPct val="100000"/>
              </a:lnSpc>
              <a:spcBef>
                <a:spcPts val="0"/>
              </a:spcBef>
              <a:spcAft>
                <a:spcPts val="0"/>
              </a:spcAft>
            </a:pPr>
            <a:r>
              <a:rPr sz="1382" b="0" i="1" lang="en-US" spc="0">
                <a:solidFill>
                  <a:srgbClr val="181818"/>
                </a:solidFill>
                <a:latin typeface="Liberation Serif"/>
                <a:ea typeface="Liberation Serif"/>
                <a:effectLst/>
              </a:rPr>
              <a:t>e</a:t>
            </a:r>
          </a:p>
        </p:txBody>
      </p:sp>
      <p:sp>
        <p:nvSpPr>
          <p:cNvPr id="12" name="0"/>
          <p:cNvSpPr txBox="1"/>
          <p:nvPr/>
        </p:nvSpPr>
        <p:spPr>
          <a:xfrm>
            <a:off x="2117335" y="1353275"/>
            <a:ext cx="144471" cy="157272"/>
          </a:xfrm>
          <a:prstGeom prst="rect">
            <a:avLst/>
          </a:prstGeom>
          <a:noFill/>
          <a:effectLst/>
        </p:spPr>
        <p:txBody>
          <a:bodyPr wrap="none" lIns="0" rIns="0" tIns="0" bIns="0" anchor="t">
            <a:spAutoFit/>
          </a:bodyPr>
          <a:lstStyle/>
          <a:p>
            <a:pPr algn="l">
              <a:lnSpc>
                <a:spcPct val="100000"/>
              </a:lnSpc>
              <a:spcBef>
                <a:spcPts val="0"/>
              </a:spcBef>
              <a:spcAft>
                <a:spcPts val="0"/>
              </a:spcAft>
            </a:pPr>
            <a:r>
              <a:rPr sz="898" b="0" i="0" lang="en-US" spc="0">
                <a:solidFill>
                  <a:srgbClr val="181818"/>
                </a:solidFill>
                <a:latin typeface="Liberation Serif"/>
                <a:ea typeface="Liberation Serif"/>
                <a:effectLst/>
              </a:rPr>
              <a:t>0</a:t>
            </a:r>
          </a:p>
        </p:txBody>
      </p:sp>
      <p:sp>
        <p:nvSpPr>
          <p:cNvPr id="13" name="path 12"/>
          <p:cNvSpPr/>
          <p:nvPr/>
        </p:nvSpPr>
        <p:spPr>
          <a:xfrm>
            <a:off x="2816275" y="1477630"/>
            <a:ext cx="1097250" cy="51205"/>
          </a:xfrm>
          <a:custGeom>
            <a:avLst/>
            <a:gdLst/>
            <a:ahLst/>
            <a:cxnLst/>
            <a:rect l="l" t="t" r="r" b="b"/>
            <a:pathLst>
              <a:path w="150" h="7">
                <a:moveTo>
                  <a:pt x="0" y="7"/>
                </a:moveTo>
                <a:lnTo>
                  <a:pt x="0" y="0"/>
                </a:lnTo>
                <a:lnTo>
                  <a:pt x="150" y="0"/>
                </a:lnTo>
                <a:lnTo>
                  <a:pt x="150" y="7"/>
                </a:lnTo>
              </a:path>
            </a:pathLst>
          </a:custGeom>
          <a:noFill/>
          <a:ln w="11704">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e"/>
          <p:cNvSpPr txBox="1"/>
          <p:nvPr/>
        </p:nvSpPr>
        <p:spPr>
          <a:xfrm>
            <a:off x="3290278" y="1254522"/>
            <a:ext cx="165702" cy="224936"/>
          </a:xfrm>
          <a:prstGeom prst="rect">
            <a:avLst/>
          </a:prstGeom>
          <a:noFill/>
          <a:effectLst/>
        </p:spPr>
        <p:txBody>
          <a:bodyPr wrap="none" lIns="0" rIns="0" tIns="0" bIns="0" anchor="t">
            <a:spAutoFit/>
          </a:bodyPr>
          <a:lstStyle/>
          <a:p>
            <a:pPr algn="l">
              <a:lnSpc>
                <a:spcPct val="100000"/>
              </a:lnSpc>
              <a:spcBef>
                <a:spcPts val="0"/>
              </a:spcBef>
              <a:spcAft>
                <a:spcPts val="0"/>
              </a:spcAft>
            </a:pPr>
            <a:r>
              <a:rPr sz="1382" b="0" i="1" lang="en-US" spc="0">
                <a:solidFill>
                  <a:srgbClr val="181818"/>
                </a:solidFill>
                <a:latin typeface="Liberation Serif"/>
                <a:ea typeface="Liberation Serif"/>
                <a:effectLst/>
              </a:rPr>
              <a:t>e</a:t>
            </a:r>
          </a:p>
        </p:txBody>
      </p:sp>
      <p:sp>
        <p:nvSpPr>
          <p:cNvPr id="15" name="1"/>
          <p:cNvSpPr txBox="1"/>
          <p:nvPr/>
        </p:nvSpPr>
        <p:spPr>
          <a:xfrm>
            <a:off x="3375515" y="1353275"/>
            <a:ext cx="144471" cy="157272"/>
          </a:xfrm>
          <a:prstGeom prst="rect">
            <a:avLst/>
          </a:prstGeom>
          <a:noFill/>
          <a:effectLst/>
        </p:spPr>
        <p:txBody>
          <a:bodyPr wrap="none" lIns="0" rIns="0" tIns="0" bIns="0" anchor="t">
            <a:spAutoFit/>
          </a:bodyPr>
          <a:lstStyle/>
          <a:p>
            <a:pPr algn="l">
              <a:lnSpc>
                <a:spcPct val="100000"/>
              </a:lnSpc>
              <a:spcBef>
                <a:spcPts val="0"/>
              </a:spcBef>
              <a:spcAft>
                <a:spcPts val="0"/>
              </a:spcAft>
            </a:pPr>
            <a:r>
              <a:rPr sz="898" b="0" i="0" lang="en-US" spc="0">
                <a:solidFill>
                  <a:srgbClr val="181818"/>
                </a:solidFill>
                <a:latin typeface="Liberation Serif"/>
                <a:ea typeface="Liberation Serif"/>
                <a:effectLst/>
              </a:rPr>
              <a:t>1</a:t>
            </a:r>
          </a:p>
        </p:txBody>
      </p:sp>
      <p:sp>
        <p:nvSpPr>
          <p:cNvPr id="16" name="path 15"/>
          <p:cNvSpPr/>
          <p:nvPr/>
        </p:nvSpPr>
        <p:spPr>
          <a:xfrm>
            <a:off x="4074455" y="1477630"/>
            <a:ext cx="1097250" cy="51205"/>
          </a:xfrm>
          <a:custGeom>
            <a:avLst/>
            <a:gdLst/>
            <a:ahLst/>
            <a:cxnLst/>
            <a:rect l="l" t="t" r="r" b="b"/>
            <a:pathLst>
              <a:path w="150" h="7">
                <a:moveTo>
                  <a:pt x="0" y="7"/>
                </a:moveTo>
                <a:lnTo>
                  <a:pt x="0" y="0"/>
                </a:lnTo>
                <a:lnTo>
                  <a:pt x="150" y="0"/>
                </a:lnTo>
                <a:lnTo>
                  <a:pt x="150" y="7"/>
                </a:lnTo>
              </a:path>
            </a:pathLst>
          </a:custGeom>
          <a:noFill/>
          <a:ln w="11704">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e"/>
          <p:cNvSpPr txBox="1"/>
          <p:nvPr/>
        </p:nvSpPr>
        <p:spPr>
          <a:xfrm>
            <a:off x="4548458" y="1254522"/>
            <a:ext cx="165702" cy="224936"/>
          </a:xfrm>
          <a:prstGeom prst="rect">
            <a:avLst/>
          </a:prstGeom>
          <a:noFill/>
          <a:effectLst/>
        </p:spPr>
        <p:txBody>
          <a:bodyPr wrap="none" lIns="0" rIns="0" tIns="0" bIns="0" anchor="t">
            <a:spAutoFit/>
          </a:bodyPr>
          <a:lstStyle/>
          <a:p>
            <a:pPr algn="l">
              <a:lnSpc>
                <a:spcPct val="100000"/>
              </a:lnSpc>
              <a:spcBef>
                <a:spcPts val="0"/>
              </a:spcBef>
              <a:spcAft>
                <a:spcPts val="0"/>
              </a:spcAft>
            </a:pPr>
            <a:r>
              <a:rPr sz="1382" b="0" i="1" lang="en-US" spc="0">
                <a:solidFill>
                  <a:srgbClr val="181818"/>
                </a:solidFill>
                <a:latin typeface="Liberation Serif"/>
                <a:ea typeface="Liberation Serif"/>
                <a:effectLst/>
              </a:rPr>
              <a:t>e</a:t>
            </a:r>
          </a:p>
        </p:txBody>
      </p:sp>
      <p:sp>
        <p:nvSpPr>
          <p:cNvPr id="18" name="2"/>
          <p:cNvSpPr txBox="1"/>
          <p:nvPr/>
        </p:nvSpPr>
        <p:spPr>
          <a:xfrm>
            <a:off x="4633695" y="1353275"/>
            <a:ext cx="144471" cy="157272"/>
          </a:xfrm>
          <a:prstGeom prst="rect">
            <a:avLst/>
          </a:prstGeom>
          <a:noFill/>
          <a:effectLst/>
        </p:spPr>
        <p:txBody>
          <a:bodyPr wrap="none" lIns="0" rIns="0" tIns="0" bIns="0" anchor="t">
            <a:spAutoFit/>
          </a:bodyPr>
          <a:lstStyle/>
          <a:p>
            <a:pPr algn="l">
              <a:lnSpc>
                <a:spcPct val="100000"/>
              </a:lnSpc>
              <a:spcBef>
                <a:spcPts val="0"/>
              </a:spcBef>
              <a:spcAft>
                <a:spcPts val="0"/>
              </a:spcAft>
            </a:pPr>
            <a:r>
              <a:rPr sz="898" b="0" i="0" lang="en-US" spc="0">
                <a:solidFill>
                  <a:srgbClr val="181818"/>
                </a:solidFill>
                <a:latin typeface="Liberation Serif"/>
                <a:ea typeface="Liberation Serif"/>
                <a:effectLst/>
              </a:rPr>
              <a:t>2</a:t>
            </a:r>
          </a:p>
        </p:txBody>
      </p:sp>
      <p:sp>
        <p:nvSpPr>
          <p:cNvPr id="19" name="path 18"/>
          <p:cNvSpPr/>
          <p:nvPr/>
        </p:nvSpPr>
        <p:spPr>
          <a:xfrm>
            <a:off x="5332635" y="1477630"/>
            <a:ext cx="1097250" cy="51205"/>
          </a:xfrm>
          <a:custGeom>
            <a:avLst/>
            <a:gdLst/>
            <a:ahLst/>
            <a:cxnLst/>
            <a:rect l="l" t="t" r="r" b="b"/>
            <a:pathLst>
              <a:path w="150" h="7">
                <a:moveTo>
                  <a:pt x="0" y="7"/>
                </a:moveTo>
                <a:lnTo>
                  <a:pt x="0" y="0"/>
                </a:lnTo>
                <a:lnTo>
                  <a:pt x="150" y="0"/>
                </a:lnTo>
                <a:lnTo>
                  <a:pt x="150" y="7"/>
                </a:lnTo>
              </a:path>
            </a:pathLst>
          </a:custGeom>
          <a:noFill/>
          <a:ln w="11704">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e"/>
          <p:cNvSpPr txBox="1"/>
          <p:nvPr/>
        </p:nvSpPr>
        <p:spPr>
          <a:xfrm>
            <a:off x="5806638" y="1254522"/>
            <a:ext cx="165702" cy="224936"/>
          </a:xfrm>
          <a:prstGeom prst="rect">
            <a:avLst/>
          </a:prstGeom>
          <a:noFill/>
          <a:effectLst/>
        </p:spPr>
        <p:txBody>
          <a:bodyPr wrap="none" lIns="0" rIns="0" tIns="0" bIns="0" anchor="t">
            <a:spAutoFit/>
          </a:bodyPr>
          <a:lstStyle/>
          <a:p>
            <a:pPr algn="l">
              <a:lnSpc>
                <a:spcPct val="100000"/>
              </a:lnSpc>
              <a:spcBef>
                <a:spcPts val="0"/>
              </a:spcBef>
              <a:spcAft>
                <a:spcPts val="0"/>
              </a:spcAft>
            </a:pPr>
            <a:r>
              <a:rPr sz="1382" b="0" i="1" lang="en-US" spc="0">
                <a:solidFill>
                  <a:srgbClr val="181818"/>
                </a:solidFill>
                <a:latin typeface="Liberation Serif"/>
                <a:ea typeface="Liberation Serif"/>
                <a:effectLst/>
              </a:rPr>
              <a:t>e</a:t>
            </a:r>
          </a:p>
        </p:txBody>
      </p:sp>
      <p:sp>
        <p:nvSpPr>
          <p:cNvPr id="21" name="3"/>
          <p:cNvSpPr txBox="1"/>
          <p:nvPr/>
        </p:nvSpPr>
        <p:spPr>
          <a:xfrm>
            <a:off x="5891875" y="1353275"/>
            <a:ext cx="144471" cy="157272"/>
          </a:xfrm>
          <a:prstGeom prst="rect">
            <a:avLst/>
          </a:prstGeom>
          <a:noFill/>
          <a:effectLst/>
        </p:spPr>
        <p:txBody>
          <a:bodyPr wrap="none" lIns="0" rIns="0" tIns="0" bIns="0" anchor="t">
            <a:spAutoFit/>
          </a:bodyPr>
          <a:lstStyle/>
          <a:p>
            <a:pPr algn="l">
              <a:lnSpc>
                <a:spcPct val="100000"/>
              </a:lnSpc>
              <a:spcBef>
                <a:spcPts val="0"/>
              </a:spcBef>
              <a:spcAft>
                <a:spcPts val="0"/>
              </a:spcAft>
            </a:pPr>
            <a:r>
              <a:rPr sz="898" b="0" i="0" lang="en-US" spc="0">
                <a:solidFill>
                  <a:srgbClr val="181818"/>
                </a:solidFill>
                <a:latin typeface="Liberation Serif"/>
                <a:ea typeface="Liberation Serif"/>
                <a:effectLst/>
              </a:rPr>
              <a:t>3</a:t>
            </a:r>
          </a:p>
        </p:txBody>
      </p:sp>
      <p:sp>
        <p:nvSpPr>
          <p:cNvPr id="22" name="rect 21"/>
          <p:cNvSpPr/>
          <p:nvPr/>
        </p:nvSpPr>
        <p:spPr>
          <a:xfrm>
            <a:off x="1558095" y="1558095"/>
            <a:ext cx="468160" cy="321860"/>
          </a:xfrm>
          <a:prstGeom prst="roundRect">
            <a:avLst>
              <a:gd name="adj" fmla="val 2272"/>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p0"/>
          <p:cNvSpPr txBox="1"/>
          <p:nvPr/>
        </p:nvSpPr>
        <p:spPr>
          <a:xfrm>
            <a:off x="1639860" y="1628612"/>
            <a:ext cx="304630" cy="208478"/>
          </a:xfrm>
          <a:prstGeom prst="rect">
            <a:avLst/>
          </a:prstGeom>
          <a:noFill/>
          <a:effectLst/>
        </p:spPr>
        <p:txBody>
          <a:bodyPr wrap="none" lIns="0" rIns="0" tIns="0" bIns="0" anchor="t">
            <a:spAutoFit/>
          </a:bodyPr>
          <a:lstStyle/>
          <a:p>
            <a:pPr algn="ctr">
              <a:lnSpc>
                <a:spcPct val="100000"/>
              </a:lnSpc>
              <a:spcBef>
                <a:spcPts val="0"/>
              </a:spcBef>
              <a:spcAft>
                <a:spcPts val="0"/>
              </a:spcAft>
            </a:pPr>
            <a:r>
              <a:rPr sz="1209" b="1" i="0" lang="en-US" spc="0">
                <a:solidFill>
                  <a:srgbClr val="181818"/>
                </a:solidFill>
                <a:latin typeface="DejaVu Sans"/>
                <a:ea typeface="DejaVu Sans"/>
                <a:effectLst/>
              </a:rPr>
              <a:t>p0</a:t>
            </a:r>
          </a:p>
        </p:txBody>
      </p:sp>
      <p:sp>
        <p:nvSpPr>
          <p:cNvPr id="24" name="rect 23"/>
          <p:cNvSpPr/>
          <p:nvPr/>
        </p:nvSpPr>
        <p:spPr>
          <a:xfrm>
            <a:off x="1558095" y="2165240"/>
            <a:ext cx="468160" cy="321860"/>
          </a:xfrm>
          <a:prstGeom prst="roundRect">
            <a:avLst>
              <a:gd name="adj" fmla="val 2272"/>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p0"/>
          <p:cNvSpPr txBox="1"/>
          <p:nvPr/>
        </p:nvSpPr>
        <p:spPr>
          <a:xfrm>
            <a:off x="1639860" y="2235757"/>
            <a:ext cx="304630" cy="208478"/>
          </a:xfrm>
          <a:prstGeom prst="rect">
            <a:avLst/>
          </a:prstGeom>
          <a:noFill/>
          <a:effectLst/>
        </p:spPr>
        <p:txBody>
          <a:bodyPr wrap="none" lIns="0" rIns="0" tIns="0" bIns="0" anchor="t">
            <a:spAutoFit/>
          </a:bodyPr>
          <a:lstStyle/>
          <a:p>
            <a:pPr algn="ctr">
              <a:lnSpc>
                <a:spcPct val="100000"/>
              </a:lnSpc>
              <a:spcBef>
                <a:spcPts val="0"/>
              </a:spcBef>
              <a:spcAft>
                <a:spcPts val="0"/>
              </a:spcAft>
            </a:pPr>
            <a:r>
              <a:rPr sz="1209" b="1" i="0" lang="en-US" spc="0">
                <a:solidFill>
                  <a:srgbClr val="181818"/>
                </a:solidFill>
                <a:latin typeface="DejaVu Sans"/>
                <a:ea typeface="DejaVu Sans"/>
                <a:effectLst/>
              </a:rPr>
              <a:t>p0</a:t>
            </a:r>
          </a:p>
        </p:txBody>
      </p:sp>
      <p:sp>
        <p:nvSpPr>
          <p:cNvPr id="26" name="rect 25"/>
          <p:cNvSpPr/>
          <p:nvPr/>
        </p:nvSpPr>
        <p:spPr>
          <a:xfrm>
            <a:off x="2187185" y="1558095"/>
            <a:ext cx="468160" cy="321860"/>
          </a:xfrm>
          <a:prstGeom prst="roundRect">
            <a:avLst>
              <a:gd name="adj" fmla="val 2272"/>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p1"/>
          <p:cNvSpPr txBox="1"/>
          <p:nvPr/>
        </p:nvSpPr>
        <p:spPr>
          <a:xfrm>
            <a:off x="2268950" y="1628612"/>
            <a:ext cx="304630" cy="208478"/>
          </a:xfrm>
          <a:prstGeom prst="rect">
            <a:avLst/>
          </a:prstGeom>
          <a:noFill/>
          <a:effectLst/>
        </p:spPr>
        <p:txBody>
          <a:bodyPr wrap="none" lIns="0" rIns="0" tIns="0" bIns="0" anchor="t">
            <a:spAutoFit/>
          </a:bodyPr>
          <a:lstStyle/>
          <a:p>
            <a:pPr algn="ctr">
              <a:lnSpc>
                <a:spcPct val="100000"/>
              </a:lnSpc>
              <a:spcBef>
                <a:spcPts val="0"/>
              </a:spcBef>
              <a:spcAft>
                <a:spcPts val="0"/>
              </a:spcAft>
            </a:pPr>
            <a:r>
              <a:rPr sz="1209" b="1" i="0" lang="en-US" spc="0">
                <a:solidFill>
                  <a:srgbClr val="181818"/>
                </a:solidFill>
                <a:latin typeface="DejaVu Sans"/>
                <a:ea typeface="DejaVu Sans"/>
                <a:effectLst/>
              </a:rPr>
              <a:t>p1</a:t>
            </a:r>
          </a:p>
        </p:txBody>
      </p:sp>
      <p:sp>
        <p:nvSpPr>
          <p:cNvPr id="28" name="rect 27"/>
          <p:cNvSpPr/>
          <p:nvPr/>
        </p:nvSpPr>
        <p:spPr>
          <a:xfrm>
            <a:off x="2187185" y="2165240"/>
            <a:ext cx="468160" cy="321860"/>
          </a:xfrm>
          <a:prstGeom prst="roundRect">
            <a:avLst>
              <a:gd name="adj" fmla="val 2272"/>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p1"/>
          <p:cNvSpPr txBox="1"/>
          <p:nvPr/>
        </p:nvSpPr>
        <p:spPr>
          <a:xfrm>
            <a:off x="2268950" y="2235757"/>
            <a:ext cx="304630" cy="208478"/>
          </a:xfrm>
          <a:prstGeom prst="rect">
            <a:avLst/>
          </a:prstGeom>
          <a:noFill/>
          <a:effectLst/>
        </p:spPr>
        <p:txBody>
          <a:bodyPr wrap="none" lIns="0" rIns="0" tIns="0" bIns="0" anchor="t">
            <a:spAutoFit/>
          </a:bodyPr>
          <a:lstStyle/>
          <a:p>
            <a:pPr algn="ctr">
              <a:lnSpc>
                <a:spcPct val="100000"/>
              </a:lnSpc>
              <a:spcBef>
                <a:spcPts val="0"/>
              </a:spcBef>
              <a:spcAft>
                <a:spcPts val="0"/>
              </a:spcAft>
            </a:pPr>
            <a:r>
              <a:rPr sz="1209" b="1" i="0" lang="en-US" spc="0">
                <a:solidFill>
                  <a:srgbClr val="181818"/>
                </a:solidFill>
                <a:latin typeface="DejaVu Sans"/>
                <a:ea typeface="DejaVu Sans"/>
                <a:effectLst/>
              </a:rPr>
              <a:t>p1</a:t>
            </a:r>
          </a:p>
        </p:txBody>
      </p:sp>
      <p:sp>
        <p:nvSpPr>
          <p:cNvPr id="30" name="rect 29"/>
          <p:cNvSpPr/>
          <p:nvPr/>
        </p:nvSpPr>
        <p:spPr>
          <a:xfrm>
            <a:off x="2816275" y="1558095"/>
            <a:ext cx="468160" cy="321860"/>
          </a:xfrm>
          <a:prstGeom prst="roundRect">
            <a:avLst>
              <a:gd name="adj" fmla="val 2272"/>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p2"/>
          <p:cNvSpPr txBox="1"/>
          <p:nvPr/>
        </p:nvSpPr>
        <p:spPr>
          <a:xfrm>
            <a:off x="2898040" y="1628612"/>
            <a:ext cx="304630" cy="208478"/>
          </a:xfrm>
          <a:prstGeom prst="rect">
            <a:avLst/>
          </a:prstGeom>
          <a:noFill/>
          <a:effectLst/>
        </p:spPr>
        <p:txBody>
          <a:bodyPr wrap="none" lIns="0" rIns="0" tIns="0" bIns="0" anchor="t">
            <a:spAutoFit/>
          </a:bodyPr>
          <a:lstStyle/>
          <a:p>
            <a:pPr algn="ctr">
              <a:lnSpc>
                <a:spcPct val="100000"/>
              </a:lnSpc>
              <a:spcBef>
                <a:spcPts val="0"/>
              </a:spcBef>
              <a:spcAft>
                <a:spcPts val="0"/>
              </a:spcAft>
            </a:pPr>
            <a:r>
              <a:rPr sz="1209" b="1" i="0" lang="en-US" spc="0">
                <a:solidFill>
                  <a:srgbClr val="181818"/>
                </a:solidFill>
                <a:latin typeface="DejaVu Sans"/>
                <a:ea typeface="DejaVu Sans"/>
                <a:effectLst/>
              </a:rPr>
              <a:t>p2</a:t>
            </a:r>
          </a:p>
        </p:txBody>
      </p:sp>
      <p:sp>
        <p:nvSpPr>
          <p:cNvPr id="32" name="rect 31"/>
          <p:cNvSpPr/>
          <p:nvPr/>
        </p:nvSpPr>
        <p:spPr>
          <a:xfrm>
            <a:off x="2816275" y="2165240"/>
            <a:ext cx="468160" cy="321860"/>
          </a:xfrm>
          <a:prstGeom prst="roundRect">
            <a:avLst>
              <a:gd name="adj" fmla="val 2272"/>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p2"/>
          <p:cNvSpPr txBox="1"/>
          <p:nvPr/>
        </p:nvSpPr>
        <p:spPr>
          <a:xfrm>
            <a:off x="2898040" y="2235757"/>
            <a:ext cx="304630" cy="208478"/>
          </a:xfrm>
          <a:prstGeom prst="rect">
            <a:avLst/>
          </a:prstGeom>
          <a:noFill/>
          <a:effectLst/>
        </p:spPr>
        <p:txBody>
          <a:bodyPr wrap="none" lIns="0" rIns="0" tIns="0" bIns="0" anchor="t">
            <a:spAutoFit/>
          </a:bodyPr>
          <a:lstStyle/>
          <a:p>
            <a:pPr algn="ctr">
              <a:lnSpc>
                <a:spcPct val="100000"/>
              </a:lnSpc>
              <a:spcBef>
                <a:spcPts val="0"/>
              </a:spcBef>
              <a:spcAft>
                <a:spcPts val="0"/>
              </a:spcAft>
            </a:pPr>
            <a:r>
              <a:rPr sz="1209" b="1" i="0" lang="en-US" spc="0">
                <a:solidFill>
                  <a:srgbClr val="181818"/>
                </a:solidFill>
                <a:latin typeface="DejaVu Sans"/>
                <a:ea typeface="DejaVu Sans"/>
                <a:effectLst/>
              </a:rPr>
              <a:t>p2</a:t>
            </a:r>
          </a:p>
        </p:txBody>
      </p:sp>
      <p:sp>
        <p:nvSpPr>
          <p:cNvPr id="34" name="rect 33"/>
          <p:cNvSpPr/>
          <p:nvPr/>
        </p:nvSpPr>
        <p:spPr>
          <a:xfrm>
            <a:off x="3445365" y="1558095"/>
            <a:ext cx="468160" cy="321860"/>
          </a:xfrm>
          <a:prstGeom prst="roundRect">
            <a:avLst>
              <a:gd name="adj" fmla="val 2272"/>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 name="p3"/>
          <p:cNvSpPr txBox="1"/>
          <p:nvPr/>
        </p:nvSpPr>
        <p:spPr>
          <a:xfrm>
            <a:off x="3527130" y="1628612"/>
            <a:ext cx="304630" cy="208478"/>
          </a:xfrm>
          <a:prstGeom prst="rect">
            <a:avLst/>
          </a:prstGeom>
          <a:noFill/>
          <a:effectLst/>
        </p:spPr>
        <p:txBody>
          <a:bodyPr wrap="none" lIns="0" rIns="0" tIns="0" bIns="0" anchor="t">
            <a:spAutoFit/>
          </a:bodyPr>
          <a:lstStyle/>
          <a:p>
            <a:pPr algn="ctr">
              <a:lnSpc>
                <a:spcPct val="100000"/>
              </a:lnSpc>
              <a:spcBef>
                <a:spcPts val="0"/>
              </a:spcBef>
              <a:spcAft>
                <a:spcPts val="0"/>
              </a:spcAft>
            </a:pPr>
            <a:r>
              <a:rPr sz="1209" b="1" i="0" lang="en-US" spc="0">
                <a:solidFill>
                  <a:srgbClr val="181818"/>
                </a:solidFill>
                <a:latin typeface="DejaVu Sans"/>
                <a:ea typeface="DejaVu Sans"/>
                <a:effectLst/>
              </a:rPr>
              <a:t>p3</a:t>
            </a:r>
          </a:p>
        </p:txBody>
      </p:sp>
      <p:sp>
        <p:nvSpPr>
          <p:cNvPr id="36" name="rect 35"/>
          <p:cNvSpPr/>
          <p:nvPr/>
        </p:nvSpPr>
        <p:spPr>
          <a:xfrm>
            <a:off x="3445365" y="2165240"/>
            <a:ext cx="468160" cy="321860"/>
          </a:xfrm>
          <a:prstGeom prst="roundRect">
            <a:avLst>
              <a:gd name="adj" fmla="val 2272"/>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 name="p3"/>
          <p:cNvSpPr txBox="1"/>
          <p:nvPr/>
        </p:nvSpPr>
        <p:spPr>
          <a:xfrm>
            <a:off x="3527130" y="2235757"/>
            <a:ext cx="304630" cy="208478"/>
          </a:xfrm>
          <a:prstGeom prst="rect">
            <a:avLst/>
          </a:prstGeom>
          <a:noFill/>
          <a:effectLst/>
        </p:spPr>
        <p:txBody>
          <a:bodyPr wrap="none" lIns="0" rIns="0" tIns="0" bIns="0" anchor="t">
            <a:spAutoFit/>
          </a:bodyPr>
          <a:lstStyle/>
          <a:p>
            <a:pPr algn="ctr">
              <a:lnSpc>
                <a:spcPct val="100000"/>
              </a:lnSpc>
              <a:spcBef>
                <a:spcPts val="0"/>
              </a:spcBef>
              <a:spcAft>
                <a:spcPts val="0"/>
              </a:spcAft>
            </a:pPr>
            <a:r>
              <a:rPr sz="1209" b="1" i="0" lang="en-US" spc="0">
                <a:solidFill>
                  <a:srgbClr val="181818"/>
                </a:solidFill>
                <a:latin typeface="DejaVu Sans"/>
                <a:ea typeface="DejaVu Sans"/>
                <a:effectLst/>
              </a:rPr>
              <a:t>p3</a:t>
            </a:r>
          </a:p>
        </p:txBody>
      </p:sp>
      <p:sp>
        <p:nvSpPr>
          <p:cNvPr id="38" name="rect 37"/>
          <p:cNvSpPr/>
          <p:nvPr/>
        </p:nvSpPr>
        <p:spPr>
          <a:xfrm>
            <a:off x="4074455" y="1558095"/>
            <a:ext cx="468160" cy="321860"/>
          </a:xfrm>
          <a:prstGeom prst="roundRect">
            <a:avLst>
              <a:gd name="adj" fmla="val 2272"/>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p4"/>
          <p:cNvSpPr txBox="1"/>
          <p:nvPr/>
        </p:nvSpPr>
        <p:spPr>
          <a:xfrm>
            <a:off x="4156220" y="1628612"/>
            <a:ext cx="304630" cy="208478"/>
          </a:xfrm>
          <a:prstGeom prst="rect">
            <a:avLst/>
          </a:prstGeom>
          <a:noFill/>
          <a:effectLst/>
        </p:spPr>
        <p:txBody>
          <a:bodyPr wrap="none" lIns="0" rIns="0" tIns="0" bIns="0" anchor="t">
            <a:spAutoFit/>
          </a:bodyPr>
          <a:lstStyle/>
          <a:p>
            <a:pPr algn="ctr">
              <a:lnSpc>
                <a:spcPct val="100000"/>
              </a:lnSpc>
              <a:spcBef>
                <a:spcPts val="0"/>
              </a:spcBef>
              <a:spcAft>
                <a:spcPts val="0"/>
              </a:spcAft>
            </a:pPr>
            <a:r>
              <a:rPr sz="1209" b="1" i="0" lang="en-US" spc="0">
                <a:solidFill>
                  <a:srgbClr val="181818"/>
                </a:solidFill>
                <a:latin typeface="DejaVu Sans"/>
                <a:ea typeface="DejaVu Sans"/>
                <a:effectLst/>
              </a:rPr>
              <a:t>p4</a:t>
            </a:r>
          </a:p>
        </p:txBody>
      </p:sp>
      <p:sp>
        <p:nvSpPr>
          <p:cNvPr id="40" name="rect 39"/>
          <p:cNvSpPr/>
          <p:nvPr/>
        </p:nvSpPr>
        <p:spPr>
          <a:xfrm>
            <a:off x="4074455" y="2165240"/>
            <a:ext cx="468160" cy="321860"/>
          </a:xfrm>
          <a:prstGeom prst="roundRect">
            <a:avLst>
              <a:gd name="adj" fmla="val 2272"/>
            </a:avLst>
          </a:prstGeom>
          <a:solidFill>
            <a:srgbClr val="FFFFFF"/>
          </a:solidFill>
          <a:ln w="13167">
            <a:solidFill>
              <a:srgbClr val="969696"/>
            </a:solidFill>
            <a:prstDash val="dash"/>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p4"/>
          <p:cNvSpPr txBox="1"/>
          <p:nvPr/>
        </p:nvSpPr>
        <p:spPr>
          <a:xfrm>
            <a:off x="4156220" y="2235757"/>
            <a:ext cx="304630" cy="208478"/>
          </a:xfrm>
          <a:prstGeom prst="rect">
            <a:avLst/>
          </a:prstGeom>
          <a:noFill/>
          <a:effectLst/>
        </p:spPr>
        <p:txBody>
          <a:bodyPr wrap="none" lIns="0" rIns="0" tIns="0" bIns="0" anchor="t">
            <a:spAutoFit/>
          </a:bodyPr>
          <a:lstStyle/>
          <a:p>
            <a:pPr algn="ctr">
              <a:lnSpc>
                <a:spcPct val="100000"/>
              </a:lnSpc>
              <a:spcBef>
                <a:spcPts val="0"/>
              </a:spcBef>
              <a:spcAft>
                <a:spcPts val="0"/>
              </a:spcAft>
            </a:pPr>
            <a:r>
              <a:rPr sz="1209" b="1" i="0" lang="en-US" spc="0">
                <a:solidFill>
                  <a:srgbClr val="181818"/>
                </a:solidFill>
                <a:latin typeface="DejaVu Sans"/>
                <a:ea typeface="DejaVu Sans"/>
                <a:effectLst/>
              </a:rPr>
              <a:t>p4</a:t>
            </a:r>
          </a:p>
        </p:txBody>
      </p:sp>
      <p:cxnSp>
        <p:nvCxnSpPr>
          <p:cNvPr id="42" name="path 41"/>
          <p:cNvCxnSpPr/>
          <p:nvPr/>
        </p:nvCxnSpPr>
        <p:spPr>
          <a:xfrm>
            <a:off x="4308535" y="1894585"/>
            <a:ext cx="0" cy="234080"/>
          </a:xfrm>
          <a:prstGeom prst="line">
            <a:avLst/>
          </a:prstGeom>
          <a:ln w="14630">
            <a:solidFill>
              <a:srgbClr val="BF3335"/>
            </a:solidFill>
          </a:ln>
          <a:effectLst/>
        </p:spPr>
        <p:style>
          <a:lnRef idx="2">
            <a:schemeClr val="accent1"/>
          </a:lnRef>
          <a:fillRef idx="0">
            <a:schemeClr val="accent1"/>
          </a:fillRef>
          <a:effectRef idx="0">
            <a:schemeClr val="accent1"/>
          </a:effectRef>
          <a:fontRef idx="minor">
            <a:schemeClr val="tx1"/>
          </a:fontRef>
        </p:style>
      </p:cxnSp>
      <p:sp>
        <p:nvSpPr>
          <p:cNvPr id="43" name="arrowhead 42"/>
          <p:cNvSpPr/>
          <p:nvPr/>
        </p:nvSpPr>
        <p:spPr>
          <a:xfrm>
            <a:off x="4257330" y="2040885"/>
            <a:ext cx="102410" cy="102410"/>
          </a:xfrm>
          <a:custGeom>
            <a:avLst/>
            <a:gdLst/>
            <a:ahLst/>
            <a:cxnLst/>
            <a:rect l="l" t="t" r="r" b="b"/>
            <a:pathLst>
              <a:path w="14" h="14">
                <a:moveTo>
                  <a:pt x="7" y="14"/>
                </a:moveTo>
                <a:lnTo>
                  <a:pt x="0" y="0"/>
                </a:lnTo>
                <a:lnTo>
                  <a:pt x="14" y="0"/>
                </a:lnTo>
                <a:close/>
              </a:path>
            </a:pathLst>
          </a:custGeom>
          <a:solidFill>
            <a:srgbClr val="BF333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rect 43"/>
          <p:cNvSpPr/>
          <p:nvPr/>
        </p:nvSpPr>
        <p:spPr>
          <a:xfrm>
            <a:off x="4703545" y="1558095"/>
            <a:ext cx="468160" cy="321860"/>
          </a:xfrm>
          <a:prstGeom prst="roundRect">
            <a:avLst>
              <a:gd name="adj" fmla="val 2272"/>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 name="p5"/>
          <p:cNvSpPr txBox="1"/>
          <p:nvPr/>
        </p:nvSpPr>
        <p:spPr>
          <a:xfrm>
            <a:off x="4785310" y="1628612"/>
            <a:ext cx="304630" cy="208478"/>
          </a:xfrm>
          <a:prstGeom prst="rect">
            <a:avLst/>
          </a:prstGeom>
          <a:noFill/>
          <a:effectLst/>
        </p:spPr>
        <p:txBody>
          <a:bodyPr wrap="none" lIns="0" rIns="0" tIns="0" bIns="0" anchor="t">
            <a:spAutoFit/>
          </a:bodyPr>
          <a:lstStyle/>
          <a:p>
            <a:pPr algn="ctr">
              <a:lnSpc>
                <a:spcPct val="100000"/>
              </a:lnSpc>
              <a:spcBef>
                <a:spcPts val="0"/>
              </a:spcBef>
              <a:spcAft>
                <a:spcPts val="0"/>
              </a:spcAft>
            </a:pPr>
            <a:r>
              <a:rPr sz="1209" b="1" i="0" lang="en-US" spc="0">
                <a:solidFill>
                  <a:srgbClr val="181818"/>
                </a:solidFill>
                <a:latin typeface="DejaVu Sans"/>
                <a:ea typeface="DejaVu Sans"/>
                <a:effectLst/>
              </a:rPr>
              <a:t>p5</a:t>
            </a:r>
          </a:p>
        </p:txBody>
      </p:sp>
      <p:sp>
        <p:nvSpPr>
          <p:cNvPr id="46" name="rect 45"/>
          <p:cNvSpPr/>
          <p:nvPr/>
        </p:nvSpPr>
        <p:spPr>
          <a:xfrm>
            <a:off x="4703545" y="2165240"/>
            <a:ext cx="468160" cy="321860"/>
          </a:xfrm>
          <a:prstGeom prst="roundRect">
            <a:avLst>
              <a:gd name="adj" fmla="val 2272"/>
            </a:avLst>
          </a:prstGeom>
          <a:solidFill>
            <a:srgbClr val="FFFFFF"/>
          </a:solidFill>
          <a:ln w="13167">
            <a:solidFill>
              <a:srgbClr val="969696"/>
            </a:solidFill>
            <a:prstDash val="dash"/>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7" name="p5"/>
          <p:cNvSpPr txBox="1"/>
          <p:nvPr/>
        </p:nvSpPr>
        <p:spPr>
          <a:xfrm>
            <a:off x="4785310" y="2235757"/>
            <a:ext cx="304630" cy="208478"/>
          </a:xfrm>
          <a:prstGeom prst="rect">
            <a:avLst/>
          </a:prstGeom>
          <a:noFill/>
          <a:effectLst/>
        </p:spPr>
        <p:txBody>
          <a:bodyPr wrap="none" lIns="0" rIns="0" tIns="0" bIns="0" anchor="t">
            <a:spAutoFit/>
          </a:bodyPr>
          <a:lstStyle/>
          <a:p>
            <a:pPr algn="ctr">
              <a:lnSpc>
                <a:spcPct val="100000"/>
              </a:lnSpc>
              <a:spcBef>
                <a:spcPts val="0"/>
              </a:spcBef>
              <a:spcAft>
                <a:spcPts val="0"/>
              </a:spcAft>
            </a:pPr>
            <a:r>
              <a:rPr sz="1209" b="1" i="0" lang="en-US" spc="0">
                <a:solidFill>
                  <a:srgbClr val="181818"/>
                </a:solidFill>
                <a:latin typeface="DejaVu Sans"/>
                <a:ea typeface="DejaVu Sans"/>
                <a:effectLst/>
              </a:rPr>
              <a:t>p5</a:t>
            </a:r>
          </a:p>
        </p:txBody>
      </p:sp>
      <p:cxnSp>
        <p:nvCxnSpPr>
          <p:cNvPr id="48" name="path 47"/>
          <p:cNvCxnSpPr/>
          <p:nvPr/>
        </p:nvCxnSpPr>
        <p:spPr>
          <a:xfrm>
            <a:off x="4937625" y="1894585"/>
            <a:ext cx="0" cy="234080"/>
          </a:xfrm>
          <a:prstGeom prst="line">
            <a:avLst/>
          </a:prstGeom>
          <a:ln w="14630">
            <a:solidFill>
              <a:srgbClr val="BF3335"/>
            </a:solidFill>
          </a:ln>
          <a:effectLst/>
        </p:spPr>
        <p:style>
          <a:lnRef idx="2">
            <a:schemeClr val="accent1"/>
          </a:lnRef>
          <a:fillRef idx="0">
            <a:schemeClr val="accent1"/>
          </a:fillRef>
          <a:effectRef idx="0">
            <a:schemeClr val="accent1"/>
          </a:effectRef>
          <a:fontRef idx="minor">
            <a:schemeClr val="tx1"/>
          </a:fontRef>
        </p:style>
      </p:cxnSp>
      <p:sp>
        <p:nvSpPr>
          <p:cNvPr id="49" name="arrowhead 48"/>
          <p:cNvSpPr/>
          <p:nvPr/>
        </p:nvSpPr>
        <p:spPr>
          <a:xfrm>
            <a:off x="4886420" y="2040885"/>
            <a:ext cx="102410" cy="102410"/>
          </a:xfrm>
          <a:custGeom>
            <a:avLst/>
            <a:gdLst/>
            <a:ahLst/>
            <a:cxnLst/>
            <a:rect l="l" t="t" r="r" b="b"/>
            <a:pathLst>
              <a:path w="14" h="14">
                <a:moveTo>
                  <a:pt x="7" y="14"/>
                </a:moveTo>
                <a:lnTo>
                  <a:pt x="0" y="0"/>
                </a:lnTo>
                <a:lnTo>
                  <a:pt x="14" y="0"/>
                </a:lnTo>
                <a:close/>
              </a:path>
            </a:pathLst>
          </a:custGeom>
          <a:solidFill>
            <a:srgbClr val="BF333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0" name="rect 49"/>
          <p:cNvSpPr/>
          <p:nvPr/>
        </p:nvSpPr>
        <p:spPr>
          <a:xfrm>
            <a:off x="5332635" y="1558095"/>
            <a:ext cx="468160" cy="321860"/>
          </a:xfrm>
          <a:prstGeom prst="roundRect">
            <a:avLst>
              <a:gd name="adj" fmla="val 2272"/>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1" name="p6"/>
          <p:cNvSpPr txBox="1"/>
          <p:nvPr/>
        </p:nvSpPr>
        <p:spPr>
          <a:xfrm>
            <a:off x="5414400" y="1628612"/>
            <a:ext cx="304630" cy="208478"/>
          </a:xfrm>
          <a:prstGeom prst="rect">
            <a:avLst/>
          </a:prstGeom>
          <a:noFill/>
          <a:effectLst/>
        </p:spPr>
        <p:txBody>
          <a:bodyPr wrap="none" lIns="0" rIns="0" tIns="0" bIns="0" anchor="t">
            <a:spAutoFit/>
          </a:bodyPr>
          <a:lstStyle/>
          <a:p>
            <a:pPr algn="ctr">
              <a:lnSpc>
                <a:spcPct val="100000"/>
              </a:lnSpc>
              <a:spcBef>
                <a:spcPts val="0"/>
              </a:spcBef>
              <a:spcAft>
                <a:spcPts val="0"/>
              </a:spcAft>
            </a:pPr>
            <a:r>
              <a:rPr sz="1209" b="1" i="0" lang="en-US" spc="0">
                <a:solidFill>
                  <a:srgbClr val="181818"/>
                </a:solidFill>
                <a:latin typeface="DejaVu Sans"/>
                <a:ea typeface="DejaVu Sans"/>
                <a:effectLst/>
              </a:rPr>
              <a:t>p6</a:t>
            </a:r>
          </a:p>
        </p:txBody>
      </p:sp>
      <p:sp>
        <p:nvSpPr>
          <p:cNvPr id="52" name="rect 51"/>
          <p:cNvSpPr/>
          <p:nvPr/>
        </p:nvSpPr>
        <p:spPr>
          <a:xfrm>
            <a:off x="5332635" y="2165240"/>
            <a:ext cx="468160" cy="321860"/>
          </a:xfrm>
          <a:prstGeom prst="roundRect">
            <a:avLst>
              <a:gd name="adj" fmla="val 2272"/>
            </a:avLst>
          </a:prstGeom>
          <a:solidFill>
            <a:srgbClr val="FFFFFF"/>
          </a:solidFill>
          <a:ln w="13167">
            <a:solidFill>
              <a:srgbClr val="969696"/>
            </a:solidFill>
            <a:prstDash val="dash"/>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3" name="p6"/>
          <p:cNvSpPr txBox="1"/>
          <p:nvPr/>
        </p:nvSpPr>
        <p:spPr>
          <a:xfrm>
            <a:off x="5414400" y="2235757"/>
            <a:ext cx="304630" cy="208478"/>
          </a:xfrm>
          <a:prstGeom prst="rect">
            <a:avLst/>
          </a:prstGeom>
          <a:noFill/>
          <a:effectLst/>
        </p:spPr>
        <p:txBody>
          <a:bodyPr wrap="none" lIns="0" rIns="0" tIns="0" bIns="0" anchor="t">
            <a:spAutoFit/>
          </a:bodyPr>
          <a:lstStyle/>
          <a:p>
            <a:pPr algn="ctr">
              <a:lnSpc>
                <a:spcPct val="100000"/>
              </a:lnSpc>
              <a:spcBef>
                <a:spcPts val="0"/>
              </a:spcBef>
              <a:spcAft>
                <a:spcPts val="0"/>
              </a:spcAft>
            </a:pPr>
            <a:r>
              <a:rPr sz="1209" b="1" i="0" lang="en-US" spc="0">
                <a:solidFill>
                  <a:srgbClr val="181818"/>
                </a:solidFill>
                <a:latin typeface="DejaVu Sans"/>
                <a:ea typeface="DejaVu Sans"/>
                <a:effectLst/>
              </a:rPr>
              <a:t>p6</a:t>
            </a:r>
          </a:p>
        </p:txBody>
      </p:sp>
      <p:cxnSp>
        <p:nvCxnSpPr>
          <p:cNvPr id="54" name="path 53"/>
          <p:cNvCxnSpPr/>
          <p:nvPr/>
        </p:nvCxnSpPr>
        <p:spPr>
          <a:xfrm>
            <a:off x="5566715" y="1894585"/>
            <a:ext cx="0" cy="234080"/>
          </a:xfrm>
          <a:prstGeom prst="line">
            <a:avLst/>
          </a:prstGeom>
          <a:ln w="14630">
            <a:solidFill>
              <a:srgbClr val="BF3335"/>
            </a:solidFill>
          </a:ln>
          <a:effectLst/>
        </p:spPr>
        <p:style>
          <a:lnRef idx="2">
            <a:schemeClr val="accent1"/>
          </a:lnRef>
          <a:fillRef idx="0">
            <a:schemeClr val="accent1"/>
          </a:fillRef>
          <a:effectRef idx="0">
            <a:schemeClr val="accent1"/>
          </a:effectRef>
          <a:fontRef idx="minor">
            <a:schemeClr val="tx1"/>
          </a:fontRef>
        </p:style>
      </p:cxnSp>
      <p:sp>
        <p:nvSpPr>
          <p:cNvPr id="55" name="arrowhead 54"/>
          <p:cNvSpPr/>
          <p:nvPr/>
        </p:nvSpPr>
        <p:spPr>
          <a:xfrm>
            <a:off x="5515510" y="2040885"/>
            <a:ext cx="102410" cy="102410"/>
          </a:xfrm>
          <a:custGeom>
            <a:avLst/>
            <a:gdLst/>
            <a:ahLst/>
            <a:cxnLst/>
            <a:rect l="l" t="t" r="r" b="b"/>
            <a:pathLst>
              <a:path w="14" h="14">
                <a:moveTo>
                  <a:pt x="7" y="14"/>
                </a:moveTo>
                <a:lnTo>
                  <a:pt x="0" y="0"/>
                </a:lnTo>
                <a:lnTo>
                  <a:pt x="14" y="0"/>
                </a:lnTo>
                <a:close/>
              </a:path>
            </a:pathLst>
          </a:custGeom>
          <a:solidFill>
            <a:srgbClr val="BF333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6" name="rect 55"/>
          <p:cNvSpPr/>
          <p:nvPr/>
        </p:nvSpPr>
        <p:spPr>
          <a:xfrm>
            <a:off x="5961725" y="1558095"/>
            <a:ext cx="468160" cy="321860"/>
          </a:xfrm>
          <a:prstGeom prst="roundRect">
            <a:avLst>
              <a:gd name="adj" fmla="val 2272"/>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7" name="p7"/>
          <p:cNvSpPr txBox="1"/>
          <p:nvPr/>
        </p:nvSpPr>
        <p:spPr>
          <a:xfrm>
            <a:off x="6043490" y="1628612"/>
            <a:ext cx="304630" cy="208478"/>
          </a:xfrm>
          <a:prstGeom prst="rect">
            <a:avLst/>
          </a:prstGeom>
          <a:noFill/>
          <a:effectLst/>
        </p:spPr>
        <p:txBody>
          <a:bodyPr wrap="none" lIns="0" rIns="0" tIns="0" bIns="0" anchor="t">
            <a:spAutoFit/>
          </a:bodyPr>
          <a:lstStyle/>
          <a:p>
            <a:pPr algn="ctr">
              <a:lnSpc>
                <a:spcPct val="100000"/>
              </a:lnSpc>
              <a:spcBef>
                <a:spcPts val="0"/>
              </a:spcBef>
              <a:spcAft>
                <a:spcPts val="0"/>
              </a:spcAft>
            </a:pPr>
            <a:r>
              <a:rPr sz="1209" b="1" i="0" lang="en-US" spc="0">
                <a:solidFill>
                  <a:srgbClr val="181818"/>
                </a:solidFill>
                <a:latin typeface="DejaVu Sans"/>
                <a:ea typeface="DejaVu Sans"/>
                <a:effectLst/>
              </a:rPr>
              <a:t>p7</a:t>
            </a:r>
          </a:p>
        </p:txBody>
      </p:sp>
      <p:sp>
        <p:nvSpPr>
          <p:cNvPr id="58" name="rect 57"/>
          <p:cNvSpPr/>
          <p:nvPr/>
        </p:nvSpPr>
        <p:spPr>
          <a:xfrm>
            <a:off x="5961725" y="2165240"/>
            <a:ext cx="468160" cy="321860"/>
          </a:xfrm>
          <a:prstGeom prst="roundRect">
            <a:avLst>
              <a:gd name="adj" fmla="val 2272"/>
            </a:avLst>
          </a:prstGeom>
          <a:solidFill>
            <a:srgbClr val="FFFFFF"/>
          </a:solidFill>
          <a:ln w="13167">
            <a:solidFill>
              <a:srgbClr val="969696"/>
            </a:solidFill>
            <a:prstDash val="dash"/>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9" name="p7"/>
          <p:cNvSpPr txBox="1"/>
          <p:nvPr/>
        </p:nvSpPr>
        <p:spPr>
          <a:xfrm>
            <a:off x="6043490" y="2235757"/>
            <a:ext cx="304630" cy="208478"/>
          </a:xfrm>
          <a:prstGeom prst="rect">
            <a:avLst/>
          </a:prstGeom>
          <a:noFill/>
          <a:effectLst/>
        </p:spPr>
        <p:txBody>
          <a:bodyPr wrap="none" lIns="0" rIns="0" tIns="0" bIns="0" anchor="t">
            <a:spAutoFit/>
          </a:bodyPr>
          <a:lstStyle/>
          <a:p>
            <a:pPr algn="ctr">
              <a:lnSpc>
                <a:spcPct val="100000"/>
              </a:lnSpc>
              <a:spcBef>
                <a:spcPts val="0"/>
              </a:spcBef>
              <a:spcAft>
                <a:spcPts val="0"/>
              </a:spcAft>
            </a:pPr>
            <a:r>
              <a:rPr sz="1209" b="1" i="0" lang="en-US" spc="0">
                <a:solidFill>
                  <a:srgbClr val="181818"/>
                </a:solidFill>
                <a:latin typeface="DejaVu Sans"/>
                <a:ea typeface="DejaVu Sans"/>
                <a:effectLst/>
              </a:rPr>
              <a:t>p7</a:t>
            </a:r>
          </a:p>
        </p:txBody>
      </p:sp>
      <p:cxnSp>
        <p:nvCxnSpPr>
          <p:cNvPr id="60" name="path 59"/>
          <p:cNvCxnSpPr/>
          <p:nvPr/>
        </p:nvCxnSpPr>
        <p:spPr>
          <a:xfrm>
            <a:off x="6195805" y="1894585"/>
            <a:ext cx="0" cy="234080"/>
          </a:xfrm>
          <a:prstGeom prst="line">
            <a:avLst/>
          </a:prstGeom>
          <a:ln w="14630">
            <a:solidFill>
              <a:srgbClr val="BF3335"/>
            </a:solidFill>
          </a:ln>
          <a:effectLst/>
        </p:spPr>
        <p:style>
          <a:lnRef idx="2">
            <a:schemeClr val="accent1"/>
          </a:lnRef>
          <a:fillRef idx="0">
            <a:schemeClr val="accent1"/>
          </a:fillRef>
          <a:effectRef idx="0">
            <a:schemeClr val="accent1"/>
          </a:effectRef>
          <a:fontRef idx="minor">
            <a:schemeClr val="tx1"/>
          </a:fontRef>
        </p:style>
      </p:cxnSp>
      <p:sp>
        <p:nvSpPr>
          <p:cNvPr id="61" name="arrowhead 60"/>
          <p:cNvSpPr/>
          <p:nvPr/>
        </p:nvSpPr>
        <p:spPr>
          <a:xfrm>
            <a:off x="6144600" y="2040885"/>
            <a:ext cx="102410" cy="102410"/>
          </a:xfrm>
          <a:custGeom>
            <a:avLst/>
            <a:gdLst/>
            <a:ahLst/>
            <a:cxnLst/>
            <a:rect l="l" t="t" r="r" b="b"/>
            <a:pathLst>
              <a:path w="14" h="14">
                <a:moveTo>
                  <a:pt x="7" y="14"/>
                </a:moveTo>
                <a:lnTo>
                  <a:pt x="0" y="0"/>
                </a:lnTo>
                <a:lnTo>
                  <a:pt x="14" y="0"/>
                </a:lnTo>
                <a:close/>
              </a:path>
            </a:pathLst>
          </a:custGeom>
          <a:solidFill>
            <a:srgbClr val="BF333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2" name="ΔFULL"/>
          <p:cNvSpPr txBox="1"/>
          <p:nvPr/>
        </p:nvSpPr>
        <p:spPr>
          <a:xfrm>
            <a:off x="7080920" y="1914701"/>
            <a:ext cx="685581" cy="241395"/>
          </a:xfrm>
          <a:prstGeom prst="rect">
            <a:avLst/>
          </a:prstGeom>
          <a:noFill/>
          <a:effectLst/>
        </p:spPr>
        <p:txBody>
          <a:bodyPr wrap="none" lIns="0" rIns="0" tIns="0" bIns="0" anchor="t">
            <a:spAutoFit/>
          </a:bodyPr>
          <a:lstStyle/>
          <a:p>
            <a:pPr algn="l">
              <a:lnSpc>
                <a:spcPct val="100000"/>
              </a:lnSpc>
              <a:spcBef>
                <a:spcPts val="0"/>
              </a:spcBef>
              <a:spcAft>
                <a:spcPts val="0"/>
              </a:spcAft>
            </a:pPr>
            <a:r>
              <a:rPr sz="1497" b="0" i="0" lang="en-US" spc="0">
                <a:solidFill>
                  <a:srgbClr val="181818"/>
                </a:solidFill>
                <a:latin typeface="Liberation Serif"/>
                <a:ea typeface="Liberation Serif"/>
                <a:effectLst/>
              </a:rPr>
              <a:t>ΔFULL</a:t>
            </a:r>
          </a:p>
        </p:txBody>
      </p:sp>
      <p:sp>
        <p:nvSpPr>
          <p:cNvPr id="63" name="Host valid"/>
          <p:cNvSpPr txBox="1"/>
          <p:nvPr/>
        </p:nvSpPr>
        <p:spPr>
          <a:xfrm>
            <a:off x="497420" y="2695578"/>
            <a:ext cx="1000841" cy="217621"/>
          </a:xfrm>
          <a:prstGeom prst="rect">
            <a:avLst/>
          </a:prstGeom>
          <a:noFill/>
          <a:effectLst/>
        </p:spPr>
        <p:txBody>
          <a:bodyPr wrap="none" lIns="0" rIns="0" tIns="0" bIns="0" anchor="t">
            <a:spAutoFit/>
          </a:bodyPr>
          <a:lstStyle/>
          <a:p>
            <a:pPr algn="l">
              <a:lnSpc>
                <a:spcPct val="100000"/>
              </a:lnSpc>
              <a:spcBef>
                <a:spcPts val="0"/>
              </a:spcBef>
              <a:spcAft>
                <a:spcPts val="0"/>
              </a:spcAft>
            </a:pPr>
            <a:r>
              <a:rPr sz="1267" b="1" i="0" lang="en-US" spc="0">
                <a:solidFill>
                  <a:srgbClr val="181818"/>
                </a:solidFill>
                <a:latin typeface="DejaVu Sans"/>
                <a:ea typeface="DejaVu Sans"/>
                <a:effectLst/>
              </a:rPr>
              <a:t>Host valid</a:t>
            </a:r>
          </a:p>
        </p:txBody>
      </p:sp>
      <p:sp>
        <p:nvSpPr>
          <p:cNvPr id="64" name="rect 63"/>
          <p:cNvSpPr/>
          <p:nvPr/>
        </p:nvSpPr>
        <p:spPr>
          <a:xfrm>
            <a:off x="1558095" y="2648030"/>
            <a:ext cx="468160" cy="234080"/>
          </a:xfrm>
          <a:prstGeom prst="roundRect">
            <a:avLst>
              <a:gd name="adj" fmla="val 3125"/>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5" name="1"/>
          <p:cNvSpPr txBox="1"/>
          <p:nvPr/>
        </p:nvSpPr>
        <p:spPr>
          <a:xfrm>
            <a:off x="1695480" y="2674159"/>
            <a:ext cx="193390" cy="208478"/>
          </a:xfrm>
          <a:prstGeom prst="rect">
            <a:avLst/>
          </a:prstGeom>
          <a:noFill/>
          <a:effectLst/>
        </p:spPr>
        <p:txBody>
          <a:bodyPr wrap="none" lIns="0" rIns="0" tIns="0" bIns="0" anchor="t">
            <a:spAutoFit/>
          </a:bodyPr>
          <a:lstStyle/>
          <a:p>
            <a:pPr algn="ctr">
              <a:lnSpc>
                <a:spcPct val="100000"/>
              </a:lnSpc>
              <a:spcBef>
                <a:spcPts val="0"/>
              </a:spcBef>
              <a:spcAft>
                <a:spcPts val="0"/>
              </a:spcAft>
            </a:pPr>
            <a:r>
              <a:rPr sz="1198" b="1" i="0" lang="en-US" spc="0">
                <a:solidFill>
                  <a:srgbClr val="181818"/>
                </a:solidFill>
                <a:latin typeface="DejaVu Sans"/>
                <a:ea typeface="DejaVu Sans"/>
                <a:effectLst/>
              </a:rPr>
              <a:t>1</a:t>
            </a:r>
          </a:p>
        </p:txBody>
      </p:sp>
      <p:sp>
        <p:nvSpPr>
          <p:cNvPr id="66" name="rect 65"/>
          <p:cNvSpPr/>
          <p:nvPr/>
        </p:nvSpPr>
        <p:spPr>
          <a:xfrm>
            <a:off x="2187185" y="2648030"/>
            <a:ext cx="468160" cy="234080"/>
          </a:xfrm>
          <a:prstGeom prst="roundRect">
            <a:avLst>
              <a:gd name="adj" fmla="val 3125"/>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7" name="1"/>
          <p:cNvSpPr txBox="1"/>
          <p:nvPr/>
        </p:nvSpPr>
        <p:spPr>
          <a:xfrm>
            <a:off x="2324570" y="2674159"/>
            <a:ext cx="193390" cy="208478"/>
          </a:xfrm>
          <a:prstGeom prst="rect">
            <a:avLst/>
          </a:prstGeom>
          <a:noFill/>
          <a:effectLst/>
        </p:spPr>
        <p:txBody>
          <a:bodyPr wrap="none" lIns="0" rIns="0" tIns="0" bIns="0" anchor="t">
            <a:spAutoFit/>
          </a:bodyPr>
          <a:lstStyle/>
          <a:p>
            <a:pPr algn="ctr">
              <a:lnSpc>
                <a:spcPct val="100000"/>
              </a:lnSpc>
              <a:spcBef>
                <a:spcPts val="0"/>
              </a:spcBef>
              <a:spcAft>
                <a:spcPts val="0"/>
              </a:spcAft>
            </a:pPr>
            <a:r>
              <a:rPr sz="1198" b="1" i="0" lang="en-US" spc="0">
                <a:solidFill>
                  <a:srgbClr val="181818"/>
                </a:solidFill>
                <a:latin typeface="DejaVu Sans"/>
                <a:ea typeface="DejaVu Sans"/>
                <a:effectLst/>
              </a:rPr>
              <a:t>1</a:t>
            </a:r>
          </a:p>
        </p:txBody>
      </p:sp>
      <p:sp>
        <p:nvSpPr>
          <p:cNvPr id="68" name="rect 67"/>
          <p:cNvSpPr/>
          <p:nvPr/>
        </p:nvSpPr>
        <p:spPr>
          <a:xfrm>
            <a:off x="2816275" y="2648030"/>
            <a:ext cx="468160" cy="234080"/>
          </a:xfrm>
          <a:prstGeom prst="roundRect">
            <a:avLst>
              <a:gd name="adj" fmla="val 3125"/>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9" name="1"/>
          <p:cNvSpPr txBox="1"/>
          <p:nvPr/>
        </p:nvSpPr>
        <p:spPr>
          <a:xfrm>
            <a:off x="2953660" y="2674159"/>
            <a:ext cx="193390" cy="208478"/>
          </a:xfrm>
          <a:prstGeom prst="rect">
            <a:avLst/>
          </a:prstGeom>
          <a:noFill/>
          <a:effectLst/>
        </p:spPr>
        <p:txBody>
          <a:bodyPr wrap="none" lIns="0" rIns="0" tIns="0" bIns="0" anchor="t">
            <a:spAutoFit/>
          </a:bodyPr>
          <a:lstStyle/>
          <a:p>
            <a:pPr algn="ctr">
              <a:lnSpc>
                <a:spcPct val="100000"/>
              </a:lnSpc>
              <a:spcBef>
                <a:spcPts val="0"/>
              </a:spcBef>
              <a:spcAft>
                <a:spcPts val="0"/>
              </a:spcAft>
            </a:pPr>
            <a:r>
              <a:rPr sz="1198" b="1" i="0" lang="en-US" spc="0">
                <a:solidFill>
                  <a:srgbClr val="181818"/>
                </a:solidFill>
                <a:latin typeface="DejaVu Sans"/>
                <a:ea typeface="DejaVu Sans"/>
                <a:effectLst/>
              </a:rPr>
              <a:t>1</a:t>
            </a:r>
          </a:p>
        </p:txBody>
      </p:sp>
      <p:sp>
        <p:nvSpPr>
          <p:cNvPr id="70" name="rect 69"/>
          <p:cNvSpPr/>
          <p:nvPr/>
        </p:nvSpPr>
        <p:spPr>
          <a:xfrm>
            <a:off x="3445365" y="2648030"/>
            <a:ext cx="468160" cy="234080"/>
          </a:xfrm>
          <a:prstGeom prst="roundRect">
            <a:avLst>
              <a:gd name="adj" fmla="val 3125"/>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1" name="1"/>
          <p:cNvSpPr txBox="1"/>
          <p:nvPr/>
        </p:nvSpPr>
        <p:spPr>
          <a:xfrm>
            <a:off x="3582750" y="2674159"/>
            <a:ext cx="193390" cy="208478"/>
          </a:xfrm>
          <a:prstGeom prst="rect">
            <a:avLst/>
          </a:prstGeom>
          <a:noFill/>
          <a:effectLst/>
        </p:spPr>
        <p:txBody>
          <a:bodyPr wrap="none" lIns="0" rIns="0" tIns="0" bIns="0" anchor="t">
            <a:spAutoFit/>
          </a:bodyPr>
          <a:lstStyle/>
          <a:p>
            <a:pPr algn="ctr">
              <a:lnSpc>
                <a:spcPct val="100000"/>
              </a:lnSpc>
              <a:spcBef>
                <a:spcPts val="0"/>
              </a:spcBef>
              <a:spcAft>
                <a:spcPts val="0"/>
              </a:spcAft>
            </a:pPr>
            <a:r>
              <a:rPr sz="1198" b="1" i="0" lang="en-US" spc="0">
                <a:solidFill>
                  <a:srgbClr val="181818"/>
                </a:solidFill>
                <a:latin typeface="DejaVu Sans"/>
                <a:ea typeface="DejaVu Sans"/>
                <a:effectLst/>
              </a:rPr>
              <a:t>1</a:t>
            </a:r>
          </a:p>
        </p:txBody>
      </p:sp>
      <p:sp>
        <p:nvSpPr>
          <p:cNvPr id="72" name="rect 71"/>
          <p:cNvSpPr/>
          <p:nvPr/>
        </p:nvSpPr>
        <p:spPr>
          <a:xfrm>
            <a:off x="4074455" y="2648030"/>
            <a:ext cx="468160" cy="234080"/>
          </a:xfrm>
          <a:prstGeom prst="roundRect">
            <a:avLst>
              <a:gd name="adj" fmla="val 3125"/>
            </a:avLst>
          </a:prstGeom>
          <a:solidFill>
            <a:srgbClr val="FFFFF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3" name="0"/>
          <p:cNvSpPr txBox="1"/>
          <p:nvPr/>
        </p:nvSpPr>
        <p:spPr>
          <a:xfrm>
            <a:off x="4211840" y="2674159"/>
            <a:ext cx="193390" cy="208478"/>
          </a:xfrm>
          <a:prstGeom prst="rect">
            <a:avLst/>
          </a:prstGeom>
          <a:noFill/>
          <a:effectLst/>
        </p:spPr>
        <p:txBody>
          <a:bodyPr wrap="none" lIns="0" rIns="0" tIns="0" bIns="0" anchor="t">
            <a:spAutoFit/>
          </a:bodyPr>
          <a:lstStyle/>
          <a:p>
            <a:pPr algn="ctr">
              <a:lnSpc>
                <a:spcPct val="100000"/>
              </a:lnSpc>
              <a:spcBef>
                <a:spcPts val="0"/>
              </a:spcBef>
              <a:spcAft>
                <a:spcPts val="0"/>
              </a:spcAft>
            </a:pPr>
            <a:r>
              <a:rPr sz="1198" b="1" i="0" lang="en-US" spc="0">
                <a:solidFill>
                  <a:srgbClr val="181818"/>
                </a:solidFill>
                <a:latin typeface="DejaVu Sans"/>
                <a:ea typeface="DejaVu Sans"/>
                <a:effectLst/>
              </a:rPr>
              <a:t>0</a:t>
            </a:r>
          </a:p>
        </p:txBody>
      </p:sp>
      <p:sp>
        <p:nvSpPr>
          <p:cNvPr id="74" name="rect 73"/>
          <p:cNvSpPr/>
          <p:nvPr/>
        </p:nvSpPr>
        <p:spPr>
          <a:xfrm>
            <a:off x="4703545" y="2648030"/>
            <a:ext cx="468160" cy="234080"/>
          </a:xfrm>
          <a:prstGeom prst="roundRect">
            <a:avLst>
              <a:gd name="adj" fmla="val 3125"/>
            </a:avLst>
          </a:prstGeom>
          <a:solidFill>
            <a:srgbClr val="FFFFF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5" name="0"/>
          <p:cNvSpPr txBox="1"/>
          <p:nvPr/>
        </p:nvSpPr>
        <p:spPr>
          <a:xfrm>
            <a:off x="4840930" y="2674159"/>
            <a:ext cx="193390" cy="208478"/>
          </a:xfrm>
          <a:prstGeom prst="rect">
            <a:avLst/>
          </a:prstGeom>
          <a:noFill/>
          <a:effectLst/>
        </p:spPr>
        <p:txBody>
          <a:bodyPr wrap="none" lIns="0" rIns="0" tIns="0" bIns="0" anchor="t">
            <a:spAutoFit/>
          </a:bodyPr>
          <a:lstStyle/>
          <a:p>
            <a:pPr algn="ctr">
              <a:lnSpc>
                <a:spcPct val="100000"/>
              </a:lnSpc>
              <a:spcBef>
                <a:spcPts val="0"/>
              </a:spcBef>
              <a:spcAft>
                <a:spcPts val="0"/>
              </a:spcAft>
            </a:pPr>
            <a:r>
              <a:rPr sz="1198" b="1" i="0" lang="en-US" spc="0">
                <a:solidFill>
                  <a:srgbClr val="181818"/>
                </a:solidFill>
                <a:latin typeface="DejaVu Sans"/>
                <a:ea typeface="DejaVu Sans"/>
                <a:effectLst/>
              </a:rPr>
              <a:t>0</a:t>
            </a:r>
          </a:p>
        </p:txBody>
      </p:sp>
      <p:sp>
        <p:nvSpPr>
          <p:cNvPr id="76" name="rect 75"/>
          <p:cNvSpPr/>
          <p:nvPr/>
        </p:nvSpPr>
        <p:spPr>
          <a:xfrm>
            <a:off x="5332635" y="2648030"/>
            <a:ext cx="468160" cy="234080"/>
          </a:xfrm>
          <a:prstGeom prst="roundRect">
            <a:avLst>
              <a:gd name="adj" fmla="val 3125"/>
            </a:avLst>
          </a:prstGeom>
          <a:solidFill>
            <a:srgbClr val="FFFFF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7" name="0"/>
          <p:cNvSpPr txBox="1"/>
          <p:nvPr/>
        </p:nvSpPr>
        <p:spPr>
          <a:xfrm>
            <a:off x="5470020" y="2674159"/>
            <a:ext cx="193390" cy="208478"/>
          </a:xfrm>
          <a:prstGeom prst="rect">
            <a:avLst/>
          </a:prstGeom>
          <a:noFill/>
          <a:effectLst/>
        </p:spPr>
        <p:txBody>
          <a:bodyPr wrap="none" lIns="0" rIns="0" tIns="0" bIns="0" anchor="t">
            <a:spAutoFit/>
          </a:bodyPr>
          <a:lstStyle/>
          <a:p>
            <a:pPr algn="ctr">
              <a:lnSpc>
                <a:spcPct val="100000"/>
              </a:lnSpc>
              <a:spcBef>
                <a:spcPts val="0"/>
              </a:spcBef>
              <a:spcAft>
                <a:spcPts val="0"/>
              </a:spcAft>
            </a:pPr>
            <a:r>
              <a:rPr sz="1198" b="1" i="0" lang="en-US" spc="0">
                <a:solidFill>
                  <a:srgbClr val="181818"/>
                </a:solidFill>
                <a:latin typeface="DejaVu Sans"/>
                <a:ea typeface="DejaVu Sans"/>
                <a:effectLst/>
              </a:rPr>
              <a:t>0</a:t>
            </a:r>
          </a:p>
        </p:txBody>
      </p:sp>
      <p:sp>
        <p:nvSpPr>
          <p:cNvPr id="78" name="rect 77"/>
          <p:cNvSpPr/>
          <p:nvPr/>
        </p:nvSpPr>
        <p:spPr>
          <a:xfrm>
            <a:off x="5961725" y="2648030"/>
            <a:ext cx="468160" cy="234080"/>
          </a:xfrm>
          <a:prstGeom prst="roundRect">
            <a:avLst>
              <a:gd name="adj" fmla="val 3125"/>
            </a:avLst>
          </a:prstGeom>
          <a:solidFill>
            <a:srgbClr val="FFFFF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9" name="0"/>
          <p:cNvSpPr txBox="1"/>
          <p:nvPr/>
        </p:nvSpPr>
        <p:spPr>
          <a:xfrm>
            <a:off x="6099110" y="2674159"/>
            <a:ext cx="193390" cy="208478"/>
          </a:xfrm>
          <a:prstGeom prst="rect">
            <a:avLst/>
          </a:prstGeom>
          <a:noFill/>
          <a:effectLst/>
        </p:spPr>
        <p:txBody>
          <a:bodyPr wrap="none" lIns="0" rIns="0" tIns="0" bIns="0" anchor="t">
            <a:spAutoFit/>
          </a:bodyPr>
          <a:lstStyle/>
          <a:p>
            <a:pPr algn="ctr">
              <a:lnSpc>
                <a:spcPct val="100000"/>
              </a:lnSpc>
              <a:spcBef>
                <a:spcPts val="0"/>
              </a:spcBef>
              <a:spcAft>
                <a:spcPts val="0"/>
              </a:spcAft>
            </a:pPr>
            <a:r>
              <a:rPr sz="1198" b="1" i="0" lang="en-US" spc="0">
                <a:solidFill>
                  <a:srgbClr val="181818"/>
                </a:solidFill>
                <a:latin typeface="DejaVu Sans"/>
                <a:ea typeface="DejaVu Sans"/>
                <a:effectLst/>
              </a:rPr>
              <a:t>0</a:t>
            </a:r>
          </a:p>
        </p:txBody>
      </p:sp>
      <p:sp>
        <p:nvSpPr>
          <p:cNvPr id="80" name="Δ"/>
          <p:cNvSpPr txBox="1"/>
          <p:nvPr/>
        </p:nvSpPr>
        <p:spPr>
          <a:xfrm>
            <a:off x="6885730" y="2680948"/>
            <a:ext cx="195105" cy="234080"/>
          </a:xfrm>
          <a:prstGeom prst="rect">
            <a:avLst/>
          </a:prstGeom>
          <a:noFill/>
          <a:effectLst/>
        </p:spPr>
        <p:txBody>
          <a:bodyPr wrap="none" lIns="0" rIns="0" tIns="0" bIns="0" anchor="t">
            <a:spAutoFit/>
          </a:bodyPr>
          <a:lstStyle/>
          <a:p>
            <a:pPr algn="l">
              <a:lnSpc>
                <a:spcPct val="100000"/>
              </a:lnSpc>
              <a:spcBef>
                <a:spcPts val="0"/>
              </a:spcBef>
              <a:spcAft>
                <a:spcPts val="0"/>
              </a:spcAft>
            </a:pPr>
            <a:r>
              <a:rPr sz="1439" b="0" i="1" lang="en-US" spc="0">
                <a:solidFill>
                  <a:srgbClr val="181818"/>
                </a:solidFill>
                <a:latin typeface="Liberation Serif"/>
                <a:ea typeface="Liberation Serif"/>
                <a:effectLst/>
              </a:rPr>
              <a:t>Δ</a:t>
            </a:r>
          </a:p>
        </p:txBody>
      </p:sp>
      <p:sp>
        <p:nvSpPr>
          <p:cNvPr id="81" name=" only"/>
          <p:cNvSpPr txBox="1"/>
          <p:nvPr/>
        </p:nvSpPr>
        <p:spPr>
          <a:xfrm>
            <a:off x="6993054" y="2680948"/>
            <a:ext cx="458616" cy="234080"/>
          </a:xfrm>
          <a:prstGeom prst="rect">
            <a:avLst/>
          </a:prstGeom>
          <a:noFill/>
          <a:effectLst/>
        </p:spPr>
        <p:txBody>
          <a:bodyPr wrap="none" lIns="0" rIns="0" tIns="0" bIns="0" anchor="t">
            <a:spAutoFit/>
          </a:bodyPr>
          <a:lstStyle/>
          <a:p>
            <a:pPr algn="l">
              <a:lnSpc>
                <a:spcPct val="100000"/>
              </a:lnSpc>
              <a:spcBef>
                <a:spcPts val="0"/>
              </a:spcBef>
              <a:spcAft>
                <a:spcPts val="0"/>
              </a:spcAft>
            </a:pPr>
            <a:r>
              <a:rPr sz="1439" b="0" i="0" lang="en-US" spc="0">
                <a:solidFill>
                  <a:srgbClr val="181818"/>
                </a:solidFill>
                <a:latin typeface="Liberation Serif"/>
                <a:ea typeface="Liberation Serif"/>
                <a:effectLst/>
              </a:rPr>
              <a:t> only</a:t>
            </a:r>
          </a:p>
        </p:txBody>
      </p:sp>
      <p:sp>
        <p:nvSpPr>
          <p:cNvPr id="82" name="rect 81"/>
          <p:cNvSpPr/>
          <p:nvPr/>
        </p:nvSpPr>
        <p:spPr>
          <a:xfrm>
            <a:off x="8192800" y="965580"/>
            <a:ext cx="4681600" cy="2084775"/>
          </a:xfrm>
          <a:prstGeom prst="roundRect">
            <a:avLst>
              <a:gd name="adj" fmla="val 701"/>
            </a:avLst>
          </a:prstGeom>
          <a:solidFill>
            <a:srgbClr val="EEEEEE"/>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3" name="rect 82"/>
          <p:cNvSpPr/>
          <p:nvPr/>
        </p:nvSpPr>
        <p:spPr>
          <a:xfrm>
            <a:off x="8192800" y="965580"/>
            <a:ext cx="4681600" cy="277970"/>
          </a:xfrm>
          <a:prstGeom prst="roundRect">
            <a:avLst>
              <a:gd name="adj" fmla="val 5263"/>
            </a:avLst>
          </a:prstGeom>
          <a:solidFill>
            <a:srgbClr val="9DC38B"/>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4" name="(b) Checkpoint-matched Mamba"/>
          <p:cNvSpPr txBox="1"/>
          <p:nvPr/>
        </p:nvSpPr>
        <p:spPr>
          <a:xfrm>
            <a:off x="8295210" y="988330"/>
            <a:ext cx="3521858" cy="252368"/>
          </a:xfrm>
          <a:prstGeom prst="rect">
            <a:avLst/>
          </a:prstGeom>
          <a:noFill/>
          <a:effectLst/>
        </p:spPr>
        <p:txBody>
          <a:bodyPr wrap="none" lIns="0" rIns="0" tIns="0" bIns="0" anchor="t">
            <a:spAutoFit/>
          </a:bodyPr>
          <a:lstStyle/>
          <a:p>
            <a:pPr algn="l">
              <a:lnSpc>
                <a:spcPct val="100000"/>
              </a:lnSpc>
              <a:spcBef>
                <a:spcPts val="0"/>
              </a:spcBef>
              <a:spcAft>
                <a:spcPts val="0"/>
              </a:spcAft>
            </a:pPr>
            <a:r>
              <a:rPr sz="1497" b="1" i="0" lang="en-US" spc="0">
                <a:solidFill>
                  <a:srgbClr val="181818"/>
                </a:solidFill>
                <a:latin typeface="DejaVu Sans"/>
                <a:ea typeface="DejaVu Sans"/>
                <a:effectLst/>
              </a:rPr>
              <a:t>(b) Checkpoint-matched Mamba</a:t>
            </a:r>
          </a:p>
        </p:txBody>
      </p:sp>
      <p:sp>
        <p:nvSpPr>
          <p:cNvPr id="85" name="rect 84"/>
          <p:cNvSpPr/>
          <p:nvPr/>
        </p:nvSpPr>
        <p:spPr>
          <a:xfrm>
            <a:off x="8412250" y="1580040"/>
            <a:ext cx="473866" cy="353900"/>
          </a:xfrm>
          <a:prstGeom prst="roundRect">
            <a:avLst>
              <a:gd name="adj" fmla="val 2066"/>
            </a:avLst>
          </a:prstGeom>
          <a:solidFill>
            <a:srgbClr val="FFFFFF"/>
          </a:solidFill>
          <a:ln w="10972">
            <a:solidFill>
              <a:srgbClr val="96969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6" name="rect 85"/>
          <p:cNvSpPr/>
          <p:nvPr/>
        </p:nvSpPr>
        <p:spPr>
          <a:xfrm>
            <a:off x="8472233" y="1640023"/>
            <a:ext cx="89974" cy="83976"/>
          </a:xfrm>
          <a:prstGeom prst="rect">
            <a:avLst/>
          </a:prstGeom>
          <a:solidFill>
            <a:srgbClr val="FFFFFF"/>
          </a:solidFill>
          <a:ln w="7315">
            <a:solidFill>
              <a:srgbClr val="96969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7" name="rect 86"/>
          <p:cNvSpPr/>
          <p:nvPr/>
        </p:nvSpPr>
        <p:spPr>
          <a:xfrm>
            <a:off x="8604196" y="1640023"/>
            <a:ext cx="89974" cy="83976"/>
          </a:xfrm>
          <a:prstGeom prst="rect">
            <a:avLst/>
          </a:prstGeom>
          <a:solidFill>
            <a:srgbClr val="FFFFFF"/>
          </a:solidFill>
          <a:ln w="7315">
            <a:solidFill>
              <a:srgbClr val="96969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8" name="rect 87"/>
          <p:cNvSpPr/>
          <p:nvPr/>
        </p:nvSpPr>
        <p:spPr>
          <a:xfrm>
            <a:off x="8736158" y="1640023"/>
            <a:ext cx="89974" cy="83976"/>
          </a:xfrm>
          <a:prstGeom prst="rect">
            <a:avLst/>
          </a:prstGeom>
          <a:solidFill>
            <a:srgbClr val="FFFFFF"/>
          </a:solidFill>
          <a:ln w="7315">
            <a:solidFill>
              <a:srgbClr val="96969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9" name="rect 88"/>
          <p:cNvSpPr/>
          <p:nvPr/>
        </p:nvSpPr>
        <p:spPr>
          <a:xfrm>
            <a:off x="8472233" y="1771986"/>
            <a:ext cx="89974" cy="83976"/>
          </a:xfrm>
          <a:prstGeom prst="rect">
            <a:avLst/>
          </a:prstGeom>
          <a:solidFill>
            <a:srgbClr val="FFFFFF"/>
          </a:solidFill>
          <a:ln w="7315">
            <a:solidFill>
              <a:srgbClr val="96969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0" name="rect 89"/>
          <p:cNvSpPr/>
          <p:nvPr/>
        </p:nvSpPr>
        <p:spPr>
          <a:xfrm>
            <a:off x="8604196" y="1771986"/>
            <a:ext cx="89974" cy="83976"/>
          </a:xfrm>
          <a:prstGeom prst="rect">
            <a:avLst/>
          </a:prstGeom>
          <a:solidFill>
            <a:srgbClr val="FFFFFF"/>
          </a:solidFill>
          <a:ln w="7315">
            <a:solidFill>
              <a:srgbClr val="96969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1" name="rect 90"/>
          <p:cNvSpPr/>
          <p:nvPr/>
        </p:nvSpPr>
        <p:spPr>
          <a:xfrm>
            <a:off x="8736158" y="1771986"/>
            <a:ext cx="89974" cy="83976"/>
          </a:xfrm>
          <a:prstGeom prst="rect">
            <a:avLst/>
          </a:prstGeom>
          <a:solidFill>
            <a:srgbClr val="FFFFFF"/>
          </a:solidFill>
          <a:ln w="7315">
            <a:solidFill>
              <a:srgbClr val="96969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2" name="s"/>
          <p:cNvSpPr txBox="1"/>
          <p:nvPr/>
        </p:nvSpPr>
        <p:spPr>
          <a:xfrm>
            <a:off x="8575280" y="1962249"/>
            <a:ext cx="173188" cy="272484"/>
          </a:xfrm>
          <a:prstGeom prst="rect">
            <a:avLst/>
          </a:prstGeom>
          <a:noFill/>
          <a:effectLst/>
        </p:spPr>
        <p:txBody>
          <a:bodyPr wrap="none" lIns="0" rIns="0" tIns="0" bIns="0" anchor="t">
            <a:spAutoFit/>
          </a:bodyPr>
          <a:lstStyle/>
          <a:p>
            <a:pPr algn="l">
              <a:lnSpc>
                <a:spcPct val="100000"/>
              </a:lnSpc>
              <a:spcBef>
                <a:spcPts val="0"/>
              </a:spcBef>
              <a:spcAft>
                <a:spcPts val="0"/>
              </a:spcAft>
            </a:pPr>
            <a:r>
              <a:rPr sz="1727" b="0" i="1" lang="en-US" spc="0">
                <a:solidFill>
                  <a:srgbClr val="969696"/>
                </a:solidFill>
                <a:latin typeface="Liberation Serif"/>
                <a:ea typeface="Liberation Serif"/>
                <a:effectLst/>
              </a:rPr>
              <a:t>s</a:t>
            </a:r>
          </a:p>
        </p:txBody>
      </p:sp>
      <p:sp>
        <p:nvSpPr>
          <p:cNvPr id="93" name="0"/>
          <p:cNvSpPr txBox="1"/>
          <p:nvPr/>
        </p:nvSpPr>
        <p:spPr>
          <a:xfrm>
            <a:off x="8668004" y="2084775"/>
            <a:ext cx="159101" cy="188361"/>
          </a:xfrm>
          <a:prstGeom prst="rect">
            <a:avLst/>
          </a:prstGeom>
          <a:noFill/>
          <a:effectLst/>
        </p:spPr>
        <p:txBody>
          <a:bodyPr wrap="none" lIns="0" rIns="0" tIns="0" bIns="0" anchor="t">
            <a:spAutoFit/>
          </a:bodyPr>
          <a:lstStyle/>
          <a:p>
            <a:pPr algn="l">
              <a:lnSpc>
                <a:spcPct val="100000"/>
              </a:lnSpc>
              <a:spcBef>
                <a:spcPts val="0"/>
              </a:spcBef>
              <a:spcAft>
                <a:spcPts val="0"/>
              </a:spcAft>
            </a:pPr>
            <a:r>
              <a:rPr sz="1123" b="0" i="0" lang="en-US" spc="0">
                <a:solidFill>
                  <a:srgbClr val="969696"/>
                </a:solidFill>
                <a:latin typeface="Liberation Serif"/>
                <a:ea typeface="Liberation Serif"/>
                <a:effectLst/>
              </a:rPr>
              <a:t>0</a:t>
            </a:r>
          </a:p>
        </p:txBody>
      </p:sp>
      <p:sp>
        <p:nvSpPr>
          <p:cNvPr id="94" name="rect 93"/>
          <p:cNvSpPr/>
          <p:nvPr/>
        </p:nvSpPr>
        <p:spPr>
          <a:xfrm>
            <a:off x="9802100" y="1580040"/>
            <a:ext cx="473866" cy="353900"/>
          </a:xfrm>
          <a:prstGeom prst="roundRect">
            <a:avLst>
              <a:gd name="adj" fmla="val 2066"/>
            </a:avLst>
          </a:prstGeom>
          <a:solidFill>
            <a:srgbClr val="FFFFFF"/>
          </a:solidFill>
          <a:ln w="10972">
            <a:solidFill>
              <a:srgbClr val="96969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5" name="rect 94"/>
          <p:cNvSpPr/>
          <p:nvPr/>
        </p:nvSpPr>
        <p:spPr>
          <a:xfrm>
            <a:off x="9862083" y="1640023"/>
            <a:ext cx="89974" cy="83976"/>
          </a:xfrm>
          <a:prstGeom prst="rect">
            <a:avLst/>
          </a:prstGeom>
          <a:solidFill>
            <a:srgbClr val="FFFFFF"/>
          </a:solidFill>
          <a:ln w="7315">
            <a:solidFill>
              <a:srgbClr val="96969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6" name="rect 95"/>
          <p:cNvSpPr/>
          <p:nvPr/>
        </p:nvSpPr>
        <p:spPr>
          <a:xfrm>
            <a:off x="9994046" y="1640023"/>
            <a:ext cx="89974" cy="83976"/>
          </a:xfrm>
          <a:prstGeom prst="rect">
            <a:avLst/>
          </a:prstGeom>
          <a:solidFill>
            <a:srgbClr val="FFFFFF"/>
          </a:solidFill>
          <a:ln w="7315">
            <a:solidFill>
              <a:srgbClr val="96969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7" name="rect 96"/>
          <p:cNvSpPr/>
          <p:nvPr/>
        </p:nvSpPr>
        <p:spPr>
          <a:xfrm>
            <a:off x="10126008" y="1640023"/>
            <a:ext cx="89974" cy="83976"/>
          </a:xfrm>
          <a:prstGeom prst="rect">
            <a:avLst/>
          </a:prstGeom>
          <a:solidFill>
            <a:srgbClr val="FFFFFF"/>
          </a:solidFill>
          <a:ln w="7315">
            <a:solidFill>
              <a:srgbClr val="96969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8" name="rect 97"/>
          <p:cNvSpPr/>
          <p:nvPr/>
        </p:nvSpPr>
        <p:spPr>
          <a:xfrm>
            <a:off x="9862083" y="1771986"/>
            <a:ext cx="89974" cy="83976"/>
          </a:xfrm>
          <a:prstGeom prst="rect">
            <a:avLst/>
          </a:prstGeom>
          <a:solidFill>
            <a:srgbClr val="FFFFFF"/>
          </a:solidFill>
          <a:ln w="7315">
            <a:solidFill>
              <a:srgbClr val="96969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9" name="rect 98"/>
          <p:cNvSpPr/>
          <p:nvPr/>
        </p:nvSpPr>
        <p:spPr>
          <a:xfrm>
            <a:off x="9994046" y="1771986"/>
            <a:ext cx="89974" cy="83976"/>
          </a:xfrm>
          <a:prstGeom prst="rect">
            <a:avLst/>
          </a:prstGeom>
          <a:solidFill>
            <a:srgbClr val="FFFFFF"/>
          </a:solidFill>
          <a:ln w="7315">
            <a:solidFill>
              <a:srgbClr val="96969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0" name="rect 99"/>
          <p:cNvSpPr/>
          <p:nvPr/>
        </p:nvSpPr>
        <p:spPr>
          <a:xfrm>
            <a:off x="10126008" y="1771986"/>
            <a:ext cx="89974" cy="83976"/>
          </a:xfrm>
          <a:prstGeom prst="rect">
            <a:avLst/>
          </a:prstGeom>
          <a:solidFill>
            <a:srgbClr val="FFFFFF"/>
          </a:solidFill>
          <a:ln w="7315">
            <a:solidFill>
              <a:srgbClr val="969696"/>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1" name="s"/>
          <p:cNvSpPr txBox="1"/>
          <p:nvPr/>
        </p:nvSpPr>
        <p:spPr>
          <a:xfrm>
            <a:off x="9965130" y="1962249"/>
            <a:ext cx="173188" cy="272484"/>
          </a:xfrm>
          <a:prstGeom prst="rect">
            <a:avLst/>
          </a:prstGeom>
          <a:noFill/>
          <a:effectLst/>
        </p:spPr>
        <p:txBody>
          <a:bodyPr wrap="none" lIns="0" rIns="0" tIns="0" bIns="0" anchor="t">
            <a:spAutoFit/>
          </a:bodyPr>
          <a:lstStyle/>
          <a:p>
            <a:pPr algn="l">
              <a:lnSpc>
                <a:spcPct val="100000"/>
              </a:lnSpc>
              <a:spcBef>
                <a:spcPts val="0"/>
              </a:spcBef>
              <a:spcAft>
                <a:spcPts val="0"/>
              </a:spcAft>
            </a:pPr>
            <a:r>
              <a:rPr sz="1727" b="0" i="1" lang="en-US" spc="0">
                <a:solidFill>
                  <a:srgbClr val="969696"/>
                </a:solidFill>
                <a:latin typeface="Liberation Serif"/>
                <a:ea typeface="Liberation Serif"/>
                <a:effectLst/>
              </a:rPr>
              <a:t>s</a:t>
            </a:r>
          </a:p>
        </p:txBody>
      </p:sp>
      <p:sp>
        <p:nvSpPr>
          <p:cNvPr id="102" name="1"/>
          <p:cNvSpPr txBox="1"/>
          <p:nvPr/>
        </p:nvSpPr>
        <p:spPr>
          <a:xfrm>
            <a:off x="10057854" y="2084775"/>
            <a:ext cx="159101" cy="188361"/>
          </a:xfrm>
          <a:prstGeom prst="rect">
            <a:avLst/>
          </a:prstGeom>
          <a:noFill/>
          <a:effectLst/>
        </p:spPr>
        <p:txBody>
          <a:bodyPr wrap="none" lIns="0" rIns="0" tIns="0" bIns="0" anchor="t">
            <a:spAutoFit/>
          </a:bodyPr>
          <a:lstStyle/>
          <a:p>
            <a:pPr algn="l">
              <a:lnSpc>
                <a:spcPct val="100000"/>
              </a:lnSpc>
              <a:spcBef>
                <a:spcPts val="0"/>
              </a:spcBef>
              <a:spcAft>
                <a:spcPts val="0"/>
              </a:spcAft>
            </a:pPr>
            <a:r>
              <a:rPr sz="1123" b="0" i="0" lang="en-US" spc="0">
                <a:solidFill>
                  <a:srgbClr val="969696"/>
                </a:solidFill>
                <a:latin typeface="Liberation Serif"/>
                <a:ea typeface="Liberation Serif"/>
                <a:effectLst/>
              </a:rPr>
              <a:t>1</a:t>
            </a:r>
          </a:p>
        </p:txBody>
      </p:sp>
      <p:sp>
        <p:nvSpPr>
          <p:cNvPr id="103" name="rect 102"/>
          <p:cNvSpPr/>
          <p:nvPr/>
        </p:nvSpPr>
        <p:spPr>
          <a:xfrm>
            <a:off x="11382140" y="1580040"/>
            <a:ext cx="473866" cy="353900"/>
          </a:xfrm>
          <a:prstGeom prst="roundRect">
            <a:avLst>
              <a:gd name="adj" fmla="val 2066"/>
            </a:avLst>
          </a:prstGeom>
          <a:solidFill>
            <a:srgbClr val="E9A6BF"/>
          </a:solidFill>
          <a:ln w="10972">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4" name="rect 103"/>
          <p:cNvSpPr/>
          <p:nvPr/>
        </p:nvSpPr>
        <p:spPr>
          <a:xfrm>
            <a:off x="11442123" y="1640023"/>
            <a:ext cx="89974" cy="83976"/>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5" name="rect 104"/>
          <p:cNvSpPr/>
          <p:nvPr/>
        </p:nvSpPr>
        <p:spPr>
          <a:xfrm>
            <a:off x="11574086" y="1640023"/>
            <a:ext cx="89974" cy="83976"/>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6" name="rect 105"/>
          <p:cNvSpPr/>
          <p:nvPr/>
        </p:nvSpPr>
        <p:spPr>
          <a:xfrm>
            <a:off x="11706048" y="1640023"/>
            <a:ext cx="89974" cy="83976"/>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7" name="rect 106"/>
          <p:cNvSpPr/>
          <p:nvPr/>
        </p:nvSpPr>
        <p:spPr>
          <a:xfrm>
            <a:off x="11442123" y="1771986"/>
            <a:ext cx="89974" cy="83976"/>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8" name="rect 107"/>
          <p:cNvSpPr/>
          <p:nvPr/>
        </p:nvSpPr>
        <p:spPr>
          <a:xfrm>
            <a:off x="11574086" y="1771986"/>
            <a:ext cx="89974" cy="83976"/>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9" name="rect 108"/>
          <p:cNvSpPr/>
          <p:nvPr/>
        </p:nvSpPr>
        <p:spPr>
          <a:xfrm>
            <a:off x="11706048" y="1771986"/>
            <a:ext cx="89974" cy="83976"/>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0" name="s"/>
          <p:cNvSpPr txBox="1"/>
          <p:nvPr/>
        </p:nvSpPr>
        <p:spPr>
          <a:xfrm>
            <a:off x="11545170" y="1962249"/>
            <a:ext cx="173188" cy="272484"/>
          </a:xfrm>
          <a:prstGeom prst="rect">
            <a:avLst/>
          </a:prstGeom>
          <a:noFill/>
          <a:effectLst/>
        </p:spPr>
        <p:txBody>
          <a:bodyPr wrap="none" lIns="0" rIns="0" tIns="0" bIns="0" anchor="t">
            <a:spAutoFit/>
          </a:bodyPr>
          <a:lstStyle/>
          <a:p>
            <a:pPr algn="l">
              <a:lnSpc>
                <a:spcPct val="100000"/>
              </a:lnSpc>
              <a:spcBef>
                <a:spcPts val="0"/>
              </a:spcBef>
              <a:spcAft>
                <a:spcPts val="0"/>
              </a:spcAft>
            </a:pPr>
            <a:r>
              <a:rPr sz="1727" b="0" i="1" lang="en-US" spc="0">
                <a:solidFill>
                  <a:srgbClr val="181818"/>
                </a:solidFill>
                <a:latin typeface="Liberation Serif"/>
                <a:ea typeface="Liberation Serif"/>
                <a:effectLst/>
              </a:rPr>
              <a:t>s</a:t>
            </a:r>
          </a:p>
        </p:txBody>
      </p:sp>
      <p:sp>
        <p:nvSpPr>
          <p:cNvPr id="111" name="*"/>
          <p:cNvSpPr txBox="1"/>
          <p:nvPr/>
        </p:nvSpPr>
        <p:spPr>
          <a:xfrm>
            <a:off x="11637894" y="1915798"/>
            <a:ext cx="159101" cy="188361"/>
          </a:xfrm>
          <a:prstGeom prst="rect">
            <a:avLst/>
          </a:prstGeom>
          <a:noFill/>
          <a:effectLst/>
        </p:spPr>
        <p:txBody>
          <a:bodyPr wrap="none" lIns="0" rIns="0" tIns="0" bIns="0" anchor="t">
            <a:spAutoFit/>
          </a:bodyPr>
          <a:lstStyle/>
          <a:p>
            <a:pPr algn="l">
              <a:lnSpc>
                <a:spcPct val="100000"/>
              </a:lnSpc>
              <a:spcBef>
                <a:spcPts val="0"/>
              </a:spcBef>
              <a:spcAft>
                <a:spcPts val="0"/>
              </a:spcAft>
            </a:pPr>
            <a:r>
              <a:rPr sz="1123" b="0" i="0" lang="en-US" spc="0">
                <a:solidFill>
                  <a:srgbClr val="181818"/>
                </a:solidFill>
                <a:latin typeface="Liberation Serif"/>
                <a:ea typeface="Liberation Serif"/>
                <a:effectLst/>
              </a:rPr>
              <a:t>*</a:t>
            </a:r>
          </a:p>
        </p:txBody>
      </p:sp>
      <p:cxnSp>
        <p:nvCxnSpPr>
          <p:cNvPr id="112" name="path 111"/>
          <p:cNvCxnSpPr/>
          <p:nvPr/>
        </p:nvCxnSpPr>
        <p:spPr>
          <a:xfrm>
            <a:off x="9019395" y="1821435"/>
            <a:ext cx="665665" cy="0"/>
          </a:xfrm>
          <a:prstGeom prst="line">
            <a:avLst/>
          </a:prstGeom>
          <a:ln w="14630">
            <a:solidFill>
              <a:srgbClr val="969696"/>
            </a:solidFill>
          </a:ln>
          <a:effectLst/>
        </p:spPr>
        <p:style>
          <a:lnRef idx="2">
            <a:schemeClr val="accent1"/>
          </a:lnRef>
          <a:fillRef idx="0">
            <a:schemeClr val="accent1"/>
          </a:fillRef>
          <a:effectRef idx="0">
            <a:schemeClr val="accent1"/>
          </a:effectRef>
          <a:fontRef idx="minor">
            <a:schemeClr val="tx1"/>
          </a:fontRef>
        </p:style>
      </p:cxnSp>
      <p:sp>
        <p:nvSpPr>
          <p:cNvPr id="113" name="arrowhead 112"/>
          <p:cNvSpPr/>
          <p:nvPr/>
        </p:nvSpPr>
        <p:spPr>
          <a:xfrm>
            <a:off x="9597280" y="1770230"/>
            <a:ext cx="102410" cy="102410"/>
          </a:xfrm>
          <a:custGeom>
            <a:avLst/>
            <a:gdLst/>
            <a:ahLst/>
            <a:cxnLst/>
            <a:rect l="l" t="t" r="r" b="b"/>
            <a:pathLst>
              <a:path w="14" h="14">
                <a:moveTo>
                  <a:pt x="14" y="7"/>
                </a:moveTo>
                <a:lnTo>
                  <a:pt x="0" y="14"/>
                </a:lnTo>
                <a:lnTo>
                  <a:pt x="0" y="0"/>
                </a:lnTo>
                <a:close/>
              </a:path>
            </a:pathLst>
          </a:custGeom>
          <a:solidFill>
            <a:srgbClr val="96969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14" name="path 113"/>
          <p:cNvCxnSpPr/>
          <p:nvPr/>
        </p:nvCxnSpPr>
        <p:spPr>
          <a:xfrm>
            <a:off x="10416560" y="1821435"/>
            <a:ext cx="855855" cy="0"/>
          </a:xfrm>
          <a:prstGeom prst="line">
            <a:avLst/>
          </a:prstGeom>
          <a:ln w="14630">
            <a:solidFill>
              <a:srgbClr val="969696"/>
            </a:solidFill>
          </a:ln>
          <a:effectLst/>
        </p:spPr>
        <p:style>
          <a:lnRef idx="2">
            <a:schemeClr val="accent1"/>
          </a:lnRef>
          <a:fillRef idx="0">
            <a:schemeClr val="accent1"/>
          </a:fillRef>
          <a:effectRef idx="0">
            <a:schemeClr val="accent1"/>
          </a:effectRef>
          <a:fontRef idx="minor">
            <a:schemeClr val="tx1"/>
          </a:fontRef>
        </p:style>
      </p:cxnSp>
      <p:sp>
        <p:nvSpPr>
          <p:cNvPr id="115" name="arrowhead 114"/>
          <p:cNvSpPr/>
          <p:nvPr/>
        </p:nvSpPr>
        <p:spPr>
          <a:xfrm>
            <a:off x="11184635" y="1770230"/>
            <a:ext cx="102410" cy="102410"/>
          </a:xfrm>
          <a:custGeom>
            <a:avLst/>
            <a:gdLst/>
            <a:ahLst/>
            <a:cxnLst/>
            <a:rect l="l" t="t" r="r" b="b"/>
            <a:pathLst>
              <a:path w="14" h="14">
                <a:moveTo>
                  <a:pt x="14" y="7"/>
                </a:moveTo>
                <a:lnTo>
                  <a:pt x="0" y="14"/>
                </a:lnTo>
                <a:lnTo>
                  <a:pt x="0" y="0"/>
                </a:lnTo>
                <a:close/>
              </a:path>
            </a:pathLst>
          </a:custGeom>
          <a:solidFill>
            <a:srgbClr val="96969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6" name="decode"/>
          <p:cNvSpPr txBox="1"/>
          <p:nvPr/>
        </p:nvSpPr>
        <p:spPr>
          <a:xfrm>
            <a:off x="10438505" y="1459342"/>
            <a:ext cx="650321" cy="208478"/>
          </a:xfrm>
          <a:prstGeom prst="rect">
            <a:avLst/>
          </a:prstGeom>
          <a:noFill/>
          <a:effectLst/>
        </p:spPr>
        <p:txBody>
          <a:bodyPr wrap="none" lIns="0" rIns="0" tIns="0" bIns="0" anchor="t">
            <a:spAutoFit/>
          </a:bodyPr>
          <a:lstStyle/>
          <a:p>
            <a:pPr algn="l">
              <a:lnSpc>
                <a:spcPct val="100000"/>
              </a:lnSpc>
              <a:spcBef>
                <a:spcPts val="0"/>
              </a:spcBef>
              <a:spcAft>
                <a:spcPts val="0"/>
              </a:spcAft>
            </a:pPr>
            <a:r>
              <a:rPr sz="1209" b="0" i="0" lang="en-US" spc="0">
                <a:solidFill>
                  <a:srgbClr val="535353"/>
                </a:solidFill>
                <a:latin typeface="DejaVu Sans"/>
                <a:ea typeface="DejaVu Sans"/>
                <a:effectLst/>
              </a:rPr>
              <a:t>decode</a:t>
            </a:r>
          </a:p>
        </p:txBody>
      </p:sp>
      <p:sp>
        <p:nvSpPr>
          <p:cNvPr id="117" name="c"/>
          <p:cNvSpPr txBox="1"/>
          <p:nvPr/>
        </p:nvSpPr>
        <p:spPr>
          <a:xfrm>
            <a:off x="12316346" y="1669649"/>
            <a:ext cx="191676" cy="290771"/>
          </a:xfrm>
          <a:prstGeom prst="rect">
            <a:avLst/>
          </a:prstGeom>
          <a:noFill/>
          <a:effectLst/>
        </p:spPr>
        <p:txBody>
          <a:bodyPr wrap="none" lIns="0" rIns="0" tIns="0" bIns="0" anchor="t">
            <a:spAutoFit/>
          </a:bodyPr>
          <a:lstStyle/>
          <a:p>
            <a:pPr algn="l">
              <a:lnSpc>
                <a:spcPct val="100000"/>
              </a:lnSpc>
              <a:spcBef>
                <a:spcPts val="0"/>
              </a:spcBef>
              <a:spcAft>
                <a:spcPts val="0"/>
              </a:spcAft>
            </a:pPr>
            <a:r>
              <a:rPr sz="1843" b="0" i="1" lang="en-US" spc="0">
                <a:solidFill>
                  <a:srgbClr val="181818"/>
                </a:solidFill>
                <a:latin typeface="Liberation Serif"/>
                <a:ea typeface="Liberation Serif"/>
                <a:effectLst/>
              </a:rPr>
              <a:t>c</a:t>
            </a:r>
          </a:p>
        </p:txBody>
      </p:sp>
      <p:sp>
        <p:nvSpPr>
          <p:cNvPr id="118" name="*"/>
          <p:cNvSpPr txBox="1"/>
          <p:nvPr/>
        </p:nvSpPr>
        <p:spPr>
          <a:xfrm>
            <a:off x="12427556" y="1622906"/>
            <a:ext cx="163673" cy="197505"/>
          </a:xfrm>
          <a:prstGeom prst="rect">
            <a:avLst/>
          </a:prstGeom>
          <a:noFill/>
          <a:effectLst/>
        </p:spPr>
        <p:txBody>
          <a:bodyPr wrap="none" lIns="0" rIns="0" tIns="0" bIns="0" anchor="t">
            <a:spAutoFit/>
          </a:bodyPr>
          <a:lstStyle/>
          <a:p>
            <a:pPr algn="l">
              <a:lnSpc>
                <a:spcPct val="100000"/>
              </a:lnSpc>
              <a:spcBef>
                <a:spcPts val="0"/>
              </a:spcBef>
              <a:spcAft>
                <a:spcPts val="0"/>
              </a:spcAft>
            </a:pPr>
            <a:r>
              <a:rPr sz="1198" b="0" i="0" lang="en-US" spc="0">
                <a:solidFill>
                  <a:srgbClr val="181818"/>
                </a:solidFill>
                <a:latin typeface="Liberation Serif"/>
                <a:ea typeface="Liberation Serif"/>
                <a:effectLst/>
              </a:rPr>
              <a:t>*</a:t>
            </a:r>
          </a:p>
        </p:txBody>
      </p:sp>
      <p:cxnSp>
        <p:nvCxnSpPr>
          <p:cNvPr id="119" name="line 118"/>
          <p:cNvCxnSpPr/>
          <p:nvPr/>
        </p:nvCxnSpPr>
        <p:spPr>
          <a:xfrm>
            <a:off x="11996600" y="1828750"/>
            <a:ext cx="204820" cy="0"/>
          </a:xfrm>
          <a:prstGeom prst="line">
            <a:avLst/>
          </a:prstGeom>
          <a:ln w="11704">
            <a:solidFill>
              <a:srgbClr val="181818"/>
            </a:solidFill>
          </a:ln>
          <a:effectLst/>
        </p:spPr>
        <p:style>
          <a:lnRef idx="2">
            <a:schemeClr val="accent1"/>
          </a:lnRef>
          <a:fillRef idx="0">
            <a:schemeClr val="accent1"/>
          </a:fillRef>
          <a:effectRef idx="0">
            <a:schemeClr val="accent1"/>
          </a:effectRef>
          <a:fontRef idx="minor">
            <a:schemeClr val="tx1"/>
          </a:fontRef>
        </p:style>
      </p:cxnSp>
      <p:sp>
        <p:nvSpPr>
          <p:cNvPr id="120" name="rect 119"/>
          <p:cNvSpPr/>
          <p:nvPr/>
        </p:nvSpPr>
        <p:spPr>
          <a:xfrm>
            <a:off x="8353730" y="2355430"/>
            <a:ext cx="907060" cy="204820"/>
          </a:xfrm>
          <a:prstGeom prst="rect">
            <a:avLst/>
          </a:prstGeom>
          <a:solidFill>
            <a:srgbClr val="A9CEE8"/>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1" name="context"/>
          <p:cNvSpPr txBox="1"/>
          <p:nvPr/>
        </p:nvSpPr>
        <p:spPr>
          <a:xfrm>
            <a:off x="8412250" y="2358210"/>
            <a:ext cx="743873" cy="208478"/>
          </a:xfrm>
          <a:prstGeom prst="rect">
            <a:avLst/>
          </a:prstGeom>
          <a:noFill/>
          <a:effectLst/>
        </p:spPr>
        <p:txBody>
          <a:bodyPr wrap="none" lIns="0" rIns="0" tIns="0" bIns="0" anchor="t">
            <a:spAutoFit/>
          </a:bodyPr>
          <a:lstStyle/>
          <a:p>
            <a:pPr algn="l">
              <a:lnSpc>
                <a:spcPct val="100000"/>
              </a:lnSpc>
              <a:spcBef>
                <a:spcPts val="0"/>
              </a:spcBef>
              <a:spcAft>
                <a:spcPts val="0"/>
              </a:spcAft>
            </a:pPr>
            <a:r>
              <a:rPr sz="1209" b="1" i="0" lang="en-US" spc="0">
                <a:solidFill>
                  <a:srgbClr val="181818"/>
                </a:solidFill>
                <a:latin typeface="DejaVu Sans"/>
                <a:ea typeface="DejaVu Sans"/>
                <a:effectLst/>
              </a:rPr>
              <a:t>context</a:t>
            </a:r>
          </a:p>
        </p:txBody>
      </p:sp>
      <p:sp>
        <p:nvSpPr>
          <p:cNvPr id="122" name="rect 121"/>
          <p:cNvSpPr/>
          <p:nvPr/>
        </p:nvSpPr>
        <p:spPr>
          <a:xfrm>
            <a:off x="9260790" y="2355430"/>
            <a:ext cx="987525" cy="204820"/>
          </a:xfrm>
          <a:prstGeom prst="rect">
            <a:avLst/>
          </a:prstGeom>
          <a:solidFill>
            <a:srgbClr val="A9CEE8"/>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3" name="epoch"/>
          <p:cNvSpPr txBox="1"/>
          <p:nvPr/>
        </p:nvSpPr>
        <p:spPr>
          <a:xfrm>
            <a:off x="9319310" y="2358210"/>
            <a:ext cx="607859" cy="208478"/>
          </a:xfrm>
          <a:prstGeom prst="rect">
            <a:avLst/>
          </a:prstGeom>
          <a:noFill/>
          <a:effectLst/>
        </p:spPr>
        <p:txBody>
          <a:bodyPr wrap="none" lIns="0" rIns="0" tIns="0" bIns="0" anchor="t">
            <a:spAutoFit/>
          </a:bodyPr>
          <a:lstStyle/>
          <a:p>
            <a:pPr algn="l">
              <a:lnSpc>
                <a:spcPct val="100000"/>
              </a:lnSpc>
              <a:spcBef>
                <a:spcPts val="0"/>
              </a:spcBef>
              <a:spcAft>
                <a:spcPts val="0"/>
              </a:spcAft>
            </a:pPr>
            <a:r>
              <a:rPr sz="1209" b="1" i="0" lang="en-US" spc="0">
                <a:solidFill>
                  <a:srgbClr val="181818"/>
                </a:solidFill>
                <a:latin typeface="DejaVu Sans"/>
                <a:ea typeface="DejaVu Sans"/>
                <a:effectLst/>
              </a:rPr>
              <a:t>epoch</a:t>
            </a:r>
          </a:p>
        </p:txBody>
      </p:sp>
      <p:sp>
        <p:nvSpPr>
          <p:cNvPr id="124" name="rect 123"/>
          <p:cNvSpPr/>
          <p:nvPr/>
        </p:nvSpPr>
        <p:spPr>
          <a:xfrm>
            <a:off x="10248315" y="2355430"/>
            <a:ext cx="2435895" cy="204820"/>
          </a:xfrm>
          <a:prstGeom prst="rect">
            <a:avLst/>
          </a:prstGeom>
          <a:solidFill>
            <a:srgbClr val="A9CEE8"/>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5" name="Host checkpoint"/>
          <p:cNvSpPr txBox="1"/>
          <p:nvPr/>
        </p:nvSpPr>
        <p:spPr>
          <a:xfrm>
            <a:off x="10306835" y="2358210"/>
            <a:ext cx="1488974" cy="208478"/>
          </a:xfrm>
          <a:prstGeom prst="rect">
            <a:avLst/>
          </a:prstGeom>
          <a:noFill/>
          <a:effectLst/>
        </p:spPr>
        <p:txBody>
          <a:bodyPr wrap="none" lIns="0" rIns="0" tIns="0" bIns="0" anchor="t">
            <a:spAutoFit/>
          </a:bodyPr>
          <a:lstStyle/>
          <a:p>
            <a:pPr algn="l">
              <a:lnSpc>
                <a:spcPct val="100000"/>
              </a:lnSpc>
              <a:spcBef>
                <a:spcPts val="0"/>
              </a:spcBef>
              <a:spcAft>
                <a:spcPts val="0"/>
              </a:spcAft>
            </a:pPr>
            <a:r>
              <a:rPr sz="1209" b="1" i="0" lang="en-US" spc="0">
                <a:solidFill>
                  <a:srgbClr val="181818"/>
                </a:solidFill>
                <a:latin typeface="DejaVu Sans"/>
                <a:ea typeface="DejaVu Sans"/>
                <a:effectLst/>
              </a:rPr>
              <a:t>Host checkpoint</a:t>
            </a:r>
          </a:p>
        </p:txBody>
      </p:sp>
      <p:sp>
        <p:nvSpPr>
          <p:cNvPr id="126" name="rect 125"/>
          <p:cNvSpPr/>
          <p:nvPr/>
        </p:nvSpPr>
        <p:spPr>
          <a:xfrm>
            <a:off x="8353730" y="2560250"/>
            <a:ext cx="907060" cy="204820"/>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7" name="P"/>
          <p:cNvSpPr txBox="1"/>
          <p:nvPr/>
        </p:nvSpPr>
        <p:spPr>
          <a:xfrm>
            <a:off x="8412250" y="2563030"/>
            <a:ext cx="180418" cy="208478"/>
          </a:xfrm>
          <a:prstGeom prst="rect">
            <a:avLst/>
          </a:prstGeom>
          <a:noFill/>
          <a:effectLst/>
        </p:spPr>
        <p:txBody>
          <a:bodyPr wrap="none" lIns="0" rIns="0" tIns="0" bIns="0" anchor="t">
            <a:spAutoFit/>
          </a:bodyPr>
          <a:lstStyle/>
          <a:p>
            <a:pPr algn="l">
              <a:lnSpc>
                <a:spcPct val="100000"/>
              </a:lnSpc>
              <a:spcBef>
                <a:spcPts val="0"/>
              </a:spcBef>
              <a:spcAft>
                <a:spcPts val="0"/>
              </a:spcAft>
            </a:pPr>
            <a:r>
              <a:rPr sz="1209" b="0" i="0" lang="en-US" spc="0">
                <a:solidFill>
                  <a:srgbClr val="181818"/>
                </a:solidFill>
                <a:latin typeface="DejaVu Sans"/>
                <a:ea typeface="DejaVu Sans"/>
                <a:effectLst/>
              </a:rPr>
              <a:t>P</a:t>
            </a:r>
          </a:p>
        </p:txBody>
      </p:sp>
      <p:sp>
        <p:nvSpPr>
          <p:cNvPr id="128" name="rect 127"/>
          <p:cNvSpPr/>
          <p:nvPr/>
        </p:nvSpPr>
        <p:spPr>
          <a:xfrm>
            <a:off x="9260790" y="2560250"/>
            <a:ext cx="987525" cy="204820"/>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9" name="e"/>
          <p:cNvSpPr txBox="1"/>
          <p:nvPr/>
        </p:nvSpPr>
        <p:spPr>
          <a:xfrm>
            <a:off x="9319310" y="2563030"/>
            <a:ext cx="182304" cy="208478"/>
          </a:xfrm>
          <a:prstGeom prst="rect">
            <a:avLst/>
          </a:prstGeom>
          <a:noFill/>
          <a:effectLst/>
        </p:spPr>
        <p:txBody>
          <a:bodyPr wrap="none" lIns="0" rIns="0" tIns="0" bIns="0" anchor="t">
            <a:spAutoFit/>
          </a:bodyPr>
          <a:lstStyle/>
          <a:p>
            <a:pPr algn="l">
              <a:lnSpc>
                <a:spcPct val="100000"/>
              </a:lnSpc>
              <a:spcBef>
                <a:spcPts val="0"/>
              </a:spcBef>
              <a:spcAft>
                <a:spcPts val="0"/>
              </a:spcAft>
            </a:pPr>
            <a:r>
              <a:rPr sz="1209" b="0" i="0" lang="en-US" spc="0">
                <a:solidFill>
                  <a:srgbClr val="181818"/>
                </a:solidFill>
                <a:latin typeface="DejaVu Sans"/>
                <a:ea typeface="DejaVu Sans"/>
                <a:effectLst/>
              </a:rPr>
              <a:t>e</a:t>
            </a:r>
          </a:p>
        </p:txBody>
      </p:sp>
      <p:sp>
        <p:nvSpPr>
          <p:cNvPr id="130" name="rect 129"/>
          <p:cNvSpPr/>
          <p:nvPr/>
        </p:nvSpPr>
        <p:spPr>
          <a:xfrm>
            <a:off x="10248315" y="2560250"/>
            <a:ext cx="2435895" cy="204820"/>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1" name="c*"/>
          <p:cNvSpPr txBox="1"/>
          <p:nvPr/>
        </p:nvSpPr>
        <p:spPr>
          <a:xfrm>
            <a:off x="10306835" y="2563030"/>
            <a:ext cx="249053" cy="208478"/>
          </a:xfrm>
          <a:prstGeom prst="rect">
            <a:avLst/>
          </a:prstGeom>
          <a:noFill/>
          <a:effectLst/>
        </p:spPr>
        <p:txBody>
          <a:bodyPr wrap="none" lIns="0" rIns="0" tIns="0" bIns="0" anchor="t">
            <a:spAutoFit/>
          </a:bodyPr>
          <a:lstStyle/>
          <a:p>
            <a:pPr algn="l">
              <a:lnSpc>
                <a:spcPct val="100000"/>
              </a:lnSpc>
              <a:spcBef>
                <a:spcPts val="0"/>
              </a:spcBef>
              <a:spcAft>
                <a:spcPts val="0"/>
              </a:spcAft>
            </a:pPr>
            <a:r>
              <a:rPr sz="1209" b="0" i="0" lang="en-US" spc="0">
                <a:solidFill>
                  <a:srgbClr val="181818"/>
                </a:solidFill>
                <a:latin typeface="DejaVu Sans"/>
                <a:ea typeface="DejaVu Sans"/>
                <a:effectLst/>
              </a:rPr>
              <a:t>c*</a:t>
            </a:r>
          </a:p>
        </p:txBody>
      </p:sp>
      <p:sp>
        <p:nvSpPr>
          <p:cNvPr id="132" name="PREPARE"/>
          <p:cNvSpPr txBox="1"/>
          <p:nvPr/>
        </p:nvSpPr>
        <p:spPr>
          <a:xfrm>
            <a:off x="8382990" y="2812618"/>
            <a:ext cx="775904" cy="208478"/>
          </a:xfrm>
          <a:prstGeom prst="rect">
            <a:avLst/>
          </a:prstGeom>
          <a:noFill/>
          <a:effectLst/>
        </p:spPr>
        <p:txBody>
          <a:bodyPr wrap="none" lIns="0" rIns="0" tIns="0" bIns="0" anchor="t">
            <a:spAutoFit/>
          </a:bodyPr>
          <a:lstStyle/>
          <a:p>
            <a:pPr algn="l">
              <a:lnSpc>
                <a:spcPct val="100000"/>
              </a:lnSpc>
              <a:spcBef>
                <a:spcPts val="0"/>
              </a:spcBef>
              <a:spcAft>
                <a:spcPts val="0"/>
              </a:spcAft>
            </a:pPr>
            <a:r>
              <a:rPr sz="1209" b="0" i="0" lang="en-US" spc="0">
                <a:solidFill>
                  <a:srgbClr val="535353"/>
                </a:solidFill>
                <a:latin typeface="DejaVu Sans"/>
                <a:ea typeface="DejaVu Sans"/>
                <a:effectLst/>
              </a:rPr>
              <a:t>PREPARE</a:t>
            </a:r>
          </a:p>
        </p:txBody>
      </p:sp>
      <p:cxnSp>
        <p:nvCxnSpPr>
          <p:cNvPr id="133" name="line 132"/>
          <p:cNvCxnSpPr/>
          <p:nvPr/>
        </p:nvCxnSpPr>
        <p:spPr>
          <a:xfrm>
            <a:off x="9216900" y="2816275"/>
            <a:ext cx="138985" cy="138985"/>
          </a:xfrm>
          <a:prstGeom prst="line">
            <a:avLst/>
          </a:prstGeom>
          <a:ln w="20482">
            <a:solidFill>
              <a:srgbClr val="BF3335"/>
            </a:solidFill>
          </a:ln>
          <a:effectLst/>
        </p:spPr>
        <p:style>
          <a:lnRef idx="2">
            <a:schemeClr val="accent1"/>
          </a:lnRef>
          <a:fillRef idx="0">
            <a:schemeClr val="accent1"/>
          </a:fillRef>
          <a:effectRef idx="0">
            <a:schemeClr val="accent1"/>
          </a:effectRef>
          <a:fontRef idx="minor">
            <a:schemeClr val="tx1"/>
          </a:fontRef>
        </p:style>
      </p:cxnSp>
      <p:cxnSp>
        <p:nvCxnSpPr>
          <p:cNvPr id="134" name="line 133"/>
          <p:cNvCxnSpPr/>
          <p:nvPr/>
        </p:nvCxnSpPr>
        <p:spPr>
          <a:xfrm flipV="1">
            <a:off x="9216900" y="2816275"/>
            <a:ext cx="138985" cy="138985"/>
          </a:xfrm>
          <a:prstGeom prst="line">
            <a:avLst/>
          </a:prstGeom>
          <a:ln w="20482">
            <a:solidFill>
              <a:srgbClr val="BF3335"/>
            </a:solidFill>
          </a:ln>
          <a:effectLst/>
        </p:spPr>
        <p:style>
          <a:lnRef idx="2">
            <a:schemeClr val="accent1"/>
          </a:lnRef>
          <a:fillRef idx="0">
            <a:schemeClr val="accent1"/>
          </a:fillRef>
          <a:effectRef idx="0">
            <a:schemeClr val="accent1"/>
          </a:effectRef>
          <a:fontRef idx="minor">
            <a:schemeClr val="tx1"/>
          </a:fontRef>
        </p:style>
      </p:cxnSp>
      <p:sp>
        <p:nvSpPr>
          <p:cNvPr id="135" name="path 134"/>
          <p:cNvSpPr/>
          <p:nvPr/>
        </p:nvSpPr>
        <p:spPr>
          <a:xfrm>
            <a:off x="11872245" y="1777545"/>
            <a:ext cx="541310" cy="577885"/>
          </a:xfrm>
          <a:custGeom>
            <a:avLst/>
            <a:gdLst/>
            <a:ahLst/>
            <a:cxnLst/>
            <a:rect l="l" t="t" r="r" b="b"/>
            <a:pathLst>
              <a:path w="74" h="79">
                <a:moveTo>
                  <a:pt x="74" y="79"/>
                </a:moveTo>
                <a:lnTo>
                  <a:pt x="74" y="44"/>
                </a:lnTo>
                <a:lnTo>
                  <a:pt x="17" y="44"/>
                </a:lnTo>
                <a:lnTo>
                  <a:pt x="17" y="0"/>
                </a:lnTo>
                <a:lnTo>
                  <a:pt x="0" y="0"/>
                </a:lnTo>
              </a:path>
            </a:pathLst>
          </a:custGeom>
          <a:noFill/>
          <a:ln w="14630">
            <a:solidFill>
              <a:srgbClr val="BF333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6" name="arrowhead 135"/>
          <p:cNvSpPr/>
          <p:nvPr/>
        </p:nvSpPr>
        <p:spPr>
          <a:xfrm>
            <a:off x="11857615" y="1726340"/>
            <a:ext cx="102410" cy="102410"/>
          </a:xfrm>
          <a:custGeom>
            <a:avLst/>
            <a:gdLst/>
            <a:ahLst/>
            <a:cxnLst/>
            <a:rect l="l" t="t" r="r" b="b"/>
            <a:pathLst>
              <a:path w="14" h="14">
                <a:moveTo>
                  <a:pt x="0" y="7"/>
                </a:moveTo>
                <a:lnTo>
                  <a:pt x="14" y="0"/>
                </a:lnTo>
                <a:lnTo>
                  <a:pt x="14" y="14"/>
                </a:lnTo>
                <a:close/>
              </a:path>
            </a:pathLst>
          </a:custGeom>
          <a:solidFill>
            <a:srgbClr val="BF333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7" name="Restore matched state"/>
          <p:cNvSpPr txBox="1"/>
          <p:nvPr/>
        </p:nvSpPr>
        <p:spPr>
          <a:xfrm>
            <a:off x="10972500" y="2819932"/>
            <a:ext cx="1835379" cy="208478"/>
          </a:xfrm>
          <a:prstGeom prst="rect">
            <a:avLst/>
          </a:prstGeom>
          <a:noFill/>
          <a:effectLst/>
        </p:spPr>
        <p:txBody>
          <a:bodyPr wrap="none" lIns="0" rIns="0" tIns="0" bIns="0" anchor="t">
            <a:spAutoFit/>
          </a:bodyPr>
          <a:lstStyle/>
          <a:p>
            <a:pPr algn="l">
              <a:lnSpc>
                <a:spcPct val="100000"/>
              </a:lnSpc>
              <a:spcBef>
                <a:spcPts val="0"/>
              </a:spcBef>
              <a:spcAft>
                <a:spcPts val="0"/>
              </a:spcAft>
            </a:pPr>
            <a:r>
              <a:rPr sz="1209" b="0" i="0" lang="en-US" spc="0">
                <a:solidFill>
                  <a:srgbClr val="181818"/>
                </a:solidFill>
                <a:latin typeface="DejaVu Sans"/>
                <a:ea typeface="DejaVu Sans"/>
                <a:effectLst/>
              </a:rPr>
              <a:t>Restore matched state</a:t>
            </a:r>
          </a:p>
        </p:txBody>
      </p:sp>
      <p:sp>
        <p:nvSpPr>
          <p:cNvPr id="138" name="rect 137"/>
          <p:cNvSpPr/>
          <p:nvPr/>
        </p:nvSpPr>
        <p:spPr>
          <a:xfrm>
            <a:off x="292600" y="3357585"/>
            <a:ext cx="12581800" cy="2384690"/>
          </a:xfrm>
          <a:prstGeom prst="roundRect">
            <a:avLst>
              <a:gd name="adj" fmla="val 613"/>
            </a:avLst>
          </a:prstGeom>
          <a:solidFill>
            <a:srgbClr val="EEEEEE"/>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9" name="rect 138"/>
          <p:cNvSpPr/>
          <p:nvPr/>
        </p:nvSpPr>
        <p:spPr>
          <a:xfrm>
            <a:off x="292600" y="3357585"/>
            <a:ext cx="12581800" cy="277970"/>
          </a:xfrm>
          <a:prstGeom prst="roundRect">
            <a:avLst>
              <a:gd name="adj" fmla="val 5263"/>
            </a:avLst>
          </a:prstGeom>
          <a:solidFill>
            <a:srgbClr val="9DC38B"/>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0" name="(c) Safe-input checkpoint → missing pages → native layer pipeline"/>
          <p:cNvSpPr txBox="1"/>
          <p:nvPr/>
        </p:nvSpPr>
        <p:spPr>
          <a:xfrm>
            <a:off x="395010" y="3380335"/>
            <a:ext cx="7120981" cy="252368"/>
          </a:xfrm>
          <a:prstGeom prst="rect">
            <a:avLst/>
          </a:prstGeom>
          <a:noFill/>
          <a:effectLst/>
        </p:spPr>
        <p:txBody>
          <a:bodyPr wrap="none" lIns="0" rIns="0" tIns="0" bIns="0" anchor="t">
            <a:spAutoFit/>
          </a:bodyPr>
          <a:lstStyle/>
          <a:p>
            <a:pPr algn="l">
              <a:lnSpc>
                <a:spcPct val="100000"/>
              </a:lnSpc>
              <a:spcBef>
                <a:spcPts val="0"/>
              </a:spcBef>
              <a:spcAft>
                <a:spcPts val="0"/>
              </a:spcAft>
            </a:pPr>
            <a:r>
              <a:rPr sz="1497" b="1" i="0" lang="en-US" spc="0">
                <a:solidFill>
                  <a:srgbClr val="181818"/>
                </a:solidFill>
                <a:latin typeface="DejaVu Sans"/>
                <a:ea typeface="DejaVu Sans"/>
                <a:effectLst/>
              </a:rPr>
              <a:t>(c) Safe-input checkpoint → missing pages → native layer pipeline</a:t>
            </a:r>
          </a:p>
        </p:txBody>
      </p:sp>
      <p:sp>
        <p:nvSpPr>
          <p:cNvPr id="141" name="Native radix tree"/>
          <p:cNvSpPr txBox="1"/>
          <p:nvPr/>
        </p:nvSpPr>
        <p:spPr>
          <a:xfrm>
            <a:off x="490105" y="3858662"/>
            <a:ext cx="1765801" cy="235909"/>
          </a:xfrm>
          <a:prstGeom prst="rect">
            <a:avLst/>
          </a:prstGeom>
          <a:noFill/>
          <a:effectLst/>
        </p:spPr>
        <p:txBody>
          <a:bodyPr wrap="none" lIns="0" rIns="0" tIns="0" bIns="0" anchor="t">
            <a:spAutoFit/>
          </a:bodyPr>
          <a:lstStyle/>
          <a:p>
            <a:pPr algn="l">
              <a:lnSpc>
                <a:spcPct val="100000"/>
              </a:lnSpc>
              <a:spcBef>
                <a:spcPts val="0"/>
              </a:spcBef>
              <a:spcAft>
                <a:spcPts val="0"/>
              </a:spcAft>
            </a:pPr>
            <a:r>
              <a:rPr sz="1382" b="1" i="0" lang="en-US" spc="0">
                <a:solidFill>
                  <a:srgbClr val="181818"/>
                </a:solidFill>
                <a:latin typeface="DejaVu Sans"/>
                <a:ea typeface="DejaVu Sans"/>
                <a:effectLst/>
              </a:rPr>
              <a:t>Native radix tree</a:t>
            </a:r>
          </a:p>
        </p:txBody>
      </p:sp>
      <p:sp>
        <p:nvSpPr>
          <p:cNvPr id="142" name="rect 141"/>
          <p:cNvSpPr/>
          <p:nvPr/>
        </p:nvSpPr>
        <p:spPr>
          <a:xfrm>
            <a:off x="592515" y="4425575"/>
            <a:ext cx="409640" cy="314545"/>
          </a:xfrm>
          <a:prstGeom prst="roundRect">
            <a:avLst>
              <a:gd name="adj" fmla="val 2325"/>
            </a:avLst>
          </a:prstGeom>
          <a:solidFill>
            <a:srgbClr val="DDDDDD"/>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3" name="p0"/>
          <p:cNvSpPr txBox="1"/>
          <p:nvPr/>
        </p:nvSpPr>
        <p:spPr>
          <a:xfrm>
            <a:off x="645020" y="4492434"/>
            <a:ext cx="304630" cy="208478"/>
          </a:xfrm>
          <a:prstGeom prst="rect">
            <a:avLst/>
          </a:prstGeom>
          <a:noFill/>
          <a:effectLst/>
        </p:spPr>
        <p:txBody>
          <a:bodyPr wrap="none" lIns="0" rIns="0" tIns="0" bIns="0" anchor="t">
            <a:spAutoFit/>
          </a:bodyPr>
          <a:lstStyle/>
          <a:p>
            <a:pPr algn="ctr">
              <a:lnSpc>
                <a:spcPct val="100000"/>
              </a:lnSpc>
              <a:spcBef>
                <a:spcPts val="0"/>
              </a:spcBef>
              <a:spcAft>
                <a:spcPts val="0"/>
              </a:spcAft>
            </a:pPr>
            <a:r>
              <a:rPr sz="1209" b="1" i="0" lang="en-US" spc="0">
                <a:solidFill>
                  <a:srgbClr val="181818"/>
                </a:solidFill>
                <a:latin typeface="DejaVu Sans"/>
                <a:ea typeface="DejaVu Sans"/>
                <a:effectLst/>
              </a:rPr>
              <a:t>p0</a:t>
            </a:r>
          </a:p>
        </p:txBody>
      </p:sp>
      <p:sp>
        <p:nvSpPr>
          <p:cNvPr id="144" name="rect 143"/>
          <p:cNvSpPr/>
          <p:nvPr/>
        </p:nvSpPr>
        <p:spPr>
          <a:xfrm>
            <a:off x="1594670" y="4132975"/>
            <a:ext cx="409640" cy="314545"/>
          </a:xfrm>
          <a:prstGeom prst="roundRect">
            <a:avLst>
              <a:gd name="adj" fmla="val 2325"/>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5" name="p1"/>
          <p:cNvSpPr txBox="1"/>
          <p:nvPr/>
        </p:nvSpPr>
        <p:spPr>
          <a:xfrm>
            <a:off x="1647175" y="4199834"/>
            <a:ext cx="304630" cy="208478"/>
          </a:xfrm>
          <a:prstGeom prst="rect">
            <a:avLst/>
          </a:prstGeom>
          <a:noFill/>
          <a:effectLst/>
        </p:spPr>
        <p:txBody>
          <a:bodyPr wrap="none" lIns="0" rIns="0" tIns="0" bIns="0" anchor="t">
            <a:spAutoFit/>
          </a:bodyPr>
          <a:lstStyle/>
          <a:p>
            <a:pPr algn="ctr">
              <a:lnSpc>
                <a:spcPct val="100000"/>
              </a:lnSpc>
              <a:spcBef>
                <a:spcPts val="0"/>
              </a:spcBef>
              <a:spcAft>
                <a:spcPts val="0"/>
              </a:spcAft>
            </a:pPr>
            <a:r>
              <a:rPr sz="1209" b="1" i="0" lang="en-US" spc="0">
                <a:solidFill>
                  <a:srgbClr val="181818"/>
                </a:solidFill>
                <a:latin typeface="DejaVu Sans"/>
                <a:ea typeface="DejaVu Sans"/>
                <a:effectLst/>
              </a:rPr>
              <a:t>p1</a:t>
            </a:r>
          </a:p>
        </p:txBody>
      </p:sp>
      <p:sp>
        <p:nvSpPr>
          <p:cNvPr id="146" name="rect 145"/>
          <p:cNvSpPr/>
          <p:nvPr/>
        </p:nvSpPr>
        <p:spPr>
          <a:xfrm>
            <a:off x="2560250" y="4425575"/>
            <a:ext cx="409640" cy="314545"/>
          </a:xfrm>
          <a:prstGeom prst="roundRect">
            <a:avLst>
              <a:gd name="adj" fmla="val 2325"/>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7" name="p5"/>
          <p:cNvSpPr txBox="1"/>
          <p:nvPr/>
        </p:nvSpPr>
        <p:spPr>
          <a:xfrm>
            <a:off x="2612755" y="4492434"/>
            <a:ext cx="304630" cy="208478"/>
          </a:xfrm>
          <a:prstGeom prst="rect">
            <a:avLst/>
          </a:prstGeom>
          <a:noFill/>
          <a:effectLst/>
        </p:spPr>
        <p:txBody>
          <a:bodyPr wrap="none" lIns="0" rIns="0" tIns="0" bIns="0" anchor="t">
            <a:spAutoFit/>
          </a:bodyPr>
          <a:lstStyle/>
          <a:p>
            <a:pPr algn="ctr">
              <a:lnSpc>
                <a:spcPct val="100000"/>
              </a:lnSpc>
              <a:spcBef>
                <a:spcPts val="0"/>
              </a:spcBef>
              <a:spcAft>
                <a:spcPts val="0"/>
              </a:spcAft>
            </a:pPr>
            <a:r>
              <a:rPr sz="1209" b="1" i="0" lang="en-US" spc="0">
                <a:solidFill>
                  <a:srgbClr val="181818"/>
                </a:solidFill>
                <a:latin typeface="DejaVu Sans"/>
                <a:ea typeface="DejaVu Sans"/>
                <a:effectLst/>
              </a:rPr>
              <a:t>p5</a:t>
            </a:r>
          </a:p>
        </p:txBody>
      </p:sp>
      <p:sp>
        <p:nvSpPr>
          <p:cNvPr id="148" name="rect 147"/>
          <p:cNvSpPr/>
          <p:nvPr/>
        </p:nvSpPr>
        <p:spPr>
          <a:xfrm>
            <a:off x="1594670" y="4988830"/>
            <a:ext cx="409640" cy="314545"/>
          </a:xfrm>
          <a:prstGeom prst="roundRect">
            <a:avLst>
              <a:gd name="adj" fmla="val 2325"/>
            </a:avLst>
          </a:prstGeom>
          <a:solidFill>
            <a:srgbClr val="DDDDDD"/>
          </a:solidFill>
          <a:ln w="13167">
            <a:solidFill>
              <a:srgbClr val="181818"/>
            </a:solidFill>
            <a:prstDash val="dash"/>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9" name="g"/>
          <p:cNvSpPr txBox="1"/>
          <p:nvPr/>
        </p:nvSpPr>
        <p:spPr>
          <a:xfrm>
            <a:off x="1700623" y="5055689"/>
            <a:ext cx="197734" cy="208478"/>
          </a:xfrm>
          <a:prstGeom prst="rect">
            <a:avLst/>
          </a:prstGeom>
          <a:noFill/>
          <a:effectLst/>
        </p:spPr>
        <p:txBody>
          <a:bodyPr wrap="none" lIns="0" rIns="0" tIns="0" bIns="0" anchor="t">
            <a:spAutoFit/>
          </a:bodyPr>
          <a:lstStyle/>
          <a:p>
            <a:pPr algn="ctr">
              <a:lnSpc>
                <a:spcPct val="100000"/>
              </a:lnSpc>
              <a:spcBef>
                <a:spcPts val="0"/>
              </a:spcBef>
              <a:spcAft>
                <a:spcPts val="0"/>
              </a:spcAft>
            </a:pPr>
            <a:r>
              <a:rPr sz="1209" b="1" i="0" lang="en-US" spc="0">
                <a:solidFill>
                  <a:srgbClr val="181818"/>
                </a:solidFill>
                <a:latin typeface="DejaVu Sans"/>
                <a:ea typeface="DejaVu Sans"/>
                <a:effectLst/>
              </a:rPr>
              <a:t>g</a:t>
            </a:r>
          </a:p>
        </p:txBody>
      </p:sp>
      <p:cxnSp>
        <p:nvCxnSpPr>
          <p:cNvPr id="150" name="path 149"/>
          <p:cNvCxnSpPr/>
          <p:nvPr/>
        </p:nvCxnSpPr>
        <p:spPr>
          <a:xfrm flipV="1">
            <a:off x="1009470" y="4315850"/>
            <a:ext cx="563255" cy="226765"/>
          </a:xfrm>
          <a:prstGeom prst="line">
            <a:avLst/>
          </a:prstGeom>
          <a:ln w="19019">
            <a:solidFill>
              <a:srgbClr val="181818"/>
            </a:solidFill>
          </a:ln>
          <a:effectLst/>
        </p:spPr>
        <p:style>
          <a:lnRef idx="2">
            <a:schemeClr val="accent1"/>
          </a:lnRef>
          <a:fillRef idx="0">
            <a:schemeClr val="accent1"/>
          </a:fillRef>
          <a:effectRef idx="0">
            <a:schemeClr val="accent1"/>
          </a:effectRef>
          <a:fontRef idx="minor">
            <a:schemeClr val="tx1"/>
          </a:fontRef>
        </p:style>
      </p:cxnSp>
      <p:sp>
        <p:nvSpPr>
          <p:cNvPr id="151" name="arrowhead 150"/>
          <p:cNvSpPr/>
          <p:nvPr/>
        </p:nvSpPr>
        <p:spPr>
          <a:xfrm>
            <a:off x="1441055" y="4293905"/>
            <a:ext cx="153615" cy="124355"/>
          </a:xfrm>
          <a:custGeom>
            <a:avLst/>
            <a:gdLst/>
            <a:ahLst/>
            <a:cxnLst/>
            <a:rect l="l" t="t" r="r" b="b"/>
            <a:pathLst>
              <a:path w="21" h="17">
                <a:moveTo>
                  <a:pt x="21" y="2"/>
                </a:moveTo>
                <a:lnTo>
                  <a:pt x="7" y="17"/>
                </a:lnTo>
                <a:lnTo>
                  <a:pt x="0" y="0"/>
                </a:lnTo>
                <a:close/>
              </a:path>
            </a:pathLst>
          </a:custGeom>
          <a:solidFill>
            <a:srgbClr val="18181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2" name="path 151"/>
          <p:cNvCxnSpPr/>
          <p:nvPr/>
        </p:nvCxnSpPr>
        <p:spPr>
          <a:xfrm>
            <a:off x="2011625" y="4315850"/>
            <a:ext cx="526680" cy="219450"/>
          </a:xfrm>
          <a:prstGeom prst="line">
            <a:avLst/>
          </a:prstGeom>
          <a:ln w="19019">
            <a:solidFill>
              <a:srgbClr val="BF3335"/>
            </a:solidFill>
          </a:ln>
          <a:effectLst/>
        </p:spPr>
        <p:style>
          <a:lnRef idx="2">
            <a:schemeClr val="accent1"/>
          </a:lnRef>
          <a:fillRef idx="0">
            <a:schemeClr val="accent1"/>
          </a:fillRef>
          <a:effectRef idx="0">
            <a:schemeClr val="accent1"/>
          </a:effectRef>
          <a:fontRef idx="minor">
            <a:schemeClr val="tx1"/>
          </a:fontRef>
        </p:style>
      </p:cxnSp>
      <p:sp>
        <p:nvSpPr>
          <p:cNvPr id="153" name="arrowhead 152"/>
          <p:cNvSpPr/>
          <p:nvPr/>
        </p:nvSpPr>
        <p:spPr>
          <a:xfrm>
            <a:off x="2406635" y="4432890"/>
            <a:ext cx="153615" cy="117040"/>
          </a:xfrm>
          <a:custGeom>
            <a:avLst/>
            <a:gdLst/>
            <a:ahLst/>
            <a:cxnLst/>
            <a:rect l="l" t="t" r="r" b="b"/>
            <a:pathLst>
              <a:path w="21" h="16">
                <a:moveTo>
                  <a:pt x="21" y="15"/>
                </a:moveTo>
                <a:lnTo>
                  <a:pt x="0" y="16"/>
                </a:lnTo>
                <a:lnTo>
                  <a:pt x="7" y="0"/>
                </a:lnTo>
                <a:close/>
              </a:path>
            </a:pathLst>
          </a:custGeom>
          <a:solidFill>
            <a:srgbClr val="BF333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4" name="path 153"/>
          <p:cNvCxnSpPr/>
          <p:nvPr/>
        </p:nvCxnSpPr>
        <p:spPr>
          <a:xfrm>
            <a:off x="958265" y="4747435"/>
            <a:ext cx="629090" cy="351120"/>
          </a:xfrm>
          <a:prstGeom prst="line">
            <a:avLst/>
          </a:prstGeom>
          <a:ln w="19019">
            <a:solidFill>
              <a:srgbClr val="969696"/>
            </a:solidFill>
            <a:prstDash val="dash"/>
          </a:ln>
          <a:effectLst/>
        </p:spPr>
        <p:style>
          <a:lnRef idx="2">
            <a:schemeClr val="accent1"/>
          </a:lnRef>
          <a:fillRef idx="0">
            <a:schemeClr val="accent1"/>
          </a:fillRef>
          <a:effectRef idx="0">
            <a:schemeClr val="accent1"/>
          </a:effectRef>
          <a:fontRef idx="minor">
            <a:schemeClr val="tx1"/>
          </a:fontRef>
        </p:style>
      </p:cxnSp>
      <p:sp>
        <p:nvSpPr>
          <p:cNvPr id="155" name="arrowhead 154"/>
          <p:cNvSpPr/>
          <p:nvPr/>
        </p:nvSpPr>
        <p:spPr>
          <a:xfrm>
            <a:off x="1455685" y="4988830"/>
            <a:ext cx="146300" cy="117040"/>
          </a:xfrm>
          <a:custGeom>
            <a:avLst/>
            <a:gdLst/>
            <a:ahLst/>
            <a:cxnLst/>
            <a:rect l="l" t="t" r="r" b="b"/>
            <a:pathLst>
              <a:path w="20" h="16">
                <a:moveTo>
                  <a:pt x="20" y="16"/>
                </a:moveTo>
                <a:lnTo>
                  <a:pt x="0" y="15"/>
                </a:lnTo>
                <a:lnTo>
                  <a:pt x="9" y="0"/>
                </a:lnTo>
                <a:close/>
              </a:path>
            </a:pathLst>
          </a:custGeom>
          <a:solidFill>
            <a:srgbClr val="969696"/>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56" name="line 155"/>
          <p:cNvCxnSpPr/>
          <p:nvPr/>
        </p:nvCxnSpPr>
        <p:spPr>
          <a:xfrm>
            <a:off x="2084775" y="5061980"/>
            <a:ext cx="146300" cy="146300"/>
          </a:xfrm>
          <a:prstGeom prst="line">
            <a:avLst/>
          </a:prstGeom>
          <a:ln w="20482">
            <a:solidFill>
              <a:srgbClr val="969696"/>
            </a:solidFill>
          </a:ln>
          <a:effectLst/>
        </p:spPr>
        <p:style>
          <a:lnRef idx="2">
            <a:schemeClr val="accent1"/>
          </a:lnRef>
          <a:fillRef idx="0">
            <a:schemeClr val="accent1"/>
          </a:fillRef>
          <a:effectRef idx="0">
            <a:schemeClr val="accent1"/>
          </a:effectRef>
          <a:fontRef idx="minor">
            <a:schemeClr val="tx1"/>
          </a:fontRef>
        </p:style>
      </p:cxnSp>
      <p:cxnSp>
        <p:nvCxnSpPr>
          <p:cNvPr id="157" name="line 156"/>
          <p:cNvCxnSpPr/>
          <p:nvPr/>
        </p:nvCxnSpPr>
        <p:spPr>
          <a:xfrm flipV="1">
            <a:off x="2084775" y="5061980"/>
            <a:ext cx="146300" cy="146300"/>
          </a:xfrm>
          <a:prstGeom prst="line">
            <a:avLst/>
          </a:prstGeom>
          <a:ln w="20482">
            <a:solidFill>
              <a:srgbClr val="969696"/>
            </a:solidFill>
          </a:ln>
          <a:effectLst/>
        </p:spPr>
        <p:style>
          <a:lnRef idx="2">
            <a:schemeClr val="accent1"/>
          </a:lnRef>
          <a:fillRef idx="0">
            <a:schemeClr val="accent1"/>
          </a:fillRef>
          <a:effectRef idx="0">
            <a:schemeClr val="accent1"/>
          </a:effectRef>
          <a:fontRef idx="minor">
            <a:schemeClr val="tx1"/>
          </a:fontRef>
        </p:style>
      </p:cxnSp>
      <p:sp>
        <p:nvSpPr>
          <p:cNvPr id="158" name="path 157"/>
          <p:cNvSpPr/>
          <p:nvPr/>
        </p:nvSpPr>
        <p:spPr>
          <a:xfrm>
            <a:off x="680295" y="4798640"/>
            <a:ext cx="65835" cy="51205"/>
          </a:xfrm>
          <a:custGeom>
            <a:avLst/>
            <a:gdLst/>
            <a:ahLst/>
            <a:cxnLst/>
            <a:rect l="l" t="t" r="r" b="b"/>
            <a:pathLst>
              <a:path w="9" h="7">
                <a:moveTo>
                  <a:pt x="0" y="7"/>
                </a:moveTo>
                <a:lnTo>
                  <a:pt x="0" y="0"/>
                </a:lnTo>
                <a:lnTo>
                  <a:pt x="9" y="0"/>
                </a:lnTo>
                <a:lnTo>
                  <a:pt x="9" y="7"/>
                </a:lnTo>
              </a:path>
            </a:pathLst>
          </a:custGeom>
          <a:noFill/>
          <a:ln w="14630">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9" name="rect 158"/>
          <p:cNvSpPr/>
          <p:nvPr/>
        </p:nvSpPr>
        <p:spPr>
          <a:xfrm>
            <a:off x="658350" y="4853137"/>
            <a:ext cx="114114" cy="95095"/>
          </a:xfrm>
          <a:prstGeom prst="roundRect">
            <a:avLst>
              <a:gd name="adj" fmla="val 15384"/>
            </a:avLst>
          </a:prstGeom>
          <a:solidFill>
            <a:srgbClr val="FFFFF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0" name="circle 159"/>
          <p:cNvSpPr/>
          <p:nvPr/>
        </p:nvSpPr>
        <p:spPr>
          <a:xfrm>
            <a:off x="705898" y="4881665"/>
            <a:ext cx="19019" cy="19019"/>
          </a:xfrm>
          <a:prstGeom prst="ellipse">
            <a:avLst/>
          </a:prstGeom>
          <a:solidFill>
            <a:srgbClr val="181818"/>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1" name="c"/>
          <p:cNvSpPr txBox="1"/>
          <p:nvPr/>
        </p:nvSpPr>
        <p:spPr>
          <a:xfrm>
            <a:off x="2663089" y="4098229"/>
            <a:ext cx="188418" cy="281628"/>
          </a:xfrm>
          <a:prstGeom prst="rect">
            <a:avLst/>
          </a:prstGeom>
          <a:noFill/>
          <a:effectLst/>
        </p:spPr>
        <p:txBody>
          <a:bodyPr wrap="none" lIns="0" rIns="0" tIns="0" bIns="0" anchor="t">
            <a:spAutoFit/>
          </a:bodyPr>
          <a:lstStyle/>
          <a:p>
            <a:pPr algn="l">
              <a:lnSpc>
                <a:spcPct val="100000"/>
              </a:lnSpc>
              <a:spcBef>
                <a:spcPts val="0"/>
              </a:spcBef>
              <a:spcAft>
                <a:spcPts val="0"/>
              </a:spcAft>
            </a:pPr>
            <a:r>
              <a:rPr sz="1785" b="0" i="1" lang="en-US" spc="0">
                <a:solidFill>
                  <a:srgbClr val="181818"/>
                </a:solidFill>
                <a:latin typeface="Liberation Serif"/>
                <a:ea typeface="Liberation Serif"/>
                <a:effectLst/>
              </a:rPr>
              <a:t>c</a:t>
            </a:r>
          </a:p>
        </p:txBody>
      </p:sp>
      <p:sp>
        <p:nvSpPr>
          <p:cNvPr id="162" name="*"/>
          <p:cNvSpPr txBox="1"/>
          <p:nvPr/>
        </p:nvSpPr>
        <p:spPr>
          <a:xfrm>
            <a:off x="2771042" y="4049803"/>
            <a:ext cx="161844" cy="195676"/>
          </a:xfrm>
          <a:prstGeom prst="rect">
            <a:avLst/>
          </a:prstGeom>
          <a:noFill/>
          <a:effectLst/>
        </p:spPr>
        <p:txBody>
          <a:bodyPr wrap="none" lIns="0" rIns="0" tIns="0" bIns="0" anchor="t">
            <a:spAutoFit/>
          </a:bodyPr>
          <a:lstStyle/>
          <a:p>
            <a:pPr algn="l">
              <a:lnSpc>
                <a:spcPct val="100000"/>
              </a:lnSpc>
              <a:spcBef>
                <a:spcPts val="0"/>
              </a:spcBef>
              <a:spcAft>
                <a:spcPts val="0"/>
              </a:spcAft>
            </a:pPr>
            <a:r>
              <a:rPr sz="1160" b="0" i="0" lang="en-US" spc="0">
                <a:solidFill>
                  <a:srgbClr val="181818"/>
                </a:solidFill>
                <a:latin typeface="Liberation Serif"/>
                <a:ea typeface="Liberation Serif"/>
                <a:effectLst/>
              </a:rPr>
              <a:t>*</a:t>
            </a:r>
          </a:p>
        </p:txBody>
      </p:sp>
      <p:sp>
        <p:nvSpPr>
          <p:cNvPr id="163" name="session / epoch"/>
          <p:cNvSpPr txBox="1"/>
          <p:nvPr/>
        </p:nvSpPr>
        <p:spPr>
          <a:xfrm>
            <a:off x="490105" y="5358238"/>
            <a:ext cx="1386678" cy="226765"/>
          </a:xfrm>
          <a:prstGeom prst="rect">
            <a:avLst/>
          </a:prstGeom>
          <a:noFill/>
          <a:effectLst/>
        </p:spPr>
        <p:txBody>
          <a:bodyPr wrap="none" lIns="0" rIns="0" tIns="0" bIns="0" anchor="t">
            <a:spAutoFit/>
          </a:bodyPr>
          <a:lstStyle/>
          <a:p>
            <a:pPr algn="l">
              <a:lnSpc>
                <a:spcPct val="100000"/>
              </a:lnSpc>
              <a:spcBef>
                <a:spcPts val="0"/>
              </a:spcBef>
              <a:spcAft>
                <a:spcPts val="0"/>
              </a:spcAft>
            </a:pPr>
            <a:r>
              <a:rPr sz="1324" b="0" i="0" lang="en-US" spc="0">
                <a:solidFill>
                  <a:srgbClr val="535353"/>
                </a:solidFill>
                <a:latin typeface="DejaVu Sans"/>
                <a:ea typeface="DejaVu Sans"/>
                <a:effectLst/>
              </a:rPr>
              <a:t>session / epoch</a:t>
            </a:r>
          </a:p>
        </p:txBody>
      </p:sp>
      <p:cxnSp>
        <p:nvCxnSpPr>
          <p:cNvPr id="164" name="path 163"/>
          <p:cNvCxnSpPr/>
          <p:nvPr/>
        </p:nvCxnSpPr>
        <p:spPr>
          <a:xfrm>
            <a:off x="2991835" y="4571875"/>
            <a:ext cx="621775" cy="0"/>
          </a:xfrm>
          <a:prstGeom prst="line">
            <a:avLst/>
          </a:prstGeom>
          <a:ln w="19019">
            <a:solidFill>
              <a:srgbClr val="BF3335"/>
            </a:solidFill>
          </a:ln>
          <a:effectLst/>
        </p:spPr>
        <p:style>
          <a:lnRef idx="2">
            <a:schemeClr val="accent1"/>
          </a:lnRef>
          <a:fillRef idx="0">
            <a:schemeClr val="accent1"/>
          </a:fillRef>
          <a:effectRef idx="0">
            <a:schemeClr val="accent1"/>
          </a:effectRef>
          <a:fontRef idx="minor">
            <a:schemeClr val="tx1"/>
          </a:fontRef>
        </p:style>
      </p:cxnSp>
      <p:sp>
        <p:nvSpPr>
          <p:cNvPr id="165" name="arrowhead 164"/>
          <p:cNvSpPr/>
          <p:nvPr/>
        </p:nvSpPr>
        <p:spPr>
          <a:xfrm>
            <a:off x="3503885" y="4506040"/>
            <a:ext cx="131670" cy="131670"/>
          </a:xfrm>
          <a:custGeom>
            <a:avLst/>
            <a:gdLst/>
            <a:ahLst/>
            <a:cxnLst/>
            <a:rect l="l" t="t" r="r" b="b"/>
            <a:pathLst>
              <a:path w="18" h="18">
                <a:moveTo>
                  <a:pt x="18" y="9"/>
                </a:moveTo>
                <a:lnTo>
                  <a:pt x="0" y="18"/>
                </a:lnTo>
                <a:lnTo>
                  <a:pt x="0" y="0"/>
                </a:lnTo>
                <a:close/>
              </a:path>
            </a:pathLst>
          </a:custGeom>
          <a:solidFill>
            <a:srgbClr val="BF333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6" name="Host"/>
          <p:cNvSpPr txBox="1"/>
          <p:nvPr/>
        </p:nvSpPr>
        <p:spPr>
          <a:xfrm>
            <a:off x="3737965" y="3999476"/>
            <a:ext cx="581771" cy="252368"/>
          </a:xfrm>
          <a:prstGeom prst="rect">
            <a:avLst/>
          </a:prstGeom>
          <a:noFill/>
          <a:effectLst/>
        </p:spPr>
        <p:txBody>
          <a:bodyPr wrap="none" lIns="0" rIns="0" tIns="0" bIns="0" anchor="t">
            <a:spAutoFit/>
          </a:bodyPr>
          <a:lstStyle/>
          <a:p>
            <a:pPr algn="l">
              <a:lnSpc>
                <a:spcPct val="100000"/>
              </a:lnSpc>
              <a:spcBef>
                <a:spcPts val="0"/>
              </a:spcBef>
              <a:spcAft>
                <a:spcPts val="0"/>
              </a:spcAft>
            </a:pPr>
            <a:r>
              <a:rPr sz="1497" b="1" i="0" lang="en-US" spc="0">
                <a:solidFill>
                  <a:srgbClr val="181818"/>
                </a:solidFill>
                <a:latin typeface="DejaVu Sans"/>
                <a:ea typeface="DejaVu Sans"/>
                <a:effectLst/>
              </a:rPr>
              <a:t>Host</a:t>
            </a:r>
          </a:p>
        </p:txBody>
      </p:sp>
      <p:sp>
        <p:nvSpPr>
          <p:cNvPr id="167" name="HBM"/>
          <p:cNvSpPr txBox="1"/>
          <p:nvPr/>
        </p:nvSpPr>
        <p:spPr>
          <a:xfrm>
            <a:off x="3737965" y="4606621"/>
            <a:ext cx="581200" cy="252368"/>
          </a:xfrm>
          <a:prstGeom prst="rect">
            <a:avLst/>
          </a:prstGeom>
          <a:noFill/>
          <a:effectLst/>
        </p:spPr>
        <p:txBody>
          <a:bodyPr wrap="none" lIns="0" rIns="0" tIns="0" bIns="0" anchor="t">
            <a:spAutoFit/>
          </a:bodyPr>
          <a:lstStyle/>
          <a:p>
            <a:pPr algn="l">
              <a:lnSpc>
                <a:spcPct val="100000"/>
              </a:lnSpc>
              <a:spcBef>
                <a:spcPts val="0"/>
              </a:spcBef>
              <a:spcAft>
                <a:spcPts val="0"/>
              </a:spcAft>
            </a:pPr>
            <a:r>
              <a:rPr sz="1497" b="1" i="0" lang="en-US" spc="0">
                <a:solidFill>
                  <a:srgbClr val="181818"/>
                </a:solidFill>
                <a:latin typeface="DejaVu Sans"/>
                <a:ea typeface="DejaVu Sans"/>
                <a:effectLst/>
              </a:rPr>
              <a:t>HBM</a:t>
            </a:r>
          </a:p>
        </p:txBody>
      </p:sp>
      <p:sp>
        <p:nvSpPr>
          <p:cNvPr id="168" name="rect 167"/>
          <p:cNvSpPr/>
          <p:nvPr/>
        </p:nvSpPr>
        <p:spPr>
          <a:xfrm>
            <a:off x="4571875" y="3972045"/>
            <a:ext cx="373065" cy="307230"/>
          </a:xfrm>
          <a:prstGeom prst="roundRect">
            <a:avLst>
              <a:gd name="adj" fmla="val 2380"/>
            </a:avLst>
          </a:prstGeom>
          <a:solidFill>
            <a:srgbClr val="DDDDDD"/>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9" name="p0"/>
          <p:cNvSpPr txBox="1"/>
          <p:nvPr/>
        </p:nvSpPr>
        <p:spPr>
          <a:xfrm>
            <a:off x="4606093" y="4035247"/>
            <a:ext cx="304630" cy="208478"/>
          </a:xfrm>
          <a:prstGeom prst="rect">
            <a:avLst/>
          </a:prstGeom>
          <a:noFill/>
          <a:effectLst/>
        </p:spPr>
        <p:txBody>
          <a:bodyPr wrap="none" lIns="0" rIns="0" tIns="0" bIns="0" anchor="t">
            <a:spAutoFit/>
          </a:bodyPr>
          <a:lstStyle/>
          <a:p>
            <a:pPr algn="ctr">
              <a:lnSpc>
                <a:spcPct val="100000"/>
              </a:lnSpc>
              <a:spcBef>
                <a:spcPts val="0"/>
              </a:spcBef>
              <a:spcAft>
                <a:spcPts val="0"/>
              </a:spcAft>
            </a:pPr>
            <a:r>
              <a:rPr sz="1209" b="1" i="0" lang="en-US" spc="0">
                <a:solidFill>
                  <a:srgbClr val="181818"/>
                </a:solidFill>
                <a:latin typeface="DejaVu Sans"/>
                <a:ea typeface="DejaVu Sans"/>
                <a:effectLst/>
              </a:rPr>
              <a:t>p0</a:t>
            </a:r>
          </a:p>
        </p:txBody>
      </p:sp>
      <p:sp>
        <p:nvSpPr>
          <p:cNvPr id="170" name="rect 169"/>
          <p:cNvSpPr/>
          <p:nvPr/>
        </p:nvSpPr>
        <p:spPr>
          <a:xfrm>
            <a:off x="4571875" y="4579190"/>
            <a:ext cx="373065" cy="307230"/>
          </a:xfrm>
          <a:prstGeom prst="roundRect">
            <a:avLst>
              <a:gd name="adj" fmla="val 2380"/>
            </a:avLst>
          </a:prstGeom>
          <a:solidFill>
            <a:srgbClr val="DDDDDD"/>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1" name="p0"/>
          <p:cNvSpPr txBox="1"/>
          <p:nvPr/>
        </p:nvSpPr>
        <p:spPr>
          <a:xfrm>
            <a:off x="4606093" y="4642392"/>
            <a:ext cx="304630" cy="208478"/>
          </a:xfrm>
          <a:prstGeom prst="rect">
            <a:avLst/>
          </a:prstGeom>
          <a:noFill/>
          <a:effectLst/>
        </p:spPr>
        <p:txBody>
          <a:bodyPr wrap="none" lIns="0" rIns="0" tIns="0" bIns="0" anchor="t">
            <a:spAutoFit/>
          </a:bodyPr>
          <a:lstStyle/>
          <a:p>
            <a:pPr algn="ctr">
              <a:lnSpc>
                <a:spcPct val="100000"/>
              </a:lnSpc>
              <a:spcBef>
                <a:spcPts val="0"/>
              </a:spcBef>
              <a:spcAft>
                <a:spcPts val="0"/>
              </a:spcAft>
            </a:pPr>
            <a:r>
              <a:rPr sz="1209" b="1" i="0" lang="en-US" spc="0">
                <a:solidFill>
                  <a:srgbClr val="181818"/>
                </a:solidFill>
                <a:latin typeface="DejaVu Sans"/>
                <a:ea typeface="DejaVu Sans"/>
                <a:effectLst/>
              </a:rPr>
              <a:t>p0</a:t>
            </a:r>
          </a:p>
        </p:txBody>
      </p:sp>
      <p:sp>
        <p:nvSpPr>
          <p:cNvPr id="172" name="rect 171"/>
          <p:cNvSpPr/>
          <p:nvPr/>
        </p:nvSpPr>
        <p:spPr>
          <a:xfrm>
            <a:off x="5032720" y="3972045"/>
            <a:ext cx="373065" cy="307230"/>
          </a:xfrm>
          <a:prstGeom prst="roundRect">
            <a:avLst>
              <a:gd name="adj" fmla="val 2380"/>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3" name="p1"/>
          <p:cNvSpPr txBox="1"/>
          <p:nvPr/>
        </p:nvSpPr>
        <p:spPr>
          <a:xfrm>
            <a:off x="5066938" y="4035247"/>
            <a:ext cx="304630" cy="208478"/>
          </a:xfrm>
          <a:prstGeom prst="rect">
            <a:avLst/>
          </a:prstGeom>
          <a:noFill/>
          <a:effectLst/>
        </p:spPr>
        <p:txBody>
          <a:bodyPr wrap="none" lIns="0" rIns="0" tIns="0" bIns="0" anchor="t">
            <a:spAutoFit/>
          </a:bodyPr>
          <a:lstStyle/>
          <a:p>
            <a:pPr algn="ctr">
              <a:lnSpc>
                <a:spcPct val="100000"/>
              </a:lnSpc>
              <a:spcBef>
                <a:spcPts val="0"/>
              </a:spcBef>
              <a:spcAft>
                <a:spcPts val="0"/>
              </a:spcAft>
            </a:pPr>
            <a:r>
              <a:rPr sz="1209" b="1" i="0" lang="en-US" spc="0">
                <a:solidFill>
                  <a:srgbClr val="181818"/>
                </a:solidFill>
                <a:latin typeface="DejaVu Sans"/>
                <a:ea typeface="DejaVu Sans"/>
                <a:effectLst/>
              </a:rPr>
              <a:t>p1</a:t>
            </a:r>
          </a:p>
        </p:txBody>
      </p:sp>
      <p:sp>
        <p:nvSpPr>
          <p:cNvPr id="174" name="rect 173"/>
          <p:cNvSpPr/>
          <p:nvPr/>
        </p:nvSpPr>
        <p:spPr>
          <a:xfrm>
            <a:off x="5032720" y="4579190"/>
            <a:ext cx="373065" cy="307230"/>
          </a:xfrm>
          <a:prstGeom prst="roundRect">
            <a:avLst>
              <a:gd name="adj" fmla="val 2380"/>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5" name="p1"/>
          <p:cNvSpPr txBox="1"/>
          <p:nvPr/>
        </p:nvSpPr>
        <p:spPr>
          <a:xfrm>
            <a:off x="5066938" y="4642392"/>
            <a:ext cx="304630" cy="208478"/>
          </a:xfrm>
          <a:prstGeom prst="rect">
            <a:avLst/>
          </a:prstGeom>
          <a:noFill/>
          <a:effectLst/>
        </p:spPr>
        <p:txBody>
          <a:bodyPr wrap="none" lIns="0" rIns="0" tIns="0" bIns="0" anchor="t">
            <a:spAutoFit/>
          </a:bodyPr>
          <a:lstStyle/>
          <a:p>
            <a:pPr algn="ctr">
              <a:lnSpc>
                <a:spcPct val="100000"/>
              </a:lnSpc>
              <a:spcBef>
                <a:spcPts val="0"/>
              </a:spcBef>
              <a:spcAft>
                <a:spcPts val="0"/>
              </a:spcAft>
            </a:pPr>
            <a:r>
              <a:rPr sz="1209" b="1" i="0" lang="en-US" spc="0">
                <a:solidFill>
                  <a:srgbClr val="181818"/>
                </a:solidFill>
                <a:latin typeface="DejaVu Sans"/>
                <a:ea typeface="DejaVu Sans"/>
                <a:effectLst/>
              </a:rPr>
              <a:t>p1</a:t>
            </a:r>
          </a:p>
        </p:txBody>
      </p:sp>
      <p:sp>
        <p:nvSpPr>
          <p:cNvPr id="176" name="rect 175"/>
          <p:cNvSpPr/>
          <p:nvPr/>
        </p:nvSpPr>
        <p:spPr>
          <a:xfrm>
            <a:off x="5493565" y="3972045"/>
            <a:ext cx="373065" cy="307230"/>
          </a:xfrm>
          <a:prstGeom prst="roundRect">
            <a:avLst>
              <a:gd name="adj" fmla="val 2380"/>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7" name="p2"/>
          <p:cNvSpPr txBox="1"/>
          <p:nvPr/>
        </p:nvSpPr>
        <p:spPr>
          <a:xfrm>
            <a:off x="5527783" y="4035247"/>
            <a:ext cx="304630" cy="208478"/>
          </a:xfrm>
          <a:prstGeom prst="rect">
            <a:avLst/>
          </a:prstGeom>
          <a:noFill/>
          <a:effectLst/>
        </p:spPr>
        <p:txBody>
          <a:bodyPr wrap="none" lIns="0" rIns="0" tIns="0" bIns="0" anchor="t">
            <a:spAutoFit/>
          </a:bodyPr>
          <a:lstStyle/>
          <a:p>
            <a:pPr algn="ctr">
              <a:lnSpc>
                <a:spcPct val="100000"/>
              </a:lnSpc>
              <a:spcBef>
                <a:spcPts val="0"/>
              </a:spcBef>
              <a:spcAft>
                <a:spcPts val="0"/>
              </a:spcAft>
            </a:pPr>
            <a:r>
              <a:rPr sz="1209" b="1" i="0" lang="en-US" spc="0">
                <a:solidFill>
                  <a:srgbClr val="181818"/>
                </a:solidFill>
                <a:latin typeface="DejaVu Sans"/>
                <a:ea typeface="DejaVu Sans"/>
                <a:effectLst/>
              </a:rPr>
              <a:t>p2</a:t>
            </a:r>
          </a:p>
        </p:txBody>
      </p:sp>
      <p:sp>
        <p:nvSpPr>
          <p:cNvPr id="178" name="rect 177"/>
          <p:cNvSpPr/>
          <p:nvPr/>
        </p:nvSpPr>
        <p:spPr>
          <a:xfrm>
            <a:off x="5493565" y="4579190"/>
            <a:ext cx="373065" cy="307230"/>
          </a:xfrm>
          <a:prstGeom prst="roundRect">
            <a:avLst>
              <a:gd name="adj" fmla="val 2380"/>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9" name="p2"/>
          <p:cNvSpPr txBox="1"/>
          <p:nvPr/>
        </p:nvSpPr>
        <p:spPr>
          <a:xfrm>
            <a:off x="5527783" y="4642392"/>
            <a:ext cx="304630" cy="208478"/>
          </a:xfrm>
          <a:prstGeom prst="rect">
            <a:avLst/>
          </a:prstGeom>
          <a:noFill/>
          <a:effectLst/>
        </p:spPr>
        <p:txBody>
          <a:bodyPr wrap="none" lIns="0" rIns="0" tIns="0" bIns="0" anchor="t">
            <a:spAutoFit/>
          </a:bodyPr>
          <a:lstStyle/>
          <a:p>
            <a:pPr algn="ctr">
              <a:lnSpc>
                <a:spcPct val="100000"/>
              </a:lnSpc>
              <a:spcBef>
                <a:spcPts val="0"/>
              </a:spcBef>
              <a:spcAft>
                <a:spcPts val="0"/>
              </a:spcAft>
            </a:pPr>
            <a:r>
              <a:rPr sz="1209" b="1" i="0" lang="en-US" spc="0">
                <a:solidFill>
                  <a:srgbClr val="181818"/>
                </a:solidFill>
                <a:latin typeface="DejaVu Sans"/>
                <a:ea typeface="DejaVu Sans"/>
                <a:effectLst/>
              </a:rPr>
              <a:t>p2</a:t>
            </a:r>
          </a:p>
        </p:txBody>
      </p:sp>
      <p:cxnSp>
        <p:nvCxnSpPr>
          <p:cNvPr id="180" name="path 179"/>
          <p:cNvCxnSpPr/>
          <p:nvPr/>
        </p:nvCxnSpPr>
        <p:spPr>
          <a:xfrm>
            <a:off x="5676440" y="4308535"/>
            <a:ext cx="0" cy="226765"/>
          </a:xfrm>
          <a:prstGeom prst="line">
            <a:avLst/>
          </a:prstGeom>
          <a:ln w="14630">
            <a:solidFill>
              <a:srgbClr val="BF3335"/>
            </a:solidFill>
          </a:ln>
          <a:effectLst/>
        </p:spPr>
        <p:style>
          <a:lnRef idx="2">
            <a:schemeClr val="accent1"/>
          </a:lnRef>
          <a:fillRef idx="0">
            <a:schemeClr val="accent1"/>
          </a:fillRef>
          <a:effectRef idx="0">
            <a:schemeClr val="accent1"/>
          </a:effectRef>
          <a:fontRef idx="minor">
            <a:schemeClr val="tx1"/>
          </a:fontRef>
        </p:style>
      </p:cxnSp>
      <p:sp>
        <p:nvSpPr>
          <p:cNvPr id="181" name="arrowhead 180"/>
          <p:cNvSpPr/>
          <p:nvPr/>
        </p:nvSpPr>
        <p:spPr>
          <a:xfrm>
            <a:off x="5625235" y="4447520"/>
            <a:ext cx="102410" cy="102410"/>
          </a:xfrm>
          <a:custGeom>
            <a:avLst/>
            <a:gdLst/>
            <a:ahLst/>
            <a:cxnLst/>
            <a:rect l="l" t="t" r="r" b="b"/>
            <a:pathLst>
              <a:path w="14" h="14">
                <a:moveTo>
                  <a:pt x="7" y="14"/>
                </a:moveTo>
                <a:lnTo>
                  <a:pt x="0" y="0"/>
                </a:lnTo>
                <a:lnTo>
                  <a:pt x="14" y="0"/>
                </a:lnTo>
                <a:close/>
              </a:path>
            </a:pathLst>
          </a:custGeom>
          <a:solidFill>
            <a:srgbClr val="BF333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2" name="rect 181"/>
          <p:cNvSpPr/>
          <p:nvPr/>
        </p:nvSpPr>
        <p:spPr>
          <a:xfrm>
            <a:off x="5954410" y="3972045"/>
            <a:ext cx="373065" cy="307230"/>
          </a:xfrm>
          <a:prstGeom prst="roundRect">
            <a:avLst>
              <a:gd name="adj" fmla="val 2380"/>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3" name="p3"/>
          <p:cNvSpPr txBox="1"/>
          <p:nvPr/>
        </p:nvSpPr>
        <p:spPr>
          <a:xfrm>
            <a:off x="5988628" y="4035247"/>
            <a:ext cx="304630" cy="208478"/>
          </a:xfrm>
          <a:prstGeom prst="rect">
            <a:avLst/>
          </a:prstGeom>
          <a:noFill/>
          <a:effectLst/>
        </p:spPr>
        <p:txBody>
          <a:bodyPr wrap="none" lIns="0" rIns="0" tIns="0" bIns="0" anchor="t">
            <a:spAutoFit/>
          </a:bodyPr>
          <a:lstStyle/>
          <a:p>
            <a:pPr algn="ctr">
              <a:lnSpc>
                <a:spcPct val="100000"/>
              </a:lnSpc>
              <a:spcBef>
                <a:spcPts val="0"/>
              </a:spcBef>
              <a:spcAft>
                <a:spcPts val="0"/>
              </a:spcAft>
            </a:pPr>
            <a:r>
              <a:rPr sz="1209" b="1" i="0" lang="en-US" spc="0">
                <a:solidFill>
                  <a:srgbClr val="181818"/>
                </a:solidFill>
                <a:latin typeface="DejaVu Sans"/>
                <a:ea typeface="DejaVu Sans"/>
                <a:effectLst/>
              </a:rPr>
              <a:t>p3</a:t>
            </a:r>
          </a:p>
        </p:txBody>
      </p:sp>
      <p:sp>
        <p:nvSpPr>
          <p:cNvPr id="184" name="rect 183"/>
          <p:cNvSpPr/>
          <p:nvPr/>
        </p:nvSpPr>
        <p:spPr>
          <a:xfrm>
            <a:off x="5954410" y="4579190"/>
            <a:ext cx="373065" cy="307230"/>
          </a:xfrm>
          <a:prstGeom prst="roundRect">
            <a:avLst>
              <a:gd name="adj" fmla="val 2380"/>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5" name="p3"/>
          <p:cNvSpPr txBox="1"/>
          <p:nvPr/>
        </p:nvSpPr>
        <p:spPr>
          <a:xfrm>
            <a:off x="5988628" y="4642392"/>
            <a:ext cx="304630" cy="208478"/>
          </a:xfrm>
          <a:prstGeom prst="rect">
            <a:avLst/>
          </a:prstGeom>
          <a:noFill/>
          <a:effectLst/>
        </p:spPr>
        <p:txBody>
          <a:bodyPr wrap="none" lIns="0" rIns="0" tIns="0" bIns="0" anchor="t">
            <a:spAutoFit/>
          </a:bodyPr>
          <a:lstStyle/>
          <a:p>
            <a:pPr algn="ctr">
              <a:lnSpc>
                <a:spcPct val="100000"/>
              </a:lnSpc>
              <a:spcBef>
                <a:spcPts val="0"/>
              </a:spcBef>
              <a:spcAft>
                <a:spcPts val="0"/>
              </a:spcAft>
            </a:pPr>
            <a:r>
              <a:rPr sz="1209" b="1" i="0" lang="en-US" spc="0">
                <a:solidFill>
                  <a:srgbClr val="181818"/>
                </a:solidFill>
                <a:latin typeface="DejaVu Sans"/>
                <a:ea typeface="DejaVu Sans"/>
                <a:effectLst/>
              </a:rPr>
              <a:t>p3</a:t>
            </a:r>
          </a:p>
        </p:txBody>
      </p:sp>
      <p:cxnSp>
        <p:nvCxnSpPr>
          <p:cNvPr id="186" name="path 185"/>
          <p:cNvCxnSpPr/>
          <p:nvPr/>
        </p:nvCxnSpPr>
        <p:spPr>
          <a:xfrm>
            <a:off x="6137285" y="4308535"/>
            <a:ext cx="0" cy="226765"/>
          </a:xfrm>
          <a:prstGeom prst="line">
            <a:avLst/>
          </a:prstGeom>
          <a:ln w="14630">
            <a:solidFill>
              <a:srgbClr val="BF3335"/>
            </a:solidFill>
          </a:ln>
          <a:effectLst/>
        </p:spPr>
        <p:style>
          <a:lnRef idx="2">
            <a:schemeClr val="accent1"/>
          </a:lnRef>
          <a:fillRef idx="0">
            <a:schemeClr val="accent1"/>
          </a:fillRef>
          <a:effectRef idx="0">
            <a:schemeClr val="accent1"/>
          </a:effectRef>
          <a:fontRef idx="minor">
            <a:schemeClr val="tx1"/>
          </a:fontRef>
        </p:style>
      </p:cxnSp>
      <p:sp>
        <p:nvSpPr>
          <p:cNvPr id="187" name="arrowhead 186"/>
          <p:cNvSpPr/>
          <p:nvPr/>
        </p:nvSpPr>
        <p:spPr>
          <a:xfrm>
            <a:off x="6086080" y="4447520"/>
            <a:ext cx="102410" cy="102410"/>
          </a:xfrm>
          <a:custGeom>
            <a:avLst/>
            <a:gdLst/>
            <a:ahLst/>
            <a:cxnLst/>
            <a:rect l="l" t="t" r="r" b="b"/>
            <a:pathLst>
              <a:path w="14" h="14">
                <a:moveTo>
                  <a:pt x="7" y="14"/>
                </a:moveTo>
                <a:lnTo>
                  <a:pt x="0" y="0"/>
                </a:lnTo>
                <a:lnTo>
                  <a:pt x="14" y="0"/>
                </a:lnTo>
                <a:close/>
              </a:path>
            </a:pathLst>
          </a:custGeom>
          <a:solidFill>
            <a:srgbClr val="BF333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8" name="rect 187"/>
          <p:cNvSpPr/>
          <p:nvPr/>
        </p:nvSpPr>
        <p:spPr>
          <a:xfrm>
            <a:off x="6415255" y="3972045"/>
            <a:ext cx="373065" cy="307230"/>
          </a:xfrm>
          <a:prstGeom prst="roundRect">
            <a:avLst>
              <a:gd name="adj" fmla="val 2380"/>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9" name="p4"/>
          <p:cNvSpPr txBox="1"/>
          <p:nvPr/>
        </p:nvSpPr>
        <p:spPr>
          <a:xfrm>
            <a:off x="6449473" y="4035247"/>
            <a:ext cx="304630" cy="208478"/>
          </a:xfrm>
          <a:prstGeom prst="rect">
            <a:avLst/>
          </a:prstGeom>
          <a:noFill/>
          <a:effectLst/>
        </p:spPr>
        <p:txBody>
          <a:bodyPr wrap="none" lIns="0" rIns="0" tIns="0" bIns="0" anchor="t">
            <a:spAutoFit/>
          </a:bodyPr>
          <a:lstStyle/>
          <a:p>
            <a:pPr algn="ctr">
              <a:lnSpc>
                <a:spcPct val="100000"/>
              </a:lnSpc>
              <a:spcBef>
                <a:spcPts val="0"/>
              </a:spcBef>
              <a:spcAft>
                <a:spcPts val="0"/>
              </a:spcAft>
            </a:pPr>
            <a:r>
              <a:rPr sz="1209" b="1" i="0" lang="en-US" spc="0">
                <a:solidFill>
                  <a:srgbClr val="181818"/>
                </a:solidFill>
                <a:latin typeface="DejaVu Sans"/>
                <a:ea typeface="DejaVu Sans"/>
                <a:effectLst/>
              </a:rPr>
              <a:t>p4</a:t>
            </a:r>
          </a:p>
        </p:txBody>
      </p:sp>
      <p:sp>
        <p:nvSpPr>
          <p:cNvPr id="190" name="rect 189"/>
          <p:cNvSpPr/>
          <p:nvPr/>
        </p:nvSpPr>
        <p:spPr>
          <a:xfrm>
            <a:off x="6415255" y="4579190"/>
            <a:ext cx="373065" cy="307230"/>
          </a:xfrm>
          <a:prstGeom prst="roundRect">
            <a:avLst>
              <a:gd name="adj" fmla="val 2380"/>
            </a:avLst>
          </a:prstGeom>
          <a:solidFill>
            <a:srgbClr val="FFFFFF"/>
          </a:solidFill>
          <a:ln w="13167">
            <a:solidFill>
              <a:srgbClr val="969696"/>
            </a:solidFill>
            <a:prstDash val="dash"/>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1" name="p4"/>
          <p:cNvSpPr txBox="1"/>
          <p:nvPr/>
        </p:nvSpPr>
        <p:spPr>
          <a:xfrm>
            <a:off x="6449473" y="4642392"/>
            <a:ext cx="304630" cy="208478"/>
          </a:xfrm>
          <a:prstGeom prst="rect">
            <a:avLst/>
          </a:prstGeom>
          <a:noFill/>
          <a:effectLst/>
        </p:spPr>
        <p:txBody>
          <a:bodyPr wrap="none" lIns="0" rIns="0" tIns="0" bIns="0" anchor="t">
            <a:spAutoFit/>
          </a:bodyPr>
          <a:lstStyle/>
          <a:p>
            <a:pPr algn="ctr">
              <a:lnSpc>
                <a:spcPct val="100000"/>
              </a:lnSpc>
              <a:spcBef>
                <a:spcPts val="0"/>
              </a:spcBef>
              <a:spcAft>
                <a:spcPts val="0"/>
              </a:spcAft>
            </a:pPr>
            <a:r>
              <a:rPr sz="1209" b="1" i="0" lang="en-US" spc="0">
                <a:solidFill>
                  <a:srgbClr val="181818"/>
                </a:solidFill>
                <a:latin typeface="DejaVu Sans"/>
                <a:ea typeface="DejaVu Sans"/>
                <a:effectLst/>
              </a:rPr>
              <a:t>p4</a:t>
            </a:r>
          </a:p>
        </p:txBody>
      </p:sp>
      <p:sp>
        <p:nvSpPr>
          <p:cNvPr id="192" name="rect 191"/>
          <p:cNvSpPr/>
          <p:nvPr/>
        </p:nvSpPr>
        <p:spPr>
          <a:xfrm>
            <a:off x="6876100" y="3972045"/>
            <a:ext cx="373065" cy="307230"/>
          </a:xfrm>
          <a:prstGeom prst="roundRect">
            <a:avLst>
              <a:gd name="adj" fmla="val 2380"/>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3" name="p5"/>
          <p:cNvSpPr txBox="1"/>
          <p:nvPr/>
        </p:nvSpPr>
        <p:spPr>
          <a:xfrm>
            <a:off x="6910318" y="4035247"/>
            <a:ext cx="304630" cy="208478"/>
          </a:xfrm>
          <a:prstGeom prst="rect">
            <a:avLst/>
          </a:prstGeom>
          <a:noFill/>
          <a:effectLst/>
        </p:spPr>
        <p:txBody>
          <a:bodyPr wrap="none" lIns="0" rIns="0" tIns="0" bIns="0" anchor="t">
            <a:spAutoFit/>
          </a:bodyPr>
          <a:lstStyle/>
          <a:p>
            <a:pPr algn="ctr">
              <a:lnSpc>
                <a:spcPct val="100000"/>
              </a:lnSpc>
              <a:spcBef>
                <a:spcPts val="0"/>
              </a:spcBef>
              <a:spcAft>
                <a:spcPts val="0"/>
              </a:spcAft>
            </a:pPr>
            <a:r>
              <a:rPr sz="1209" b="1" i="0" lang="en-US" spc="0">
                <a:solidFill>
                  <a:srgbClr val="181818"/>
                </a:solidFill>
                <a:latin typeface="DejaVu Sans"/>
                <a:ea typeface="DejaVu Sans"/>
                <a:effectLst/>
              </a:rPr>
              <a:t>p5</a:t>
            </a:r>
          </a:p>
        </p:txBody>
      </p:sp>
      <p:sp>
        <p:nvSpPr>
          <p:cNvPr id="194" name="rect 193"/>
          <p:cNvSpPr/>
          <p:nvPr/>
        </p:nvSpPr>
        <p:spPr>
          <a:xfrm>
            <a:off x="6876100" y="4579190"/>
            <a:ext cx="373065" cy="307230"/>
          </a:xfrm>
          <a:prstGeom prst="roundRect">
            <a:avLst>
              <a:gd name="adj" fmla="val 2380"/>
            </a:avLst>
          </a:prstGeom>
          <a:solidFill>
            <a:srgbClr val="FFFFFF"/>
          </a:solidFill>
          <a:ln w="13167">
            <a:solidFill>
              <a:srgbClr val="969696"/>
            </a:solidFill>
            <a:prstDash val="dash"/>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5" name="p5"/>
          <p:cNvSpPr txBox="1"/>
          <p:nvPr/>
        </p:nvSpPr>
        <p:spPr>
          <a:xfrm>
            <a:off x="6910318" y="4642392"/>
            <a:ext cx="304630" cy="208478"/>
          </a:xfrm>
          <a:prstGeom prst="rect">
            <a:avLst/>
          </a:prstGeom>
          <a:noFill/>
          <a:effectLst/>
        </p:spPr>
        <p:txBody>
          <a:bodyPr wrap="none" lIns="0" rIns="0" tIns="0" bIns="0" anchor="t">
            <a:spAutoFit/>
          </a:bodyPr>
          <a:lstStyle/>
          <a:p>
            <a:pPr algn="ctr">
              <a:lnSpc>
                <a:spcPct val="100000"/>
              </a:lnSpc>
              <a:spcBef>
                <a:spcPts val="0"/>
              </a:spcBef>
              <a:spcAft>
                <a:spcPts val="0"/>
              </a:spcAft>
            </a:pPr>
            <a:r>
              <a:rPr sz="1209" b="1" i="0" lang="en-US" spc="0">
                <a:solidFill>
                  <a:srgbClr val="181818"/>
                </a:solidFill>
                <a:latin typeface="DejaVu Sans"/>
                <a:ea typeface="DejaVu Sans"/>
                <a:effectLst/>
              </a:rPr>
              <a:t>p5</a:t>
            </a:r>
          </a:p>
        </p:txBody>
      </p:sp>
      <p:cxnSp>
        <p:nvCxnSpPr>
          <p:cNvPr id="196" name="line 195"/>
          <p:cNvCxnSpPr/>
          <p:nvPr/>
        </p:nvCxnSpPr>
        <p:spPr>
          <a:xfrm>
            <a:off x="4571875" y="4988830"/>
            <a:ext cx="833910" cy="0"/>
          </a:xfrm>
          <a:prstGeom prst="line">
            <a:avLst/>
          </a:prstGeom>
          <a:ln w="11704">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197" name="line 196"/>
          <p:cNvCxnSpPr/>
          <p:nvPr/>
        </p:nvCxnSpPr>
        <p:spPr>
          <a:xfrm>
            <a:off x="5493565" y="4988830"/>
            <a:ext cx="833910" cy="0"/>
          </a:xfrm>
          <a:prstGeom prst="line">
            <a:avLst/>
          </a:prstGeom>
          <a:ln w="17556">
            <a:solidFill>
              <a:srgbClr val="BF3335"/>
            </a:solidFill>
          </a:ln>
          <a:effectLst/>
        </p:spPr>
        <p:style>
          <a:lnRef idx="2">
            <a:schemeClr val="accent1"/>
          </a:lnRef>
          <a:fillRef idx="0">
            <a:schemeClr val="accent1"/>
          </a:fillRef>
          <a:effectRef idx="0">
            <a:schemeClr val="accent1"/>
          </a:effectRef>
          <a:fontRef idx="minor">
            <a:schemeClr val="tx1"/>
          </a:fontRef>
        </p:style>
      </p:cxnSp>
      <p:sp>
        <p:nvSpPr>
          <p:cNvPr id="198" name="hit"/>
          <p:cNvSpPr txBox="1"/>
          <p:nvPr/>
        </p:nvSpPr>
        <p:spPr>
          <a:xfrm>
            <a:off x="4601135" y="5093069"/>
            <a:ext cx="278541" cy="201162"/>
          </a:xfrm>
          <a:prstGeom prst="rect">
            <a:avLst/>
          </a:prstGeom>
          <a:noFill/>
          <a:effectLst/>
        </p:spPr>
        <p:txBody>
          <a:bodyPr wrap="none" lIns="0" rIns="0" tIns="0" bIns="0" anchor="t">
            <a:spAutoFit/>
          </a:bodyPr>
          <a:lstStyle/>
          <a:p>
            <a:pPr algn="l">
              <a:lnSpc>
                <a:spcPct val="100000"/>
              </a:lnSpc>
              <a:spcBef>
                <a:spcPts val="0"/>
              </a:spcBef>
              <a:spcAft>
                <a:spcPts val="0"/>
              </a:spcAft>
            </a:pPr>
            <a:r>
              <a:rPr sz="1152" b="0" i="0" lang="en-US" spc="0">
                <a:solidFill>
                  <a:srgbClr val="181818"/>
                </a:solidFill>
                <a:latin typeface="DejaVu Sans"/>
                <a:ea typeface="DejaVu Sans"/>
                <a:effectLst/>
              </a:rPr>
              <a:t>hit</a:t>
            </a:r>
          </a:p>
        </p:txBody>
      </p:sp>
      <p:sp>
        <p:nvSpPr>
          <p:cNvPr id="199" name="restore"/>
          <p:cNvSpPr txBox="1"/>
          <p:nvPr/>
        </p:nvSpPr>
        <p:spPr>
          <a:xfrm>
            <a:off x="5508195" y="5093069"/>
            <a:ext cx="604830" cy="201162"/>
          </a:xfrm>
          <a:prstGeom prst="rect">
            <a:avLst/>
          </a:prstGeom>
          <a:noFill/>
          <a:effectLst/>
        </p:spPr>
        <p:txBody>
          <a:bodyPr wrap="none" lIns="0" rIns="0" tIns="0" bIns="0" anchor="t">
            <a:spAutoFit/>
          </a:bodyPr>
          <a:lstStyle/>
          <a:p>
            <a:pPr algn="l">
              <a:lnSpc>
                <a:spcPct val="100000"/>
              </a:lnSpc>
              <a:spcBef>
                <a:spcPts val="0"/>
              </a:spcBef>
              <a:spcAft>
                <a:spcPts val="0"/>
              </a:spcAft>
            </a:pPr>
            <a:r>
              <a:rPr sz="1152" b="0" i="0" lang="en-US" spc="0">
                <a:solidFill>
                  <a:srgbClr val="BF3335"/>
                </a:solidFill>
                <a:latin typeface="DejaVu Sans"/>
                <a:ea typeface="DejaVu Sans"/>
                <a:effectLst/>
              </a:rPr>
              <a:t>restore</a:t>
            </a:r>
          </a:p>
        </p:txBody>
      </p:sp>
      <p:sp>
        <p:nvSpPr>
          <p:cNvPr id="200" name="defer"/>
          <p:cNvSpPr txBox="1"/>
          <p:nvPr/>
        </p:nvSpPr>
        <p:spPr>
          <a:xfrm>
            <a:off x="6488405" y="5093069"/>
            <a:ext cx="472332" cy="201162"/>
          </a:xfrm>
          <a:prstGeom prst="rect">
            <a:avLst/>
          </a:prstGeom>
          <a:noFill/>
          <a:effectLst/>
        </p:spPr>
        <p:txBody>
          <a:bodyPr wrap="none" lIns="0" rIns="0" tIns="0" bIns="0" anchor="t">
            <a:spAutoFit/>
          </a:bodyPr>
          <a:lstStyle/>
          <a:p>
            <a:pPr algn="l">
              <a:lnSpc>
                <a:spcPct val="100000"/>
              </a:lnSpc>
              <a:spcBef>
                <a:spcPts val="0"/>
              </a:spcBef>
              <a:spcAft>
                <a:spcPts val="0"/>
              </a:spcAft>
            </a:pPr>
            <a:r>
              <a:rPr sz="1152" b="0" i="0" lang="en-US" spc="0">
                <a:solidFill>
                  <a:srgbClr val="535353"/>
                </a:solidFill>
                <a:latin typeface="DejaVu Sans"/>
                <a:ea typeface="DejaVu Sans"/>
                <a:effectLst/>
              </a:rPr>
              <a:t>defer</a:t>
            </a:r>
          </a:p>
        </p:txBody>
      </p:sp>
      <p:sp>
        <p:nvSpPr>
          <p:cNvPr id="201" name="B"/>
          <p:cNvSpPr txBox="1"/>
          <p:nvPr/>
        </p:nvSpPr>
        <p:spPr>
          <a:xfrm>
            <a:off x="3745280" y="5356409"/>
            <a:ext cx="226308" cy="281628"/>
          </a:xfrm>
          <a:prstGeom prst="rect">
            <a:avLst/>
          </a:prstGeom>
          <a:noFill/>
          <a:effectLst/>
        </p:spPr>
        <p:txBody>
          <a:bodyPr wrap="none" lIns="0" rIns="0" tIns="0" bIns="0" anchor="t">
            <a:spAutoFit/>
          </a:bodyPr>
          <a:lstStyle/>
          <a:p>
            <a:pPr algn="l">
              <a:lnSpc>
                <a:spcPct val="100000"/>
              </a:lnSpc>
              <a:spcBef>
                <a:spcPts val="0"/>
              </a:spcBef>
              <a:spcAft>
                <a:spcPts val="0"/>
              </a:spcAft>
            </a:pPr>
            <a:r>
              <a:rPr sz="1785" b="0" i="1" lang="en-US" spc="0">
                <a:solidFill>
                  <a:srgbClr val="181818"/>
                </a:solidFill>
                <a:latin typeface="Liberation Serif"/>
                <a:ea typeface="Liberation Serif"/>
                <a:effectLst/>
              </a:rPr>
              <a:t>B</a:t>
            </a:r>
          </a:p>
        </p:txBody>
      </p:sp>
      <p:sp>
        <p:nvSpPr>
          <p:cNvPr id="202" name=" ≤ "/>
          <p:cNvSpPr txBox="1"/>
          <p:nvPr/>
        </p:nvSpPr>
        <p:spPr>
          <a:xfrm>
            <a:off x="3883808" y="5356409"/>
            <a:ext cx="325632" cy="281628"/>
          </a:xfrm>
          <a:prstGeom prst="rect">
            <a:avLst/>
          </a:prstGeom>
          <a:noFill/>
          <a:effectLst/>
        </p:spPr>
        <p:txBody>
          <a:bodyPr wrap="none" lIns="0" rIns="0" tIns="0" bIns="0" anchor="t">
            <a:spAutoFit/>
          </a:bodyPr>
          <a:lstStyle/>
          <a:p>
            <a:pPr algn="l">
              <a:lnSpc>
                <a:spcPct val="100000"/>
              </a:lnSpc>
              <a:spcBef>
                <a:spcPts val="0"/>
              </a:spcBef>
              <a:spcAft>
                <a:spcPts val="0"/>
              </a:spcAft>
            </a:pPr>
            <a:r>
              <a:rPr sz="1785" b="0" i="0" lang="en-US" spc="0">
                <a:solidFill>
                  <a:srgbClr val="181818"/>
                </a:solidFill>
                <a:latin typeface="Liberation Serif"/>
                <a:ea typeface="Liberation Serif"/>
                <a:effectLst/>
              </a:rPr>
              <a:t> ≤ </a:t>
            </a:r>
          </a:p>
        </p:txBody>
      </p:sp>
      <p:sp>
        <p:nvSpPr>
          <p:cNvPr id="203" name="C"/>
          <p:cNvSpPr txBox="1"/>
          <p:nvPr/>
        </p:nvSpPr>
        <p:spPr>
          <a:xfrm>
            <a:off x="4121660" y="5356409"/>
            <a:ext cx="239023" cy="281628"/>
          </a:xfrm>
          <a:prstGeom prst="rect">
            <a:avLst/>
          </a:prstGeom>
          <a:noFill/>
          <a:effectLst/>
        </p:spPr>
        <p:txBody>
          <a:bodyPr wrap="none" lIns="0" rIns="0" tIns="0" bIns="0" anchor="t">
            <a:spAutoFit/>
          </a:bodyPr>
          <a:lstStyle/>
          <a:p>
            <a:pPr algn="l">
              <a:lnSpc>
                <a:spcPct val="100000"/>
              </a:lnSpc>
              <a:spcBef>
                <a:spcPts val="0"/>
              </a:spcBef>
              <a:spcAft>
                <a:spcPts val="0"/>
              </a:spcAft>
            </a:pPr>
            <a:r>
              <a:rPr sz="1785" b="0" i="1" lang="en-US" spc="0">
                <a:solidFill>
                  <a:srgbClr val="181818"/>
                </a:solidFill>
                <a:latin typeface="Liberation Serif"/>
                <a:ea typeface="Liberation Serif"/>
                <a:effectLst/>
              </a:rPr>
              <a:t>C</a:t>
            </a:r>
          </a:p>
        </p:txBody>
      </p:sp>
      <p:sp>
        <p:nvSpPr>
          <p:cNvPr id="204" name="free"/>
          <p:cNvSpPr txBox="1"/>
          <p:nvPr/>
        </p:nvSpPr>
        <p:spPr>
          <a:xfrm>
            <a:off x="4280218" y="5482592"/>
            <a:ext cx="317917" cy="195676"/>
          </a:xfrm>
          <a:prstGeom prst="rect">
            <a:avLst/>
          </a:prstGeom>
          <a:noFill/>
          <a:effectLst/>
        </p:spPr>
        <p:txBody>
          <a:bodyPr wrap="none" lIns="0" rIns="0" tIns="0" bIns="0" anchor="t">
            <a:spAutoFit/>
          </a:bodyPr>
          <a:lstStyle/>
          <a:p>
            <a:pPr algn="l">
              <a:lnSpc>
                <a:spcPct val="100000"/>
              </a:lnSpc>
              <a:spcBef>
                <a:spcPts val="0"/>
              </a:spcBef>
              <a:spcAft>
                <a:spcPts val="0"/>
              </a:spcAft>
            </a:pPr>
            <a:r>
              <a:rPr sz="1160" b="0" i="0" lang="en-US" spc="0">
                <a:solidFill>
                  <a:srgbClr val="181818"/>
                </a:solidFill>
                <a:latin typeface="Liberation Serif"/>
                <a:ea typeface="Liberation Serif"/>
                <a:effectLst/>
              </a:rPr>
              <a:t>free</a:t>
            </a:r>
          </a:p>
        </p:txBody>
      </p:sp>
      <p:sp>
        <p:nvSpPr>
          <p:cNvPr id="205" name=" + "/>
          <p:cNvSpPr txBox="1"/>
          <p:nvPr/>
        </p:nvSpPr>
        <p:spPr>
          <a:xfrm>
            <a:off x="4517670" y="5356409"/>
            <a:ext cx="329061" cy="281628"/>
          </a:xfrm>
          <a:prstGeom prst="rect">
            <a:avLst/>
          </a:prstGeom>
          <a:noFill/>
          <a:effectLst/>
        </p:spPr>
        <p:txBody>
          <a:bodyPr wrap="none" lIns="0" rIns="0" tIns="0" bIns="0" anchor="t">
            <a:spAutoFit/>
          </a:bodyPr>
          <a:lstStyle/>
          <a:p>
            <a:pPr algn="l">
              <a:lnSpc>
                <a:spcPct val="100000"/>
              </a:lnSpc>
              <a:spcBef>
                <a:spcPts val="0"/>
              </a:spcBef>
              <a:spcAft>
                <a:spcPts val="0"/>
              </a:spcAft>
            </a:pPr>
            <a:r>
              <a:rPr sz="1785" b="0" i="0" lang="en-US" spc="0">
                <a:solidFill>
                  <a:srgbClr val="181818"/>
                </a:solidFill>
                <a:latin typeface="Liberation Serif"/>
                <a:ea typeface="Liberation Serif"/>
                <a:effectLst/>
              </a:rPr>
              <a:t> + </a:t>
            </a:r>
          </a:p>
        </p:txBody>
      </p:sp>
      <p:sp>
        <p:nvSpPr>
          <p:cNvPr id="206" name="C"/>
          <p:cNvSpPr txBox="1"/>
          <p:nvPr/>
        </p:nvSpPr>
        <p:spPr>
          <a:xfrm>
            <a:off x="4758950" y="5356409"/>
            <a:ext cx="239023" cy="281628"/>
          </a:xfrm>
          <a:prstGeom prst="rect">
            <a:avLst/>
          </a:prstGeom>
          <a:noFill/>
          <a:effectLst/>
        </p:spPr>
        <p:txBody>
          <a:bodyPr wrap="none" lIns="0" rIns="0" tIns="0" bIns="0" anchor="t">
            <a:spAutoFit/>
          </a:bodyPr>
          <a:lstStyle/>
          <a:p>
            <a:pPr algn="l">
              <a:lnSpc>
                <a:spcPct val="100000"/>
              </a:lnSpc>
              <a:spcBef>
                <a:spcPts val="0"/>
              </a:spcBef>
              <a:spcAft>
                <a:spcPts val="0"/>
              </a:spcAft>
            </a:pPr>
            <a:r>
              <a:rPr sz="1785" b="0" i="1" lang="en-US" spc="0">
                <a:solidFill>
                  <a:srgbClr val="181818"/>
                </a:solidFill>
                <a:latin typeface="Liberation Serif"/>
                <a:ea typeface="Liberation Serif"/>
                <a:effectLst/>
              </a:rPr>
              <a:t>C</a:t>
            </a:r>
          </a:p>
        </p:txBody>
      </p:sp>
      <p:sp>
        <p:nvSpPr>
          <p:cNvPr id="207" name="cold"/>
          <p:cNvSpPr txBox="1"/>
          <p:nvPr/>
        </p:nvSpPr>
        <p:spPr>
          <a:xfrm>
            <a:off x="4917509" y="5482592"/>
            <a:ext cx="342805" cy="195676"/>
          </a:xfrm>
          <a:prstGeom prst="rect">
            <a:avLst/>
          </a:prstGeom>
          <a:noFill/>
          <a:effectLst/>
        </p:spPr>
        <p:txBody>
          <a:bodyPr wrap="none" lIns="0" rIns="0" tIns="0" bIns="0" anchor="t">
            <a:spAutoFit/>
          </a:bodyPr>
          <a:lstStyle/>
          <a:p>
            <a:pPr algn="l">
              <a:lnSpc>
                <a:spcPct val="100000"/>
              </a:lnSpc>
              <a:spcBef>
                <a:spcPts val="0"/>
              </a:spcBef>
              <a:spcAft>
                <a:spcPts val="0"/>
              </a:spcAft>
            </a:pPr>
            <a:r>
              <a:rPr sz="1160" b="0" i="0" lang="en-US" spc="0">
                <a:solidFill>
                  <a:srgbClr val="181818"/>
                </a:solidFill>
                <a:latin typeface="Liberation Serif"/>
                <a:ea typeface="Liberation Serif"/>
                <a:effectLst/>
              </a:rPr>
              <a:t>cold</a:t>
            </a:r>
          </a:p>
        </p:txBody>
      </p:sp>
      <p:sp>
        <p:nvSpPr>
          <p:cNvPr id="208" name=" − "/>
          <p:cNvSpPr txBox="1"/>
          <p:nvPr/>
        </p:nvSpPr>
        <p:spPr>
          <a:xfrm>
            <a:off x="5179849" y="5356409"/>
            <a:ext cx="329061" cy="281628"/>
          </a:xfrm>
          <a:prstGeom prst="rect">
            <a:avLst/>
          </a:prstGeom>
          <a:noFill/>
          <a:effectLst/>
        </p:spPr>
        <p:txBody>
          <a:bodyPr wrap="none" lIns="0" rIns="0" tIns="0" bIns="0" anchor="t">
            <a:spAutoFit/>
          </a:bodyPr>
          <a:lstStyle/>
          <a:p>
            <a:pPr algn="l">
              <a:lnSpc>
                <a:spcPct val="100000"/>
              </a:lnSpc>
              <a:spcBef>
                <a:spcPts val="0"/>
              </a:spcBef>
              <a:spcAft>
                <a:spcPts val="0"/>
              </a:spcAft>
            </a:pPr>
            <a:r>
              <a:rPr sz="1785" b="0" i="0" lang="en-US" spc="0">
                <a:solidFill>
                  <a:srgbClr val="181818"/>
                </a:solidFill>
                <a:latin typeface="Liberation Serif"/>
                <a:ea typeface="Liberation Serif"/>
                <a:effectLst/>
              </a:rPr>
              <a:t> − </a:t>
            </a:r>
          </a:p>
        </p:txBody>
      </p:sp>
      <p:sp>
        <p:nvSpPr>
          <p:cNvPr id="209" name="G"/>
          <p:cNvSpPr txBox="1"/>
          <p:nvPr/>
        </p:nvSpPr>
        <p:spPr>
          <a:xfrm>
            <a:off x="5421129" y="5356409"/>
            <a:ext cx="251539" cy="281628"/>
          </a:xfrm>
          <a:prstGeom prst="rect">
            <a:avLst/>
          </a:prstGeom>
          <a:noFill/>
          <a:effectLst/>
        </p:spPr>
        <p:txBody>
          <a:bodyPr wrap="none" lIns="0" rIns="0" tIns="0" bIns="0" anchor="t">
            <a:spAutoFit/>
          </a:bodyPr>
          <a:lstStyle/>
          <a:p>
            <a:pPr algn="l">
              <a:lnSpc>
                <a:spcPct val="100000"/>
              </a:lnSpc>
              <a:spcBef>
                <a:spcPts val="0"/>
              </a:spcBef>
              <a:spcAft>
                <a:spcPts val="0"/>
              </a:spcAft>
            </a:pPr>
            <a:r>
              <a:rPr sz="1785" b="0" i="1" lang="en-US" spc="0">
                <a:solidFill>
                  <a:srgbClr val="181818"/>
                </a:solidFill>
                <a:latin typeface="Liberation Serif"/>
                <a:ea typeface="Liberation Serif"/>
                <a:effectLst/>
              </a:rPr>
              <a:t>G</a:t>
            </a:r>
          </a:p>
        </p:txBody>
      </p:sp>
      <p:sp>
        <p:nvSpPr>
          <p:cNvPr id="210" name="next"/>
          <p:cNvSpPr txBox="1"/>
          <p:nvPr/>
        </p:nvSpPr>
        <p:spPr>
          <a:xfrm>
            <a:off x="5592203" y="5482592"/>
            <a:ext cx="342805" cy="195676"/>
          </a:xfrm>
          <a:prstGeom prst="rect">
            <a:avLst/>
          </a:prstGeom>
          <a:noFill/>
          <a:effectLst/>
        </p:spPr>
        <p:txBody>
          <a:bodyPr wrap="none" lIns="0" rIns="0" tIns="0" bIns="0" anchor="t">
            <a:spAutoFit/>
          </a:bodyPr>
          <a:lstStyle/>
          <a:p>
            <a:pPr algn="l">
              <a:lnSpc>
                <a:spcPct val="100000"/>
              </a:lnSpc>
              <a:spcBef>
                <a:spcPts val="0"/>
              </a:spcBef>
              <a:spcAft>
                <a:spcPts val="0"/>
              </a:spcAft>
            </a:pPr>
            <a:r>
              <a:rPr sz="1160" b="0" i="0" lang="en-US" spc="0">
                <a:solidFill>
                  <a:srgbClr val="181818"/>
                </a:solidFill>
                <a:latin typeface="Liberation Serif"/>
                <a:ea typeface="Liberation Serif"/>
                <a:effectLst/>
              </a:rPr>
              <a:t>next</a:t>
            </a:r>
          </a:p>
        </p:txBody>
      </p:sp>
      <p:sp>
        <p:nvSpPr>
          <p:cNvPr id="211" name="path 210"/>
          <p:cNvSpPr/>
          <p:nvPr/>
        </p:nvSpPr>
        <p:spPr>
          <a:xfrm>
            <a:off x="7358890" y="4403630"/>
            <a:ext cx="614460" cy="329175"/>
          </a:xfrm>
          <a:custGeom>
            <a:avLst/>
            <a:gdLst/>
            <a:ahLst/>
            <a:cxnLst/>
            <a:rect l="l" t="t" r="r" b="b"/>
            <a:pathLst>
              <a:path w="84" h="45">
                <a:moveTo>
                  <a:pt x="0" y="45"/>
                </a:moveTo>
                <a:lnTo>
                  <a:pt x="34" y="45"/>
                </a:lnTo>
                <a:lnTo>
                  <a:pt x="34" y="0"/>
                </a:lnTo>
                <a:lnTo>
                  <a:pt x="84" y="0"/>
                </a:lnTo>
              </a:path>
            </a:pathLst>
          </a:custGeom>
          <a:noFill/>
          <a:ln w="19019">
            <a:solidFill>
              <a:srgbClr val="BF333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2" name="arrowhead 211"/>
          <p:cNvSpPr/>
          <p:nvPr/>
        </p:nvSpPr>
        <p:spPr>
          <a:xfrm>
            <a:off x="7863625" y="4337795"/>
            <a:ext cx="131670" cy="131670"/>
          </a:xfrm>
          <a:custGeom>
            <a:avLst/>
            <a:gdLst/>
            <a:ahLst/>
            <a:cxnLst/>
            <a:rect l="l" t="t" r="r" b="b"/>
            <a:pathLst>
              <a:path w="18" h="18">
                <a:moveTo>
                  <a:pt x="18" y="9"/>
                </a:moveTo>
                <a:lnTo>
                  <a:pt x="0" y="18"/>
                </a:lnTo>
                <a:lnTo>
                  <a:pt x="0" y="0"/>
                </a:lnTo>
                <a:close/>
              </a:path>
            </a:pathLst>
          </a:custGeom>
          <a:solidFill>
            <a:srgbClr val="BF333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3" name="rect 212"/>
          <p:cNvSpPr/>
          <p:nvPr/>
        </p:nvSpPr>
        <p:spPr>
          <a:xfrm>
            <a:off x="8053815" y="4030565"/>
            <a:ext cx="1192345" cy="738815"/>
          </a:xfrm>
          <a:prstGeom prst="roundRect">
            <a:avLst>
              <a:gd name="adj" fmla="val 2970"/>
            </a:avLst>
          </a:prstGeom>
          <a:solidFill>
            <a:srgbClr val="F5D460"/>
          </a:solidFill>
          <a:ln w="14630">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4" name="HiCache"/>
          <p:cNvSpPr txBox="1"/>
          <p:nvPr/>
        </p:nvSpPr>
        <p:spPr>
          <a:xfrm>
            <a:off x="8171355" y="4065311"/>
            <a:ext cx="957265" cy="252368"/>
          </a:xfrm>
          <a:prstGeom prst="rect">
            <a:avLst/>
          </a:prstGeom>
          <a:noFill/>
          <a:effectLst/>
        </p:spPr>
        <p:txBody>
          <a:bodyPr wrap="none" lIns="0" rIns="0" tIns="0" bIns="0" anchor="t">
            <a:spAutoFit/>
          </a:bodyPr>
          <a:lstStyle/>
          <a:p>
            <a:pPr algn="ctr">
              <a:lnSpc>
                <a:spcPct val="100000"/>
              </a:lnSpc>
              <a:spcBef>
                <a:spcPts val="0"/>
              </a:spcBef>
              <a:spcAft>
                <a:spcPts val="0"/>
              </a:spcAft>
            </a:pPr>
            <a:r>
              <a:rPr sz="1497" b="1" i="0" lang="en-US" spc="0">
                <a:solidFill>
                  <a:srgbClr val="181818"/>
                </a:solidFill>
                <a:latin typeface="DejaVu Sans"/>
                <a:ea typeface="DejaVu Sans"/>
                <a:effectLst/>
              </a:rPr>
              <a:t>HiCache</a:t>
            </a:r>
          </a:p>
        </p:txBody>
      </p:sp>
      <p:cxnSp>
        <p:nvCxnSpPr>
          <p:cNvPr id="215" name="path 214"/>
          <p:cNvCxnSpPr/>
          <p:nvPr/>
        </p:nvCxnSpPr>
        <p:spPr>
          <a:xfrm>
            <a:off x="8192800" y="4496018"/>
            <a:ext cx="914375" cy="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sp>
        <p:nvSpPr>
          <p:cNvPr id="216" name="arrowhead 215"/>
          <p:cNvSpPr/>
          <p:nvPr/>
        </p:nvSpPr>
        <p:spPr>
          <a:xfrm>
            <a:off x="9019395" y="4447520"/>
            <a:ext cx="102410" cy="102410"/>
          </a:xfrm>
          <a:custGeom>
            <a:avLst/>
            <a:gdLst/>
            <a:ahLst/>
            <a:cxnLst/>
            <a:rect l="l" t="t" r="r" b="b"/>
            <a:pathLst>
              <a:path w="14" h="14">
                <a:moveTo>
                  <a:pt x="14" y="7"/>
                </a:moveTo>
                <a:lnTo>
                  <a:pt x="0" y="14"/>
                </a:lnTo>
                <a:lnTo>
                  <a:pt x="0" y="0"/>
                </a:lnTo>
                <a:close/>
              </a:path>
            </a:pathLst>
          </a:custGeom>
          <a:solidFill>
            <a:srgbClr val="18181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217" name="path 216"/>
          <p:cNvCxnSpPr/>
          <p:nvPr/>
        </p:nvCxnSpPr>
        <p:spPr>
          <a:xfrm flipH="1">
            <a:off x="8192800" y="4636393"/>
            <a:ext cx="914375" cy="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sp>
        <p:nvSpPr>
          <p:cNvPr id="218" name="arrowhead 217"/>
          <p:cNvSpPr/>
          <p:nvPr/>
        </p:nvSpPr>
        <p:spPr>
          <a:xfrm>
            <a:off x="8178170" y="4586505"/>
            <a:ext cx="102410" cy="102410"/>
          </a:xfrm>
          <a:custGeom>
            <a:avLst/>
            <a:gdLst/>
            <a:ahLst/>
            <a:cxnLst/>
            <a:rect l="l" t="t" r="r" b="b"/>
            <a:pathLst>
              <a:path w="14" h="14">
                <a:moveTo>
                  <a:pt x="0" y="7"/>
                </a:moveTo>
                <a:lnTo>
                  <a:pt x="14" y="0"/>
                </a:lnTo>
                <a:lnTo>
                  <a:pt x="14" y="14"/>
                </a:lnTo>
                <a:close/>
              </a:path>
            </a:pathLst>
          </a:custGeom>
          <a:solidFill>
            <a:srgbClr val="18181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9" name="rect 218"/>
          <p:cNvSpPr/>
          <p:nvPr/>
        </p:nvSpPr>
        <p:spPr>
          <a:xfrm>
            <a:off x="8222060" y="5105870"/>
            <a:ext cx="306279" cy="228740"/>
          </a:xfrm>
          <a:prstGeom prst="roundRect">
            <a:avLst>
              <a:gd name="adj" fmla="val 3197"/>
            </a:avLst>
          </a:prstGeom>
          <a:solidFill>
            <a:srgbClr val="E9A6BF"/>
          </a:solidFill>
          <a:ln w="10972">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0" name="rect 219"/>
          <p:cNvSpPr/>
          <p:nvPr/>
        </p:nvSpPr>
        <p:spPr>
          <a:xfrm>
            <a:off x="8260830" y="5144640"/>
            <a:ext cx="58154" cy="54277"/>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1" name="rect 220"/>
          <p:cNvSpPr/>
          <p:nvPr/>
        </p:nvSpPr>
        <p:spPr>
          <a:xfrm>
            <a:off x="8346122" y="5144640"/>
            <a:ext cx="58154" cy="54277"/>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2" name="rect 221"/>
          <p:cNvSpPr/>
          <p:nvPr/>
        </p:nvSpPr>
        <p:spPr>
          <a:xfrm>
            <a:off x="8431415" y="5144640"/>
            <a:ext cx="58154" cy="54277"/>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3" name="rect 222"/>
          <p:cNvSpPr/>
          <p:nvPr/>
        </p:nvSpPr>
        <p:spPr>
          <a:xfrm>
            <a:off x="8260830" y="5229932"/>
            <a:ext cx="58154" cy="54277"/>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4" name="rect 223"/>
          <p:cNvSpPr/>
          <p:nvPr/>
        </p:nvSpPr>
        <p:spPr>
          <a:xfrm>
            <a:off x="8346122" y="5229932"/>
            <a:ext cx="58154" cy="54277"/>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5" name="rect 224"/>
          <p:cNvSpPr/>
          <p:nvPr/>
        </p:nvSpPr>
        <p:spPr>
          <a:xfrm>
            <a:off x="8431415" y="5229932"/>
            <a:ext cx="58154" cy="54277"/>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6" name="s"/>
          <p:cNvSpPr txBox="1"/>
          <p:nvPr/>
        </p:nvSpPr>
        <p:spPr>
          <a:xfrm>
            <a:off x="8887725" y="5100384"/>
            <a:ext cx="176017" cy="281628"/>
          </a:xfrm>
          <a:prstGeom prst="rect">
            <a:avLst/>
          </a:prstGeom>
          <a:noFill/>
          <a:effectLst/>
        </p:spPr>
        <p:txBody>
          <a:bodyPr wrap="none" lIns="0" rIns="0" tIns="0" bIns="0" anchor="t">
            <a:spAutoFit/>
          </a:bodyPr>
          <a:lstStyle/>
          <a:p>
            <a:pPr algn="l">
              <a:lnSpc>
                <a:spcPct val="100000"/>
              </a:lnSpc>
              <a:spcBef>
                <a:spcPts val="0"/>
              </a:spcBef>
              <a:spcAft>
                <a:spcPts val="0"/>
              </a:spcAft>
            </a:pPr>
            <a:r>
              <a:rPr sz="1785" b="0" i="1" lang="en-US" spc="0">
                <a:solidFill>
                  <a:srgbClr val="181818"/>
                </a:solidFill>
                <a:latin typeface="Liberation Serif"/>
                <a:ea typeface="Liberation Serif"/>
                <a:effectLst/>
              </a:rPr>
              <a:t>s</a:t>
            </a:r>
          </a:p>
        </p:txBody>
      </p:sp>
      <p:sp>
        <p:nvSpPr>
          <p:cNvPr id="227" name="*"/>
          <p:cNvSpPr txBox="1"/>
          <p:nvPr/>
        </p:nvSpPr>
        <p:spPr>
          <a:xfrm>
            <a:off x="8983277" y="5051958"/>
            <a:ext cx="161844" cy="195676"/>
          </a:xfrm>
          <a:prstGeom prst="rect">
            <a:avLst/>
          </a:prstGeom>
          <a:noFill/>
          <a:effectLst/>
        </p:spPr>
        <p:txBody>
          <a:bodyPr wrap="none" lIns="0" rIns="0" tIns="0" bIns="0" anchor="t">
            <a:spAutoFit/>
          </a:bodyPr>
          <a:lstStyle/>
          <a:p>
            <a:pPr algn="l">
              <a:lnSpc>
                <a:spcPct val="100000"/>
              </a:lnSpc>
              <a:spcBef>
                <a:spcPts val="0"/>
              </a:spcBef>
              <a:spcAft>
                <a:spcPts val="0"/>
              </a:spcAft>
            </a:pPr>
            <a:r>
              <a:rPr sz="1160" b="0" i="0" lang="en-US" spc="0">
                <a:solidFill>
                  <a:srgbClr val="181818"/>
                </a:solidFill>
                <a:latin typeface="Liberation Serif"/>
                <a:ea typeface="Liberation Serif"/>
                <a:effectLst/>
              </a:rPr>
              <a:t>*</a:t>
            </a:r>
          </a:p>
        </p:txBody>
      </p:sp>
      <p:sp>
        <p:nvSpPr>
          <p:cNvPr id="228" name="path 227"/>
          <p:cNvSpPr/>
          <p:nvPr/>
        </p:nvSpPr>
        <p:spPr>
          <a:xfrm>
            <a:off x="9260790" y="4403630"/>
            <a:ext cx="453530" cy="358435"/>
          </a:xfrm>
          <a:custGeom>
            <a:avLst/>
            <a:gdLst/>
            <a:ahLst/>
            <a:cxnLst/>
            <a:rect l="l" t="t" r="r" b="b"/>
            <a:pathLst>
              <a:path w="62" h="49">
                <a:moveTo>
                  <a:pt x="0" y="0"/>
                </a:moveTo>
                <a:lnTo>
                  <a:pt x="62" y="0"/>
                </a:lnTo>
                <a:lnTo>
                  <a:pt x="62" y="49"/>
                </a:lnTo>
              </a:path>
            </a:pathLst>
          </a:custGeom>
          <a:noFill/>
          <a:ln w="19019">
            <a:solidFill>
              <a:srgbClr val="BF333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9" name="arrowhead 228"/>
          <p:cNvSpPr/>
          <p:nvPr/>
        </p:nvSpPr>
        <p:spPr>
          <a:xfrm>
            <a:off x="9648485" y="4652340"/>
            <a:ext cx="131670" cy="131670"/>
          </a:xfrm>
          <a:custGeom>
            <a:avLst/>
            <a:gdLst/>
            <a:ahLst/>
            <a:cxnLst/>
            <a:rect l="l" t="t" r="r" b="b"/>
            <a:pathLst>
              <a:path w="18" h="18">
                <a:moveTo>
                  <a:pt x="9" y="18"/>
                </a:moveTo>
                <a:lnTo>
                  <a:pt x="0" y="0"/>
                </a:lnTo>
                <a:lnTo>
                  <a:pt x="18" y="0"/>
                </a:lnTo>
                <a:close/>
              </a:path>
            </a:pathLst>
          </a:custGeom>
          <a:solidFill>
            <a:srgbClr val="BF333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0" name="path 229"/>
          <p:cNvSpPr/>
          <p:nvPr/>
        </p:nvSpPr>
        <p:spPr>
          <a:xfrm>
            <a:off x="9158380" y="4996145"/>
            <a:ext cx="555940" cy="234080"/>
          </a:xfrm>
          <a:custGeom>
            <a:avLst/>
            <a:gdLst/>
            <a:ahLst/>
            <a:cxnLst/>
            <a:rect l="l" t="t" r="r" b="b"/>
            <a:pathLst>
              <a:path w="76" h="32">
                <a:moveTo>
                  <a:pt x="0" y="32"/>
                </a:moveTo>
                <a:lnTo>
                  <a:pt x="76" y="32"/>
                </a:lnTo>
                <a:lnTo>
                  <a:pt x="76" y="0"/>
                </a:lnTo>
              </a:path>
            </a:pathLst>
          </a:custGeom>
          <a:noFill/>
          <a:ln w="19019">
            <a:solidFill>
              <a:srgbClr val="BF333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1" name="arrowhead 230"/>
          <p:cNvSpPr/>
          <p:nvPr/>
        </p:nvSpPr>
        <p:spPr>
          <a:xfrm>
            <a:off x="9648485" y="4974200"/>
            <a:ext cx="131670" cy="131670"/>
          </a:xfrm>
          <a:custGeom>
            <a:avLst/>
            <a:gdLst/>
            <a:ahLst/>
            <a:cxnLst/>
            <a:rect l="l" t="t" r="r" b="b"/>
            <a:pathLst>
              <a:path w="18" h="18">
                <a:moveTo>
                  <a:pt x="9" y="0"/>
                </a:moveTo>
                <a:lnTo>
                  <a:pt x="18" y="18"/>
                </a:lnTo>
                <a:lnTo>
                  <a:pt x="0" y="18"/>
                </a:lnTo>
                <a:close/>
              </a:path>
            </a:pathLst>
          </a:custGeom>
          <a:solidFill>
            <a:srgbClr val="BF333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2" name="circle 231"/>
          <p:cNvSpPr/>
          <p:nvPr/>
        </p:nvSpPr>
        <p:spPr>
          <a:xfrm>
            <a:off x="9582650" y="4747435"/>
            <a:ext cx="263340" cy="263340"/>
          </a:xfrm>
          <a:prstGeom prst="ellipse">
            <a:avLst/>
          </a:prstGeom>
          <a:solidFill>
            <a:srgbClr val="FFFFFF"/>
          </a:solidFill>
          <a:ln w="11704">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3" name="path 232"/>
          <p:cNvSpPr/>
          <p:nvPr/>
        </p:nvSpPr>
        <p:spPr>
          <a:xfrm>
            <a:off x="9655800" y="4820585"/>
            <a:ext cx="117040" cy="102410"/>
          </a:xfrm>
          <a:custGeom>
            <a:avLst/>
            <a:gdLst/>
            <a:ahLst/>
            <a:cxnLst/>
            <a:rect l="l" t="t" r="r" b="b"/>
            <a:pathLst>
              <a:path w="16" h="14">
                <a:moveTo>
                  <a:pt x="0" y="14"/>
                </a:moveTo>
                <a:lnTo>
                  <a:pt x="8" y="0"/>
                </a:lnTo>
                <a:lnTo>
                  <a:pt x="16" y="14"/>
                </a:lnTo>
              </a:path>
            </a:pathLst>
          </a:custGeom>
          <a:no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4" name="path 233"/>
          <p:cNvSpPr/>
          <p:nvPr/>
        </p:nvSpPr>
        <p:spPr>
          <a:xfrm>
            <a:off x="9867935" y="3979360"/>
            <a:ext cx="738815" cy="899745"/>
          </a:xfrm>
          <a:custGeom>
            <a:avLst/>
            <a:gdLst/>
            <a:ahLst/>
            <a:cxnLst/>
            <a:rect l="l" t="t" r="r" b="b"/>
            <a:pathLst>
              <a:path w="101" h="123">
                <a:moveTo>
                  <a:pt x="0" y="123"/>
                </a:moveTo>
                <a:lnTo>
                  <a:pt x="27" y="123"/>
                </a:lnTo>
                <a:lnTo>
                  <a:pt x="27" y="0"/>
                </a:lnTo>
                <a:lnTo>
                  <a:pt x="101" y="0"/>
                </a:lnTo>
                <a:lnTo>
                  <a:pt x="101" y="7"/>
                </a:lnTo>
              </a:path>
            </a:pathLst>
          </a:custGeom>
          <a:noFill/>
          <a:ln w="14630">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5" name="arrowhead 234"/>
          <p:cNvSpPr/>
          <p:nvPr/>
        </p:nvSpPr>
        <p:spPr>
          <a:xfrm>
            <a:off x="10555545" y="3942785"/>
            <a:ext cx="102410" cy="102410"/>
          </a:xfrm>
          <a:custGeom>
            <a:avLst/>
            <a:gdLst/>
            <a:ahLst/>
            <a:cxnLst/>
            <a:rect l="l" t="t" r="r" b="b"/>
            <a:pathLst>
              <a:path w="14" h="14">
                <a:moveTo>
                  <a:pt x="7" y="14"/>
                </a:moveTo>
                <a:lnTo>
                  <a:pt x="0" y="0"/>
                </a:lnTo>
                <a:lnTo>
                  <a:pt x="14" y="0"/>
                </a:lnTo>
                <a:close/>
              </a:path>
            </a:pathLst>
          </a:custGeom>
          <a:solidFill>
            <a:srgbClr val="18181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6" name="H2D"/>
          <p:cNvSpPr txBox="1"/>
          <p:nvPr/>
        </p:nvSpPr>
        <p:spPr>
          <a:xfrm>
            <a:off x="10628695" y="3726992"/>
            <a:ext cx="468046" cy="217621"/>
          </a:xfrm>
          <a:prstGeom prst="rect">
            <a:avLst/>
          </a:prstGeom>
          <a:noFill/>
          <a:effectLst/>
        </p:spPr>
        <p:txBody>
          <a:bodyPr wrap="none" lIns="0" rIns="0" tIns="0" bIns="0" anchor="t">
            <a:spAutoFit/>
          </a:bodyPr>
          <a:lstStyle/>
          <a:p>
            <a:pPr algn="l">
              <a:lnSpc>
                <a:spcPct val="100000"/>
              </a:lnSpc>
              <a:spcBef>
                <a:spcPts val="0"/>
              </a:spcBef>
              <a:spcAft>
                <a:spcPts val="0"/>
              </a:spcAft>
            </a:pPr>
            <a:r>
              <a:rPr sz="1267" b="1" i="0" lang="en-US" spc="0">
                <a:solidFill>
                  <a:srgbClr val="181818"/>
                </a:solidFill>
                <a:latin typeface="DejaVu Sans"/>
                <a:ea typeface="DejaVu Sans"/>
                <a:effectLst/>
              </a:rPr>
              <a:t>H2D</a:t>
            </a:r>
          </a:p>
        </p:txBody>
      </p:sp>
      <p:sp>
        <p:nvSpPr>
          <p:cNvPr id="237" name="GPU"/>
          <p:cNvSpPr txBox="1"/>
          <p:nvPr/>
        </p:nvSpPr>
        <p:spPr>
          <a:xfrm>
            <a:off x="11755205" y="3726992"/>
            <a:ext cx="468503" cy="217621"/>
          </a:xfrm>
          <a:prstGeom prst="rect">
            <a:avLst/>
          </a:prstGeom>
          <a:noFill/>
          <a:effectLst/>
        </p:spPr>
        <p:txBody>
          <a:bodyPr wrap="none" lIns="0" rIns="0" tIns="0" bIns="0" anchor="t">
            <a:spAutoFit/>
          </a:bodyPr>
          <a:lstStyle/>
          <a:p>
            <a:pPr algn="l">
              <a:lnSpc>
                <a:spcPct val="100000"/>
              </a:lnSpc>
              <a:spcBef>
                <a:spcPts val="0"/>
              </a:spcBef>
              <a:spcAft>
                <a:spcPts val="0"/>
              </a:spcAft>
            </a:pPr>
            <a:r>
              <a:rPr sz="1267" b="1" i="0" lang="en-US" spc="0">
                <a:solidFill>
                  <a:srgbClr val="181818"/>
                </a:solidFill>
                <a:latin typeface="DejaVu Sans"/>
                <a:ea typeface="DejaVu Sans"/>
                <a:effectLst/>
              </a:rPr>
              <a:t>GPU</a:t>
            </a:r>
          </a:p>
        </p:txBody>
      </p:sp>
      <p:sp>
        <p:nvSpPr>
          <p:cNvPr id="238" name="ℓ"/>
          <p:cNvSpPr txBox="1"/>
          <p:nvPr/>
        </p:nvSpPr>
        <p:spPr>
          <a:xfrm>
            <a:off x="10235685" y="4030565"/>
            <a:ext cx="176131" cy="266998"/>
          </a:xfrm>
          <a:prstGeom prst="rect">
            <a:avLst/>
          </a:prstGeom>
          <a:noFill/>
          <a:effectLst/>
        </p:spPr>
        <p:txBody>
          <a:bodyPr wrap="none" lIns="0" rIns="0" tIns="0" bIns="0" anchor="t">
            <a:spAutoFit/>
          </a:bodyPr>
          <a:lstStyle/>
          <a:p>
            <a:pPr algn="l">
              <a:lnSpc>
                <a:spcPct val="100000"/>
              </a:lnSpc>
              <a:spcBef>
                <a:spcPts val="0"/>
              </a:spcBef>
              <a:spcAft>
                <a:spcPts val="0"/>
              </a:spcAft>
            </a:pPr>
            <a:r>
              <a:rPr sz="1670" b="0" i="1" lang="en-US" spc="0">
                <a:solidFill>
                  <a:srgbClr val="181818"/>
                </a:solidFill>
                <a:latin typeface="Liberation Serif"/>
                <a:ea typeface="Liberation Serif"/>
                <a:effectLst/>
              </a:rPr>
              <a:t>ℓ</a:t>
            </a:r>
          </a:p>
        </p:txBody>
      </p:sp>
      <p:sp>
        <p:nvSpPr>
          <p:cNvPr id="239" name="0"/>
          <p:cNvSpPr txBox="1"/>
          <p:nvPr/>
        </p:nvSpPr>
        <p:spPr>
          <a:xfrm>
            <a:off x="10331352" y="4151262"/>
            <a:ext cx="156358" cy="182875"/>
          </a:xfrm>
          <a:prstGeom prst="rect">
            <a:avLst/>
          </a:prstGeom>
          <a:noFill/>
          <a:effectLst/>
        </p:spPr>
        <p:txBody>
          <a:bodyPr wrap="none" lIns="0" rIns="0" tIns="0" bIns="0" anchor="t">
            <a:spAutoFit/>
          </a:bodyPr>
          <a:lstStyle/>
          <a:p>
            <a:pPr algn="l">
              <a:lnSpc>
                <a:spcPct val="100000"/>
              </a:lnSpc>
              <a:spcBef>
                <a:spcPts val="0"/>
              </a:spcBef>
              <a:spcAft>
                <a:spcPts val="0"/>
              </a:spcAft>
            </a:pPr>
            <a:r>
              <a:rPr sz="1085" b="0" i="0" lang="en-US" spc="0">
                <a:solidFill>
                  <a:srgbClr val="181818"/>
                </a:solidFill>
                <a:latin typeface="Liberation Serif"/>
                <a:ea typeface="Liberation Serif"/>
                <a:effectLst/>
              </a:rPr>
              <a:t>0</a:t>
            </a:r>
          </a:p>
        </p:txBody>
      </p:sp>
      <p:cxnSp>
        <p:nvCxnSpPr>
          <p:cNvPr id="240" name="line 239"/>
          <p:cNvCxnSpPr/>
          <p:nvPr/>
        </p:nvCxnSpPr>
        <p:spPr>
          <a:xfrm>
            <a:off x="10518970" y="4330480"/>
            <a:ext cx="2194500" cy="0"/>
          </a:xfrm>
          <a:prstGeom prst="line">
            <a:avLst/>
          </a:prstGeom>
          <a:ln w="7315">
            <a:solidFill>
              <a:srgbClr val="A6A6A6"/>
            </a:solidFill>
          </a:ln>
          <a:effectLst/>
        </p:spPr>
        <p:style>
          <a:lnRef idx="2">
            <a:schemeClr val="accent1"/>
          </a:lnRef>
          <a:fillRef idx="0">
            <a:schemeClr val="accent1"/>
          </a:fillRef>
          <a:effectRef idx="0">
            <a:schemeClr val="accent1"/>
          </a:effectRef>
          <a:fontRef idx="minor">
            <a:schemeClr val="tx1"/>
          </a:fontRef>
        </p:style>
      </p:cxnSp>
      <p:sp>
        <p:nvSpPr>
          <p:cNvPr id="241" name="rect 240"/>
          <p:cNvSpPr/>
          <p:nvPr/>
        </p:nvSpPr>
        <p:spPr>
          <a:xfrm>
            <a:off x="10606750" y="4052510"/>
            <a:ext cx="599830" cy="212135"/>
          </a:xfrm>
          <a:prstGeom prst="rect">
            <a:avLst/>
          </a:prstGeom>
          <a:solidFill>
            <a:srgbClr val="F5D460"/>
          </a:solidFill>
          <a:ln w="10241">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2" name="rect 241"/>
          <p:cNvSpPr/>
          <p:nvPr/>
        </p:nvSpPr>
        <p:spPr>
          <a:xfrm>
            <a:off x="10665270" y="4103715"/>
            <a:ext cx="124355" cy="109725"/>
          </a:xfrm>
          <a:prstGeom prst="roundRect">
            <a:avLst>
              <a:gd name="adj" fmla="val 6666"/>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3" name="rect 242"/>
          <p:cNvSpPr/>
          <p:nvPr/>
        </p:nvSpPr>
        <p:spPr>
          <a:xfrm>
            <a:off x="10826200" y="4103715"/>
            <a:ext cx="124355" cy="109725"/>
          </a:xfrm>
          <a:prstGeom prst="roundRect">
            <a:avLst>
              <a:gd name="adj" fmla="val 6666"/>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4" name="rect 243"/>
          <p:cNvSpPr/>
          <p:nvPr/>
        </p:nvSpPr>
        <p:spPr>
          <a:xfrm>
            <a:off x="10987130" y="4103715"/>
            <a:ext cx="124355" cy="109725"/>
          </a:xfrm>
          <a:prstGeom prst="roundRect">
            <a:avLst>
              <a:gd name="adj" fmla="val 6666"/>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245" name="path 244"/>
          <p:cNvCxnSpPr/>
          <p:nvPr/>
        </p:nvCxnSpPr>
        <p:spPr>
          <a:xfrm>
            <a:off x="11228525" y="4154920"/>
            <a:ext cx="168245" cy="0"/>
          </a:xfrm>
          <a:prstGeom prst="line">
            <a:avLst/>
          </a:prstGeom>
          <a:ln w="12435">
            <a:solidFill>
              <a:srgbClr val="181818"/>
            </a:solidFill>
          </a:ln>
          <a:effectLst/>
        </p:spPr>
        <p:style>
          <a:lnRef idx="2">
            <a:schemeClr val="accent1"/>
          </a:lnRef>
          <a:fillRef idx="0">
            <a:schemeClr val="accent1"/>
          </a:fillRef>
          <a:effectRef idx="0">
            <a:schemeClr val="accent1"/>
          </a:effectRef>
          <a:fontRef idx="minor">
            <a:schemeClr val="tx1"/>
          </a:fontRef>
        </p:style>
      </p:cxnSp>
      <p:sp>
        <p:nvSpPr>
          <p:cNvPr id="246" name="arrowhead 245"/>
          <p:cNvSpPr/>
          <p:nvPr/>
        </p:nvSpPr>
        <p:spPr>
          <a:xfrm>
            <a:off x="11323620" y="4111030"/>
            <a:ext cx="87780" cy="87780"/>
          </a:xfrm>
          <a:custGeom>
            <a:avLst/>
            <a:gdLst/>
            <a:ahLst/>
            <a:cxnLst/>
            <a:rect l="l" t="t" r="r" b="b"/>
            <a:pathLst>
              <a:path w="12" h="12">
                <a:moveTo>
                  <a:pt x="12" y="6"/>
                </a:moveTo>
                <a:lnTo>
                  <a:pt x="0" y="12"/>
                </a:lnTo>
                <a:lnTo>
                  <a:pt x="0" y="0"/>
                </a:lnTo>
                <a:close/>
              </a:path>
            </a:pathLst>
          </a:custGeom>
          <a:solidFill>
            <a:srgbClr val="18181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7" name="rect 246"/>
          <p:cNvSpPr/>
          <p:nvPr/>
        </p:nvSpPr>
        <p:spPr>
          <a:xfrm>
            <a:off x="11433345" y="4052510"/>
            <a:ext cx="1265495" cy="212135"/>
          </a:xfrm>
          <a:prstGeom prst="rect">
            <a:avLst/>
          </a:prstGeom>
          <a:solidFill>
            <a:srgbClr val="A9CEE8"/>
          </a:solidFill>
          <a:ln w="10241">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8" name="ℓ"/>
          <p:cNvSpPr txBox="1"/>
          <p:nvPr/>
        </p:nvSpPr>
        <p:spPr>
          <a:xfrm>
            <a:off x="10235685" y="4564560"/>
            <a:ext cx="176131" cy="266998"/>
          </a:xfrm>
          <a:prstGeom prst="rect">
            <a:avLst/>
          </a:prstGeom>
          <a:noFill/>
          <a:effectLst/>
        </p:spPr>
        <p:txBody>
          <a:bodyPr wrap="none" lIns="0" rIns="0" tIns="0" bIns="0" anchor="t">
            <a:spAutoFit/>
          </a:bodyPr>
          <a:lstStyle/>
          <a:p>
            <a:pPr algn="l">
              <a:lnSpc>
                <a:spcPct val="100000"/>
              </a:lnSpc>
              <a:spcBef>
                <a:spcPts val="0"/>
              </a:spcBef>
              <a:spcAft>
                <a:spcPts val="0"/>
              </a:spcAft>
            </a:pPr>
            <a:r>
              <a:rPr sz="1670" b="0" i="1" lang="en-US" spc="0">
                <a:solidFill>
                  <a:srgbClr val="181818"/>
                </a:solidFill>
                <a:latin typeface="Liberation Serif"/>
                <a:ea typeface="Liberation Serif"/>
                <a:effectLst/>
              </a:rPr>
              <a:t>ℓ</a:t>
            </a:r>
          </a:p>
        </p:txBody>
      </p:sp>
      <p:sp>
        <p:nvSpPr>
          <p:cNvPr id="249" name="1"/>
          <p:cNvSpPr txBox="1"/>
          <p:nvPr/>
        </p:nvSpPr>
        <p:spPr>
          <a:xfrm>
            <a:off x="10331352" y="4685258"/>
            <a:ext cx="156358" cy="182875"/>
          </a:xfrm>
          <a:prstGeom prst="rect">
            <a:avLst/>
          </a:prstGeom>
          <a:noFill/>
          <a:effectLst/>
        </p:spPr>
        <p:txBody>
          <a:bodyPr wrap="none" lIns="0" rIns="0" tIns="0" bIns="0" anchor="t">
            <a:spAutoFit/>
          </a:bodyPr>
          <a:lstStyle/>
          <a:p>
            <a:pPr algn="l">
              <a:lnSpc>
                <a:spcPct val="100000"/>
              </a:lnSpc>
              <a:spcBef>
                <a:spcPts val="0"/>
              </a:spcBef>
              <a:spcAft>
                <a:spcPts val="0"/>
              </a:spcAft>
            </a:pPr>
            <a:r>
              <a:rPr sz="1085" b="0" i="0" lang="en-US" spc="0">
                <a:solidFill>
                  <a:srgbClr val="181818"/>
                </a:solidFill>
                <a:latin typeface="Liberation Serif"/>
                <a:ea typeface="Liberation Serif"/>
                <a:effectLst/>
              </a:rPr>
              <a:t>1</a:t>
            </a:r>
          </a:p>
        </p:txBody>
      </p:sp>
      <p:cxnSp>
        <p:nvCxnSpPr>
          <p:cNvPr id="250" name="line 249"/>
          <p:cNvCxnSpPr/>
          <p:nvPr/>
        </p:nvCxnSpPr>
        <p:spPr>
          <a:xfrm>
            <a:off x="10518970" y="4864475"/>
            <a:ext cx="2194500" cy="0"/>
          </a:xfrm>
          <a:prstGeom prst="line">
            <a:avLst/>
          </a:prstGeom>
          <a:ln w="7315">
            <a:solidFill>
              <a:srgbClr val="A6A6A6"/>
            </a:solidFill>
          </a:ln>
          <a:effectLst/>
        </p:spPr>
        <p:style>
          <a:lnRef idx="2">
            <a:schemeClr val="accent1"/>
          </a:lnRef>
          <a:fillRef idx="0">
            <a:schemeClr val="accent1"/>
          </a:fillRef>
          <a:effectRef idx="0">
            <a:schemeClr val="accent1"/>
          </a:effectRef>
          <a:fontRef idx="minor">
            <a:schemeClr val="tx1"/>
          </a:fontRef>
        </p:style>
      </p:cxnSp>
      <p:sp>
        <p:nvSpPr>
          <p:cNvPr id="251" name="rect 250"/>
          <p:cNvSpPr/>
          <p:nvPr/>
        </p:nvSpPr>
        <p:spPr>
          <a:xfrm>
            <a:off x="10884720" y="4586505"/>
            <a:ext cx="599830" cy="212135"/>
          </a:xfrm>
          <a:prstGeom prst="rect">
            <a:avLst/>
          </a:prstGeom>
          <a:solidFill>
            <a:srgbClr val="F5D460"/>
          </a:solidFill>
          <a:ln w="10241">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2" name="rect 251"/>
          <p:cNvSpPr/>
          <p:nvPr/>
        </p:nvSpPr>
        <p:spPr>
          <a:xfrm>
            <a:off x="10943240" y="4637710"/>
            <a:ext cx="124355" cy="109725"/>
          </a:xfrm>
          <a:prstGeom prst="roundRect">
            <a:avLst>
              <a:gd name="adj" fmla="val 6666"/>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3" name="rect 252"/>
          <p:cNvSpPr/>
          <p:nvPr/>
        </p:nvSpPr>
        <p:spPr>
          <a:xfrm>
            <a:off x="11104170" y="4637710"/>
            <a:ext cx="124355" cy="109725"/>
          </a:xfrm>
          <a:prstGeom prst="roundRect">
            <a:avLst>
              <a:gd name="adj" fmla="val 6666"/>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4" name="rect 253"/>
          <p:cNvSpPr/>
          <p:nvPr/>
        </p:nvSpPr>
        <p:spPr>
          <a:xfrm>
            <a:off x="11265100" y="4637710"/>
            <a:ext cx="124355" cy="109725"/>
          </a:xfrm>
          <a:prstGeom prst="roundRect">
            <a:avLst>
              <a:gd name="adj" fmla="val 6666"/>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255" name="path 254"/>
          <p:cNvCxnSpPr/>
          <p:nvPr/>
        </p:nvCxnSpPr>
        <p:spPr>
          <a:xfrm>
            <a:off x="11506495" y="4688915"/>
            <a:ext cx="285285" cy="0"/>
          </a:xfrm>
          <a:prstGeom prst="line">
            <a:avLst/>
          </a:prstGeom>
          <a:ln w="12435">
            <a:solidFill>
              <a:srgbClr val="181818"/>
            </a:solidFill>
          </a:ln>
          <a:effectLst/>
        </p:spPr>
        <p:style>
          <a:lnRef idx="2">
            <a:schemeClr val="accent1"/>
          </a:lnRef>
          <a:fillRef idx="0">
            <a:schemeClr val="accent1"/>
          </a:fillRef>
          <a:effectRef idx="0">
            <a:schemeClr val="accent1"/>
          </a:effectRef>
          <a:fontRef idx="minor">
            <a:schemeClr val="tx1"/>
          </a:fontRef>
        </p:style>
      </p:cxnSp>
      <p:sp>
        <p:nvSpPr>
          <p:cNvPr id="256" name="arrowhead 255"/>
          <p:cNvSpPr/>
          <p:nvPr/>
        </p:nvSpPr>
        <p:spPr>
          <a:xfrm>
            <a:off x="11718630" y="4645025"/>
            <a:ext cx="87780" cy="87780"/>
          </a:xfrm>
          <a:custGeom>
            <a:avLst/>
            <a:gdLst/>
            <a:ahLst/>
            <a:cxnLst/>
            <a:rect l="l" t="t" r="r" b="b"/>
            <a:pathLst>
              <a:path w="12" h="12">
                <a:moveTo>
                  <a:pt x="12" y="6"/>
                </a:moveTo>
                <a:lnTo>
                  <a:pt x="0" y="12"/>
                </a:lnTo>
                <a:lnTo>
                  <a:pt x="0" y="0"/>
                </a:lnTo>
                <a:close/>
              </a:path>
            </a:pathLst>
          </a:custGeom>
          <a:solidFill>
            <a:srgbClr val="18181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7" name="rect 256"/>
          <p:cNvSpPr/>
          <p:nvPr/>
        </p:nvSpPr>
        <p:spPr>
          <a:xfrm>
            <a:off x="11828355" y="4586505"/>
            <a:ext cx="870485" cy="212135"/>
          </a:xfrm>
          <a:prstGeom prst="rect">
            <a:avLst/>
          </a:prstGeom>
          <a:solidFill>
            <a:srgbClr val="A9CEE8"/>
          </a:solidFill>
          <a:ln w="10241">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8" name="path 257"/>
          <p:cNvSpPr/>
          <p:nvPr/>
        </p:nvSpPr>
        <p:spPr>
          <a:xfrm>
            <a:off x="11616220" y="4286590"/>
            <a:ext cx="336490" cy="277970"/>
          </a:xfrm>
          <a:custGeom>
            <a:avLst/>
            <a:gdLst/>
            <a:ahLst/>
            <a:cxnLst/>
            <a:rect l="l" t="t" r="r" b="b"/>
            <a:pathLst>
              <a:path w="46" h="38">
                <a:moveTo>
                  <a:pt x="0" y="0"/>
                </a:moveTo>
                <a:lnTo>
                  <a:pt x="0" y="28"/>
                </a:lnTo>
                <a:lnTo>
                  <a:pt x="46" y="28"/>
                </a:lnTo>
                <a:lnTo>
                  <a:pt x="46" y="38"/>
                </a:lnTo>
              </a:path>
            </a:pathLst>
          </a:custGeom>
          <a:noFill/>
          <a:ln w="11704">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9" name="arrowhead 258"/>
          <p:cNvSpPr/>
          <p:nvPr/>
        </p:nvSpPr>
        <p:spPr>
          <a:xfrm>
            <a:off x="11908820" y="4491410"/>
            <a:ext cx="87780" cy="87780"/>
          </a:xfrm>
          <a:custGeom>
            <a:avLst/>
            <a:gdLst/>
            <a:ahLst/>
            <a:cxnLst/>
            <a:rect l="l" t="t" r="r" b="b"/>
            <a:pathLst>
              <a:path w="12" h="12">
                <a:moveTo>
                  <a:pt x="6" y="12"/>
                </a:moveTo>
                <a:lnTo>
                  <a:pt x="0" y="0"/>
                </a:lnTo>
                <a:lnTo>
                  <a:pt x="12" y="0"/>
                </a:lnTo>
                <a:close/>
              </a:path>
            </a:pathLst>
          </a:custGeom>
          <a:solidFill>
            <a:srgbClr val="18181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0" name="ℓ"/>
          <p:cNvSpPr txBox="1"/>
          <p:nvPr/>
        </p:nvSpPr>
        <p:spPr>
          <a:xfrm>
            <a:off x="10235685" y="5098555"/>
            <a:ext cx="176131" cy="266998"/>
          </a:xfrm>
          <a:prstGeom prst="rect">
            <a:avLst/>
          </a:prstGeom>
          <a:noFill/>
          <a:effectLst/>
        </p:spPr>
        <p:txBody>
          <a:bodyPr wrap="none" lIns="0" rIns="0" tIns="0" bIns="0" anchor="t">
            <a:spAutoFit/>
          </a:bodyPr>
          <a:lstStyle/>
          <a:p>
            <a:pPr algn="l">
              <a:lnSpc>
                <a:spcPct val="100000"/>
              </a:lnSpc>
              <a:spcBef>
                <a:spcPts val="0"/>
              </a:spcBef>
              <a:spcAft>
                <a:spcPts val="0"/>
              </a:spcAft>
            </a:pPr>
            <a:r>
              <a:rPr sz="1670" b="0" i="1" lang="en-US" spc="0">
                <a:solidFill>
                  <a:srgbClr val="181818"/>
                </a:solidFill>
                <a:latin typeface="Liberation Serif"/>
                <a:ea typeface="Liberation Serif"/>
                <a:effectLst/>
              </a:rPr>
              <a:t>ℓ</a:t>
            </a:r>
          </a:p>
        </p:txBody>
      </p:sp>
      <p:sp>
        <p:nvSpPr>
          <p:cNvPr id="261" name="2"/>
          <p:cNvSpPr txBox="1"/>
          <p:nvPr/>
        </p:nvSpPr>
        <p:spPr>
          <a:xfrm>
            <a:off x="10331352" y="5219252"/>
            <a:ext cx="156358" cy="182875"/>
          </a:xfrm>
          <a:prstGeom prst="rect">
            <a:avLst/>
          </a:prstGeom>
          <a:noFill/>
          <a:effectLst/>
        </p:spPr>
        <p:txBody>
          <a:bodyPr wrap="none" lIns="0" rIns="0" tIns="0" bIns="0" anchor="t">
            <a:spAutoFit/>
          </a:bodyPr>
          <a:lstStyle/>
          <a:p>
            <a:pPr algn="l">
              <a:lnSpc>
                <a:spcPct val="100000"/>
              </a:lnSpc>
              <a:spcBef>
                <a:spcPts val="0"/>
              </a:spcBef>
              <a:spcAft>
                <a:spcPts val="0"/>
              </a:spcAft>
            </a:pPr>
            <a:r>
              <a:rPr sz="1085" b="0" i="0" lang="en-US" spc="0">
                <a:solidFill>
                  <a:srgbClr val="181818"/>
                </a:solidFill>
                <a:latin typeface="Liberation Serif"/>
                <a:ea typeface="Liberation Serif"/>
                <a:effectLst/>
              </a:rPr>
              <a:t>2</a:t>
            </a:r>
          </a:p>
        </p:txBody>
      </p:sp>
      <p:cxnSp>
        <p:nvCxnSpPr>
          <p:cNvPr id="262" name="line 261"/>
          <p:cNvCxnSpPr/>
          <p:nvPr/>
        </p:nvCxnSpPr>
        <p:spPr>
          <a:xfrm>
            <a:off x="10518970" y="5398470"/>
            <a:ext cx="2194500" cy="0"/>
          </a:xfrm>
          <a:prstGeom prst="line">
            <a:avLst/>
          </a:prstGeom>
          <a:ln w="7315">
            <a:solidFill>
              <a:srgbClr val="A6A6A6"/>
            </a:solidFill>
          </a:ln>
          <a:effectLst/>
        </p:spPr>
        <p:style>
          <a:lnRef idx="2">
            <a:schemeClr val="accent1"/>
          </a:lnRef>
          <a:fillRef idx="0">
            <a:schemeClr val="accent1"/>
          </a:fillRef>
          <a:effectRef idx="0">
            <a:schemeClr val="accent1"/>
          </a:effectRef>
          <a:fontRef idx="minor">
            <a:schemeClr val="tx1"/>
          </a:fontRef>
        </p:style>
      </p:cxnSp>
      <p:sp>
        <p:nvSpPr>
          <p:cNvPr id="263" name="rect 262"/>
          <p:cNvSpPr/>
          <p:nvPr/>
        </p:nvSpPr>
        <p:spPr>
          <a:xfrm>
            <a:off x="11162690" y="5120500"/>
            <a:ext cx="599830" cy="212135"/>
          </a:xfrm>
          <a:prstGeom prst="rect">
            <a:avLst/>
          </a:prstGeom>
          <a:solidFill>
            <a:srgbClr val="F5D460"/>
          </a:solidFill>
          <a:ln w="10241">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4" name="rect 263"/>
          <p:cNvSpPr/>
          <p:nvPr/>
        </p:nvSpPr>
        <p:spPr>
          <a:xfrm>
            <a:off x="11221210" y="5171705"/>
            <a:ext cx="124355" cy="109725"/>
          </a:xfrm>
          <a:prstGeom prst="roundRect">
            <a:avLst>
              <a:gd name="adj" fmla="val 6666"/>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5" name="rect 264"/>
          <p:cNvSpPr/>
          <p:nvPr/>
        </p:nvSpPr>
        <p:spPr>
          <a:xfrm>
            <a:off x="11382140" y="5171705"/>
            <a:ext cx="124355" cy="109725"/>
          </a:xfrm>
          <a:prstGeom prst="roundRect">
            <a:avLst>
              <a:gd name="adj" fmla="val 6666"/>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6" name="rect 265"/>
          <p:cNvSpPr/>
          <p:nvPr/>
        </p:nvSpPr>
        <p:spPr>
          <a:xfrm>
            <a:off x="11543070" y="5171705"/>
            <a:ext cx="124355" cy="109725"/>
          </a:xfrm>
          <a:prstGeom prst="roundRect">
            <a:avLst>
              <a:gd name="adj" fmla="val 6666"/>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267" name="path 266"/>
          <p:cNvCxnSpPr/>
          <p:nvPr/>
        </p:nvCxnSpPr>
        <p:spPr>
          <a:xfrm>
            <a:off x="11784465" y="5222910"/>
            <a:ext cx="402325" cy="0"/>
          </a:xfrm>
          <a:prstGeom prst="line">
            <a:avLst/>
          </a:prstGeom>
          <a:ln w="12435">
            <a:solidFill>
              <a:srgbClr val="181818"/>
            </a:solidFill>
          </a:ln>
          <a:effectLst/>
        </p:spPr>
        <p:style>
          <a:lnRef idx="2">
            <a:schemeClr val="accent1"/>
          </a:lnRef>
          <a:fillRef idx="0">
            <a:schemeClr val="accent1"/>
          </a:fillRef>
          <a:effectRef idx="0">
            <a:schemeClr val="accent1"/>
          </a:effectRef>
          <a:fontRef idx="minor">
            <a:schemeClr val="tx1"/>
          </a:fontRef>
        </p:style>
      </p:cxnSp>
      <p:sp>
        <p:nvSpPr>
          <p:cNvPr id="268" name="arrowhead 267"/>
          <p:cNvSpPr/>
          <p:nvPr/>
        </p:nvSpPr>
        <p:spPr>
          <a:xfrm>
            <a:off x="12113640" y="5179020"/>
            <a:ext cx="87780" cy="87780"/>
          </a:xfrm>
          <a:custGeom>
            <a:avLst/>
            <a:gdLst/>
            <a:ahLst/>
            <a:cxnLst/>
            <a:rect l="l" t="t" r="r" b="b"/>
            <a:pathLst>
              <a:path w="12" h="12">
                <a:moveTo>
                  <a:pt x="12" y="6"/>
                </a:moveTo>
                <a:lnTo>
                  <a:pt x="0" y="12"/>
                </a:lnTo>
                <a:lnTo>
                  <a:pt x="0" y="0"/>
                </a:lnTo>
                <a:close/>
              </a:path>
            </a:pathLst>
          </a:custGeom>
          <a:solidFill>
            <a:srgbClr val="18181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9" name="rect 268"/>
          <p:cNvSpPr/>
          <p:nvPr/>
        </p:nvSpPr>
        <p:spPr>
          <a:xfrm>
            <a:off x="12223365" y="5120500"/>
            <a:ext cx="475475" cy="212135"/>
          </a:xfrm>
          <a:prstGeom prst="rect">
            <a:avLst/>
          </a:prstGeom>
          <a:solidFill>
            <a:srgbClr val="A9CEE8"/>
          </a:solidFill>
          <a:ln w="10241">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0" name="path 269"/>
          <p:cNvSpPr/>
          <p:nvPr/>
        </p:nvSpPr>
        <p:spPr>
          <a:xfrm>
            <a:off x="12011230" y="4820585"/>
            <a:ext cx="336490" cy="277970"/>
          </a:xfrm>
          <a:custGeom>
            <a:avLst/>
            <a:gdLst/>
            <a:ahLst/>
            <a:cxnLst/>
            <a:rect l="l" t="t" r="r" b="b"/>
            <a:pathLst>
              <a:path w="46" h="38">
                <a:moveTo>
                  <a:pt x="0" y="0"/>
                </a:moveTo>
                <a:lnTo>
                  <a:pt x="0" y="28"/>
                </a:lnTo>
                <a:lnTo>
                  <a:pt x="46" y="28"/>
                </a:lnTo>
                <a:lnTo>
                  <a:pt x="46" y="38"/>
                </a:lnTo>
              </a:path>
            </a:pathLst>
          </a:custGeom>
          <a:noFill/>
          <a:ln w="11704">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1" name="arrowhead 270"/>
          <p:cNvSpPr/>
          <p:nvPr/>
        </p:nvSpPr>
        <p:spPr>
          <a:xfrm>
            <a:off x="12303830" y="5025405"/>
            <a:ext cx="87780" cy="87780"/>
          </a:xfrm>
          <a:custGeom>
            <a:avLst/>
            <a:gdLst/>
            <a:ahLst/>
            <a:cxnLst/>
            <a:rect l="l" t="t" r="r" b="b"/>
            <a:pathLst>
              <a:path w="12" h="12">
                <a:moveTo>
                  <a:pt x="6" y="12"/>
                </a:moveTo>
                <a:lnTo>
                  <a:pt x="0" y="0"/>
                </a:lnTo>
                <a:lnTo>
                  <a:pt x="12" y="0"/>
                </a:lnTo>
                <a:close/>
              </a:path>
            </a:pathLst>
          </a:custGeom>
          <a:solidFill>
            <a:srgbClr val="18181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2" name="path 271"/>
          <p:cNvSpPr/>
          <p:nvPr/>
        </p:nvSpPr>
        <p:spPr>
          <a:xfrm>
            <a:off x="7549080" y="4784010"/>
            <a:ext cx="3057670" cy="819280"/>
          </a:xfrm>
          <a:custGeom>
            <a:avLst/>
            <a:gdLst/>
            <a:ahLst/>
            <a:cxnLst/>
            <a:rect l="l" t="t" r="r" b="b"/>
            <a:pathLst>
              <a:path w="418" h="112">
                <a:moveTo>
                  <a:pt x="151" y="0"/>
                </a:moveTo>
                <a:lnTo>
                  <a:pt x="151" y="19"/>
                </a:lnTo>
                <a:lnTo>
                  <a:pt x="0" y="19"/>
                </a:lnTo>
                <a:lnTo>
                  <a:pt x="0" y="112"/>
                </a:lnTo>
                <a:lnTo>
                  <a:pt x="418" y="112"/>
                </a:lnTo>
              </a:path>
            </a:pathLst>
          </a:custGeom>
          <a:noFill/>
          <a:ln w="12435">
            <a:solidFill>
              <a:srgbClr val="2676B8"/>
            </a:solidFill>
            <a:prstDash val="dash"/>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3" name="arrowhead 272"/>
          <p:cNvSpPr/>
          <p:nvPr/>
        </p:nvSpPr>
        <p:spPr>
          <a:xfrm>
            <a:off x="10533600" y="5559400"/>
            <a:ext cx="87780" cy="87780"/>
          </a:xfrm>
          <a:custGeom>
            <a:avLst/>
            <a:gdLst/>
            <a:ahLst/>
            <a:cxnLst/>
            <a:rect l="l" t="t" r="r" b="b"/>
            <a:pathLst>
              <a:path w="12" h="12">
                <a:moveTo>
                  <a:pt x="12" y="6"/>
                </a:moveTo>
                <a:lnTo>
                  <a:pt x="0" y="12"/>
                </a:lnTo>
                <a:lnTo>
                  <a:pt x="0" y="0"/>
                </a:lnTo>
                <a:close/>
              </a:path>
            </a:pathLst>
          </a:custGeom>
          <a:solidFill>
            <a:srgbClr val="2676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4" name="ACK"/>
          <p:cNvSpPr txBox="1"/>
          <p:nvPr/>
        </p:nvSpPr>
        <p:spPr>
          <a:xfrm>
            <a:off x="9897195" y="5372868"/>
            <a:ext cx="398182" cy="208478"/>
          </a:xfrm>
          <a:prstGeom prst="rect">
            <a:avLst/>
          </a:prstGeom>
          <a:noFill/>
          <a:effectLst/>
        </p:spPr>
        <p:txBody>
          <a:bodyPr wrap="none" lIns="0" rIns="0" tIns="0" bIns="0" anchor="t">
            <a:spAutoFit/>
          </a:bodyPr>
          <a:lstStyle/>
          <a:p>
            <a:pPr algn="l">
              <a:lnSpc>
                <a:spcPct val="100000"/>
              </a:lnSpc>
              <a:spcBef>
                <a:spcPts val="0"/>
              </a:spcBef>
              <a:spcAft>
                <a:spcPts val="0"/>
              </a:spcAft>
            </a:pPr>
            <a:r>
              <a:rPr sz="1209" b="0" i="0" lang="en-US" spc="0">
                <a:solidFill>
                  <a:srgbClr val="2676B8"/>
                </a:solidFill>
                <a:latin typeface="DejaVu Sans"/>
                <a:ea typeface="DejaVu Sans"/>
                <a:effectLst/>
              </a:rPr>
              <a:t>ACK</a:t>
            </a:r>
          </a:p>
        </p:txBody>
      </p:sp>
      <p:sp>
        <p:nvSpPr>
          <p:cNvPr id="275" name="rect 274"/>
          <p:cNvSpPr/>
          <p:nvPr/>
        </p:nvSpPr>
        <p:spPr>
          <a:xfrm>
            <a:off x="292600" y="6071450"/>
            <a:ext cx="7827050" cy="2384690"/>
          </a:xfrm>
          <a:prstGeom prst="roundRect">
            <a:avLst>
              <a:gd name="adj" fmla="val 613"/>
            </a:avLst>
          </a:prstGeom>
          <a:solidFill>
            <a:srgbClr val="EEEEEE"/>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6" name="rect 275"/>
          <p:cNvSpPr/>
          <p:nvPr/>
        </p:nvSpPr>
        <p:spPr>
          <a:xfrm>
            <a:off x="292600" y="6071450"/>
            <a:ext cx="7827050" cy="277970"/>
          </a:xfrm>
          <a:prstGeom prst="roundRect">
            <a:avLst>
              <a:gd name="adj" fmla="val 5263"/>
            </a:avLst>
          </a:prstGeom>
          <a:solidFill>
            <a:srgbClr val="A9CEE8"/>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7" name="(d) Terminal child → native free capacity"/>
          <p:cNvSpPr txBox="1"/>
          <p:nvPr/>
        </p:nvSpPr>
        <p:spPr>
          <a:xfrm>
            <a:off x="395010" y="6094200"/>
            <a:ext cx="4394629" cy="252368"/>
          </a:xfrm>
          <a:prstGeom prst="rect">
            <a:avLst/>
          </a:prstGeom>
          <a:noFill/>
          <a:effectLst/>
        </p:spPr>
        <p:txBody>
          <a:bodyPr wrap="none" lIns="0" rIns="0" tIns="0" bIns="0" anchor="t">
            <a:spAutoFit/>
          </a:bodyPr>
          <a:lstStyle/>
          <a:p>
            <a:pPr algn="l">
              <a:lnSpc>
                <a:spcPct val="100000"/>
              </a:lnSpc>
              <a:spcBef>
                <a:spcPts val="0"/>
              </a:spcBef>
              <a:spcAft>
                <a:spcPts val="0"/>
              </a:spcAft>
            </a:pPr>
            <a:r>
              <a:rPr sz="1497" b="1" i="0" lang="en-US" spc="0">
                <a:solidFill>
                  <a:srgbClr val="181818"/>
                </a:solidFill>
                <a:latin typeface="DejaVu Sans"/>
                <a:ea typeface="DejaVu Sans"/>
                <a:effectLst/>
              </a:rPr>
              <a:t>(d) Terminal child → native free capacity</a:t>
            </a:r>
          </a:p>
        </p:txBody>
      </p:sp>
      <p:sp>
        <p:nvSpPr>
          <p:cNvPr id="278" name="circle 277"/>
          <p:cNvSpPr/>
          <p:nvPr/>
        </p:nvSpPr>
        <p:spPr>
          <a:xfrm>
            <a:off x="533995" y="6963880"/>
            <a:ext cx="395010" cy="395010"/>
          </a:xfrm>
          <a:prstGeom prst="ellipse">
            <a:avLst/>
          </a:prstGeom>
          <a:solidFill>
            <a:srgbClr val="E9A6BF"/>
          </a:solidFill>
          <a:ln w="14630">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9" name="P"/>
          <p:cNvSpPr txBox="1"/>
          <p:nvPr/>
        </p:nvSpPr>
        <p:spPr>
          <a:xfrm>
            <a:off x="620589" y="7053489"/>
            <a:ext cx="221822" cy="243224"/>
          </a:xfrm>
          <a:prstGeom prst="rect">
            <a:avLst/>
          </a:prstGeom>
          <a:noFill/>
          <a:effectLst/>
        </p:spPr>
        <p:txBody>
          <a:bodyPr wrap="none" lIns="0" rIns="0" tIns="0" bIns="0" anchor="t">
            <a:spAutoFit/>
          </a:bodyPr>
          <a:lstStyle/>
          <a:p>
            <a:pPr algn="ctr">
              <a:lnSpc>
                <a:spcPct val="100000"/>
              </a:lnSpc>
              <a:spcBef>
                <a:spcPts val="0"/>
              </a:spcBef>
              <a:spcAft>
                <a:spcPts val="0"/>
              </a:spcAft>
            </a:pPr>
            <a:r>
              <a:rPr sz="1439" b="1" i="0" lang="en-US" spc="0">
                <a:solidFill>
                  <a:srgbClr val="181818"/>
                </a:solidFill>
                <a:latin typeface="DejaVu Sans"/>
                <a:ea typeface="DejaVu Sans"/>
                <a:effectLst/>
              </a:rPr>
              <a:t>P</a:t>
            </a:r>
          </a:p>
        </p:txBody>
      </p:sp>
      <p:sp>
        <p:nvSpPr>
          <p:cNvPr id="280" name="circle 279"/>
          <p:cNvSpPr/>
          <p:nvPr/>
        </p:nvSpPr>
        <p:spPr>
          <a:xfrm>
            <a:off x="1653190" y="6568870"/>
            <a:ext cx="395010" cy="395010"/>
          </a:xfrm>
          <a:prstGeom prst="ellipse">
            <a:avLst/>
          </a:prstGeom>
          <a:solidFill>
            <a:srgbClr val="B5D68B"/>
          </a:solidFill>
          <a:ln w="14630">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1" name="C1"/>
          <p:cNvSpPr txBox="1"/>
          <p:nvPr/>
        </p:nvSpPr>
        <p:spPr>
          <a:xfrm>
            <a:off x="1676078" y="6658479"/>
            <a:ext cx="349234" cy="243224"/>
          </a:xfrm>
          <a:prstGeom prst="rect">
            <a:avLst/>
          </a:prstGeom>
          <a:noFill/>
          <a:effectLst/>
        </p:spPr>
        <p:txBody>
          <a:bodyPr wrap="none" lIns="0" rIns="0" tIns="0" bIns="0" anchor="t">
            <a:spAutoFit/>
          </a:bodyPr>
          <a:lstStyle/>
          <a:p>
            <a:pPr algn="ctr">
              <a:lnSpc>
                <a:spcPct val="100000"/>
              </a:lnSpc>
              <a:spcBef>
                <a:spcPts val="0"/>
              </a:spcBef>
              <a:spcAft>
                <a:spcPts val="0"/>
              </a:spcAft>
            </a:pPr>
            <a:r>
              <a:rPr sz="1439" b="1" i="0" lang="en-US" spc="0">
                <a:solidFill>
                  <a:srgbClr val="181818"/>
                </a:solidFill>
                <a:latin typeface="DejaVu Sans"/>
                <a:ea typeface="DejaVu Sans"/>
                <a:effectLst/>
              </a:rPr>
              <a:t>C1</a:t>
            </a:r>
          </a:p>
        </p:txBody>
      </p:sp>
      <p:sp>
        <p:nvSpPr>
          <p:cNvPr id="282" name="circle 281"/>
          <p:cNvSpPr/>
          <p:nvPr/>
        </p:nvSpPr>
        <p:spPr>
          <a:xfrm>
            <a:off x="1653190" y="7702695"/>
            <a:ext cx="395010" cy="395010"/>
          </a:xfrm>
          <a:prstGeom prst="ellipse">
            <a:avLst/>
          </a:prstGeom>
          <a:solidFill>
            <a:srgbClr val="F2BD7D"/>
          </a:solidFill>
          <a:ln w="14630">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3" name="C2"/>
          <p:cNvSpPr txBox="1"/>
          <p:nvPr/>
        </p:nvSpPr>
        <p:spPr>
          <a:xfrm>
            <a:off x="1676078" y="7792304"/>
            <a:ext cx="349234" cy="243224"/>
          </a:xfrm>
          <a:prstGeom prst="rect">
            <a:avLst/>
          </a:prstGeom>
          <a:noFill/>
          <a:effectLst/>
        </p:spPr>
        <p:txBody>
          <a:bodyPr wrap="none" lIns="0" rIns="0" tIns="0" bIns="0" anchor="t">
            <a:spAutoFit/>
          </a:bodyPr>
          <a:lstStyle/>
          <a:p>
            <a:pPr algn="ctr">
              <a:lnSpc>
                <a:spcPct val="100000"/>
              </a:lnSpc>
              <a:spcBef>
                <a:spcPts val="0"/>
              </a:spcBef>
              <a:spcAft>
                <a:spcPts val="0"/>
              </a:spcAft>
            </a:pPr>
            <a:r>
              <a:rPr sz="1439" b="1" i="0" lang="en-US" spc="0">
                <a:solidFill>
                  <a:srgbClr val="181818"/>
                </a:solidFill>
                <a:latin typeface="DejaVu Sans"/>
                <a:ea typeface="DejaVu Sans"/>
                <a:effectLst/>
              </a:rPr>
              <a:t>C2</a:t>
            </a:r>
          </a:p>
        </p:txBody>
      </p:sp>
      <p:cxnSp>
        <p:nvCxnSpPr>
          <p:cNvPr id="284" name="path 283"/>
          <p:cNvCxnSpPr/>
          <p:nvPr/>
        </p:nvCxnSpPr>
        <p:spPr>
          <a:xfrm flipV="1">
            <a:off x="936320" y="6839525"/>
            <a:ext cx="702240" cy="248710"/>
          </a:xfrm>
          <a:prstGeom prst="line">
            <a:avLst/>
          </a:prstGeom>
          <a:ln w="19019">
            <a:solidFill>
              <a:srgbClr val="181818"/>
            </a:solidFill>
          </a:ln>
          <a:effectLst/>
        </p:spPr>
        <p:style>
          <a:lnRef idx="2">
            <a:schemeClr val="accent1"/>
          </a:lnRef>
          <a:fillRef idx="0">
            <a:schemeClr val="accent1"/>
          </a:fillRef>
          <a:effectRef idx="0">
            <a:schemeClr val="accent1"/>
          </a:effectRef>
          <a:fontRef idx="minor">
            <a:schemeClr val="tx1"/>
          </a:fontRef>
        </p:style>
      </p:cxnSp>
      <p:sp>
        <p:nvSpPr>
          <p:cNvPr id="285" name="arrowhead 284"/>
          <p:cNvSpPr/>
          <p:nvPr/>
        </p:nvSpPr>
        <p:spPr>
          <a:xfrm>
            <a:off x="1506890" y="6817580"/>
            <a:ext cx="153615" cy="124355"/>
          </a:xfrm>
          <a:custGeom>
            <a:avLst/>
            <a:gdLst/>
            <a:ahLst/>
            <a:cxnLst/>
            <a:rect l="l" t="t" r="r" b="b"/>
            <a:pathLst>
              <a:path w="21" h="17">
                <a:moveTo>
                  <a:pt x="21" y="2"/>
                </a:moveTo>
                <a:lnTo>
                  <a:pt x="6" y="17"/>
                </a:lnTo>
                <a:lnTo>
                  <a:pt x="0" y="0"/>
                </a:lnTo>
                <a:close/>
              </a:path>
            </a:pathLst>
          </a:custGeom>
          <a:solidFill>
            <a:srgbClr val="18181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286" name="path 285"/>
          <p:cNvCxnSpPr/>
          <p:nvPr/>
        </p:nvCxnSpPr>
        <p:spPr>
          <a:xfrm>
            <a:off x="914375" y="7271110"/>
            <a:ext cx="738815" cy="512050"/>
          </a:xfrm>
          <a:prstGeom prst="line">
            <a:avLst/>
          </a:prstGeom>
          <a:ln w="19019">
            <a:solidFill>
              <a:srgbClr val="181818"/>
            </a:solidFill>
          </a:ln>
          <a:effectLst/>
        </p:spPr>
        <p:style>
          <a:lnRef idx="2">
            <a:schemeClr val="accent1"/>
          </a:lnRef>
          <a:fillRef idx="0">
            <a:schemeClr val="accent1"/>
          </a:fillRef>
          <a:effectRef idx="0">
            <a:schemeClr val="accent1"/>
          </a:effectRef>
          <a:fontRef idx="minor">
            <a:schemeClr val="tx1"/>
          </a:fontRef>
        </p:style>
      </p:cxnSp>
      <p:sp>
        <p:nvSpPr>
          <p:cNvPr id="287" name="arrowhead 286"/>
          <p:cNvSpPr/>
          <p:nvPr/>
        </p:nvSpPr>
        <p:spPr>
          <a:xfrm>
            <a:off x="1521520" y="7666120"/>
            <a:ext cx="146300" cy="131670"/>
          </a:xfrm>
          <a:custGeom>
            <a:avLst/>
            <a:gdLst/>
            <a:ahLst/>
            <a:cxnLst/>
            <a:rect l="l" t="t" r="r" b="b"/>
            <a:pathLst>
              <a:path w="20" h="18">
                <a:moveTo>
                  <a:pt x="20" y="18"/>
                </a:moveTo>
                <a:lnTo>
                  <a:pt x="0" y="15"/>
                </a:lnTo>
                <a:lnTo>
                  <a:pt x="10" y="0"/>
                </a:lnTo>
                <a:close/>
              </a:path>
            </a:pathLst>
          </a:custGeom>
          <a:solidFill>
            <a:srgbClr val="18181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8" name="path 287"/>
          <p:cNvSpPr/>
          <p:nvPr/>
        </p:nvSpPr>
        <p:spPr>
          <a:xfrm>
            <a:off x="2099405" y="6568870"/>
            <a:ext cx="131670" cy="131670"/>
          </a:xfrm>
          <a:custGeom>
            <a:avLst/>
            <a:gdLst/>
            <a:ahLst/>
            <a:cxnLst/>
            <a:rect l="l" t="t" r="r" b="b"/>
            <a:pathLst>
              <a:path w="18" h="18">
                <a:moveTo>
                  <a:pt x="0" y="9"/>
                </a:moveTo>
                <a:lnTo>
                  <a:pt x="6" y="18"/>
                </a:lnTo>
                <a:lnTo>
                  <a:pt x="18" y="0"/>
                </a:lnTo>
              </a:path>
            </a:pathLst>
          </a:custGeom>
          <a:noFill/>
          <a:ln w="20482">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289" name="path 288"/>
          <p:cNvCxnSpPr/>
          <p:nvPr/>
        </p:nvCxnSpPr>
        <p:spPr>
          <a:xfrm>
            <a:off x="2070145" y="6766375"/>
            <a:ext cx="497420" cy="0"/>
          </a:xfrm>
          <a:prstGeom prst="line">
            <a:avLst/>
          </a:prstGeom>
          <a:ln w="19019">
            <a:solidFill>
              <a:srgbClr val="181818"/>
            </a:solidFill>
          </a:ln>
          <a:effectLst/>
        </p:spPr>
        <p:style>
          <a:lnRef idx="2">
            <a:schemeClr val="accent1"/>
          </a:lnRef>
          <a:fillRef idx="0">
            <a:schemeClr val="accent1"/>
          </a:fillRef>
          <a:effectRef idx="0">
            <a:schemeClr val="accent1"/>
          </a:effectRef>
          <a:fontRef idx="minor">
            <a:schemeClr val="tx1"/>
          </a:fontRef>
        </p:style>
      </p:cxnSp>
      <p:sp>
        <p:nvSpPr>
          <p:cNvPr id="290" name="arrowhead 289"/>
          <p:cNvSpPr/>
          <p:nvPr/>
        </p:nvSpPr>
        <p:spPr>
          <a:xfrm>
            <a:off x="2457840" y="6700540"/>
            <a:ext cx="131670" cy="131670"/>
          </a:xfrm>
          <a:custGeom>
            <a:avLst/>
            <a:gdLst/>
            <a:ahLst/>
            <a:cxnLst/>
            <a:rect l="l" t="t" r="r" b="b"/>
            <a:pathLst>
              <a:path w="18" h="18">
                <a:moveTo>
                  <a:pt x="18" y="9"/>
                </a:moveTo>
                <a:lnTo>
                  <a:pt x="0" y="18"/>
                </a:lnTo>
                <a:lnTo>
                  <a:pt x="0" y="0"/>
                </a:lnTo>
                <a:close/>
              </a:path>
            </a:pathLst>
          </a:custGeom>
          <a:solidFill>
            <a:srgbClr val="18181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1" name="rect 290"/>
          <p:cNvSpPr/>
          <p:nvPr/>
        </p:nvSpPr>
        <p:spPr>
          <a:xfrm>
            <a:off x="2626085" y="6407940"/>
            <a:ext cx="585200" cy="160930"/>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2" name="private"/>
          <p:cNvSpPr txBox="1"/>
          <p:nvPr/>
        </p:nvSpPr>
        <p:spPr>
          <a:xfrm>
            <a:off x="2684605" y="6405160"/>
            <a:ext cx="527480" cy="177389"/>
          </a:xfrm>
          <a:prstGeom prst="rect">
            <a:avLst/>
          </a:prstGeom>
          <a:noFill/>
          <a:effectLst/>
        </p:spPr>
        <p:txBody>
          <a:bodyPr wrap="none" lIns="0" rIns="0" tIns="0" bIns="0" anchor="t">
            <a:spAutoFit/>
          </a:bodyPr>
          <a:lstStyle/>
          <a:p>
            <a:pPr algn="l">
              <a:lnSpc>
                <a:spcPct val="100000"/>
              </a:lnSpc>
              <a:spcBef>
                <a:spcPts val="0"/>
              </a:spcBef>
              <a:spcAft>
                <a:spcPts val="0"/>
              </a:spcAft>
            </a:pPr>
            <a:r>
              <a:rPr sz="979" b="0" i="0" lang="en-US" spc="0">
                <a:solidFill>
                  <a:srgbClr val="181818"/>
                </a:solidFill>
                <a:latin typeface="DejaVu Sans"/>
                <a:ea typeface="DejaVu Sans"/>
                <a:effectLst/>
              </a:rPr>
              <a:t>private</a:t>
            </a:r>
          </a:p>
        </p:txBody>
      </p:sp>
      <p:sp>
        <p:nvSpPr>
          <p:cNvPr id="293" name="rect 292"/>
          <p:cNvSpPr/>
          <p:nvPr/>
        </p:nvSpPr>
        <p:spPr>
          <a:xfrm>
            <a:off x="3211285" y="6407940"/>
            <a:ext cx="585200" cy="160930"/>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4" name="refs=0"/>
          <p:cNvSpPr txBox="1"/>
          <p:nvPr/>
        </p:nvSpPr>
        <p:spPr>
          <a:xfrm>
            <a:off x="3269805" y="6405160"/>
            <a:ext cx="504564" cy="177389"/>
          </a:xfrm>
          <a:prstGeom prst="rect">
            <a:avLst/>
          </a:prstGeom>
          <a:noFill/>
          <a:effectLst/>
        </p:spPr>
        <p:txBody>
          <a:bodyPr wrap="none" lIns="0" rIns="0" tIns="0" bIns="0" anchor="t">
            <a:spAutoFit/>
          </a:bodyPr>
          <a:lstStyle/>
          <a:p>
            <a:pPr algn="l">
              <a:lnSpc>
                <a:spcPct val="100000"/>
              </a:lnSpc>
              <a:spcBef>
                <a:spcPts val="0"/>
              </a:spcBef>
              <a:spcAft>
                <a:spcPts val="0"/>
              </a:spcAft>
            </a:pPr>
            <a:r>
              <a:rPr sz="979" b="0" i="0" lang="en-US" spc="0">
                <a:solidFill>
                  <a:srgbClr val="181818"/>
                </a:solidFill>
                <a:latin typeface="DejaVu Sans"/>
                <a:ea typeface="DejaVu Sans"/>
                <a:effectLst/>
              </a:rPr>
              <a:t>refs=0</a:t>
            </a:r>
          </a:p>
        </p:txBody>
      </p:sp>
      <p:sp>
        <p:nvSpPr>
          <p:cNvPr id="295" name="rect 294"/>
          <p:cNvSpPr/>
          <p:nvPr/>
        </p:nvSpPr>
        <p:spPr>
          <a:xfrm>
            <a:off x="3796485" y="6407940"/>
            <a:ext cx="585200" cy="160930"/>
          </a:xfrm>
          <a:prstGeom prst="rect">
            <a:avLst/>
          </a:prstGeom>
          <a:solidFill>
            <a:srgbClr val="FFFFFF"/>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6" name="DMA=0"/>
          <p:cNvSpPr txBox="1"/>
          <p:nvPr/>
        </p:nvSpPr>
        <p:spPr>
          <a:xfrm>
            <a:off x="3855005" y="6405160"/>
            <a:ext cx="559226" cy="177389"/>
          </a:xfrm>
          <a:prstGeom prst="rect">
            <a:avLst/>
          </a:prstGeom>
          <a:noFill/>
          <a:effectLst/>
        </p:spPr>
        <p:txBody>
          <a:bodyPr wrap="none" lIns="0" rIns="0" tIns="0" bIns="0" anchor="t">
            <a:spAutoFit/>
          </a:bodyPr>
          <a:lstStyle/>
          <a:p>
            <a:pPr algn="l">
              <a:lnSpc>
                <a:spcPct val="100000"/>
              </a:lnSpc>
              <a:spcBef>
                <a:spcPts val="0"/>
              </a:spcBef>
              <a:spcAft>
                <a:spcPts val="0"/>
              </a:spcAft>
            </a:pPr>
            <a:r>
              <a:rPr sz="979" b="0" i="0" lang="en-US" spc="0">
                <a:solidFill>
                  <a:srgbClr val="181818"/>
                </a:solidFill>
                <a:latin typeface="DejaVu Sans"/>
                <a:ea typeface="DejaVu Sans"/>
                <a:effectLst/>
              </a:rPr>
              <a:t>DMA=0</a:t>
            </a:r>
          </a:p>
        </p:txBody>
      </p:sp>
      <p:sp>
        <p:nvSpPr>
          <p:cNvPr id="297" name="rect 296"/>
          <p:cNvSpPr/>
          <p:nvPr/>
        </p:nvSpPr>
        <p:spPr>
          <a:xfrm>
            <a:off x="2640715" y="6627390"/>
            <a:ext cx="263340" cy="248710"/>
          </a:xfrm>
          <a:prstGeom prst="roundRect">
            <a:avLst>
              <a:gd name="adj" fmla="val 2941"/>
            </a:avLst>
          </a:prstGeom>
          <a:solidFill>
            <a:srgbClr val="DDDDDD"/>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8" name="rect 297"/>
          <p:cNvSpPr/>
          <p:nvPr/>
        </p:nvSpPr>
        <p:spPr>
          <a:xfrm>
            <a:off x="2969890" y="6627390"/>
            <a:ext cx="263340" cy="248710"/>
          </a:xfrm>
          <a:prstGeom prst="roundRect">
            <a:avLst>
              <a:gd name="adj" fmla="val 2941"/>
            </a:avLst>
          </a:prstGeom>
          <a:solidFill>
            <a:srgbClr val="B5D68B"/>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9" name="rect 298"/>
          <p:cNvSpPr/>
          <p:nvPr/>
        </p:nvSpPr>
        <p:spPr>
          <a:xfrm>
            <a:off x="3299065" y="6627390"/>
            <a:ext cx="263340" cy="248710"/>
          </a:xfrm>
          <a:prstGeom prst="roundRect">
            <a:avLst>
              <a:gd name="adj" fmla="val 2941"/>
            </a:avLst>
          </a:prstGeom>
          <a:solidFill>
            <a:srgbClr val="B5D68B"/>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0" name="rect 299"/>
          <p:cNvSpPr/>
          <p:nvPr/>
        </p:nvSpPr>
        <p:spPr>
          <a:xfrm>
            <a:off x="3628240" y="6627390"/>
            <a:ext cx="263340" cy="248710"/>
          </a:xfrm>
          <a:prstGeom prst="roundRect">
            <a:avLst>
              <a:gd name="adj" fmla="val 2941"/>
            </a:avLst>
          </a:prstGeom>
          <a:solidFill>
            <a:srgbClr val="B5D68B"/>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1" name="path 300"/>
          <p:cNvSpPr/>
          <p:nvPr/>
        </p:nvSpPr>
        <p:spPr>
          <a:xfrm>
            <a:off x="2721180" y="6927305"/>
            <a:ext cx="58520" cy="51205"/>
          </a:xfrm>
          <a:custGeom>
            <a:avLst/>
            <a:gdLst/>
            <a:ahLst/>
            <a:cxnLst/>
            <a:rect l="l" t="t" r="r" b="b"/>
            <a:pathLst>
              <a:path w="8" h="7">
                <a:moveTo>
                  <a:pt x="0" y="7"/>
                </a:moveTo>
                <a:lnTo>
                  <a:pt x="0" y="0"/>
                </a:lnTo>
                <a:lnTo>
                  <a:pt x="8" y="0"/>
                </a:lnTo>
                <a:lnTo>
                  <a:pt x="8" y="7"/>
                </a:lnTo>
              </a:path>
            </a:pathLst>
          </a:custGeom>
          <a:noFill/>
          <a:ln w="14630">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2" name="rect 301"/>
          <p:cNvSpPr/>
          <p:nvPr/>
        </p:nvSpPr>
        <p:spPr>
          <a:xfrm>
            <a:off x="2699235" y="6977047"/>
            <a:ext cx="105336" cy="87780"/>
          </a:xfrm>
          <a:prstGeom prst="roundRect">
            <a:avLst>
              <a:gd name="adj" fmla="val 16666"/>
            </a:avLst>
          </a:prstGeom>
          <a:solidFill>
            <a:srgbClr val="FFFFF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3" name="circle 302"/>
          <p:cNvSpPr/>
          <p:nvPr/>
        </p:nvSpPr>
        <p:spPr>
          <a:xfrm>
            <a:off x="2743125" y="7003381"/>
            <a:ext cx="17556" cy="17556"/>
          </a:xfrm>
          <a:prstGeom prst="ellipse">
            <a:avLst/>
          </a:prstGeom>
          <a:solidFill>
            <a:srgbClr val="181818"/>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4" name="private"/>
          <p:cNvSpPr txBox="1"/>
          <p:nvPr/>
        </p:nvSpPr>
        <p:spPr>
          <a:xfrm>
            <a:off x="3094245" y="7004112"/>
            <a:ext cx="630947" cy="208478"/>
          </a:xfrm>
          <a:prstGeom prst="rect">
            <a:avLst/>
          </a:prstGeom>
          <a:noFill/>
          <a:effectLst/>
        </p:spPr>
        <p:txBody>
          <a:bodyPr wrap="none" lIns="0" rIns="0" tIns="0" bIns="0" anchor="t">
            <a:spAutoFit/>
          </a:bodyPr>
          <a:lstStyle/>
          <a:p>
            <a:pPr algn="l">
              <a:lnSpc>
                <a:spcPct val="100000"/>
              </a:lnSpc>
              <a:spcBef>
                <a:spcPts val="0"/>
              </a:spcBef>
              <a:spcAft>
                <a:spcPts val="0"/>
              </a:spcAft>
            </a:pPr>
            <a:r>
              <a:rPr sz="1209" b="0" i="0" lang="en-US" spc="0">
                <a:solidFill>
                  <a:srgbClr val="181818"/>
                </a:solidFill>
                <a:latin typeface="DejaVu Sans"/>
                <a:ea typeface="DejaVu Sans"/>
                <a:effectLst/>
              </a:rPr>
              <a:t>private</a:t>
            </a:r>
          </a:p>
        </p:txBody>
      </p:sp>
      <p:cxnSp>
        <p:nvCxnSpPr>
          <p:cNvPr id="305" name="path 304"/>
          <p:cNvCxnSpPr/>
          <p:nvPr/>
        </p:nvCxnSpPr>
        <p:spPr>
          <a:xfrm>
            <a:off x="4008620" y="6751745"/>
            <a:ext cx="636405" cy="0"/>
          </a:xfrm>
          <a:prstGeom prst="line">
            <a:avLst/>
          </a:prstGeom>
          <a:ln w="19019">
            <a:solidFill>
              <a:srgbClr val="BF3335"/>
            </a:solidFill>
          </a:ln>
          <a:effectLst/>
        </p:spPr>
        <p:style>
          <a:lnRef idx="2">
            <a:schemeClr val="accent1"/>
          </a:lnRef>
          <a:fillRef idx="0">
            <a:schemeClr val="accent1"/>
          </a:fillRef>
          <a:effectRef idx="0">
            <a:schemeClr val="accent1"/>
          </a:effectRef>
          <a:fontRef idx="minor">
            <a:schemeClr val="tx1"/>
          </a:fontRef>
        </p:style>
      </p:cxnSp>
      <p:sp>
        <p:nvSpPr>
          <p:cNvPr id="306" name="arrowhead 305"/>
          <p:cNvSpPr/>
          <p:nvPr/>
        </p:nvSpPr>
        <p:spPr>
          <a:xfrm>
            <a:off x="4535300" y="6685910"/>
            <a:ext cx="131670" cy="131670"/>
          </a:xfrm>
          <a:custGeom>
            <a:avLst/>
            <a:gdLst/>
            <a:ahLst/>
            <a:cxnLst/>
            <a:rect l="l" t="t" r="r" b="b"/>
            <a:pathLst>
              <a:path w="18" h="18">
                <a:moveTo>
                  <a:pt x="18" y="9"/>
                </a:moveTo>
                <a:lnTo>
                  <a:pt x="0" y="18"/>
                </a:lnTo>
                <a:lnTo>
                  <a:pt x="0" y="0"/>
                </a:lnTo>
                <a:close/>
              </a:path>
            </a:pathLst>
          </a:custGeom>
          <a:solidFill>
            <a:srgbClr val="BF333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7" name="rect 306"/>
          <p:cNvSpPr/>
          <p:nvPr/>
        </p:nvSpPr>
        <p:spPr>
          <a:xfrm>
            <a:off x="4740120" y="6590815"/>
            <a:ext cx="899745" cy="351120"/>
          </a:xfrm>
          <a:prstGeom prst="roundRect">
            <a:avLst>
              <a:gd name="adj" fmla="val 4166"/>
            </a:avLst>
          </a:prstGeom>
          <a:solidFill>
            <a:srgbClr val="FFFFFF"/>
          </a:solidFill>
          <a:ln w="1243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8" name="rect 307"/>
          <p:cNvSpPr/>
          <p:nvPr/>
        </p:nvSpPr>
        <p:spPr>
          <a:xfrm>
            <a:off x="4805955" y="6678595"/>
            <a:ext cx="146300" cy="175560"/>
          </a:xfrm>
          <a:prstGeom prst="rect">
            <a:avLst/>
          </a:prstGeom>
          <a:solidFill>
            <a:srgbClr val="FFFFFF"/>
          </a:solidFill>
          <a:ln w="8778">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9" name="rect 308"/>
          <p:cNvSpPr/>
          <p:nvPr/>
        </p:nvSpPr>
        <p:spPr>
          <a:xfrm>
            <a:off x="5010775" y="6678595"/>
            <a:ext cx="146300" cy="175560"/>
          </a:xfrm>
          <a:prstGeom prst="rect">
            <a:avLst/>
          </a:prstGeom>
          <a:solidFill>
            <a:srgbClr val="FFFFFF"/>
          </a:solidFill>
          <a:ln w="8778">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0" name="rect 309"/>
          <p:cNvSpPr/>
          <p:nvPr/>
        </p:nvSpPr>
        <p:spPr>
          <a:xfrm>
            <a:off x="5215595" y="6678595"/>
            <a:ext cx="146300" cy="175560"/>
          </a:xfrm>
          <a:prstGeom prst="rect">
            <a:avLst/>
          </a:prstGeom>
          <a:solidFill>
            <a:srgbClr val="FFFFFF"/>
          </a:solidFill>
          <a:ln w="8778">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1" name="rect 310"/>
          <p:cNvSpPr/>
          <p:nvPr/>
        </p:nvSpPr>
        <p:spPr>
          <a:xfrm>
            <a:off x="5420415" y="6678595"/>
            <a:ext cx="146300" cy="175560"/>
          </a:xfrm>
          <a:prstGeom prst="rect">
            <a:avLst/>
          </a:prstGeom>
          <a:solidFill>
            <a:srgbClr val="FFFFFF"/>
          </a:solidFill>
          <a:ln w="8778">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2" name="Free list"/>
          <p:cNvSpPr txBox="1"/>
          <p:nvPr/>
        </p:nvSpPr>
        <p:spPr>
          <a:xfrm>
            <a:off x="4740120" y="7011428"/>
            <a:ext cx="824195" cy="217621"/>
          </a:xfrm>
          <a:prstGeom prst="rect">
            <a:avLst/>
          </a:prstGeom>
          <a:noFill/>
          <a:effectLst/>
        </p:spPr>
        <p:txBody>
          <a:bodyPr wrap="none" lIns="0" rIns="0" tIns="0" bIns="0" anchor="t">
            <a:spAutoFit/>
          </a:bodyPr>
          <a:lstStyle/>
          <a:p>
            <a:pPr algn="l">
              <a:lnSpc>
                <a:spcPct val="100000"/>
              </a:lnSpc>
              <a:spcBef>
                <a:spcPts val="0"/>
              </a:spcBef>
              <a:spcAft>
                <a:spcPts val="0"/>
              </a:spcAft>
            </a:pPr>
            <a:r>
              <a:rPr sz="1267" b="1" i="0" lang="en-US" spc="0">
                <a:solidFill>
                  <a:srgbClr val="181818"/>
                </a:solidFill>
                <a:latin typeface="DejaVu Sans"/>
                <a:ea typeface="DejaVu Sans"/>
                <a:effectLst/>
              </a:rPr>
              <a:t>Free list</a:t>
            </a:r>
          </a:p>
        </p:txBody>
      </p:sp>
      <p:cxnSp>
        <p:nvCxnSpPr>
          <p:cNvPr id="313" name="path 312"/>
          <p:cNvCxnSpPr/>
          <p:nvPr/>
        </p:nvCxnSpPr>
        <p:spPr>
          <a:xfrm>
            <a:off x="5676440" y="6751745"/>
            <a:ext cx="694925" cy="0"/>
          </a:xfrm>
          <a:prstGeom prst="line">
            <a:avLst/>
          </a:prstGeom>
          <a:ln w="19019">
            <a:solidFill>
              <a:srgbClr val="BF3335"/>
            </a:solidFill>
          </a:ln>
          <a:effectLst/>
        </p:spPr>
        <p:style>
          <a:lnRef idx="2">
            <a:schemeClr val="accent1"/>
          </a:lnRef>
          <a:fillRef idx="0">
            <a:schemeClr val="accent1"/>
          </a:fillRef>
          <a:effectRef idx="0">
            <a:schemeClr val="accent1"/>
          </a:effectRef>
          <a:fontRef idx="minor">
            <a:schemeClr val="tx1"/>
          </a:fontRef>
        </p:style>
      </p:cxnSp>
      <p:sp>
        <p:nvSpPr>
          <p:cNvPr id="314" name="arrowhead 313"/>
          <p:cNvSpPr/>
          <p:nvPr/>
        </p:nvSpPr>
        <p:spPr>
          <a:xfrm>
            <a:off x="6261640" y="6685910"/>
            <a:ext cx="131670" cy="131670"/>
          </a:xfrm>
          <a:custGeom>
            <a:avLst/>
            <a:gdLst/>
            <a:ahLst/>
            <a:cxnLst/>
            <a:rect l="l" t="t" r="r" b="b"/>
            <a:pathLst>
              <a:path w="18" h="18">
                <a:moveTo>
                  <a:pt x="18" y="9"/>
                </a:moveTo>
                <a:lnTo>
                  <a:pt x="0" y="18"/>
                </a:lnTo>
                <a:lnTo>
                  <a:pt x="0" y="0"/>
                </a:lnTo>
                <a:close/>
              </a:path>
            </a:pathLst>
          </a:custGeom>
          <a:solidFill>
            <a:srgbClr val="BF333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5" name="rect 314"/>
          <p:cNvSpPr/>
          <p:nvPr/>
        </p:nvSpPr>
        <p:spPr>
          <a:xfrm>
            <a:off x="6481090" y="6605445"/>
            <a:ext cx="365750" cy="314545"/>
          </a:xfrm>
          <a:prstGeom prst="roundRect">
            <a:avLst>
              <a:gd name="adj" fmla="val 2325"/>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6" name="q0"/>
          <p:cNvSpPr txBox="1"/>
          <p:nvPr/>
        </p:nvSpPr>
        <p:spPr>
          <a:xfrm>
            <a:off x="6511650" y="6672304"/>
            <a:ext cx="304630" cy="208478"/>
          </a:xfrm>
          <a:prstGeom prst="rect">
            <a:avLst/>
          </a:prstGeom>
          <a:noFill/>
          <a:effectLst/>
        </p:spPr>
        <p:txBody>
          <a:bodyPr wrap="none" lIns="0" rIns="0" tIns="0" bIns="0" anchor="t">
            <a:spAutoFit/>
          </a:bodyPr>
          <a:lstStyle/>
          <a:p>
            <a:pPr algn="ctr">
              <a:lnSpc>
                <a:spcPct val="100000"/>
              </a:lnSpc>
              <a:spcBef>
                <a:spcPts val="0"/>
              </a:spcBef>
              <a:spcAft>
                <a:spcPts val="0"/>
              </a:spcAft>
            </a:pPr>
            <a:r>
              <a:rPr sz="1209" b="1" i="0" lang="en-US" spc="0">
                <a:solidFill>
                  <a:srgbClr val="181818"/>
                </a:solidFill>
                <a:latin typeface="DejaVu Sans"/>
                <a:ea typeface="DejaVu Sans"/>
                <a:effectLst/>
              </a:rPr>
              <a:t>q0</a:t>
            </a:r>
          </a:p>
        </p:txBody>
      </p:sp>
      <p:sp>
        <p:nvSpPr>
          <p:cNvPr id="317" name="rect 316"/>
          <p:cNvSpPr/>
          <p:nvPr/>
        </p:nvSpPr>
        <p:spPr>
          <a:xfrm>
            <a:off x="6927305" y="6605445"/>
            <a:ext cx="365750" cy="314545"/>
          </a:xfrm>
          <a:prstGeom prst="roundRect">
            <a:avLst>
              <a:gd name="adj" fmla="val 2325"/>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8" name="q1"/>
          <p:cNvSpPr txBox="1"/>
          <p:nvPr/>
        </p:nvSpPr>
        <p:spPr>
          <a:xfrm>
            <a:off x="6957865" y="6672304"/>
            <a:ext cx="304630" cy="208478"/>
          </a:xfrm>
          <a:prstGeom prst="rect">
            <a:avLst/>
          </a:prstGeom>
          <a:noFill/>
          <a:effectLst/>
        </p:spPr>
        <p:txBody>
          <a:bodyPr wrap="none" lIns="0" rIns="0" tIns="0" bIns="0" anchor="t">
            <a:spAutoFit/>
          </a:bodyPr>
          <a:lstStyle/>
          <a:p>
            <a:pPr algn="ctr">
              <a:lnSpc>
                <a:spcPct val="100000"/>
              </a:lnSpc>
              <a:spcBef>
                <a:spcPts val="0"/>
              </a:spcBef>
              <a:spcAft>
                <a:spcPts val="0"/>
              </a:spcAft>
            </a:pPr>
            <a:r>
              <a:rPr sz="1209" b="1" i="0" lang="en-US" spc="0">
                <a:solidFill>
                  <a:srgbClr val="181818"/>
                </a:solidFill>
                <a:latin typeface="DejaVu Sans"/>
                <a:ea typeface="DejaVu Sans"/>
                <a:effectLst/>
              </a:rPr>
              <a:t>q1</a:t>
            </a:r>
          </a:p>
        </p:txBody>
      </p:sp>
      <p:sp>
        <p:nvSpPr>
          <p:cNvPr id="319" name="rect 318"/>
          <p:cNvSpPr/>
          <p:nvPr/>
        </p:nvSpPr>
        <p:spPr>
          <a:xfrm>
            <a:off x="7373520" y="6605445"/>
            <a:ext cx="365750" cy="314545"/>
          </a:xfrm>
          <a:prstGeom prst="roundRect">
            <a:avLst>
              <a:gd name="adj" fmla="val 2325"/>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0" name="q2"/>
          <p:cNvSpPr txBox="1"/>
          <p:nvPr/>
        </p:nvSpPr>
        <p:spPr>
          <a:xfrm>
            <a:off x="7404080" y="6672304"/>
            <a:ext cx="304630" cy="208478"/>
          </a:xfrm>
          <a:prstGeom prst="rect">
            <a:avLst/>
          </a:prstGeom>
          <a:noFill/>
          <a:effectLst/>
        </p:spPr>
        <p:txBody>
          <a:bodyPr wrap="none" lIns="0" rIns="0" tIns="0" bIns="0" anchor="t">
            <a:spAutoFit/>
          </a:bodyPr>
          <a:lstStyle/>
          <a:p>
            <a:pPr algn="ctr">
              <a:lnSpc>
                <a:spcPct val="100000"/>
              </a:lnSpc>
              <a:spcBef>
                <a:spcPts val="0"/>
              </a:spcBef>
              <a:spcAft>
                <a:spcPts val="0"/>
              </a:spcAft>
            </a:pPr>
            <a:r>
              <a:rPr sz="1209" b="1" i="0" lang="en-US" spc="0">
                <a:solidFill>
                  <a:srgbClr val="181818"/>
                </a:solidFill>
                <a:latin typeface="DejaVu Sans"/>
                <a:ea typeface="DejaVu Sans"/>
                <a:effectLst/>
              </a:rPr>
              <a:t>q2</a:t>
            </a:r>
          </a:p>
        </p:txBody>
      </p:sp>
      <p:sp>
        <p:nvSpPr>
          <p:cNvPr id="321" name="Parent KV"/>
          <p:cNvSpPr txBox="1"/>
          <p:nvPr/>
        </p:nvSpPr>
        <p:spPr>
          <a:xfrm>
            <a:off x="6539610" y="6989482"/>
            <a:ext cx="1036558" cy="226765"/>
          </a:xfrm>
          <a:prstGeom prst="rect">
            <a:avLst/>
          </a:prstGeom>
          <a:noFill/>
          <a:effectLst/>
        </p:spPr>
        <p:txBody>
          <a:bodyPr wrap="none" lIns="0" rIns="0" tIns="0" bIns="0" anchor="t">
            <a:spAutoFit/>
          </a:bodyPr>
          <a:lstStyle/>
          <a:p>
            <a:pPr algn="l">
              <a:lnSpc>
                <a:spcPct val="100000"/>
              </a:lnSpc>
              <a:spcBef>
                <a:spcPts val="0"/>
              </a:spcBef>
              <a:spcAft>
                <a:spcPts val="0"/>
              </a:spcAft>
            </a:pPr>
            <a:r>
              <a:rPr sz="1324" b="1" i="0" lang="en-US" spc="0">
                <a:solidFill>
                  <a:srgbClr val="181818"/>
                </a:solidFill>
                <a:latin typeface="DejaVu Sans"/>
                <a:ea typeface="DejaVu Sans"/>
                <a:effectLst/>
              </a:rPr>
              <a:t>Parent KV</a:t>
            </a:r>
          </a:p>
        </p:txBody>
      </p:sp>
      <p:cxnSp>
        <p:nvCxnSpPr>
          <p:cNvPr id="322" name="line 321"/>
          <p:cNvCxnSpPr/>
          <p:nvPr/>
        </p:nvCxnSpPr>
        <p:spPr>
          <a:xfrm>
            <a:off x="6810265" y="7402780"/>
            <a:ext cx="0" cy="936320"/>
          </a:xfrm>
          <a:prstGeom prst="line">
            <a:avLst/>
          </a:prstGeom>
          <a:ln w="12435">
            <a:solidFill>
              <a:srgbClr val="969696"/>
            </a:solidFill>
            <a:prstDash val="dash"/>
          </a:ln>
          <a:effectLst/>
        </p:spPr>
        <p:style>
          <a:lnRef idx="2">
            <a:schemeClr val="accent1"/>
          </a:lnRef>
          <a:fillRef idx="0">
            <a:schemeClr val="accent1"/>
          </a:fillRef>
          <a:effectRef idx="0">
            <a:schemeClr val="accent1"/>
          </a:effectRef>
          <a:fontRef idx="minor">
            <a:schemeClr val="tx1"/>
          </a:fontRef>
        </p:style>
      </p:cxnSp>
      <p:sp>
        <p:nvSpPr>
          <p:cNvPr id="323" name="RETURN"/>
          <p:cNvSpPr txBox="1"/>
          <p:nvPr/>
        </p:nvSpPr>
        <p:spPr>
          <a:xfrm>
            <a:off x="6890730" y="7391808"/>
            <a:ext cx="787363" cy="208478"/>
          </a:xfrm>
          <a:prstGeom prst="rect">
            <a:avLst/>
          </a:prstGeom>
          <a:noFill/>
          <a:effectLst/>
        </p:spPr>
        <p:txBody>
          <a:bodyPr wrap="none" lIns="0" rIns="0" tIns="0" bIns="0" anchor="t">
            <a:spAutoFit/>
          </a:bodyPr>
          <a:lstStyle/>
          <a:p>
            <a:pPr algn="l">
              <a:lnSpc>
                <a:spcPct val="100000"/>
              </a:lnSpc>
              <a:spcBef>
                <a:spcPts val="0"/>
              </a:spcBef>
              <a:spcAft>
                <a:spcPts val="0"/>
              </a:spcAft>
            </a:pPr>
            <a:r>
              <a:rPr sz="1209" b="1" i="0" lang="en-US" spc="0">
                <a:solidFill>
                  <a:srgbClr val="181818"/>
                </a:solidFill>
                <a:latin typeface="DejaVu Sans"/>
                <a:ea typeface="DejaVu Sans"/>
                <a:effectLst/>
              </a:rPr>
              <a:t>RETURN</a:t>
            </a:r>
          </a:p>
        </p:txBody>
      </p:sp>
      <p:sp>
        <p:nvSpPr>
          <p:cNvPr id="324" name="rect 323"/>
          <p:cNvSpPr/>
          <p:nvPr/>
        </p:nvSpPr>
        <p:spPr>
          <a:xfrm>
            <a:off x="2713865" y="8061130"/>
            <a:ext cx="4096400" cy="234080"/>
          </a:xfrm>
          <a:prstGeom prst="roundRect">
            <a:avLst>
              <a:gd name="adj" fmla="val 3125"/>
            </a:avLst>
          </a:prstGeom>
          <a:solidFill>
            <a:srgbClr val="F2BD7D"/>
          </a:solidFill>
          <a:ln w="11704">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5" name="C2: decode"/>
          <p:cNvSpPr txBox="1"/>
          <p:nvPr/>
        </p:nvSpPr>
        <p:spPr>
          <a:xfrm>
            <a:off x="4074541" y="8072102"/>
            <a:ext cx="1038559" cy="226765"/>
          </a:xfrm>
          <a:prstGeom prst="rect">
            <a:avLst/>
          </a:prstGeom>
          <a:noFill/>
          <a:effectLst/>
        </p:spPr>
        <p:txBody>
          <a:bodyPr wrap="none" lIns="0" rIns="0" tIns="0" bIns="0" anchor="t">
            <a:spAutoFit/>
          </a:bodyPr>
          <a:lstStyle/>
          <a:p>
            <a:pPr algn="ctr">
              <a:lnSpc>
                <a:spcPct val="100000"/>
              </a:lnSpc>
              <a:spcBef>
                <a:spcPts val="0"/>
              </a:spcBef>
              <a:spcAft>
                <a:spcPts val="0"/>
              </a:spcAft>
            </a:pPr>
            <a:r>
              <a:rPr sz="1324" b="0" i="0" lang="en-US" spc="0">
                <a:solidFill>
                  <a:srgbClr val="181818"/>
                </a:solidFill>
                <a:latin typeface="DejaVu Sans"/>
                <a:ea typeface="DejaVu Sans"/>
                <a:effectLst/>
              </a:rPr>
              <a:t>C2: decode</a:t>
            </a:r>
          </a:p>
        </p:txBody>
      </p:sp>
      <p:sp>
        <p:nvSpPr>
          <p:cNvPr id="326" name="rect 325"/>
          <p:cNvSpPr/>
          <p:nvPr/>
        </p:nvSpPr>
        <p:spPr>
          <a:xfrm>
            <a:off x="5274115" y="7666120"/>
            <a:ext cx="1324015" cy="241395"/>
          </a:xfrm>
          <a:prstGeom prst="roundRect">
            <a:avLst>
              <a:gd name="adj" fmla="val 3030"/>
            </a:avLst>
          </a:prstGeom>
          <a:solidFill>
            <a:srgbClr val="F5D460"/>
          </a:solidFill>
          <a:ln w="10972">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7" name="H2D"/>
          <p:cNvSpPr txBox="1"/>
          <p:nvPr/>
        </p:nvSpPr>
        <p:spPr>
          <a:xfrm>
            <a:off x="5699128" y="7677092"/>
            <a:ext cx="466674" cy="235909"/>
          </a:xfrm>
          <a:prstGeom prst="rect">
            <a:avLst/>
          </a:prstGeom>
          <a:noFill/>
          <a:effectLst/>
        </p:spPr>
        <p:txBody>
          <a:bodyPr wrap="none" lIns="0" rIns="0" tIns="0" bIns="0" anchor="t">
            <a:spAutoFit/>
          </a:bodyPr>
          <a:lstStyle/>
          <a:p>
            <a:pPr algn="ctr">
              <a:lnSpc>
                <a:spcPct val="100000"/>
              </a:lnSpc>
              <a:spcBef>
                <a:spcPts val="0"/>
              </a:spcBef>
              <a:spcAft>
                <a:spcPts val="0"/>
              </a:spcAft>
            </a:pPr>
            <a:r>
              <a:rPr sz="1382" b="0" i="0" lang="en-US" spc="0">
                <a:solidFill>
                  <a:srgbClr val="181818"/>
                </a:solidFill>
                <a:latin typeface="DejaVu Sans"/>
                <a:ea typeface="DejaVu Sans"/>
                <a:effectLst/>
              </a:rPr>
              <a:t>H2D</a:t>
            </a:r>
          </a:p>
        </p:txBody>
      </p:sp>
      <p:sp>
        <p:nvSpPr>
          <p:cNvPr id="328" name="rect 327"/>
          <p:cNvSpPr/>
          <p:nvPr/>
        </p:nvSpPr>
        <p:spPr>
          <a:xfrm>
            <a:off x="6824895" y="7666120"/>
            <a:ext cx="1082620" cy="241395"/>
          </a:xfrm>
          <a:prstGeom prst="roundRect">
            <a:avLst>
              <a:gd name="adj" fmla="val 3030"/>
            </a:avLst>
          </a:prstGeom>
          <a:solidFill>
            <a:srgbClr val="DDDDDD"/>
          </a:solidFill>
          <a:ln w="10972">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9" name="demand"/>
          <p:cNvSpPr txBox="1"/>
          <p:nvPr/>
        </p:nvSpPr>
        <p:spPr>
          <a:xfrm>
            <a:off x="7006970" y="7699038"/>
            <a:ext cx="718470" cy="208478"/>
          </a:xfrm>
          <a:prstGeom prst="rect">
            <a:avLst/>
          </a:prstGeom>
          <a:noFill/>
          <a:effectLst/>
        </p:spPr>
        <p:txBody>
          <a:bodyPr wrap="none" lIns="0" rIns="0" tIns="0" bIns="0" anchor="t">
            <a:spAutoFit/>
          </a:bodyPr>
          <a:lstStyle/>
          <a:p>
            <a:pPr algn="ctr">
              <a:lnSpc>
                <a:spcPct val="100000"/>
              </a:lnSpc>
              <a:spcBef>
                <a:spcPts val="0"/>
              </a:spcBef>
              <a:spcAft>
                <a:spcPts val="0"/>
              </a:spcAft>
            </a:pPr>
            <a:r>
              <a:rPr sz="1209" b="0" i="0" lang="en-US" spc="0">
                <a:solidFill>
                  <a:srgbClr val="181818"/>
                </a:solidFill>
                <a:latin typeface="DejaVu Sans"/>
                <a:ea typeface="DejaVu Sans"/>
                <a:effectLst/>
              </a:rPr>
              <a:t>demand</a:t>
            </a:r>
          </a:p>
        </p:txBody>
      </p:sp>
      <p:sp>
        <p:nvSpPr>
          <p:cNvPr id="330" name="path 329"/>
          <p:cNvSpPr/>
          <p:nvPr/>
        </p:nvSpPr>
        <p:spPr>
          <a:xfrm>
            <a:off x="4498725" y="6883415"/>
            <a:ext cx="1433740" cy="753445"/>
          </a:xfrm>
          <a:custGeom>
            <a:avLst/>
            <a:gdLst/>
            <a:ahLst/>
            <a:cxnLst/>
            <a:rect l="l" t="t" r="r" b="b"/>
            <a:pathLst>
              <a:path w="196" h="103">
                <a:moveTo>
                  <a:pt x="33" y="0"/>
                </a:moveTo>
                <a:lnTo>
                  <a:pt x="0" y="0"/>
                </a:lnTo>
                <a:lnTo>
                  <a:pt x="0" y="60"/>
                </a:lnTo>
                <a:lnTo>
                  <a:pt x="196" y="60"/>
                </a:lnTo>
                <a:lnTo>
                  <a:pt x="196" y="103"/>
                </a:lnTo>
              </a:path>
            </a:pathLst>
          </a:custGeom>
          <a:noFill/>
          <a:ln w="19019">
            <a:solidFill>
              <a:srgbClr val="BF333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1" name="arrowhead 330"/>
          <p:cNvSpPr/>
          <p:nvPr/>
        </p:nvSpPr>
        <p:spPr>
          <a:xfrm>
            <a:off x="5866630" y="7527135"/>
            <a:ext cx="131670" cy="131670"/>
          </a:xfrm>
          <a:custGeom>
            <a:avLst/>
            <a:gdLst/>
            <a:ahLst/>
            <a:cxnLst/>
            <a:rect l="l" t="t" r="r" b="b"/>
            <a:pathLst>
              <a:path w="18" h="18">
                <a:moveTo>
                  <a:pt x="9" y="18"/>
                </a:moveTo>
                <a:lnTo>
                  <a:pt x="0" y="0"/>
                </a:lnTo>
                <a:lnTo>
                  <a:pt x="18" y="0"/>
                </a:lnTo>
                <a:close/>
              </a:path>
            </a:pathLst>
          </a:custGeom>
          <a:solidFill>
            <a:srgbClr val="BF333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2" name="path 331"/>
          <p:cNvSpPr/>
          <p:nvPr/>
        </p:nvSpPr>
        <p:spPr>
          <a:xfrm>
            <a:off x="1792175" y="8156225"/>
            <a:ext cx="65835" cy="51205"/>
          </a:xfrm>
          <a:custGeom>
            <a:avLst/>
            <a:gdLst/>
            <a:ahLst/>
            <a:cxnLst/>
            <a:rect l="l" t="t" r="r" b="b"/>
            <a:pathLst>
              <a:path w="9" h="7">
                <a:moveTo>
                  <a:pt x="0" y="7"/>
                </a:moveTo>
                <a:lnTo>
                  <a:pt x="0" y="0"/>
                </a:lnTo>
                <a:lnTo>
                  <a:pt x="9" y="0"/>
                </a:lnTo>
                <a:lnTo>
                  <a:pt x="9" y="7"/>
                </a:lnTo>
              </a:path>
            </a:pathLst>
          </a:custGeom>
          <a:noFill/>
          <a:ln w="14630">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3" name="rect 332"/>
          <p:cNvSpPr/>
          <p:nvPr/>
        </p:nvSpPr>
        <p:spPr>
          <a:xfrm>
            <a:off x="1770230" y="8210722"/>
            <a:ext cx="114114" cy="95095"/>
          </a:xfrm>
          <a:prstGeom prst="roundRect">
            <a:avLst>
              <a:gd name="adj" fmla="val 15384"/>
            </a:avLst>
          </a:prstGeom>
          <a:solidFill>
            <a:srgbClr val="FFFFF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4" name="circle 333"/>
          <p:cNvSpPr/>
          <p:nvPr/>
        </p:nvSpPr>
        <p:spPr>
          <a:xfrm>
            <a:off x="1817778" y="8239250"/>
            <a:ext cx="19019" cy="19019"/>
          </a:xfrm>
          <a:prstGeom prst="ellipse">
            <a:avLst/>
          </a:prstGeom>
          <a:solidFill>
            <a:srgbClr val="181818"/>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5" name="rect 334"/>
          <p:cNvSpPr/>
          <p:nvPr/>
        </p:nvSpPr>
        <p:spPr>
          <a:xfrm>
            <a:off x="8412250" y="6071450"/>
            <a:ext cx="4462150" cy="2384690"/>
          </a:xfrm>
          <a:prstGeom prst="roundRect">
            <a:avLst>
              <a:gd name="adj" fmla="val 613"/>
            </a:avLst>
          </a:prstGeom>
          <a:solidFill>
            <a:srgbClr val="EEEEEE"/>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6" name="rect 335"/>
          <p:cNvSpPr/>
          <p:nvPr/>
        </p:nvSpPr>
        <p:spPr>
          <a:xfrm>
            <a:off x="8412250" y="6071450"/>
            <a:ext cx="4462150" cy="277970"/>
          </a:xfrm>
          <a:prstGeom prst="roundRect">
            <a:avLst>
              <a:gd name="adj" fmla="val 5263"/>
            </a:avLst>
          </a:prstGeom>
          <a:solidFill>
            <a:srgbClr val="9DC38B"/>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7" name="(e) Residency and consumption"/>
          <p:cNvSpPr txBox="1"/>
          <p:nvPr/>
        </p:nvSpPr>
        <p:spPr>
          <a:xfrm>
            <a:off x="8514660" y="6094200"/>
            <a:ext cx="3464310" cy="252368"/>
          </a:xfrm>
          <a:prstGeom prst="rect">
            <a:avLst/>
          </a:prstGeom>
          <a:noFill/>
          <a:effectLst/>
        </p:spPr>
        <p:txBody>
          <a:bodyPr wrap="none" lIns="0" rIns="0" tIns="0" bIns="0" anchor="t">
            <a:spAutoFit/>
          </a:bodyPr>
          <a:lstStyle/>
          <a:p>
            <a:pPr algn="l">
              <a:lnSpc>
                <a:spcPct val="100000"/>
              </a:lnSpc>
              <a:spcBef>
                <a:spcPts val="0"/>
              </a:spcBef>
              <a:spcAft>
                <a:spcPts val="0"/>
              </a:spcAft>
            </a:pPr>
            <a:r>
              <a:rPr sz="1497" b="1" i="0" lang="en-US" spc="0">
                <a:solidFill>
                  <a:srgbClr val="181818"/>
                </a:solidFill>
                <a:latin typeface="DejaVu Sans"/>
                <a:ea typeface="DejaVu Sans"/>
                <a:effectLst/>
              </a:rPr>
              <a:t>(e) Residency and consumption</a:t>
            </a:r>
          </a:p>
        </p:txBody>
      </p:sp>
      <p:sp>
        <p:nvSpPr>
          <p:cNvPr id="338" name="ACK"/>
          <p:cNvSpPr txBox="1"/>
          <p:nvPr/>
        </p:nvSpPr>
        <p:spPr>
          <a:xfrm>
            <a:off x="8602440" y="6382338"/>
            <a:ext cx="398182" cy="208478"/>
          </a:xfrm>
          <a:prstGeom prst="rect">
            <a:avLst/>
          </a:prstGeom>
          <a:noFill/>
          <a:effectLst/>
        </p:spPr>
        <p:txBody>
          <a:bodyPr wrap="none" lIns="0" rIns="0" tIns="0" bIns="0" anchor="t">
            <a:spAutoFit/>
          </a:bodyPr>
          <a:lstStyle/>
          <a:p>
            <a:pPr algn="l">
              <a:lnSpc>
                <a:spcPct val="100000"/>
              </a:lnSpc>
              <a:spcBef>
                <a:spcPts val="0"/>
              </a:spcBef>
              <a:spcAft>
                <a:spcPts val="0"/>
              </a:spcAft>
            </a:pPr>
            <a:r>
              <a:rPr sz="1209" b="0" i="0" lang="en-US" spc="0">
                <a:solidFill>
                  <a:srgbClr val="2676B8"/>
                </a:solidFill>
                <a:latin typeface="DejaVu Sans"/>
                <a:ea typeface="DejaVu Sans"/>
                <a:effectLst/>
              </a:rPr>
              <a:t>ACK</a:t>
            </a:r>
          </a:p>
        </p:txBody>
      </p:sp>
      <p:cxnSp>
        <p:nvCxnSpPr>
          <p:cNvPr id="339" name="path 338"/>
          <p:cNvCxnSpPr/>
          <p:nvPr/>
        </p:nvCxnSpPr>
        <p:spPr>
          <a:xfrm>
            <a:off x="9004765" y="6473775"/>
            <a:ext cx="314545" cy="0"/>
          </a:xfrm>
          <a:prstGeom prst="line">
            <a:avLst/>
          </a:prstGeom>
          <a:ln w="11704">
            <a:solidFill>
              <a:srgbClr val="181818"/>
            </a:solidFill>
          </a:ln>
          <a:effectLst/>
        </p:spPr>
        <p:style>
          <a:lnRef idx="2">
            <a:schemeClr val="accent1"/>
          </a:lnRef>
          <a:fillRef idx="0">
            <a:schemeClr val="accent1"/>
          </a:fillRef>
          <a:effectRef idx="0">
            <a:schemeClr val="accent1"/>
          </a:effectRef>
          <a:fontRef idx="minor">
            <a:schemeClr val="tx1"/>
          </a:fontRef>
        </p:style>
      </p:cxnSp>
      <p:sp>
        <p:nvSpPr>
          <p:cNvPr id="340" name="arrowhead 339"/>
          <p:cNvSpPr/>
          <p:nvPr/>
        </p:nvSpPr>
        <p:spPr>
          <a:xfrm>
            <a:off x="9246160" y="6429885"/>
            <a:ext cx="87780" cy="87780"/>
          </a:xfrm>
          <a:custGeom>
            <a:avLst/>
            <a:gdLst/>
            <a:ahLst/>
            <a:cxnLst/>
            <a:rect l="l" t="t" r="r" b="b"/>
            <a:pathLst>
              <a:path w="12" h="12">
                <a:moveTo>
                  <a:pt x="12" y="6"/>
                </a:moveTo>
                <a:lnTo>
                  <a:pt x="0" y="12"/>
                </a:lnTo>
                <a:lnTo>
                  <a:pt x="0" y="0"/>
                </a:lnTo>
                <a:close/>
              </a:path>
            </a:pathLst>
          </a:custGeom>
          <a:solidFill>
            <a:srgbClr val="18181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1" name="path 340"/>
          <p:cNvSpPr/>
          <p:nvPr/>
        </p:nvSpPr>
        <p:spPr>
          <a:xfrm>
            <a:off x="9421720" y="6342105"/>
            <a:ext cx="65835" cy="51205"/>
          </a:xfrm>
          <a:custGeom>
            <a:avLst/>
            <a:gdLst/>
            <a:ahLst/>
            <a:cxnLst/>
            <a:rect l="l" t="t" r="r" b="b"/>
            <a:pathLst>
              <a:path w="9" h="7">
                <a:moveTo>
                  <a:pt x="0" y="7"/>
                </a:moveTo>
                <a:lnTo>
                  <a:pt x="0" y="0"/>
                </a:lnTo>
                <a:lnTo>
                  <a:pt x="9" y="0"/>
                </a:lnTo>
                <a:lnTo>
                  <a:pt x="9" y="7"/>
                </a:lnTo>
              </a:path>
            </a:pathLst>
          </a:custGeom>
          <a:noFill/>
          <a:ln w="14630">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2" name="rect 341"/>
          <p:cNvSpPr/>
          <p:nvPr/>
        </p:nvSpPr>
        <p:spPr>
          <a:xfrm>
            <a:off x="9399775" y="6396602"/>
            <a:ext cx="114114" cy="95095"/>
          </a:xfrm>
          <a:prstGeom prst="roundRect">
            <a:avLst>
              <a:gd name="adj" fmla="val 15384"/>
            </a:avLst>
          </a:prstGeom>
          <a:solidFill>
            <a:srgbClr val="FFFFF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3" name="circle 342"/>
          <p:cNvSpPr/>
          <p:nvPr/>
        </p:nvSpPr>
        <p:spPr>
          <a:xfrm>
            <a:off x="9447322" y="6425130"/>
            <a:ext cx="19019" cy="19019"/>
          </a:xfrm>
          <a:prstGeom prst="ellipse">
            <a:avLst/>
          </a:prstGeom>
          <a:solidFill>
            <a:srgbClr val="181818"/>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4" name="lease"/>
          <p:cNvSpPr txBox="1"/>
          <p:nvPr/>
        </p:nvSpPr>
        <p:spPr>
          <a:xfrm>
            <a:off x="9582650" y="6382338"/>
            <a:ext cx="493677" cy="208478"/>
          </a:xfrm>
          <a:prstGeom prst="rect">
            <a:avLst/>
          </a:prstGeom>
          <a:noFill/>
          <a:effectLst/>
        </p:spPr>
        <p:txBody>
          <a:bodyPr wrap="none" lIns="0" rIns="0" tIns="0" bIns="0" anchor="t">
            <a:spAutoFit/>
          </a:bodyPr>
          <a:lstStyle/>
          <a:p>
            <a:pPr algn="l">
              <a:lnSpc>
                <a:spcPct val="100000"/>
              </a:lnSpc>
              <a:spcBef>
                <a:spcPts val="0"/>
              </a:spcBef>
              <a:spcAft>
                <a:spcPts val="0"/>
              </a:spcAft>
            </a:pPr>
            <a:r>
              <a:rPr sz="1209" b="0" i="0" lang="en-US" spc="0">
                <a:solidFill>
                  <a:srgbClr val="181818"/>
                </a:solidFill>
                <a:latin typeface="DejaVu Sans"/>
                <a:ea typeface="DejaVu Sans"/>
                <a:effectLst/>
              </a:rPr>
              <a:t>lease</a:t>
            </a:r>
          </a:p>
        </p:txBody>
      </p:sp>
      <p:cxnSp>
        <p:nvCxnSpPr>
          <p:cNvPr id="345" name="path 344"/>
          <p:cNvCxnSpPr/>
          <p:nvPr/>
        </p:nvCxnSpPr>
        <p:spPr>
          <a:xfrm>
            <a:off x="10036180" y="6473775"/>
            <a:ext cx="285285" cy="0"/>
          </a:xfrm>
          <a:prstGeom prst="line">
            <a:avLst/>
          </a:prstGeom>
          <a:ln w="11704">
            <a:solidFill>
              <a:srgbClr val="181818"/>
            </a:solidFill>
          </a:ln>
          <a:effectLst/>
        </p:spPr>
        <p:style>
          <a:lnRef idx="2">
            <a:schemeClr val="accent1"/>
          </a:lnRef>
          <a:fillRef idx="0">
            <a:schemeClr val="accent1"/>
          </a:fillRef>
          <a:effectRef idx="0">
            <a:schemeClr val="accent1"/>
          </a:effectRef>
          <a:fontRef idx="minor">
            <a:schemeClr val="tx1"/>
          </a:fontRef>
        </p:style>
      </p:cxnSp>
      <p:sp>
        <p:nvSpPr>
          <p:cNvPr id="346" name="arrowhead 345"/>
          <p:cNvSpPr/>
          <p:nvPr/>
        </p:nvSpPr>
        <p:spPr>
          <a:xfrm>
            <a:off x="10248315" y="6429885"/>
            <a:ext cx="87780" cy="87780"/>
          </a:xfrm>
          <a:custGeom>
            <a:avLst/>
            <a:gdLst/>
            <a:ahLst/>
            <a:cxnLst/>
            <a:rect l="l" t="t" r="r" b="b"/>
            <a:pathLst>
              <a:path w="12" h="12">
                <a:moveTo>
                  <a:pt x="12" y="6"/>
                </a:moveTo>
                <a:lnTo>
                  <a:pt x="0" y="12"/>
                </a:lnTo>
                <a:lnTo>
                  <a:pt x="0" y="0"/>
                </a:lnTo>
                <a:close/>
              </a:path>
            </a:pathLst>
          </a:custGeom>
          <a:solidFill>
            <a:srgbClr val="18181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7" name="use / expiry"/>
          <p:cNvSpPr txBox="1"/>
          <p:nvPr/>
        </p:nvSpPr>
        <p:spPr>
          <a:xfrm>
            <a:off x="10445820" y="6382338"/>
            <a:ext cx="986153" cy="208478"/>
          </a:xfrm>
          <a:prstGeom prst="rect">
            <a:avLst/>
          </a:prstGeom>
          <a:noFill/>
          <a:effectLst/>
        </p:spPr>
        <p:txBody>
          <a:bodyPr wrap="none" lIns="0" rIns="0" tIns="0" bIns="0" anchor="t">
            <a:spAutoFit/>
          </a:bodyPr>
          <a:lstStyle/>
          <a:p>
            <a:pPr algn="l">
              <a:lnSpc>
                <a:spcPct val="100000"/>
              </a:lnSpc>
              <a:spcBef>
                <a:spcPts val="0"/>
              </a:spcBef>
              <a:spcAft>
                <a:spcPts val="0"/>
              </a:spcAft>
            </a:pPr>
            <a:r>
              <a:rPr sz="1209" b="0" i="0" lang="en-US" spc="0">
                <a:solidFill>
                  <a:srgbClr val="181818"/>
                </a:solidFill>
                <a:latin typeface="DejaVu Sans"/>
                <a:ea typeface="DejaVu Sans"/>
                <a:effectLst/>
              </a:rPr>
              <a:t>use / expiry</a:t>
            </a:r>
          </a:p>
        </p:txBody>
      </p:sp>
      <p:sp>
        <p:nvSpPr>
          <p:cNvPr id="348" name="circle 347"/>
          <p:cNvSpPr/>
          <p:nvPr/>
        </p:nvSpPr>
        <p:spPr>
          <a:xfrm>
            <a:off x="12069750" y="6364050"/>
            <a:ext cx="190190" cy="190190"/>
          </a:xfrm>
          <a:prstGeom prst="ellipse">
            <a:avLst/>
          </a:prstGeom>
          <a:solidFill>
            <a:srgbClr val="FFFFF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9" name="path 348"/>
          <p:cNvSpPr/>
          <p:nvPr/>
        </p:nvSpPr>
        <p:spPr>
          <a:xfrm>
            <a:off x="12164845" y="6400625"/>
            <a:ext cx="51205" cy="80465"/>
          </a:xfrm>
          <a:custGeom>
            <a:avLst/>
            <a:gdLst/>
            <a:ahLst/>
            <a:cxnLst/>
            <a:rect l="l" t="t" r="r" b="b"/>
            <a:pathLst>
              <a:path w="7" h="11">
                <a:moveTo>
                  <a:pt x="0" y="0"/>
                </a:moveTo>
                <a:lnTo>
                  <a:pt x="0" y="8"/>
                </a:lnTo>
                <a:lnTo>
                  <a:pt x="7" y="11"/>
                </a:lnTo>
              </a:path>
            </a:pathLst>
          </a:custGeom>
          <a:noFill/>
          <a:ln w="14630">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0" name="rect 349"/>
          <p:cNvSpPr/>
          <p:nvPr/>
        </p:nvSpPr>
        <p:spPr>
          <a:xfrm>
            <a:off x="8639015" y="6627390"/>
            <a:ext cx="1433740" cy="380380"/>
          </a:xfrm>
          <a:prstGeom prst="roundRect">
            <a:avLst>
              <a:gd name="adj" fmla="val 3846"/>
            </a:avLst>
          </a:prstGeom>
          <a:solidFill>
            <a:srgbClr val="FFFFF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1" name="rect 350"/>
          <p:cNvSpPr/>
          <p:nvPr/>
        </p:nvSpPr>
        <p:spPr>
          <a:xfrm>
            <a:off x="8646330" y="6634705"/>
            <a:ext cx="73150" cy="365750"/>
          </a:xfrm>
          <a:prstGeom prst="rect">
            <a:avLst/>
          </a:prstGeom>
          <a:solidFill>
            <a:srgbClr val="DDDDD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2" name="old"/>
          <p:cNvSpPr txBox="1"/>
          <p:nvPr/>
        </p:nvSpPr>
        <p:spPr>
          <a:xfrm>
            <a:off x="8799402" y="6717511"/>
            <a:ext cx="381466" cy="226765"/>
          </a:xfrm>
          <a:prstGeom prst="rect">
            <a:avLst/>
          </a:prstGeom>
          <a:noFill/>
          <a:effectLst/>
        </p:spPr>
        <p:txBody>
          <a:bodyPr wrap="none" lIns="0" rIns="0" tIns="0" bIns="0" anchor="t">
            <a:spAutoFit/>
          </a:bodyPr>
          <a:lstStyle/>
          <a:p>
            <a:pPr algn="ctr">
              <a:lnSpc>
                <a:spcPct val="100000"/>
              </a:lnSpc>
              <a:spcBef>
                <a:spcPts val="0"/>
              </a:spcBef>
              <a:spcAft>
                <a:spcPts val="0"/>
              </a:spcAft>
            </a:pPr>
            <a:r>
              <a:rPr sz="1324" b="1" i="0" lang="en-US" spc="0">
                <a:solidFill>
                  <a:srgbClr val="181818"/>
                </a:solidFill>
                <a:latin typeface="DejaVu Sans"/>
                <a:ea typeface="DejaVu Sans"/>
                <a:effectLst/>
              </a:rPr>
              <a:t>old</a:t>
            </a:r>
          </a:p>
        </p:txBody>
      </p:sp>
      <p:sp>
        <p:nvSpPr>
          <p:cNvPr id="353" name="rect 352"/>
          <p:cNvSpPr/>
          <p:nvPr/>
        </p:nvSpPr>
        <p:spPr>
          <a:xfrm>
            <a:off x="9524130" y="6737115"/>
            <a:ext cx="109725" cy="160930"/>
          </a:xfrm>
          <a:prstGeom prst="roundRect">
            <a:avLst>
              <a:gd name="adj" fmla="val 6666"/>
            </a:avLst>
          </a:prstGeom>
          <a:solidFill>
            <a:srgbClr val="FFFFFF"/>
          </a:solidFill>
          <a:ln w="13167">
            <a:solidFill>
              <a:srgbClr val="181818"/>
            </a:solidFill>
            <a:prstDash val="dash"/>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4" name="rect 353"/>
          <p:cNvSpPr/>
          <p:nvPr/>
        </p:nvSpPr>
        <p:spPr>
          <a:xfrm>
            <a:off x="9670430" y="6737115"/>
            <a:ext cx="109725" cy="160930"/>
          </a:xfrm>
          <a:prstGeom prst="roundRect">
            <a:avLst>
              <a:gd name="adj" fmla="val 6666"/>
            </a:avLst>
          </a:prstGeom>
          <a:solidFill>
            <a:srgbClr val="FFFFFF"/>
          </a:solidFill>
          <a:ln w="13167">
            <a:solidFill>
              <a:srgbClr val="181818"/>
            </a:solidFill>
            <a:prstDash val="dash"/>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5" name="rect 354"/>
          <p:cNvSpPr/>
          <p:nvPr/>
        </p:nvSpPr>
        <p:spPr>
          <a:xfrm>
            <a:off x="9816730" y="6737115"/>
            <a:ext cx="109725" cy="160930"/>
          </a:xfrm>
          <a:prstGeom prst="roundRect">
            <a:avLst>
              <a:gd name="adj" fmla="val 6666"/>
            </a:avLst>
          </a:prstGeom>
          <a:solidFill>
            <a:srgbClr val="FFFFFF"/>
          </a:solidFill>
          <a:ln w="13167">
            <a:solidFill>
              <a:srgbClr val="181818"/>
            </a:solidFill>
            <a:prstDash val="dash"/>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6" name="rect 355"/>
          <p:cNvSpPr/>
          <p:nvPr/>
        </p:nvSpPr>
        <p:spPr>
          <a:xfrm>
            <a:off x="8639015" y="7197960"/>
            <a:ext cx="1433740" cy="380380"/>
          </a:xfrm>
          <a:prstGeom prst="roundRect">
            <a:avLst>
              <a:gd name="adj" fmla="val 3846"/>
            </a:avLst>
          </a:prstGeom>
          <a:solidFill>
            <a:srgbClr val="FFFFF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7" name="rect 356"/>
          <p:cNvSpPr/>
          <p:nvPr/>
        </p:nvSpPr>
        <p:spPr>
          <a:xfrm>
            <a:off x="8646330" y="7205275"/>
            <a:ext cx="73150" cy="365750"/>
          </a:xfrm>
          <a:prstGeom prst="rect">
            <a:avLst/>
          </a:prstGeom>
          <a:solidFill>
            <a:srgbClr val="B5D68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8" name="hit"/>
          <p:cNvSpPr txBox="1"/>
          <p:nvPr/>
        </p:nvSpPr>
        <p:spPr>
          <a:xfrm>
            <a:off x="8817304" y="7288081"/>
            <a:ext cx="345662" cy="226765"/>
          </a:xfrm>
          <a:prstGeom prst="rect">
            <a:avLst/>
          </a:prstGeom>
          <a:noFill/>
          <a:effectLst/>
        </p:spPr>
        <p:txBody>
          <a:bodyPr wrap="none" lIns="0" rIns="0" tIns="0" bIns="0" anchor="t">
            <a:spAutoFit/>
          </a:bodyPr>
          <a:lstStyle/>
          <a:p>
            <a:pPr algn="ctr">
              <a:lnSpc>
                <a:spcPct val="100000"/>
              </a:lnSpc>
              <a:spcBef>
                <a:spcPts val="0"/>
              </a:spcBef>
              <a:spcAft>
                <a:spcPts val="0"/>
              </a:spcAft>
            </a:pPr>
            <a:r>
              <a:rPr sz="1324" b="1" i="0" lang="en-US" spc="0">
                <a:solidFill>
                  <a:srgbClr val="181818"/>
                </a:solidFill>
                <a:latin typeface="DejaVu Sans"/>
                <a:ea typeface="DejaVu Sans"/>
                <a:effectLst/>
              </a:rPr>
              <a:t>hit</a:t>
            </a:r>
          </a:p>
        </p:txBody>
      </p:sp>
      <p:sp>
        <p:nvSpPr>
          <p:cNvPr id="359" name="rect 358"/>
          <p:cNvSpPr/>
          <p:nvPr/>
        </p:nvSpPr>
        <p:spPr>
          <a:xfrm>
            <a:off x="9524130" y="7307685"/>
            <a:ext cx="109725" cy="160930"/>
          </a:xfrm>
          <a:prstGeom prst="roundRect">
            <a:avLst>
              <a:gd name="adj" fmla="val 6666"/>
            </a:avLst>
          </a:prstGeom>
          <a:solidFill>
            <a:srgbClr val="B5D68B"/>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0" name="rect 359"/>
          <p:cNvSpPr/>
          <p:nvPr/>
        </p:nvSpPr>
        <p:spPr>
          <a:xfrm>
            <a:off x="9670430" y="7307685"/>
            <a:ext cx="109725" cy="160930"/>
          </a:xfrm>
          <a:prstGeom prst="roundRect">
            <a:avLst>
              <a:gd name="adj" fmla="val 6666"/>
            </a:avLst>
          </a:prstGeom>
          <a:solidFill>
            <a:srgbClr val="B5D68B"/>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1" name="rect 360"/>
          <p:cNvSpPr/>
          <p:nvPr/>
        </p:nvSpPr>
        <p:spPr>
          <a:xfrm>
            <a:off x="9816730" y="7307685"/>
            <a:ext cx="109725" cy="160930"/>
          </a:xfrm>
          <a:prstGeom prst="roundRect">
            <a:avLst>
              <a:gd name="adj" fmla="val 6666"/>
            </a:avLst>
          </a:prstGeom>
          <a:solidFill>
            <a:srgbClr val="B5D68B"/>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2" name="rect 361"/>
          <p:cNvSpPr/>
          <p:nvPr/>
        </p:nvSpPr>
        <p:spPr>
          <a:xfrm>
            <a:off x="8639015" y="7768530"/>
            <a:ext cx="1433740" cy="380380"/>
          </a:xfrm>
          <a:prstGeom prst="roundRect">
            <a:avLst>
              <a:gd name="adj" fmla="val 3846"/>
            </a:avLst>
          </a:prstGeom>
          <a:solidFill>
            <a:srgbClr val="FFFFF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3" name="rect 362"/>
          <p:cNvSpPr/>
          <p:nvPr/>
        </p:nvSpPr>
        <p:spPr>
          <a:xfrm>
            <a:off x="8646330" y="7775845"/>
            <a:ext cx="73150" cy="365750"/>
          </a:xfrm>
          <a:prstGeom prst="rect">
            <a:avLst/>
          </a:prstGeom>
          <a:solidFill>
            <a:srgbClr val="E9A6B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4" name="P"/>
          <p:cNvSpPr txBox="1"/>
          <p:nvPr/>
        </p:nvSpPr>
        <p:spPr>
          <a:xfrm>
            <a:off x="8884596" y="7858651"/>
            <a:ext cx="211078" cy="226765"/>
          </a:xfrm>
          <a:prstGeom prst="rect">
            <a:avLst/>
          </a:prstGeom>
          <a:noFill/>
          <a:effectLst/>
        </p:spPr>
        <p:txBody>
          <a:bodyPr wrap="none" lIns="0" rIns="0" tIns="0" bIns="0" anchor="t">
            <a:spAutoFit/>
          </a:bodyPr>
          <a:lstStyle/>
          <a:p>
            <a:pPr algn="ctr">
              <a:lnSpc>
                <a:spcPct val="100000"/>
              </a:lnSpc>
              <a:spcBef>
                <a:spcPts val="0"/>
              </a:spcBef>
              <a:spcAft>
                <a:spcPts val="0"/>
              </a:spcAft>
            </a:pPr>
            <a:r>
              <a:rPr sz="1324" b="1" i="0" lang="en-US" spc="0">
                <a:solidFill>
                  <a:srgbClr val="181818"/>
                </a:solidFill>
                <a:latin typeface="DejaVu Sans"/>
                <a:ea typeface="DejaVu Sans"/>
                <a:effectLst/>
              </a:rPr>
              <a:t>P</a:t>
            </a:r>
          </a:p>
        </p:txBody>
      </p:sp>
      <p:sp>
        <p:nvSpPr>
          <p:cNvPr id="365" name="rect 364"/>
          <p:cNvSpPr/>
          <p:nvPr/>
        </p:nvSpPr>
        <p:spPr>
          <a:xfrm>
            <a:off x="9524130" y="7878255"/>
            <a:ext cx="109725" cy="160930"/>
          </a:xfrm>
          <a:prstGeom prst="roundRect">
            <a:avLst>
              <a:gd name="adj" fmla="val 6666"/>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6" name="rect 365"/>
          <p:cNvSpPr/>
          <p:nvPr/>
        </p:nvSpPr>
        <p:spPr>
          <a:xfrm>
            <a:off x="9670430" y="7878255"/>
            <a:ext cx="109725" cy="160930"/>
          </a:xfrm>
          <a:prstGeom prst="roundRect">
            <a:avLst>
              <a:gd name="adj" fmla="val 6666"/>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7" name="rect 366"/>
          <p:cNvSpPr/>
          <p:nvPr/>
        </p:nvSpPr>
        <p:spPr>
          <a:xfrm>
            <a:off x="9816730" y="7878255"/>
            <a:ext cx="109725" cy="160930"/>
          </a:xfrm>
          <a:prstGeom prst="roundRect">
            <a:avLst>
              <a:gd name="adj" fmla="val 6666"/>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8" name="path 367"/>
          <p:cNvSpPr/>
          <p:nvPr/>
        </p:nvSpPr>
        <p:spPr>
          <a:xfrm>
            <a:off x="9948400" y="7644175"/>
            <a:ext cx="58520" cy="51205"/>
          </a:xfrm>
          <a:custGeom>
            <a:avLst/>
            <a:gdLst/>
            <a:ahLst/>
            <a:cxnLst/>
            <a:rect l="l" t="t" r="r" b="b"/>
            <a:pathLst>
              <a:path w="8" h="7">
                <a:moveTo>
                  <a:pt x="0" y="7"/>
                </a:moveTo>
                <a:lnTo>
                  <a:pt x="0" y="0"/>
                </a:lnTo>
                <a:lnTo>
                  <a:pt x="8" y="0"/>
                </a:lnTo>
                <a:lnTo>
                  <a:pt x="8" y="7"/>
                </a:lnTo>
              </a:path>
            </a:pathLst>
          </a:custGeom>
          <a:noFill/>
          <a:ln w="14630">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69" name="rect 368"/>
          <p:cNvSpPr/>
          <p:nvPr/>
        </p:nvSpPr>
        <p:spPr>
          <a:xfrm>
            <a:off x="9926455" y="7693917"/>
            <a:ext cx="105336" cy="87780"/>
          </a:xfrm>
          <a:prstGeom prst="roundRect">
            <a:avLst>
              <a:gd name="adj" fmla="val 16666"/>
            </a:avLst>
          </a:prstGeom>
          <a:solidFill>
            <a:srgbClr val="FFFFF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0" name="circle 369"/>
          <p:cNvSpPr/>
          <p:nvPr/>
        </p:nvSpPr>
        <p:spPr>
          <a:xfrm>
            <a:off x="9970345" y="7720251"/>
            <a:ext cx="17556" cy="17556"/>
          </a:xfrm>
          <a:prstGeom prst="ellipse">
            <a:avLst/>
          </a:prstGeom>
          <a:solidFill>
            <a:srgbClr val="181818"/>
          </a:solidFill>
          <a:ln w="7315">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1" name="circle 370"/>
          <p:cNvSpPr/>
          <p:nvPr/>
        </p:nvSpPr>
        <p:spPr>
          <a:xfrm>
            <a:off x="10145905" y="6656650"/>
            <a:ext cx="219450" cy="219450"/>
          </a:xfrm>
          <a:prstGeom prst="ellipse">
            <a:avLst/>
          </a:prstGeom>
          <a:solidFill>
            <a:srgbClr val="FFFFF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2" name="path 371"/>
          <p:cNvSpPr/>
          <p:nvPr/>
        </p:nvSpPr>
        <p:spPr>
          <a:xfrm>
            <a:off x="10255630" y="6693225"/>
            <a:ext cx="58520" cy="102410"/>
          </a:xfrm>
          <a:custGeom>
            <a:avLst/>
            <a:gdLst/>
            <a:ahLst/>
            <a:cxnLst/>
            <a:rect l="l" t="t" r="r" b="b"/>
            <a:pathLst>
              <a:path w="8" h="14">
                <a:moveTo>
                  <a:pt x="0" y="0"/>
                </a:moveTo>
                <a:lnTo>
                  <a:pt x="0" y="10"/>
                </a:lnTo>
                <a:lnTo>
                  <a:pt x="8" y="14"/>
                </a:lnTo>
              </a:path>
            </a:pathLst>
          </a:custGeom>
          <a:noFill/>
          <a:ln w="14630">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73" name="aging"/>
          <p:cNvSpPr txBox="1"/>
          <p:nvPr/>
        </p:nvSpPr>
        <p:spPr>
          <a:xfrm>
            <a:off x="10431190" y="6682252"/>
            <a:ext cx="516993" cy="208478"/>
          </a:xfrm>
          <a:prstGeom prst="rect">
            <a:avLst/>
          </a:prstGeom>
          <a:noFill/>
          <a:effectLst/>
        </p:spPr>
        <p:txBody>
          <a:bodyPr wrap="none" lIns="0" rIns="0" tIns="0" bIns="0" anchor="t">
            <a:spAutoFit/>
          </a:bodyPr>
          <a:lstStyle/>
          <a:p>
            <a:pPr algn="l">
              <a:lnSpc>
                <a:spcPct val="100000"/>
              </a:lnSpc>
              <a:spcBef>
                <a:spcPts val="0"/>
              </a:spcBef>
              <a:spcAft>
                <a:spcPts val="0"/>
              </a:spcAft>
            </a:pPr>
            <a:r>
              <a:rPr sz="1209" b="0" i="0" lang="en-US" spc="0">
                <a:solidFill>
                  <a:srgbClr val="535353"/>
                </a:solidFill>
                <a:latin typeface="DejaVu Sans"/>
                <a:ea typeface="DejaVu Sans"/>
                <a:effectLst/>
              </a:rPr>
              <a:t>aging</a:t>
            </a:r>
          </a:p>
        </p:txBody>
      </p:sp>
      <p:cxnSp>
        <p:nvCxnSpPr>
          <p:cNvPr id="374" name="line 373"/>
          <p:cNvCxnSpPr/>
          <p:nvPr/>
        </p:nvCxnSpPr>
        <p:spPr>
          <a:xfrm>
            <a:off x="11513810" y="7015085"/>
            <a:ext cx="0" cy="7315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375" name="line 374"/>
          <p:cNvCxnSpPr/>
          <p:nvPr/>
        </p:nvCxnSpPr>
        <p:spPr>
          <a:xfrm>
            <a:off x="11513810" y="8075760"/>
            <a:ext cx="0" cy="7315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376" name="line 375"/>
          <p:cNvCxnSpPr/>
          <p:nvPr/>
        </p:nvCxnSpPr>
        <p:spPr>
          <a:xfrm>
            <a:off x="11660110" y="7015085"/>
            <a:ext cx="0" cy="7315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377" name="line 376"/>
          <p:cNvCxnSpPr/>
          <p:nvPr/>
        </p:nvCxnSpPr>
        <p:spPr>
          <a:xfrm>
            <a:off x="11660110" y="8075760"/>
            <a:ext cx="0" cy="7315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378" name="line 377"/>
          <p:cNvCxnSpPr/>
          <p:nvPr/>
        </p:nvCxnSpPr>
        <p:spPr>
          <a:xfrm>
            <a:off x="11806410" y="7015085"/>
            <a:ext cx="0" cy="7315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379" name="line 378"/>
          <p:cNvCxnSpPr/>
          <p:nvPr/>
        </p:nvCxnSpPr>
        <p:spPr>
          <a:xfrm>
            <a:off x="11806410" y="8075760"/>
            <a:ext cx="0" cy="7315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380" name="line 379"/>
          <p:cNvCxnSpPr/>
          <p:nvPr/>
        </p:nvCxnSpPr>
        <p:spPr>
          <a:xfrm>
            <a:off x="11952710" y="7015085"/>
            <a:ext cx="0" cy="7315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381" name="line 380"/>
          <p:cNvCxnSpPr/>
          <p:nvPr/>
        </p:nvCxnSpPr>
        <p:spPr>
          <a:xfrm>
            <a:off x="11952710" y="8075760"/>
            <a:ext cx="0" cy="7315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382" name="line 381"/>
          <p:cNvCxnSpPr/>
          <p:nvPr/>
        </p:nvCxnSpPr>
        <p:spPr>
          <a:xfrm>
            <a:off x="12099010" y="7015085"/>
            <a:ext cx="0" cy="7315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383" name="line 382"/>
          <p:cNvCxnSpPr/>
          <p:nvPr/>
        </p:nvCxnSpPr>
        <p:spPr>
          <a:xfrm>
            <a:off x="12099010" y="8075760"/>
            <a:ext cx="0" cy="7315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384" name="line 383"/>
          <p:cNvCxnSpPr/>
          <p:nvPr/>
        </p:nvCxnSpPr>
        <p:spPr>
          <a:xfrm>
            <a:off x="12245310" y="7015085"/>
            <a:ext cx="0" cy="7315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385" name="line 384"/>
          <p:cNvCxnSpPr/>
          <p:nvPr/>
        </p:nvCxnSpPr>
        <p:spPr>
          <a:xfrm>
            <a:off x="12245310" y="8075760"/>
            <a:ext cx="0" cy="7315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386" name="line 385"/>
          <p:cNvCxnSpPr/>
          <p:nvPr/>
        </p:nvCxnSpPr>
        <p:spPr>
          <a:xfrm>
            <a:off x="12391610" y="7015085"/>
            <a:ext cx="0" cy="7315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387" name="line 386"/>
          <p:cNvCxnSpPr/>
          <p:nvPr/>
        </p:nvCxnSpPr>
        <p:spPr>
          <a:xfrm>
            <a:off x="12391610" y="8075760"/>
            <a:ext cx="0" cy="7315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388" name="line 387"/>
          <p:cNvCxnSpPr/>
          <p:nvPr/>
        </p:nvCxnSpPr>
        <p:spPr>
          <a:xfrm>
            <a:off x="11338250" y="7197960"/>
            <a:ext cx="73150" cy="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389" name="line 388"/>
          <p:cNvCxnSpPr/>
          <p:nvPr/>
        </p:nvCxnSpPr>
        <p:spPr>
          <a:xfrm>
            <a:off x="12442815" y="7197960"/>
            <a:ext cx="73150" cy="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390" name="line 389"/>
          <p:cNvCxnSpPr/>
          <p:nvPr/>
        </p:nvCxnSpPr>
        <p:spPr>
          <a:xfrm>
            <a:off x="11338250" y="7344260"/>
            <a:ext cx="73150" cy="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391" name="line 390"/>
          <p:cNvCxnSpPr/>
          <p:nvPr/>
        </p:nvCxnSpPr>
        <p:spPr>
          <a:xfrm>
            <a:off x="12442815" y="7344260"/>
            <a:ext cx="73150" cy="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392" name="line 391"/>
          <p:cNvCxnSpPr/>
          <p:nvPr/>
        </p:nvCxnSpPr>
        <p:spPr>
          <a:xfrm>
            <a:off x="11338250" y="7490560"/>
            <a:ext cx="73150" cy="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393" name="line 392"/>
          <p:cNvCxnSpPr/>
          <p:nvPr/>
        </p:nvCxnSpPr>
        <p:spPr>
          <a:xfrm>
            <a:off x="12442815" y="7490560"/>
            <a:ext cx="73150" cy="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394" name="line 393"/>
          <p:cNvCxnSpPr/>
          <p:nvPr/>
        </p:nvCxnSpPr>
        <p:spPr>
          <a:xfrm>
            <a:off x="11338250" y="7636860"/>
            <a:ext cx="73150" cy="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395" name="line 394"/>
          <p:cNvCxnSpPr/>
          <p:nvPr/>
        </p:nvCxnSpPr>
        <p:spPr>
          <a:xfrm>
            <a:off x="12442815" y="7636860"/>
            <a:ext cx="73150" cy="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396" name="line 395"/>
          <p:cNvCxnSpPr/>
          <p:nvPr/>
        </p:nvCxnSpPr>
        <p:spPr>
          <a:xfrm>
            <a:off x="11338250" y="7783160"/>
            <a:ext cx="73150" cy="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397" name="line 396"/>
          <p:cNvCxnSpPr/>
          <p:nvPr/>
        </p:nvCxnSpPr>
        <p:spPr>
          <a:xfrm>
            <a:off x="12442815" y="7783160"/>
            <a:ext cx="73150" cy="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398" name="line 397"/>
          <p:cNvCxnSpPr/>
          <p:nvPr/>
        </p:nvCxnSpPr>
        <p:spPr>
          <a:xfrm>
            <a:off x="11338250" y="7929460"/>
            <a:ext cx="73150" cy="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cxnSp>
        <p:nvCxnSpPr>
          <p:cNvPr id="399" name="line 398"/>
          <p:cNvCxnSpPr/>
          <p:nvPr/>
        </p:nvCxnSpPr>
        <p:spPr>
          <a:xfrm>
            <a:off x="12442815" y="7929460"/>
            <a:ext cx="73150" cy="0"/>
          </a:xfrm>
          <a:prstGeom prst="line">
            <a:avLst/>
          </a:prstGeom>
          <a:ln w="14630">
            <a:solidFill>
              <a:srgbClr val="181818"/>
            </a:solidFill>
          </a:ln>
          <a:effectLst/>
        </p:spPr>
        <p:style>
          <a:lnRef idx="2">
            <a:schemeClr val="accent1"/>
          </a:lnRef>
          <a:fillRef idx="0">
            <a:schemeClr val="accent1"/>
          </a:fillRef>
          <a:effectRef idx="0">
            <a:schemeClr val="accent1"/>
          </a:effectRef>
          <a:fontRef idx="minor">
            <a:schemeClr val="tx1"/>
          </a:fontRef>
        </p:style>
      </p:cxnSp>
      <p:sp>
        <p:nvSpPr>
          <p:cNvPr id="400" name="rect 399"/>
          <p:cNvSpPr/>
          <p:nvPr/>
        </p:nvSpPr>
        <p:spPr>
          <a:xfrm>
            <a:off x="11411400" y="7088235"/>
            <a:ext cx="1031415" cy="987525"/>
          </a:xfrm>
          <a:prstGeom prst="roundRect">
            <a:avLst>
              <a:gd name="adj" fmla="val 1481"/>
            </a:avLst>
          </a:prstGeom>
          <a:solidFill>
            <a:srgbClr val="A9CEE8"/>
          </a:solidFill>
          <a:ln w="14630">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1" name="GPU"/>
          <p:cNvSpPr txBox="1"/>
          <p:nvPr/>
        </p:nvSpPr>
        <p:spPr>
          <a:xfrm>
            <a:off x="11675554" y="7135782"/>
            <a:ext cx="503106" cy="235909"/>
          </a:xfrm>
          <a:prstGeom prst="rect">
            <a:avLst/>
          </a:prstGeom>
          <a:noFill/>
          <a:effectLst/>
        </p:spPr>
        <p:txBody>
          <a:bodyPr wrap="none" lIns="0" rIns="0" tIns="0" bIns="0" anchor="t">
            <a:spAutoFit/>
          </a:bodyPr>
          <a:lstStyle/>
          <a:p>
            <a:pPr algn="ctr">
              <a:lnSpc>
                <a:spcPct val="100000"/>
              </a:lnSpc>
              <a:spcBef>
                <a:spcPts val="0"/>
              </a:spcBef>
              <a:spcAft>
                <a:spcPts val="0"/>
              </a:spcAft>
            </a:pPr>
            <a:r>
              <a:rPr sz="1382" b="1" i="0" lang="en-US" spc="0">
                <a:solidFill>
                  <a:srgbClr val="181818"/>
                </a:solidFill>
                <a:latin typeface="DejaVu Sans"/>
                <a:ea typeface="DejaVu Sans"/>
                <a:effectLst/>
              </a:rPr>
              <a:t>GPU</a:t>
            </a:r>
          </a:p>
        </p:txBody>
      </p:sp>
      <p:sp>
        <p:nvSpPr>
          <p:cNvPr id="402" name="rect 401"/>
          <p:cNvSpPr/>
          <p:nvPr/>
        </p:nvSpPr>
        <p:spPr>
          <a:xfrm>
            <a:off x="11506495" y="7395465"/>
            <a:ext cx="258463" cy="252368"/>
          </a:xfrm>
          <a:prstGeom prst="roundRect">
            <a:avLst>
              <a:gd name="adj" fmla="val 2898"/>
            </a:avLst>
          </a:prstGeom>
          <a:solidFill>
            <a:srgbClr val="E9A6BF"/>
          </a:solidFill>
          <a:ln w="8046">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3" name="rect 402"/>
          <p:cNvSpPr/>
          <p:nvPr/>
        </p:nvSpPr>
        <p:spPr>
          <a:xfrm>
            <a:off x="11796657" y="7395465"/>
            <a:ext cx="258463" cy="252368"/>
          </a:xfrm>
          <a:prstGeom prst="roundRect">
            <a:avLst>
              <a:gd name="adj" fmla="val 2898"/>
            </a:avLst>
          </a:prstGeom>
          <a:solidFill>
            <a:srgbClr val="B5D68B"/>
          </a:solidFill>
          <a:ln w="8046">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4" name="rect 403"/>
          <p:cNvSpPr/>
          <p:nvPr/>
        </p:nvSpPr>
        <p:spPr>
          <a:xfrm>
            <a:off x="12086818" y="7395465"/>
            <a:ext cx="258463" cy="252368"/>
          </a:xfrm>
          <a:prstGeom prst="roundRect">
            <a:avLst>
              <a:gd name="adj" fmla="val 2898"/>
            </a:avLst>
          </a:prstGeom>
          <a:solidFill>
            <a:srgbClr val="DDDDDD"/>
          </a:solidFill>
          <a:ln w="8046">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5" name="rect 404"/>
          <p:cNvSpPr/>
          <p:nvPr/>
        </p:nvSpPr>
        <p:spPr>
          <a:xfrm>
            <a:off x="11506495" y="7695380"/>
            <a:ext cx="258463" cy="252368"/>
          </a:xfrm>
          <a:prstGeom prst="roundRect">
            <a:avLst>
              <a:gd name="adj" fmla="val 2898"/>
            </a:avLst>
          </a:prstGeom>
          <a:solidFill>
            <a:srgbClr val="E9A6BF"/>
          </a:solidFill>
          <a:ln w="8046">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6" name="rect 405"/>
          <p:cNvSpPr/>
          <p:nvPr/>
        </p:nvSpPr>
        <p:spPr>
          <a:xfrm>
            <a:off x="11796657" y="7695380"/>
            <a:ext cx="258463" cy="252368"/>
          </a:xfrm>
          <a:prstGeom prst="roundRect">
            <a:avLst>
              <a:gd name="adj" fmla="val 2898"/>
            </a:avLst>
          </a:prstGeom>
          <a:solidFill>
            <a:srgbClr val="F2BD7D"/>
          </a:solidFill>
          <a:ln w="8046">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7" name="rect 406"/>
          <p:cNvSpPr/>
          <p:nvPr/>
        </p:nvSpPr>
        <p:spPr>
          <a:xfrm>
            <a:off x="12086818" y="7695380"/>
            <a:ext cx="258463" cy="252368"/>
          </a:xfrm>
          <a:prstGeom prst="roundRect">
            <a:avLst>
              <a:gd name="adj" fmla="val 2898"/>
            </a:avLst>
          </a:prstGeom>
          <a:solidFill>
            <a:srgbClr val="FFFFFF"/>
          </a:solidFill>
          <a:ln w="8046">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8" name="path 407"/>
          <p:cNvSpPr/>
          <p:nvPr/>
        </p:nvSpPr>
        <p:spPr>
          <a:xfrm>
            <a:off x="10102015" y="6927305"/>
            <a:ext cx="1221605" cy="292600"/>
          </a:xfrm>
          <a:custGeom>
            <a:avLst/>
            <a:gdLst/>
            <a:ahLst/>
            <a:cxnLst/>
            <a:rect l="l" t="t" r="r" b="b"/>
            <a:pathLst>
              <a:path w="167" h="40">
                <a:moveTo>
                  <a:pt x="0" y="0"/>
                </a:moveTo>
                <a:lnTo>
                  <a:pt x="136" y="0"/>
                </a:lnTo>
                <a:lnTo>
                  <a:pt x="136" y="40"/>
                </a:lnTo>
                <a:lnTo>
                  <a:pt x="167" y="40"/>
                </a:lnTo>
              </a:path>
            </a:pathLst>
          </a:custGeom>
          <a:noFill/>
          <a:ln w="14630">
            <a:solidFill>
              <a:srgbClr val="181818"/>
            </a:solidFill>
            <a:prstDash val="dash"/>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9" name="arrowhead 408"/>
          <p:cNvSpPr/>
          <p:nvPr/>
        </p:nvSpPr>
        <p:spPr>
          <a:xfrm>
            <a:off x="11235840" y="7168700"/>
            <a:ext cx="102410" cy="102410"/>
          </a:xfrm>
          <a:custGeom>
            <a:avLst/>
            <a:gdLst/>
            <a:ahLst/>
            <a:cxnLst/>
            <a:rect l="l" t="t" r="r" b="b"/>
            <a:pathLst>
              <a:path w="14" h="14">
                <a:moveTo>
                  <a:pt x="14" y="7"/>
                </a:moveTo>
                <a:lnTo>
                  <a:pt x="0" y="14"/>
                </a:lnTo>
                <a:lnTo>
                  <a:pt x="0" y="0"/>
                </a:lnTo>
                <a:close/>
              </a:path>
            </a:pathLst>
          </a:custGeom>
          <a:solidFill>
            <a:srgbClr val="18181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410" name="path 409"/>
          <p:cNvCxnSpPr/>
          <p:nvPr/>
        </p:nvCxnSpPr>
        <p:spPr>
          <a:xfrm>
            <a:off x="10102015" y="7388150"/>
            <a:ext cx="1221605" cy="0"/>
          </a:xfrm>
          <a:prstGeom prst="line">
            <a:avLst/>
          </a:prstGeom>
          <a:ln w="19019">
            <a:solidFill>
              <a:srgbClr val="181818"/>
            </a:solidFill>
          </a:ln>
          <a:effectLst/>
        </p:spPr>
        <p:style>
          <a:lnRef idx="2">
            <a:schemeClr val="accent1"/>
          </a:lnRef>
          <a:fillRef idx="0">
            <a:schemeClr val="accent1"/>
          </a:fillRef>
          <a:effectRef idx="0">
            <a:schemeClr val="accent1"/>
          </a:effectRef>
          <a:fontRef idx="minor">
            <a:schemeClr val="tx1"/>
          </a:fontRef>
        </p:style>
      </p:cxnSp>
      <p:sp>
        <p:nvSpPr>
          <p:cNvPr id="411" name="arrowhead 410"/>
          <p:cNvSpPr/>
          <p:nvPr/>
        </p:nvSpPr>
        <p:spPr>
          <a:xfrm>
            <a:off x="11213895" y="7322315"/>
            <a:ext cx="131670" cy="131670"/>
          </a:xfrm>
          <a:custGeom>
            <a:avLst/>
            <a:gdLst/>
            <a:ahLst/>
            <a:cxnLst/>
            <a:rect l="l" t="t" r="r" b="b"/>
            <a:pathLst>
              <a:path w="18" h="18">
                <a:moveTo>
                  <a:pt x="18" y="9"/>
                </a:moveTo>
                <a:lnTo>
                  <a:pt x="0" y="18"/>
                </a:lnTo>
                <a:lnTo>
                  <a:pt x="0" y="0"/>
                </a:lnTo>
                <a:close/>
              </a:path>
            </a:pathLst>
          </a:custGeom>
          <a:solidFill>
            <a:srgbClr val="18181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2" name="path 411"/>
          <p:cNvSpPr/>
          <p:nvPr/>
        </p:nvSpPr>
        <p:spPr>
          <a:xfrm>
            <a:off x="10102015" y="7856310"/>
            <a:ext cx="1221605" cy="102410"/>
          </a:xfrm>
          <a:custGeom>
            <a:avLst/>
            <a:gdLst/>
            <a:ahLst/>
            <a:cxnLst/>
            <a:rect l="l" t="t" r="r" b="b"/>
            <a:pathLst>
              <a:path w="167" h="14">
                <a:moveTo>
                  <a:pt x="0" y="14"/>
                </a:moveTo>
                <a:lnTo>
                  <a:pt x="136" y="14"/>
                </a:lnTo>
                <a:lnTo>
                  <a:pt x="136" y="0"/>
                </a:lnTo>
                <a:lnTo>
                  <a:pt x="167" y="0"/>
                </a:lnTo>
              </a:path>
            </a:pathLst>
          </a:custGeom>
          <a:noFill/>
          <a:ln w="19019">
            <a:solidFill>
              <a:srgbClr val="BF3335"/>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3" name="arrowhead 412"/>
          <p:cNvSpPr/>
          <p:nvPr/>
        </p:nvSpPr>
        <p:spPr>
          <a:xfrm>
            <a:off x="11213895" y="7790475"/>
            <a:ext cx="131670" cy="131670"/>
          </a:xfrm>
          <a:custGeom>
            <a:avLst/>
            <a:gdLst/>
            <a:ahLst/>
            <a:cxnLst/>
            <a:rect l="l" t="t" r="r" b="b"/>
            <a:pathLst>
              <a:path w="18" h="18">
                <a:moveTo>
                  <a:pt x="18" y="9"/>
                </a:moveTo>
                <a:lnTo>
                  <a:pt x="0" y="18"/>
                </a:lnTo>
                <a:lnTo>
                  <a:pt x="0" y="0"/>
                </a:lnTo>
                <a:close/>
              </a:path>
            </a:pathLst>
          </a:custGeom>
          <a:solidFill>
            <a:srgbClr val="BF333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4" name="KV ∧ slot  /  batch fill"/>
          <p:cNvSpPr txBox="1"/>
          <p:nvPr/>
        </p:nvSpPr>
        <p:spPr>
          <a:xfrm>
            <a:off x="10167850" y="8181828"/>
            <a:ext cx="1845294" cy="226765"/>
          </a:xfrm>
          <a:prstGeom prst="rect">
            <a:avLst/>
          </a:prstGeom>
          <a:noFill/>
          <a:effectLst/>
        </p:spPr>
        <p:txBody>
          <a:bodyPr wrap="none" lIns="0" rIns="0" tIns="0" bIns="0" anchor="t">
            <a:spAutoFit/>
          </a:bodyPr>
          <a:lstStyle/>
          <a:p>
            <a:pPr algn="l">
              <a:lnSpc>
                <a:spcPct val="100000"/>
              </a:lnSpc>
              <a:spcBef>
                <a:spcPts val="0"/>
              </a:spcBef>
              <a:spcAft>
                <a:spcPts val="0"/>
              </a:spcAft>
            </a:pPr>
            <a:r>
              <a:rPr sz="1324" b="0" i="0" lang="en-US" spc="0">
                <a:solidFill>
                  <a:srgbClr val="181818"/>
                </a:solidFill>
                <a:latin typeface="DejaVu Sans"/>
                <a:ea typeface="DejaVu Sans"/>
                <a:effectLst/>
              </a:rPr>
              <a:t>KV ∧ slot  /  batch fill</a:t>
            </a:r>
          </a:p>
        </p:txBody>
      </p:sp>
      <p:sp>
        <p:nvSpPr>
          <p:cNvPr id="415" name="rect 414"/>
          <p:cNvSpPr/>
          <p:nvPr/>
        </p:nvSpPr>
        <p:spPr>
          <a:xfrm>
            <a:off x="475475" y="8587810"/>
            <a:ext cx="204820" cy="160930"/>
          </a:xfrm>
          <a:prstGeom prst="roundRect">
            <a:avLst>
              <a:gd name="adj" fmla="val 4545"/>
            </a:avLst>
          </a:prstGeom>
          <a:solidFill>
            <a:srgbClr val="E9A6BF"/>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6" name="Parent pages"/>
          <p:cNvSpPr txBox="1"/>
          <p:nvPr/>
        </p:nvSpPr>
        <p:spPr>
          <a:xfrm>
            <a:off x="782705" y="8540262"/>
            <a:ext cx="1092107" cy="208478"/>
          </a:xfrm>
          <a:prstGeom prst="rect">
            <a:avLst/>
          </a:prstGeom>
          <a:noFill/>
          <a:effectLst/>
        </p:spPr>
        <p:txBody>
          <a:bodyPr wrap="none" lIns="0" rIns="0" tIns="0" bIns="0" anchor="t">
            <a:spAutoFit/>
          </a:bodyPr>
          <a:lstStyle/>
          <a:p>
            <a:pPr algn="l">
              <a:lnSpc>
                <a:spcPct val="100000"/>
              </a:lnSpc>
              <a:spcBef>
                <a:spcPts val="0"/>
              </a:spcBef>
              <a:spcAft>
                <a:spcPts val="0"/>
              </a:spcAft>
            </a:pPr>
            <a:r>
              <a:rPr sz="1209" b="0" i="0" lang="en-US" spc="0">
                <a:solidFill>
                  <a:srgbClr val="181818"/>
                </a:solidFill>
                <a:latin typeface="DejaVu Sans"/>
                <a:ea typeface="DejaVu Sans"/>
                <a:effectLst/>
              </a:rPr>
              <a:t>Parent pages</a:t>
            </a:r>
          </a:p>
        </p:txBody>
      </p:sp>
      <p:sp>
        <p:nvSpPr>
          <p:cNvPr id="417" name="rect 416"/>
          <p:cNvSpPr/>
          <p:nvPr/>
        </p:nvSpPr>
        <p:spPr>
          <a:xfrm>
            <a:off x="2574880" y="8587810"/>
            <a:ext cx="204820" cy="160930"/>
          </a:xfrm>
          <a:prstGeom prst="roundRect">
            <a:avLst>
              <a:gd name="adj" fmla="val 4545"/>
            </a:avLst>
          </a:prstGeom>
          <a:solidFill>
            <a:srgbClr val="FFFFFF"/>
          </a:solidFill>
          <a:ln w="13167">
            <a:solidFill>
              <a:srgbClr val="181818"/>
            </a:solidFill>
            <a:prstDash val="dash"/>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8" name="Missing / deferred"/>
          <p:cNvSpPr txBox="1"/>
          <p:nvPr/>
        </p:nvSpPr>
        <p:spPr>
          <a:xfrm>
            <a:off x="2882110" y="8540262"/>
            <a:ext cx="1463000" cy="208478"/>
          </a:xfrm>
          <a:prstGeom prst="rect">
            <a:avLst/>
          </a:prstGeom>
          <a:noFill/>
          <a:effectLst/>
        </p:spPr>
        <p:txBody>
          <a:bodyPr wrap="none" lIns="0" rIns="0" tIns="0" bIns="0" anchor="t">
            <a:spAutoFit/>
          </a:bodyPr>
          <a:lstStyle/>
          <a:p>
            <a:pPr algn="l">
              <a:lnSpc>
                <a:spcPct val="100000"/>
              </a:lnSpc>
              <a:spcBef>
                <a:spcPts val="0"/>
              </a:spcBef>
              <a:spcAft>
                <a:spcPts val="0"/>
              </a:spcAft>
            </a:pPr>
            <a:r>
              <a:rPr sz="1209" b="0" i="0" lang="en-US" spc="0">
                <a:solidFill>
                  <a:srgbClr val="181818"/>
                </a:solidFill>
                <a:latin typeface="DejaVu Sans"/>
                <a:ea typeface="DejaVu Sans"/>
                <a:effectLst/>
              </a:rPr>
              <a:t>Missing / deferred</a:t>
            </a:r>
          </a:p>
        </p:txBody>
      </p:sp>
      <p:sp>
        <p:nvSpPr>
          <p:cNvPr id="419" name="rect 418"/>
          <p:cNvSpPr/>
          <p:nvPr/>
        </p:nvSpPr>
        <p:spPr>
          <a:xfrm>
            <a:off x="5252170" y="8587810"/>
            <a:ext cx="204820" cy="160930"/>
          </a:xfrm>
          <a:prstGeom prst="roundRect">
            <a:avLst>
              <a:gd name="adj" fmla="val 4545"/>
            </a:avLst>
          </a:prstGeom>
          <a:solidFill>
            <a:srgbClr val="B5D68B"/>
          </a:solidFill>
          <a:ln w="13167">
            <a:solidFill>
              <a:srgbClr val="181818"/>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0" name="Child private pages"/>
          <p:cNvSpPr txBox="1"/>
          <p:nvPr/>
        </p:nvSpPr>
        <p:spPr>
          <a:xfrm>
            <a:off x="5559400" y="8540262"/>
            <a:ext cx="1579869" cy="208478"/>
          </a:xfrm>
          <a:prstGeom prst="rect">
            <a:avLst/>
          </a:prstGeom>
          <a:noFill/>
          <a:effectLst/>
        </p:spPr>
        <p:txBody>
          <a:bodyPr wrap="none" lIns="0" rIns="0" tIns="0" bIns="0" anchor="t">
            <a:spAutoFit/>
          </a:bodyPr>
          <a:lstStyle/>
          <a:p>
            <a:pPr algn="l">
              <a:lnSpc>
                <a:spcPct val="100000"/>
              </a:lnSpc>
              <a:spcBef>
                <a:spcPts val="0"/>
              </a:spcBef>
              <a:spcAft>
                <a:spcPts val="0"/>
              </a:spcAft>
            </a:pPr>
            <a:r>
              <a:rPr sz="1209" b="0" i="0" lang="en-US" spc="0">
                <a:solidFill>
                  <a:srgbClr val="181818"/>
                </a:solidFill>
                <a:latin typeface="DejaVu Sans"/>
                <a:ea typeface="DejaVu Sans"/>
                <a:effectLst/>
              </a:rPr>
              <a:t>Child private pages</a:t>
            </a:r>
          </a:p>
        </p:txBody>
      </p:sp>
      <p:cxnSp>
        <p:nvCxnSpPr>
          <p:cNvPr id="421" name="path 420"/>
          <p:cNvCxnSpPr/>
          <p:nvPr/>
        </p:nvCxnSpPr>
        <p:spPr>
          <a:xfrm>
            <a:off x="8924300" y="8653645"/>
            <a:ext cx="314545" cy="0"/>
          </a:xfrm>
          <a:prstGeom prst="line">
            <a:avLst/>
          </a:prstGeom>
          <a:ln w="14630">
            <a:solidFill>
              <a:srgbClr val="BF3335"/>
            </a:solidFill>
          </a:ln>
          <a:effectLst/>
        </p:spPr>
        <p:style>
          <a:lnRef idx="2">
            <a:schemeClr val="accent1"/>
          </a:lnRef>
          <a:fillRef idx="0">
            <a:schemeClr val="accent1"/>
          </a:fillRef>
          <a:effectRef idx="0">
            <a:schemeClr val="accent1"/>
          </a:effectRef>
          <a:fontRef idx="minor">
            <a:schemeClr val="tx1"/>
          </a:fontRef>
        </p:style>
      </p:cxnSp>
      <p:sp>
        <p:nvSpPr>
          <p:cNvPr id="422" name="arrowhead 421"/>
          <p:cNvSpPr/>
          <p:nvPr/>
        </p:nvSpPr>
        <p:spPr>
          <a:xfrm>
            <a:off x="9151065" y="8602440"/>
            <a:ext cx="102410" cy="102410"/>
          </a:xfrm>
          <a:custGeom>
            <a:avLst/>
            <a:gdLst/>
            <a:ahLst/>
            <a:cxnLst/>
            <a:rect l="l" t="t" r="r" b="b"/>
            <a:pathLst>
              <a:path w="14" h="14">
                <a:moveTo>
                  <a:pt x="14" y="7"/>
                </a:moveTo>
                <a:lnTo>
                  <a:pt x="0" y="14"/>
                </a:lnTo>
                <a:lnTo>
                  <a:pt x="0" y="0"/>
                </a:lnTo>
                <a:close/>
              </a:path>
            </a:pathLst>
          </a:custGeom>
          <a:solidFill>
            <a:srgbClr val="BF333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3" name="Action"/>
          <p:cNvSpPr txBox="1"/>
          <p:nvPr/>
        </p:nvSpPr>
        <p:spPr>
          <a:xfrm>
            <a:off x="9370515" y="8540262"/>
            <a:ext cx="568913" cy="208478"/>
          </a:xfrm>
          <a:prstGeom prst="rect">
            <a:avLst/>
          </a:prstGeom>
          <a:noFill/>
          <a:effectLst/>
        </p:spPr>
        <p:txBody>
          <a:bodyPr wrap="none" lIns="0" rIns="0" tIns="0" bIns="0" anchor="t">
            <a:spAutoFit/>
          </a:bodyPr>
          <a:lstStyle/>
          <a:p>
            <a:pPr algn="l">
              <a:lnSpc>
                <a:spcPct val="100000"/>
              </a:lnSpc>
              <a:spcBef>
                <a:spcPts val="0"/>
              </a:spcBef>
              <a:spcAft>
                <a:spcPts val="0"/>
              </a:spcAft>
            </a:pPr>
            <a:r>
              <a:rPr sz="1209" b="0" i="0" lang="en-US" spc="0">
                <a:solidFill>
                  <a:srgbClr val="181818"/>
                </a:solidFill>
                <a:latin typeface="DejaVu Sans"/>
                <a:ea typeface="DejaVu Sans"/>
                <a:effectLst/>
              </a:rPr>
              <a:t>Action</a:t>
            </a:r>
          </a:p>
        </p:txBody>
      </p:sp>
      <p:cxnSp>
        <p:nvCxnSpPr>
          <p:cNvPr id="424" name="path 423"/>
          <p:cNvCxnSpPr/>
          <p:nvPr/>
        </p:nvCxnSpPr>
        <p:spPr>
          <a:xfrm>
            <a:off x="10782310" y="8653645"/>
            <a:ext cx="314545" cy="0"/>
          </a:xfrm>
          <a:prstGeom prst="line">
            <a:avLst/>
          </a:prstGeom>
          <a:ln w="14630">
            <a:solidFill>
              <a:srgbClr val="2676B8"/>
            </a:solidFill>
            <a:prstDash val="dash"/>
          </a:ln>
          <a:effectLst/>
        </p:spPr>
        <p:style>
          <a:lnRef idx="2">
            <a:schemeClr val="accent1"/>
          </a:lnRef>
          <a:fillRef idx="0">
            <a:schemeClr val="accent1"/>
          </a:fillRef>
          <a:effectRef idx="0">
            <a:schemeClr val="accent1"/>
          </a:effectRef>
          <a:fontRef idx="minor">
            <a:schemeClr val="tx1"/>
          </a:fontRef>
        </p:style>
      </p:cxnSp>
      <p:sp>
        <p:nvSpPr>
          <p:cNvPr id="425" name="arrowhead 424"/>
          <p:cNvSpPr/>
          <p:nvPr/>
        </p:nvSpPr>
        <p:spPr>
          <a:xfrm>
            <a:off x="11009075" y="8602440"/>
            <a:ext cx="102410" cy="102410"/>
          </a:xfrm>
          <a:custGeom>
            <a:avLst/>
            <a:gdLst/>
            <a:ahLst/>
            <a:cxnLst/>
            <a:rect l="l" t="t" r="r" b="b"/>
            <a:pathLst>
              <a:path w="14" h="14">
                <a:moveTo>
                  <a:pt x="14" y="7"/>
                </a:moveTo>
                <a:lnTo>
                  <a:pt x="0" y="14"/>
                </a:lnTo>
                <a:lnTo>
                  <a:pt x="0" y="0"/>
                </a:lnTo>
                <a:close/>
              </a:path>
            </a:pathLst>
          </a:custGeom>
          <a:solidFill>
            <a:srgbClr val="2676B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6" name="ACK"/>
          <p:cNvSpPr txBox="1"/>
          <p:nvPr/>
        </p:nvSpPr>
        <p:spPr>
          <a:xfrm>
            <a:off x="11221210" y="8540262"/>
            <a:ext cx="398182" cy="208478"/>
          </a:xfrm>
          <a:prstGeom prst="rect">
            <a:avLst/>
          </a:prstGeom>
          <a:noFill/>
          <a:effectLst/>
        </p:spPr>
        <p:txBody>
          <a:bodyPr wrap="none" lIns="0" rIns="0" tIns="0" bIns="0" anchor="t">
            <a:spAutoFit/>
          </a:bodyPr>
          <a:lstStyle/>
          <a:p>
            <a:pPr algn="l">
              <a:lnSpc>
                <a:spcPct val="100000"/>
              </a:lnSpc>
              <a:spcBef>
                <a:spcPts val="0"/>
              </a:spcBef>
              <a:spcAft>
                <a:spcPts val="0"/>
              </a:spcAft>
            </a:pPr>
            <a:r>
              <a:rPr sz="1209" b="0" i="0" lang="en-US" spc="0">
                <a:solidFill>
                  <a:srgbClr val="181818"/>
                </a:solidFill>
                <a:latin typeface="DejaVu Sans"/>
                <a:ea typeface="DejaVu Sans"/>
                <a:effectLst/>
              </a:rPr>
              <a:t>ACK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0">
          <a:schemeClr val="accent1"/>
        </a:effectRef>
        <a:fontRef idx="minor">
          <a:schemeClr val="lt1"/>
        </a:fontRef>
      </a:style>
    </a:spDef>
    <a:lnDef>
      <a:spPr/>
      <a:bodyPr/>
      <a:lstStyle/>
      <a:style>
        <a:lnRef idx="2">
          <a:schemeClr val="accent1"/>
        </a:lnRef>
        <a:fillRef idx="0">
          <a:schemeClr val="accent1"/>
        </a:fillRef>
        <a:effectRef idx="0">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0">
          <a:schemeClr val="accent1"/>
        </a:effectRef>
        <a:fontRef idx="minor">
          <a:schemeClr val="lt1"/>
        </a:fontRef>
      </a:style>
    </a:spDef>
    <a:lnDef>
      <a:spPr/>
      <a:bodyPr/>
      <a:lstStyle/>
      <a:style>
        <a:lnRef idx="2">
          <a:schemeClr val="accent1"/>
        </a:lnRef>
        <a:fillRef idx="0">
          <a:schemeClr val="accent1"/>
        </a:fillRef>
        <a:effectRef idx="0">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BeliefKV Architecture Figures</dc:title>
  <dc:subject>Current development architecture as of 2026-10-15</dc:subject>
  <dc:creator>BeliefKV</dc:creator>
  <cp:keywords>BeliefKV, dynamic agent workflows, KV cache, native editable diagrams</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