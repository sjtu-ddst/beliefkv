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3167360" cy="923544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overview. The workflow graph is discovered from live events. Models estimate child/tool completion; runtime selects transfers and admission. SGLang remains the authority for cache validity, allocation and execution. This architecture diagram does not establish a throughput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Schematic timeline, not empirical speedup. Child prediction uses delivered text, completion notices and observed progress. Future service is not an online input. Tool prediction conditions on elapsed execution. Partial pre-boundary H2D overlap can be useful; native per-layer dependencies govern whether execution can begin.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PREPARE_HOST copies missing FULL extents without releasing HBM and does not speculatively copy Mamba. Restore only the state required by the selected checkpoint. Reclaim terminal child pages only when private, unreferenced and free of in-flight use. Earlier siblings can enable predictive H2D while the last child runs. The last child's own capacity is available only after completion. Native allocation need not reuse page IDs.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eliefKV: Workflow-aware KV Management"/>
          <p:cNvSpPr txBox="1"/>
          <p:nvPr/>
        </p:nvSpPr>
        <p:spPr>
          <a:xfrm>
            <a:off x="365760" y="569214"/>
            <a:ext cx="7640419" cy="402336"/>
          </a:xfrm>
          <a:prstGeom prst="rect">
            <a:avLst/>
          </a:prstGeom>
          <a:noFill/>
        </p:spPr>
        <p:txBody>
          <a:bodyPr wrap="none" lIns="0" rIns="0" tIns="0" bIns="0" anchor="t">
            <a:spAutoFit/>
          </a:bodyPr>
          <a:lstStyle/>
          <a:p>
            <a:pPr algn="l">
              <a:lnSpc>
                <a:spcPct val="100000"/>
              </a:lnSpc>
              <a:spcBef>
                <a:spcPts val="0"/>
              </a:spcBef>
              <a:spcAft>
                <a:spcPts val="0"/>
              </a:spcAft>
            </a:pPr>
            <a:r>
              <a:rPr sz="2448" b="1" lang="en-US" spc="0">
                <a:solidFill>
                  <a:srgbClr val="263746"/>
                </a:solidFill>
                <a:latin typeface="DejaVu Sans"/>
                <a:ea typeface="DejaVu Sans"/>
              </a:rPr>
              <a:t>BeliefKV: Workflow-aware KV Management</a:t>
            </a:r>
          </a:p>
        </p:txBody>
      </p:sp>
      <p:sp>
        <p:nvSpPr>
          <p:cNvPr id="3" name="Dynamic dependencies  /  Predictive transfers  /  Native execution"/>
          <p:cNvSpPr txBox="1"/>
          <p:nvPr/>
        </p:nvSpPr>
        <p:spPr>
          <a:xfrm>
            <a:off x="365760" y="964692"/>
            <a:ext cx="6762952" cy="272034"/>
          </a:xfrm>
          <a:prstGeom prst="rect">
            <a:avLst/>
          </a:prstGeom>
          <a:noFill/>
        </p:spPr>
        <p:txBody>
          <a:bodyPr wrap="none" lIns="0" rIns="0" tIns="0" bIns="0" anchor="t">
            <a:spAutoFit/>
          </a:bodyPr>
          <a:lstStyle/>
          <a:p>
            <a:pPr algn="l">
              <a:lnSpc>
                <a:spcPct val="100000"/>
              </a:lnSpc>
              <a:spcBef>
                <a:spcPts val="0"/>
              </a:spcBef>
              <a:spcAft>
                <a:spcPts val="0"/>
              </a:spcAft>
            </a:pPr>
            <a:r>
              <a:rPr sz="1584" b="0" lang="en-US" spc="0">
                <a:solidFill>
                  <a:srgbClr val="687680"/>
                </a:solidFill>
                <a:latin typeface="DejaVu Sans"/>
                <a:ea typeface="DejaVu Sans"/>
              </a:rPr>
              <a:t>Dynamic dependencies  /  Predictive transfers  /  Native execution</a:t>
            </a:r>
          </a:p>
        </p:txBody>
      </p:sp>
      <p:sp>
        <p:nvSpPr>
          <p:cNvPr id="4" name="rect 3"/>
          <p:cNvSpPr/>
          <p:nvPr/>
        </p:nvSpPr>
        <p:spPr>
          <a:xfrm>
            <a:off x="365760" y="1426464"/>
            <a:ext cx="12435840" cy="1609344"/>
          </a:xfrm>
          <a:prstGeom prst="roundRect">
            <a:avLst>
              <a:gd name="adj" fmla="val 1704"/>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 name="line 4"/>
          <p:cNvCxnSpPr/>
          <p:nvPr/>
        </p:nvCxnSpPr>
        <p:spPr>
          <a:xfrm>
            <a:off x="374904" y="1435608"/>
            <a:ext cx="12417552" cy="0"/>
          </a:xfrm>
          <a:prstGeom prst="line">
            <a:avLst/>
          </a:prstGeom>
          <a:ln w="27432">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6" name="(a) Agent harness"/>
          <p:cNvSpPr txBox="1"/>
          <p:nvPr/>
        </p:nvSpPr>
        <p:spPr>
          <a:xfrm>
            <a:off x="566928" y="1570482"/>
            <a:ext cx="2511885"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D6F9F"/>
                </a:solidFill>
                <a:latin typeface="DejaVu Sans"/>
                <a:ea typeface="DejaVu Sans"/>
              </a:rPr>
              <a:t>(a) Agent harness</a:t>
            </a:r>
          </a:p>
        </p:txBody>
      </p:sp>
      <p:sp>
        <p:nvSpPr>
          <p:cNvPr id="7" name="circle 6"/>
          <p:cNvSpPr/>
          <p:nvPr/>
        </p:nvSpPr>
        <p:spPr>
          <a:xfrm>
            <a:off x="731520" y="2148840"/>
            <a:ext cx="438912" cy="438912"/>
          </a:xfrm>
          <a:prstGeom prst="ellipse">
            <a:avLst/>
          </a:prstGeom>
          <a:solidFill>
            <a:srgbClr val="EDF3F8"/>
          </a:solidFill>
          <a:ln w="1280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P"/>
          <p:cNvSpPr txBox="1"/>
          <p:nvPr/>
        </p:nvSpPr>
        <p:spPr>
          <a:xfrm>
            <a:off x="812334" y="2235708"/>
            <a:ext cx="277285" cy="304038"/>
          </a:xfrm>
          <a:prstGeom prst="rect">
            <a:avLst/>
          </a:prstGeom>
          <a:noFill/>
        </p:spPr>
        <p:txBody>
          <a:bodyPr wrap="none" lIns="0" rIns="0" tIns="0" bIns="0" anchor="t">
            <a:spAutoFit/>
          </a:bodyPr>
          <a:lstStyle/>
          <a:p>
            <a:pPr algn="ctr">
              <a:lnSpc>
                <a:spcPct val="100000"/>
              </a:lnSpc>
              <a:spcBef>
                <a:spcPts val="0"/>
              </a:spcBef>
              <a:spcAft>
                <a:spcPts val="0"/>
              </a:spcAft>
            </a:pPr>
            <a:r>
              <a:rPr sz="1800" b="1" lang="en-US" spc="0">
                <a:solidFill>
                  <a:srgbClr val="263746"/>
                </a:solidFill>
                <a:latin typeface="DejaVu Sans"/>
                <a:ea typeface="DejaVu Sans"/>
              </a:rPr>
              <a:t>P</a:t>
            </a:r>
          </a:p>
        </p:txBody>
      </p:sp>
      <p:sp>
        <p:nvSpPr>
          <p:cNvPr id="9" name="circle 8"/>
          <p:cNvSpPr/>
          <p:nvPr/>
        </p:nvSpPr>
        <p:spPr>
          <a:xfrm>
            <a:off x="2048256" y="1938528"/>
            <a:ext cx="420624" cy="420624"/>
          </a:xfrm>
          <a:prstGeom prst="ellipse">
            <a:avLst/>
          </a:prstGeom>
          <a:solidFill>
            <a:srgbClr val="FFFFFF"/>
          </a:solidFill>
          <a:ln w="12801">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C1"/>
          <p:cNvSpPr txBox="1"/>
          <p:nvPr/>
        </p:nvSpPr>
        <p:spPr>
          <a:xfrm>
            <a:off x="2066437" y="2037740"/>
            <a:ext cx="384262"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263746"/>
                </a:solidFill>
                <a:latin typeface="DejaVu Sans"/>
                <a:ea typeface="DejaVu Sans"/>
              </a:rPr>
              <a:t>C1</a:t>
            </a:r>
          </a:p>
        </p:txBody>
      </p:sp>
      <p:sp>
        <p:nvSpPr>
          <p:cNvPr id="11" name="circle 10"/>
          <p:cNvSpPr/>
          <p:nvPr/>
        </p:nvSpPr>
        <p:spPr>
          <a:xfrm>
            <a:off x="2048256" y="2487168"/>
            <a:ext cx="420624" cy="420624"/>
          </a:xfrm>
          <a:prstGeom prst="ellipse">
            <a:avLst/>
          </a:prstGeom>
          <a:solidFill>
            <a:srgbClr val="FFFFFF"/>
          </a:solidFill>
          <a:ln w="12801">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2"/>
          <p:cNvSpPr txBox="1"/>
          <p:nvPr/>
        </p:nvSpPr>
        <p:spPr>
          <a:xfrm>
            <a:off x="2066437" y="2586380"/>
            <a:ext cx="384262"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263746"/>
                </a:solidFill>
                <a:latin typeface="DejaVu Sans"/>
                <a:ea typeface="DejaVu Sans"/>
              </a:rPr>
              <a:t>C2</a:t>
            </a:r>
          </a:p>
        </p:txBody>
      </p:sp>
      <p:sp>
        <p:nvSpPr>
          <p:cNvPr id="13" name="polygon 12"/>
          <p:cNvSpPr/>
          <p:nvPr/>
        </p:nvSpPr>
        <p:spPr>
          <a:xfrm>
            <a:off x="3145536" y="2121408"/>
            <a:ext cx="841248" cy="603504"/>
          </a:xfrm>
          <a:custGeom>
            <a:avLst/>
            <a:gdLst/>
            <a:ahLst/>
            <a:cxnLst/>
            <a:rect l="l" t="t" r="r" b="b"/>
            <a:pathLst>
              <a:path w="92" h="66">
                <a:moveTo>
                  <a:pt x="46" y="0"/>
                </a:moveTo>
                <a:lnTo>
                  <a:pt x="92" y="33"/>
                </a:lnTo>
                <a:lnTo>
                  <a:pt x="46" y="66"/>
                </a:lnTo>
                <a:lnTo>
                  <a:pt x="0" y="33"/>
                </a:lnTo>
                <a:close/>
              </a:path>
            </a:pathLst>
          </a:custGeom>
          <a:solidFill>
            <a:srgbClr val="FBF2E3"/>
          </a:solidFill>
          <a:ln w="13716">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JOIN"/>
          <p:cNvSpPr txBox="1"/>
          <p:nvPr/>
        </p:nvSpPr>
        <p:spPr>
          <a:xfrm>
            <a:off x="3277892" y="2299716"/>
            <a:ext cx="576536"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263746"/>
                </a:solidFill>
                <a:latin typeface="DejaVu Sans"/>
                <a:ea typeface="DejaVu Sans"/>
              </a:rPr>
              <a:t>JOIN</a:t>
            </a:r>
          </a:p>
        </p:txBody>
      </p:sp>
      <p:cxnSp>
        <p:nvCxnSpPr>
          <p:cNvPr id="15" name="path 14"/>
          <p:cNvCxnSpPr/>
          <p:nvPr/>
        </p:nvCxnSpPr>
        <p:spPr>
          <a:xfrm flipV="1">
            <a:off x="1170432" y="2167128"/>
            <a:ext cx="850392" cy="137160"/>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6" name="path 15"/>
          <p:cNvCxnSpPr/>
          <p:nvPr/>
        </p:nvCxnSpPr>
        <p:spPr>
          <a:xfrm>
            <a:off x="1170432" y="2432304"/>
            <a:ext cx="850392" cy="237744"/>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7" name="path 16"/>
          <p:cNvSpPr/>
          <p:nvPr/>
        </p:nvSpPr>
        <p:spPr>
          <a:xfrm>
            <a:off x="2487168" y="2148840"/>
            <a:ext cx="740664" cy="128016"/>
          </a:xfrm>
          <a:custGeom>
            <a:avLst/>
            <a:gdLst/>
            <a:ahLst/>
            <a:cxnLst/>
            <a:rect l="l" t="t" r="r" b="b"/>
            <a:pathLst>
              <a:path w="81" h="14">
                <a:moveTo>
                  <a:pt x="0" y="0"/>
                </a:moveTo>
                <a:lnTo>
                  <a:pt x="51" y="0"/>
                </a:lnTo>
                <a:lnTo>
                  <a:pt x="81" y="14"/>
                </a:lnTo>
              </a:path>
            </a:pathLst>
          </a:custGeom>
          <a:noFill/>
          <a:ln w="21945">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path 17"/>
          <p:cNvSpPr/>
          <p:nvPr/>
        </p:nvSpPr>
        <p:spPr>
          <a:xfrm>
            <a:off x="2487168" y="2569464"/>
            <a:ext cx="740664" cy="128016"/>
          </a:xfrm>
          <a:custGeom>
            <a:avLst/>
            <a:gdLst/>
            <a:ahLst/>
            <a:cxnLst/>
            <a:rect l="l" t="t" r="r" b="b"/>
            <a:pathLst>
              <a:path w="81" h="14">
                <a:moveTo>
                  <a:pt x="0" y="14"/>
                </a:moveTo>
                <a:lnTo>
                  <a:pt x="51" y="14"/>
                </a:lnTo>
                <a:lnTo>
                  <a:pt x="81" y="0"/>
                </a:lnTo>
              </a:path>
            </a:pathLst>
          </a:custGeom>
          <a:noFill/>
          <a:ln w="21945">
            <a:solidFill>
              <a:srgbClr val="357B73"/>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path 18"/>
          <p:cNvCxnSpPr/>
          <p:nvPr/>
        </p:nvCxnSpPr>
        <p:spPr>
          <a:xfrm>
            <a:off x="3986784" y="2423160"/>
            <a:ext cx="685800" cy="0"/>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0" name="circle 19"/>
          <p:cNvSpPr/>
          <p:nvPr/>
        </p:nvSpPr>
        <p:spPr>
          <a:xfrm>
            <a:off x="4700016" y="2203704"/>
            <a:ext cx="438912" cy="438912"/>
          </a:xfrm>
          <a:prstGeom prst="ellipse">
            <a:avLst/>
          </a:prstGeom>
          <a:solidFill>
            <a:srgbClr val="EDF3F8"/>
          </a:solidFill>
          <a:ln w="1280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P"/>
          <p:cNvSpPr txBox="1"/>
          <p:nvPr/>
        </p:nvSpPr>
        <p:spPr>
          <a:xfrm>
            <a:off x="4780830" y="2290572"/>
            <a:ext cx="277285" cy="304038"/>
          </a:xfrm>
          <a:prstGeom prst="rect">
            <a:avLst/>
          </a:prstGeom>
          <a:noFill/>
        </p:spPr>
        <p:txBody>
          <a:bodyPr wrap="none" lIns="0" rIns="0" tIns="0" bIns="0" anchor="t">
            <a:spAutoFit/>
          </a:bodyPr>
          <a:lstStyle/>
          <a:p>
            <a:pPr algn="ctr">
              <a:lnSpc>
                <a:spcPct val="100000"/>
              </a:lnSpc>
              <a:spcBef>
                <a:spcPts val="0"/>
              </a:spcBef>
              <a:spcAft>
                <a:spcPts val="0"/>
              </a:spcAft>
            </a:pPr>
            <a:r>
              <a:rPr sz="1800" b="1" lang="en-US" spc="0">
                <a:solidFill>
                  <a:srgbClr val="263746"/>
                </a:solidFill>
                <a:latin typeface="DejaVu Sans"/>
                <a:ea typeface="DejaVu Sans"/>
              </a:rPr>
              <a:t>P</a:t>
            </a:r>
          </a:p>
        </p:txBody>
      </p:sp>
      <p:sp>
        <p:nvSpPr>
          <p:cNvPr id="22" name="SPAWN"/>
          <p:cNvSpPr txBox="1"/>
          <p:nvPr/>
        </p:nvSpPr>
        <p:spPr>
          <a:xfrm>
            <a:off x="1151305" y="1911096"/>
            <a:ext cx="660047" cy="221742"/>
          </a:xfrm>
          <a:prstGeom prst="rect">
            <a:avLst/>
          </a:prstGeom>
          <a:noFill/>
        </p:spPr>
        <p:txBody>
          <a:bodyPr wrap="none" lIns="0" rIns="0" tIns="0" bIns="0" anchor="t">
            <a:spAutoFit/>
          </a:bodyPr>
          <a:lstStyle/>
          <a:p>
            <a:pPr algn="ctr">
              <a:lnSpc>
                <a:spcPct val="100000"/>
              </a:lnSpc>
              <a:spcBef>
                <a:spcPts val="0"/>
              </a:spcBef>
              <a:spcAft>
                <a:spcPts val="0"/>
              </a:spcAft>
            </a:pPr>
            <a:r>
              <a:rPr sz="1224" b="0" lang="en-US" spc="0">
                <a:solidFill>
                  <a:srgbClr val="687680"/>
                </a:solidFill>
                <a:latin typeface="DejaVu Sans"/>
                <a:ea typeface="DejaVu Sans"/>
              </a:rPr>
              <a:t>SPAWN</a:t>
            </a:r>
          </a:p>
        </p:txBody>
      </p:sp>
      <p:sp>
        <p:nvSpPr>
          <p:cNvPr id="23" name="RETURN"/>
          <p:cNvSpPr txBox="1"/>
          <p:nvPr/>
        </p:nvSpPr>
        <p:spPr>
          <a:xfrm>
            <a:off x="2515011" y="2770632"/>
            <a:ext cx="748986" cy="221742"/>
          </a:xfrm>
          <a:prstGeom prst="rect">
            <a:avLst/>
          </a:prstGeom>
          <a:noFill/>
        </p:spPr>
        <p:txBody>
          <a:bodyPr wrap="none" lIns="0" rIns="0" tIns="0" bIns="0" anchor="t">
            <a:spAutoFit/>
          </a:bodyPr>
          <a:lstStyle/>
          <a:p>
            <a:pPr algn="ctr">
              <a:lnSpc>
                <a:spcPct val="100000"/>
              </a:lnSpc>
              <a:spcBef>
                <a:spcPts val="0"/>
              </a:spcBef>
              <a:spcAft>
                <a:spcPts val="0"/>
              </a:spcAft>
            </a:pPr>
            <a:r>
              <a:rPr sz="1224" b="0" lang="en-US" spc="0">
                <a:solidFill>
                  <a:srgbClr val="687680"/>
                </a:solidFill>
                <a:latin typeface="DejaVu Sans"/>
                <a:ea typeface="DejaVu Sans"/>
              </a:rPr>
              <a:t>RETURN</a:t>
            </a:r>
          </a:p>
        </p:txBody>
      </p:sp>
      <p:cxnSp>
        <p:nvCxnSpPr>
          <p:cNvPr id="24" name="line 23"/>
          <p:cNvCxnSpPr/>
          <p:nvPr/>
        </p:nvCxnSpPr>
        <p:spPr>
          <a:xfrm>
            <a:off x="5504688" y="2002536"/>
            <a:ext cx="0" cy="850392"/>
          </a:xfrm>
          <a:prstGeom prst="line">
            <a:avLst/>
          </a:prstGeom>
          <a:ln w="13716">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25" name="Events: SPAWN, TOOL, RETURN, JOIN"/>
          <p:cNvSpPr txBox="1"/>
          <p:nvPr/>
        </p:nvSpPr>
        <p:spPr>
          <a:xfrm>
            <a:off x="5760720" y="1952244"/>
            <a:ext cx="4162485"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Events: SPAWN, TOOL, RETURN, JOIN</a:t>
            </a:r>
          </a:p>
        </p:txBody>
      </p:sp>
      <p:sp>
        <p:nvSpPr>
          <p:cNvPr id="26" name="Signals: completion notice and delivered text"/>
          <p:cNvSpPr txBox="1"/>
          <p:nvPr/>
        </p:nvSpPr>
        <p:spPr>
          <a:xfrm>
            <a:off x="5760720" y="2272284"/>
            <a:ext cx="5088207"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Signals: completion notice and delivered text</a:t>
            </a:r>
          </a:p>
        </p:txBody>
      </p:sp>
      <p:sp>
        <p:nvSpPr>
          <p:cNvPr id="27" name="Progress: observed decode and GPU service"/>
          <p:cNvSpPr txBox="1"/>
          <p:nvPr/>
        </p:nvSpPr>
        <p:spPr>
          <a:xfrm>
            <a:off x="5760720" y="2592324"/>
            <a:ext cx="4951905"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Progress: observed decode and GPU service</a:t>
            </a:r>
          </a:p>
        </p:txBody>
      </p:sp>
      <p:sp>
        <p:nvSpPr>
          <p:cNvPr id="28" name="Causal updates"/>
          <p:cNvSpPr txBox="1"/>
          <p:nvPr/>
        </p:nvSpPr>
        <p:spPr>
          <a:xfrm>
            <a:off x="1334578" y="3150108"/>
            <a:ext cx="1591949" cy="260604"/>
          </a:xfrm>
          <a:prstGeom prst="rect">
            <a:avLst/>
          </a:prstGeom>
          <a:noFill/>
        </p:spPr>
        <p:txBody>
          <a:bodyPr wrap="none" lIns="0" rIns="0" tIns="0" bIns="0" anchor="t">
            <a:spAutoFit/>
          </a:bodyPr>
          <a:lstStyle/>
          <a:p>
            <a:pPr algn="ctr">
              <a:lnSpc>
                <a:spcPct val="100000"/>
              </a:lnSpc>
              <a:spcBef>
                <a:spcPts val="0"/>
              </a:spcBef>
              <a:spcAft>
                <a:spcPts val="0"/>
              </a:spcAft>
            </a:pPr>
            <a:r>
              <a:rPr sz="1512" b="0" lang="en-US" spc="0">
                <a:solidFill>
                  <a:srgbClr val="3D6F9F"/>
                </a:solidFill>
                <a:latin typeface="DejaVu Sans"/>
                <a:ea typeface="DejaVu Sans"/>
              </a:rPr>
              <a:t>Causal updates</a:t>
            </a:r>
          </a:p>
        </p:txBody>
      </p:sp>
      <p:cxnSp>
        <p:nvCxnSpPr>
          <p:cNvPr id="29" name="path 28"/>
          <p:cNvCxnSpPr/>
          <p:nvPr/>
        </p:nvCxnSpPr>
        <p:spPr>
          <a:xfrm>
            <a:off x="2130552" y="3035808"/>
            <a:ext cx="0" cy="566928"/>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0" name="Online observations"/>
          <p:cNvSpPr txBox="1"/>
          <p:nvPr/>
        </p:nvSpPr>
        <p:spPr>
          <a:xfrm>
            <a:off x="5168378" y="3150108"/>
            <a:ext cx="2025932" cy="260604"/>
          </a:xfrm>
          <a:prstGeom prst="rect">
            <a:avLst/>
          </a:prstGeom>
          <a:noFill/>
        </p:spPr>
        <p:txBody>
          <a:bodyPr wrap="none" lIns="0" rIns="0" tIns="0" bIns="0" anchor="t">
            <a:spAutoFit/>
          </a:bodyPr>
          <a:lstStyle/>
          <a:p>
            <a:pPr algn="ctr">
              <a:lnSpc>
                <a:spcPct val="100000"/>
              </a:lnSpc>
              <a:spcBef>
                <a:spcPts val="0"/>
              </a:spcBef>
              <a:spcAft>
                <a:spcPts val="0"/>
              </a:spcAft>
            </a:pPr>
            <a:r>
              <a:rPr sz="1512" b="0" lang="en-US" spc="0">
                <a:solidFill>
                  <a:srgbClr val="A96F1F"/>
                </a:solidFill>
                <a:latin typeface="DejaVu Sans"/>
                <a:ea typeface="DejaVu Sans"/>
              </a:rPr>
              <a:t>Online observations</a:t>
            </a:r>
          </a:p>
        </p:txBody>
      </p:sp>
      <p:cxnSp>
        <p:nvCxnSpPr>
          <p:cNvPr id="31" name="path 30"/>
          <p:cNvCxnSpPr/>
          <p:nvPr/>
        </p:nvCxnSpPr>
        <p:spPr>
          <a:xfrm>
            <a:off x="6181344" y="3035808"/>
            <a:ext cx="0" cy="566928"/>
          </a:xfrm>
          <a:prstGeom prst="line">
            <a:avLst/>
          </a:prstGeom>
          <a:ln w="21945">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2" name="rect 31"/>
          <p:cNvSpPr/>
          <p:nvPr/>
        </p:nvSpPr>
        <p:spPr>
          <a:xfrm>
            <a:off x="365760" y="3621024"/>
            <a:ext cx="3602736" cy="2350008"/>
          </a:xfrm>
          <a:prstGeom prst="roundRect">
            <a:avLst>
              <a:gd name="adj" fmla="val 1167"/>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3" name="line 32"/>
          <p:cNvCxnSpPr/>
          <p:nvPr/>
        </p:nvCxnSpPr>
        <p:spPr>
          <a:xfrm>
            <a:off x="374904" y="3630168"/>
            <a:ext cx="3584448" cy="0"/>
          </a:xfrm>
          <a:prstGeom prst="line">
            <a:avLst/>
          </a:prstGeom>
          <a:ln w="27432">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34" name="(b) Causal state"/>
          <p:cNvSpPr txBox="1"/>
          <p:nvPr/>
        </p:nvSpPr>
        <p:spPr>
          <a:xfrm>
            <a:off x="566928" y="3765042"/>
            <a:ext cx="2240959"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D6F9F"/>
                </a:solidFill>
                <a:latin typeface="DejaVu Sans"/>
                <a:ea typeface="DejaVu Sans"/>
              </a:rPr>
              <a:t>(b) Causal state</a:t>
            </a:r>
          </a:p>
        </p:txBody>
      </p:sp>
      <p:sp>
        <p:nvSpPr>
          <p:cNvPr id="35" name="Runtime workflow graph"/>
          <p:cNvSpPr txBox="1"/>
          <p:nvPr/>
        </p:nvSpPr>
        <p:spPr>
          <a:xfrm>
            <a:off x="576072" y="4165092"/>
            <a:ext cx="2791313"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Runtime workflow graph</a:t>
            </a:r>
          </a:p>
        </p:txBody>
      </p:sp>
      <p:sp>
        <p:nvSpPr>
          <p:cNvPr id="36" name="JOIN_ALL / tool wait / ready"/>
          <p:cNvSpPr txBox="1"/>
          <p:nvPr/>
        </p:nvSpPr>
        <p:spPr>
          <a:xfrm>
            <a:off x="576072" y="4521708"/>
            <a:ext cx="3077742"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JOIN_ALL / tool wait / ready</a:t>
            </a:r>
          </a:p>
        </p:txBody>
      </p:sp>
      <p:sp>
        <p:nvSpPr>
          <p:cNvPr id="37" name="Context identity and epoch"/>
          <p:cNvSpPr txBox="1"/>
          <p:nvPr/>
        </p:nvSpPr>
        <p:spPr>
          <a:xfrm>
            <a:off x="576072" y="4878324"/>
            <a:ext cx="3097244"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Context identity and epoch</a:t>
            </a:r>
          </a:p>
        </p:txBody>
      </p:sp>
      <p:sp>
        <p:nvSpPr>
          <p:cNvPr id="38" name="rect 37"/>
          <p:cNvSpPr/>
          <p:nvPr/>
        </p:nvSpPr>
        <p:spPr>
          <a:xfrm>
            <a:off x="576072" y="5394960"/>
            <a:ext cx="1472184" cy="356616"/>
          </a:xfrm>
          <a:prstGeom prst="roundRect">
            <a:avLst>
              <a:gd name="adj" fmla="val 5128"/>
            </a:avLst>
          </a:prstGeom>
          <a:solidFill>
            <a:srgbClr val="FBF2E3"/>
          </a:solidFill>
          <a:ln w="11887">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WAIT_JOIN"/>
          <p:cNvSpPr txBox="1"/>
          <p:nvPr/>
        </p:nvSpPr>
        <p:spPr>
          <a:xfrm>
            <a:off x="725323" y="5463997"/>
            <a:ext cx="1173682" cy="251460"/>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WAIT_JOIN</a:t>
            </a:r>
          </a:p>
        </p:txBody>
      </p:sp>
      <p:sp>
        <p:nvSpPr>
          <p:cNvPr id="40" name="rect 39"/>
          <p:cNvSpPr/>
          <p:nvPr/>
        </p:nvSpPr>
        <p:spPr>
          <a:xfrm>
            <a:off x="2212848" y="5394960"/>
            <a:ext cx="1472184" cy="356616"/>
          </a:xfrm>
          <a:prstGeom prst="roundRect">
            <a:avLst>
              <a:gd name="adj" fmla="val 5128"/>
            </a:avLst>
          </a:prstGeom>
          <a:solidFill>
            <a:srgbClr val="EAF3F1"/>
          </a:solidFill>
          <a:ln w="11887">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READY"/>
          <p:cNvSpPr txBox="1"/>
          <p:nvPr/>
        </p:nvSpPr>
        <p:spPr>
          <a:xfrm>
            <a:off x="2554926" y="5463997"/>
            <a:ext cx="788027" cy="251460"/>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READY</a:t>
            </a:r>
          </a:p>
        </p:txBody>
      </p:sp>
      <p:sp>
        <p:nvSpPr>
          <p:cNvPr id="42" name="rect 41"/>
          <p:cNvSpPr/>
          <p:nvPr/>
        </p:nvSpPr>
        <p:spPr>
          <a:xfrm>
            <a:off x="4297680" y="3621024"/>
            <a:ext cx="3785616" cy="2350008"/>
          </a:xfrm>
          <a:prstGeom prst="roundRect">
            <a:avLst>
              <a:gd name="adj" fmla="val 1167"/>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3" name="line 42"/>
          <p:cNvCxnSpPr/>
          <p:nvPr/>
        </p:nvCxnSpPr>
        <p:spPr>
          <a:xfrm>
            <a:off x="4306824" y="3630168"/>
            <a:ext cx="3767328" cy="0"/>
          </a:xfrm>
          <a:prstGeom prst="line">
            <a:avLst/>
          </a:prstGeom>
          <a:ln w="27432">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44" name="(c) Prediction"/>
          <p:cNvSpPr txBox="1"/>
          <p:nvPr/>
        </p:nvSpPr>
        <p:spPr>
          <a:xfrm>
            <a:off x="4498848" y="3765042"/>
            <a:ext cx="1923919"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A96F1F"/>
                </a:solidFill>
                <a:latin typeface="DejaVu Sans"/>
                <a:ea typeface="DejaVu Sans"/>
              </a:rPr>
              <a:t>(c) Prediction</a:t>
            </a:r>
          </a:p>
        </p:txBody>
      </p:sp>
      <p:sp>
        <p:nvSpPr>
          <p:cNvPr id="45" name="Child phase + remaining work"/>
          <p:cNvSpPr txBox="1"/>
          <p:nvPr/>
        </p:nvSpPr>
        <p:spPr>
          <a:xfrm>
            <a:off x="4498848" y="4210812"/>
            <a:ext cx="3361884" cy="260604"/>
          </a:xfrm>
          <a:prstGeom prst="rect">
            <a:avLst/>
          </a:prstGeom>
          <a:noFill/>
        </p:spPr>
        <p:txBody>
          <a:bodyPr wrap="none" lIns="0" rIns="0" tIns="0" bIns="0" anchor="t">
            <a:spAutoFit/>
          </a:bodyPr>
          <a:lstStyle/>
          <a:p>
            <a:pPr algn="l">
              <a:lnSpc>
                <a:spcPct val="100000"/>
              </a:lnSpc>
              <a:spcBef>
                <a:spcPts val="0"/>
              </a:spcBef>
              <a:spcAft>
                <a:spcPts val="0"/>
              </a:spcAft>
            </a:pPr>
            <a:r>
              <a:rPr sz="1512" b="1" lang="en-US" spc="0">
                <a:solidFill>
                  <a:srgbClr val="263746"/>
                </a:solidFill>
                <a:latin typeface="DejaVu Sans"/>
                <a:ea typeface="DejaVu Sans"/>
              </a:rPr>
              <a:t>Child phase + remaining work</a:t>
            </a:r>
          </a:p>
        </p:txBody>
      </p:sp>
      <p:sp>
        <p:nvSpPr>
          <p:cNvPr id="46" name="Text, notice and decode progress"/>
          <p:cNvSpPr txBox="1"/>
          <p:nvPr/>
        </p:nvSpPr>
        <p:spPr>
          <a:xfrm>
            <a:off x="4498848" y="4521708"/>
            <a:ext cx="3288411"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687680"/>
                </a:solidFill>
                <a:latin typeface="DejaVu Sans"/>
                <a:ea typeface="DejaVu Sans"/>
              </a:rPr>
              <a:t>Text, notice and decode progress</a:t>
            </a:r>
          </a:p>
        </p:txBody>
      </p:sp>
      <p:cxnSp>
        <p:nvCxnSpPr>
          <p:cNvPr id="47" name="line 46"/>
          <p:cNvCxnSpPr/>
          <p:nvPr/>
        </p:nvCxnSpPr>
        <p:spPr>
          <a:xfrm>
            <a:off x="4498848" y="4919472"/>
            <a:ext cx="3374136" cy="0"/>
          </a:xfrm>
          <a:prstGeom prst="line">
            <a:avLst/>
          </a:prstGeom>
          <a:ln w="12801">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48" name="Tool residual-time distribution"/>
          <p:cNvSpPr txBox="1"/>
          <p:nvPr/>
        </p:nvSpPr>
        <p:spPr>
          <a:xfrm>
            <a:off x="4498848" y="5079492"/>
            <a:ext cx="3391102" cy="260604"/>
          </a:xfrm>
          <a:prstGeom prst="rect">
            <a:avLst/>
          </a:prstGeom>
          <a:noFill/>
        </p:spPr>
        <p:txBody>
          <a:bodyPr wrap="none" lIns="0" rIns="0" tIns="0" bIns="0" anchor="t">
            <a:spAutoFit/>
          </a:bodyPr>
          <a:lstStyle/>
          <a:p>
            <a:pPr algn="l">
              <a:lnSpc>
                <a:spcPct val="100000"/>
              </a:lnSpc>
              <a:spcBef>
                <a:spcPts val="0"/>
              </a:spcBef>
              <a:spcAft>
                <a:spcPts val="0"/>
              </a:spcAft>
            </a:pPr>
            <a:r>
              <a:rPr sz="1512" b="1" lang="en-US" spc="0">
                <a:solidFill>
                  <a:srgbClr val="263746"/>
                </a:solidFill>
                <a:latin typeface="DejaVu Sans"/>
                <a:ea typeface="DejaVu Sans"/>
              </a:rPr>
              <a:t>Tool residual-time distribution</a:t>
            </a:r>
          </a:p>
        </p:txBody>
      </p:sp>
      <p:sp>
        <p:nvSpPr>
          <p:cNvPr id="49" name="Type, elapsed time and history"/>
          <p:cNvSpPr txBox="1"/>
          <p:nvPr/>
        </p:nvSpPr>
        <p:spPr>
          <a:xfrm>
            <a:off x="4498848" y="5390388"/>
            <a:ext cx="3062883"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687680"/>
                </a:solidFill>
                <a:latin typeface="DejaVu Sans"/>
                <a:ea typeface="DejaVu Sans"/>
              </a:rPr>
              <a:t>Type, elapsed time and history</a:t>
            </a:r>
          </a:p>
        </p:txBody>
      </p:sp>
      <p:cxnSp>
        <p:nvCxnSpPr>
          <p:cNvPr id="50" name="path 49"/>
          <p:cNvCxnSpPr/>
          <p:nvPr/>
        </p:nvCxnSpPr>
        <p:spPr>
          <a:xfrm>
            <a:off x="3968496" y="4846320"/>
            <a:ext cx="320040" cy="0"/>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51" name="path 50"/>
          <p:cNvCxnSpPr/>
          <p:nvPr/>
        </p:nvCxnSpPr>
        <p:spPr>
          <a:xfrm>
            <a:off x="8083296" y="4846320"/>
            <a:ext cx="411480" cy="0"/>
          </a:xfrm>
          <a:prstGeom prst="line">
            <a:avLst/>
          </a:prstGeom>
          <a:ln w="21945">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52" name="Hints"/>
          <p:cNvSpPr txBox="1"/>
          <p:nvPr/>
        </p:nvSpPr>
        <p:spPr>
          <a:xfrm>
            <a:off x="8038487" y="4507992"/>
            <a:ext cx="510242" cy="221742"/>
          </a:xfrm>
          <a:prstGeom prst="rect">
            <a:avLst/>
          </a:prstGeom>
          <a:noFill/>
        </p:spPr>
        <p:txBody>
          <a:bodyPr wrap="none" lIns="0" rIns="0" tIns="0" bIns="0" anchor="t">
            <a:spAutoFit/>
          </a:bodyPr>
          <a:lstStyle/>
          <a:p>
            <a:pPr algn="ctr">
              <a:lnSpc>
                <a:spcPct val="100000"/>
              </a:lnSpc>
              <a:spcBef>
                <a:spcPts val="0"/>
              </a:spcBef>
              <a:spcAft>
                <a:spcPts val="0"/>
              </a:spcAft>
            </a:pPr>
            <a:r>
              <a:rPr sz="1224" b="0" lang="en-US" spc="0">
                <a:solidFill>
                  <a:srgbClr val="A96F1F"/>
                </a:solidFill>
                <a:latin typeface="DejaVu Sans"/>
                <a:ea typeface="DejaVu Sans"/>
              </a:rPr>
              <a:t>Hints</a:t>
            </a:r>
          </a:p>
        </p:txBody>
      </p:sp>
      <p:sp>
        <p:nvSpPr>
          <p:cNvPr id="53" name="rect 52"/>
          <p:cNvSpPr/>
          <p:nvPr/>
        </p:nvSpPr>
        <p:spPr>
          <a:xfrm>
            <a:off x="8503920" y="3621024"/>
            <a:ext cx="4297680" cy="2350008"/>
          </a:xfrm>
          <a:prstGeom prst="roundRect">
            <a:avLst>
              <a:gd name="adj" fmla="val 1167"/>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4" name="line 53"/>
          <p:cNvCxnSpPr/>
          <p:nvPr/>
        </p:nvCxnSpPr>
        <p:spPr>
          <a:xfrm>
            <a:off x="8513064" y="3630168"/>
            <a:ext cx="4279392" cy="0"/>
          </a:xfrm>
          <a:prstGeom prst="line">
            <a:avLst/>
          </a:prstGeom>
          <a:ln w="27432">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55" name="(d) Runtime decisions"/>
          <p:cNvSpPr txBox="1"/>
          <p:nvPr/>
        </p:nvSpPr>
        <p:spPr>
          <a:xfrm>
            <a:off x="8705088" y="3765042"/>
            <a:ext cx="3039558"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57B73"/>
                </a:solidFill>
                <a:latin typeface="DejaVu Sans"/>
                <a:ea typeface="DejaVu Sans"/>
              </a:rPr>
              <a:t>(d) Runtime decisions</a:t>
            </a:r>
          </a:p>
        </p:txBody>
      </p:sp>
      <p:sp>
        <p:nvSpPr>
          <p:cNvPr id="56" name="Safe checkpoint + valid Host copy"/>
          <p:cNvSpPr txBox="1"/>
          <p:nvPr/>
        </p:nvSpPr>
        <p:spPr>
          <a:xfrm>
            <a:off x="8705088" y="4128516"/>
            <a:ext cx="3880021"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Safe checkpoint + valid Host copy</a:t>
            </a:r>
          </a:p>
        </p:txBody>
      </p:sp>
      <p:sp>
        <p:nvSpPr>
          <p:cNvPr id="57" name="Capacity + transfer service cost"/>
          <p:cNvSpPr txBox="1"/>
          <p:nvPr/>
        </p:nvSpPr>
        <p:spPr>
          <a:xfrm>
            <a:off x="8705088" y="4503420"/>
            <a:ext cx="3639776"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Capacity + transfer service cost</a:t>
            </a:r>
          </a:p>
        </p:txBody>
      </p:sp>
      <p:sp>
        <p:nvSpPr>
          <p:cNvPr id="58" name="Missing-page transfer planning"/>
          <p:cNvSpPr txBox="1"/>
          <p:nvPr/>
        </p:nvSpPr>
        <p:spPr>
          <a:xfrm>
            <a:off x="8705088" y="4878324"/>
            <a:ext cx="3513868"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Missing-page transfer planning</a:t>
            </a:r>
          </a:p>
        </p:txBody>
      </p:sp>
      <p:sp>
        <p:nvSpPr>
          <p:cNvPr id="59" name="Admission + residency + aging"/>
          <p:cNvSpPr txBox="1"/>
          <p:nvPr/>
        </p:nvSpPr>
        <p:spPr>
          <a:xfrm>
            <a:off x="8705088" y="5253228"/>
            <a:ext cx="3552658" cy="294894"/>
          </a:xfrm>
          <a:prstGeom prst="rect">
            <a:avLst/>
          </a:prstGeom>
          <a:noFill/>
        </p:spPr>
        <p:txBody>
          <a:bodyPr wrap="none" lIns="0" rIns="0" tIns="0" bIns="0" anchor="t">
            <a:spAutoFit/>
          </a:bodyPr>
          <a:lstStyle/>
          <a:p>
            <a:pPr algn="l">
              <a:lnSpc>
                <a:spcPct val="100000"/>
              </a:lnSpc>
              <a:spcBef>
                <a:spcPts val="0"/>
              </a:spcBef>
              <a:spcAft>
                <a:spcPts val="0"/>
              </a:spcAft>
            </a:pPr>
            <a:r>
              <a:rPr sz="1728" b="0" lang="en-US" spc="0">
                <a:solidFill>
                  <a:srgbClr val="263746"/>
                </a:solidFill>
                <a:latin typeface="DejaVu Sans"/>
                <a:ea typeface="DejaVu Sans"/>
              </a:rPr>
              <a:t>Admission + residency + aging</a:t>
            </a:r>
          </a:p>
        </p:txBody>
      </p:sp>
      <p:cxnSp>
        <p:nvCxnSpPr>
          <p:cNvPr id="60" name="path 59"/>
          <p:cNvCxnSpPr/>
          <p:nvPr/>
        </p:nvCxnSpPr>
        <p:spPr>
          <a:xfrm>
            <a:off x="10652760" y="5971032"/>
            <a:ext cx="0" cy="713232"/>
          </a:xfrm>
          <a:prstGeom prst="line">
            <a:avLst/>
          </a:prstGeom>
          <a:ln w="21945">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61" name="Intents"/>
          <p:cNvSpPr txBox="1"/>
          <p:nvPr/>
        </p:nvSpPr>
        <p:spPr>
          <a:xfrm>
            <a:off x="10835640" y="6204204"/>
            <a:ext cx="778562"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357B73"/>
                </a:solidFill>
                <a:latin typeface="DejaVu Sans"/>
                <a:ea typeface="DejaVu Sans"/>
              </a:rPr>
              <a:t>Intents</a:t>
            </a:r>
          </a:p>
        </p:txBody>
      </p:sp>
      <p:sp>
        <p:nvSpPr>
          <p:cNvPr id="62" name="path 61"/>
          <p:cNvSpPr/>
          <p:nvPr/>
        </p:nvSpPr>
        <p:spPr>
          <a:xfrm>
            <a:off x="6089904" y="5971032"/>
            <a:ext cx="2916936" cy="713232"/>
          </a:xfrm>
          <a:custGeom>
            <a:avLst/>
            <a:gdLst/>
            <a:ahLst/>
            <a:cxnLst/>
            <a:rect l="l" t="t" r="r" b="b"/>
            <a:pathLst>
              <a:path w="319" h="78">
                <a:moveTo>
                  <a:pt x="0" y="78"/>
                </a:moveTo>
                <a:lnTo>
                  <a:pt x="0" y="38"/>
                </a:lnTo>
                <a:lnTo>
                  <a:pt x="319" y="38"/>
                </a:lnTo>
                <a:lnTo>
                  <a:pt x="319" y="0"/>
                </a:lnTo>
              </a:path>
            </a:pathLst>
          </a:custGeom>
          <a:noFill/>
          <a:ln w="21945">
            <a:solidFill>
              <a:srgbClr val="3D6F9F"/>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Capacity / ACK / first use"/>
          <p:cNvSpPr txBox="1"/>
          <p:nvPr/>
        </p:nvSpPr>
        <p:spPr>
          <a:xfrm>
            <a:off x="6263640" y="6048756"/>
            <a:ext cx="2486668"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3D6F9F"/>
                </a:solidFill>
                <a:latin typeface="DejaVu Sans"/>
                <a:ea typeface="DejaVu Sans"/>
              </a:rPr>
              <a:t>Capacity / ACK / first use</a:t>
            </a:r>
          </a:p>
        </p:txBody>
      </p:sp>
      <p:sp>
        <p:nvSpPr>
          <p:cNvPr id="64" name="rect 63"/>
          <p:cNvSpPr/>
          <p:nvPr/>
        </p:nvSpPr>
        <p:spPr>
          <a:xfrm>
            <a:off x="365760" y="6702552"/>
            <a:ext cx="12435840" cy="1627632"/>
          </a:xfrm>
          <a:prstGeom prst="roundRect">
            <a:avLst>
              <a:gd name="adj" fmla="val 1685"/>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5" name="line 64"/>
          <p:cNvCxnSpPr/>
          <p:nvPr/>
        </p:nvCxnSpPr>
        <p:spPr>
          <a:xfrm>
            <a:off x="374904" y="6711696"/>
            <a:ext cx="12417552" cy="0"/>
          </a:xfrm>
          <a:prstGeom prst="line">
            <a:avLst/>
          </a:prstGeom>
          <a:ln w="27432">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66" name="(e) SGLang: physical cache and execution authority"/>
          <p:cNvSpPr txBox="1"/>
          <p:nvPr/>
        </p:nvSpPr>
        <p:spPr>
          <a:xfrm>
            <a:off x="566928" y="6846570"/>
            <a:ext cx="7028057"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D6F9F"/>
                </a:solidFill>
                <a:latin typeface="DejaVu Sans"/>
                <a:ea typeface="DejaVu Sans"/>
              </a:rPr>
              <a:t>(e) SGLang: physical cache and execution authority</a:t>
            </a:r>
          </a:p>
        </p:txBody>
      </p:sp>
      <p:sp>
        <p:nvSpPr>
          <p:cNvPr id="67" name="rect 66"/>
          <p:cNvSpPr/>
          <p:nvPr/>
        </p:nvSpPr>
        <p:spPr>
          <a:xfrm>
            <a:off x="566928" y="7379208"/>
            <a:ext cx="2432304" cy="685800"/>
          </a:xfrm>
          <a:prstGeom prst="roundRect">
            <a:avLst>
              <a:gd name="adj" fmla="val 2666"/>
            </a:avLst>
          </a:prstGeom>
          <a:solidFill>
            <a:srgbClr val="EDF3F8"/>
          </a:solidFill>
          <a:ln w="1188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Native GPU batches"/>
          <p:cNvSpPr txBox="1"/>
          <p:nvPr/>
        </p:nvSpPr>
        <p:spPr>
          <a:xfrm>
            <a:off x="655618" y="7609088"/>
            <a:ext cx="2254925"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263746"/>
                </a:solidFill>
                <a:latin typeface="DejaVu Sans"/>
                <a:ea typeface="DejaVu Sans"/>
              </a:rPr>
              <a:t>Native GPU batches</a:t>
            </a:r>
          </a:p>
        </p:txBody>
      </p:sp>
      <p:sp>
        <p:nvSpPr>
          <p:cNvPr id="69" name="rect 68"/>
          <p:cNvSpPr/>
          <p:nvPr/>
        </p:nvSpPr>
        <p:spPr>
          <a:xfrm>
            <a:off x="3630168" y="7379208"/>
            <a:ext cx="3749040" cy="685800"/>
          </a:xfrm>
          <a:prstGeom prst="roundRect">
            <a:avLst>
              <a:gd name="adj" fmla="val 2666"/>
            </a:avLst>
          </a:prstGeom>
          <a:solidFill>
            <a:srgbClr val="F2F4F5"/>
          </a:solidFill>
          <a:ln w="11887">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Radix / HiCache / Allocators"/>
          <p:cNvSpPr txBox="1"/>
          <p:nvPr/>
        </p:nvSpPr>
        <p:spPr>
          <a:xfrm>
            <a:off x="3818817" y="7597018"/>
            <a:ext cx="3371743" cy="283464"/>
          </a:xfrm>
          <a:prstGeom prst="rect">
            <a:avLst/>
          </a:prstGeom>
          <a:noFill/>
        </p:spPr>
        <p:txBody>
          <a:bodyPr wrap="none" lIns="0" rIns="0" tIns="0" bIns="0" anchor="t">
            <a:spAutoFit/>
          </a:bodyPr>
          <a:lstStyle/>
          <a:p>
            <a:pPr algn="ctr">
              <a:lnSpc>
                <a:spcPct val="100000"/>
              </a:lnSpc>
              <a:spcBef>
                <a:spcPts val="0"/>
              </a:spcBef>
              <a:spcAft>
                <a:spcPts val="0"/>
              </a:spcAft>
            </a:pPr>
            <a:r>
              <a:rPr sz="1655" b="1" lang="en-US" spc="0">
                <a:solidFill>
                  <a:srgbClr val="263746"/>
                </a:solidFill>
                <a:latin typeface="DejaVu Sans"/>
                <a:ea typeface="DejaVu Sans"/>
              </a:rPr>
              <a:t>Radix / HiCache / Allocators</a:t>
            </a:r>
          </a:p>
        </p:txBody>
      </p:sp>
      <p:cxnSp>
        <p:nvCxnSpPr>
          <p:cNvPr id="71" name="path 70"/>
          <p:cNvCxnSpPr/>
          <p:nvPr/>
        </p:nvCxnSpPr>
        <p:spPr>
          <a:xfrm>
            <a:off x="3008376" y="7717536"/>
            <a:ext cx="612648" cy="0"/>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72" name="path 71"/>
          <p:cNvCxnSpPr/>
          <p:nvPr/>
        </p:nvCxnSpPr>
        <p:spPr>
          <a:xfrm>
            <a:off x="7388352" y="7717536"/>
            <a:ext cx="539496" cy="0"/>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73" name="rect 72"/>
          <p:cNvSpPr/>
          <p:nvPr/>
        </p:nvSpPr>
        <p:spPr>
          <a:xfrm>
            <a:off x="7927848" y="7333488"/>
            <a:ext cx="1719072" cy="758952"/>
          </a:xfrm>
          <a:prstGeom prst="roundRect">
            <a:avLst>
              <a:gd name="adj" fmla="val 2409"/>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HBM"/>
          <p:cNvSpPr txBox="1"/>
          <p:nvPr/>
        </p:nvSpPr>
        <p:spPr>
          <a:xfrm>
            <a:off x="8436001" y="7422642"/>
            <a:ext cx="702766" cy="304038"/>
          </a:xfrm>
          <a:prstGeom prst="rect">
            <a:avLst/>
          </a:prstGeom>
          <a:noFill/>
        </p:spPr>
        <p:txBody>
          <a:bodyPr wrap="none" lIns="0" rIns="0" tIns="0" bIns="0" anchor="t">
            <a:spAutoFit/>
          </a:bodyPr>
          <a:lstStyle/>
          <a:p>
            <a:pPr algn="ctr">
              <a:lnSpc>
                <a:spcPct val="100000"/>
              </a:lnSpc>
              <a:spcBef>
                <a:spcPts val="0"/>
              </a:spcBef>
              <a:spcAft>
                <a:spcPts val="0"/>
              </a:spcAft>
            </a:pPr>
            <a:r>
              <a:rPr sz="1800" b="1" lang="en-US" spc="0">
                <a:solidFill>
                  <a:srgbClr val="3D6F9F"/>
                </a:solidFill>
                <a:latin typeface="DejaVu Sans"/>
                <a:ea typeface="DejaVu Sans"/>
              </a:rPr>
              <a:t>HBM</a:t>
            </a:r>
          </a:p>
        </p:txBody>
      </p:sp>
      <p:sp>
        <p:nvSpPr>
          <p:cNvPr id="75" name="FULL + Mamba"/>
          <p:cNvSpPr txBox="1"/>
          <p:nvPr/>
        </p:nvSpPr>
        <p:spPr>
          <a:xfrm>
            <a:off x="8072955" y="7756398"/>
            <a:ext cx="1428857" cy="240030"/>
          </a:xfrm>
          <a:prstGeom prst="rect">
            <a:avLst/>
          </a:prstGeom>
          <a:noFill/>
        </p:spPr>
        <p:txBody>
          <a:bodyPr wrap="none" lIns="0" rIns="0" tIns="0" bIns="0" anchor="t">
            <a:spAutoFit/>
          </a:bodyPr>
          <a:lstStyle/>
          <a:p>
            <a:pPr algn="ctr">
              <a:lnSpc>
                <a:spcPct val="100000"/>
              </a:lnSpc>
              <a:spcBef>
                <a:spcPts val="0"/>
              </a:spcBef>
              <a:spcAft>
                <a:spcPts val="0"/>
              </a:spcAft>
            </a:pPr>
            <a:r>
              <a:rPr sz="1368" b="0" lang="en-US" spc="0">
                <a:solidFill>
                  <a:srgbClr val="687680"/>
                </a:solidFill>
                <a:latin typeface="DejaVu Sans"/>
                <a:ea typeface="DejaVu Sans"/>
              </a:rPr>
              <a:t>FULL + Mamba</a:t>
            </a:r>
          </a:p>
        </p:txBody>
      </p:sp>
      <p:sp>
        <p:nvSpPr>
          <p:cNvPr id="76" name="rect 75"/>
          <p:cNvSpPr/>
          <p:nvPr/>
        </p:nvSpPr>
        <p:spPr>
          <a:xfrm>
            <a:off x="10881360" y="7333488"/>
            <a:ext cx="1719072" cy="758952"/>
          </a:xfrm>
          <a:prstGeom prst="roundRect">
            <a:avLst>
              <a:gd name="adj" fmla="val 2409"/>
            </a:avLst>
          </a:prstGeom>
          <a:solidFill>
            <a:srgbClr val="EAF3F1"/>
          </a:solidFill>
          <a:ln w="1645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Host"/>
          <p:cNvSpPr txBox="1"/>
          <p:nvPr/>
        </p:nvSpPr>
        <p:spPr>
          <a:xfrm>
            <a:off x="11389191" y="7422642"/>
            <a:ext cx="703409" cy="304038"/>
          </a:xfrm>
          <a:prstGeom prst="rect">
            <a:avLst/>
          </a:prstGeom>
          <a:noFill/>
        </p:spPr>
        <p:txBody>
          <a:bodyPr wrap="none" lIns="0" rIns="0" tIns="0" bIns="0" anchor="t">
            <a:spAutoFit/>
          </a:bodyPr>
          <a:lstStyle/>
          <a:p>
            <a:pPr algn="ctr">
              <a:lnSpc>
                <a:spcPct val="100000"/>
              </a:lnSpc>
              <a:spcBef>
                <a:spcPts val="0"/>
              </a:spcBef>
              <a:spcAft>
                <a:spcPts val="0"/>
              </a:spcAft>
            </a:pPr>
            <a:r>
              <a:rPr sz="1800" b="1" lang="en-US" spc="0">
                <a:solidFill>
                  <a:srgbClr val="357B73"/>
                </a:solidFill>
                <a:latin typeface="DejaVu Sans"/>
                <a:ea typeface="DejaVu Sans"/>
              </a:rPr>
              <a:t>Host</a:t>
            </a:r>
          </a:p>
        </p:txBody>
      </p:sp>
      <p:sp>
        <p:nvSpPr>
          <p:cNvPr id="78" name="FULL + Mamba"/>
          <p:cNvSpPr txBox="1"/>
          <p:nvPr/>
        </p:nvSpPr>
        <p:spPr>
          <a:xfrm>
            <a:off x="11026467" y="7756398"/>
            <a:ext cx="1428857" cy="240030"/>
          </a:xfrm>
          <a:prstGeom prst="rect">
            <a:avLst/>
          </a:prstGeom>
          <a:noFill/>
        </p:spPr>
        <p:txBody>
          <a:bodyPr wrap="none" lIns="0" rIns="0" tIns="0" bIns="0" anchor="t">
            <a:spAutoFit/>
          </a:bodyPr>
          <a:lstStyle/>
          <a:p>
            <a:pPr algn="ctr">
              <a:lnSpc>
                <a:spcPct val="100000"/>
              </a:lnSpc>
              <a:spcBef>
                <a:spcPts val="0"/>
              </a:spcBef>
              <a:spcAft>
                <a:spcPts val="0"/>
              </a:spcAft>
            </a:pPr>
            <a:r>
              <a:rPr sz="1368" b="0" lang="en-US" spc="0">
                <a:solidFill>
                  <a:srgbClr val="687680"/>
                </a:solidFill>
                <a:latin typeface="DejaVu Sans"/>
                <a:ea typeface="DejaVu Sans"/>
              </a:rPr>
              <a:t>FULL + Mamba</a:t>
            </a:r>
          </a:p>
        </p:txBody>
      </p:sp>
      <p:cxnSp>
        <p:nvCxnSpPr>
          <p:cNvPr id="79" name="path 78"/>
          <p:cNvCxnSpPr/>
          <p:nvPr/>
        </p:nvCxnSpPr>
        <p:spPr>
          <a:xfrm>
            <a:off x="9656064" y="7534656"/>
            <a:ext cx="1216152" cy="0"/>
          </a:xfrm>
          <a:prstGeom prst="line">
            <a:avLst/>
          </a:prstGeom>
          <a:ln w="21945">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80" name="D2H"/>
          <p:cNvSpPr txBox="1"/>
          <p:nvPr/>
        </p:nvSpPr>
        <p:spPr>
          <a:xfrm>
            <a:off x="10017949" y="7280910"/>
            <a:ext cx="464951" cy="228600"/>
          </a:xfrm>
          <a:prstGeom prst="rect">
            <a:avLst/>
          </a:prstGeom>
          <a:noFill/>
        </p:spPr>
        <p:txBody>
          <a:bodyPr wrap="none" lIns="0" rIns="0" tIns="0" bIns="0" anchor="t">
            <a:spAutoFit/>
          </a:bodyPr>
          <a:lstStyle/>
          <a:p>
            <a:pPr algn="ctr">
              <a:lnSpc>
                <a:spcPct val="100000"/>
              </a:lnSpc>
              <a:spcBef>
                <a:spcPts val="0"/>
              </a:spcBef>
              <a:spcAft>
                <a:spcPts val="0"/>
              </a:spcAft>
            </a:pPr>
            <a:r>
              <a:rPr sz="1296" b="0" lang="en-US" spc="0">
                <a:solidFill>
                  <a:srgbClr val="357B73"/>
                </a:solidFill>
                <a:latin typeface="DejaVu Sans"/>
                <a:ea typeface="DejaVu Sans"/>
              </a:rPr>
              <a:t>D2H</a:t>
            </a:r>
          </a:p>
        </p:txBody>
      </p:sp>
      <p:cxnSp>
        <p:nvCxnSpPr>
          <p:cNvPr id="81" name="path 80"/>
          <p:cNvCxnSpPr/>
          <p:nvPr/>
        </p:nvCxnSpPr>
        <p:spPr>
          <a:xfrm flipH="1">
            <a:off x="9656064" y="7936992"/>
            <a:ext cx="1225296" cy="0"/>
          </a:xfrm>
          <a:prstGeom prst="line">
            <a:avLst/>
          </a:prstGeom>
          <a:ln w="21945">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82" name="H2D"/>
          <p:cNvSpPr txBox="1"/>
          <p:nvPr/>
        </p:nvSpPr>
        <p:spPr>
          <a:xfrm>
            <a:off x="10017949" y="7692390"/>
            <a:ext cx="464951" cy="228600"/>
          </a:xfrm>
          <a:prstGeom prst="rect">
            <a:avLst/>
          </a:prstGeom>
          <a:noFill/>
        </p:spPr>
        <p:txBody>
          <a:bodyPr wrap="none" lIns="0" rIns="0" tIns="0" bIns="0" anchor="t">
            <a:spAutoFit/>
          </a:bodyPr>
          <a:lstStyle/>
          <a:p>
            <a:pPr algn="ctr">
              <a:lnSpc>
                <a:spcPct val="100000"/>
              </a:lnSpc>
              <a:spcBef>
                <a:spcPts val="0"/>
              </a:spcBef>
              <a:spcAft>
                <a:spcPts val="0"/>
              </a:spcAft>
            </a:pPr>
            <a:r>
              <a:rPr sz="1296" b="0" lang="en-US" spc="0">
                <a:solidFill>
                  <a:srgbClr val="A96F1F"/>
                </a:solidFill>
                <a:latin typeface="DejaVu Sans"/>
                <a:ea typeface="DejaVu Sans"/>
              </a:rPr>
              <a:t>H2D</a:t>
            </a:r>
          </a:p>
        </p:txBody>
      </p:sp>
      <p:sp>
        <p:nvSpPr>
          <p:cNvPr id="83" name="Models estimate completion; runtime selects actions; native dependencies govern execution."/>
          <p:cNvSpPr txBox="1"/>
          <p:nvPr/>
        </p:nvSpPr>
        <p:spPr>
          <a:xfrm>
            <a:off x="365760" y="8453628"/>
            <a:ext cx="9533406" cy="272034"/>
          </a:xfrm>
          <a:prstGeom prst="rect">
            <a:avLst/>
          </a:prstGeom>
          <a:noFill/>
        </p:spPr>
        <p:txBody>
          <a:bodyPr wrap="none" lIns="0" rIns="0" tIns="0" bIns="0" anchor="t">
            <a:spAutoFit/>
          </a:bodyPr>
          <a:lstStyle/>
          <a:p>
            <a:pPr algn="l">
              <a:lnSpc>
                <a:spcPct val="100000"/>
              </a:lnSpc>
              <a:spcBef>
                <a:spcPts val="0"/>
              </a:spcBef>
              <a:spcAft>
                <a:spcPts val="0"/>
              </a:spcAft>
            </a:pPr>
            <a:r>
              <a:rPr sz="1584" b="0" lang="en-US" spc="0">
                <a:solidFill>
                  <a:srgbClr val="687680"/>
                </a:solidFill>
                <a:latin typeface="DejaVu Sans"/>
                <a:ea typeface="DejaVu Sans"/>
              </a:rPr>
              <a:t>Models estimate completion; runtime selects actions; native dependencies govern execution.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From Completion Signals to Useful Prefetch"/>
          <p:cNvSpPr txBox="1"/>
          <p:nvPr/>
        </p:nvSpPr>
        <p:spPr>
          <a:xfrm>
            <a:off x="365760" y="157734"/>
            <a:ext cx="7772257" cy="402336"/>
          </a:xfrm>
          <a:prstGeom prst="rect">
            <a:avLst/>
          </a:prstGeom>
          <a:noFill/>
        </p:spPr>
        <p:txBody>
          <a:bodyPr wrap="none" lIns="0" rIns="0" tIns="0" bIns="0" anchor="t">
            <a:spAutoFit/>
          </a:bodyPr>
          <a:lstStyle/>
          <a:p>
            <a:pPr algn="l">
              <a:lnSpc>
                <a:spcPct val="100000"/>
              </a:lnSpc>
              <a:spcBef>
                <a:spcPts val="0"/>
              </a:spcBef>
              <a:spcAft>
                <a:spcPts val="0"/>
              </a:spcAft>
            </a:pPr>
            <a:r>
              <a:rPr sz="2448" b="1" lang="en-US" spc="0">
                <a:solidFill>
                  <a:srgbClr val="263746"/>
                </a:solidFill>
                <a:latin typeface="DejaVu Sans"/>
                <a:ea typeface="DejaVu Sans"/>
              </a:rPr>
              <a:t>From Completion Signals to Useful Prefetch</a:t>
            </a:r>
          </a:p>
        </p:txBody>
      </p:sp>
      <p:sp>
        <p:nvSpPr>
          <p:cNvPr id="3" name="Separate remaining work, scheduling opportunity and physical data dependencies"/>
          <p:cNvSpPr txBox="1"/>
          <p:nvPr/>
        </p:nvSpPr>
        <p:spPr>
          <a:xfrm>
            <a:off x="365760" y="562356"/>
            <a:ext cx="8420588" cy="272034"/>
          </a:xfrm>
          <a:prstGeom prst="rect">
            <a:avLst/>
          </a:prstGeom>
          <a:noFill/>
        </p:spPr>
        <p:txBody>
          <a:bodyPr wrap="none" lIns="0" rIns="0" tIns="0" bIns="0" anchor="t">
            <a:spAutoFit/>
          </a:bodyPr>
          <a:lstStyle/>
          <a:p>
            <a:pPr algn="l">
              <a:lnSpc>
                <a:spcPct val="100000"/>
              </a:lnSpc>
              <a:spcBef>
                <a:spcPts val="0"/>
              </a:spcBef>
              <a:spcAft>
                <a:spcPts val="0"/>
              </a:spcAft>
            </a:pPr>
            <a:r>
              <a:rPr sz="1584" b="0" lang="en-US" spc="0">
                <a:solidFill>
                  <a:srgbClr val="687680"/>
                </a:solidFill>
                <a:latin typeface="DejaVu Sans"/>
                <a:ea typeface="DejaVu Sans"/>
              </a:rPr>
              <a:t>Separate remaining work, scheduling opportunity and physical data dependencies</a:t>
            </a:r>
          </a:p>
        </p:txBody>
      </p:sp>
      <p:sp>
        <p:nvSpPr>
          <p:cNvPr id="4" name="rect 3"/>
          <p:cNvSpPr/>
          <p:nvPr/>
        </p:nvSpPr>
        <p:spPr>
          <a:xfrm>
            <a:off x="365760" y="1106424"/>
            <a:ext cx="3264408" cy="1179576"/>
          </a:xfrm>
          <a:prstGeom prst="roundRect">
            <a:avLst>
              <a:gd name="adj" fmla="val 2325"/>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 name="line 4"/>
          <p:cNvCxnSpPr/>
          <p:nvPr/>
        </p:nvCxnSpPr>
        <p:spPr>
          <a:xfrm>
            <a:off x="374904" y="1115568"/>
            <a:ext cx="3246120" cy="0"/>
          </a:xfrm>
          <a:prstGeom prst="line">
            <a:avLst/>
          </a:prstGeom>
          <a:ln w="27432">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6" name="Child observations"/>
          <p:cNvSpPr txBox="1"/>
          <p:nvPr/>
        </p:nvSpPr>
        <p:spPr>
          <a:xfrm>
            <a:off x="566928" y="1250442"/>
            <a:ext cx="2607754"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D6F9F"/>
                </a:solidFill>
                <a:latin typeface="DejaVu Sans"/>
                <a:ea typeface="DejaVu Sans"/>
              </a:rPr>
              <a:t>Child observations</a:t>
            </a:r>
          </a:p>
        </p:txBody>
      </p:sp>
      <p:sp>
        <p:nvSpPr>
          <p:cNvPr id="7" name="Notice, text, decode progress"/>
          <p:cNvSpPr txBox="1"/>
          <p:nvPr/>
        </p:nvSpPr>
        <p:spPr>
          <a:xfrm>
            <a:off x="576072" y="1650492"/>
            <a:ext cx="2939725"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Notice, text, decode progress</a:t>
            </a:r>
          </a:p>
        </p:txBody>
      </p:sp>
      <p:sp>
        <p:nvSpPr>
          <p:cNvPr id="8" name="Already delivered information"/>
          <p:cNvSpPr txBox="1"/>
          <p:nvPr/>
        </p:nvSpPr>
        <p:spPr>
          <a:xfrm>
            <a:off x="576072" y="1924812"/>
            <a:ext cx="2964335"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Already delivered information</a:t>
            </a:r>
          </a:p>
        </p:txBody>
      </p:sp>
      <p:sp>
        <p:nvSpPr>
          <p:cNvPr id="9" name="rect 8"/>
          <p:cNvSpPr/>
          <p:nvPr/>
        </p:nvSpPr>
        <p:spPr>
          <a:xfrm>
            <a:off x="4325112" y="1106424"/>
            <a:ext cx="3465576" cy="1179576"/>
          </a:xfrm>
          <a:prstGeom prst="roundRect">
            <a:avLst>
              <a:gd name="adj" fmla="val 2325"/>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0" name="line 9"/>
          <p:cNvCxnSpPr/>
          <p:nvPr/>
        </p:nvCxnSpPr>
        <p:spPr>
          <a:xfrm>
            <a:off x="4334256" y="1115568"/>
            <a:ext cx="3447288" cy="0"/>
          </a:xfrm>
          <a:prstGeom prst="line">
            <a:avLst/>
          </a:prstGeom>
          <a:ln w="27432">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11" name="Phase / work model"/>
          <p:cNvSpPr txBox="1"/>
          <p:nvPr/>
        </p:nvSpPr>
        <p:spPr>
          <a:xfrm>
            <a:off x="4526280" y="1250442"/>
            <a:ext cx="2733949"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A96F1F"/>
                </a:solidFill>
                <a:latin typeface="DejaVu Sans"/>
                <a:ea typeface="DejaVu Sans"/>
              </a:rPr>
              <a:t>Phase / work model</a:t>
            </a:r>
          </a:p>
        </p:txBody>
      </p:sp>
      <p:sp>
        <p:nvSpPr>
          <p:cNvPr id="12" name="Final report or further tool use"/>
          <p:cNvSpPr txBox="1"/>
          <p:nvPr/>
        </p:nvSpPr>
        <p:spPr>
          <a:xfrm>
            <a:off x="4535424" y="1650492"/>
            <a:ext cx="3006269"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Final report or further tool use</a:t>
            </a:r>
          </a:p>
        </p:txBody>
      </p:sp>
      <p:sp>
        <p:nvSpPr>
          <p:cNvPr id="13" name="Conditional remaining work"/>
          <p:cNvSpPr txBox="1"/>
          <p:nvPr/>
        </p:nvSpPr>
        <p:spPr>
          <a:xfrm>
            <a:off x="4535424" y="1924812"/>
            <a:ext cx="2753487"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Conditional remaining work</a:t>
            </a:r>
          </a:p>
        </p:txBody>
      </p:sp>
      <p:sp>
        <p:nvSpPr>
          <p:cNvPr id="14" name="rect 13"/>
          <p:cNvSpPr/>
          <p:nvPr/>
        </p:nvSpPr>
        <p:spPr>
          <a:xfrm>
            <a:off x="8485632" y="1106424"/>
            <a:ext cx="4315968" cy="1179576"/>
          </a:xfrm>
          <a:prstGeom prst="roundRect">
            <a:avLst>
              <a:gd name="adj" fmla="val 2325"/>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line 14"/>
          <p:cNvCxnSpPr/>
          <p:nvPr/>
        </p:nvCxnSpPr>
        <p:spPr>
          <a:xfrm>
            <a:off x="8494776" y="1115568"/>
            <a:ext cx="4297680" cy="0"/>
          </a:xfrm>
          <a:prstGeom prst="line">
            <a:avLst/>
          </a:prstGeom>
          <a:ln w="27432">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16" name="Advisory output"/>
          <p:cNvSpPr txBox="1"/>
          <p:nvPr/>
        </p:nvSpPr>
        <p:spPr>
          <a:xfrm>
            <a:off x="8686800" y="1250442"/>
            <a:ext cx="2259675"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A96F1F"/>
                </a:solidFill>
                <a:latin typeface="DejaVu Sans"/>
                <a:ea typeface="DejaVu Sans"/>
              </a:rPr>
              <a:t>Advisory output</a:t>
            </a:r>
          </a:p>
        </p:txBody>
      </p:sp>
      <p:sp>
        <p:nvSpPr>
          <p:cNvPr id="17" name="Stage score + remaining-token bounds"/>
          <p:cNvSpPr txBox="1"/>
          <p:nvPr/>
        </p:nvSpPr>
        <p:spPr>
          <a:xfrm>
            <a:off x="8695944" y="1650492"/>
            <a:ext cx="3866340"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Stage score + remaining-token bounds</a:t>
            </a:r>
          </a:p>
        </p:txBody>
      </p:sp>
      <p:sp>
        <p:nvSpPr>
          <p:cNvPr id="18" name="Observed EOS: separate signal"/>
          <p:cNvSpPr txBox="1"/>
          <p:nvPr/>
        </p:nvSpPr>
        <p:spPr>
          <a:xfrm>
            <a:off x="8695944" y="1924812"/>
            <a:ext cx="3091744"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Observed EOS: separate signal</a:t>
            </a:r>
          </a:p>
        </p:txBody>
      </p:sp>
      <p:cxnSp>
        <p:nvCxnSpPr>
          <p:cNvPr id="19" name="path 18"/>
          <p:cNvCxnSpPr/>
          <p:nvPr/>
        </p:nvCxnSpPr>
        <p:spPr>
          <a:xfrm>
            <a:off x="3630168" y="1828800"/>
            <a:ext cx="685800" cy="0"/>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0" name="path 19"/>
          <p:cNvCxnSpPr/>
          <p:nvPr/>
        </p:nvCxnSpPr>
        <p:spPr>
          <a:xfrm>
            <a:off x="7790688" y="1828800"/>
            <a:ext cx="685800" cy="0"/>
          </a:xfrm>
          <a:prstGeom prst="line">
            <a:avLst/>
          </a:prstGeom>
          <a:ln w="21945">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1" name="path 20"/>
          <p:cNvSpPr/>
          <p:nvPr/>
        </p:nvSpPr>
        <p:spPr>
          <a:xfrm>
            <a:off x="11521440" y="1828800"/>
            <a:ext cx="1463040" cy="2258568"/>
          </a:xfrm>
          <a:custGeom>
            <a:avLst/>
            <a:gdLst/>
            <a:ahLst/>
            <a:cxnLst/>
            <a:rect l="l" t="t" r="r" b="b"/>
            <a:pathLst>
              <a:path w="160" h="247">
                <a:moveTo>
                  <a:pt x="140" y="0"/>
                </a:moveTo>
                <a:lnTo>
                  <a:pt x="160" y="0"/>
                </a:lnTo>
                <a:lnTo>
                  <a:pt x="160" y="227"/>
                </a:lnTo>
                <a:lnTo>
                  <a:pt x="0" y="227"/>
                </a:lnTo>
                <a:lnTo>
                  <a:pt x="0" y="247"/>
                </a:lnTo>
              </a:path>
            </a:pathLst>
          </a:custGeom>
          <a:noFill/>
          <a:ln w="21945">
            <a:solidFill>
              <a:srgbClr val="A96F1F"/>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 21"/>
          <p:cNvSpPr/>
          <p:nvPr/>
        </p:nvSpPr>
        <p:spPr>
          <a:xfrm>
            <a:off x="365760" y="2587752"/>
            <a:ext cx="3264408" cy="1115568"/>
          </a:xfrm>
          <a:prstGeom prst="roundRect">
            <a:avLst>
              <a:gd name="adj" fmla="val 2459"/>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3" name="line 22"/>
          <p:cNvCxnSpPr/>
          <p:nvPr/>
        </p:nvCxnSpPr>
        <p:spPr>
          <a:xfrm>
            <a:off x="374904" y="2596896"/>
            <a:ext cx="3246120" cy="0"/>
          </a:xfrm>
          <a:prstGeom prst="line">
            <a:avLst/>
          </a:prstGeom>
          <a:ln w="27432">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24" name="Tool observations"/>
          <p:cNvSpPr txBox="1"/>
          <p:nvPr/>
        </p:nvSpPr>
        <p:spPr>
          <a:xfrm>
            <a:off x="566928" y="2731770"/>
            <a:ext cx="2469559"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D6F9F"/>
                </a:solidFill>
                <a:latin typeface="DejaVu Sans"/>
                <a:ea typeface="DejaVu Sans"/>
              </a:rPr>
              <a:t>Tool observations</a:t>
            </a:r>
          </a:p>
        </p:txBody>
      </p:sp>
      <p:sp>
        <p:nvSpPr>
          <p:cNvPr id="25" name="Type, elapsed time, history"/>
          <p:cNvSpPr txBox="1"/>
          <p:nvPr/>
        </p:nvSpPr>
        <p:spPr>
          <a:xfrm>
            <a:off x="576072" y="3076956"/>
            <a:ext cx="2701623"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Type, elapsed time, history</a:t>
            </a:r>
          </a:p>
        </p:txBody>
      </p:sp>
      <p:sp>
        <p:nvSpPr>
          <p:cNvPr id="26" name="History of completed calls"/>
          <p:cNvSpPr txBox="1"/>
          <p:nvPr/>
        </p:nvSpPr>
        <p:spPr>
          <a:xfrm>
            <a:off x="576072" y="3351276"/>
            <a:ext cx="2610076"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History of completed calls</a:t>
            </a:r>
          </a:p>
        </p:txBody>
      </p:sp>
      <p:sp>
        <p:nvSpPr>
          <p:cNvPr id="27" name="rect 26"/>
          <p:cNvSpPr/>
          <p:nvPr/>
        </p:nvSpPr>
        <p:spPr>
          <a:xfrm>
            <a:off x="4325112" y="2587752"/>
            <a:ext cx="3465576" cy="1115568"/>
          </a:xfrm>
          <a:prstGeom prst="roundRect">
            <a:avLst>
              <a:gd name="adj" fmla="val 2459"/>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8" name="line 27"/>
          <p:cNvCxnSpPr/>
          <p:nvPr/>
        </p:nvCxnSpPr>
        <p:spPr>
          <a:xfrm>
            <a:off x="4334256" y="2596896"/>
            <a:ext cx="3447288" cy="0"/>
          </a:xfrm>
          <a:prstGeom prst="line">
            <a:avLst/>
          </a:prstGeom>
          <a:ln w="27432">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29" name="Residual-time model"/>
          <p:cNvSpPr txBox="1"/>
          <p:nvPr/>
        </p:nvSpPr>
        <p:spPr>
          <a:xfrm>
            <a:off x="4526280" y="2731770"/>
            <a:ext cx="2868108"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A96F1F"/>
                </a:solidFill>
                <a:latin typeface="DejaVu Sans"/>
                <a:ea typeface="DejaVu Sans"/>
              </a:rPr>
              <a:t>Residual-time model</a:t>
            </a:r>
          </a:p>
        </p:txBody>
      </p:sp>
      <p:sp>
        <p:nvSpPr>
          <p:cNvPr id="30" name="Given the tool is still running"/>
          <p:cNvSpPr txBox="1"/>
          <p:nvPr/>
        </p:nvSpPr>
        <p:spPr>
          <a:xfrm>
            <a:off x="4535424" y="3076956"/>
            <a:ext cx="2879217"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Given the tool is still running</a:t>
            </a:r>
          </a:p>
        </p:txBody>
      </p:sp>
      <p:sp>
        <p:nvSpPr>
          <p:cNvPr id="31" name="Update as observations arrive"/>
          <p:cNvSpPr txBox="1"/>
          <p:nvPr/>
        </p:nvSpPr>
        <p:spPr>
          <a:xfrm>
            <a:off x="4535424" y="3351276"/>
            <a:ext cx="2999125"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Update as observations arrive</a:t>
            </a:r>
          </a:p>
        </p:txBody>
      </p:sp>
      <p:sp>
        <p:nvSpPr>
          <p:cNvPr id="32" name="rect 31"/>
          <p:cNvSpPr/>
          <p:nvPr/>
        </p:nvSpPr>
        <p:spPr>
          <a:xfrm>
            <a:off x="8485632" y="2587752"/>
            <a:ext cx="4315968" cy="1115568"/>
          </a:xfrm>
          <a:prstGeom prst="roundRect">
            <a:avLst>
              <a:gd name="adj" fmla="val 2459"/>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3" name="line 32"/>
          <p:cNvCxnSpPr/>
          <p:nvPr/>
        </p:nvCxnSpPr>
        <p:spPr>
          <a:xfrm>
            <a:off x="8494776" y="2596896"/>
            <a:ext cx="4297680" cy="0"/>
          </a:xfrm>
          <a:prstGeom prst="line">
            <a:avLst/>
          </a:prstGeom>
          <a:ln w="27432">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34" name="Advisory output"/>
          <p:cNvSpPr txBox="1"/>
          <p:nvPr/>
        </p:nvSpPr>
        <p:spPr>
          <a:xfrm>
            <a:off x="8686800" y="2731770"/>
            <a:ext cx="2259675"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A96F1F"/>
                </a:solidFill>
                <a:latin typeface="DejaVu Sans"/>
                <a:ea typeface="DejaVu Sans"/>
              </a:rPr>
              <a:t>Advisory output</a:t>
            </a:r>
          </a:p>
        </p:txBody>
      </p:sp>
      <p:sp>
        <p:nvSpPr>
          <p:cNvPr id="35" name="Residual CDF / timing bounds"/>
          <p:cNvSpPr txBox="1"/>
          <p:nvPr/>
        </p:nvSpPr>
        <p:spPr>
          <a:xfrm>
            <a:off x="8695944" y="3076956"/>
            <a:ext cx="2939403"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Residual CDF / timing bounds</a:t>
            </a:r>
          </a:p>
        </p:txBody>
      </p:sp>
      <p:sp>
        <p:nvSpPr>
          <p:cNvPr id="36" name="No learned net-benefit decision"/>
          <p:cNvSpPr txBox="1"/>
          <p:nvPr/>
        </p:nvSpPr>
        <p:spPr>
          <a:xfrm>
            <a:off x="8695944" y="3351276"/>
            <a:ext cx="3132713"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No learned net-benefit decision</a:t>
            </a:r>
          </a:p>
        </p:txBody>
      </p:sp>
      <p:cxnSp>
        <p:nvCxnSpPr>
          <p:cNvPr id="37" name="path 36"/>
          <p:cNvCxnSpPr/>
          <p:nvPr/>
        </p:nvCxnSpPr>
        <p:spPr>
          <a:xfrm>
            <a:off x="3630168" y="3255264"/>
            <a:ext cx="685800" cy="0"/>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38" name="path 37"/>
          <p:cNvCxnSpPr/>
          <p:nvPr/>
        </p:nvCxnSpPr>
        <p:spPr>
          <a:xfrm>
            <a:off x="7790688" y="3255264"/>
            <a:ext cx="685800" cy="0"/>
          </a:xfrm>
          <a:prstGeom prst="line">
            <a:avLst/>
          </a:prstGeom>
          <a:ln w="21945">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39" name="path 38"/>
          <p:cNvCxnSpPr/>
          <p:nvPr/>
        </p:nvCxnSpPr>
        <p:spPr>
          <a:xfrm>
            <a:off x="10643616" y="3703320"/>
            <a:ext cx="0" cy="384048"/>
          </a:xfrm>
          <a:prstGeom prst="line">
            <a:avLst/>
          </a:prstGeom>
          <a:ln w="21945">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40" name="rect 39"/>
          <p:cNvSpPr/>
          <p:nvPr/>
        </p:nvSpPr>
        <p:spPr>
          <a:xfrm>
            <a:off x="365760" y="4105656"/>
            <a:ext cx="12435840" cy="1261872"/>
          </a:xfrm>
          <a:prstGeom prst="roundRect">
            <a:avLst>
              <a:gd name="adj" fmla="val 2173"/>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1" name="line 40"/>
          <p:cNvCxnSpPr/>
          <p:nvPr/>
        </p:nvCxnSpPr>
        <p:spPr>
          <a:xfrm>
            <a:off x="374904" y="4114800"/>
            <a:ext cx="12417552" cy="0"/>
          </a:xfrm>
          <a:prstGeom prst="line">
            <a:avLst/>
          </a:prstGeom>
          <a:ln w="27432">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42" name="(a) Runtime turns hints into bounded actions"/>
          <p:cNvSpPr txBox="1"/>
          <p:nvPr/>
        </p:nvSpPr>
        <p:spPr>
          <a:xfrm>
            <a:off x="566928" y="4249674"/>
            <a:ext cx="6168200"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57B73"/>
                </a:solidFill>
                <a:latin typeface="DejaVu Sans"/>
                <a:ea typeface="DejaVu Sans"/>
              </a:rPr>
              <a:t>(a) Runtime turns hints into bounded actions</a:t>
            </a:r>
          </a:p>
        </p:txBody>
      </p:sp>
      <p:sp>
        <p:nvSpPr>
          <p:cNvPr id="43" name="Causal readiness"/>
          <p:cNvSpPr txBox="1"/>
          <p:nvPr/>
        </p:nvSpPr>
        <p:spPr>
          <a:xfrm>
            <a:off x="576072" y="4658868"/>
            <a:ext cx="2121765" cy="283464"/>
          </a:xfrm>
          <a:prstGeom prst="rect">
            <a:avLst/>
          </a:prstGeom>
          <a:noFill/>
        </p:spPr>
        <p:txBody>
          <a:bodyPr wrap="none" lIns="0" rIns="0" tIns="0" bIns="0" anchor="t">
            <a:spAutoFit/>
          </a:bodyPr>
          <a:lstStyle/>
          <a:p>
            <a:pPr algn="l">
              <a:lnSpc>
                <a:spcPct val="100000"/>
              </a:lnSpc>
              <a:spcBef>
                <a:spcPts val="0"/>
              </a:spcBef>
              <a:spcAft>
                <a:spcPts val="0"/>
              </a:spcAft>
            </a:pPr>
            <a:r>
              <a:rPr sz="1655" b="1" lang="en-US" spc="0">
                <a:solidFill>
                  <a:srgbClr val="357B73"/>
                </a:solidFill>
                <a:latin typeface="DejaVu Sans"/>
                <a:ea typeface="DejaVu Sans"/>
              </a:rPr>
              <a:t>Causal readiness</a:t>
            </a:r>
          </a:p>
        </p:txBody>
      </p:sp>
      <p:sp>
        <p:nvSpPr>
          <p:cNvPr id="44" name="JOIN / tool state"/>
          <p:cNvSpPr txBox="1"/>
          <p:nvPr/>
        </p:nvSpPr>
        <p:spPr>
          <a:xfrm>
            <a:off x="576072" y="4976622"/>
            <a:ext cx="1544122" cy="251460"/>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JOIN / tool state</a:t>
            </a:r>
          </a:p>
        </p:txBody>
      </p:sp>
      <p:sp>
        <p:nvSpPr>
          <p:cNvPr id="45" name="Reusable checkpoint"/>
          <p:cNvSpPr txBox="1"/>
          <p:nvPr/>
        </p:nvSpPr>
        <p:spPr>
          <a:xfrm>
            <a:off x="3575304" y="4658868"/>
            <a:ext cx="2568571" cy="283464"/>
          </a:xfrm>
          <a:prstGeom prst="rect">
            <a:avLst/>
          </a:prstGeom>
          <a:noFill/>
        </p:spPr>
        <p:txBody>
          <a:bodyPr wrap="none" lIns="0" rIns="0" tIns="0" bIns="0" anchor="t">
            <a:spAutoFit/>
          </a:bodyPr>
          <a:lstStyle/>
          <a:p>
            <a:pPr algn="l">
              <a:lnSpc>
                <a:spcPct val="100000"/>
              </a:lnSpc>
              <a:spcBef>
                <a:spcPts val="0"/>
              </a:spcBef>
              <a:spcAft>
                <a:spcPts val="0"/>
              </a:spcAft>
            </a:pPr>
            <a:r>
              <a:rPr sz="1655" b="1" lang="en-US" spc="0">
                <a:solidFill>
                  <a:srgbClr val="357B73"/>
                </a:solidFill>
                <a:latin typeface="DejaVu Sans"/>
                <a:ea typeface="DejaVu Sans"/>
              </a:rPr>
              <a:t>Reusable checkpoint</a:t>
            </a:r>
          </a:p>
        </p:txBody>
      </p:sp>
      <p:sp>
        <p:nvSpPr>
          <p:cNvPr id="46" name="Valid missing Host pages"/>
          <p:cNvSpPr txBox="1"/>
          <p:nvPr/>
        </p:nvSpPr>
        <p:spPr>
          <a:xfrm>
            <a:off x="3575304" y="4976622"/>
            <a:ext cx="2395871" cy="251460"/>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Valid missing Host pages</a:t>
            </a:r>
          </a:p>
        </p:txBody>
      </p:sp>
      <p:sp>
        <p:nvSpPr>
          <p:cNvPr id="47" name="Capacity and cost"/>
          <p:cNvSpPr txBox="1"/>
          <p:nvPr/>
        </p:nvSpPr>
        <p:spPr>
          <a:xfrm>
            <a:off x="6693408" y="4658868"/>
            <a:ext cx="2216348" cy="283464"/>
          </a:xfrm>
          <a:prstGeom prst="rect">
            <a:avLst/>
          </a:prstGeom>
          <a:noFill/>
        </p:spPr>
        <p:txBody>
          <a:bodyPr wrap="none" lIns="0" rIns="0" tIns="0" bIns="0" anchor="t">
            <a:spAutoFit/>
          </a:bodyPr>
          <a:lstStyle/>
          <a:p>
            <a:pPr algn="l">
              <a:lnSpc>
                <a:spcPct val="100000"/>
              </a:lnSpc>
              <a:spcBef>
                <a:spcPts val="0"/>
              </a:spcBef>
              <a:spcAft>
                <a:spcPts val="0"/>
              </a:spcAft>
            </a:pPr>
            <a:r>
              <a:rPr sz="1655" b="1" lang="en-US" spc="0">
                <a:solidFill>
                  <a:srgbClr val="357B73"/>
                </a:solidFill>
                <a:latin typeface="DejaVu Sans"/>
                <a:ea typeface="DejaVu Sans"/>
              </a:rPr>
              <a:t>Capacity and cost</a:t>
            </a:r>
          </a:p>
        </p:txBody>
      </p:sp>
      <p:sp>
        <p:nvSpPr>
          <p:cNvPr id="48" name="FULL / Mamba / H2D"/>
          <p:cNvSpPr txBox="1"/>
          <p:nvPr/>
        </p:nvSpPr>
        <p:spPr>
          <a:xfrm>
            <a:off x="6693408" y="4976622"/>
            <a:ext cx="1979390" cy="251460"/>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FULL / Mamba / H2D</a:t>
            </a:r>
          </a:p>
        </p:txBody>
      </p:sp>
      <p:sp>
        <p:nvSpPr>
          <p:cNvPr id="49" name="Service opportunity"/>
          <p:cNvSpPr txBox="1"/>
          <p:nvPr/>
        </p:nvSpPr>
        <p:spPr>
          <a:xfrm>
            <a:off x="9802368" y="4658868"/>
            <a:ext cx="2460772" cy="283464"/>
          </a:xfrm>
          <a:prstGeom prst="rect">
            <a:avLst/>
          </a:prstGeom>
          <a:noFill/>
        </p:spPr>
        <p:txBody>
          <a:bodyPr wrap="none" lIns="0" rIns="0" tIns="0" bIns="0" anchor="t">
            <a:spAutoFit/>
          </a:bodyPr>
          <a:lstStyle/>
          <a:p>
            <a:pPr algn="l">
              <a:lnSpc>
                <a:spcPct val="100000"/>
              </a:lnSpc>
              <a:spcBef>
                <a:spcPts val="0"/>
              </a:spcBef>
              <a:spcAft>
                <a:spcPts val="0"/>
              </a:spcAft>
            </a:pPr>
            <a:r>
              <a:rPr sz="1655" b="1" lang="en-US" spc="0">
                <a:solidFill>
                  <a:srgbClr val="357B73"/>
                </a:solidFill>
                <a:latin typeface="DejaVu Sans"/>
                <a:ea typeface="DejaVu Sans"/>
              </a:rPr>
              <a:t>Service opportunity</a:t>
            </a:r>
          </a:p>
        </p:txBody>
      </p:sp>
      <p:sp>
        <p:nvSpPr>
          <p:cNvPr id="50" name="Admission + residency"/>
          <p:cNvSpPr txBox="1"/>
          <p:nvPr/>
        </p:nvSpPr>
        <p:spPr>
          <a:xfrm>
            <a:off x="9802368" y="4976622"/>
            <a:ext cx="2198596" cy="251460"/>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687680"/>
                </a:solidFill>
                <a:latin typeface="DejaVu Sans"/>
                <a:ea typeface="DejaVu Sans"/>
              </a:rPr>
              <a:t>Admission + residency</a:t>
            </a:r>
          </a:p>
        </p:txBody>
      </p:sp>
      <p:sp>
        <p:nvSpPr>
          <p:cNvPr id="51" name="(b) Overlap with the observed wait or final-generation interval"/>
          <p:cNvSpPr txBox="1"/>
          <p:nvPr/>
        </p:nvSpPr>
        <p:spPr>
          <a:xfrm>
            <a:off x="365760" y="5621274"/>
            <a:ext cx="8524601"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D6F9F"/>
                </a:solidFill>
                <a:latin typeface="DejaVu Sans"/>
                <a:ea typeface="DejaVu Sans"/>
              </a:rPr>
              <a:t>(b) Overlap with the observed wait or final-generation interval</a:t>
            </a:r>
          </a:p>
        </p:txBody>
      </p:sp>
      <p:cxnSp>
        <p:nvCxnSpPr>
          <p:cNvPr id="52" name="line 51"/>
          <p:cNvCxnSpPr/>
          <p:nvPr/>
        </p:nvCxnSpPr>
        <p:spPr>
          <a:xfrm>
            <a:off x="8979408" y="6163056"/>
            <a:ext cx="0" cy="2395728"/>
          </a:xfrm>
          <a:prstGeom prst="line">
            <a:avLst/>
          </a:prstGeom>
          <a:ln w="16459">
            <a:solidFill>
              <a:srgbClr val="89959D"/>
            </a:solidFill>
            <a:prstDash val="dash"/>
          </a:ln>
          <a:effectLst/>
        </p:spPr>
        <p:style>
          <a:lnRef idx="2">
            <a:schemeClr val="accent1"/>
          </a:lnRef>
          <a:fillRef idx="0">
            <a:schemeClr val="accent1"/>
          </a:fillRef>
          <a:effectRef idx="0">
            <a:schemeClr val="accent1"/>
          </a:effectRef>
          <a:fontRef idx="minor">
            <a:schemeClr val="tx1"/>
          </a:fontRef>
        </p:style>
      </p:cxnSp>
      <p:cxnSp>
        <p:nvCxnSpPr>
          <p:cNvPr id="53" name="line 52"/>
          <p:cNvCxnSpPr/>
          <p:nvPr/>
        </p:nvCxnSpPr>
        <p:spPr>
          <a:xfrm>
            <a:off x="9601200" y="6839712"/>
            <a:ext cx="0" cy="932688"/>
          </a:xfrm>
          <a:prstGeom prst="line">
            <a:avLst/>
          </a:prstGeom>
          <a:ln w="14630">
            <a:solidFill>
              <a:srgbClr val="357B73"/>
            </a:solidFill>
            <a:prstDash val="dash"/>
          </a:ln>
          <a:effectLst/>
        </p:spPr>
        <p:style>
          <a:lnRef idx="2">
            <a:schemeClr val="accent1"/>
          </a:lnRef>
          <a:fillRef idx="0">
            <a:schemeClr val="accent1"/>
          </a:fillRef>
          <a:effectRef idx="0">
            <a:schemeClr val="accent1"/>
          </a:effectRef>
          <a:fontRef idx="minor">
            <a:schemeClr val="tx1"/>
          </a:fontRef>
        </p:style>
      </p:cxnSp>
      <p:sp>
        <p:nvSpPr>
          <p:cNvPr id="54" name="RETURN / TOOL_END"/>
          <p:cNvSpPr txBox="1"/>
          <p:nvPr/>
        </p:nvSpPr>
        <p:spPr>
          <a:xfrm>
            <a:off x="7874216" y="5945886"/>
            <a:ext cx="2210383" cy="251460"/>
          </a:xfrm>
          <a:prstGeom prst="rect">
            <a:avLst/>
          </a:prstGeom>
          <a:noFill/>
        </p:spPr>
        <p:txBody>
          <a:bodyPr wrap="none" lIns="0" rIns="0" tIns="0" bIns="0" anchor="t">
            <a:spAutoFit/>
          </a:bodyPr>
          <a:lstStyle/>
          <a:p>
            <a:pPr algn="ctr">
              <a:lnSpc>
                <a:spcPct val="100000"/>
              </a:lnSpc>
              <a:spcBef>
                <a:spcPts val="0"/>
              </a:spcBef>
              <a:spcAft>
                <a:spcPts val="0"/>
              </a:spcAft>
            </a:pPr>
            <a:r>
              <a:rPr sz="1439" b="1" lang="en-US" spc="0">
                <a:solidFill>
                  <a:srgbClr val="263746"/>
                </a:solidFill>
                <a:latin typeface="DejaVu Sans"/>
                <a:ea typeface="DejaVu Sans"/>
              </a:rPr>
              <a:t>RETURN / TOOL_END</a:t>
            </a:r>
          </a:p>
        </p:txBody>
      </p:sp>
      <p:sp>
        <p:nvSpPr>
          <p:cNvPr id="55" name="Child / tool"/>
          <p:cNvSpPr txBox="1"/>
          <p:nvPr/>
        </p:nvSpPr>
        <p:spPr>
          <a:xfrm>
            <a:off x="402336" y="6432804"/>
            <a:ext cx="1449181" cy="294894"/>
          </a:xfrm>
          <a:prstGeom prst="rect">
            <a:avLst/>
          </a:prstGeom>
          <a:noFill/>
        </p:spPr>
        <p:txBody>
          <a:bodyPr wrap="none" lIns="0" rIns="0" tIns="0" bIns="0" anchor="t">
            <a:spAutoFit/>
          </a:bodyPr>
          <a:lstStyle/>
          <a:p>
            <a:pPr algn="l">
              <a:lnSpc>
                <a:spcPct val="100000"/>
              </a:lnSpc>
              <a:spcBef>
                <a:spcPts val="0"/>
              </a:spcBef>
              <a:spcAft>
                <a:spcPts val="0"/>
              </a:spcAft>
            </a:pPr>
            <a:r>
              <a:rPr sz="1728" b="1" lang="en-US" spc="0">
                <a:solidFill>
                  <a:srgbClr val="263746"/>
                </a:solidFill>
                <a:latin typeface="DejaVu Sans"/>
                <a:ea typeface="DejaVu Sans"/>
              </a:rPr>
              <a:t>Child / tool</a:t>
            </a:r>
          </a:p>
        </p:txBody>
      </p:sp>
      <p:sp>
        <p:nvSpPr>
          <p:cNvPr id="56" name="Predictive path"/>
          <p:cNvSpPr txBox="1"/>
          <p:nvPr/>
        </p:nvSpPr>
        <p:spPr>
          <a:xfrm>
            <a:off x="402336" y="7264908"/>
            <a:ext cx="2004786" cy="294894"/>
          </a:xfrm>
          <a:prstGeom prst="rect">
            <a:avLst/>
          </a:prstGeom>
          <a:noFill/>
        </p:spPr>
        <p:txBody>
          <a:bodyPr wrap="none" lIns="0" rIns="0" tIns="0" bIns="0" anchor="t">
            <a:spAutoFit/>
          </a:bodyPr>
          <a:lstStyle/>
          <a:p>
            <a:pPr algn="l">
              <a:lnSpc>
                <a:spcPct val="100000"/>
              </a:lnSpc>
              <a:spcBef>
                <a:spcPts val="0"/>
              </a:spcBef>
              <a:spcAft>
                <a:spcPts val="0"/>
              </a:spcAft>
            </a:pPr>
            <a:r>
              <a:rPr sz="1728" b="1" lang="en-US" spc="0">
                <a:solidFill>
                  <a:srgbClr val="357B73"/>
                </a:solidFill>
                <a:latin typeface="DejaVu Sans"/>
                <a:ea typeface="DejaVu Sans"/>
              </a:rPr>
              <a:t>Predictive path</a:t>
            </a:r>
          </a:p>
        </p:txBody>
      </p:sp>
      <p:sp>
        <p:nvSpPr>
          <p:cNvPr id="57" name="Demand path"/>
          <p:cNvSpPr txBox="1"/>
          <p:nvPr/>
        </p:nvSpPr>
        <p:spPr>
          <a:xfrm>
            <a:off x="402336" y="8097012"/>
            <a:ext cx="1773543" cy="294894"/>
          </a:xfrm>
          <a:prstGeom prst="rect">
            <a:avLst/>
          </a:prstGeom>
          <a:noFill/>
        </p:spPr>
        <p:txBody>
          <a:bodyPr wrap="none" lIns="0" rIns="0" tIns="0" bIns="0" anchor="t">
            <a:spAutoFit/>
          </a:bodyPr>
          <a:lstStyle/>
          <a:p>
            <a:pPr algn="l">
              <a:lnSpc>
                <a:spcPct val="100000"/>
              </a:lnSpc>
              <a:spcBef>
                <a:spcPts val="0"/>
              </a:spcBef>
              <a:spcAft>
                <a:spcPts val="0"/>
              </a:spcAft>
            </a:pPr>
            <a:r>
              <a:rPr sz="1728" b="1" lang="en-US" spc="0">
                <a:solidFill>
                  <a:srgbClr val="89959D"/>
                </a:solidFill>
                <a:latin typeface="DejaVu Sans"/>
                <a:ea typeface="DejaVu Sans"/>
              </a:rPr>
              <a:t>Demand path</a:t>
            </a:r>
          </a:p>
        </p:txBody>
      </p:sp>
      <p:cxnSp>
        <p:nvCxnSpPr>
          <p:cNvPr id="58" name="line 57"/>
          <p:cNvCxnSpPr/>
          <p:nvPr/>
        </p:nvCxnSpPr>
        <p:spPr>
          <a:xfrm>
            <a:off x="2880360" y="6519672"/>
            <a:ext cx="9738360" cy="0"/>
          </a:xfrm>
          <a:prstGeom prst="line">
            <a:avLst/>
          </a:prstGeom>
          <a:ln w="10972">
            <a:solidFill>
              <a:srgbClr val="D4DBE0"/>
            </a:solidFill>
          </a:ln>
          <a:effectLst/>
        </p:spPr>
        <p:style>
          <a:lnRef idx="2">
            <a:schemeClr val="accent1"/>
          </a:lnRef>
          <a:fillRef idx="0">
            <a:schemeClr val="accent1"/>
          </a:fillRef>
          <a:effectRef idx="0">
            <a:schemeClr val="accent1"/>
          </a:effectRef>
          <a:fontRef idx="minor">
            <a:schemeClr val="tx1"/>
          </a:fontRef>
        </p:style>
      </p:cxnSp>
      <p:cxnSp>
        <p:nvCxnSpPr>
          <p:cNvPr id="59" name="line 58"/>
          <p:cNvCxnSpPr/>
          <p:nvPr/>
        </p:nvCxnSpPr>
        <p:spPr>
          <a:xfrm>
            <a:off x="2880360" y="7351776"/>
            <a:ext cx="9738360" cy="0"/>
          </a:xfrm>
          <a:prstGeom prst="line">
            <a:avLst/>
          </a:prstGeom>
          <a:ln w="10972">
            <a:solidFill>
              <a:srgbClr val="D4DBE0"/>
            </a:solidFill>
          </a:ln>
          <a:effectLst/>
        </p:spPr>
        <p:style>
          <a:lnRef idx="2">
            <a:schemeClr val="accent1"/>
          </a:lnRef>
          <a:fillRef idx="0">
            <a:schemeClr val="accent1"/>
          </a:fillRef>
          <a:effectRef idx="0">
            <a:schemeClr val="accent1"/>
          </a:effectRef>
          <a:fontRef idx="minor">
            <a:schemeClr val="tx1"/>
          </a:fontRef>
        </p:style>
      </p:cxnSp>
      <p:cxnSp>
        <p:nvCxnSpPr>
          <p:cNvPr id="60" name="line 59"/>
          <p:cNvCxnSpPr/>
          <p:nvPr/>
        </p:nvCxnSpPr>
        <p:spPr>
          <a:xfrm>
            <a:off x="2880360" y="8183880"/>
            <a:ext cx="9738360" cy="0"/>
          </a:xfrm>
          <a:prstGeom prst="line">
            <a:avLst/>
          </a:prstGeom>
          <a:ln w="10972">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61" name="rect 60"/>
          <p:cNvSpPr/>
          <p:nvPr/>
        </p:nvSpPr>
        <p:spPr>
          <a:xfrm>
            <a:off x="2880360" y="6291072"/>
            <a:ext cx="6099048" cy="393192"/>
          </a:xfrm>
          <a:prstGeom prst="roundRect">
            <a:avLst>
              <a:gd name="adj" fmla="val 4651"/>
            </a:avLst>
          </a:prstGeom>
          <a:solidFill>
            <a:srgbClr val="EDF3F8"/>
          </a:solidFill>
          <a:ln w="15544">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Final generation / external tool execution"/>
          <p:cNvSpPr txBox="1"/>
          <p:nvPr/>
        </p:nvSpPr>
        <p:spPr>
          <a:xfrm>
            <a:off x="3807851" y="6359652"/>
            <a:ext cx="4244066" cy="272034"/>
          </a:xfrm>
          <a:prstGeom prst="rect">
            <a:avLst/>
          </a:prstGeom>
          <a:noFill/>
        </p:spPr>
        <p:txBody>
          <a:bodyPr wrap="none" lIns="0" rIns="0" tIns="0" bIns="0" anchor="t">
            <a:spAutoFit/>
          </a:bodyPr>
          <a:lstStyle/>
          <a:p>
            <a:pPr algn="ctr">
              <a:lnSpc>
                <a:spcPct val="100000"/>
              </a:lnSpc>
              <a:spcBef>
                <a:spcPts val="0"/>
              </a:spcBef>
              <a:spcAft>
                <a:spcPts val="0"/>
              </a:spcAft>
            </a:pPr>
            <a:r>
              <a:rPr sz="1584" b="0" lang="en-US" spc="0">
                <a:solidFill>
                  <a:srgbClr val="3D6F9F"/>
                </a:solidFill>
                <a:latin typeface="DejaVu Sans"/>
                <a:ea typeface="DejaVu Sans"/>
              </a:rPr>
              <a:t>Final generation / external tool execution</a:t>
            </a:r>
          </a:p>
        </p:txBody>
      </p:sp>
      <p:sp>
        <p:nvSpPr>
          <p:cNvPr id="63" name="circle 62"/>
          <p:cNvSpPr/>
          <p:nvPr/>
        </p:nvSpPr>
        <p:spPr>
          <a:xfrm>
            <a:off x="3451860" y="6853428"/>
            <a:ext cx="82296" cy="82296"/>
          </a:xfrm>
          <a:prstGeom prst="ellipse">
            <a:avLst/>
          </a:prstGeom>
          <a:solidFill>
            <a:srgbClr val="A96F1F"/>
          </a:solidFill>
          <a:ln w="9144">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circle 63"/>
          <p:cNvSpPr/>
          <p:nvPr/>
        </p:nvSpPr>
        <p:spPr>
          <a:xfrm>
            <a:off x="4210812" y="6853428"/>
            <a:ext cx="82296" cy="82296"/>
          </a:xfrm>
          <a:prstGeom prst="ellipse">
            <a:avLst/>
          </a:prstGeom>
          <a:solidFill>
            <a:srgbClr val="A96F1F"/>
          </a:solidFill>
          <a:ln w="9144">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circle 64"/>
          <p:cNvSpPr/>
          <p:nvPr/>
        </p:nvSpPr>
        <p:spPr>
          <a:xfrm>
            <a:off x="4969764" y="6853428"/>
            <a:ext cx="82296" cy="82296"/>
          </a:xfrm>
          <a:prstGeom prst="ellipse">
            <a:avLst/>
          </a:prstGeom>
          <a:solidFill>
            <a:srgbClr val="A96F1F"/>
          </a:solidFill>
          <a:ln w="9144">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circle 65"/>
          <p:cNvSpPr/>
          <p:nvPr/>
        </p:nvSpPr>
        <p:spPr>
          <a:xfrm>
            <a:off x="5728716" y="6853428"/>
            <a:ext cx="82296" cy="82296"/>
          </a:xfrm>
          <a:prstGeom prst="ellipse">
            <a:avLst/>
          </a:prstGeom>
          <a:solidFill>
            <a:srgbClr val="A96F1F"/>
          </a:solidFill>
          <a:ln w="9144">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7" name="path 66"/>
          <p:cNvCxnSpPr/>
          <p:nvPr/>
        </p:nvCxnSpPr>
        <p:spPr>
          <a:xfrm>
            <a:off x="5934456" y="6894576"/>
            <a:ext cx="502920" cy="0"/>
          </a:xfrm>
          <a:prstGeom prst="line">
            <a:avLst/>
          </a:prstGeom>
          <a:ln w="21945">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68" name="Rolling observations"/>
          <p:cNvSpPr txBox="1"/>
          <p:nvPr/>
        </p:nvSpPr>
        <p:spPr>
          <a:xfrm>
            <a:off x="3429000" y="6960870"/>
            <a:ext cx="1960102" cy="251460"/>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A96F1F"/>
                </a:solidFill>
                <a:latin typeface="DejaVu Sans"/>
                <a:ea typeface="DejaVu Sans"/>
              </a:rPr>
              <a:t>Rolling observations</a:t>
            </a:r>
          </a:p>
        </p:txBody>
      </p:sp>
      <p:sp>
        <p:nvSpPr>
          <p:cNvPr id="69" name="rect 68"/>
          <p:cNvSpPr/>
          <p:nvPr/>
        </p:nvSpPr>
        <p:spPr>
          <a:xfrm>
            <a:off x="6583680" y="7132320"/>
            <a:ext cx="3017520" cy="457200"/>
          </a:xfrm>
          <a:prstGeom prst="roundRect">
            <a:avLst>
              <a:gd name="adj" fmla="val 4000"/>
            </a:avLst>
          </a:prstGeom>
          <a:solidFill>
            <a:srgbClr val="EAF3F1"/>
          </a:solidFill>
          <a:ln w="1645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Missing-page H2D"/>
          <p:cNvSpPr txBox="1"/>
          <p:nvPr/>
        </p:nvSpPr>
        <p:spPr>
          <a:xfrm>
            <a:off x="7125944" y="7237476"/>
            <a:ext cx="1932992" cy="272034"/>
          </a:xfrm>
          <a:prstGeom prst="rect">
            <a:avLst/>
          </a:prstGeom>
          <a:noFill/>
        </p:spPr>
        <p:txBody>
          <a:bodyPr wrap="none" lIns="0" rIns="0" tIns="0" bIns="0" anchor="t">
            <a:spAutoFit/>
          </a:bodyPr>
          <a:lstStyle/>
          <a:p>
            <a:pPr algn="ctr">
              <a:lnSpc>
                <a:spcPct val="100000"/>
              </a:lnSpc>
              <a:spcBef>
                <a:spcPts val="0"/>
              </a:spcBef>
              <a:spcAft>
                <a:spcPts val="0"/>
              </a:spcAft>
            </a:pPr>
            <a:r>
              <a:rPr sz="1584" b="0" lang="en-US" spc="0">
                <a:solidFill>
                  <a:srgbClr val="357B73"/>
                </a:solidFill>
                <a:latin typeface="DejaVu Sans"/>
                <a:ea typeface="DejaVu Sans"/>
              </a:rPr>
              <a:t>Missing-page H2D</a:t>
            </a:r>
          </a:p>
        </p:txBody>
      </p:sp>
      <p:sp>
        <p:nvSpPr>
          <p:cNvPr id="71" name="rect 70"/>
          <p:cNvSpPr/>
          <p:nvPr/>
        </p:nvSpPr>
        <p:spPr>
          <a:xfrm>
            <a:off x="9601200" y="7132320"/>
            <a:ext cx="914400" cy="457200"/>
          </a:xfrm>
          <a:prstGeom prst="roundRect">
            <a:avLst>
              <a:gd name="adj" fmla="val 2000"/>
            </a:avLst>
          </a:prstGeom>
          <a:solidFill>
            <a:srgbClr val="F2F4F5"/>
          </a:solidFill>
          <a:ln w="12801">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rect 71"/>
          <p:cNvSpPr/>
          <p:nvPr/>
        </p:nvSpPr>
        <p:spPr>
          <a:xfrm>
            <a:off x="10515600" y="7132320"/>
            <a:ext cx="2103120" cy="457200"/>
          </a:xfrm>
          <a:prstGeom prst="roundRect">
            <a:avLst>
              <a:gd name="adj" fmla="val 4000"/>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GPU service"/>
          <p:cNvSpPr txBox="1"/>
          <p:nvPr/>
        </p:nvSpPr>
        <p:spPr>
          <a:xfrm>
            <a:off x="10907810" y="7237476"/>
            <a:ext cx="1318701" cy="272034"/>
          </a:xfrm>
          <a:prstGeom prst="rect">
            <a:avLst/>
          </a:prstGeom>
          <a:noFill/>
        </p:spPr>
        <p:txBody>
          <a:bodyPr wrap="none" lIns="0" rIns="0" tIns="0" bIns="0" anchor="t">
            <a:spAutoFit/>
          </a:bodyPr>
          <a:lstStyle/>
          <a:p>
            <a:pPr algn="ctr">
              <a:lnSpc>
                <a:spcPct val="100000"/>
              </a:lnSpc>
              <a:spcBef>
                <a:spcPts val="0"/>
              </a:spcBef>
              <a:spcAft>
                <a:spcPts val="0"/>
              </a:spcAft>
            </a:pPr>
            <a:r>
              <a:rPr sz="1584" b="0" lang="en-US" spc="0">
                <a:solidFill>
                  <a:srgbClr val="3D6F9F"/>
                </a:solidFill>
                <a:latin typeface="DejaVu Sans"/>
                <a:ea typeface="DejaVu Sans"/>
              </a:rPr>
              <a:t>GPU service</a:t>
            </a:r>
          </a:p>
        </p:txBody>
      </p:sp>
      <p:sp>
        <p:nvSpPr>
          <p:cNvPr id="74" name="ACK"/>
          <p:cNvSpPr txBox="1"/>
          <p:nvPr/>
        </p:nvSpPr>
        <p:spPr>
          <a:xfrm>
            <a:off x="9370814" y="7674102"/>
            <a:ext cx="460772" cy="240030"/>
          </a:xfrm>
          <a:prstGeom prst="rect">
            <a:avLst/>
          </a:prstGeom>
          <a:noFill/>
        </p:spPr>
        <p:txBody>
          <a:bodyPr wrap="none" lIns="0" rIns="0" tIns="0" bIns="0" anchor="t">
            <a:spAutoFit/>
          </a:bodyPr>
          <a:lstStyle/>
          <a:p>
            <a:pPr algn="ctr">
              <a:lnSpc>
                <a:spcPct val="100000"/>
              </a:lnSpc>
              <a:spcBef>
                <a:spcPts val="0"/>
              </a:spcBef>
              <a:spcAft>
                <a:spcPts val="0"/>
              </a:spcAft>
            </a:pPr>
            <a:r>
              <a:rPr sz="1368" b="0" lang="en-US" spc="0">
                <a:solidFill>
                  <a:srgbClr val="357B73"/>
                </a:solidFill>
                <a:latin typeface="DejaVu Sans"/>
                <a:ea typeface="DejaVu Sans"/>
              </a:rPr>
              <a:t>ACK</a:t>
            </a:r>
          </a:p>
        </p:txBody>
      </p:sp>
      <p:sp>
        <p:nvSpPr>
          <p:cNvPr id="75" name="First reuse"/>
          <p:cNvSpPr txBox="1"/>
          <p:nvPr/>
        </p:nvSpPr>
        <p:spPr>
          <a:xfrm>
            <a:off x="10634472" y="7646670"/>
            <a:ext cx="1060240" cy="251460"/>
          </a:xfrm>
          <a:prstGeom prst="rect">
            <a:avLst/>
          </a:prstGeom>
          <a:noFill/>
        </p:spPr>
        <p:txBody>
          <a:bodyPr wrap="none" lIns="0" rIns="0" tIns="0" bIns="0" anchor="t">
            <a:spAutoFit/>
          </a:bodyPr>
          <a:lstStyle/>
          <a:p>
            <a:pPr algn="l">
              <a:lnSpc>
                <a:spcPct val="100000"/>
              </a:lnSpc>
              <a:spcBef>
                <a:spcPts val="0"/>
              </a:spcBef>
              <a:spcAft>
                <a:spcPts val="0"/>
              </a:spcAft>
            </a:pPr>
            <a:r>
              <a:rPr sz="1439" b="0" lang="en-US" spc="0">
                <a:solidFill>
                  <a:srgbClr val="3D6F9F"/>
                </a:solidFill>
                <a:latin typeface="DejaVu Sans"/>
                <a:ea typeface="DejaVu Sans"/>
              </a:rPr>
              <a:t>First reuse</a:t>
            </a:r>
          </a:p>
        </p:txBody>
      </p:sp>
      <p:cxnSp>
        <p:nvCxnSpPr>
          <p:cNvPr id="76" name="line 75"/>
          <p:cNvCxnSpPr/>
          <p:nvPr/>
        </p:nvCxnSpPr>
        <p:spPr>
          <a:xfrm>
            <a:off x="6583680" y="6949440"/>
            <a:ext cx="2395728" cy="0"/>
          </a:xfrm>
          <a:prstGeom prst="line">
            <a:avLst/>
          </a:prstGeom>
          <a:ln w="18288">
            <a:solidFill>
              <a:srgbClr val="357B73"/>
            </a:solidFill>
          </a:ln>
          <a:effectLst/>
        </p:spPr>
        <p:style>
          <a:lnRef idx="2">
            <a:schemeClr val="accent1"/>
          </a:lnRef>
          <a:fillRef idx="0">
            <a:schemeClr val="accent1"/>
          </a:fillRef>
          <a:effectRef idx="0">
            <a:schemeClr val="accent1"/>
          </a:effectRef>
          <a:fontRef idx="minor">
            <a:schemeClr val="tx1"/>
          </a:fontRef>
        </p:style>
      </p:cxnSp>
      <p:cxnSp>
        <p:nvCxnSpPr>
          <p:cNvPr id="77" name="line 76"/>
          <p:cNvCxnSpPr/>
          <p:nvPr/>
        </p:nvCxnSpPr>
        <p:spPr>
          <a:xfrm>
            <a:off x="6583680" y="6894576"/>
            <a:ext cx="0" cy="109728"/>
          </a:xfrm>
          <a:prstGeom prst="line">
            <a:avLst/>
          </a:prstGeom>
          <a:ln w="18288">
            <a:solidFill>
              <a:srgbClr val="357B73"/>
            </a:solidFill>
          </a:ln>
          <a:effectLst/>
        </p:spPr>
        <p:style>
          <a:lnRef idx="2">
            <a:schemeClr val="accent1"/>
          </a:lnRef>
          <a:fillRef idx="0">
            <a:schemeClr val="accent1"/>
          </a:fillRef>
          <a:effectRef idx="0">
            <a:schemeClr val="accent1"/>
          </a:effectRef>
          <a:fontRef idx="minor">
            <a:schemeClr val="tx1"/>
          </a:fontRef>
        </p:style>
      </p:cxnSp>
      <p:cxnSp>
        <p:nvCxnSpPr>
          <p:cNvPr id="78" name="line 77"/>
          <p:cNvCxnSpPr/>
          <p:nvPr/>
        </p:nvCxnSpPr>
        <p:spPr>
          <a:xfrm>
            <a:off x="8979408" y="6894576"/>
            <a:ext cx="0" cy="109728"/>
          </a:xfrm>
          <a:prstGeom prst="line">
            <a:avLst/>
          </a:prstGeom>
          <a:ln w="18288">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79" name="Advance"/>
          <p:cNvSpPr txBox="1"/>
          <p:nvPr/>
        </p:nvSpPr>
        <p:spPr>
          <a:xfrm>
            <a:off x="7352705" y="6695694"/>
            <a:ext cx="857679" cy="240030"/>
          </a:xfrm>
          <a:prstGeom prst="rect">
            <a:avLst/>
          </a:prstGeom>
          <a:noFill/>
        </p:spPr>
        <p:txBody>
          <a:bodyPr wrap="none" lIns="0" rIns="0" tIns="0" bIns="0" anchor="t">
            <a:spAutoFit/>
          </a:bodyPr>
          <a:lstStyle/>
          <a:p>
            <a:pPr algn="ctr">
              <a:lnSpc>
                <a:spcPct val="100000"/>
              </a:lnSpc>
              <a:spcBef>
                <a:spcPts val="0"/>
              </a:spcBef>
              <a:spcAft>
                <a:spcPts val="0"/>
              </a:spcAft>
            </a:pPr>
            <a:r>
              <a:rPr sz="1368" b="0" lang="en-US" spc="0">
                <a:solidFill>
                  <a:srgbClr val="357B73"/>
                </a:solidFill>
                <a:latin typeface="DejaVu Sans"/>
                <a:ea typeface="DejaVu Sans"/>
              </a:rPr>
              <a:t>Advance</a:t>
            </a:r>
          </a:p>
        </p:txBody>
      </p:sp>
      <p:sp>
        <p:nvSpPr>
          <p:cNvPr id="80" name="rect 79"/>
          <p:cNvSpPr/>
          <p:nvPr/>
        </p:nvSpPr>
        <p:spPr>
          <a:xfrm>
            <a:off x="8979408" y="7964424"/>
            <a:ext cx="2862072" cy="457200"/>
          </a:xfrm>
          <a:prstGeom prst="roundRect">
            <a:avLst>
              <a:gd name="adj" fmla="val 4000"/>
            </a:avLst>
          </a:prstGeom>
          <a:solidFill>
            <a:srgbClr val="F2F4F5"/>
          </a:solidFill>
          <a:ln w="16459">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Demand H2D"/>
          <p:cNvSpPr txBox="1"/>
          <p:nvPr/>
        </p:nvSpPr>
        <p:spPr>
          <a:xfrm>
            <a:off x="9679978" y="8078724"/>
            <a:ext cx="1460933" cy="272034"/>
          </a:xfrm>
          <a:prstGeom prst="rect">
            <a:avLst/>
          </a:prstGeom>
          <a:noFill/>
        </p:spPr>
        <p:txBody>
          <a:bodyPr wrap="none" lIns="0" rIns="0" tIns="0" bIns="0" anchor="t">
            <a:spAutoFit/>
          </a:bodyPr>
          <a:lstStyle/>
          <a:p>
            <a:pPr algn="ctr">
              <a:lnSpc>
                <a:spcPct val="100000"/>
              </a:lnSpc>
              <a:spcBef>
                <a:spcPts val="0"/>
              </a:spcBef>
              <a:spcAft>
                <a:spcPts val="0"/>
              </a:spcAft>
            </a:pPr>
            <a:r>
              <a:rPr sz="1584" b="0" lang="en-US" spc="0">
                <a:solidFill>
                  <a:srgbClr val="687680"/>
                </a:solidFill>
                <a:latin typeface="DejaVu Sans"/>
                <a:ea typeface="DejaVu Sans"/>
              </a:rPr>
              <a:t>Demand H2D</a:t>
            </a:r>
          </a:p>
        </p:txBody>
      </p:sp>
      <p:sp>
        <p:nvSpPr>
          <p:cNvPr id="82" name="rect 81"/>
          <p:cNvSpPr/>
          <p:nvPr/>
        </p:nvSpPr>
        <p:spPr>
          <a:xfrm>
            <a:off x="11841480" y="7964424"/>
            <a:ext cx="777240" cy="457200"/>
          </a:xfrm>
          <a:prstGeom prst="roundRect">
            <a:avLst>
              <a:gd name="adj" fmla="val 4000"/>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Serve"/>
          <p:cNvSpPr txBox="1"/>
          <p:nvPr/>
        </p:nvSpPr>
        <p:spPr>
          <a:xfrm>
            <a:off x="11926044" y="8085582"/>
            <a:ext cx="608112" cy="240030"/>
          </a:xfrm>
          <a:prstGeom prst="rect">
            <a:avLst/>
          </a:prstGeom>
          <a:noFill/>
        </p:spPr>
        <p:txBody>
          <a:bodyPr wrap="none" lIns="0" rIns="0" tIns="0" bIns="0" anchor="t">
            <a:spAutoFit/>
          </a:bodyPr>
          <a:lstStyle/>
          <a:p>
            <a:pPr algn="ctr">
              <a:lnSpc>
                <a:spcPct val="100000"/>
              </a:lnSpc>
              <a:spcBef>
                <a:spcPts val="0"/>
              </a:spcBef>
              <a:spcAft>
                <a:spcPts val="0"/>
              </a:spcAft>
            </a:pPr>
            <a:r>
              <a:rPr sz="1368" b="0" lang="en-US" spc="0">
                <a:solidFill>
                  <a:srgbClr val="3D6F9F"/>
                </a:solidFill>
                <a:latin typeface="DejaVu Sans"/>
                <a:ea typeface="DejaVu Sans"/>
              </a:rPr>
              <a:t>Serve</a:t>
            </a:r>
          </a:p>
        </p:txBody>
      </p:sp>
      <p:sp>
        <p:nvSpPr>
          <p:cNvPr id="84" name="Schematic, not measured speedup. Partial overlap is useful; native data dependencies govern executio"/>
          <p:cNvSpPr txBox="1"/>
          <p:nvPr/>
        </p:nvSpPr>
        <p:spPr>
          <a:xfrm>
            <a:off x="365760" y="8682228"/>
            <a:ext cx="10713553" cy="272034"/>
          </a:xfrm>
          <a:prstGeom prst="rect">
            <a:avLst/>
          </a:prstGeom>
          <a:noFill/>
        </p:spPr>
        <p:txBody>
          <a:bodyPr wrap="none" lIns="0" rIns="0" tIns="0" bIns="0" anchor="t">
            <a:spAutoFit/>
          </a:bodyPr>
          <a:lstStyle/>
          <a:p>
            <a:pPr algn="l">
              <a:lnSpc>
                <a:spcPct val="100000"/>
              </a:lnSpc>
              <a:spcBef>
                <a:spcPts val="0"/>
              </a:spcBef>
              <a:spcAft>
                <a:spcPts val="0"/>
              </a:spcAft>
            </a:pPr>
            <a:r>
              <a:rPr sz="1584" b="0" lang="en-US" spc="0">
                <a:solidFill>
                  <a:srgbClr val="263746"/>
                </a:solidFill>
                <a:latin typeface="DejaVu Sans"/>
                <a:ea typeface="DejaVu Sans"/>
              </a:rPr>
              <a:t>Schematic, not measured speedup. Partial overlap is useful; native data dependencies govern execution.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Incremental Migration and Child-to-Parent Capacity Handoff"/>
          <p:cNvSpPr txBox="1"/>
          <p:nvPr/>
        </p:nvSpPr>
        <p:spPr>
          <a:xfrm>
            <a:off x="365760" y="251460"/>
            <a:ext cx="9732324" cy="370332"/>
          </a:xfrm>
          <a:prstGeom prst="rect">
            <a:avLst/>
          </a:prstGeom>
          <a:noFill/>
        </p:spPr>
        <p:txBody>
          <a:bodyPr wrap="none" lIns="0" rIns="0" tIns="0" bIns="0" anchor="t">
            <a:spAutoFit/>
          </a:bodyPr>
          <a:lstStyle/>
          <a:p>
            <a:pPr algn="l">
              <a:lnSpc>
                <a:spcPct val="100000"/>
              </a:lnSpc>
              <a:spcBef>
                <a:spcPts val="0"/>
              </a:spcBef>
              <a:spcAft>
                <a:spcPts val="0"/>
              </a:spcAft>
            </a:pPr>
            <a:r>
              <a:rPr sz="2232" b="1" lang="en-US" spc="0">
                <a:solidFill>
                  <a:srgbClr val="263746"/>
                </a:solidFill>
                <a:latin typeface="DejaVu Sans"/>
                <a:ea typeface="DejaVu Sans"/>
              </a:rPr>
              <a:t>Incremental Migration and Child-to-Parent Capacity Handoff</a:t>
            </a:r>
          </a:p>
        </p:txBody>
      </p:sp>
      <p:sp>
        <p:nvSpPr>
          <p:cNvPr id="3" name="Agent semantics select the beneficiary; native pages define the physical transfer"/>
          <p:cNvSpPr txBox="1"/>
          <p:nvPr/>
        </p:nvSpPr>
        <p:spPr>
          <a:xfrm>
            <a:off x="365760" y="630936"/>
            <a:ext cx="8301180" cy="272034"/>
          </a:xfrm>
          <a:prstGeom prst="rect">
            <a:avLst/>
          </a:prstGeom>
          <a:noFill/>
        </p:spPr>
        <p:txBody>
          <a:bodyPr wrap="none" lIns="0" rIns="0" tIns="0" bIns="0" anchor="t">
            <a:spAutoFit/>
          </a:bodyPr>
          <a:lstStyle/>
          <a:p>
            <a:pPr algn="l">
              <a:lnSpc>
                <a:spcPct val="100000"/>
              </a:lnSpc>
              <a:spcBef>
                <a:spcPts val="0"/>
              </a:spcBef>
              <a:spcAft>
                <a:spcPts val="0"/>
              </a:spcAft>
            </a:pPr>
            <a:r>
              <a:rPr sz="1584" b="0" lang="en-US" spc="0">
                <a:solidFill>
                  <a:srgbClr val="687680"/>
                </a:solidFill>
                <a:latin typeface="DejaVu Sans"/>
                <a:ea typeface="DejaVu Sans"/>
              </a:rPr>
              <a:t>Agent semantics select the beneficiary; native pages define the physical transfer</a:t>
            </a:r>
          </a:p>
        </p:txBody>
      </p:sp>
      <p:sp>
        <p:nvSpPr>
          <p:cNvPr id="4" name="rect 3"/>
          <p:cNvSpPr/>
          <p:nvPr/>
        </p:nvSpPr>
        <p:spPr>
          <a:xfrm>
            <a:off x="365760" y="1193292"/>
            <a:ext cx="6867144" cy="2724912"/>
          </a:xfrm>
          <a:prstGeom prst="roundRect">
            <a:avLst>
              <a:gd name="adj" fmla="val 1006"/>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 name="line 4"/>
          <p:cNvCxnSpPr/>
          <p:nvPr/>
        </p:nvCxnSpPr>
        <p:spPr>
          <a:xfrm>
            <a:off x="374904" y="1202436"/>
            <a:ext cx="6848856" cy="0"/>
          </a:xfrm>
          <a:prstGeom prst="line">
            <a:avLst/>
          </a:prstGeom>
          <a:ln w="27432">
            <a:solidFill>
              <a:srgbClr val="357B73"/>
            </a:solidFill>
          </a:ln>
          <a:effectLst/>
        </p:spPr>
        <p:style>
          <a:lnRef idx="2">
            <a:schemeClr val="accent1"/>
          </a:lnRef>
          <a:fillRef idx="0">
            <a:schemeClr val="accent1"/>
          </a:fillRef>
          <a:effectRef idx="0">
            <a:schemeClr val="accent1"/>
          </a:effectRef>
          <a:fontRef idx="minor">
            <a:schemeClr val="tx1"/>
          </a:fontRef>
        </p:style>
      </p:cxnSp>
      <p:sp>
        <p:nvSpPr>
          <p:cNvPr id="6" name="(a) Incremental FULL backup"/>
          <p:cNvSpPr txBox="1"/>
          <p:nvPr/>
        </p:nvSpPr>
        <p:spPr>
          <a:xfrm>
            <a:off x="566928" y="1337310"/>
            <a:ext cx="3974461"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57B73"/>
                </a:solidFill>
                <a:latin typeface="DejaVu Sans"/>
                <a:ea typeface="DejaVu Sans"/>
              </a:rPr>
              <a:t>(a) Incremental FULL backup</a:t>
            </a:r>
          </a:p>
        </p:txBody>
      </p:sp>
      <p:sp>
        <p:nvSpPr>
          <p:cNvPr id="7" name="HBM"/>
          <p:cNvSpPr txBox="1"/>
          <p:nvPr/>
        </p:nvSpPr>
        <p:spPr>
          <a:xfrm>
            <a:off x="566928" y="2032254"/>
            <a:ext cx="702766" cy="304038"/>
          </a:xfrm>
          <a:prstGeom prst="rect">
            <a:avLst/>
          </a:prstGeom>
          <a:noFill/>
        </p:spPr>
        <p:txBody>
          <a:bodyPr wrap="none" lIns="0" rIns="0" tIns="0" bIns="0" anchor="t">
            <a:spAutoFit/>
          </a:bodyPr>
          <a:lstStyle/>
          <a:p>
            <a:pPr algn="l">
              <a:lnSpc>
                <a:spcPct val="100000"/>
              </a:lnSpc>
              <a:spcBef>
                <a:spcPts val="0"/>
              </a:spcBef>
              <a:spcAft>
                <a:spcPts val="0"/>
              </a:spcAft>
            </a:pPr>
            <a:r>
              <a:rPr sz="1800" b="1" lang="en-US" spc="0">
                <a:solidFill>
                  <a:srgbClr val="3D6F9F"/>
                </a:solidFill>
                <a:latin typeface="DejaVu Sans"/>
                <a:ea typeface="DejaVu Sans"/>
              </a:rPr>
              <a:t>HBM</a:t>
            </a:r>
          </a:p>
        </p:txBody>
      </p:sp>
      <p:sp>
        <p:nvSpPr>
          <p:cNvPr id="8" name="Host"/>
          <p:cNvSpPr txBox="1"/>
          <p:nvPr/>
        </p:nvSpPr>
        <p:spPr>
          <a:xfrm>
            <a:off x="566928" y="2964942"/>
            <a:ext cx="703409" cy="304038"/>
          </a:xfrm>
          <a:prstGeom prst="rect">
            <a:avLst/>
          </a:prstGeom>
          <a:noFill/>
        </p:spPr>
        <p:txBody>
          <a:bodyPr wrap="none" lIns="0" rIns="0" tIns="0" bIns="0" anchor="t">
            <a:spAutoFit/>
          </a:bodyPr>
          <a:lstStyle/>
          <a:p>
            <a:pPr algn="l">
              <a:lnSpc>
                <a:spcPct val="100000"/>
              </a:lnSpc>
              <a:spcBef>
                <a:spcPts val="0"/>
              </a:spcBef>
              <a:spcAft>
                <a:spcPts val="0"/>
              </a:spcAft>
            </a:pPr>
            <a:r>
              <a:rPr sz="1800" b="1" lang="en-US" spc="0">
                <a:solidFill>
                  <a:srgbClr val="357B73"/>
                </a:solidFill>
                <a:latin typeface="DejaVu Sans"/>
                <a:ea typeface="DejaVu Sans"/>
              </a:rPr>
              <a:t>Host</a:t>
            </a:r>
          </a:p>
        </p:txBody>
      </p:sp>
      <p:sp>
        <p:nvSpPr>
          <p:cNvPr id="9" name="rect 8"/>
          <p:cNvSpPr/>
          <p:nvPr/>
        </p:nvSpPr>
        <p:spPr>
          <a:xfrm>
            <a:off x="2157984" y="1952244"/>
            <a:ext cx="493776" cy="429768"/>
          </a:xfrm>
          <a:prstGeom prst="roundRect">
            <a:avLst>
              <a:gd name="adj" fmla="val 4255"/>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p0"/>
          <p:cNvSpPr txBox="1"/>
          <p:nvPr/>
        </p:nvSpPr>
        <p:spPr>
          <a:xfrm>
            <a:off x="2214473" y="2057400"/>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D6F9F"/>
                </a:solidFill>
                <a:latin typeface="DejaVu Sans"/>
                <a:ea typeface="DejaVu Sans"/>
              </a:rPr>
              <a:t>p0</a:t>
            </a:r>
          </a:p>
        </p:txBody>
      </p:sp>
      <p:sp>
        <p:nvSpPr>
          <p:cNvPr id="11" name="rect 10"/>
          <p:cNvSpPr/>
          <p:nvPr/>
        </p:nvSpPr>
        <p:spPr>
          <a:xfrm>
            <a:off x="2157984" y="2766060"/>
            <a:ext cx="493776" cy="429768"/>
          </a:xfrm>
          <a:prstGeom prst="roundRect">
            <a:avLst>
              <a:gd name="adj" fmla="val 4255"/>
            </a:avLst>
          </a:prstGeom>
          <a:solidFill>
            <a:srgbClr val="EAF3F1"/>
          </a:solidFill>
          <a:ln w="1645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p0"/>
          <p:cNvSpPr txBox="1"/>
          <p:nvPr/>
        </p:nvSpPr>
        <p:spPr>
          <a:xfrm>
            <a:off x="2214473" y="2871216"/>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57B73"/>
                </a:solidFill>
                <a:latin typeface="DejaVu Sans"/>
                <a:ea typeface="DejaVu Sans"/>
              </a:rPr>
              <a:t>p0</a:t>
            </a:r>
          </a:p>
        </p:txBody>
      </p:sp>
      <p:sp>
        <p:nvSpPr>
          <p:cNvPr id="13" name="rect 12"/>
          <p:cNvSpPr/>
          <p:nvPr/>
        </p:nvSpPr>
        <p:spPr>
          <a:xfrm>
            <a:off x="2743200" y="1952244"/>
            <a:ext cx="493776" cy="429768"/>
          </a:xfrm>
          <a:prstGeom prst="roundRect">
            <a:avLst>
              <a:gd name="adj" fmla="val 4255"/>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p1"/>
          <p:cNvSpPr txBox="1"/>
          <p:nvPr/>
        </p:nvSpPr>
        <p:spPr>
          <a:xfrm>
            <a:off x="2799689" y="2057400"/>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D6F9F"/>
                </a:solidFill>
                <a:latin typeface="DejaVu Sans"/>
                <a:ea typeface="DejaVu Sans"/>
              </a:rPr>
              <a:t>p1</a:t>
            </a:r>
          </a:p>
        </p:txBody>
      </p:sp>
      <p:sp>
        <p:nvSpPr>
          <p:cNvPr id="15" name="rect 14"/>
          <p:cNvSpPr/>
          <p:nvPr/>
        </p:nvSpPr>
        <p:spPr>
          <a:xfrm>
            <a:off x="2743200" y="2766060"/>
            <a:ext cx="493776" cy="429768"/>
          </a:xfrm>
          <a:prstGeom prst="roundRect">
            <a:avLst>
              <a:gd name="adj" fmla="val 4255"/>
            </a:avLst>
          </a:prstGeom>
          <a:solidFill>
            <a:srgbClr val="EAF3F1"/>
          </a:solidFill>
          <a:ln w="1645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p1"/>
          <p:cNvSpPr txBox="1"/>
          <p:nvPr/>
        </p:nvSpPr>
        <p:spPr>
          <a:xfrm>
            <a:off x="2799689" y="2871216"/>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57B73"/>
                </a:solidFill>
                <a:latin typeface="DejaVu Sans"/>
                <a:ea typeface="DejaVu Sans"/>
              </a:rPr>
              <a:t>p1</a:t>
            </a:r>
          </a:p>
        </p:txBody>
      </p:sp>
      <p:sp>
        <p:nvSpPr>
          <p:cNvPr id="17" name="rect 16"/>
          <p:cNvSpPr/>
          <p:nvPr/>
        </p:nvSpPr>
        <p:spPr>
          <a:xfrm>
            <a:off x="3328416" y="1952244"/>
            <a:ext cx="493776" cy="429768"/>
          </a:xfrm>
          <a:prstGeom prst="roundRect">
            <a:avLst>
              <a:gd name="adj" fmla="val 4255"/>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p2"/>
          <p:cNvSpPr txBox="1"/>
          <p:nvPr/>
        </p:nvSpPr>
        <p:spPr>
          <a:xfrm>
            <a:off x="3384905" y="2057400"/>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D6F9F"/>
                </a:solidFill>
                <a:latin typeface="DejaVu Sans"/>
                <a:ea typeface="DejaVu Sans"/>
              </a:rPr>
              <a:t>p2</a:t>
            </a:r>
          </a:p>
        </p:txBody>
      </p:sp>
      <p:sp>
        <p:nvSpPr>
          <p:cNvPr id="19" name="rect 18"/>
          <p:cNvSpPr/>
          <p:nvPr/>
        </p:nvSpPr>
        <p:spPr>
          <a:xfrm>
            <a:off x="3328416" y="2766060"/>
            <a:ext cx="493776" cy="429768"/>
          </a:xfrm>
          <a:prstGeom prst="roundRect">
            <a:avLst>
              <a:gd name="adj" fmla="val 4255"/>
            </a:avLst>
          </a:prstGeom>
          <a:solidFill>
            <a:srgbClr val="EAF3F1"/>
          </a:solidFill>
          <a:ln w="1645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p2"/>
          <p:cNvSpPr txBox="1"/>
          <p:nvPr/>
        </p:nvSpPr>
        <p:spPr>
          <a:xfrm>
            <a:off x="3384905" y="2871216"/>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57B73"/>
                </a:solidFill>
                <a:latin typeface="DejaVu Sans"/>
                <a:ea typeface="DejaVu Sans"/>
              </a:rPr>
              <a:t>p2</a:t>
            </a:r>
          </a:p>
        </p:txBody>
      </p:sp>
      <p:sp>
        <p:nvSpPr>
          <p:cNvPr id="21" name="rect 20"/>
          <p:cNvSpPr/>
          <p:nvPr/>
        </p:nvSpPr>
        <p:spPr>
          <a:xfrm>
            <a:off x="3913632" y="1952244"/>
            <a:ext cx="493776" cy="429768"/>
          </a:xfrm>
          <a:prstGeom prst="roundRect">
            <a:avLst>
              <a:gd name="adj" fmla="val 4255"/>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p3"/>
          <p:cNvSpPr txBox="1"/>
          <p:nvPr/>
        </p:nvSpPr>
        <p:spPr>
          <a:xfrm>
            <a:off x="3970121" y="2057400"/>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D6F9F"/>
                </a:solidFill>
                <a:latin typeface="DejaVu Sans"/>
                <a:ea typeface="DejaVu Sans"/>
              </a:rPr>
              <a:t>p3</a:t>
            </a:r>
          </a:p>
        </p:txBody>
      </p:sp>
      <p:sp>
        <p:nvSpPr>
          <p:cNvPr id="23" name="rect 22"/>
          <p:cNvSpPr/>
          <p:nvPr/>
        </p:nvSpPr>
        <p:spPr>
          <a:xfrm>
            <a:off x="3913632" y="2766060"/>
            <a:ext cx="493776" cy="429768"/>
          </a:xfrm>
          <a:prstGeom prst="roundRect">
            <a:avLst>
              <a:gd name="adj" fmla="val 4255"/>
            </a:avLst>
          </a:prstGeom>
          <a:solidFill>
            <a:srgbClr val="EAF3F1"/>
          </a:solidFill>
          <a:ln w="1645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p3"/>
          <p:cNvSpPr txBox="1"/>
          <p:nvPr/>
        </p:nvSpPr>
        <p:spPr>
          <a:xfrm>
            <a:off x="3970121" y="2871216"/>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57B73"/>
                </a:solidFill>
                <a:latin typeface="DejaVu Sans"/>
                <a:ea typeface="DejaVu Sans"/>
              </a:rPr>
              <a:t>p3</a:t>
            </a:r>
          </a:p>
        </p:txBody>
      </p:sp>
      <p:sp>
        <p:nvSpPr>
          <p:cNvPr id="25" name="rect 24"/>
          <p:cNvSpPr/>
          <p:nvPr/>
        </p:nvSpPr>
        <p:spPr>
          <a:xfrm>
            <a:off x="4498848" y="1952244"/>
            <a:ext cx="493776" cy="429768"/>
          </a:xfrm>
          <a:prstGeom prst="roundRect">
            <a:avLst>
              <a:gd name="adj" fmla="val 4255"/>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4"/>
          <p:cNvSpPr txBox="1"/>
          <p:nvPr/>
        </p:nvSpPr>
        <p:spPr>
          <a:xfrm>
            <a:off x="4555337" y="2057400"/>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D6F9F"/>
                </a:solidFill>
                <a:latin typeface="DejaVu Sans"/>
                <a:ea typeface="DejaVu Sans"/>
              </a:rPr>
              <a:t>p4</a:t>
            </a:r>
          </a:p>
        </p:txBody>
      </p:sp>
      <p:sp>
        <p:nvSpPr>
          <p:cNvPr id="27" name="rect 26"/>
          <p:cNvSpPr/>
          <p:nvPr/>
        </p:nvSpPr>
        <p:spPr>
          <a:xfrm>
            <a:off x="4498848" y="2766060"/>
            <a:ext cx="493776" cy="429768"/>
          </a:xfrm>
          <a:prstGeom prst="roundRect">
            <a:avLst>
              <a:gd name="adj" fmla="val 4255"/>
            </a:avLst>
          </a:prstGeom>
          <a:solidFill>
            <a:srgbClr val="FFFFFF"/>
          </a:solidFill>
          <a:ln w="16459">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4"/>
          <p:cNvSpPr txBox="1"/>
          <p:nvPr/>
        </p:nvSpPr>
        <p:spPr>
          <a:xfrm>
            <a:off x="4555337" y="2871216"/>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89959D"/>
                </a:solidFill>
                <a:latin typeface="DejaVu Sans"/>
                <a:ea typeface="DejaVu Sans"/>
              </a:rPr>
              <a:t>p4</a:t>
            </a:r>
          </a:p>
        </p:txBody>
      </p:sp>
      <p:cxnSp>
        <p:nvCxnSpPr>
          <p:cNvPr id="29" name="path 28"/>
          <p:cNvCxnSpPr/>
          <p:nvPr/>
        </p:nvCxnSpPr>
        <p:spPr>
          <a:xfrm>
            <a:off x="4745736" y="2427732"/>
            <a:ext cx="0" cy="283464"/>
          </a:xfrm>
          <a:prstGeom prst="line">
            <a:avLst/>
          </a:prstGeom>
          <a:ln w="21945">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0" name="rect 29"/>
          <p:cNvSpPr/>
          <p:nvPr/>
        </p:nvSpPr>
        <p:spPr>
          <a:xfrm>
            <a:off x="5084064" y="1952244"/>
            <a:ext cx="493776" cy="429768"/>
          </a:xfrm>
          <a:prstGeom prst="roundRect">
            <a:avLst>
              <a:gd name="adj" fmla="val 4255"/>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p5"/>
          <p:cNvSpPr txBox="1"/>
          <p:nvPr/>
        </p:nvSpPr>
        <p:spPr>
          <a:xfrm>
            <a:off x="5140553" y="2057400"/>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D6F9F"/>
                </a:solidFill>
                <a:latin typeface="DejaVu Sans"/>
                <a:ea typeface="DejaVu Sans"/>
              </a:rPr>
              <a:t>p5</a:t>
            </a:r>
          </a:p>
        </p:txBody>
      </p:sp>
      <p:sp>
        <p:nvSpPr>
          <p:cNvPr id="32" name="rect 31"/>
          <p:cNvSpPr/>
          <p:nvPr/>
        </p:nvSpPr>
        <p:spPr>
          <a:xfrm>
            <a:off x="5084064" y="2766060"/>
            <a:ext cx="493776" cy="429768"/>
          </a:xfrm>
          <a:prstGeom prst="roundRect">
            <a:avLst>
              <a:gd name="adj" fmla="val 4255"/>
            </a:avLst>
          </a:prstGeom>
          <a:solidFill>
            <a:srgbClr val="FFFFFF"/>
          </a:solidFill>
          <a:ln w="16459">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p5"/>
          <p:cNvSpPr txBox="1"/>
          <p:nvPr/>
        </p:nvSpPr>
        <p:spPr>
          <a:xfrm>
            <a:off x="5140553" y="2871216"/>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89959D"/>
                </a:solidFill>
                <a:latin typeface="DejaVu Sans"/>
                <a:ea typeface="DejaVu Sans"/>
              </a:rPr>
              <a:t>p5</a:t>
            </a:r>
          </a:p>
        </p:txBody>
      </p:sp>
      <p:cxnSp>
        <p:nvCxnSpPr>
          <p:cNvPr id="34" name="path 33"/>
          <p:cNvCxnSpPr/>
          <p:nvPr/>
        </p:nvCxnSpPr>
        <p:spPr>
          <a:xfrm>
            <a:off x="5330952" y="2427732"/>
            <a:ext cx="0" cy="283464"/>
          </a:xfrm>
          <a:prstGeom prst="line">
            <a:avLst/>
          </a:prstGeom>
          <a:ln w="21945">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5" name="rect 34"/>
          <p:cNvSpPr/>
          <p:nvPr/>
        </p:nvSpPr>
        <p:spPr>
          <a:xfrm>
            <a:off x="5669280" y="1952244"/>
            <a:ext cx="493776" cy="429768"/>
          </a:xfrm>
          <a:prstGeom prst="roundRect">
            <a:avLst>
              <a:gd name="adj" fmla="val 4255"/>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p6"/>
          <p:cNvSpPr txBox="1"/>
          <p:nvPr/>
        </p:nvSpPr>
        <p:spPr>
          <a:xfrm>
            <a:off x="5725769" y="2057400"/>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D6F9F"/>
                </a:solidFill>
                <a:latin typeface="DejaVu Sans"/>
                <a:ea typeface="DejaVu Sans"/>
              </a:rPr>
              <a:t>p6</a:t>
            </a:r>
          </a:p>
        </p:txBody>
      </p:sp>
      <p:sp>
        <p:nvSpPr>
          <p:cNvPr id="37" name="rect 36"/>
          <p:cNvSpPr/>
          <p:nvPr/>
        </p:nvSpPr>
        <p:spPr>
          <a:xfrm>
            <a:off x="5669280" y="2766060"/>
            <a:ext cx="493776" cy="429768"/>
          </a:xfrm>
          <a:prstGeom prst="roundRect">
            <a:avLst>
              <a:gd name="adj" fmla="val 4255"/>
            </a:avLst>
          </a:prstGeom>
          <a:solidFill>
            <a:srgbClr val="FFFFFF"/>
          </a:solidFill>
          <a:ln w="16459">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p6"/>
          <p:cNvSpPr txBox="1"/>
          <p:nvPr/>
        </p:nvSpPr>
        <p:spPr>
          <a:xfrm>
            <a:off x="5725769" y="2871216"/>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89959D"/>
                </a:solidFill>
                <a:latin typeface="DejaVu Sans"/>
                <a:ea typeface="DejaVu Sans"/>
              </a:rPr>
              <a:t>p6</a:t>
            </a:r>
          </a:p>
        </p:txBody>
      </p:sp>
      <p:cxnSp>
        <p:nvCxnSpPr>
          <p:cNvPr id="39" name="path 38"/>
          <p:cNvCxnSpPr/>
          <p:nvPr/>
        </p:nvCxnSpPr>
        <p:spPr>
          <a:xfrm>
            <a:off x="5916168" y="2427732"/>
            <a:ext cx="0" cy="283464"/>
          </a:xfrm>
          <a:prstGeom prst="line">
            <a:avLst/>
          </a:prstGeom>
          <a:ln w="21945">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40" name="rect 39"/>
          <p:cNvSpPr/>
          <p:nvPr/>
        </p:nvSpPr>
        <p:spPr>
          <a:xfrm>
            <a:off x="6254496" y="1952244"/>
            <a:ext cx="493776" cy="429768"/>
          </a:xfrm>
          <a:prstGeom prst="roundRect">
            <a:avLst>
              <a:gd name="adj" fmla="val 4255"/>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p7"/>
          <p:cNvSpPr txBox="1"/>
          <p:nvPr/>
        </p:nvSpPr>
        <p:spPr>
          <a:xfrm>
            <a:off x="6310985" y="2057400"/>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D6F9F"/>
                </a:solidFill>
                <a:latin typeface="DejaVu Sans"/>
                <a:ea typeface="DejaVu Sans"/>
              </a:rPr>
              <a:t>p7</a:t>
            </a:r>
          </a:p>
        </p:txBody>
      </p:sp>
      <p:sp>
        <p:nvSpPr>
          <p:cNvPr id="42" name="rect 41"/>
          <p:cNvSpPr/>
          <p:nvPr/>
        </p:nvSpPr>
        <p:spPr>
          <a:xfrm>
            <a:off x="6254496" y="2766060"/>
            <a:ext cx="493776" cy="429768"/>
          </a:xfrm>
          <a:prstGeom prst="roundRect">
            <a:avLst>
              <a:gd name="adj" fmla="val 4255"/>
            </a:avLst>
          </a:prstGeom>
          <a:solidFill>
            <a:srgbClr val="FFFFFF"/>
          </a:solidFill>
          <a:ln w="16459">
            <a:solidFill>
              <a:srgbClr val="89959D"/>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p7"/>
          <p:cNvSpPr txBox="1"/>
          <p:nvPr/>
        </p:nvSpPr>
        <p:spPr>
          <a:xfrm>
            <a:off x="6310985" y="2871216"/>
            <a:ext cx="380798"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89959D"/>
                </a:solidFill>
                <a:latin typeface="DejaVu Sans"/>
                <a:ea typeface="DejaVu Sans"/>
              </a:rPr>
              <a:t>p7</a:t>
            </a:r>
          </a:p>
        </p:txBody>
      </p:sp>
      <p:cxnSp>
        <p:nvCxnSpPr>
          <p:cNvPr id="44" name="path 43"/>
          <p:cNvCxnSpPr/>
          <p:nvPr/>
        </p:nvCxnSpPr>
        <p:spPr>
          <a:xfrm>
            <a:off x="6501384" y="2427732"/>
            <a:ext cx="0" cy="283464"/>
          </a:xfrm>
          <a:prstGeom prst="line">
            <a:avLst/>
          </a:prstGeom>
          <a:ln w="21945">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45" name="Valid copy: skip"/>
          <p:cNvSpPr txBox="1"/>
          <p:nvPr/>
        </p:nvSpPr>
        <p:spPr>
          <a:xfrm>
            <a:off x="2450896" y="3319272"/>
            <a:ext cx="1590449" cy="260604"/>
          </a:xfrm>
          <a:prstGeom prst="rect">
            <a:avLst/>
          </a:prstGeom>
          <a:noFill/>
        </p:spPr>
        <p:txBody>
          <a:bodyPr wrap="none" lIns="0" rIns="0" tIns="0" bIns="0" anchor="t">
            <a:spAutoFit/>
          </a:bodyPr>
          <a:lstStyle/>
          <a:p>
            <a:pPr algn="ctr">
              <a:lnSpc>
                <a:spcPct val="100000"/>
              </a:lnSpc>
              <a:spcBef>
                <a:spcPts val="0"/>
              </a:spcBef>
              <a:spcAft>
                <a:spcPts val="0"/>
              </a:spcAft>
            </a:pPr>
            <a:r>
              <a:rPr sz="1512" b="0" lang="en-US" spc="0">
                <a:solidFill>
                  <a:srgbClr val="687680"/>
                </a:solidFill>
                <a:latin typeface="DejaVu Sans"/>
                <a:ea typeface="DejaVu Sans"/>
              </a:rPr>
              <a:t>Valid copy: skip</a:t>
            </a:r>
          </a:p>
        </p:txBody>
      </p:sp>
      <p:sp>
        <p:nvSpPr>
          <p:cNvPr id="46" name="Copy missing extents"/>
          <p:cNvSpPr txBox="1"/>
          <p:nvPr/>
        </p:nvSpPr>
        <p:spPr>
          <a:xfrm>
            <a:off x="4539317" y="3326130"/>
            <a:ext cx="2077045" cy="251460"/>
          </a:xfrm>
          <a:prstGeom prst="rect">
            <a:avLst/>
          </a:prstGeom>
          <a:noFill/>
        </p:spPr>
        <p:txBody>
          <a:bodyPr wrap="none" lIns="0" rIns="0" tIns="0" bIns="0" anchor="t">
            <a:spAutoFit/>
          </a:bodyPr>
          <a:lstStyle/>
          <a:p>
            <a:pPr algn="ctr">
              <a:lnSpc>
                <a:spcPct val="100000"/>
              </a:lnSpc>
              <a:spcBef>
                <a:spcPts val="0"/>
              </a:spcBef>
              <a:spcAft>
                <a:spcPts val="0"/>
              </a:spcAft>
            </a:pPr>
            <a:r>
              <a:rPr sz="1439" b="0" lang="en-US" spc="0">
                <a:solidFill>
                  <a:srgbClr val="357B73"/>
                </a:solidFill>
                <a:latin typeface="DejaVu Sans"/>
                <a:ea typeface="DejaVu Sans"/>
              </a:rPr>
              <a:t>Copy missing extents</a:t>
            </a:r>
          </a:p>
        </p:txBody>
      </p:sp>
      <p:sp>
        <p:nvSpPr>
          <p:cNvPr id="47" name="PREPARE_HOST: missing FULL; HBM remains resident."/>
          <p:cNvSpPr txBox="1"/>
          <p:nvPr/>
        </p:nvSpPr>
        <p:spPr>
          <a:xfrm>
            <a:off x="566928" y="3611880"/>
            <a:ext cx="5275516"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263746"/>
                </a:solidFill>
                <a:latin typeface="DejaVu Sans"/>
                <a:ea typeface="DejaVu Sans"/>
              </a:rPr>
              <a:t>PREPARE_HOST: missing FULL; HBM remains resident.</a:t>
            </a:r>
          </a:p>
        </p:txBody>
      </p:sp>
      <p:sp>
        <p:nvSpPr>
          <p:cNvPr id="48" name="rect 47"/>
          <p:cNvSpPr/>
          <p:nvPr/>
        </p:nvSpPr>
        <p:spPr>
          <a:xfrm>
            <a:off x="7589520" y="1193292"/>
            <a:ext cx="5212080" cy="2724912"/>
          </a:xfrm>
          <a:prstGeom prst="roundRect">
            <a:avLst>
              <a:gd name="adj" fmla="val 1006"/>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9" name="line 48"/>
          <p:cNvCxnSpPr/>
          <p:nvPr/>
        </p:nvCxnSpPr>
        <p:spPr>
          <a:xfrm>
            <a:off x="7598664" y="1202436"/>
            <a:ext cx="5193792" cy="0"/>
          </a:xfrm>
          <a:prstGeom prst="line">
            <a:avLst/>
          </a:prstGeom>
          <a:ln w="27432">
            <a:solidFill>
              <a:srgbClr val="A96F1F"/>
            </a:solidFill>
          </a:ln>
          <a:effectLst/>
        </p:spPr>
        <p:style>
          <a:lnRef idx="2">
            <a:schemeClr val="accent1"/>
          </a:lnRef>
          <a:fillRef idx="0">
            <a:schemeClr val="accent1"/>
          </a:fillRef>
          <a:effectRef idx="0">
            <a:schemeClr val="accent1"/>
          </a:effectRef>
          <a:fontRef idx="minor">
            <a:schemeClr val="tx1"/>
          </a:fontRef>
        </p:style>
      </p:cxnSp>
      <p:sp>
        <p:nvSpPr>
          <p:cNvPr id="50" name="(b) Necessary Mamba checkpoint"/>
          <p:cNvSpPr txBox="1"/>
          <p:nvPr/>
        </p:nvSpPr>
        <p:spPr>
          <a:xfrm>
            <a:off x="7790688" y="1337310"/>
            <a:ext cx="4567607"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A96F1F"/>
                </a:solidFill>
                <a:latin typeface="DejaVu Sans"/>
                <a:ea typeface="DejaVu Sans"/>
              </a:rPr>
              <a:t>(b) Necessary Mamba checkpoint</a:t>
            </a:r>
          </a:p>
        </p:txBody>
      </p:sp>
      <p:sp>
        <p:nvSpPr>
          <p:cNvPr id="51" name="rect 50"/>
          <p:cNvSpPr/>
          <p:nvPr/>
        </p:nvSpPr>
        <p:spPr>
          <a:xfrm>
            <a:off x="7936992" y="1952244"/>
            <a:ext cx="1188720" cy="621792"/>
          </a:xfrm>
          <a:prstGeom prst="roundRect">
            <a:avLst>
              <a:gd name="adj" fmla="val 2941"/>
            </a:avLst>
          </a:prstGeom>
          <a:solidFill>
            <a:srgbClr val="F2F4F5"/>
          </a:solidFill>
          <a:ln w="11887">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s0"/>
          <p:cNvSpPr txBox="1"/>
          <p:nvPr/>
        </p:nvSpPr>
        <p:spPr>
          <a:xfrm>
            <a:off x="8328934" y="2128266"/>
            <a:ext cx="404836" cy="304038"/>
          </a:xfrm>
          <a:prstGeom prst="rect">
            <a:avLst/>
          </a:prstGeom>
          <a:noFill/>
        </p:spPr>
        <p:txBody>
          <a:bodyPr wrap="none" lIns="0" rIns="0" tIns="0" bIns="0" anchor="t">
            <a:spAutoFit/>
          </a:bodyPr>
          <a:lstStyle/>
          <a:p>
            <a:pPr algn="ctr">
              <a:lnSpc>
                <a:spcPct val="100000"/>
              </a:lnSpc>
              <a:spcBef>
                <a:spcPts val="0"/>
              </a:spcBef>
              <a:spcAft>
                <a:spcPts val="0"/>
              </a:spcAft>
            </a:pPr>
            <a:r>
              <a:rPr sz="1800" b="1" lang="en-US" spc="0">
                <a:solidFill>
                  <a:srgbClr val="263746"/>
                </a:solidFill>
                <a:latin typeface="DejaVu Sans"/>
                <a:ea typeface="DejaVu Sans"/>
              </a:rPr>
              <a:t>s0</a:t>
            </a:r>
          </a:p>
        </p:txBody>
      </p:sp>
      <p:sp>
        <p:nvSpPr>
          <p:cNvPr id="53" name="rect 52"/>
          <p:cNvSpPr/>
          <p:nvPr/>
        </p:nvSpPr>
        <p:spPr>
          <a:xfrm>
            <a:off x="9464040" y="1952244"/>
            <a:ext cx="1188720" cy="621792"/>
          </a:xfrm>
          <a:prstGeom prst="roundRect">
            <a:avLst>
              <a:gd name="adj" fmla="val 2941"/>
            </a:avLst>
          </a:prstGeom>
          <a:solidFill>
            <a:srgbClr val="F2F4F5"/>
          </a:solidFill>
          <a:ln w="11887">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s1"/>
          <p:cNvSpPr txBox="1"/>
          <p:nvPr/>
        </p:nvSpPr>
        <p:spPr>
          <a:xfrm>
            <a:off x="9855982" y="2128266"/>
            <a:ext cx="404836" cy="304038"/>
          </a:xfrm>
          <a:prstGeom prst="rect">
            <a:avLst/>
          </a:prstGeom>
          <a:noFill/>
        </p:spPr>
        <p:txBody>
          <a:bodyPr wrap="none" lIns="0" rIns="0" tIns="0" bIns="0" anchor="t">
            <a:spAutoFit/>
          </a:bodyPr>
          <a:lstStyle/>
          <a:p>
            <a:pPr algn="ctr">
              <a:lnSpc>
                <a:spcPct val="100000"/>
              </a:lnSpc>
              <a:spcBef>
                <a:spcPts val="0"/>
              </a:spcBef>
              <a:spcAft>
                <a:spcPts val="0"/>
              </a:spcAft>
            </a:pPr>
            <a:r>
              <a:rPr sz="1800" b="1" lang="en-US" spc="0">
                <a:solidFill>
                  <a:srgbClr val="263746"/>
                </a:solidFill>
                <a:latin typeface="DejaVu Sans"/>
                <a:ea typeface="DejaVu Sans"/>
              </a:rPr>
              <a:t>s1</a:t>
            </a:r>
          </a:p>
        </p:txBody>
      </p:sp>
      <p:sp>
        <p:nvSpPr>
          <p:cNvPr id="55" name="rect 54"/>
          <p:cNvSpPr/>
          <p:nvPr/>
        </p:nvSpPr>
        <p:spPr>
          <a:xfrm>
            <a:off x="10991088" y="1952244"/>
            <a:ext cx="1188720" cy="621792"/>
          </a:xfrm>
          <a:prstGeom prst="roundRect">
            <a:avLst>
              <a:gd name="adj" fmla="val 2941"/>
            </a:avLst>
          </a:prstGeom>
          <a:solidFill>
            <a:srgbClr val="FBF2E3"/>
          </a:solidFill>
          <a:ln w="11887">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s2"/>
          <p:cNvSpPr txBox="1"/>
          <p:nvPr/>
        </p:nvSpPr>
        <p:spPr>
          <a:xfrm>
            <a:off x="11383030" y="2128266"/>
            <a:ext cx="404836" cy="304038"/>
          </a:xfrm>
          <a:prstGeom prst="rect">
            <a:avLst/>
          </a:prstGeom>
          <a:noFill/>
        </p:spPr>
        <p:txBody>
          <a:bodyPr wrap="none" lIns="0" rIns="0" tIns="0" bIns="0" anchor="t">
            <a:spAutoFit/>
          </a:bodyPr>
          <a:lstStyle/>
          <a:p>
            <a:pPr algn="ctr">
              <a:lnSpc>
                <a:spcPct val="100000"/>
              </a:lnSpc>
              <a:spcBef>
                <a:spcPts val="0"/>
              </a:spcBef>
              <a:spcAft>
                <a:spcPts val="0"/>
              </a:spcAft>
            </a:pPr>
            <a:r>
              <a:rPr sz="1800" b="1" lang="en-US" spc="0">
                <a:solidFill>
                  <a:srgbClr val="263746"/>
                </a:solidFill>
                <a:latin typeface="DejaVu Sans"/>
                <a:ea typeface="DejaVu Sans"/>
              </a:rPr>
              <a:t>s2</a:t>
            </a:r>
          </a:p>
        </p:txBody>
      </p:sp>
      <p:cxnSp>
        <p:nvCxnSpPr>
          <p:cNvPr id="57" name="path 56"/>
          <p:cNvCxnSpPr/>
          <p:nvPr/>
        </p:nvCxnSpPr>
        <p:spPr>
          <a:xfrm>
            <a:off x="9153144" y="2263140"/>
            <a:ext cx="292608" cy="0"/>
          </a:xfrm>
          <a:prstGeom prst="line">
            <a:avLst/>
          </a:prstGeom>
          <a:ln w="21945">
            <a:solidFill>
              <a:srgbClr val="687680"/>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58" name="path 57"/>
          <p:cNvCxnSpPr/>
          <p:nvPr/>
        </p:nvCxnSpPr>
        <p:spPr>
          <a:xfrm>
            <a:off x="10680192" y="2263140"/>
            <a:ext cx="292608" cy="0"/>
          </a:xfrm>
          <a:prstGeom prst="line">
            <a:avLst/>
          </a:prstGeom>
          <a:ln w="21945">
            <a:solidFill>
              <a:srgbClr val="A96F1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59" name="Select the required checkpoint state"/>
          <p:cNvSpPr txBox="1"/>
          <p:nvPr/>
        </p:nvSpPr>
        <p:spPr>
          <a:xfrm>
            <a:off x="8154698" y="2724912"/>
            <a:ext cx="3770828" cy="272034"/>
          </a:xfrm>
          <a:prstGeom prst="rect">
            <a:avLst/>
          </a:prstGeom>
          <a:noFill/>
        </p:spPr>
        <p:txBody>
          <a:bodyPr wrap="none" lIns="0" rIns="0" tIns="0" bIns="0" anchor="t">
            <a:spAutoFit/>
          </a:bodyPr>
          <a:lstStyle/>
          <a:p>
            <a:pPr algn="ctr">
              <a:lnSpc>
                <a:spcPct val="100000"/>
              </a:lnSpc>
              <a:spcBef>
                <a:spcPts val="0"/>
              </a:spcBef>
              <a:spcAft>
                <a:spcPts val="0"/>
              </a:spcAft>
            </a:pPr>
            <a:r>
              <a:rPr sz="1584" b="0" lang="en-US" spc="0">
                <a:solidFill>
                  <a:srgbClr val="A96F1F"/>
                </a:solidFill>
                <a:latin typeface="DejaVu Sans"/>
                <a:ea typeface="DejaVu Sans"/>
              </a:rPr>
              <a:t>Select the required checkpoint state</a:t>
            </a:r>
          </a:p>
        </p:txBody>
      </p:sp>
      <p:sp>
        <p:nvSpPr>
          <p:cNvPr id="60" name="No speculative Mamba in PREPARE_HOST."/>
          <p:cNvSpPr txBox="1"/>
          <p:nvPr/>
        </p:nvSpPr>
        <p:spPr>
          <a:xfrm>
            <a:off x="7790688" y="3127248"/>
            <a:ext cx="4319326" cy="272034"/>
          </a:xfrm>
          <a:prstGeom prst="rect">
            <a:avLst/>
          </a:prstGeom>
          <a:noFill/>
        </p:spPr>
        <p:txBody>
          <a:bodyPr wrap="none" lIns="0" rIns="0" tIns="0" bIns="0" anchor="t">
            <a:spAutoFit/>
          </a:bodyPr>
          <a:lstStyle/>
          <a:p>
            <a:pPr algn="l">
              <a:lnSpc>
                <a:spcPct val="100000"/>
              </a:lnSpc>
              <a:spcBef>
                <a:spcPts val="0"/>
              </a:spcBef>
              <a:spcAft>
                <a:spcPts val="0"/>
              </a:spcAft>
            </a:pPr>
            <a:r>
              <a:rPr sz="1584" b="0" lang="en-US" spc="0">
                <a:solidFill>
                  <a:srgbClr val="263746"/>
                </a:solidFill>
                <a:latin typeface="DejaVu Sans"/>
                <a:ea typeface="DejaVu Sans"/>
              </a:rPr>
              <a:t>No speculative Mamba in PREPARE_HOST.</a:t>
            </a:r>
          </a:p>
        </p:txBody>
      </p:sp>
      <p:sp>
        <p:nvSpPr>
          <p:cNvPr id="61" name="Native cache retains other valid states."/>
          <p:cNvSpPr txBox="1"/>
          <p:nvPr/>
        </p:nvSpPr>
        <p:spPr>
          <a:xfrm>
            <a:off x="7790688" y="3429000"/>
            <a:ext cx="4065008" cy="272034"/>
          </a:xfrm>
          <a:prstGeom prst="rect">
            <a:avLst/>
          </a:prstGeom>
          <a:noFill/>
        </p:spPr>
        <p:txBody>
          <a:bodyPr wrap="none" lIns="0" rIns="0" tIns="0" bIns="0" anchor="t">
            <a:spAutoFit/>
          </a:bodyPr>
          <a:lstStyle/>
          <a:p>
            <a:pPr algn="l">
              <a:lnSpc>
                <a:spcPct val="100000"/>
              </a:lnSpc>
              <a:spcBef>
                <a:spcPts val="0"/>
              </a:spcBef>
              <a:spcAft>
                <a:spcPts val="0"/>
              </a:spcAft>
            </a:pPr>
            <a:r>
              <a:rPr sz="1584" b="0" lang="en-US" spc="0">
                <a:solidFill>
                  <a:srgbClr val="263746"/>
                </a:solidFill>
                <a:latin typeface="DejaVu Sans"/>
                <a:ea typeface="DejaVu Sans"/>
              </a:rPr>
              <a:t>Native cache retains other valid states.</a:t>
            </a:r>
          </a:p>
        </p:txBody>
      </p:sp>
      <p:sp>
        <p:nvSpPr>
          <p:cNvPr id="62" name="rect 61"/>
          <p:cNvSpPr/>
          <p:nvPr/>
        </p:nvSpPr>
        <p:spPr>
          <a:xfrm>
            <a:off x="365760" y="4311396"/>
            <a:ext cx="12435840" cy="4023360"/>
          </a:xfrm>
          <a:prstGeom prst="roundRect">
            <a:avLst>
              <a:gd name="adj" fmla="val 681"/>
            </a:avLst>
          </a:prstGeom>
          <a:solidFill>
            <a:srgbClr val="FFFFFF"/>
          </a:solidFill>
          <a:ln w="15544">
            <a:solidFill>
              <a:srgbClr val="D4DBE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3" name="line 62"/>
          <p:cNvCxnSpPr/>
          <p:nvPr/>
        </p:nvCxnSpPr>
        <p:spPr>
          <a:xfrm>
            <a:off x="374904" y="4320540"/>
            <a:ext cx="12417552" cy="0"/>
          </a:xfrm>
          <a:prstGeom prst="line">
            <a:avLst/>
          </a:prstGeom>
          <a:ln w="27432">
            <a:solidFill>
              <a:srgbClr val="3D6F9F"/>
            </a:solidFill>
          </a:ln>
          <a:effectLst/>
        </p:spPr>
        <p:style>
          <a:lnRef idx="2">
            <a:schemeClr val="accent1"/>
          </a:lnRef>
          <a:fillRef idx="0">
            <a:schemeClr val="accent1"/>
          </a:fillRef>
          <a:effectRef idx="0">
            <a:schemeClr val="accent1"/>
          </a:effectRef>
          <a:fontRef idx="minor">
            <a:schemeClr val="tx1"/>
          </a:fontRef>
        </p:style>
      </p:cxnSp>
      <p:sp>
        <p:nvSpPr>
          <p:cNvPr id="64" name="(c) Coordinate child reclamation, parent restore and admission"/>
          <p:cNvSpPr txBox="1"/>
          <p:nvPr/>
        </p:nvSpPr>
        <p:spPr>
          <a:xfrm>
            <a:off x="566928" y="4455414"/>
            <a:ext cx="8577786" cy="315468"/>
          </a:xfrm>
          <a:prstGeom prst="rect">
            <a:avLst/>
          </a:prstGeom>
          <a:noFill/>
        </p:spPr>
        <p:txBody>
          <a:bodyPr wrap="none" lIns="0" rIns="0" tIns="0" bIns="0" anchor="t">
            <a:spAutoFit/>
          </a:bodyPr>
          <a:lstStyle/>
          <a:p>
            <a:pPr algn="l">
              <a:lnSpc>
                <a:spcPct val="100000"/>
              </a:lnSpc>
              <a:spcBef>
                <a:spcPts val="0"/>
              </a:spcBef>
              <a:spcAft>
                <a:spcPts val="0"/>
              </a:spcAft>
            </a:pPr>
            <a:r>
              <a:rPr sz="1872" b="1" lang="en-US" spc="0">
                <a:solidFill>
                  <a:srgbClr val="3D6F9F"/>
                </a:solidFill>
                <a:latin typeface="DejaVu Sans"/>
                <a:ea typeface="DejaVu Sans"/>
              </a:rPr>
              <a:t>(c) Coordinate child reclamation, parent restore and admission</a:t>
            </a:r>
          </a:p>
        </p:txBody>
      </p:sp>
      <p:sp>
        <p:nvSpPr>
          <p:cNvPr id="65" name="circle 64"/>
          <p:cNvSpPr/>
          <p:nvPr/>
        </p:nvSpPr>
        <p:spPr>
          <a:xfrm>
            <a:off x="841248" y="5317236"/>
            <a:ext cx="457200" cy="457200"/>
          </a:xfrm>
          <a:prstGeom prst="ellipse">
            <a:avLst/>
          </a:prstGeom>
          <a:solidFill>
            <a:srgbClr val="EDF3F8"/>
          </a:solidFill>
          <a:ln w="12801">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P"/>
          <p:cNvSpPr txBox="1"/>
          <p:nvPr/>
        </p:nvSpPr>
        <p:spPr>
          <a:xfrm>
            <a:off x="931206" y="5413248"/>
            <a:ext cx="277285" cy="304038"/>
          </a:xfrm>
          <a:prstGeom prst="rect">
            <a:avLst/>
          </a:prstGeom>
          <a:noFill/>
        </p:spPr>
        <p:txBody>
          <a:bodyPr wrap="none" lIns="0" rIns="0" tIns="0" bIns="0" anchor="t">
            <a:spAutoFit/>
          </a:bodyPr>
          <a:lstStyle/>
          <a:p>
            <a:pPr algn="ctr">
              <a:lnSpc>
                <a:spcPct val="100000"/>
              </a:lnSpc>
              <a:spcBef>
                <a:spcPts val="0"/>
              </a:spcBef>
              <a:spcAft>
                <a:spcPts val="0"/>
              </a:spcAft>
            </a:pPr>
            <a:r>
              <a:rPr sz="1800" b="1" lang="en-US" spc="0">
                <a:solidFill>
                  <a:srgbClr val="263746"/>
                </a:solidFill>
                <a:latin typeface="DejaVu Sans"/>
                <a:ea typeface="DejaVu Sans"/>
              </a:rPr>
              <a:t>P</a:t>
            </a:r>
          </a:p>
        </p:txBody>
      </p:sp>
      <p:sp>
        <p:nvSpPr>
          <p:cNvPr id="67" name="circle 66"/>
          <p:cNvSpPr/>
          <p:nvPr/>
        </p:nvSpPr>
        <p:spPr>
          <a:xfrm>
            <a:off x="2167128" y="5024628"/>
            <a:ext cx="475488" cy="475488"/>
          </a:xfrm>
          <a:prstGeom prst="ellipse">
            <a:avLst/>
          </a:prstGeom>
          <a:solidFill>
            <a:srgbClr val="EAF3F1"/>
          </a:solidFill>
          <a:ln w="12801">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C1"/>
          <p:cNvSpPr txBox="1"/>
          <p:nvPr/>
        </p:nvSpPr>
        <p:spPr>
          <a:xfrm>
            <a:off x="2206204" y="5145329"/>
            <a:ext cx="397335" cy="272034"/>
          </a:xfrm>
          <a:prstGeom prst="rect">
            <a:avLst/>
          </a:prstGeom>
          <a:noFill/>
        </p:spPr>
        <p:txBody>
          <a:bodyPr wrap="none" lIns="0" rIns="0" tIns="0" bIns="0" anchor="t">
            <a:spAutoFit/>
          </a:bodyPr>
          <a:lstStyle/>
          <a:p>
            <a:pPr algn="ctr">
              <a:lnSpc>
                <a:spcPct val="100000"/>
              </a:lnSpc>
              <a:spcBef>
                <a:spcPts val="0"/>
              </a:spcBef>
              <a:spcAft>
                <a:spcPts val="0"/>
              </a:spcAft>
            </a:pPr>
            <a:r>
              <a:rPr sz="1584" b="1" lang="en-US" spc="0">
                <a:solidFill>
                  <a:srgbClr val="263746"/>
                </a:solidFill>
                <a:latin typeface="DejaVu Sans"/>
                <a:ea typeface="DejaVu Sans"/>
              </a:rPr>
              <a:t>C1</a:t>
            </a:r>
          </a:p>
        </p:txBody>
      </p:sp>
      <p:sp>
        <p:nvSpPr>
          <p:cNvPr id="69" name="circle 68"/>
          <p:cNvSpPr/>
          <p:nvPr/>
        </p:nvSpPr>
        <p:spPr>
          <a:xfrm>
            <a:off x="2167128" y="5792724"/>
            <a:ext cx="475488" cy="475488"/>
          </a:xfrm>
          <a:prstGeom prst="ellipse">
            <a:avLst/>
          </a:prstGeom>
          <a:solidFill>
            <a:srgbClr val="FBF2E3"/>
          </a:solidFill>
          <a:ln w="12801">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C2"/>
          <p:cNvSpPr txBox="1"/>
          <p:nvPr/>
        </p:nvSpPr>
        <p:spPr>
          <a:xfrm>
            <a:off x="2206204" y="5913425"/>
            <a:ext cx="397335" cy="272034"/>
          </a:xfrm>
          <a:prstGeom prst="rect">
            <a:avLst/>
          </a:prstGeom>
          <a:noFill/>
        </p:spPr>
        <p:txBody>
          <a:bodyPr wrap="none" lIns="0" rIns="0" tIns="0" bIns="0" anchor="t">
            <a:spAutoFit/>
          </a:bodyPr>
          <a:lstStyle/>
          <a:p>
            <a:pPr algn="ctr">
              <a:lnSpc>
                <a:spcPct val="100000"/>
              </a:lnSpc>
              <a:spcBef>
                <a:spcPts val="0"/>
              </a:spcBef>
              <a:spcAft>
                <a:spcPts val="0"/>
              </a:spcAft>
            </a:pPr>
            <a:r>
              <a:rPr sz="1584" b="1" lang="en-US" spc="0">
                <a:solidFill>
                  <a:srgbClr val="263746"/>
                </a:solidFill>
                <a:latin typeface="DejaVu Sans"/>
                <a:ea typeface="DejaVu Sans"/>
              </a:rPr>
              <a:t>C2</a:t>
            </a:r>
          </a:p>
        </p:txBody>
      </p:sp>
      <p:cxnSp>
        <p:nvCxnSpPr>
          <p:cNvPr id="71" name="path 70"/>
          <p:cNvCxnSpPr/>
          <p:nvPr/>
        </p:nvCxnSpPr>
        <p:spPr>
          <a:xfrm flipV="1">
            <a:off x="1298448" y="5244084"/>
            <a:ext cx="850392" cy="219456"/>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72" name="path 71"/>
          <p:cNvCxnSpPr/>
          <p:nvPr/>
        </p:nvCxnSpPr>
        <p:spPr>
          <a:xfrm>
            <a:off x="1298448" y="5646420"/>
            <a:ext cx="850392" cy="329184"/>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73" name="WAIT_JOIN"/>
          <p:cNvSpPr txBox="1"/>
          <p:nvPr/>
        </p:nvSpPr>
        <p:spPr>
          <a:xfrm>
            <a:off x="563820" y="5877306"/>
            <a:ext cx="957191" cy="228600"/>
          </a:xfrm>
          <a:prstGeom prst="rect">
            <a:avLst/>
          </a:prstGeom>
          <a:noFill/>
        </p:spPr>
        <p:txBody>
          <a:bodyPr wrap="none" lIns="0" rIns="0" tIns="0" bIns="0" anchor="t">
            <a:spAutoFit/>
          </a:bodyPr>
          <a:lstStyle/>
          <a:p>
            <a:pPr algn="ctr">
              <a:lnSpc>
                <a:spcPct val="100000"/>
              </a:lnSpc>
              <a:spcBef>
                <a:spcPts val="0"/>
              </a:spcBef>
              <a:spcAft>
                <a:spcPts val="0"/>
              </a:spcAft>
            </a:pPr>
            <a:r>
              <a:rPr sz="1296" b="0" lang="en-US" spc="0">
                <a:solidFill>
                  <a:srgbClr val="687680"/>
                </a:solidFill>
                <a:latin typeface="DejaVu Sans"/>
                <a:ea typeface="DejaVu Sans"/>
              </a:rPr>
              <a:t>WAIT_JOIN</a:t>
            </a:r>
          </a:p>
        </p:txBody>
      </p:sp>
      <p:sp>
        <p:nvSpPr>
          <p:cNvPr id="74" name="RETURN"/>
          <p:cNvSpPr txBox="1"/>
          <p:nvPr/>
        </p:nvSpPr>
        <p:spPr>
          <a:xfrm>
            <a:off x="1956923" y="4770882"/>
            <a:ext cx="859322" cy="228600"/>
          </a:xfrm>
          <a:prstGeom prst="rect">
            <a:avLst/>
          </a:prstGeom>
          <a:noFill/>
        </p:spPr>
        <p:txBody>
          <a:bodyPr wrap="none" lIns="0" rIns="0" tIns="0" bIns="0" anchor="t">
            <a:spAutoFit/>
          </a:bodyPr>
          <a:lstStyle/>
          <a:p>
            <a:pPr algn="ctr">
              <a:lnSpc>
                <a:spcPct val="100000"/>
              </a:lnSpc>
              <a:spcBef>
                <a:spcPts val="0"/>
              </a:spcBef>
              <a:spcAft>
                <a:spcPts val="0"/>
              </a:spcAft>
            </a:pPr>
            <a:r>
              <a:rPr sz="1296" b="1" lang="en-US" spc="0">
                <a:solidFill>
                  <a:srgbClr val="357B73"/>
                </a:solidFill>
                <a:latin typeface="DejaVu Sans"/>
                <a:ea typeface="DejaVu Sans"/>
              </a:rPr>
              <a:t>RETURN</a:t>
            </a:r>
          </a:p>
        </p:txBody>
      </p:sp>
      <p:sp>
        <p:nvSpPr>
          <p:cNvPr id="75" name="Still running"/>
          <p:cNvSpPr txBox="1"/>
          <p:nvPr/>
        </p:nvSpPr>
        <p:spPr>
          <a:xfrm>
            <a:off x="1843855" y="6343650"/>
            <a:ext cx="1158609" cy="240030"/>
          </a:xfrm>
          <a:prstGeom prst="rect">
            <a:avLst/>
          </a:prstGeom>
          <a:noFill/>
        </p:spPr>
        <p:txBody>
          <a:bodyPr wrap="none" lIns="0" rIns="0" tIns="0" bIns="0" anchor="t">
            <a:spAutoFit/>
          </a:bodyPr>
          <a:lstStyle/>
          <a:p>
            <a:pPr algn="ctr">
              <a:lnSpc>
                <a:spcPct val="100000"/>
              </a:lnSpc>
              <a:spcBef>
                <a:spcPts val="0"/>
              </a:spcBef>
              <a:spcAft>
                <a:spcPts val="0"/>
              </a:spcAft>
            </a:pPr>
            <a:r>
              <a:rPr sz="1368" b="0" lang="en-US" spc="0">
                <a:solidFill>
                  <a:srgbClr val="A96F1F"/>
                </a:solidFill>
                <a:latin typeface="DejaVu Sans"/>
                <a:ea typeface="DejaVu Sans"/>
              </a:rPr>
              <a:t>Still running</a:t>
            </a:r>
          </a:p>
        </p:txBody>
      </p:sp>
      <p:cxnSp>
        <p:nvCxnSpPr>
          <p:cNvPr id="76" name="path 75"/>
          <p:cNvCxnSpPr/>
          <p:nvPr/>
        </p:nvCxnSpPr>
        <p:spPr>
          <a:xfrm>
            <a:off x="2660904" y="5262372"/>
            <a:ext cx="731520" cy="0"/>
          </a:xfrm>
          <a:prstGeom prst="line">
            <a:avLst/>
          </a:prstGeom>
          <a:ln w="21945">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77" name="rect 76"/>
          <p:cNvSpPr/>
          <p:nvPr/>
        </p:nvSpPr>
        <p:spPr>
          <a:xfrm>
            <a:off x="3419856" y="4933188"/>
            <a:ext cx="2642616" cy="1609344"/>
          </a:xfrm>
          <a:prstGeom prst="roundRect">
            <a:avLst>
              <a:gd name="adj" fmla="val 1136"/>
            </a:avLst>
          </a:prstGeom>
          <a:solidFill>
            <a:srgbClr val="EAF3F1"/>
          </a:solidFill>
          <a:ln w="16459">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Reclaim private pages"/>
          <p:cNvSpPr txBox="1"/>
          <p:nvPr/>
        </p:nvSpPr>
        <p:spPr>
          <a:xfrm>
            <a:off x="3476345" y="5093208"/>
            <a:ext cx="2520494"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57B73"/>
                </a:solidFill>
                <a:latin typeface="DejaVu Sans"/>
                <a:ea typeface="DejaVu Sans"/>
              </a:rPr>
              <a:t>Reclaim private pages</a:t>
            </a:r>
          </a:p>
        </p:txBody>
      </p:sp>
      <p:sp>
        <p:nvSpPr>
          <p:cNvPr id="79" name="No live or shared use"/>
          <p:cNvSpPr txBox="1"/>
          <p:nvPr/>
        </p:nvSpPr>
        <p:spPr>
          <a:xfrm>
            <a:off x="3611880" y="5484114"/>
            <a:ext cx="1950351" cy="240030"/>
          </a:xfrm>
          <a:prstGeom prst="rect">
            <a:avLst/>
          </a:prstGeom>
          <a:noFill/>
        </p:spPr>
        <p:txBody>
          <a:bodyPr wrap="none" lIns="0" rIns="0" tIns="0" bIns="0" anchor="t">
            <a:spAutoFit/>
          </a:bodyPr>
          <a:lstStyle/>
          <a:p>
            <a:pPr algn="l">
              <a:lnSpc>
                <a:spcPct val="100000"/>
              </a:lnSpc>
              <a:spcBef>
                <a:spcPts val="0"/>
              </a:spcBef>
              <a:spcAft>
                <a:spcPts val="0"/>
              </a:spcAft>
            </a:pPr>
            <a:r>
              <a:rPr sz="1368" b="0" lang="en-US" spc="0">
                <a:solidFill>
                  <a:srgbClr val="263746"/>
                </a:solidFill>
                <a:latin typeface="DejaVu Sans"/>
                <a:ea typeface="DejaVu Sans"/>
              </a:rPr>
              <a:t>No live or shared use</a:t>
            </a:r>
          </a:p>
        </p:txBody>
      </p:sp>
      <p:sp>
        <p:nvSpPr>
          <p:cNvPr id="80" name="No in-flight transfer use"/>
          <p:cNvSpPr txBox="1"/>
          <p:nvPr/>
        </p:nvSpPr>
        <p:spPr>
          <a:xfrm>
            <a:off x="3611880" y="5785866"/>
            <a:ext cx="2172664" cy="240030"/>
          </a:xfrm>
          <a:prstGeom prst="rect">
            <a:avLst/>
          </a:prstGeom>
          <a:noFill/>
        </p:spPr>
        <p:txBody>
          <a:bodyPr wrap="none" lIns="0" rIns="0" tIns="0" bIns="0" anchor="t">
            <a:spAutoFit/>
          </a:bodyPr>
          <a:lstStyle/>
          <a:p>
            <a:pPr algn="l">
              <a:lnSpc>
                <a:spcPct val="100000"/>
              </a:lnSpc>
              <a:spcBef>
                <a:spcPts val="0"/>
              </a:spcBef>
              <a:spcAft>
                <a:spcPts val="0"/>
              </a:spcAft>
            </a:pPr>
            <a:r>
              <a:rPr sz="1368" b="0" lang="en-US" spc="0">
                <a:solidFill>
                  <a:srgbClr val="263746"/>
                </a:solidFill>
                <a:latin typeface="DejaVu Sans"/>
                <a:ea typeface="DejaVu Sans"/>
              </a:rPr>
              <a:t>No in-flight transfer use</a:t>
            </a:r>
          </a:p>
        </p:txBody>
      </p:sp>
      <p:sp>
        <p:nvSpPr>
          <p:cNvPr id="81" name="Keep shared prefixes"/>
          <p:cNvSpPr txBox="1"/>
          <p:nvPr/>
        </p:nvSpPr>
        <p:spPr>
          <a:xfrm>
            <a:off x="3611880" y="6087618"/>
            <a:ext cx="1930670" cy="240030"/>
          </a:xfrm>
          <a:prstGeom prst="rect">
            <a:avLst/>
          </a:prstGeom>
          <a:noFill/>
        </p:spPr>
        <p:txBody>
          <a:bodyPr wrap="none" lIns="0" rIns="0" tIns="0" bIns="0" anchor="t">
            <a:spAutoFit/>
          </a:bodyPr>
          <a:lstStyle/>
          <a:p>
            <a:pPr algn="l">
              <a:lnSpc>
                <a:spcPct val="100000"/>
              </a:lnSpc>
              <a:spcBef>
                <a:spcPts val="0"/>
              </a:spcBef>
              <a:spcAft>
                <a:spcPts val="0"/>
              </a:spcAft>
            </a:pPr>
            <a:r>
              <a:rPr sz="1368" b="0" lang="en-US" spc="0">
                <a:solidFill>
                  <a:srgbClr val="263746"/>
                </a:solidFill>
                <a:latin typeface="DejaVu Sans"/>
                <a:ea typeface="DejaVu Sans"/>
              </a:rPr>
              <a:t>Keep shared prefixes</a:t>
            </a:r>
          </a:p>
        </p:txBody>
      </p:sp>
      <p:cxnSp>
        <p:nvCxnSpPr>
          <p:cNvPr id="82" name="path 81"/>
          <p:cNvCxnSpPr/>
          <p:nvPr/>
        </p:nvCxnSpPr>
        <p:spPr>
          <a:xfrm>
            <a:off x="6071616" y="5737860"/>
            <a:ext cx="521208" cy="0"/>
          </a:xfrm>
          <a:prstGeom prst="line">
            <a:avLst/>
          </a:prstGeom>
          <a:ln w="21945">
            <a:solidFill>
              <a:srgbClr val="357B73"/>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83" name="rect 82"/>
          <p:cNvSpPr/>
          <p:nvPr/>
        </p:nvSpPr>
        <p:spPr>
          <a:xfrm>
            <a:off x="6611112" y="4933188"/>
            <a:ext cx="2441448" cy="1609344"/>
          </a:xfrm>
          <a:prstGeom prst="roundRect">
            <a:avLst>
              <a:gd name="adj" fmla="val 1136"/>
            </a:avLst>
          </a:prstGeom>
          <a:solidFill>
            <a:srgbClr val="F2F4F5"/>
          </a:solidFill>
          <a:ln w="16459">
            <a:solidFill>
              <a:srgbClr val="89959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Native free lists"/>
          <p:cNvSpPr txBox="1"/>
          <p:nvPr/>
        </p:nvSpPr>
        <p:spPr>
          <a:xfrm>
            <a:off x="6826246" y="5084064"/>
            <a:ext cx="2002036" cy="283464"/>
          </a:xfrm>
          <a:prstGeom prst="rect">
            <a:avLst/>
          </a:prstGeom>
          <a:noFill/>
        </p:spPr>
        <p:txBody>
          <a:bodyPr wrap="none" lIns="0" rIns="0" tIns="0" bIns="0" anchor="t">
            <a:spAutoFit/>
          </a:bodyPr>
          <a:lstStyle/>
          <a:p>
            <a:pPr algn="ctr">
              <a:lnSpc>
                <a:spcPct val="100000"/>
              </a:lnSpc>
              <a:spcBef>
                <a:spcPts val="0"/>
              </a:spcBef>
              <a:spcAft>
                <a:spcPts val="0"/>
              </a:spcAft>
            </a:pPr>
            <a:r>
              <a:rPr sz="1655" b="1" lang="en-US" spc="0">
                <a:solidFill>
                  <a:srgbClr val="263746"/>
                </a:solidFill>
                <a:latin typeface="DejaVu Sans"/>
                <a:ea typeface="DejaVu Sans"/>
              </a:rPr>
              <a:t>Native free lists</a:t>
            </a:r>
          </a:p>
        </p:txBody>
      </p:sp>
      <p:sp>
        <p:nvSpPr>
          <p:cNvPr id="85" name="rect 84"/>
          <p:cNvSpPr/>
          <p:nvPr/>
        </p:nvSpPr>
        <p:spPr>
          <a:xfrm>
            <a:off x="6821424" y="5536692"/>
            <a:ext cx="2020824" cy="356616"/>
          </a:xfrm>
          <a:prstGeom prst="roundRect">
            <a:avLst>
              <a:gd name="adj" fmla="val 5128"/>
            </a:avLst>
          </a:prstGeom>
          <a:solidFill>
            <a:srgbClr val="FFFFFF"/>
          </a:solidFill>
          <a:ln w="11887">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FULL pages"/>
          <p:cNvSpPr txBox="1"/>
          <p:nvPr/>
        </p:nvSpPr>
        <p:spPr>
          <a:xfrm>
            <a:off x="7153126" y="5601980"/>
            <a:ext cx="1357420"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263746"/>
                </a:solidFill>
                <a:latin typeface="DejaVu Sans"/>
                <a:ea typeface="DejaVu Sans"/>
              </a:rPr>
              <a:t>FULL pages</a:t>
            </a:r>
          </a:p>
        </p:txBody>
      </p:sp>
      <p:sp>
        <p:nvSpPr>
          <p:cNvPr id="87" name="rect 86"/>
          <p:cNvSpPr/>
          <p:nvPr/>
        </p:nvSpPr>
        <p:spPr>
          <a:xfrm>
            <a:off x="6821424" y="6012180"/>
            <a:ext cx="2020824" cy="356616"/>
          </a:xfrm>
          <a:prstGeom prst="roundRect">
            <a:avLst>
              <a:gd name="adj" fmla="val 5128"/>
            </a:avLst>
          </a:prstGeom>
          <a:solidFill>
            <a:srgbClr val="FFFFFF"/>
          </a:solidFill>
          <a:ln w="11887">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Mamba slots"/>
          <p:cNvSpPr txBox="1"/>
          <p:nvPr/>
        </p:nvSpPr>
        <p:spPr>
          <a:xfrm>
            <a:off x="7090565" y="6077468"/>
            <a:ext cx="1482542"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263746"/>
                </a:solidFill>
                <a:latin typeface="DejaVu Sans"/>
                <a:ea typeface="DejaVu Sans"/>
              </a:rPr>
              <a:t>Mamba slots</a:t>
            </a:r>
          </a:p>
        </p:txBody>
      </p:sp>
      <p:cxnSp>
        <p:nvCxnSpPr>
          <p:cNvPr id="89" name="path 88"/>
          <p:cNvCxnSpPr/>
          <p:nvPr/>
        </p:nvCxnSpPr>
        <p:spPr>
          <a:xfrm>
            <a:off x="9061704" y="5737860"/>
            <a:ext cx="502920" cy="0"/>
          </a:xfrm>
          <a:prstGeom prst="line">
            <a:avLst/>
          </a:prstGeom>
          <a:ln w="21945">
            <a:solidFill>
              <a:srgbClr val="3D6F9F"/>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90" name="rect 89"/>
          <p:cNvSpPr/>
          <p:nvPr/>
        </p:nvSpPr>
        <p:spPr>
          <a:xfrm>
            <a:off x="9582912" y="4933188"/>
            <a:ext cx="2962656" cy="1609344"/>
          </a:xfrm>
          <a:prstGeom prst="roundRect">
            <a:avLst>
              <a:gd name="adj" fmla="val 1136"/>
            </a:avLst>
          </a:prstGeom>
          <a:solidFill>
            <a:srgbClr val="EDF3F8"/>
          </a:solidFill>
          <a:ln w="16459">
            <a:solidFill>
              <a:srgbClr val="3D6F9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Parent restore + service"/>
          <p:cNvSpPr txBox="1"/>
          <p:nvPr/>
        </p:nvSpPr>
        <p:spPr>
          <a:xfrm>
            <a:off x="9688264" y="5102352"/>
            <a:ext cx="2751951" cy="260604"/>
          </a:xfrm>
          <a:prstGeom prst="rect">
            <a:avLst/>
          </a:prstGeom>
          <a:noFill/>
        </p:spPr>
        <p:txBody>
          <a:bodyPr wrap="none" lIns="0" rIns="0" tIns="0" bIns="0" anchor="t">
            <a:spAutoFit/>
          </a:bodyPr>
          <a:lstStyle/>
          <a:p>
            <a:pPr algn="ctr">
              <a:lnSpc>
                <a:spcPct val="100000"/>
              </a:lnSpc>
              <a:spcBef>
                <a:spcPts val="0"/>
              </a:spcBef>
              <a:spcAft>
                <a:spcPts val="0"/>
              </a:spcAft>
            </a:pPr>
            <a:r>
              <a:rPr sz="1512" b="1" lang="en-US" spc="0">
                <a:solidFill>
                  <a:srgbClr val="3D6F9F"/>
                </a:solidFill>
                <a:latin typeface="DejaVu Sans"/>
                <a:ea typeface="DejaVu Sans"/>
              </a:rPr>
              <a:t>Parent restore + service</a:t>
            </a:r>
          </a:p>
        </p:txBody>
      </p:sp>
      <p:sp>
        <p:nvSpPr>
          <p:cNvPr id="92" name="Load missing prefix pages"/>
          <p:cNvSpPr txBox="1"/>
          <p:nvPr/>
        </p:nvSpPr>
        <p:spPr>
          <a:xfrm>
            <a:off x="9784080" y="5484114"/>
            <a:ext cx="2381012" cy="240030"/>
          </a:xfrm>
          <a:prstGeom prst="rect">
            <a:avLst/>
          </a:prstGeom>
          <a:noFill/>
        </p:spPr>
        <p:txBody>
          <a:bodyPr wrap="none" lIns="0" rIns="0" tIns="0" bIns="0" anchor="t">
            <a:spAutoFit/>
          </a:bodyPr>
          <a:lstStyle/>
          <a:p>
            <a:pPr algn="l">
              <a:lnSpc>
                <a:spcPct val="100000"/>
              </a:lnSpc>
              <a:spcBef>
                <a:spcPts val="0"/>
              </a:spcBef>
              <a:spcAft>
                <a:spcPts val="0"/>
              </a:spcAft>
            </a:pPr>
            <a:r>
              <a:rPr sz="1368" b="0" lang="en-US" spc="0">
                <a:solidFill>
                  <a:srgbClr val="263746"/>
                </a:solidFill>
                <a:latin typeface="DejaVu Sans"/>
                <a:ea typeface="DejaVu Sans"/>
              </a:rPr>
              <a:t>Load missing prefix pages</a:t>
            </a:r>
          </a:p>
        </p:txBody>
      </p:sp>
      <p:sp>
        <p:nvSpPr>
          <p:cNvPr id="93" name="Reserve input and decode"/>
          <p:cNvSpPr txBox="1"/>
          <p:nvPr/>
        </p:nvSpPr>
        <p:spPr>
          <a:xfrm>
            <a:off x="9784080" y="5785866"/>
            <a:ext cx="2383869" cy="240030"/>
          </a:xfrm>
          <a:prstGeom prst="rect">
            <a:avLst/>
          </a:prstGeom>
          <a:noFill/>
        </p:spPr>
        <p:txBody>
          <a:bodyPr wrap="none" lIns="0" rIns="0" tIns="0" bIns="0" anchor="t">
            <a:spAutoFit/>
          </a:bodyPr>
          <a:lstStyle/>
          <a:p>
            <a:pPr algn="l">
              <a:lnSpc>
                <a:spcPct val="100000"/>
              </a:lnSpc>
              <a:spcBef>
                <a:spcPts val="0"/>
              </a:spcBef>
              <a:spcAft>
                <a:spcPts val="0"/>
              </a:spcAft>
            </a:pPr>
            <a:r>
              <a:rPr sz="1368" b="0" lang="en-US" spc="0">
                <a:solidFill>
                  <a:srgbClr val="263746"/>
                </a:solidFill>
                <a:latin typeface="DejaVu Sans"/>
                <a:ea typeface="DejaVu Sans"/>
              </a:rPr>
              <a:t>Reserve input and decode</a:t>
            </a:r>
          </a:p>
        </p:txBody>
      </p:sp>
      <p:sp>
        <p:nvSpPr>
          <p:cNvPr id="94" name="Bounded restore admission"/>
          <p:cNvSpPr txBox="1"/>
          <p:nvPr/>
        </p:nvSpPr>
        <p:spPr>
          <a:xfrm>
            <a:off x="9784080" y="6087618"/>
            <a:ext cx="2487347" cy="240030"/>
          </a:xfrm>
          <a:prstGeom prst="rect">
            <a:avLst/>
          </a:prstGeom>
          <a:noFill/>
        </p:spPr>
        <p:txBody>
          <a:bodyPr wrap="none" lIns="0" rIns="0" tIns="0" bIns="0" anchor="t">
            <a:spAutoFit/>
          </a:bodyPr>
          <a:lstStyle/>
          <a:p>
            <a:pPr algn="l">
              <a:lnSpc>
                <a:spcPct val="100000"/>
              </a:lnSpc>
              <a:spcBef>
                <a:spcPts val="0"/>
              </a:spcBef>
              <a:spcAft>
                <a:spcPts val="0"/>
              </a:spcAft>
            </a:pPr>
            <a:r>
              <a:rPr sz="1368" b="0" lang="en-US" spc="0">
                <a:solidFill>
                  <a:srgbClr val="263746"/>
                </a:solidFill>
                <a:latin typeface="DejaVu Sans"/>
                <a:ea typeface="DejaVu Sans"/>
              </a:rPr>
              <a:t>Bounded restore admission</a:t>
            </a:r>
          </a:p>
        </p:txBody>
      </p:sp>
      <p:cxnSp>
        <p:nvCxnSpPr>
          <p:cNvPr id="95" name="line 94"/>
          <p:cNvCxnSpPr/>
          <p:nvPr/>
        </p:nvCxnSpPr>
        <p:spPr>
          <a:xfrm>
            <a:off x="1133856" y="6899148"/>
            <a:ext cx="11356848" cy="0"/>
          </a:xfrm>
          <a:prstGeom prst="line">
            <a:avLst/>
          </a:prstGeom>
          <a:ln w="11887">
            <a:solidFill>
              <a:srgbClr val="D4DBE0"/>
            </a:solidFill>
          </a:ln>
          <a:effectLst/>
        </p:spPr>
        <p:style>
          <a:lnRef idx="2">
            <a:schemeClr val="accent1"/>
          </a:lnRef>
          <a:fillRef idx="0">
            <a:schemeClr val="accent1"/>
          </a:fillRef>
          <a:effectRef idx="0">
            <a:schemeClr val="accent1"/>
          </a:effectRef>
          <a:fontRef idx="minor">
            <a:schemeClr val="tx1"/>
          </a:fontRef>
        </p:style>
      </p:cxnSp>
      <p:sp>
        <p:nvSpPr>
          <p:cNvPr id="96" name="Sibling"/>
          <p:cNvSpPr txBox="1"/>
          <p:nvPr/>
        </p:nvSpPr>
        <p:spPr>
          <a:xfrm>
            <a:off x="594360" y="7141464"/>
            <a:ext cx="892790" cy="272034"/>
          </a:xfrm>
          <a:prstGeom prst="rect">
            <a:avLst/>
          </a:prstGeom>
          <a:noFill/>
        </p:spPr>
        <p:txBody>
          <a:bodyPr wrap="none" lIns="0" rIns="0" tIns="0" bIns="0" anchor="t">
            <a:spAutoFit/>
          </a:bodyPr>
          <a:lstStyle/>
          <a:p>
            <a:pPr algn="l">
              <a:lnSpc>
                <a:spcPct val="100000"/>
              </a:lnSpc>
              <a:spcBef>
                <a:spcPts val="0"/>
              </a:spcBef>
              <a:spcAft>
                <a:spcPts val="0"/>
              </a:spcAft>
            </a:pPr>
            <a:r>
              <a:rPr sz="1584" b="1" lang="en-US" spc="0">
                <a:solidFill>
                  <a:srgbClr val="357B73"/>
                </a:solidFill>
                <a:latin typeface="DejaVu Sans"/>
                <a:ea typeface="DejaVu Sans"/>
              </a:rPr>
              <a:t>Sibling</a:t>
            </a:r>
          </a:p>
        </p:txBody>
      </p:sp>
      <p:sp>
        <p:nvSpPr>
          <p:cNvPr id="97" name="Last child"/>
          <p:cNvSpPr txBox="1"/>
          <p:nvPr/>
        </p:nvSpPr>
        <p:spPr>
          <a:xfrm>
            <a:off x="594360" y="7589520"/>
            <a:ext cx="1204079" cy="272034"/>
          </a:xfrm>
          <a:prstGeom prst="rect">
            <a:avLst/>
          </a:prstGeom>
          <a:noFill/>
        </p:spPr>
        <p:txBody>
          <a:bodyPr wrap="none" lIns="0" rIns="0" tIns="0" bIns="0" anchor="t">
            <a:spAutoFit/>
          </a:bodyPr>
          <a:lstStyle/>
          <a:p>
            <a:pPr algn="l">
              <a:lnSpc>
                <a:spcPct val="100000"/>
              </a:lnSpc>
              <a:spcBef>
                <a:spcPts val="0"/>
              </a:spcBef>
              <a:spcAft>
                <a:spcPts val="0"/>
              </a:spcAft>
            </a:pPr>
            <a:r>
              <a:rPr sz="1584" b="1" lang="en-US" spc="0">
                <a:solidFill>
                  <a:srgbClr val="A96F1F"/>
                </a:solidFill>
                <a:latin typeface="DejaVu Sans"/>
                <a:ea typeface="DejaVu Sans"/>
              </a:rPr>
              <a:t>Last child</a:t>
            </a:r>
          </a:p>
        </p:txBody>
      </p:sp>
      <p:sp>
        <p:nvSpPr>
          <p:cNvPr id="98" name="circle 97"/>
          <p:cNvSpPr/>
          <p:nvPr/>
        </p:nvSpPr>
        <p:spPr>
          <a:xfrm>
            <a:off x="3136392" y="7200900"/>
            <a:ext cx="91440" cy="91440"/>
          </a:xfrm>
          <a:prstGeom prst="ellipse">
            <a:avLst/>
          </a:prstGeom>
          <a:solidFill>
            <a:srgbClr val="357B73"/>
          </a:solidFill>
          <a:ln w="9144">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RETURN → capacity released"/>
          <p:cNvSpPr txBox="1"/>
          <p:nvPr/>
        </p:nvSpPr>
        <p:spPr>
          <a:xfrm>
            <a:off x="3364992" y="7150608"/>
            <a:ext cx="2876324" cy="260604"/>
          </a:xfrm>
          <a:prstGeom prst="rect">
            <a:avLst/>
          </a:prstGeom>
          <a:noFill/>
        </p:spPr>
        <p:txBody>
          <a:bodyPr wrap="none" lIns="0" rIns="0" tIns="0" bIns="0" anchor="t">
            <a:spAutoFit/>
          </a:bodyPr>
          <a:lstStyle/>
          <a:p>
            <a:pPr algn="l">
              <a:lnSpc>
                <a:spcPct val="100000"/>
              </a:lnSpc>
              <a:spcBef>
                <a:spcPts val="0"/>
              </a:spcBef>
              <a:spcAft>
                <a:spcPts val="0"/>
              </a:spcAft>
            </a:pPr>
            <a:r>
              <a:rPr sz="1512" b="0" lang="en-US" spc="0">
                <a:solidFill>
                  <a:srgbClr val="357B73"/>
                </a:solidFill>
                <a:latin typeface="DejaVu Sans"/>
                <a:ea typeface="DejaVu Sans"/>
              </a:rPr>
              <a:t>RETURN → capacity released</a:t>
            </a:r>
          </a:p>
        </p:txBody>
      </p:sp>
      <p:sp>
        <p:nvSpPr>
          <p:cNvPr id="100" name="rect 99"/>
          <p:cNvSpPr/>
          <p:nvPr/>
        </p:nvSpPr>
        <p:spPr>
          <a:xfrm>
            <a:off x="6400800" y="7054596"/>
            <a:ext cx="3282696" cy="374904"/>
          </a:xfrm>
          <a:prstGeom prst="roundRect">
            <a:avLst>
              <a:gd name="adj" fmla="val 4878"/>
            </a:avLst>
          </a:prstGeom>
          <a:solidFill>
            <a:srgbClr val="EAF3F1"/>
          </a:solidFill>
          <a:ln w="14630">
            <a:solidFill>
              <a:srgbClr val="357B7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Parent predictive H2D"/>
          <p:cNvSpPr txBox="1"/>
          <p:nvPr/>
        </p:nvSpPr>
        <p:spPr>
          <a:xfrm>
            <a:off x="6929027" y="7132320"/>
            <a:ext cx="2217099" cy="260604"/>
          </a:xfrm>
          <a:prstGeom prst="rect">
            <a:avLst/>
          </a:prstGeom>
          <a:noFill/>
        </p:spPr>
        <p:txBody>
          <a:bodyPr wrap="none" lIns="0" rIns="0" tIns="0" bIns="0" anchor="t">
            <a:spAutoFit/>
          </a:bodyPr>
          <a:lstStyle/>
          <a:p>
            <a:pPr algn="ctr">
              <a:lnSpc>
                <a:spcPct val="100000"/>
              </a:lnSpc>
              <a:spcBef>
                <a:spcPts val="0"/>
              </a:spcBef>
              <a:spcAft>
                <a:spcPts val="0"/>
              </a:spcAft>
            </a:pPr>
            <a:r>
              <a:rPr sz="1512" b="0" lang="en-US" spc="0">
                <a:solidFill>
                  <a:srgbClr val="357B73"/>
                </a:solidFill>
                <a:latin typeface="DejaVu Sans"/>
                <a:ea typeface="DejaVu Sans"/>
              </a:rPr>
              <a:t>Parent predictive H2D</a:t>
            </a:r>
          </a:p>
        </p:txBody>
      </p:sp>
      <p:sp>
        <p:nvSpPr>
          <p:cNvPr id="102" name="rect 101"/>
          <p:cNvSpPr/>
          <p:nvPr/>
        </p:nvSpPr>
        <p:spPr>
          <a:xfrm>
            <a:off x="3191256" y="7539228"/>
            <a:ext cx="7232904" cy="356616"/>
          </a:xfrm>
          <a:prstGeom prst="roundRect">
            <a:avLst>
              <a:gd name="adj" fmla="val 5128"/>
            </a:avLst>
          </a:prstGeom>
          <a:solidFill>
            <a:srgbClr val="FBF2E3"/>
          </a:solidFill>
          <a:ln w="14630">
            <a:solidFill>
              <a:srgbClr val="A96F1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Final generation continues"/>
          <p:cNvSpPr txBox="1"/>
          <p:nvPr/>
        </p:nvSpPr>
        <p:spPr>
          <a:xfrm>
            <a:off x="5476274" y="7607808"/>
            <a:ext cx="2653725" cy="260604"/>
          </a:xfrm>
          <a:prstGeom prst="rect">
            <a:avLst/>
          </a:prstGeom>
          <a:noFill/>
        </p:spPr>
        <p:txBody>
          <a:bodyPr wrap="none" lIns="0" rIns="0" tIns="0" bIns="0" anchor="t">
            <a:spAutoFit/>
          </a:bodyPr>
          <a:lstStyle/>
          <a:p>
            <a:pPr algn="ctr">
              <a:lnSpc>
                <a:spcPct val="100000"/>
              </a:lnSpc>
              <a:spcBef>
                <a:spcPts val="0"/>
              </a:spcBef>
              <a:spcAft>
                <a:spcPts val="0"/>
              </a:spcAft>
            </a:pPr>
            <a:r>
              <a:rPr sz="1512" b="0" lang="en-US" spc="0">
                <a:solidFill>
                  <a:srgbClr val="A96F1F"/>
                </a:solidFill>
                <a:latin typeface="DejaVu Sans"/>
                <a:ea typeface="DejaVu Sans"/>
              </a:rPr>
              <a:t>Final generation continues</a:t>
            </a:r>
          </a:p>
        </p:txBody>
      </p:sp>
      <p:cxnSp>
        <p:nvCxnSpPr>
          <p:cNvPr id="104" name="line 103"/>
          <p:cNvCxnSpPr/>
          <p:nvPr/>
        </p:nvCxnSpPr>
        <p:spPr>
          <a:xfrm>
            <a:off x="10433304" y="6972300"/>
            <a:ext cx="0" cy="1051560"/>
          </a:xfrm>
          <a:prstGeom prst="line">
            <a:avLst/>
          </a:prstGeom>
          <a:ln w="14630">
            <a:solidFill>
              <a:srgbClr val="89959D"/>
            </a:solidFill>
            <a:prstDash val="dash"/>
          </a:ln>
          <a:effectLst/>
        </p:spPr>
        <p:style>
          <a:lnRef idx="2">
            <a:schemeClr val="accent1"/>
          </a:lnRef>
          <a:fillRef idx="0">
            <a:schemeClr val="accent1"/>
          </a:fillRef>
          <a:effectRef idx="0">
            <a:schemeClr val="accent1"/>
          </a:effectRef>
          <a:fontRef idx="minor">
            <a:schemeClr val="tx1"/>
          </a:fontRef>
        </p:style>
      </p:cxnSp>
      <p:sp>
        <p:nvSpPr>
          <p:cNvPr id="105" name="RETURN"/>
          <p:cNvSpPr txBox="1"/>
          <p:nvPr/>
        </p:nvSpPr>
        <p:spPr>
          <a:xfrm>
            <a:off x="10570464" y="7596378"/>
            <a:ext cx="900970" cy="240030"/>
          </a:xfrm>
          <a:prstGeom prst="rect">
            <a:avLst/>
          </a:prstGeom>
          <a:noFill/>
        </p:spPr>
        <p:txBody>
          <a:bodyPr wrap="none" lIns="0" rIns="0" tIns="0" bIns="0" anchor="t">
            <a:spAutoFit/>
          </a:bodyPr>
          <a:lstStyle/>
          <a:p>
            <a:pPr algn="l">
              <a:lnSpc>
                <a:spcPct val="100000"/>
              </a:lnSpc>
              <a:spcBef>
                <a:spcPts val="0"/>
              </a:spcBef>
              <a:spcAft>
                <a:spcPts val="0"/>
              </a:spcAft>
            </a:pPr>
            <a:r>
              <a:rPr sz="1368" b="1" lang="en-US" spc="0">
                <a:solidFill>
                  <a:srgbClr val="263746"/>
                </a:solidFill>
                <a:latin typeface="DejaVu Sans"/>
                <a:ea typeface="DejaVu Sans"/>
              </a:rPr>
              <a:t>RETURN</a:t>
            </a:r>
          </a:p>
        </p:txBody>
      </p:sp>
      <p:sp>
        <p:nvSpPr>
          <p:cNvPr id="106" name="Earlier siblings can enable pre-RETURN H2D. The last child's capacity is available only after comple"/>
          <p:cNvSpPr txBox="1"/>
          <p:nvPr/>
        </p:nvSpPr>
        <p:spPr>
          <a:xfrm>
            <a:off x="365760" y="8586216"/>
            <a:ext cx="10567928" cy="272034"/>
          </a:xfrm>
          <a:prstGeom prst="rect">
            <a:avLst/>
          </a:prstGeom>
          <a:noFill/>
        </p:spPr>
        <p:txBody>
          <a:bodyPr wrap="none" lIns="0" rIns="0" tIns="0" bIns="0" anchor="t">
            <a:spAutoFit/>
          </a:bodyPr>
          <a:lstStyle/>
          <a:p>
            <a:pPr algn="l">
              <a:lnSpc>
                <a:spcPct val="100000"/>
              </a:lnSpc>
              <a:spcBef>
                <a:spcPts val="0"/>
              </a:spcBef>
              <a:spcAft>
                <a:spcPts val="0"/>
              </a:spcAft>
            </a:pPr>
            <a:r>
              <a:rPr sz="1584" b="0" lang="en-US" spc="0">
                <a:solidFill>
                  <a:srgbClr val="263746"/>
                </a:solidFill>
                <a:latin typeface="DejaVu Sans"/>
                <a:ea typeface="DejaVu Sans"/>
              </a:rPr>
              <a:t>Earlier siblings can enable pre-RETURN H2D. The last child's capacity is available only after completion.</a:t>
            </a:r>
          </a:p>
        </p:txBody>
      </p:sp>
      <p:sp>
        <p:nvSpPr>
          <p:cNvPr id="107" name="Reclaimed capacity uses native allocation; shared and still-live pages remain intact."/>
          <p:cNvSpPr txBox="1"/>
          <p:nvPr/>
        </p:nvSpPr>
        <p:spPr>
          <a:xfrm>
            <a:off x="365760" y="8869680"/>
            <a:ext cx="8573679" cy="272034"/>
          </a:xfrm>
          <a:prstGeom prst="rect">
            <a:avLst/>
          </a:prstGeom>
          <a:noFill/>
        </p:spPr>
        <p:txBody>
          <a:bodyPr wrap="none" lIns="0" rIns="0" tIns="0" bIns="0" anchor="t">
            <a:spAutoFit/>
          </a:bodyPr>
          <a:lstStyle/>
          <a:p>
            <a:pPr algn="l">
              <a:lnSpc>
                <a:spcPct val="100000"/>
              </a:lnSpc>
              <a:spcBef>
                <a:spcPts val="0"/>
              </a:spcBef>
              <a:spcAft>
                <a:spcPts val="0"/>
              </a:spcAft>
            </a:pPr>
            <a:r>
              <a:rPr sz="1584" b="0" lang="en-US" spc="0">
                <a:solidFill>
                  <a:srgbClr val="263746"/>
                </a:solidFill>
                <a:latin typeface="DejaVu Sans"/>
                <a:ea typeface="DejaVu Sans"/>
              </a:rPr>
              <a:t>Reclaimed capacity uses native allocation; shared and still-live pages remain intact.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BeliefKV Architecture Figures</dc:title>
  <dc:subject>2026-08-15 through 2026-10-11</dc:subject>
  <dc:creator>BeliefKV</dc:creator>
  <cp:keywords>BeliefKV, dynamic agent workflows, KV cache, native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