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3167360" cy="877824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baseline: 2026-10-15 development implementation, not the frozen code of every running experiment. RCCG receives runtime events; GraphDelta updates affected wait groups. Text/phase/work inference runs in an independent CPU process. Tool history supplies separate conditional timing. NativeAdmissionRuntime combines causal identity, checkpoint, timing, capacity and next-batch observations. Waiting migrations can run after forward dispatch under the supported overlap configuration. The native waiting queue, PrefillAdder, allocation and data dependencies remain authoritative. Dashed arrows show feedback, not a claim that all control work is asynchronous. Explicit completion notices are harness protocol and must be identical across comparison arms. Root workflows can spawn again after JOIN; the current child harness does not expose nested task delegation. Colors identify memory owners, while location and solid/dashed borders indicate residency. Sources: causal_graph.py; semantic_report_worker.py; sglang_v0520_runtime.py (scheduler_step, dispatch_after_forward, plan_native_prefill); staging patch.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stage model uses frozen pooled text features plus event/progress features; the conditional work head can be fitted independently. The circle marked parallel bars denotes feature concatenation, not addition. The encoder network and head matrices are schematic, not literal layer counts. The phase and work paths share frozen encoder weights; a configured work-only text window can use a separate encoding of delivered text. Work bounds are calibrated bounds, not a calibrated joint JOIN interval. The current content-driven JOIN_ALL path targets the single pending child; earlier notices can be retained and rebound after sibling RETURN. A latest forecast can move its work endpoint in either direction before enqueue. The center-overrun path uses a still-valid upper endpoint. max(W-deltaN, 0)/rate estimates generation time, not future queueing or a guaranteed wall-clock RETURN. No-tool EOS is separate evidence. Tool CDFs are conditioned on survival and use completed-call history with fallbacks; the current live tool-transfer path requires at most one active call. H follows transfer_start_window: min(lead allowance, ACK P90 + enqueue P90 + observation spacing + early margin). Cost uses current direction/shape/size history. A smaller same-checkpoint payload can retain the measured cost of its larger supported selection when its own direct estimate is unavailable. The timeline is schematic and allows partial overlap. Sources: child_semantic_work.py; conditional_work.py; native_transfer_policy.py; native_transfer_service.py; _roll_final_stage / _roll_tool_prefetch / _wait_prefetch_timing_valid / _h2d_start_window in sglang_v0520_runtime.py.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Stable FULL extents are backed incrementally under actual pressure; PREPARE_HOST neither releases HBM nor speculatively backs Mamba. Native pressure reclaim can demote backed cold FULL while preserving needed Mamba. Choose a reusable safe-input checkpoint; restore ancestors root-first and only the required missing state, rather than every historical Mamba state. Native allocators decide byte, FULL and Mamba capacity. A page-aligned partial FULL prefix may load while state or tail remains deferred. FULL pipeline admission follows native layer dependencies; missing Mamba or legacy state loads still defer admission as required. ACK manages transaction/residency lifecycle, not a universal execution barrier. Bounded locks, restored/resident-first ordering and ordinary-request aging support consumption but do not guarantee it. Terminal child session retirement reclaims only unused private suffixes, retries blocked references and keeps shared ancestors. Released capacity is neither exclusive to the parent nor a reuse of the same physical page IDs. Earlier siblings may enable pre-RETURN H2D; the last child's own released capacity supports demand restoration. Sources: sglang_v0520_physical.py (plan_prefetch_gpu_steps); native_transfer_policy.py (native_residency_budget); sglang_v0520_runtime.py (_apply_terminal_child_reclaim, _wait_prefetch_opportunity, defer_prefill_for_prefetch, plan_native_prefill); staging patch (retire_beliefkv_child_session, prefetch_gpu_session_nodes).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eliefKV: Execution and KV Coordination"/>
          <p:cNvSpPr txBox="1"/>
          <p:nvPr/>
        </p:nvSpPr>
        <p:spPr>
          <a:xfrm>
            <a:off x="292600" y="120698"/>
            <a:ext cx="6308530" cy="345634"/>
          </a:xfrm>
          <a:prstGeom prst="rect">
            <a:avLst/>
          </a:prstGeom>
          <a:noFill/>
        </p:spPr>
        <p:txBody>
          <a:bodyPr wrap="none" lIns="0" rIns="0" tIns="0" bIns="0" anchor="t">
            <a:spAutoFit/>
          </a:bodyPr>
          <a:lstStyle/>
          <a:p>
            <a:pPr algn="l">
              <a:lnSpc>
                <a:spcPct val="100000"/>
              </a:lnSpc>
              <a:spcBef>
                <a:spcPts val="0"/>
              </a:spcBef>
              <a:spcAft>
                <a:spcPts val="0"/>
              </a:spcAft>
            </a:pPr>
            <a:r>
              <a:rPr sz="2131" b="1" i="0" lang="en-US" spc="0">
                <a:solidFill>
                  <a:srgbClr val="181818"/>
                </a:solidFill>
                <a:latin typeface="DejaVu Sans"/>
                <a:ea typeface="DejaVu Sans"/>
              </a:rPr>
              <a:t>BeliefKV: Execution and KV Coordination</a:t>
            </a:r>
          </a:p>
        </p:txBody>
      </p:sp>
      <p:sp>
        <p:nvSpPr>
          <p:cNvPr id="3" name="Who executes next?   →   What stays or moves?   →   When is it served?"/>
          <p:cNvSpPr txBox="1"/>
          <p:nvPr/>
        </p:nvSpPr>
        <p:spPr>
          <a:xfrm>
            <a:off x="292600" y="479132"/>
            <a:ext cx="6389252" cy="235909"/>
          </a:xfrm>
          <a:prstGeom prst="rect">
            <a:avLst/>
          </a:prstGeom>
          <a:noFill/>
        </p:spPr>
        <p:txBody>
          <a:bodyPr wrap="none" lIns="0" rIns="0" tIns="0" bIns="0" anchor="t">
            <a:spAutoFit/>
          </a:bodyPr>
          <a:lstStyle/>
          <a:p>
            <a:pPr algn="l">
              <a:lnSpc>
                <a:spcPct val="100000"/>
              </a:lnSpc>
              <a:spcBef>
                <a:spcPts val="0"/>
              </a:spcBef>
              <a:spcAft>
                <a:spcPts val="0"/>
              </a:spcAft>
            </a:pPr>
            <a:r>
              <a:rPr sz="1382" b="0" i="0" lang="en-US" spc="0">
                <a:solidFill>
                  <a:srgbClr val="535353"/>
                </a:solidFill>
                <a:latin typeface="DejaVu Sans"/>
                <a:ea typeface="DejaVu Sans"/>
              </a:rPr>
              <a:t>Who executes next?   →   What stays or moves?   →   When is it served?</a:t>
            </a:r>
          </a:p>
        </p:txBody>
      </p:sp>
      <p:cxnSp>
        <p:nvCxnSpPr>
          <p:cNvPr id="4" name="line 3"/>
          <p:cNvCxnSpPr/>
          <p:nvPr/>
        </p:nvCxnSpPr>
        <p:spPr>
          <a:xfrm>
            <a:off x="292600" y="790020"/>
            <a:ext cx="12581800" cy="0"/>
          </a:xfrm>
          <a:prstGeom prst="line">
            <a:avLst/>
          </a:prstGeom>
          <a:ln w="11704">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5" name="rect 4"/>
          <p:cNvSpPr/>
          <p:nvPr/>
        </p:nvSpPr>
        <p:spPr>
          <a:xfrm>
            <a:off x="292600" y="965580"/>
            <a:ext cx="12581800" cy="1477630"/>
          </a:xfrm>
          <a:prstGeom prst="roundRect">
            <a:avLst>
              <a:gd name="adj" fmla="val 2970"/>
            </a:avLst>
          </a:prstGeom>
          <a:solidFill>
            <a:srgbClr val="EEEEEE"/>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 5"/>
          <p:cNvSpPr/>
          <p:nvPr/>
        </p:nvSpPr>
        <p:spPr>
          <a:xfrm>
            <a:off x="292600" y="965580"/>
            <a:ext cx="12581800" cy="351120"/>
          </a:xfrm>
          <a:prstGeom prst="roundRect">
            <a:avLst>
              <a:gd name="adj" fmla="val 12500"/>
            </a:avLst>
          </a:prstGeom>
          <a:solidFill>
            <a:srgbClr val="A9CEE8"/>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 6"/>
          <p:cNvSpPr/>
          <p:nvPr/>
        </p:nvSpPr>
        <p:spPr>
          <a:xfrm>
            <a:off x="301378" y="1163085"/>
            <a:ext cx="12564244" cy="146300"/>
          </a:xfrm>
          <a:prstGeom prst="rect">
            <a:avLst/>
          </a:prstGeom>
          <a:solidFill>
            <a:srgbClr val="A9CE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8" name="line 7"/>
          <p:cNvCxnSpPr/>
          <p:nvPr/>
        </p:nvCxnSpPr>
        <p:spPr>
          <a:xfrm>
            <a:off x="292600" y="1316700"/>
            <a:ext cx="12581800" cy="0"/>
          </a:xfrm>
          <a:prstGeom prst="line">
            <a:avLst/>
          </a:prstGeom>
          <a:ln w="12435">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9" name="(a) Observed workflow"/>
          <p:cNvSpPr txBox="1"/>
          <p:nvPr/>
        </p:nvSpPr>
        <p:spPr>
          <a:xfrm>
            <a:off x="438900" y="1016785"/>
            <a:ext cx="2706464" cy="268826"/>
          </a:xfrm>
          <a:prstGeom prst="rect">
            <a:avLst/>
          </a:prstGeom>
          <a:noFill/>
        </p:spPr>
        <p:txBody>
          <a:bodyPr wrap="none" lIns="0" rIns="0" tIns="0" bIns="0" anchor="t">
            <a:spAutoFit/>
          </a:bodyPr>
          <a:lstStyle/>
          <a:p>
            <a:pPr algn="l">
              <a:lnSpc>
                <a:spcPct val="100000"/>
              </a:lnSpc>
              <a:spcBef>
                <a:spcPts val="0"/>
              </a:spcBef>
              <a:spcAft>
                <a:spcPts val="0"/>
              </a:spcAft>
            </a:pPr>
            <a:r>
              <a:rPr sz="1612" b="1" i="0" lang="en-US" spc="0">
                <a:solidFill>
                  <a:srgbClr val="181818"/>
                </a:solidFill>
                <a:latin typeface="DejaVu Sans"/>
                <a:ea typeface="DejaVu Sans"/>
              </a:rPr>
              <a:t>(a) Observed workflow</a:t>
            </a:r>
          </a:p>
        </p:txBody>
      </p:sp>
      <p:sp>
        <p:nvSpPr>
          <p:cNvPr id="10" name="circle 9"/>
          <p:cNvSpPr/>
          <p:nvPr/>
        </p:nvSpPr>
        <p:spPr>
          <a:xfrm>
            <a:off x="614460" y="1682450"/>
            <a:ext cx="395010" cy="395010"/>
          </a:xfrm>
          <a:prstGeom prst="ellipse">
            <a:avLst/>
          </a:prstGeom>
          <a:solidFill>
            <a:srgbClr val="E9A6BF"/>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P"/>
          <p:cNvSpPr txBox="1"/>
          <p:nvPr/>
        </p:nvSpPr>
        <p:spPr>
          <a:xfrm>
            <a:off x="701054" y="1772059"/>
            <a:ext cx="221822"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i="0" lang="en-US" spc="0">
                <a:solidFill>
                  <a:srgbClr val="181818"/>
                </a:solidFill>
                <a:latin typeface="DejaVu Sans"/>
                <a:ea typeface="DejaVu Sans"/>
              </a:rPr>
              <a:t>P</a:t>
            </a:r>
          </a:p>
        </p:txBody>
      </p:sp>
      <p:sp>
        <p:nvSpPr>
          <p:cNvPr id="12" name="circle 11"/>
          <p:cNvSpPr/>
          <p:nvPr/>
        </p:nvSpPr>
        <p:spPr>
          <a:xfrm>
            <a:off x="2048200" y="1426425"/>
            <a:ext cx="395010" cy="395010"/>
          </a:xfrm>
          <a:prstGeom prst="ellipse">
            <a:avLst/>
          </a:prstGeom>
          <a:solidFill>
            <a:srgbClr val="B5D68B"/>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C1"/>
          <p:cNvSpPr txBox="1"/>
          <p:nvPr/>
        </p:nvSpPr>
        <p:spPr>
          <a:xfrm>
            <a:off x="2071088" y="1516034"/>
            <a:ext cx="349234"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i="0" lang="en-US" spc="0">
                <a:solidFill>
                  <a:srgbClr val="181818"/>
                </a:solidFill>
                <a:latin typeface="DejaVu Sans"/>
                <a:ea typeface="DejaVu Sans"/>
              </a:rPr>
              <a:t>C1</a:t>
            </a:r>
          </a:p>
        </p:txBody>
      </p:sp>
      <p:sp>
        <p:nvSpPr>
          <p:cNvPr id="14" name="circle 13"/>
          <p:cNvSpPr/>
          <p:nvPr/>
        </p:nvSpPr>
        <p:spPr>
          <a:xfrm>
            <a:off x="2048200" y="1953105"/>
            <a:ext cx="395010" cy="395010"/>
          </a:xfrm>
          <a:prstGeom prst="ellipse">
            <a:avLst/>
          </a:prstGeom>
          <a:solidFill>
            <a:srgbClr val="F2BD7D"/>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C2"/>
          <p:cNvSpPr txBox="1"/>
          <p:nvPr/>
        </p:nvSpPr>
        <p:spPr>
          <a:xfrm>
            <a:off x="2071088" y="2042714"/>
            <a:ext cx="349234"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i="0" lang="en-US" spc="0">
                <a:solidFill>
                  <a:srgbClr val="181818"/>
                </a:solidFill>
                <a:latin typeface="DejaVu Sans"/>
                <a:ea typeface="DejaVu Sans"/>
              </a:rPr>
              <a:t>C2</a:t>
            </a:r>
          </a:p>
        </p:txBody>
      </p:sp>
      <p:sp>
        <p:nvSpPr>
          <p:cNvPr id="16" name="rect 15"/>
          <p:cNvSpPr/>
          <p:nvPr/>
        </p:nvSpPr>
        <p:spPr>
          <a:xfrm>
            <a:off x="3240545" y="1441055"/>
            <a:ext cx="797335" cy="380380"/>
          </a:xfrm>
          <a:prstGeom prst="roundRect">
            <a:avLst>
              <a:gd name="adj" fmla="val 5769"/>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 16"/>
          <p:cNvSpPr/>
          <p:nvPr/>
        </p:nvSpPr>
        <p:spPr>
          <a:xfrm>
            <a:off x="3247860" y="1448370"/>
            <a:ext cx="782705" cy="95095"/>
          </a:xfrm>
          <a:prstGeom prst="rect">
            <a:avLst/>
          </a:prstGeom>
          <a:solidFill>
            <a:srgbClr val="DDDDD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path 17"/>
          <p:cNvSpPr/>
          <p:nvPr/>
        </p:nvSpPr>
        <p:spPr>
          <a:xfrm>
            <a:off x="3357585" y="1645875"/>
            <a:ext cx="80465" cy="146300"/>
          </a:xfrm>
          <a:custGeom>
            <a:avLst/>
            <a:gdLst/>
            <a:ahLst/>
            <a:cxnLst/>
            <a:rect l="l" t="t" r="r" b="b"/>
            <a:pathLst>
              <a:path w="11" h="20">
                <a:moveTo>
                  <a:pt x="0" y="0"/>
                </a:moveTo>
                <a:lnTo>
                  <a:pt x="11" y="10"/>
                </a:lnTo>
                <a:lnTo>
                  <a:pt x="0" y="20"/>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9" name="line 18"/>
          <p:cNvCxnSpPr/>
          <p:nvPr/>
        </p:nvCxnSpPr>
        <p:spPr>
          <a:xfrm>
            <a:off x="3518515" y="1784860"/>
            <a:ext cx="416955"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20" name="Tool"/>
          <p:cNvSpPr txBox="1"/>
          <p:nvPr/>
        </p:nvSpPr>
        <p:spPr>
          <a:xfrm>
            <a:off x="3277120" y="1912872"/>
            <a:ext cx="414583" cy="226765"/>
          </a:xfrm>
          <a:prstGeom prst="rect">
            <a:avLst/>
          </a:prstGeom>
          <a:noFill/>
        </p:spPr>
        <p:txBody>
          <a:bodyPr wrap="none" lIns="0" rIns="0" tIns="0" bIns="0" anchor="t">
            <a:spAutoFit/>
          </a:bodyPr>
          <a:lstStyle/>
          <a:p>
            <a:pPr algn="l">
              <a:lnSpc>
                <a:spcPct val="100000"/>
              </a:lnSpc>
              <a:spcBef>
                <a:spcPts val="0"/>
              </a:spcBef>
              <a:spcAft>
                <a:spcPts val="0"/>
              </a:spcAft>
            </a:pPr>
            <a:r>
              <a:rPr sz="1324" b="0" i="0" lang="en-US" spc="0">
                <a:solidFill>
                  <a:srgbClr val="181818"/>
                </a:solidFill>
                <a:latin typeface="DejaVu Sans"/>
                <a:ea typeface="DejaVu Sans"/>
              </a:rPr>
              <a:t>Tool</a:t>
            </a:r>
          </a:p>
        </p:txBody>
      </p:sp>
      <p:sp>
        <p:nvSpPr>
          <p:cNvPr id="21" name="polygon 20"/>
          <p:cNvSpPr/>
          <p:nvPr/>
        </p:nvSpPr>
        <p:spPr>
          <a:xfrm>
            <a:off x="4725490" y="1580040"/>
            <a:ext cx="907060" cy="599830"/>
          </a:xfrm>
          <a:custGeom>
            <a:avLst/>
            <a:gdLst/>
            <a:ahLst/>
            <a:cxnLst/>
            <a:rect l="l" t="t" r="r" b="b"/>
            <a:pathLst>
              <a:path w="124" h="82">
                <a:moveTo>
                  <a:pt x="62" y="0"/>
                </a:moveTo>
                <a:lnTo>
                  <a:pt x="124" y="41"/>
                </a:lnTo>
                <a:lnTo>
                  <a:pt x="62" y="82"/>
                </a:lnTo>
                <a:lnTo>
                  <a:pt x="0" y="41"/>
                </a:lnTo>
                <a:close/>
              </a:path>
            </a:pathLst>
          </a:custGeom>
          <a:solidFill>
            <a:srgbClr val="FFFFF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JOIN"/>
          <p:cNvSpPr txBox="1"/>
          <p:nvPr/>
        </p:nvSpPr>
        <p:spPr>
          <a:xfrm>
            <a:off x="4912837" y="1775716"/>
            <a:ext cx="532366"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i="0" lang="en-US" spc="0">
                <a:solidFill>
                  <a:srgbClr val="181818"/>
                </a:solidFill>
                <a:latin typeface="DejaVu Sans"/>
                <a:ea typeface="DejaVu Sans"/>
              </a:rPr>
              <a:t>JOIN</a:t>
            </a:r>
          </a:p>
        </p:txBody>
      </p:sp>
      <p:sp>
        <p:nvSpPr>
          <p:cNvPr id="23" name="circle 22"/>
          <p:cNvSpPr/>
          <p:nvPr/>
        </p:nvSpPr>
        <p:spPr>
          <a:xfrm>
            <a:off x="6181175" y="1682450"/>
            <a:ext cx="395010" cy="395010"/>
          </a:xfrm>
          <a:prstGeom prst="ellipse">
            <a:avLst/>
          </a:prstGeom>
          <a:solidFill>
            <a:srgbClr val="E9A6BF"/>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P"/>
          <p:cNvSpPr txBox="1"/>
          <p:nvPr/>
        </p:nvSpPr>
        <p:spPr>
          <a:xfrm>
            <a:off x="6267769" y="1772059"/>
            <a:ext cx="221822"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i="0" lang="en-US" spc="0">
                <a:solidFill>
                  <a:srgbClr val="181818"/>
                </a:solidFill>
                <a:latin typeface="DejaVu Sans"/>
                <a:ea typeface="DejaVu Sans"/>
              </a:rPr>
              <a:t>P</a:t>
            </a:r>
          </a:p>
        </p:txBody>
      </p:sp>
      <p:cxnSp>
        <p:nvCxnSpPr>
          <p:cNvPr id="25" name="path 24"/>
          <p:cNvCxnSpPr/>
          <p:nvPr/>
        </p:nvCxnSpPr>
        <p:spPr>
          <a:xfrm flipV="1">
            <a:off x="1024100" y="1638560"/>
            <a:ext cx="1002155" cy="168245"/>
          </a:xfrm>
          <a:prstGeom prst="line">
            <a:avLst/>
          </a:prstGeom>
          <a:ln w="19019">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26" name="path 25"/>
          <p:cNvCxnSpPr/>
          <p:nvPr/>
        </p:nvCxnSpPr>
        <p:spPr>
          <a:xfrm>
            <a:off x="1024100" y="1967735"/>
            <a:ext cx="1002155" cy="175560"/>
          </a:xfrm>
          <a:prstGeom prst="line">
            <a:avLst/>
          </a:prstGeom>
          <a:ln w="19019">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27" name="path 26"/>
          <p:cNvCxnSpPr/>
          <p:nvPr/>
        </p:nvCxnSpPr>
        <p:spPr>
          <a:xfrm>
            <a:off x="2465155" y="1623930"/>
            <a:ext cx="760760" cy="0"/>
          </a:xfrm>
          <a:prstGeom prst="line">
            <a:avLst/>
          </a:prstGeom>
          <a:ln w="19019">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28" name="path 27"/>
          <p:cNvSpPr/>
          <p:nvPr/>
        </p:nvSpPr>
        <p:spPr>
          <a:xfrm>
            <a:off x="4052510" y="1623930"/>
            <a:ext cx="709555" cy="168245"/>
          </a:xfrm>
          <a:custGeom>
            <a:avLst/>
            <a:gdLst/>
            <a:ahLst/>
            <a:cxnLst/>
            <a:rect l="l" t="t" r="r" b="b"/>
            <a:pathLst>
              <a:path w="97" h="23">
                <a:moveTo>
                  <a:pt x="0" y="0"/>
                </a:moveTo>
                <a:lnTo>
                  <a:pt x="51" y="0"/>
                </a:lnTo>
                <a:lnTo>
                  <a:pt x="97" y="23"/>
                </a:lnTo>
              </a:path>
            </a:pathLst>
          </a:custGeom>
          <a:noFill/>
          <a:ln w="19019">
            <a:solidFill>
              <a:srgbClr val="181818"/>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path 28"/>
          <p:cNvSpPr/>
          <p:nvPr/>
        </p:nvSpPr>
        <p:spPr>
          <a:xfrm>
            <a:off x="2465155" y="1975050"/>
            <a:ext cx="2296910" cy="175560"/>
          </a:xfrm>
          <a:custGeom>
            <a:avLst/>
            <a:gdLst/>
            <a:ahLst/>
            <a:cxnLst/>
            <a:rect l="l" t="t" r="r" b="b"/>
            <a:pathLst>
              <a:path w="314" h="24">
                <a:moveTo>
                  <a:pt x="0" y="24"/>
                </a:moveTo>
                <a:lnTo>
                  <a:pt x="268" y="24"/>
                </a:lnTo>
                <a:lnTo>
                  <a:pt x="314" y="0"/>
                </a:lnTo>
              </a:path>
            </a:pathLst>
          </a:custGeom>
          <a:noFill/>
          <a:ln w="19019">
            <a:solidFill>
              <a:srgbClr val="181818"/>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0" name="path 29"/>
          <p:cNvCxnSpPr/>
          <p:nvPr/>
        </p:nvCxnSpPr>
        <p:spPr>
          <a:xfrm>
            <a:off x="5639865" y="1879955"/>
            <a:ext cx="519365" cy="0"/>
          </a:xfrm>
          <a:prstGeom prst="line">
            <a:avLst/>
          </a:prstGeom>
          <a:ln w="19019">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31" name="SPAWN"/>
          <p:cNvSpPr txBox="1"/>
          <p:nvPr/>
        </p:nvSpPr>
        <p:spPr>
          <a:xfrm>
            <a:off x="1163085" y="1415452"/>
            <a:ext cx="683410" cy="226765"/>
          </a:xfrm>
          <a:prstGeom prst="rect">
            <a:avLst/>
          </a:prstGeom>
          <a:noFill/>
        </p:spPr>
        <p:txBody>
          <a:bodyPr wrap="none" lIns="0" rIns="0" tIns="0" bIns="0" anchor="t">
            <a:spAutoFit/>
          </a:bodyPr>
          <a:lstStyle/>
          <a:p>
            <a:pPr algn="l">
              <a:lnSpc>
                <a:spcPct val="100000"/>
              </a:lnSpc>
              <a:spcBef>
                <a:spcPts val="0"/>
              </a:spcBef>
              <a:spcAft>
                <a:spcPts val="0"/>
              </a:spcAft>
            </a:pPr>
            <a:r>
              <a:rPr sz="1324" b="0" i="0" lang="en-US" spc="0">
                <a:solidFill>
                  <a:srgbClr val="181818"/>
                </a:solidFill>
                <a:latin typeface="DejaVu Sans"/>
                <a:ea typeface="DejaVu Sans"/>
              </a:rPr>
              <a:t>SPAWN</a:t>
            </a:r>
          </a:p>
        </p:txBody>
      </p:sp>
      <p:sp>
        <p:nvSpPr>
          <p:cNvPr id="32" name="RETURN"/>
          <p:cNvSpPr txBox="1"/>
          <p:nvPr/>
        </p:nvSpPr>
        <p:spPr>
          <a:xfrm>
            <a:off x="4074455" y="2198158"/>
            <a:ext cx="779676" cy="226765"/>
          </a:xfrm>
          <a:prstGeom prst="rect">
            <a:avLst/>
          </a:prstGeom>
          <a:noFill/>
        </p:spPr>
        <p:txBody>
          <a:bodyPr wrap="none" lIns="0" rIns="0" tIns="0" bIns="0" anchor="t">
            <a:spAutoFit/>
          </a:bodyPr>
          <a:lstStyle/>
          <a:p>
            <a:pPr algn="l">
              <a:lnSpc>
                <a:spcPct val="100000"/>
              </a:lnSpc>
              <a:spcBef>
                <a:spcPts val="0"/>
              </a:spcBef>
              <a:spcAft>
                <a:spcPts val="0"/>
              </a:spcAft>
            </a:pPr>
            <a:r>
              <a:rPr sz="1324" b="0" i="0" lang="en-US" spc="0">
                <a:solidFill>
                  <a:srgbClr val="181818"/>
                </a:solidFill>
                <a:latin typeface="DejaVu Sans"/>
                <a:ea typeface="DejaVu Sans"/>
              </a:rPr>
              <a:t>RETURN</a:t>
            </a:r>
          </a:p>
        </p:txBody>
      </p:sp>
      <p:sp>
        <p:nvSpPr>
          <p:cNvPr id="33" name="path 32"/>
          <p:cNvSpPr/>
          <p:nvPr/>
        </p:nvSpPr>
        <p:spPr>
          <a:xfrm>
            <a:off x="6378680" y="1938475"/>
            <a:ext cx="811965" cy="329175"/>
          </a:xfrm>
          <a:custGeom>
            <a:avLst/>
            <a:gdLst/>
            <a:ahLst/>
            <a:cxnLst/>
            <a:rect l="l" t="t" r="r" b="b"/>
            <a:pathLst>
              <a:path w="111" h="45">
                <a:moveTo>
                  <a:pt x="27" y="0"/>
                </a:moveTo>
                <a:lnTo>
                  <a:pt x="111" y="0"/>
                </a:lnTo>
                <a:lnTo>
                  <a:pt x="111" y="45"/>
                </a:lnTo>
                <a:lnTo>
                  <a:pt x="0" y="45"/>
                </a:lnTo>
                <a:lnTo>
                  <a:pt x="0" y="23"/>
                </a:lnTo>
              </a:path>
            </a:pathLst>
          </a:custGeom>
          <a:noFill/>
          <a:ln w="19019">
            <a:solidFill>
              <a:srgbClr val="181818"/>
            </a:solidFill>
            <a:prstDash val="dash"/>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Round 2"/>
          <p:cNvSpPr txBox="1"/>
          <p:nvPr/>
        </p:nvSpPr>
        <p:spPr>
          <a:xfrm>
            <a:off x="6620075" y="1466658"/>
            <a:ext cx="780676" cy="226765"/>
          </a:xfrm>
          <a:prstGeom prst="rect">
            <a:avLst/>
          </a:prstGeom>
          <a:noFill/>
        </p:spPr>
        <p:txBody>
          <a:bodyPr wrap="none" lIns="0" rIns="0" tIns="0" bIns="0" anchor="t">
            <a:spAutoFit/>
          </a:bodyPr>
          <a:lstStyle/>
          <a:p>
            <a:pPr algn="l">
              <a:lnSpc>
                <a:spcPct val="100000"/>
              </a:lnSpc>
              <a:spcBef>
                <a:spcPts val="0"/>
              </a:spcBef>
              <a:spcAft>
                <a:spcPts val="0"/>
              </a:spcAft>
            </a:pPr>
            <a:r>
              <a:rPr sz="1324" b="0" i="0" lang="en-US" spc="0">
                <a:solidFill>
                  <a:srgbClr val="535353"/>
                </a:solidFill>
                <a:latin typeface="DejaVu Sans"/>
                <a:ea typeface="DejaVu Sans"/>
              </a:rPr>
              <a:t>Round 2</a:t>
            </a:r>
          </a:p>
        </p:txBody>
      </p:sp>
      <p:cxnSp>
        <p:nvCxnSpPr>
          <p:cNvPr id="35" name="line 34"/>
          <p:cNvCxnSpPr/>
          <p:nvPr/>
        </p:nvCxnSpPr>
        <p:spPr>
          <a:xfrm>
            <a:off x="7534450" y="1463000"/>
            <a:ext cx="0" cy="848540"/>
          </a:xfrm>
          <a:prstGeom prst="line">
            <a:avLst/>
          </a:prstGeom>
          <a:ln w="10241">
            <a:solidFill>
              <a:srgbClr val="A6A6A6"/>
            </a:solidFill>
          </a:ln>
          <a:effectLst/>
        </p:spPr>
        <p:style>
          <a:lnRef idx="2">
            <a:schemeClr val="accent1"/>
          </a:lnRef>
          <a:fillRef idx="0">
            <a:schemeClr val="accent1"/>
          </a:fillRef>
          <a:effectRef idx="0">
            <a:schemeClr val="accent1"/>
          </a:effectRef>
          <a:fontRef idx="minor">
            <a:schemeClr val="tx1"/>
          </a:fontRef>
        </p:style>
      </p:cxnSp>
      <p:sp>
        <p:nvSpPr>
          <p:cNvPr id="36" name="rect 35"/>
          <p:cNvSpPr/>
          <p:nvPr/>
        </p:nvSpPr>
        <p:spPr>
          <a:xfrm>
            <a:off x="7841680" y="1558095"/>
            <a:ext cx="936320" cy="212135"/>
          </a:xfrm>
          <a:prstGeom prst="roundRect">
            <a:avLst>
              <a:gd name="adj" fmla="val 3448"/>
            </a:avLst>
          </a:prstGeom>
          <a:solidFill>
            <a:srgbClr val="FFFFFF"/>
          </a:solidFill>
          <a:ln w="9509">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SPAWN"/>
          <p:cNvSpPr txBox="1"/>
          <p:nvPr/>
        </p:nvSpPr>
        <p:spPr>
          <a:xfrm>
            <a:off x="7914830" y="1581869"/>
            <a:ext cx="579799" cy="192019"/>
          </a:xfrm>
          <a:prstGeom prst="rect">
            <a:avLst/>
          </a:prstGeom>
          <a:noFill/>
        </p:spPr>
        <p:txBody>
          <a:bodyPr wrap="none" lIns="0" rIns="0" tIns="0" bIns="0" anchor="t">
            <a:spAutoFit/>
          </a:bodyPr>
          <a:lstStyle/>
          <a:p>
            <a:pPr algn="l">
              <a:lnSpc>
                <a:spcPct val="100000"/>
              </a:lnSpc>
              <a:spcBef>
                <a:spcPts val="0"/>
              </a:spcBef>
              <a:spcAft>
                <a:spcPts val="0"/>
              </a:spcAft>
            </a:pPr>
            <a:r>
              <a:rPr sz="1094" b="0" i="0" lang="en-US" spc="0">
                <a:solidFill>
                  <a:srgbClr val="181818"/>
                </a:solidFill>
                <a:latin typeface="DejaVu Sans"/>
                <a:ea typeface="DejaVu Sans"/>
              </a:rPr>
              <a:t>SPAWN</a:t>
            </a:r>
          </a:p>
        </p:txBody>
      </p:sp>
      <p:sp>
        <p:nvSpPr>
          <p:cNvPr id="38" name="rect 37"/>
          <p:cNvSpPr/>
          <p:nvPr/>
        </p:nvSpPr>
        <p:spPr>
          <a:xfrm>
            <a:off x="7885570" y="1740970"/>
            <a:ext cx="936320" cy="212135"/>
          </a:xfrm>
          <a:prstGeom prst="roundRect">
            <a:avLst>
              <a:gd name="adj" fmla="val 3448"/>
            </a:avLst>
          </a:prstGeom>
          <a:solidFill>
            <a:srgbClr val="FFFFFF"/>
          </a:solidFill>
          <a:ln w="9509">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WAIT"/>
          <p:cNvSpPr txBox="1"/>
          <p:nvPr/>
        </p:nvSpPr>
        <p:spPr>
          <a:xfrm>
            <a:off x="7958720" y="1764744"/>
            <a:ext cx="438557" cy="192019"/>
          </a:xfrm>
          <a:prstGeom prst="rect">
            <a:avLst/>
          </a:prstGeom>
          <a:noFill/>
        </p:spPr>
        <p:txBody>
          <a:bodyPr wrap="none" lIns="0" rIns="0" tIns="0" bIns="0" anchor="t">
            <a:spAutoFit/>
          </a:bodyPr>
          <a:lstStyle/>
          <a:p>
            <a:pPr algn="l">
              <a:lnSpc>
                <a:spcPct val="100000"/>
              </a:lnSpc>
              <a:spcBef>
                <a:spcPts val="0"/>
              </a:spcBef>
              <a:spcAft>
                <a:spcPts val="0"/>
              </a:spcAft>
            </a:pPr>
            <a:r>
              <a:rPr sz="1094" b="0" i="0" lang="en-US" spc="0">
                <a:solidFill>
                  <a:srgbClr val="181818"/>
                </a:solidFill>
                <a:latin typeface="DejaVu Sans"/>
                <a:ea typeface="DejaVu Sans"/>
              </a:rPr>
              <a:t>WAIT</a:t>
            </a:r>
          </a:p>
        </p:txBody>
      </p:sp>
      <p:sp>
        <p:nvSpPr>
          <p:cNvPr id="40" name="rect 39"/>
          <p:cNvSpPr/>
          <p:nvPr/>
        </p:nvSpPr>
        <p:spPr>
          <a:xfrm>
            <a:off x="7929460" y="1923845"/>
            <a:ext cx="936320" cy="212135"/>
          </a:xfrm>
          <a:prstGeom prst="roundRect">
            <a:avLst>
              <a:gd name="adj" fmla="val 3448"/>
            </a:avLst>
          </a:prstGeom>
          <a:solidFill>
            <a:srgbClr val="FFFFFF"/>
          </a:solidFill>
          <a:ln w="9509">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RETURN"/>
          <p:cNvSpPr txBox="1"/>
          <p:nvPr/>
        </p:nvSpPr>
        <p:spPr>
          <a:xfrm>
            <a:off x="8002610" y="1947619"/>
            <a:ext cx="659350" cy="192019"/>
          </a:xfrm>
          <a:prstGeom prst="rect">
            <a:avLst/>
          </a:prstGeom>
          <a:noFill/>
        </p:spPr>
        <p:txBody>
          <a:bodyPr wrap="none" lIns="0" rIns="0" tIns="0" bIns="0" anchor="t">
            <a:spAutoFit/>
          </a:bodyPr>
          <a:lstStyle/>
          <a:p>
            <a:pPr algn="l">
              <a:lnSpc>
                <a:spcPct val="100000"/>
              </a:lnSpc>
              <a:spcBef>
                <a:spcPts val="0"/>
              </a:spcBef>
              <a:spcAft>
                <a:spcPts val="0"/>
              </a:spcAft>
            </a:pPr>
            <a:r>
              <a:rPr sz="1094" b="0" i="0" lang="en-US" spc="0">
                <a:solidFill>
                  <a:srgbClr val="181818"/>
                </a:solidFill>
                <a:latin typeface="DejaVu Sans"/>
                <a:ea typeface="DejaVu Sans"/>
              </a:rPr>
              <a:t>RETURN</a:t>
            </a:r>
          </a:p>
        </p:txBody>
      </p:sp>
      <p:sp>
        <p:nvSpPr>
          <p:cNvPr id="42" name="rect 41"/>
          <p:cNvSpPr/>
          <p:nvPr/>
        </p:nvSpPr>
        <p:spPr>
          <a:xfrm>
            <a:off x="9290050" y="1499575"/>
            <a:ext cx="833910" cy="643720"/>
          </a:xfrm>
          <a:prstGeom prst="roundRect">
            <a:avLst>
              <a:gd name="adj" fmla="val 2272"/>
            </a:avLst>
          </a:prstGeom>
          <a:solidFill>
            <a:srgbClr val="FFFFFF"/>
          </a:solidFill>
          <a:ln w="13898">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polygon 42"/>
          <p:cNvSpPr/>
          <p:nvPr/>
        </p:nvSpPr>
        <p:spPr>
          <a:xfrm>
            <a:off x="9948400" y="1499575"/>
            <a:ext cx="175560" cy="175560"/>
          </a:xfrm>
          <a:custGeom>
            <a:avLst/>
            <a:gdLst/>
            <a:ahLst/>
            <a:cxnLst/>
            <a:rect l="l" t="t" r="r" b="b"/>
            <a:pathLst>
              <a:path w="24" h="24">
                <a:moveTo>
                  <a:pt x="0" y="0"/>
                </a:moveTo>
                <a:lnTo>
                  <a:pt x="24" y="24"/>
                </a:lnTo>
                <a:lnTo>
                  <a:pt x="0" y="24"/>
                </a:lnTo>
                <a:close/>
              </a:path>
            </a:pathLst>
          </a:custGeom>
          <a:solidFill>
            <a:srgbClr val="DDDDD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rect 43"/>
          <p:cNvSpPr/>
          <p:nvPr/>
        </p:nvSpPr>
        <p:spPr>
          <a:xfrm>
            <a:off x="9377830" y="1675135"/>
            <a:ext cx="468745" cy="73150"/>
          </a:xfrm>
          <a:prstGeom prst="rect">
            <a:avLst/>
          </a:prstGeom>
          <a:solidFill>
            <a:srgbClr val="DDDDD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rect 44"/>
          <p:cNvSpPr/>
          <p:nvPr/>
        </p:nvSpPr>
        <p:spPr>
          <a:xfrm>
            <a:off x="9377830" y="1814120"/>
            <a:ext cx="546869" cy="73150"/>
          </a:xfrm>
          <a:prstGeom prst="rect">
            <a:avLst/>
          </a:prstGeom>
          <a:solidFill>
            <a:srgbClr val="F2BD7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rect 45"/>
          <p:cNvSpPr/>
          <p:nvPr/>
        </p:nvSpPr>
        <p:spPr>
          <a:xfrm>
            <a:off x="9377830" y="1953105"/>
            <a:ext cx="423173" cy="73150"/>
          </a:xfrm>
          <a:prstGeom prst="rect">
            <a:avLst/>
          </a:prstGeom>
          <a:solidFill>
            <a:srgbClr val="DDDDD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path 46"/>
          <p:cNvSpPr/>
          <p:nvPr/>
        </p:nvSpPr>
        <p:spPr>
          <a:xfrm>
            <a:off x="10826200" y="1550780"/>
            <a:ext cx="731500" cy="460845"/>
          </a:xfrm>
          <a:custGeom>
            <a:avLst/>
            <a:gdLst/>
            <a:ahLst/>
            <a:cxnLst/>
            <a:rect l="l" t="t" r="r" b="b"/>
            <a:pathLst>
              <a:path w="100" h="63">
                <a:moveTo>
                  <a:pt x="0" y="63"/>
                </a:moveTo>
                <a:lnTo>
                  <a:pt x="20" y="63"/>
                </a:lnTo>
                <a:lnTo>
                  <a:pt x="20" y="43"/>
                </a:lnTo>
                <a:lnTo>
                  <a:pt x="44" y="43"/>
                </a:lnTo>
                <a:lnTo>
                  <a:pt x="44" y="26"/>
                </a:lnTo>
                <a:lnTo>
                  <a:pt x="71" y="26"/>
                </a:lnTo>
                <a:lnTo>
                  <a:pt x="71" y="0"/>
                </a:lnTo>
                <a:lnTo>
                  <a:pt x="100" y="0"/>
                </a:lnTo>
              </a:path>
            </a:pathLst>
          </a:custGeom>
          <a:noFill/>
          <a:ln w="21945">
            <a:solidFill>
              <a:srgbClr val="2676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circle 47"/>
          <p:cNvSpPr/>
          <p:nvPr/>
        </p:nvSpPr>
        <p:spPr>
          <a:xfrm>
            <a:off x="11967340" y="1609300"/>
            <a:ext cx="365750" cy="365750"/>
          </a:xfrm>
          <a:prstGeom prst="ellipse">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path 48"/>
          <p:cNvSpPr/>
          <p:nvPr/>
        </p:nvSpPr>
        <p:spPr>
          <a:xfrm>
            <a:off x="12150215" y="1675135"/>
            <a:ext cx="102410" cy="160930"/>
          </a:xfrm>
          <a:custGeom>
            <a:avLst/>
            <a:gdLst/>
            <a:ahLst/>
            <a:cxnLst/>
            <a:rect l="l" t="t" r="r" b="b"/>
            <a:pathLst>
              <a:path w="14" h="22">
                <a:moveTo>
                  <a:pt x="0" y="0"/>
                </a:moveTo>
                <a:lnTo>
                  <a:pt x="0" y="16"/>
                </a:lnTo>
                <a:lnTo>
                  <a:pt x="14" y="22"/>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Events"/>
          <p:cNvSpPr txBox="1"/>
          <p:nvPr/>
        </p:nvSpPr>
        <p:spPr>
          <a:xfrm>
            <a:off x="8003053" y="2183528"/>
            <a:ext cx="657464" cy="226765"/>
          </a:xfrm>
          <a:prstGeom prst="rect">
            <a:avLst/>
          </a:prstGeom>
          <a:noFill/>
        </p:spPr>
        <p:txBody>
          <a:bodyPr wrap="none" lIns="0" rIns="0" tIns="0" bIns="0" anchor="t">
            <a:spAutoFit/>
          </a:bodyPr>
          <a:lstStyle/>
          <a:p>
            <a:pPr algn="ctr">
              <a:lnSpc>
                <a:spcPct val="100000"/>
              </a:lnSpc>
              <a:spcBef>
                <a:spcPts val="0"/>
              </a:spcBef>
              <a:spcAft>
                <a:spcPts val="0"/>
              </a:spcAft>
            </a:pPr>
            <a:r>
              <a:rPr sz="1324" b="0" i="0" lang="en-US" spc="0">
                <a:solidFill>
                  <a:srgbClr val="181818"/>
                </a:solidFill>
                <a:latin typeface="DejaVu Sans"/>
                <a:ea typeface="DejaVu Sans"/>
              </a:rPr>
              <a:t>Events</a:t>
            </a:r>
          </a:p>
        </p:txBody>
      </p:sp>
      <p:sp>
        <p:nvSpPr>
          <p:cNvPr id="51" name="Text + notice"/>
          <p:cNvSpPr txBox="1"/>
          <p:nvPr/>
        </p:nvSpPr>
        <p:spPr>
          <a:xfrm>
            <a:off x="9109804" y="2183528"/>
            <a:ext cx="1194402" cy="226765"/>
          </a:xfrm>
          <a:prstGeom prst="rect">
            <a:avLst/>
          </a:prstGeom>
          <a:noFill/>
        </p:spPr>
        <p:txBody>
          <a:bodyPr wrap="none" lIns="0" rIns="0" tIns="0" bIns="0" anchor="t">
            <a:spAutoFit/>
          </a:bodyPr>
          <a:lstStyle/>
          <a:p>
            <a:pPr algn="ctr">
              <a:lnSpc>
                <a:spcPct val="100000"/>
              </a:lnSpc>
              <a:spcBef>
                <a:spcPts val="0"/>
              </a:spcBef>
              <a:spcAft>
                <a:spcPts val="0"/>
              </a:spcAft>
            </a:pPr>
            <a:r>
              <a:rPr sz="1324" b="0" i="0" lang="en-US" spc="0">
                <a:solidFill>
                  <a:srgbClr val="181818"/>
                </a:solidFill>
                <a:latin typeface="DejaVu Sans"/>
                <a:ea typeface="DejaVu Sans"/>
              </a:rPr>
              <a:t>Text + notice</a:t>
            </a:r>
          </a:p>
        </p:txBody>
      </p:sp>
      <p:sp>
        <p:nvSpPr>
          <p:cNvPr id="52" name="Decode progress"/>
          <p:cNvSpPr txBox="1"/>
          <p:nvPr/>
        </p:nvSpPr>
        <p:spPr>
          <a:xfrm>
            <a:off x="10775195" y="2183528"/>
            <a:ext cx="1506490" cy="226765"/>
          </a:xfrm>
          <a:prstGeom prst="rect">
            <a:avLst/>
          </a:prstGeom>
          <a:noFill/>
        </p:spPr>
        <p:txBody>
          <a:bodyPr wrap="none" lIns="0" rIns="0" tIns="0" bIns="0" anchor="t">
            <a:spAutoFit/>
          </a:bodyPr>
          <a:lstStyle/>
          <a:p>
            <a:pPr algn="ctr">
              <a:lnSpc>
                <a:spcPct val="100000"/>
              </a:lnSpc>
              <a:spcBef>
                <a:spcPts val="0"/>
              </a:spcBef>
              <a:spcAft>
                <a:spcPts val="0"/>
              </a:spcAft>
            </a:pPr>
            <a:r>
              <a:rPr sz="1324" b="0" i="0" lang="en-US" spc="0">
                <a:solidFill>
                  <a:srgbClr val="181818"/>
                </a:solidFill>
                <a:latin typeface="DejaVu Sans"/>
                <a:ea typeface="DejaVu Sans"/>
              </a:rPr>
              <a:t>Decode progress</a:t>
            </a:r>
          </a:p>
        </p:txBody>
      </p:sp>
      <p:sp>
        <p:nvSpPr>
          <p:cNvPr id="53" name="path 52"/>
          <p:cNvSpPr/>
          <p:nvPr/>
        </p:nvSpPr>
        <p:spPr>
          <a:xfrm>
            <a:off x="2267650" y="2443210"/>
            <a:ext cx="6071450" cy="431585"/>
          </a:xfrm>
          <a:custGeom>
            <a:avLst/>
            <a:gdLst/>
            <a:ahLst/>
            <a:cxnLst/>
            <a:rect l="l" t="t" r="r" b="b"/>
            <a:pathLst>
              <a:path w="830" h="59">
                <a:moveTo>
                  <a:pt x="830" y="0"/>
                </a:moveTo>
                <a:lnTo>
                  <a:pt x="830" y="25"/>
                </a:lnTo>
                <a:lnTo>
                  <a:pt x="0" y="25"/>
                </a:lnTo>
                <a:lnTo>
                  <a:pt x="0" y="59"/>
                </a:lnTo>
              </a:path>
            </a:pathLst>
          </a:custGeom>
          <a:noFill/>
          <a:ln w="19019">
            <a:solidFill>
              <a:srgbClr val="2676B8"/>
            </a:solidFill>
            <a:prstDash val="dash"/>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path 53"/>
          <p:cNvSpPr/>
          <p:nvPr/>
        </p:nvSpPr>
        <p:spPr>
          <a:xfrm>
            <a:off x="3321010" y="2443210"/>
            <a:ext cx="6385995" cy="431585"/>
          </a:xfrm>
          <a:custGeom>
            <a:avLst/>
            <a:gdLst/>
            <a:ahLst/>
            <a:cxnLst/>
            <a:rect l="l" t="t" r="r" b="b"/>
            <a:pathLst>
              <a:path w="873" h="59">
                <a:moveTo>
                  <a:pt x="873" y="0"/>
                </a:moveTo>
                <a:lnTo>
                  <a:pt x="873" y="41"/>
                </a:lnTo>
                <a:lnTo>
                  <a:pt x="0" y="41"/>
                </a:lnTo>
                <a:lnTo>
                  <a:pt x="0" y="59"/>
                </a:lnTo>
              </a:path>
            </a:pathLst>
          </a:custGeom>
          <a:noFill/>
          <a:ln w="19019">
            <a:solidFill>
              <a:srgbClr val="2676B8"/>
            </a:solidFill>
            <a:prstDash val="dash"/>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rect 54"/>
          <p:cNvSpPr/>
          <p:nvPr/>
        </p:nvSpPr>
        <p:spPr>
          <a:xfrm>
            <a:off x="292600" y="2882110"/>
            <a:ext cx="3950100" cy="3525830"/>
          </a:xfrm>
          <a:prstGeom prst="roundRect">
            <a:avLst>
              <a:gd name="adj" fmla="val 1244"/>
            </a:avLst>
          </a:prstGeom>
          <a:solidFill>
            <a:srgbClr val="EEEEEE"/>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rect 55"/>
          <p:cNvSpPr/>
          <p:nvPr/>
        </p:nvSpPr>
        <p:spPr>
          <a:xfrm>
            <a:off x="292600" y="2882110"/>
            <a:ext cx="3950100" cy="351120"/>
          </a:xfrm>
          <a:prstGeom prst="roundRect">
            <a:avLst>
              <a:gd name="adj" fmla="val 12500"/>
            </a:avLst>
          </a:prstGeom>
          <a:solidFill>
            <a:srgbClr val="A9CEE8"/>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rect 56"/>
          <p:cNvSpPr/>
          <p:nvPr/>
        </p:nvSpPr>
        <p:spPr>
          <a:xfrm>
            <a:off x="301378" y="3079615"/>
            <a:ext cx="3932544" cy="146300"/>
          </a:xfrm>
          <a:prstGeom prst="rect">
            <a:avLst/>
          </a:prstGeom>
          <a:solidFill>
            <a:srgbClr val="A9CE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58" name="line 57"/>
          <p:cNvCxnSpPr/>
          <p:nvPr/>
        </p:nvCxnSpPr>
        <p:spPr>
          <a:xfrm>
            <a:off x="292600" y="3233230"/>
            <a:ext cx="3950100" cy="0"/>
          </a:xfrm>
          <a:prstGeom prst="line">
            <a:avLst/>
          </a:prstGeom>
          <a:ln w="12435">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59" name="1  Execution demand"/>
          <p:cNvSpPr txBox="1"/>
          <p:nvPr/>
        </p:nvSpPr>
        <p:spPr>
          <a:xfrm>
            <a:off x="438900" y="2933315"/>
            <a:ext cx="2506759" cy="268826"/>
          </a:xfrm>
          <a:prstGeom prst="rect">
            <a:avLst/>
          </a:prstGeom>
          <a:noFill/>
        </p:spPr>
        <p:txBody>
          <a:bodyPr wrap="none" lIns="0" rIns="0" tIns="0" bIns="0" anchor="t">
            <a:spAutoFit/>
          </a:bodyPr>
          <a:lstStyle/>
          <a:p>
            <a:pPr algn="l">
              <a:lnSpc>
                <a:spcPct val="100000"/>
              </a:lnSpc>
              <a:spcBef>
                <a:spcPts val="0"/>
              </a:spcBef>
              <a:spcAft>
                <a:spcPts val="0"/>
              </a:spcAft>
            </a:pPr>
            <a:r>
              <a:rPr sz="1612" b="1" i="0" lang="en-US" spc="0">
                <a:solidFill>
                  <a:srgbClr val="181818"/>
                </a:solidFill>
                <a:latin typeface="DejaVu Sans"/>
                <a:ea typeface="DejaVu Sans"/>
              </a:rPr>
              <a:t>1  Execution demand</a:t>
            </a:r>
          </a:p>
        </p:txBody>
      </p:sp>
      <p:sp>
        <p:nvSpPr>
          <p:cNvPr id="60" name="rect 59"/>
          <p:cNvSpPr/>
          <p:nvPr/>
        </p:nvSpPr>
        <p:spPr>
          <a:xfrm>
            <a:off x="4608450" y="2882110"/>
            <a:ext cx="3950100" cy="3525830"/>
          </a:xfrm>
          <a:prstGeom prst="roundRect">
            <a:avLst>
              <a:gd name="adj" fmla="val 1244"/>
            </a:avLst>
          </a:prstGeom>
          <a:solidFill>
            <a:srgbClr val="EEEEEE"/>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1" name="rect 60"/>
          <p:cNvSpPr/>
          <p:nvPr/>
        </p:nvSpPr>
        <p:spPr>
          <a:xfrm>
            <a:off x="4608450" y="2882110"/>
            <a:ext cx="3950100" cy="351120"/>
          </a:xfrm>
          <a:prstGeom prst="roundRect">
            <a:avLst>
              <a:gd name="adj" fmla="val 12500"/>
            </a:avLst>
          </a:prstGeom>
          <a:solidFill>
            <a:srgbClr val="A9CEE8"/>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2" name="rect 61"/>
          <p:cNvSpPr/>
          <p:nvPr/>
        </p:nvSpPr>
        <p:spPr>
          <a:xfrm>
            <a:off x="4617228" y="3079615"/>
            <a:ext cx="3932544" cy="146300"/>
          </a:xfrm>
          <a:prstGeom prst="rect">
            <a:avLst/>
          </a:prstGeom>
          <a:solidFill>
            <a:srgbClr val="A9CE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3" name="line 62"/>
          <p:cNvCxnSpPr/>
          <p:nvPr/>
        </p:nvCxnSpPr>
        <p:spPr>
          <a:xfrm>
            <a:off x="4608450" y="3233230"/>
            <a:ext cx="3950100" cy="0"/>
          </a:xfrm>
          <a:prstGeom prst="line">
            <a:avLst/>
          </a:prstGeom>
          <a:ln w="12435">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64" name="2  KV lifecycle"/>
          <p:cNvSpPr txBox="1"/>
          <p:nvPr/>
        </p:nvSpPr>
        <p:spPr>
          <a:xfrm>
            <a:off x="4754750" y="2933315"/>
            <a:ext cx="1715482" cy="268826"/>
          </a:xfrm>
          <a:prstGeom prst="rect">
            <a:avLst/>
          </a:prstGeom>
          <a:noFill/>
        </p:spPr>
        <p:txBody>
          <a:bodyPr wrap="none" lIns="0" rIns="0" tIns="0" bIns="0" anchor="t">
            <a:spAutoFit/>
          </a:bodyPr>
          <a:lstStyle/>
          <a:p>
            <a:pPr algn="l">
              <a:lnSpc>
                <a:spcPct val="100000"/>
              </a:lnSpc>
              <a:spcBef>
                <a:spcPts val="0"/>
              </a:spcBef>
              <a:spcAft>
                <a:spcPts val="0"/>
              </a:spcAft>
            </a:pPr>
            <a:r>
              <a:rPr sz="1612" b="1" i="0" lang="en-US" spc="0">
                <a:solidFill>
                  <a:srgbClr val="181818"/>
                </a:solidFill>
                <a:latin typeface="DejaVu Sans"/>
                <a:ea typeface="DejaVu Sans"/>
              </a:rPr>
              <a:t>2  KV lifecycle</a:t>
            </a:r>
          </a:p>
        </p:txBody>
      </p:sp>
      <p:sp>
        <p:nvSpPr>
          <p:cNvPr id="65" name="rect 64"/>
          <p:cNvSpPr/>
          <p:nvPr/>
        </p:nvSpPr>
        <p:spPr>
          <a:xfrm>
            <a:off x="8924300" y="2882110"/>
            <a:ext cx="3950100" cy="3525830"/>
          </a:xfrm>
          <a:prstGeom prst="roundRect">
            <a:avLst>
              <a:gd name="adj" fmla="val 1244"/>
            </a:avLst>
          </a:prstGeom>
          <a:solidFill>
            <a:srgbClr val="EEEEEE"/>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rect 65"/>
          <p:cNvSpPr/>
          <p:nvPr/>
        </p:nvSpPr>
        <p:spPr>
          <a:xfrm>
            <a:off x="8924300" y="2882110"/>
            <a:ext cx="3950100" cy="351120"/>
          </a:xfrm>
          <a:prstGeom prst="roundRect">
            <a:avLst>
              <a:gd name="adj" fmla="val 12500"/>
            </a:avLst>
          </a:prstGeom>
          <a:solidFill>
            <a:srgbClr val="A9CEE8"/>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7" name="rect 66"/>
          <p:cNvSpPr/>
          <p:nvPr/>
        </p:nvSpPr>
        <p:spPr>
          <a:xfrm>
            <a:off x="8933078" y="3079615"/>
            <a:ext cx="3932544" cy="146300"/>
          </a:xfrm>
          <a:prstGeom prst="rect">
            <a:avLst/>
          </a:prstGeom>
          <a:solidFill>
            <a:srgbClr val="A9CE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8" name="line 67"/>
          <p:cNvCxnSpPr/>
          <p:nvPr/>
        </p:nvCxnSpPr>
        <p:spPr>
          <a:xfrm>
            <a:off x="8924300" y="3233230"/>
            <a:ext cx="3950100" cy="0"/>
          </a:xfrm>
          <a:prstGeom prst="line">
            <a:avLst/>
          </a:prstGeom>
          <a:ln w="12435">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69" name="3  Admission + prefetch"/>
          <p:cNvSpPr txBox="1"/>
          <p:nvPr/>
        </p:nvSpPr>
        <p:spPr>
          <a:xfrm>
            <a:off x="9070600" y="2933315"/>
            <a:ext cx="2856336" cy="268826"/>
          </a:xfrm>
          <a:prstGeom prst="rect">
            <a:avLst/>
          </a:prstGeom>
          <a:noFill/>
        </p:spPr>
        <p:txBody>
          <a:bodyPr wrap="none" lIns="0" rIns="0" tIns="0" bIns="0" anchor="t">
            <a:spAutoFit/>
          </a:bodyPr>
          <a:lstStyle/>
          <a:p>
            <a:pPr algn="l">
              <a:lnSpc>
                <a:spcPct val="100000"/>
              </a:lnSpc>
              <a:spcBef>
                <a:spcPts val="0"/>
              </a:spcBef>
              <a:spcAft>
                <a:spcPts val="0"/>
              </a:spcAft>
            </a:pPr>
            <a:r>
              <a:rPr sz="1612" b="1" i="0" lang="en-US" spc="0">
                <a:solidFill>
                  <a:srgbClr val="181818"/>
                </a:solidFill>
                <a:latin typeface="DejaVu Sans"/>
                <a:ea typeface="DejaVu Sans"/>
              </a:rPr>
              <a:t>3  Admission + prefetch</a:t>
            </a:r>
          </a:p>
        </p:txBody>
      </p:sp>
      <p:sp>
        <p:nvSpPr>
          <p:cNvPr id="70" name="RCCG"/>
          <p:cNvSpPr txBox="1"/>
          <p:nvPr/>
        </p:nvSpPr>
        <p:spPr>
          <a:xfrm>
            <a:off x="512050" y="3392331"/>
            <a:ext cx="691868" cy="261511"/>
          </a:xfrm>
          <a:prstGeom prst="rect">
            <a:avLst/>
          </a:prstGeom>
          <a:noFill/>
        </p:spPr>
        <p:txBody>
          <a:bodyPr wrap="none" lIns="0" rIns="0" tIns="0" bIns="0" anchor="t">
            <a:spAutoFit/>
          </a:bodyPr>
          <a:lstStyle/>
          <a:p>
            <a:pPr algn="l">
              <a:lnSpc>
                <a:spcPct val="100000"/>
              </a:lnSpc>
              <a:spcBef>
                <a:spcPts val="0"/>
              </a:spcBef>
              <a:spcAft>
                <a:spcPts val="0"/>
              </a:spcAft>
            </a:pPr>
            <a:r>
              <a:rPr sz="1555" b="1" i="0" lang="en-US" spc="0">
                <a:solidFill>
                  <a:srgbClr val="181818"/>
                </a:solidFill>
                <a:latin typeface="DejaVu Sans"/>
                <a:ea typeface="DejaVu Sans"/>
              </a:rPr>
              <a:t>RCCG</a:t>
            </a:r>
          </a:p>
        </p:txBody>
      </p:sp>
      <p:sp>
        <p:nvSpPr>
          <p:cNvPr id="71" name="circle 70"/>
          <p:cNvSpPr/>
          <p:nvPr/>
        </p:nvSpPr>
        <p:spPr>
          <a:xfrm>
            <a:off x="555940" y="4089085"/>
            <a:ext cx="395010" cy="395010"/>
          </a:xfrm>
          <a:prstGeom prst="ellipse">
            <a:avLst/>
          </a:prstGeom>
          <a:solidFill>
            <a:srgbClr val="E9A6BF"/>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P"/>
          <p:cNvSpPr txBox="1"/>
          <p:nvPr/>
        </p:nvSpPr>
        <p:spPr>
          <a:xfrm>
            <a:off x="642534" y="4178694"/>
            <a:ext cx="221822"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i="0" lang="en-US" spc="0">
                <a:solidFill>
                  <a:srgbClr val="181818"/>
                </a:solidFill>
                <a:latin typeface="DejaVu Sans"/>
                <a:ea typeface="DejaVu Sans"/>
              </a:rPr>
              <a:t>P</a:t>
            </a:r>
          </a:p>
        </p:txBody>
      </p:sp>
      <p:sp>
        <p:nvSpPr>
          <p:cNvPr id="73" name="circle 72"/>
          <p:cNvSpPr/>
          <p:nvPr/>
        </p:nvSpPr>
        <p:spPr>
          <a:xfrm>
            <a:off x="1441055" y="3708705"/>
            <a:ext cx="395010" cy="395010"/>
          </a:xfrm>
          <a:prstGeom prst="ellipse">
            <a:avLst/>
          </a:prstGeom>
          <a:solidFill>
            <a:srgbClr val="B5D68B"/>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C1"/>
          <p:cNvSpPr txBox="1"/>
          <p:nvPr/>
        </p:nvSpPr>
        <p:spPr>
          <a:xfrm>
            <a:off x="1463943" y="3798314"/>
            <a:ext cx="349234"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i="0" lang="en-US" spc="0">
                <a:solidFill>
                  <a:srgbClr val="181818"/>
                </a:solidFill>
                <a:latin typeface="DejaVu Sans"/>
                <a:ea typeface="DejaVu Sans"/>
              </a:rPr>
              <a:t>C1</a:t>
            </a:r>
          </a:p>
        </p:txBody>
      </p:sp>
      <p:sp>
        <p:nvSpPr>
          <p:cNvPr id="75" name="circle 74"/>
          <p:cNvSpPr/>
          <p:nvPr/>
        </p:nvSpPr>
        <p:spPr>
          <a:xfrm>
            <a:off x="1441055" y="4601135"/>
            <a:ext cx="395010" cy="395010"/>
          </a:xfrm>
          <a:prstGeom prst="ellipse">
            <a:avLst/>
          </a:prstGeom>
          <a:solidFill>
            <a:srgbClr val="F2BD7D"/>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C2"/>
          <p:cNvSpPr txBox="1"/>
          <p:nvPr/>
        </p:nvSpPr>
        <p:spPr>
          <a:xfrm>
            <a:off x="1463943" y="4690744"/>
            <a:ext cx="349234"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i="0" lang="en-US" spc="0">
                <a:solidFill>
                  <a:srgbClr val="181818"/>
                </a:solidFill>
                <a:latin typeface="DejaVu Sans"/>
                <a:ea typeface="DejaVu Sans"/>
              </a:rPr>
              <a:t>C2</a:t>
            </a:r>
          </a:p>
        </p:txBody>
      </p:sp>
      <p:cxnSp>
        <p:nvCxnSpPr>
          <p:cNvPr id="77" name="path 76"/>
          <p:cNvCxnSpPr/>
          <p:nvPr/>
        </p:nvCxnSpPr>
        <p:spPr>
          <a:xfrm flipV="1">
            <a:off x="958265" y="3993990"/>
            <a:ext cx="460845" cy="204820"/>
          </a:xfrm>
          <a:prstGeom prst="line">
            <a:avLst/>
          </a:prstGeom>
          <a:ln w="19019">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78" name="path 77"/>
          <p:cNvCxnSpPr/>
          <p:nvPr/>
        </p:nvCxnSpPr>
        <p:spPr>
          <a:xfrm>
            <a:off x="936320" y="4410945"/>
            <a:ext cx="497420" cy="277970"/>
          </a:xfrm>
          <a:prstGeom prst="line">
            <a:avLst/>
          </a:prstGeom>
          <a:ln w="19019">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79" name="path 78"/>
          <p:cNvSpPr/>
          <p:nvPr/>
        </p:nvSpPr>
        <p:spPr>
          <a:xfrm>
            <a:off x="1850695" y="3708705"/>
            <a:ext cx="146300" cy="146300"/>
          </a:xfrm>
          <a:custGeom>
            <a:avLst/>
            <a:gdLst/>
            <a:ahLst/>
            <a:cxnLst/>
            <a:rect l="l" t="t" r="r" b="b"/>
            <a:pathLst>
              <a:path w="20" h="20">
                <a:moveTo>
                  <a:pt x="0" y="10"/>
                </a:moveTo>
                <a:lnTo>
                  <a:pt x="7" y="20"/>
                </a:lnTo>
                <a:lnTo>
                  <a:pt x="20" y="0"/>
                </a:lnTo>
              </a:path>
            </a:pathLst>
          </a:custGeom>
          <a:noFill/>
          <a:ln w="2048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circle 79"/>
          <p:cNvSpPr/>
          <p:nvPr/>
        </p:nvSpPr>
        <p:spPr>
          <a:xfrm>
            <a:off x="1784860" y="4666970"/>
            <a:ext cx="234080" cy="234080"/>
          </a:xfrm>
          <a:prstGeom prst="ellipse">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1" name="path 80"/>
          <p:cNvSpPr/>
          <p:nvPr/>
        </p:nvSpPr>
        <p:spPr>
          <a:xfrm>
            <a:off x="1901900" y="4710860"/>
            <a:ext cx="65835" cy="102410"/>
          </a:xfrm>
          <a:custGeom>
            <a:avLst/>
            <a:gdLst/>
            <a:ahLst/>
            <a:cxnLst/>
            <a:rect l="l" t="t" r="r" b="b"/>
            <a:pathLst>
              <a:path w="9" h="14">
                <a:moveTo>
                  <a:pt x="0" y="0"/>
                </a:moveTo>
                <a:lnTo>
                  <a:pt x="0" y="10"/>
                </a:lnTo>
                <a:lnTo>
                  <a:pt x="9" y="14"/>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 name="GraphDelta"/>
          <p:cNvSpPr txBox="1"/>
          <p:nvPr/>
        </p:nvSpPr>
        <p:spPr>
          <a:xfrm>
            <a:off x="512050" y="5124158"/>
            <a:ext cx="1052789" cy="226765"/>
          </a:xfrm>
          <a:prstGeom prst="rect">
            <a:avLst/>
          </a:prstGeom>
          <a:noFill/>
        </p:spPr>
        <p:txBody>
          <a:bodyPr wrap="none" lIns="0" rIns="0" tIns="0" bIns="0" anchor="t">
            <a:spAutoFit/>
          </a:bodyPr>
          <a:lstStyle/>
          <a:p>
            <a:pPr algn="l">
              <a:lnSpc>
                <a:spcPct val="100000"/>
              </a:lnSpc>
              <a:spcBef>
                <a:spcPts val="0"/>
              </a:spcBef>
              <a:spcAft>
                <a:spcPts val="0"/>
              </a:spcAft>
            </a:pPr>
            <a:r>
              <a:rPr sz="1324" b="0" i="0" lang="en-US" spc="0">
                <a:solidFill>
                  <a:srgbClr val="2676B8"/>
                </a:solidFill>
                <a:latin typeface="DejaVu Sans"/>
                <a:ea typeface="DejaVu Sans"/>
              </a:rPr>
              <a:t>GraphDelta</a:t>
            </a:r>
          </a:p>
        </p:txBody>
      </p:sp>
      <p:sp>
        <p:nvSpPr>
          <p:cNvPr id="83" name="rect 82"/>
          <p:cNvSpPr/>
          <p:nvPr/>
        </p:nvSpPr>
        <p:spPr>
          <a:xfrm>
            <a:off x="2333485" y="3452680"/>
            <a:ext cx="1711710" cy="1960420"/>
          </a:xfrm>
          <a:prstGeom prst="roundRect">
            <a:avLst>
              <a:gd name="adj" fmla="val 1709"/>
            </a:avLst>
          </a:prstGeom>
          <a:solidFill>
            <a:srgbClr val="FFFFFF"/>
          </a:solidFill>
          <a:ln w="10972">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Async CPU"/>
          <p:cNvSpPr txBox="1"/>
          <p:nvPr/>
        </p:nvSpPr>
        <p:spPr>
          <a:xfrm>
            <a:off x="2450525" y="3522172"/>
            <a:ext cx="1132825" cy="235909"/>
          </a:xfrm>
          <a:prstGeom prst="rect">
            <a:avLst/>
          </a:prstGeom>
          <a:noFill/>
        </p:spPr>
        <p:txBody>
          <a:bodyPr wrap="none" lIns="0" rIns="0" tIns="0" bIns="0" anchor="t">
            <a:spAutoFit/>
          </a:bodyPr>
          <a:lstStyle/>
          <a:p>
            <a:pPr algn="l">
              <a:lnSpc>
                <a:spcPct val="100000"/>
              </a:lnSpc>
              <a:spcBef>
                <a:spcPts val="0"/>
              </a:spcBef>
              <a:spcAft>
                <a:spcPts val="0"/>
              </a:spcAft>
            </a:pPr>
            <a:r>
              <a:rPr sz="1382" b="1" i="0" lang="en-US" spc="0">
                <a:solidFill>
                  <a:srgbClr val="181818"/>
                </a:solidFill>
                <a:latin typeface="DejaVu Sans"/>
                <a:ea typeface="DejaVu Sans"/>
              </a:rPr>
              <a:t>Async CPU</a:t>
            </a:r>
          </a:p>
        </p:txBody>
      </p:sp>
      <p:sp>
        <p:nvSpPr>
          <p:cNvPr id="85" name="circle 84"/>
          <p:cNvSpPr/>
          <p:nvPr/>
        </p:nvSpPr>
        <p:spPr>
          <a:xfrm>
            <a:off x="2560250" y="3906210"/>
            <a:ext cx="131670" cy="131670"/>
          </a:xfrm>
          <a:prstGeom prst="ellipse">
            <a:avLst/>
          </a:prstGeom>
          <a:solidFill>
            <a:srgbClr val="A9CEE8"/>
          </a:solidFill>
          <a:ln w="9509">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6" name="circle 85"/>
          <p:cNvSpPr/>
          <p:nvPr/>
        </p:nvSpPr>
        <p:spPr>
          <a:xfrm>
            <a:off x="2560250" y="4140290"/>
            <a:ext cx="131670" cy="131670"/>
          </a:xfrm>
          <a:prstGeom prst="ellipse">
            <a:avLst/>
          </a:prstGeom>
          <a:solidFill>
            <a:srgbClr val="A9CEE8"/>
          </a:solidFill>
          <a:ln w="9509">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circle 86"/>
          <p:cNvSpPr/>
          <p:nvPr/>
        </p:nvSpPr>
        <p:spPr>
          <a:xfrm>
            <a:off x="2560250" y="4374370"/>
            <a:ext cx="131670" cy="131670"/>
          </a:xfrm>
          <a:prstGeom prst="ellipse">
            <a:avLst/>
          </a:prstGeom>
          <a:solidFill>
            <a:srgbClr val="A9CEE8"/>
          </a:solidFill>
          <a:ln w="9509">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8" name="circle 87"/>
          <p:cNvSpPr/>
          <p:nvPr/>
        </p:nvSpPr>
        <p:spPr>
          <a:xfrm>
            <a:off x="2947945" y="3906210"/>
            <a:ext cx="131670" cy="131670"/>
          </a:xfrm>
          <a:prstGeom prst="ellipse">
            <a:avLst/>
          </a:prstGeom>
          <a:solidFill>
            <a:srgbClr val="A9CEE8"/>
          </a:solidFill>
          <a:ln w="9509">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89" name="line 88"/>
          <p:cNvCxnSpPr/>
          <p:nvPr/>
        </p:nvCxnSpPr>
        <p:spPr>
          <a:xfrm>
            <a:off x="2699235" y="3972045"/>
            <a:ext cx="241395" cy="0"/>
          </a:xfrm>
          <a:prstGeom prst="line">
            <a:avLst/>
          </a:prstGeom>
          <a:ln w="9509">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90" name="circle 89"/>
          <p:cNvSpPr/>
          <p:nvPr/>
        </p:nvSpPr>
        <p:spPr>
          <a:xfrm>
            <a:off x="2947945" y="4140290"/>
            <a:ext cx="131670" cy="131670"/>
          </a:xfrm>
          <a:prstGeom prst="ellipse">
            <a:avLst/>
          </a:prstGeom>
          <a:solidFill>
            <a:srgbClr val="A9CEE8"/>
          </a:solidFill>
          <a:ln w="9509">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1" name="line 90"/>
          <p:cNvCxnSpPr/>
          <p:nvPr/>
        </p:nvCxnSpPr>
        <p:spPr>
          <a:xfrm>
            <a:off x="2699235" y="4206125"/>
            <a:ext cx="241395" cy="0"/>
          </a:xfrm>
          <a:prstGeom prst="line">
            <a:avLst/>
          </a:prstGeom>
          <a:ln w="9509">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92" name="circle 91"/>
          <p:cNvSpPr/>
          <p:nvPr/>
        </p:nvSpPr>
        <p:spPr>
          <a:xfrm>
            <a:off x="2947945" y="4374370"/>
            <a:ext cx="131670" cy="131670"/>
          </a:xfrm>
          <a:prstGeom prst="ellipse">
            <a:avLst/>
          </a:prstGeom>
          <a:solidFill>
            <a:srgbClr val="A9CEE8"/>
          </a:solidFill>
          <a:ln w="9509">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3" name="line 92"/>
          <p:cNvCxnSpPr/>
          <p:nvPr/>
        </p:nvCxnSpPr>
        <p:spPr>
          <a:xfrm>
            <a:off x="2699235" y="4440205"/>
            <a:ext cx="241395" cy="0"/>
          </a:xfrm>
          <a:prstGeom prst="line">
            <a:avLst/>
          </a:prstGeom>
          <a:ln w="9509">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94" name="circle 93"/>
          <p:cNvSpPr/>
          <p:nvPr/>
        </p:nvSpPr>
        <p:spPr>
          <a:xfrm>
            <a:off x="3335640" y="3906210"/>
            <a:ext cx="131670" cy="131670"/>
          </a:xfrm>
          <a:prstGeom prst="ellipse">
            <a:avLst/>
          </a:prstGeom>
          <a:solidFill>
            <a:srgbClr val="F2BD7D"/>
          </a:solidFill>
          <a:ln w="9509">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5" name="line 94"/>
          <p:cNvCxnSpPr/>
          <p:nvPr/>
        </p:nvCxnSpPr>
        <p:spPr>
          <a:xfrm>
            <a:off x="3086930" y="3972045"/>
            <a:ext cx="241395" cy="0"/>
          </a:xfrm>
          <a:prstGeom prst="line">
            <a:avLst/>
          </a:prstGeom>
          <a:ln w="9509">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96" name="circle 95"/>
          <p:cNvSpPr/>
          <p:nvPr/>
        </p:nvSpPr>
        <p:spPr>
          <a:xfrm>
            <a:off x="3335640" y="4140290"/>
            <a:ext cx="131670" cy="131670"/>
          </a:xfrm>
          <a:prstGeom prst="ellipse">
            <a:avLst/>
          </a:prstGeom>
          <a:solidFill>
            <a:srgbClr val="F2BD7D"/>
          </a:solidFill>
          <a:ln w="9509">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7" name="line 96"/>
          <p:cNvCxnSpPr/>
          <p:nvPr/>
        </p:nvCxnSpPr>
        <p:spPr>
          <a:xfrm>
            <a:off x="3086930" y="4206125"/>
            <a:ext cx="241395" cy="0"/>
          </a:xfrm>
          <a:prstGeom prst="line">
            <a:avLst/>
          </a:prstGeom>
          <a:ln w="9509">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98" name="circle 97"/>
          <p:cNvSpPr/>
          <p:nvPr/>
        </p:nvSpPr>
        <p:spPr>
          <a:xfrm>
            <a:off x="3335640" y="4374370"/>
            <a:ext cx="131670" cy="131670"/>
          </a:xfrm>
          <a:prstGeom prst="ellipse">
            <a:avLst/>
          </a:prstGeom>
          <a:solidFill>
            <a:srgbClr val="F2BD7D"/>
          </a:solidFill>
          <a:ln w="9509">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9" name="line 98"/>
          <p:cNvCxnSpPr/>
          <p:nvPr/>
        </p:nvCxnSpPr>
        <p:spPr>
          <a:xfrm>
            <a:off x="3086930" y="4440205"/>
            <a:ext cx="241395" cy="0"/>
          </a:xfrm>
          <a:prstGeom prst="line">
            <a:avLst/>
          </a:prstGeom>
          <a:ln w="9509">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00" name="path 99"/>
          <p:cNvSpPr/>
          <p:nvPr/>
        </p:nvSpPr>
        <p:spPr>
          <a:xfrm>
            <a:off x="1850695" y="4279275"/>
            <a:ext cx="475475" cy="519365"/>
          </a:xfrm>
          <a:custGeom>
            <a:avLst/>
            <a:gdLst/>
            <a:ahLst/>
            <a:cxnLst/>
            <a:rect l="l" t="t" r="r" b="b"/>
            <a:pathLst>
              <a:path w="65" h="71">
                <a:moveTo>
                  <a:pt x="0" y="71"/>
                </a:moveTo>
                <a:lnTo>
                  <a:pt x="41" y="71"/>
                </a:lnTo>
                <a:lnTo>
                  <a:pt x="41" y="0"/>
                </a:lnTo>
                <a:lnTo>
                  <a:pt x="65" y="0"/>
                </a:lnTo>
              </a:path>
            </a:pathLst>
          </a:custGeom>
          <a:noFill/>
          <a:ln w="19019">
            <a:solidFill>
              <a:srgbClr val="2676B8"/>
            </a:solidFill>
            <a:prstDash val="dash"/>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1" name="p"/>
          <p:cNvSpPr txBox="1"/>
          <p:nvPr/>
        </p:nvSpPr>
        <p:spPr>
          <a:xfrm>
            <a:off x="3003322" y="4601135"/>
            <a:ext cx="193848" cy="266998"/>
          </a:xfrm>
          <a:prstGeom prst="rect">
            <a:avLst/>
          </a:prstGeom>
          <a:noFill/>
        </p:spPr>
        <p:txBody>
          <a:bodyPr wrap="none" lIns="0" rIns="0" tIns="0" bIns="0" anchor="t">
            <a:spAutoFit/>
          </a:bodyPr>
          <a:lstStyle/>
          <a:p>
            <a:pPr algn="l">
              <a:lnSpc>
                <a:spcPct val="100000"/>
              </a:lnSpc>
              <a:spcBef>
                <a:spcPts val="0"/>
              </a:spcBef>
              <a:spcAft>
                <a:spcPts val="0"/>
              </a:spcAft>
            </a:pPr>
            <a:r>
              <a:rPr sz="1670" b="0" i="1" lang="en-US" spc="0">
                <a:solidFill>
                  <a:srgbClr val="181818"/>
                </a:solidFill>
                <a:latin typeface="Liberation Serif"/>
                <a:ea typeface="Liberation Serif"/>
              </a:rPr>
              <a:t>p</a:t>
            </a:r>
          </a:p>
        </p:txBody>
      </p:sp>
      <p:sp>
        <p:nvSpPr>
          <p:cNvPr id="102" name="final"/>
          <p:cNvSpPr txBox="1"/>
          <p:nvPr/>
        </p:nvSpPr>
        <p:spPr>
          <a:xfrm>
            <a:off x="3116704" y="4721832"/>
            <a:ext cx="339119" cy="182875"/>
          </a:xfrm>
          <a:prstGeom prst="rect">
            <a:avLst/>
          </a:prstGeom>
          <a:noFill/>
        </p:spPr>
        <p:txBody>
          <a:bodyPr wrap="none" lIns="0" rIns="0" tIns="0" bIns="0" anchor="t">
            <a:spAutoFit/>
          </a:bodyPr>
          <a:lstStyle/>
          <a:p>
            <a:pPr algn="l">
              <a:lnSpc>
                <a:spcPct val="100000"/>
              </a:lnSpc>
              <a:spcBef>
                <a:spcPts val="0"/>
              </a:spcBef>
              <a:spcAft>
                <a:spcPts val="0"/>
              </a:spcAft>
            </a:pPr>
            <a:r>
              <a:rPr sz="1085" b="0" i="0" lang="en-US" spc="0">
                <a:solidFill>
                  <a:srgbClr val="181818"/>
                </a:solidFill>
                <a:latin typeface="Liberation Serif"/>
                <a:ea typeface="Liberation Serif"/>
              </a:rPr>
              <a:t>final</a:t>
            </a:r>
          </a:p>
        </p:txBody>
      </p:sp>
      <p:cxnSp>
        <p:nvCxnSpPr>
          <p:cNvPr id="103" name="line 102"/>
          <p:cNvCxnSpPr/>
          <p:nvPr/>
        </p:nvCxnSpPr>
        <p:spPr>
          <a:xfrm>
            <a:off x="2574880" y="5018090"/>
            <a:ext cx="1228920" cy="0"/>
          </a:xfrm>
          <a:prstGeom prst="line">
            <a:avLst/>
          </a:prstGeom>
          <a:ln w="18288">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104" name="line 103"/>
          <p:cNvCxnSpPr/>
          <p:nvPr/>
        </p:nvCxnSpPr>
        <p:spPr>
          <a:xfrm>
            <a:off x="2574880" y="4952255"/>
            <a:ext cx="0" cy="13167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105" name="line 104"/>
          <p:cNvCxnSpPr/>
          <p:nvPr/>
        </p:nvCxnSpPr>
        <p:spPr>
          <a:xfrm>
            <a:off x="3803800" y="4952255"/>
            <a:ext cx="0" cy="13167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06" name="circle 105"/>
          <p:cNvSpPr/>
          <p:nvPr/>
        </p:nvSpPr>
        <p:spPr>
          <a:xfrm>
            <a:off x="3240545" y="4981515"/>
            <a:ext cx="73150" cy="73150"/>
          </a:xfrm>
          <a:prstGeom prst="ellipse">
            <a:avLst/>
          </a:prstGeom>
          <a:solidFill>
            <a:srgbClr val="18181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7" name="["/>
          <p:cNvSpPr txBox="1"/>
          <p:nvPr/>
        </p:nvSpPr>
        <p:spPr>
          <a:xfrm>
            <a:off x="2795444" y="5118671"/>
            <a:ext cx="153558" cy="250539"/>
          </a:xfrm>
          <a:prstGeom prst="rect">
            <a:avLst/>
          </a:prstGeom>
          <a:noFill/>
        </p:spPr>
        <p:txBody>
          <a:bodyPr wrap="none" lIns="0" rIns="0" tIns="0" bIns="0" anchor="t">
            <a:spAutoFit/>
          </a:bodyPr>
          <a:lstStyle/>
          <a:p>
            <a:pPr algn="l">
              <a:lnSpc>
                <a:spcPct val="100000"/>
              </a:lnSpc>
              <a:spcBef>
                <a:spcPts val="0"/>
              </a:spcBef>
              <a:spcAft>
                <a:spcPts val="0"/>
              </a:spcAft>
            </a:pPr>
            <a:r>
              <a:rPr sz="1555" b="0" i="0" lang="en-US" spc="0">
                <a:solidFill>
                  <a:srgbClr val="181818"/>
                </a:solidFill>
                <a:latin typeface="Liberation Serif"/>
                <a:ea typeface="Liberation Serif"/>
              </a:rPr>
              <a:t>[</a:t>
            </a:r>
          </a:p>
        </p:txBody>
      </p:sp>
      <p:sp>
        <p:nvSpPr>
          <p:cNvPr id="108" name="W"/>
          <p:cNvSpPr txBox="1"/>
          <p:nvPr/>
        </p:nvSpPr>
        <p:spPr>
          <a:xfrm>
            <a:off x="2861222" y="5118671"/>
            <a:ext cx="252310" cy="250539"/>
          </a:xfrm>
          <a:prstGeom prst="rect">
            <a:avLst/>
          </a:prstGeom>
          <a:noFill/>
        </p:spPr>
        <p:txBody>
          <a:bodyPr wrap="none" lIns="0" rIns="0" tIns="0" bIns="0" anchor="t">
            <a:spAutoFit/>
          </a:bodyPr>
          <a:lstStyle/>
          <a:p>
            <a:pPr algn="l">
              <a:lnSpc>
                <a:spcPct val="100000"/>
              </a:lnSpc>
              <a:spcBef>
                <a:spcPts val="0"/>
              </a:spcBef>
              <a:spcAft>
                <a:spcPts val="0"/>
              </a:spcAft>
            </a:pPr>
            <a:r>
              <a:rPr sz="1555" b="0" i="1" lang="en-US" spc="0">
                <a:solidFill>
                  <a:srgbClr val="181818"/>
                </a:solidFill>
                <a:latin typeface="Liberation Serif"/>
                <a:ea typeface="Liberation Serif"/>
              </a:rPr>
              <a:t>W</a:t>
            </a:r>
          </a:p>
        </p:txBody>
      </p:sp>
      <p:sp>
        <p:nvSpPr>
          <p:cNvPr id="109" name="lo"/>
          <p:cNvSpPr txBox="1"/>
          <p:nvPr/>
        </p:nvSpPr>
        <p:spPr>
          <a:xfrm>
            <a:off x="3033068" y="5230225"/>
            <a:ext cx="187361" cy="173731"/>
          </a:xfrm>
          <a:prstGeom prst="rect">
            <a:avLst/>
          </a:prstGeom>
          <a:noFill/>
        </p:spPr>
        <p:txBody>
          <a:bodyPr wrap="none" lIns="0" rIns="0" tIns="0" bIns="0" anchor="t">
            <a:spAutoFit/>
          </a:bodyPr>
          <a:lstStyle/>
          <a:p>
            <a:pPr algn="l">
              <a:lnSpc>
                <a:spcPct val="100000"/>
              </a:lnSpc>
              <a:spcBef>
                <a:spcPts val="0"/>
              </a:spcBef>
              <a:spcAft>
                <a:spcPts val="0"/>
              </a:spcAft>
            </a:pPr>
            <a:r>
              <a:rPr sz="1010" b="0" i="0" lang="en-US" spc="0">
                <a:solidFill>
                  <a:srgbClr val="181818"/>
                </a:solidFill>
                <a:latin typeface="Liberation Serif"/>
                <a:ea typeface="Liberation Serif"/>
              </a:rPr>
              <a:t>lo</a:t>
            </a:r>
          </a:p>
        </p:txBody>
      </p:sp>
      <p:sp>
        <p:nvSpPr>
          <p:cNvPr id="110" name=", "/>
          <p:cNvSpPr txBox="1"/>
          <p:nvPr/>
        </p:nvSpPr>
        <p:spPr>
          <a:xfrm>
            <a:off x="3139964" y="5118671"/>
            <a:ext cx="186532" cy="250539"/>
          </a:xfrm>
          <a:prstGeom prst="rect">
            <a:avLst/>
          </a:prstGeom>
          <a:noFill/>
        </p:spPr>
        <p:txBody>
          <a:bodyPr wrap="none" lIns="0" rIns="0" tIns="0" bIns="0" anchor="t">
            <a:spAutoFit/>
          </a:bodyPr>
          <a:lstStyle/>
          <a:p>
            <a:pPr algn="l">
              <a:lnSpc>
                <a:spcPct val="100000"/>
              </a:lnSpc>
              <a:spcBef>
                <a:spcPts val="0"/>
              </a:spcBef>
              <a:spcAft>
                <a:spcPts val="0"/>
              </a:spcAft>
            </a:pPr>
            <a:r>
              <a:rPr sz="1555" b="0" i="0" lang="en-US" spc="0">
                <a:solidFill>
                  <a:srgbClr val="181818"/>
                </a:solidFill>
                <a:latin typeface="Liberation Serif"/>
                <a:ea typeface="Liberation Serif"/>
              </a:rPr>
              <a:t>, </a:t>
            </a:r>
          </a:p>
        </p:txBody>
      </p:sp>
      <p:sp>
        <p:nvSpPr>
          <p:cNvPr id="111" name="W"/>
          <p:cNvSpPr txBox="1"/>
          <p:nvPr/>
        </p:nvSpPr>
        <p:spPr>
          <a:xfrm>
            <a:off x="3238716" y="5118671"/>
            <a:ext cx="252310" cy="250539"/>
          </a:xfrm>
          <a:prstGeom prst="rect">
            <a:avLst/>
          </a:prstGeom>
          <a:noFill/>
        </p:spPr>
        <p:txBody>
          <a:bodyPr wrap="none" lIns="0" rIns="0" tIns="0" bIns="0" anchor="t">
            <a:spAutoFit/>
          </a:bodyPr>
          <a:lstStyle/>
          <a:p>
            <a:pPr algn="l">
              <a:lnSpc>
                <a:spcPct val="100000"/>
              </a:lnSpc>
              <a:spcBef>
                <a:spcPts val="0"/>
              </a:spcBef>
              <a:spcAft>
                <a:spcPts val="0"/>
              </a:spcAft>
            </a:pPr>
            <a:r>
              <a:rPr sz="1555" b="0" i="1" lang="en-US" spc="0">
                <a:solidFill>
                  <a:srgbClr val="181818"/>
                </a:solidFill>
                <a:latin typeface="Liberation Serif"/>
                <a:ea typeface="Liberation Serif"/>
              </a:rPr>
              <a:t>W</a:t>
            </a:r>
          </a:p>
        </p:txBody>
      </p:sp>
      <p:sp>
        <p:nvSpPr>
          <p:cNvPr id="112" name="hi"/>
          <p:cNvSpPr txBox="1"/>
          <p:nvPr/>
        </p:nvSpPr>
        <p:spPr>
          <a:xfrm>
            <a:off x="3410562" y="5230225"/>
            <a:ext cx="187361" cy="173731"/>
          </a:xfrm>
          <a:prstGeom prst="rect">
            <a:avLst/>
          </a:prstGeom>
          <a:noFill/>
        </p:spPr>
        <p:txBody>
          <a:bodyPr wrap="none" lIns="0" rIns="0" tIns="0" bIns="0" anchor="t">
            <a:spAutoFit/>
          </a:bodyPr>
          <a:lstStyle/>
          <a:p>
            <a:pPr algn="l">
              <a:lnSpc>
                <a:spcPct val="100000"/>
              </a:lnSpc>
              <a:spcBef>
                <a:spcPts val="0"/>
              </a:spcBef>
              <a:spcAft>
                <a:spcPts val="0"/>
              </a:spcAft>
            </a:pPr>
            <a:r>
              <a:rPr sz="1010" b="0" i="0" lang="en-US" spc="0">
                <a:solidFill>
                  <a:srgbClr val="181818"/>
                </a:solidFill>
                <a:latin typeface="Liberation Serif"/>
                <a:ea typeface="Liberation Serif"/>
              </a:rPr>
              <a:t>hi</a:t>
            </a:r>
          </a:p>
        </p:txBody>
      </p:sp>
      <p:sp>
        <p:nvSpPr>
          <p:cNvPr id="113" name="]"/>
          <p:cNvSpPr txBox="1"/>
          <p:nvPr/>
        </p:nvSpPr>
        <p:spPr>
          <a:xfrm>
            <a:off x="3517458" y="5118671"/>
            <a:ext cx="153558" cy="250539"/>
          </a:xfrm>
          <a:prstGeom prst="rect">
            <a:avLst/>
          </a:prstGeom>
          <a:noFill/>
        </p:spPr>
        <p:txBody>
          <a:bodyPr wrap="none" lIns="0" rIns="0" tIns="0" bIns="0" anchor="t">
            <a:spAutoFit/>
          </a:bodyPr>
          <a:lstStyle/>
          <a:p>
            <a:pPr algn="l">
              <a:lnSpc>
                <a:spcPct val="100000"/>
              </a:lnSpc>
              <a:spcBef>
                <a:spcPts val="0"/>
              </a:spcBef>
              <a:spcAft>
                <a:spcPts val="0"/>
              </a:spcAft>
            </a:pPr>
            <a:r>
              <a:rPr sz="1555" b="0" i="0" lang="en-US" spc="0">
                <a:solidFill>
                  <a:srgbClr val="181818"/>
                </a:solidFill>
                <a:latin typeface="Liberation Serif"/>
                <a:ea typeface="Liberation Serif"/>
              </a:rPr>
              <a:t>]</a:t>
            </a:r>
          </a:p>
        </p:txBody>
      </p:sp>
      <p:sp>
        <p:nvSpPr>
          <p:cNvPr id="114" name="path 113"/>
          <p:cNvSpPr/>
          <p:nvPr/>
        </p:nvSpPr>
        <p:spPr>
          <a:xfrm>
            <a:off x="1228920" y="5010775"/>
            <a:ext cx="409640" cy="694925"/>
          </a:xfrm>
          <a:custGeom>
            <a:avLst/>
            <a:gdLst/>
            <a:ahLst/>
            <a:cxnLst/>
            <a:rect l="l" t="t" r="r" b="b"/>
            <a:pathLst>
              <a:path w="56" h="95">
                <a:moveTo>
                  <a:pt x="56" y="0"/>
                </a:moveTo>
                <a:lnTo>
                  <a:pt x="56" y="72"/>
                </a:lnTo>
                <a:lnTo>
                  <a:pt x="0" y="72"/>
                </a:lnTo>
                <a:lnTo>
                  <a:pt x="0" y="95"/>
                </a:lnTo>
              </a:path>
            </a:pathLst>
          </a:custGeom>
          <a:noFill/>
          <a:ln w="19019">
            <a:solidFill>
              <a:srgbClr val="181818"/>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5" name="path 114"/>
          <p:cNvCxnSpPr/>
          <p:nvPr/>
        </p:nvCxnSpPr>
        <p:spPr>
          <a:xfrm>
            <a:off x="3189340" y="5427730"/>
            <a:ext cx="0" cy="270655"/>
          </a:xfrm>
          <a:prstGeom prst="line">
            <a:avLst/>
          </a:prstGeom>
          <a:ln w="19019">
            <a:solidFill>
              <a:srgbClr val="BF3335"/>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16" name="rect 115"/>
          <p:cNvSpPr/>
          <p:nvPr/>
        </p:nvSpPr>
        <p:spPr>
          <a:xfrm>
            <a:off x="512050" y="5720330"/>
            <a:ext cx="3533145" cy="475475"/>
          </a:xfrm>
          <a:prstGeom prst="roundRect">
            <a:avLst>
              <a:gd name="adj" fmla="val 3076"/>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7" name="rect 116"/>
          <p:cNvSpPr/>
          <p:nvPr/>
        </p:nvSpPr>
        <p:spPr>
          <a:xfrm>
            <a:off x="519365" y="5727645"/>
            <a:ext cx="73150" cy="460845"/>
          </a:xfrm>
          <a:prstGeom prst="rect">
            <a:avLst/>
          </a:prstGeom>
          <a:solidFill>
            <a:srgbClr val="E9A6B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8" name="P / A"/>
          <p:cNvSpPr txBox="1"/>
          <p:nvPr/>
        </p:nvSpPr>
        <p:spPr>
          <a:xfrm>
            <a:off x="603216" y="5857998"/>
            <a:ext cx="519908" cy="226765"/>
          </a:xfrm>
          <a:prstGeom prst="rect">
            <a:avLst/>
          </a:prstGeom>
          <a:noFill/>
        </p:spPr>
        <p:txBody>
          <a:bodyPr wrap="none" lIns="0" rIns="0" tIns="0" bIns="0" anchor="t">
            <a:spAutoFit/>
          </a:bodyPr>
          <a:lstStyle/>
          <a:p>
            <a:pPr algn="ctr">
              <a:lnSpc>
                <a:spcPct val="100000"/>
              </a:lnSpc>
              <a:spcBef>
                <a:spcPts val="0"/>
              </a:spcBef>
              <a:spcAft>
                <a:spcPts val="0"/>
              </a:spcAft>
            </a:pPr>
            <a:r>
              <a:rPr sz="1324" b="1" i="0" lang="en-US" spc="0">
                <a:solidFill>
                  <a:srgbClr val="181818"/>
                </a:solidFill>
                <a:latin typeface="DejaVu Sans"/>
                <a:ea typeface="DejaVu Sans"/>
              </a:rPr>
              <a:t>P / A</a:t>
            </a:r>
          </a:p>
        </p:txBody>
      </p:sp>
      <p:sp>
        <p:nvSpPr>
          <p:cNvPr id="119" name="rect 118"/>
          <p:cNvSpPr/>
          <p:nvPr/>
        </p:nvSpPr>
        <p:spPr>
          <a:xfrm>
            <a:off x="3496570" y="5877602"/>
            <a:ext cx="109725" cy="160930"/>
          </a:xfrm>
          <a:prstGeom prst="roundRect">
            <a:avLst>
              <a:gd name="adj" fmla="val 6666"/>
            </a:avLst>
          </a:prstGeom>
          <a:solidFill>
            <a:srgbClr val="FFFFFF"/>
          </a:solidFill>
          <a:ln w="13167">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0" name="rect 119"/>
          <p:cNvSpPr/>
          <p:nvPr/>
        </p:nvSpPr>
        <p:spPr>
          <a:xfrm>
            <a:off x="3642870" y="5877602"/>
            <a:ext cx="109725" cy="160930"/>
          </a:xfrm>
          <a:prstGeom prst="roundRect">
            <a:avLst>
              <a:gd name="adj" fmla="val 6666"/>
            </a:avLst>
          </a:prstGeom>
          <a:solidFill>
            <a:srgbClr val="FFFFFF"/>
          </a:solidFill>
          <a:ln w="13167">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1" name="rect 120"/>
          <p:cNvSpPr/>
          <p:nvPr/>
        </p:nvSpPr>
        <p:spPr>
          <a:xfrm>
            <a:off x="3789170" y="5877602"/>
            <a:ext cx="109725" cy="160930"/>
          </a:xfrm>
          <a:prstGeom prst="roundRect">
            <a:avLst>
              <a:gd name="adj" fmla="val 6666"/>
            </a:avLst>
          </a:prstGeom>
          <a:solidFill>
            <a:srgbClr val="FFFFFF"/>
          </a:solidFill>
          <a:ln w="13167">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2" name="Next consumer"/>
          <p:cNvSpPr txBox="1"/>
          <p:nvPr/>
        </p:nvSpPr>
        <p:spPr>
          <a:xfrm>
            <a:off x="1536307" y="5857486"/>
            <a:ext cx="1477316" cy="243224"/>
          </a:xfrm>
          <a:prstGeom prst="rect">
            <a:avLst/>
          </a:prstGeom>
          <a:noFill/>
        </p:spPr>
        <p:txBody>
          <a:bodyPr wrap="none" lIns="0" rIns="0" tIns="0" bIns="0" anchor="t">
            <a:spAutoFit/>
          </a:bodyPr>
          <a:lstStyle/>
          <a:p>
            <a:pPr algn="ctr">
              <a:lnSpc>
                <a:spcPct val="100000"/>
              </a:lnSpc>
              <a:spcBef>
                <a:spcPts val="0"/>
              </a:spcBef>
              <a:spcAft>
                <a:spcPts val="0"/>
              </a:spcAft>
            </a:pPr>
            <a:r>
              <a:rPr sz="1439" b="0" i="0" lang="en-US" spc="0">
                <a:solidFill>
                  <a:srgbClr val="181818"/>
                </a:solidFill>
                <a:latin typeface="DejaVu Sans"/>
                <a:ea typeface="DejaVu Sans"/>
              </a:rPr>
              <a:t>Next consumer</a:t>
            </a:r>
          </a:p>
        </p:txBody>
      </p:sp>
      <p:cxnSp>
        <p:nvCxnSpPr>
          <p:cNvPr id="123" name="path 122"/>
          <p:cNvCxnSpPr/>
          <p:nvPr/>
        </p:nvCxnSpPr>
        <p:spPr>
          <a:xfrm>
            <a:off x="4257330" y="5947095"/>
            <a:ext cx="336490" cy="0"/>
          </a:xfrm>
          <a:prstGeom prst="line">
            <a:avLst/>
          </a:prstGeom>
          <a:ln w="19019">
            <a:solidFill>
              <a:srgbClr val="BF3335"/>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24" name="rect 123"/>
          <p:cNvSpPr/>
          <p:nvPr/>
        </p:nvSpPr>
        <p:spPr>
          <a:xfrm>
            <a:off x="4827900" y="3789170"/>
            <a:ext cx="1477630" cy="643720"/>
          </a:xfrm>
          <a:prstGeom prst="roundRect">
            <a:avLst>
              <a:gd name="adj" fmla="val 3409"/>
            </a:avLst>
          </a:prstGeom>
          <a:solidFill>
            <a:srgbClr val="FFFFFF"/>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5" name="rect 124"/>
          <p:cNvSpPr/>
          <p:nvPr/>
        </p:nvSpPr>
        <p:spPr>
          <a:xfrm>
            <a:off x="4871790" y="3833060"/>
            <a:ext cx="1389850" cy="87780"/>
          </a:xfrm>
          <a:prstGeom prst="rect">
            <a:avLst/>
          </a:prstGeom>
          <a:solidFill>
            <a:srgbClr val="DDDDD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6" name="rect 125"/>
          <p:cNvSpPr/>
          <p:nvPr/>
        </p:nvSpPr>
        <p:spPr>
          <a:xfrm>
            <a:off x="4901050" y="4001305"/>
            <a:ext cx="299915" cy="329175"/>
          </a:xfrm>
          <a:prstGeom prst="roundRect">
            <a:avLst>
              <a:gd name="adj" fmla="val 2439"/>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rect 126"/>
          <p:cNvSpPr/>
          <p:nvPr/>
        </p:nvSpPr>
        <p:spPr>
          <a:xfrm>
            <a:off x="5244855" y="4001305"/>
            <a:ext cx="299915" cy="329175"/>
          </a:xfrm>
          <a:prstGeom prst="roundRect">
            <a:avLst>
              <a:gd name="adj" fmla="val 2439"/>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8" name="rect 127"/>
          <p:cNvSpPr/>
          <p:nvPr/>
        </p:nvSpPr>
        <p:spPr>
          <a:xfrm>
            <a:off x="5588660" y="4001305"/>
            <a:ext cx="299915" cy="329175"/>
          </a:xfrm>
          <a:prstGeom prst="roundRect">
            <a:avLst>
              <a:gd name="adj" fmla="val 2439"/>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9" name="rect 128"/>
          <p:cNvSpPr/>
          <p:nvPr/>
        </p:nvSpPr>
        <p:spPr>
          <a:xfrm>
            <a:off x="5932465" y="4001305"/>
            <a:ext cx="299915" cy="329175"/>
          </a:xfrm>
          <a:prstGeom prst="roundRect">
            <a:avLst>
              <a:gd name="adj" fmla="val 2439"/>
            </a:avLst>
          </a:prstGeom>
          <a:solidFill>
            <a:srgbClr val="F2BD7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rect 129"/>
          <p:cNvSpPr/>
          <p:nvPr/>
        </p:nvSpPr>
        <p:spPr>
          <a:xfrm>
            <a:off x="4922995" y="443289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1" name="rect 130"/>
          <p:cNvSpPr/>
          <p:nvPr/>
        </p:nvSpPr>
        <p:spPr>
          <a:xfrm>
            <a:off x="5047350" y="443289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2" name="rect 131"/>
          <p:cNvSpPr/>
          <p:nvPr/>
        </p:nvSpPr>
        <p:spPr>
          <a:xfrm>
            <a:off x="5171705" y="443289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3" name="rect 132"/>
          <p:cNvSpPr/>
          <p:nvPr/>
        </p:nvSpPr>
        <p:spPr>
          <a:xfrm>
            <a:off x="5296060" y="443289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rect 133"/>
          <p:cNvSpPr/>
          <p:nvPr/>
        </p:nvSpPr>
        <p:spPr>
          <a:xfrm>
            <a:off x="5420415" y="443289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5" name="rect 134"/>
          <p:cNvSpPr/>
          <p:nvPr/>
        </p:nvSpPr>
        <p:spPr>
          <a:xfrm>
            <a:off x="5544770" y="443289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6" name="rect 135"/>
          <p:cNvSpPr/>
          <p:nvPr/>
        </p:nvSpPr>
        <p:spPr>
          <a:xfrm>
            <a:off x="5669125" y="443289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7" name="rect 136"/>
          <p:cNvSpPr/>
          <p:nvPr/>
        </p:nvSpPr>
        <p:spPr>
          <a:xfrm>
            <a:off x="5793480" y="443289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8" name="rect 137"/>
          <p:cNvSpPr/>
          <p:nvPr/>
        </p:nvSpPr>
        <p:spPr>
          <a:xfrm>
            <a:off x="5917835" y="443289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9" name="rect 138"/>
          <p:cNvSpPr/>
          <p:nvPr/>
        </p:nvSpPr>
        <p:spPr>
          <a:xfrm>
            <a:off x="6042190" y="443289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0" name="rect 139"/>
          <p:cNvSpPr/>
          <p:nvPr/>
        </p:nvSpPr>
        <p:spPr>
          <a:xfrm>
            <a:off x="6166545" y="443289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1" name="HBM"/>
          <p:cNvSpPr txBox="1"/>
          <p:nvPr/>
        </p:nvSpPr>
        <p:spPr>
          <a:xfrm>
            <a:off x="5266643" y="3494741"/>
            <a:ext cx="600144" cy="261511"/>
          </a:xfrm>
          <a:prstGeom prst="rect">
            <a:avLst/>
          </a:prstGeom>
          <a:noFill/>
        </p:spPr>
        <p:txBody>
          <a:bodyPr wrap="none" lIns="0" rIns="0" tIns="0" bIns="0" anchor="t">
            <a:spAutoFit/>
          </a:bodyPr>
          <a:lstStyle/>
          <a:p>
            <a:pPr algn="ctr">
              <a:lnSpc>
                <a:spcPct val="100000"/>
              </a:lnSpc>
              <a:spcBef>
                <a:spcPts val="0"/>
              </a:spcBef>
              <a:spcAft>
                <a:spcPts val="0"/>
              </a:spcAft>
            </a:pPr>
            <a:r>
              <a:rPr sz="1555" b="1" i="0" lang="en-US" spc="0">
                <a:solidFill>
                  <a:srgbClr val="181818"/>
                </a:solidFill>
                <a:latin typeface="DejaVu Sans"/>
                <a:ea typeface="DejaVu Sans"/>
              </a:rPr>
              <a:t>HBM</a:t>
            </a:r>
          </a:p>
        </p:txBody>
      </p:sp>
      <p:sp>
        <p:nvSpPr>
          <p:cNvPr id="142" name="rect 141"/>
          <p:cNvSpPr/>
          <p:nvPr/>
        </p:nvSpPr>
        <p:spPr>
          <a:xfrm>
            <a:off x="6898045" y="3789170"/>
            <a:ext cx="1477630" cy="643720"/>
          </a:xfrm>
          <a:prstGeom prst="roundRect">
            <a:avLst>
              <a:gd name="adj" fmla="val 3409"/>
            </a:avLst>
          </a:prstGeom>
          <a:solidFill>
            <a:srgbClr val="FFFFFF"/>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3" name="rect 142"/>
          <p:cNvSpPr/>
          <p:nvPr/>
        </p:nvSpPr>
        <p:spPr>
          <a:xfrm>
            <a:off x="6941935" y="3833060"/>
            <a:ext cx="1389850" cy="87780"/>
          </a:xfrm>
          <a:prstGeom prst="rect">
            <a:avLst/>
          </a:prstGeom>
          <a:solidFill>
            <a:srgbClr val="DDDDD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4" name="rect 143"/>
          <p:cNvSpPr/>
          <p:nvPr/>
        </p:nvSpPr>
        <p:spPr>
          <a:xfrm>
            <a:off x="6971195" y="4001305"/>
            <a:ext cx="299915" cy="329175"/>
          </a:xfrm>
          <a:prstGeom prst="roundRect">
            <a:avLst>
              <a:gd name="adj" fmla="val 2439"/>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5" name="rect 144"/>
          <p:cNvSpPr/>
          <p:nvPr/>
        </p:nvSpPr>
        <p:spPr>
          <a:xfrm>
            <a:off x="7315000" y="4001305"/>
            <a:ext cx="299915" cy="329175"/>
          </a:xfrm>
          <a:prstGeom prst="roundRect">
            <a:avLst>
              <a:gd name="adj" fmla="val 2439"/>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6" name="rect 145"/>
          <p:cNvSpPr/>
          <p:nvPr/>
        </p:nvSpPr>
        <p:spPr>
          <a:xfrm>
            <a:off x="7658805" y="4001305"/>
            <a:ext cx="299915" cy="329175"/>
          </a:xfrm>
          <a:prstGeom prst="roundRect">
            <a:avLst>
              <a:gd name="adj" fmla="val 2439"/>
            </a:avLst>
          </a:prstGeom>
          <a:solidFill>
            <a:srgbClr val="FFFFFF"/>
          </a:solidFill>
          <a:ln w="13167">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7" name="rect 146"/>
          <p:cNvSpPr/>
          <p:nvPr/>
        </p:nvSpPr>
        <p:spPr>
          <a:xfrm>
            <a:off x="8002610" y="4001305"/>
            <a:ext cx="299915" cy="329175"/>
          </a:xfrm>
          <a:prstGeom prst="roundRect">
            <a:avLst>
              <a:gd name="adj" fmla="val 2439"/>
            </a:avLst>
          </a:prstGeom>
          <a:solidFill>
            <a:srgbClr val="FFFFFF"/>
          </a:solidFill>
          <a:ln w="13167">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8" name="rect 147"/>
          <p:cNvSpPr/>
          <p:nvPr/>
        </p:nvSpPr>
        <p:spPr>
          <a:xfrm>
            <a:off x="6993140" y="443289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rect 148"/>
          <p:cNvSpPr/>
          <p:nvPr/>
        </p:nvSpPr>
        <p:spPr>
          <a:xfrm>
            <a:off x="7117495" y="443289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0" name="rect 149"/>
          <p:cNvSpPr/>
          <p:nvPr/>
        </p:nvSpPr>
        <p:spPr>
          <a:xfrm>
            <a:off x="7241850" y="443289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1" name="rect 150"/>
          <p:cNvSpPr/>
          <p:nvPr/>
        </p:nvSpPr>
        <p:spPr>
          <a:xfrm>
            <a:off x="7366205" y="443289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2" name="rect 151"/>
          <p:cNvSpPr/>
          <p:nvPr/>
        </p:nvSpPr>
        <p:spPr>
          <a:xfrm>
            <a:off x="7490560" y="443289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3" name="rect 152"/>
          <p:cNvSpPr/>
          <p:nvPr/>
        </p:nvSpPr>
        <p:spPr>
          <a:xfrm>
            <a:off x="7614915" y="443289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4" name="rect 153"/>
          <p:cNvSpPr/>
          <p:nvPr/>
        </p:nvSpPr>
        <p:spPr>
          <a:xfrm>
            <a:off x="7739270" y="443289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5" name="rect 154"/>
          <p:cNvSpPr/>
          <p:nvPr/>
        </p:nvSpPr>
        <p:spPr>
          <a:xfrm>
            <a:off x="7863625" y="443289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6" name="rect 155"/>
          <p:cNvSpPr/>
          <p:nvPr/>
        </p:nvSpPr>
        <p:spPr>
          <a:xfrm>
            <a:off x="7987980" y="443289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7" name="rect 156"/>
          <p:cNvSpPr/>
          <p:nvPr/>
        </p:nvSpPr>
        <p:spPr>
          <a:xfrm>
            <a:off x="8112335" y="443289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8" name="rect 157"/>
          <p:cNvSpPr/>
          <p:nvPr/>
        </p:nvSpPr>
        <p:spPr>
          <a:xfrm>
            <a:off x="8236690" y="443289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9" name="Host"/>
          <p:cNvSpPr txBox="1"/>
          <p:nvPr/>
        </p:nvSpPr>
        <p:spPr>
          <a:xfrm>
            <a:off x="7336488" y="3494741"/>
            <a:ext cx="600744" cy="261511"/>
          </a:xfrm>
          <a:prstGeom prst="rect">
            <a:avLst/>
          </a:prstGeom>
          <a:noFill/>
        </p:spPr>
        <p:txBody>
          <a:bodyPr wrap="none" lIns="0" rIns="0" tIns="0" bIns="0" anchor="t">
            <a:spAutoFit/>
          </a:bodyPr>
          <a:lstStyle/>
          <a:p>
            <a:pPr algn="ctr">
              <a:lnSpc>
                <a:spcPct val="100000"/>
              </a:lnSpc>
              <a:spcBef>
                <a:spcPts val="0"/>
              </a:spcBef>
              <a:spcAft>
                <a:spcPts val="0"/>
              </a:spcAft>
            </a:pPr>
            <a:r>
              <a:rPr sz="1555" b="1" i="0" lang="en-US" spc="0">
                <a:solidFill>
                  <a:srgbClr val="181818"/>
                </a:solidFill>
                <a:latin typeface="DejaVu Sans"/>
                <a:ea typeface="DejaVu Sans"/>
              </a:rPr>
              <a:t>Host</a:t>
            </a:r>
          </a:p>
        </p:txBody>
      </p:sp>
      <p:cxnSp>
        <p:nvCxnSpPr>
          <p:cNvPr id="160" name="path 159"/>
          <p:cNvCxnSpPr/>
          <p:nvPr/>
        </p:nvCxnSpPr>
        <p:spPr>
          <a:xfrm>
            <a:off x="6334790" y="3913525"/>
            <a:ext cx="526680" cy="0"/>
          </a:xfrm>
          <a:prstGeom prst="line">
            <a:avLst/>
          </a:prstGeom>
          <a:ln w="19019">
            <a:solidFill>
              <a:srgbClr val="BF3335"/>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61" name="D2H"/>
          <p:cNvSpPr txBox="1"/>
          <p:nvPr/>
        </p:nvSpPr>
        <p:spPr>
          <a:xfrm>
            <a:off x="6371365" y="3681274"/>
            <a:ext cx="403554" cy="201162"/>
          </a:xfrm>
          <a:prstGeom prst="rect">
            <a:avLst/>
          </a:prstGeom>
          <a:noFill/>
        </p:spPr>
        <p:txBody>
          <a:bodyPr wrap="none" lIns="0" rIns="0" tIns="0" bIns="0" anchor="t">
            <a:spAutoFit/>
          </a:bodyPr>
          <a:lstStyle/>
          <a:p>
            <a:pPr algn="l">
              <a:lnSpc>
                <a:spcPct val="100000"/>
              </a:lnSpc>
              <a:spcBef>
                <a:spcPts val="0"/>
              </a:spcBef>
              <a:spcAft>
                <a:spcPts val="0"/>
              </a:spcAft>
            </a:pPr>
            <a:r>
              <a:rPr sz="1152" b="0" i="0" lang="en-US" spc="0">
                <a:solidFill>
                  <a:srgbClr val="181818"/>
                </a:solidFill>
                <a:latin typeface="DejaVu Sans"/>
                <a:ea typeface="DejaVu Sans"/>
              </a:rPr>
              <a:t>D2H</a:t>
            </a:r>
          </a:p>
        </p:txBody>
      </p:sp>
      <p:cxnSp>
        <p:nvCxnSpPr>
          <p:cNvPr id="162" name="path 161"/>
          <p:cNvCxnSpPr/>
          <p:nvPr/>
        </p:nvCxnSpPr>
        <p:spPr>
          <a:xfrm flipH="1">
            <a:off x="6342105" y="4315850"/>
            <a:ext cx="526680" cy="0"/>
          </a:xfrm>
          <a:prstGeom prst="line">
            <a:avLst/>
          </a:prstGeom>
          <a:ln w="19019">
            <a:solidFill>
              <a:srgbClr val="BF3335"/>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63" name="H2D"/>
          <p:cNvSpPr txBox="1"/>
          <p:nvPr/>
        </p:nvSpPr>
        <p:spPr>
          <a:xfrm>
            <a:off x="6371365" y="4442034"/>
            <a:ext cx="403554" cy="201162"/>
          </a:xfrm>
          <a:prstGeom prst="rect">
            <a:avLst/>
          </a:prstGeom>
          <a:noFill/>
        </p:spPr>
        <p:txBody>
          <a:bodyPr wrap="none" lIns="0" rIns="0" tIns="0" bIns="0" anchor="t">
            <a:spAutoFit/>
          </a:bodyPr>
          <a:lstStyle/>
          <a:p>
            <a:pPr algn="l">
              <a:lnSpc>
                <a:spcPct val="100000"/>
              </a:lnSpc>
              <a:spcBef>
                <a:spcPts val="0"/>
              </a:spcBef>
              <a:spcAft>
                <a:spcPts val="0"/>
              </a:spcAft>
            </a:pPr>
            <a:r>
              <a:rPr sz="1152" b="0" i="0" lang="en-US" spc="0">
                <a:solidFill>
                  <a:srgbClr val="181818"/>
                </a:solidFill>
                <a:latin typeface="DejaVu Sans"/>
                <a:ea typeface="DejaVu Sans"/>
              </a:rPr>
              <a:t>H2D</a:t>
            </a:r>
          </a:p>
        </p:txBody>
      </p:sp>
      <p:sp>
        <p:nvSpPr>
          <p:cNvPr id="164" name="rect 163"/>
          <p:cNvSpPr/>
          <p:nvPr/>
        </p:nvSpPr>
        <p:spPr>
          <a:xfrm>
            <a:off x="4886420" y="4893735"/>
            <a:ext cx="168245" cy="138985"/>
          </a:xfrm>
          <a:prstGeom prst="roundRect">
            <a:avLst>
              <a:gd name="adj" fmla="val 5263"/>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5" name="rect 164"/>
          <p:cNvSpPr/>
          <p:nvPr/>
        </p:nvSpPr>
        <p:spPr>
          <a:xfrm>
            <a:off x="5091240" y="4893735"/>
            <a:ext cx="168245" cy="138985"/>
          </a:xfrm>
          <a:prstGeom prst="roundRect">
            <a:avLst>
              <a:gd name="adj" fmla="val 5263"/>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6" name="rect 165"/>
          <p:cNvSpPr/>
          <p:nvPr/>
        </p:nvSpPr>
        <p:spPr>
          <a:xfrm>
            <a:off x="5296060" y="4893735"/>
            <a:ext cx="168245" cy="138985"/>
          </a:xfrm>
          <a:prstGeom prst="roundRect">
            <a:avLst>
              <a:gd name="adj" fmla="val 5263"/>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7" name="HBM"/>
          <p:cNvSpPr txBox="1"/>
          <p:nvPr/>
        </p:nvSpPr>
        <p:spPr>
          <a:xfrm>
            <a:off x="4958413" y="5233882"/>
            <a:ext cx="441215" cy="208478"/>
          </a:xfrm>
          <a:prstGeom prst="rect">
            <a:avLst/>
          </a:prstGeom>
          <a:noFill/>
        </p:spPr>
        <p:txBody>
          <a:bodyPr wrap="none" lIns="0" rIns="0" tIns="0" bIns="0" anchor="t">
            <a:spAutoFit/>
          </a:bodyPr>
          <a:lstStyle/>
          <a:p>
            <a:pPr algn="ctr">
              <a:lnSpc>
                <a:spcPct val="100000"/>
              </a:lnSpc>
              <a:spcBef>
                <a:spcPts val="0"/>
              </a:spcBef>
              <a:spcAft>
                <a:spcPts val="0"/>
              </a:spcAft>
            </a:pPr>
            <a:r>
              <a:rPr sz="1209" b="0" i="0" lang="en-US" spc="0">
                <a:solidFill>
                  <a:srgbClr val="181818"/>
                </a:solidFill>
                <a:latin typeface="DejaVu Sans"/>
                <a:ea typeface="DejaVu Sans"/>
              </a:rPr>
              <a:t>HBM</a:t>
            </a:r>
          </a:p>
        </p:txBody>
      </p:sp>
      <p:sp>
        <p:nvSpPr>
          <p:cNvPr id="168" name="rect 167"/>
          <p:cNvSpPr/>
          <p:nvPr/>
        </p:nvSpPr>
        <p:spPr>
          <a:xfrm>
            <a:off x="6188490" y="4893735"/>
            <a:ext cx="168245" cy="138985"/>
          </a:xfrm>
          <a:prstGeom prst="roundRect">
            <a:avLst>
              <a:gd name="adj" fmla="val 5263"/>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9" name="rect 168"/>
          <p:cNvSpPr/>
          <p:nvPr/>
        </p:nvSpPr>
        <p:spPr>
          <a:xfrm>
            <a:off x="6393310" y="4893735"/>
            <a:ext cx="168245" cy="138985"/>
          </a:xfrm>
          <a:prstGeom prst="roundRect">
            <a:avLst>
              <a:gd name="adj" fmla="val 5263"/>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0" name="rect 169"/>
          <p:cNvSpPr/>
          <p:nvPr/>
        </p:nvSpPr>
        <p:spPr>
          <a:xfrm>
            <a:off x="6598130" y="4893735"/>
            <a:ext cx="168245" cy="138985"/>
          </a:xfrm>
          <a:prstGeom prst="roundRect">
            <a:avLst>
              <a:gd name="adj" fmla="val 5263"/>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1" name="rect 170"/>
          <p:cNvSpPr/>
          <p:nvPr/>
        </p:nvSpPr>
        <p:spPr>
          <a:xfrm>
            <a:off x="6188490" y="5069295"/>
            <a:ext cx="168245" cy="138985"/>
          </a:xfrm>
          <a:prstGeom prst="roundRect">
            <a:avLst>
              <a:gd name="adj" fmla="val 5263"/>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2" name="rect 171"/>
          <p:cNvSpPr/>
          <p:nvPr/>
        </p:nvSpPr>
        <p:spPr>
          <a:xfrm>
            <a:off x="6393310" y="5069295"/>
            <a:ext cx="168245" cy="138985"/>
          </a:xfrm>
          <a:prstGeom prst="roundRect">
            <a:avLst>
              <a:gd name="adj" fmla="val 5263"/>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3" name="rect 172"/>
          <p:cNvSpPr/>
          <p:nvPr/>
        </p:nvSpPr>
        <p:spPr>
          <a:xfrm>
            <a:off x="6598130" y="5069295"/>
            <a:ext cx="168245" cy="138985"/>
          </a:xfrm>
          <a:prstGeom prst="roundRect">
            <a:avLst>
              <a:gd name="adj" fmla="val 5263"/>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4" name="H+Host"/>
          <p:cNvSpPr txBox="1"/>
          <p:nvPr/>
        </p:nvSpPr>
        <p:spPr>
          <a:xfrm>
            <a:off x="6140185" y="5233882"/>
            <a:ext cx="681809" cy="208478"/>
          </a:xfrm>
          <a:prstGeom prst="rect">
            <a:avLst/>
          </a:prstGeom>
          <a:noFill/>
        </p:spPr>
        <p:txBody>
          <a:bodyPr wrap="none" lIns="0" rIns="0" tIns="0" bIns="0" anchor="t">
            <a:spAutoFit/>
          </a:bodyPr>
          <a:lstStyle/>
          <a:p>
            <a:pPr algn="ctr">
              <a:lnSpc>
                <a:spcPct val="100000"/>
              </a:lnSpc>
              <a:spcBef>
                <a:spcPts val="0"/>
              </a:spcBef>
              <a:spcAft>
                <a:spcPts val="0"/>
              </a:spcAft>
            </a:pPr>
            <a:r>
              <a:rPr sz="1209" b="0" i="0" lang="en-US" spc="0">
                <a:solidFill>
                  <a:srgbClr val="181818"/>
                </a:solidFill>
                <a:latin typeface="DejaVu Sans"/>
                <a:ea typeface="DejaVu Sans"/>
              </a:rPr>
              <a:t>H+Host</a:t>
            </a:r>
          </a:p>
        </p:txBody>
      </p:sp>
      <p:sp>
        <p:nvSpPr>
          <p:cNvPr id="175" name="rect 174"/>
          <p:cNvSpPr/>
          <p:nvPr/>
        </p:nvSpPr>
        <p:spPr>
          <a:xfrm>
            <a:off x="7483245" y="4893735"/>
            <a:ext cx="168245" cy="138985"/>
          </a:xfrm>
          <a:prstGeom prst="roundRect">
            <a:avLst>
              <a:gd name="adj" fmla="val 5263"/>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6" name="rect 175"/>
          <p:cNvSpPr/>
          <p:nvPr/>
        </p:nvSpPr>
        <p:spPr>
          <a:xfrm>
            <a:off x="7688065" y="4893735"/>
            <a:ext cx="168245" cy="138985"/>
          </a:xfrm>
          <a:prstGeom prst="roundRect">
            <a:avLst>
              <a:gd name="adj" fmla="val 5263"/>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7" name="rect 176"/>
          <p:cNvSpPr/>
          <p:nvPr/>
        </p:nvSpPr>
        <p:spPr>
          <a:xfrm>
            <a:off x="7892885" y="4893735"/>
            <a:ext cx="168245" cy="138985"/>
          </a:xfrm>
          <a:prstGeom prst="roundRect">
            <a:avLst>
              <a:gd name="adj" fmla="val 5263"/>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8" name="Host-only"/>
          <p:cNvSpPr txBox="1"/>
          <p:nvPr/>
        </p:nvSpPr>
        <p:spPr>
          <a:xfrm>
            <a:off x="7365448" y="5233882"/>
            <a:ext cx="820794" cy="208478"/>
          </a:xfrm>
          <a:prstGeom prst="rect">
            <a:avLst/>
          </a:prstGeom>
          <a:noFill/>
        </p:spPr>
        <p:txBody>
          <a:bodyPr wrap="none" lIns="0" rIns="0" tIns="0" bIns="0" anchor="t">
            <a:spAutoFit/>
          </a:bodyPr>
          <a:lstStyle/>
          <a:p>
            <a:pPr algn="ctr">
              <a:lnSpc>
                <a:spcPct val="100000"/>
              </a:lnSpc>
              <a:spcBef>
                <a:spcPts val="0"/>
              </a:spcBef>
              <a:spcAft>
                <a:spcPts val="0"/>
              </a:spcAft>
            </a:pPr>
            <a:r>
              <a:rPr sz="1209" b="0" i="0" lang="en-US" spc="0">
                <a:solidFill>
                  <a:srgbClr val="181818"/>
                </a:solidFill>
                <a:latin typeface="DejaVu Sans"/>
                <a:ea typeface="DejaVu Sans"/>
              </a:rPr>
              <a:t>Host-only</a:t>
            </a:r>
          </a:p>
        </p:txBody>
      </p:sp>
      <p:cxnSp>
        <p:nvCxnSpPr>
          <p:cNvPr id="179" name="path 178"/>
          <p:cNvCxnSpPr/>
          <p:nvPr/>
        </p:nvCxnSpPr>
        <p:spPr>
          <a:xfrm>
            <a:off x="5515510" y="4974200"/>
            <a:ext cx="621775" cy="0"/>
          </a:xfrm>
          <a:prstGeom prst="line">
            <a:avLst/>
          </a:prstGeom>
          <a:ln w="19019">
            <a:solidFill>
              <a:srgbClr val="BF3335"/>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180" name="path 179"/>
          <p:cNvCxnSpPr/>
          <p:nvPr/>
        </p:nvCxnSpPr>
        <p:spPr>
          <a:xfrm>
            <a:off x="6817580" y="4974200"/>
            <a:ext cx="621775" cy="0"/>
          </a:xfrm>
          <a:prstGeom prst="line">
            <a:avLst/>
          </a:prstGeom>
          <a:ln w="19019">
            <a:solidFill>
              <a:srgbClr val="BF3335"/>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81" name="prepare"/>
          <p:cNvSpPr txBox="1"/>
          <p:nvPr/>
        </p:nvSpPr>
        <p:spPr>
          <a:xfrm>
            <a:off x="5559400" y="4690744"/>
            <a:ext cx="657093" cy="201162"/>
          </a:xfrm>
          <a:prstGeom prst="rect">
            <a:avLst/>
          </a:prstGeom>
          <a:noFill/>
        </p:spPr>
        <p:txBody>
          <a:bodyPr wrap="none" lIns="0" rIns="0" tIns="0" bIns="0" anchor="t">
            <a:spAutoFit/>
          </a:bodyPr>
          <a:lstStyle/>
          <a:p>
            <a:pPr algn="l">
              <a:lnSpc>
                <a:spcPct val="100000"/>
              </a:lnSpc>
              <a:spcBef>
                <a:spcPts val="0"/>
              </a:spcBef>
              <a:spcAft>
                <a:spcPts val="0"/>
              </a:spcAft>
            </a:pPr>
            <a:r>
              <a:rPr sz="1152" b="0" i="0" lang="en-US" spc="0">
                <a:solidFill>
                  <a:srgbClr val="181818"/>
                </a:solidFill>
                <a:latin typeface="DejaVu Sans"/>
                <a:ea typeface="DejaVu Sans"/>
              </a:rPr>
              <a:t>prepare</a:t>
            </a:r>
          </a:p>
        </p:txBody>
      </p:sp>
      <p:sp>
        <p:nvSpPr>
          <p:cNvPr id="182" name="pressure"/>
          <p:cNvSpPr txBox="1"/>
          <p:nvPr/>
        </p:nvSpPr>
        <p:spPr>
          <a:xfrm>
            <a:off x="6876100" y="4690744"/>
            <a:ext cx="719756" cy="201162"/>
          </a:xfrm>
          <a:prstGeom prst="rect">
            <a:avLst/>
          </a:prstGeom>
          <a:noFill/>
        </p:spPr>
        <p:txBody>
          <a:bodyPr wrap="none" lIns="0" rIns="0" tIns="0" bIns="0" anchor="t">
            <a:spAutoFit/>
          </a:bodyPr>
          <a:lstStyle/>
          <a:p>
            <a:pPr algn="l">
              <a:lnSpc>
                <a:spcPct val="100000"/>
              </a:lnSpc>
              <a:spcBef>
                <a:spcPts val="0"/>
              </a:spcBef>
              <a:spcAft>
                <a:spcPts val="0"/>
              </a:spcAft>
            </a:pPr>
            <a:r>
              <a:rPr sz="1152" b="0" i="0" lang="en-US" spc="0">
                <a:solidFill>
                  <a:srgbClr val="181818"/>
                </a:solidFill>
                <a:latin typeface="DejaVu Sans"/>
                <a:ea typeface="DejaVu Sans"/>
              </a:rPr>
              <a:t>pressure</a:t>
            </a:r>
          </a:p>
        </p:txBody>
      </p:sp>
      <p:sp>
        <p:nvSpPr>
          <p:cNvPr id="183" name="rect 182"/>
          <p:cNvSpPr/>
          <p:nvPr/>
        </p:nvSpPr>
        <p:spPr>
          <a:xfrm>
            <a:off x="4966885" y="5764220"/>
            <a:ext cx="285285" cy="299915"/>
          </a:xfrm>
          <a:prstGeom prst="roundRect">
            <a:avLst>
              <a:gd name="adj" fmla="val 2564"/>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4" name="rect 183"/>
          <p:cNvSpPr/>
          <p:nvPr/>
        </p:nvSpPr>
        <p:spPr>
          <a:xfrm>
            <a:off x="5296060" y="5764220"/>
            <a:ext cx="285285" cy="299915"/>
          </a:xfrm>
          <a:prstGeom prst="roundRect">
            <a:avLst>
              <a:gd name="adj" fmla="val 2564"/>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5" name="ΔFULL"/>
          <p:cNvSpPr txBox="1"/>
          <p:nvPr/>
        </p:nvSpPr>
        <p:spPr>
          <a:xfrm>
            <a:off x="5793480" y="5819082"/>
            <a:ext cx="662550" cy="234080"/>
          </a:xfrm>
          <a:prstGeom prst="rect">
            <a:avLst/>
          </a:prstGeom>
          <a:noFill/>
        </p:spPr>
        <p:txBody>
          <a:bodyPr wrap="none" lIns="0" rIns="0" tIns="0" bIns="0" anchor="t">
            <a:spAutoFit/>
          </a:bodyPr>
          <a:lstStyle/>
          <a:p>
            <a:pPr algn="l">
              <a:lnSpc>
                <a:spcPct val="100000"/>
              </a:lnSpc>
              <a:spcBef>
                <a:spcPts val="0"/>
              </a:spcBef>
              <a:spcAft>
                <a:spcPts val="0"/>
              </a:spcAft>
            </a:pPr>
            <a:r>
              <a:rPr sz="1439" b="0" i="0" lang="en-US" spc="0">
                <a:solidFill>
                  <a:srgbClr val="181818"/>
                </a:solidFill>
                <a:latin typeface="Liberation Serif"/>
                <a:ea typeface="Liberation Serif"/>
              </a:rPr>
              <a:t>ΔFULL</a:t>
            </a:r>
          </a:p>
        </p:txBody>
      </p:sp>
      <p:sp>
        <p:nvSpPr>
          <p:cNvPr id="186" name="+"/>
          <p:cNvSpPr txBox="1"/>
          <p:nvPr/>
        </p:nvSpPr>
        <p:spPr>
          <a:xfrm>
            <a:off x="6668308" y="5751419"/>
            <a:ext cx="283913" cy="303572"/>
          </a:xfrm>
          <a:prstGeom prst="rect">
            <a:avLst/>
          </a:prstGeom>
          <a:noFill/>
        </p:spPr>
        <p:txBody>
          <a:bodyPr wrap="none" lIns="0" rIns="0" tIns="0" bIns="0" anchor="t">
            <a:spAutoFit/>
          </a:bodyPr>
          <a:lstStyle/>
          <a:p>
            <a:pPr algn="ctr">
              <a:lnSpc>
                <a:spcPct val="100000"/>
              </a:lnSpc>
              <a:spcBef>
                <a:spcPts val="0"/>
              </a:spcBef>
              <a:spcAft>
                <a:spcPts val="0"/>
              </a:spcAft>
            </a:pPr>
            <a:r>
              <a:rPr sz="1843" b="0" i="0" lang="en-US" spc="0">
                <a:solidFill>
                  <a:srgbClr val="181818"/>
                </a:solidFill>
                <a:latin typeface="DejaVu Sans"/>
                <a:ea typeface="DejaVu Sans"/>
              </a:rPr>
              <a:t>+</a:t>
            </a:r>
          </a:p>
        </p:txBody>
      </p:sp>
      <p:sp>
        <p:nvSpPr>
          <p:cNvPr id="187" name="rect 186"/>
          <p:cNvSpPr/>
          <p:nvPr/>
        </p:nvSpPr>
        <p:spPr>
          <a:xfrm>
            <a:off x="7268769" y="5643961"/>
            <a:ext cx="358289" cy="267583"/>
          </a:xfrm>
          <a:prstGeom prst="roundRect">
            <a:avLst>
              <a:gd name="adj" fmla="val 2733"/>
            </a:avLst>
          </a:prstGeom>
          <a:solidFill>
            <a:srgbClr val="E9A6B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8" name="rect 187"/>
          <p:cNvSpPr/>
          <p:nvPr/>
        </p:nvSpPr>
        <p:spPr>
          <a:xfrm>
            <a:off x="7237022" y="5671173"/>
            <a:ext cx="358289" cy="267583"/>
          </a:xfrm>
          <a:prstGeom prst="roundRect">
            <a:avLst>
              <a:gd name="adj" fmla="val 2733"/>
            </a:avLst>
          </a:prstGeom>
          <a:solidFill>
            <a:srgbClr val="E9A6B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9" name="rect 188"/>
          <p:cNvSpPr/>
          <p:nvPr/>
        </p:nvSpPr>
        <p:spPr>
          <a:xfrm>
            <a:off x="7205275" y="5698385"/>
            <a:ext cx="358289" cy="267583"/>
          </a:xfrm>
          <a:prstGeom prst="roundRect">
            <a:avLst>
              <a:gd name="adj" fmla="val 2733"/>
            </a:avLst>
          </a:prstGeom>
          <a:solidFill>
            <a:srgbClr val="E9A6B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0" name="rect 189"/>
          <p:cNvSpPr/>
          <p:nvPr/>
        </p:nvSpPr>
        <p:spPr>
          <a:xfrm>
            <a:off x="7250628" y="5743738"/>
            <a:ext cx="68030" cy="63494"/>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1" name="rect 190"/>
          <p:cNvSpPr/>
          <p:nvPr/>
        </p:nvSpPr>
        <p:spPr>
          <a:xfrm>
            <a:off x="7350405" y="5743738"/>
            <a:ext cx="68030" cy="63494"/>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2" name="rect 191"/>
          <p:cNvSpPr/>
          <p:nvPr/>
        </p:nvSpPr>
        <p:spPr>
          <a:xfrm>
            <a:off x="7450181" y="5743738"/>
            <a:ext cx="68030" cy="63494"/>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3" name="rect 192"/>
          <p:cNvSpPr/>
          <p:nvPr/>
        </p:nvSpPr>
        <p:spPr>
          <a:xfrm>
            <a:off x="7250628" y="5843515"/>
            <a:ext cx="68030" cy="63494"/>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4" name="rect 193"/>
          <p:cNvSpPr/>
          <p:nvPr/>
        </p:nvSpPr>
        <p:spPr>
          <a:xfrm>
            <a:off x="7350405" y="5843515"/>
            <a:ext cx="68030" cy="63494"/>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5" name="rect 194"/>
          <p:cNvSpPr/>
          <p:nvPr/>
        </p:nvSpPr>
        <p:spPr>
          <a:xfrm>
            <a:off x="7450181" y="5843515"/>
            <a:ext cx="68030" cy="63494"/>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6" name="s"/>
          <p:cNvSpPr txBox="1"/>
          <p:nvPr/>
        </p:nvSpPr>
        <p:spPr>
          <a:xfrm>
            <a:off x="8046500" y="5773364"/>
            <a:ext cx="173188" cy="272484"/>
          </a:xfrm>
          <a:prstGeom prst="rect">
            <a:avLst/>
          </a:prstGeom>
          <a:noFill/>
        </p:spPr>
        <p:txBody>
          <a:bodyPr wrap="none" lIns="0" rIns="0" tIns="0" bIns="0" anchor="t">
            <a:spAutoFit/>
          </a:bodyPr>
          <a:lstStyle/>
          <a:p>
            <a:pPr algn="l">
              <a:lnSpc>
                <a:spcPct val="100000"/>
              </a:lnSpc>
              <a:spcBef>
                <a:spcPts val="0"/>
              </a:spcBef>
              <a:spcAft>
                <a:spcPts val="0"/>
              </a:spcAft>
            </a:pPr>
            <a:r>
              <a:rPr sz="1727" b="0" i="1" lang="en-US" spc="0">
                <a:solidFill>
                  <a:srgbClr val="181818"/>
                </a:solidFill>
                <a:latin typeface="Liberation Serif"/>
                <a:ea typeface="Liberation Serif"/>
              </a:rPr>
              <a:t>s</a:t>
            </a:r>
          </a:p>
        </p:txBody>
      </p:sp>
      <p:sp>
        <p:nvSpPr>
          <p:cNvPr id="197" name="*"/>
          <p:cNvSpPr txBox="1"/>
          <p:nvPr/>
        </p:nvSpPr>
        <p:spPr>
          <a:xfrm>
            <a:off x="8139223" y="5726914"/>
            <a:ext cx="159101" cy="188361"/>
          </a:xfrm>
          <a:prstGeom prst="rect">
            <a:avLst/>
          </a:prstGeom>
          <a:noFill/>
        </p:spPr>
        <p:txBody>
          <a:bodyPr wrap="none" lIns="0" rIns="0" tIns="0" bIns="0" anchor="t">
            <a:spAutoFit/>
          </a:bodyPr>
          <a:lstStyle/>
          <a:p>
            <a:pPr algn="l">
              <a:lnSpc>
                <a:spcPct val="100000"/>
              </a:lnSpc>
              <a:spcBef>
                <a:spcPts val="0"/>
              </a:spcBef>
              <a:spcAft>
                <a:spcPts val="0"/>
              </a:spcAft>
            </a:pPr>
            <a:r>
              <a:rPr sz="1123" b="0" i="0" lang="en-US" spc="0">
                <a:solidFill>
                  <a:srgbClr val="181818"/>
                </a:solidFill>
                <a:latin typeface="Liberation Serif"/>
                <a:ea typeface="Liberation Serif"/>
              </a:rPr>
              <a:t>*</a:t>
            </a:r>
          </a:p>
        </p:txBody>
      </p:sp>
      <p:cxnSp>
        <p:nvCxnSpPr>
          <p:cNvPr id="198" name="path 197"/>
          <p:cNvCxnSpPr/>
          <p:nvPr/>
        </p:nvCxnSpPr>
        <p:spPr>
          <a:xfrm>
            <a:off x="8565865" y="5947095"/>
            <a:ext cx="343805" cy="0"/>
          </a:xfrm>
          <a:prstGeom prst="line">
            <a:avLst/>
          </a:prstGeom>
          <a:ln w="19019">
            <a:solidFill>
              <a:srgbClr val="BF3335"/>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99" name="Native waiting queue"/>
          <p:cNvSpPr txBox="1"/>
          <p:nvPr/>
        </p:nvSpPr>
        <p:spPr>
          <a:xfrm>
            <a:off x="9143750" y="3406961"/>
            <a:ext cx="2290509" cy="243224"/>
          </a:xfrm>
          <a:prstGeom prst="rect">
            <a:avLst/>
          </a:prstGeom>
          <a:noFill/>
        </p:spPr>
        <p:txBody>
          <a:bodyPr wrap="none" lIns="0" rIns="0" tIns="0" bIns="0" anchor="t">
            <a:spAutoFit/>
          </a:bodyPr>
          <a:lstStyle/>
          <a:p>
            <a:pPr algn="l">
              <a:lnSpc>
                <a:spcPct val="100000"/>
              </a:lnSpc>
              <a:spcBef>
                <a:spcPts val="0"/>
              </a:spcBef>
              <a:spcAft>
                <a:spcPts val="0"/>
              </a:spcAft>
            </a:pPr>
            <a:r>
              <a:rPr sz="1439" b="1" i="0" lang="en-US" spc="0">
                <a:solidFill>
                  <a:srgbClr val="181818"/>
                </a:solidFill>
                <a:latin typeface="DejaVu Sans"/>
                <a:ea typeface="DejaVu Sans"/>
              </a:rPr>
              <a:t>Native waiting queue</a:t>
            </a:r>
          </a:p>
        </p:txBody>
      </p:sp>
      <p:sp>
        <p:nvSpPr>
          <p:cNvPr id="200" name="rect 199"/>
          <p:cNvSpPr/>
          <p:nvPr/>
        </p:nvSpPr>
        <p:spPr>
          <a:xfrm>
            <a:off x="9143750" y="3767225"/>
            <a:ext cx="1521520" cy="380380"/>
          </a:xfrm>
          <a:prstGeom prst="roundRect">
            <a:avLst>
              <a:gd name="adj" fmla="val 3846"/>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1" name="rect 200"/>
          <p:cNvSpPr/>
          <p:nvPr/>
        </p:nvSpPr>
        <p:spPr>
          <a:xfrm>
            <a:off x="9151065" y="3774540"/>
            <a:ext cx="73150" cy="365750"/>
          </a:xfrm>
          <a:prstGeom prst="rect">
            <a:avLst/>
          </a:prstGeom>
          <a:solidFill>
            <a:srgbClr val="DDDDD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2" name="old"/>
          <p:cNvSpPr txBox="1"/>
          <p:nvPr/>
        </p:nvSpPr>
        <p:spPr>
          <a:xfrm>
            <a:off x="9304137" y="3857346"/>
            <a:ext cx="381466" cy="226765"/>
          </a:xfrm>
          <a:prstGeom prst="rect">
            <a:avLst/>
          </a:prstGeom>
          <a:noFill/>
        </p:spPr>
        <p:txBody>
          <a:bodyPr wrap="none" lIns="0" rIns="0" tIns="0" bIns="0" anchor="t">
            <a:spAutoFit/>
          </a:bodyPr>
          <a:lstStyle/>
          <a:p>
            <a:pPr algn="ctr">
              <a:lnSpc>
                <a:spcPct val="100000"/>
              </a:lnSpc>
              <a:spcBef>
                <a:spcPts val="0"/>
              </a:spcBef>
              <a:spcAft>
                <a:spcPts val="0"/>
              </a:spcAft>
            </a:pPr>
            <a:r>
              <a:rPr sz="1324" b="1" i="0" lang="en-US" spc="0">
                <a:solidFill>
                  <a:srgbClr val="181818"/>
                </a:solidFill>
                <a:latin typeface="DejaVu Sans"/>
                <a:ea typeface="DejaVu Sans"/>
              </a:rPr>
              <a:t>old</a:t>
            </a:r>
          </a:p>
        </p:txBody>
      </p:sp>
      <p:sp>
        <p:nvSpPr>
          <p:cNvPr id="203" name="rect 202"/>
          <p:cNvSpPr/>
          <p:nvPr/>
        </p:nvSpPr>
        <p:spPr>
          <a:xfrm>
            <a:off x="10116645" y="3876950"/>
            <a:ext cx="109725" cy="160930"/>
          </a:xfrm>
          <a:prstGeom prst="roundRect">
            <a:avLst>
              <a:gd name="adj" fmla="val 6666"/>
            </a:avLst>
          </a:prstGeom>
          <a:solidFill>
            <a:srgbClr val="FFFFFF"/>
          </a:solidFill>
          <a:ln w="13167">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4" name="rect 203"/>
          <p:cNvSpPr/>
          <p:nvPr/>
        </p:nvSpPr>
        <p:spPr>
          <a:xfrm>
            <a:off x="10262945" y="3876950"/>
            <a:ext cx="109725" cy="160930"/>
          </a:xfrm>
          <a:prstGeom prst="roundRect">
            <a:avLst>
              <a:gd name="adj" fmla="val 6666"/>
            </a:avLst>
          </a:prstGeom>
          <a:solidFill>
            <a:srgbClr val="FFFFFF"/>
          </a:solidFill>
          <a:ln w="13167">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5" name="rect 204"/>
          <p:cNvSpPr/>
          <p:nvPr/>
        </p:nvSpPr>
        <p:spPr>
          <a:xfrm>
            <a:off x="10409245" y="3876950"/>
            <a:ext cx="109725" cy="160930"/>
          </a:xfrm>
          <a:prstGeom prst="roundRect">
            <a:avLst>
              <a:gd name="adj" fmla="val 6666"/>
            </a:avLst>
          </a:prstGeom>
          <a:solidFill>
            <a:srgbClr val="FFFFFF"/>
          </a:solidFill>
          <a:ln w="13167">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6" name="rect 205"/>
          <p:cNvSpPr/>
          <p:nvPr/>
        </p:nvSpPr>
        <p:spPr>
          <a:xfrm>
            <a:off x="9143750" y="4462150"/>
            <a:ext cx="1521520" cy="380380"/>
          </a:xfrm>
          <a:prstGeom prst="roundRect">
            <a:avLst>
              <a:gd name="adj" fmla="val 3846"/>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7" name="rect 206"/>
          <p:cNvSpPr/>
          <p:nvPr/>
        </p:nvSpPr>
        <p:spPr>
          <a:xfrm>
            <a:off x="9151065" y="4469465"/>
            <a:ext cx="73150" cy="365750"/>
          </a:xfrm>
          <a:prstGeom prst="rect">
            <a:avLst/>
          </a:prstGeom>
          <a:solidFill>
            <a:srgbClr val="B5D68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8" name="hit"/>
          <p:cNvSpPr txBox="1"/>
          <p:nvPr/>
        </p:nvSpPr>
        <p:spPr>
          <a:xfrm>
            <a:off x="9322039" y="4552271"/>
            <a:ext cx="345662" cy="226765"/>
          </a:xfrm>
          <a:prstGeom prst="rect">
            <a:avLst/>
          </a:prstGeom>
          <a:noFill/>
        </p:spPr>
        <p:txBody>
          <a:bodyPr wrap="none" lIns="0" rIns="0" tIns="0" bIns="0" anchor="t">
            <a:spAutoFit/>
          </a:bodyPr>
          <a:lstStyle/>
          <a:p>
            <a:pPr algn="ctr">
              <a:lnSpc>
                <a:spcPct val="100000"/>
              </a:lnSpc>
              <a:spcBef>
                <a:spcPts val="0"/>
              </a:spcBef>
              <a:spcAft>
                <a:spcPts val="0"/>
              </a:spcAft>
            </a:pPr>
            <a:r>
              <a:rPr sz="1324" b="1" i="0" lang="en-US" spc="0">
                <a:solidFill>
                  <a:srgbClr val="181818"/>
                </a:solidFill>
                <a:latin typeface="DejaVu Sans"/>
                <a:ea typeface="DejaVu Sans"/>
              </a:rPr>
              <a:t>hit</a:t>
            </a:r>
          </a:p>
        </p:txBody>
      </p:sp>
      <p:sp>
        <p:nvSpPr>
          <p:cNvPr id="209" name="rect 208"/>
          <p:cNvSpPr/>
          <p:nvPr/>
        </p:nvSpPr>
        <p:spPr>
          <a:xfrm>
            <a:off x="10116645" y="4571875"/>
            <a:ext cx="109725" cy="160930"/>
          </a:xfrm>
          <a:prstGeom prst="roundRect">
            <a:avLst>
              <a:gd name="adj" fmla="val 6666"/>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0" name="rect 209"/>
          <p:cNvSpPr/>
          <p:nvPr/>
        </p:nvSpPr>
        <p:spPr>
          <a:xfrm>
            <a:off x="10262945" y="4571875"/>
            <a:ext cx="109725" cy="160930"/>
          </a:xfrm>
          <a:prstGeom prst="roundRect">
            <a:avLst>
              <a:gd name="adj" fmla="val 6666"/>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1" name="rect 210"/>
          <p:cNvSpPr/>
          <p:nvPr/>
        </p:nvSpPr>
        <p:spPr>
          <a:xfrm>
            <a:off x="10409245" y="4571875"/>
            <a:ext cx="109725" cy="160930"/>
          </a:xfrm>
          <a:prstGeom prst="roundRect">
            <a:avLst>
              <a:gd name="adj" fmla="val 6666"/>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2" name="rect 211"/>
          <p:cNvSpPr/>
          <p:nvPr/>
        </p:nvSpPr>
        <p:spPr>
          <a:xfrm>
            <a:off x="9143750" y="5157075"/>
            <a:ext cx="1521520" cy="380380"/>
          </a:xfrm>
          <a:prstGeom prst="roundRect">
            <a:avLst>
              <a:gd name="adj" fmla="val 3846"/>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3" name="rect 212"/>
          <p:cNvSpPr/>
          <p:nvPr/>
        </p:nvSpPr>
        <p:spPr>
          <a:xfrm>
            <a:off x="9151065" y="5164390"/>
            <a:ext cx="73150" cy="365750"/>
          </a:xfrm>
          <a:prstGeom prst="rect">
            <a:avLst/>
          </a:prstGeom>
          <a:solidFill>
            <a:srgbClr val="E9A6B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4" name="P"/>
          <p:cNvSpPr txBox="1"/>
          <p:nvPr/>
        </p:nvSpPr>
        <p:spPr>
          <a:xfrm>
            <a:off x="9389331" y="5247196"/>
            <a:ext cx="211078" cy="226765"/>
          </a:xfrm>
          <a:prstGeom prst="rect">
            <a:avLst/>
          </a:prstGeom>
          <a:noFill/>
        </p:spPr>
        <p:txBody>
          <a:bodyPr wrap="none" lIns="0" rIns="0" tIns="0" bIns="0" anchor="t">
            <a:spAutoFit/>
          </a:bodyPr>
          <a:lstStyle/>
          <a:p>
            <a:pPr algn="ctr">
              <a:lnSpc>
                <a:spcPct val="100000"/>
              </a:lnSpc>
              <a:spcBef>
                <a:spcPts val="0"/>
              </a:spcBef>
              <a:spcAft>
                <a:spcPts val="0"/>
              </a:spcAft>
            </a:pPr>
            <a:r>
              <a:rPr sz="1324" b="1" i="0" lang="en-US" spc="0">
                <a:solidFill>
                  <a:srgbClr val="181818"/>
                </a:solidFill>
                <a:latin typeface="DejaVu Sans"/>
                <a:ea typeface="DejaVu Sans"/>
              </a:rPr>
              <a:t>P</a:t>
            </a:r>
          </a:p>
        </p:txBody>
      </p:sp>
      <p:sp>
        <p:nvSpPr>
          <p:cNvPr id="215" name="rect 214"/>
          <p:cNvSpPr/>
          <p:nvPr/>
        </p:nvSpPr>
        <p:spPr>
          <a:xfrm>
            <a:off x="10116645" y="5266800"/>
            <a:ext cx="109725" cy="160930"/>
          </a:xfrm>
          <a:prstGeom prst="roundRect">
            <a:avLst>
              <a:gd name="adj" fmla="val 6666"/>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6" name="rect 215"/>
          <p:cNvSpPr/>
          <p:nvPr/>
        </p:nvSpPr>
        <p:spPr>
          <a:xfrm>
            <a:off x="10262945" y="5266800"/>
            <a:ext cx="109725" cy="160930"/>
          </a:xfrm>
          <a:prstGeom prst="roundRect">
            <a:avLst>
              <a:gd name="adj" fmla="val 6666"/>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7" name="rect 216"/>
          <p:cNvSpPr/>
          <p:nvPr/>
        </p:nvSpPr>
        <p:spPr>
          <a:xfrm>
            <a:off x="10409245" y="5266800"/>
            <a:ext cx="109725" cy="160930"/>
          </a:xfrm>
          <a:prstGeom prst="roundRect">
            <a:avLst>
              <a:gd name="adj" fmla="val 6666"/>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8" name="path 217"/>
          <p:cNvSpPr/>
          <p:nvPr/>
        </p:nvSpPr>
        <p:spPr>
          <a:xfrm>
            <a:off x="10540915" y="5032720"/>
            <a:ext cx="58520" cy="51205"/>
          </a:xfrm>
          <a:custGeom>
            <a:avLst/>
            <a:gdLst/>
            <a:ahLst/>
            <a:cxnLst/>
            <a:rect l="l" t="t" r="r" b="b"/>
            <a:pathLst>
              <a:path w="8" h="7">
                <a:moveTo>
                  <a:pt x="0" y="7"/>
                </a:moveTo>
                <a:lnTo>
                  <a:pt x="0" y="0"/>
                </a:lnTo>
                <a:lnTo>
                  <a:pt x="8" y="0"/>
                </a:lnTo>
                <a:lnTo>
                  <a:pt x="8" y="7"/>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9" name="rect 218"/>
          <p:cNvSpPr/>
          <p:nvPr/>
        </p:nvSpPr>
        <p:spPr>
          <a:xfrm>
            <a:off x="10518970" y="5082462"/>
            <a:ext cx="105336" cy="87780"/>
          </a:xfrm>
          <a:prstGeom prst="roundRect">
            <a:avLst>
              <a:gd name="adj" fmla="val 16666"/>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0" name="circle 219"/>
          <p:cNvSpPr/>
          <p:nvPr/>
        </p:nvSpPr>
        <p:spPr>
          <a:xfrm>
            <a:off x="10562860" y="5108796"/>
            <a:ext cx="17556" cy="17556"/>
          </a:xfrm>
          <a:prstGeom prst="ellipse">
            <a:avLst/>
          </a:prstGeom>
          <a:solidFill>
            <a:srgbClr val="18181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1" name="aging"/>
          <p:cNvSpPr txBox="1"/>
          <p:nvPr/>
        </p:nvSpPr>
        <p:spPr>
          <a:xfrm>
            <a:off x="9143750" y="4217098"/>
            <a:ext cx="537424" cy="217621"/>
          </a:xfrm>
          <a:prstGeom prst="rect">
            <a:avLst/>
          </a:prstGeom>
          <a:noFill/>
        </p:spPr>
        <p:txBody>
          <a:bodyPr wrap="none" lIns="0" rIns="0" tIns="0" bIns="0" anchor="t">
            <a:spAutoFit/>
          </a:bodyPr>
          <a:lstStyle/>
          <a:p>
            <a:pPr algn="l">
              <a:lnSpc>
                <a:spcPct val="100000"/>
              </a:lnSpc>
              <a:spcBef>
                <a:spcPts val="0"/>
              </a:spcBef>
              <a:spcAft>
                <a:spcPts val="0"/>
              </a:spcAft>
            </a:pPr>
            <a:r>
              <a:rPr sz="1267" b="0" i="0" lang="en-US" spc="0">
                <a:solidFill>
                  <a:srgbClr val="535353"/>
                </a:solidFill>
                <a:latin typeface="DejaVu Sans"/>
                <a:ea typeface="DejaVu Sans"/>
              </a:rPr>
              <a:t>aging</a:t>
            </a:r>
          </a:p>
        </p:txBody>
      </p:sp>
      <p:sp>
        <p:nvSpPr>
          <p:cNvPr id="222" name="HBM-resident"/>
          <p:cNvSpPr txBox="1"/>
          <p:nvPr/>
        </p:nvSpPr>
        <p:spPr>
          <a:xfrm>
            <a:off x="9143750" y="4919338"/>
            <a:ext cx="1172572" cy="217621"/>
          </a:xfrm>
          <a:prstGeom prst="rect">
            <a:avLst/>
          </a:prstGeom>
          <a:noFill/>
        </p:spPr>
        <p:txBody>
          <a:bodyPr wrap="none" lIns="0" rIns="0" tIns="0" bIns="0" anchor="t">
            <a:spAutoFit/>
          </a:bodyPr>
          <a:lstStyle/>
          <a:p>
            <a:pPr algn="l">
              <a:lnSpc>
                <a:spcPct val="100000"/>
              </a:lnSpc>
              <a:spcBef>
                <a:spcPts val="0"/>
              </a:spcBef>
              <a:spcAft>
                <a:spcPts val="0"/>
              </a:spcAft>
            </a:pPr>
            <a:r>
              <a:rPr sz="1267" b="0" i="0" lang="en-US" spc="0">
                <a:solidFill>
                  <a:srgbClr val="535353"/>
                </a:solidFill>
                <a:latin typeface="DejaVu Sans"/>
                <a:ea typeface="DejaVu Sans"/>
              </a:rPr>
              <a:t>HBM-resident</a:t>
            </a:r>
          </a:p>
        </p:txBody>
      </p:sp>
      <p:sp>
        <p:nvSpPr>
          <p:cNvPr id="223" name="restored"/>
          <p:cNvSpPr txBox="1"/>
          <p:nvPr/>
        </p:nvSpPr>
        <p:spPr>
          <a:xfrm>
            <a:off x="9143750" y="5614262"/>
            <a:ext cx="758617" cy="217621"/>
          </a:xfrm>
          <a:prstGeom prst="rect">
            <a:avLst/>
          </a:prstGeom>
          <a:noFill/>
        </p:spPr>
        <p:txBody>
          <a:bodyPr wrap="none" lIns="0" rIns="0" tIns="0" bIns="0" anchor="t">
            <a:spAutoFit/>
          </a:bodyPr>
          <a:lstStyle/>
          <a:p>
            <a:pPr algn="l">
              <a:lnSpc>
                <a:spcPct val="100000"/>
              </a:lnSpc>
              <a:spcBef>
                <a:spcPts val="0"/>
              </a:spcBef>
              <a:spcAft>
                <a:spcPts val="0"/>
              </a:spcAft>
            </a:pPr>
            <a:r>
              <a:rPr sz="1267" b="0" i="0" lang="en-US" spc="0">
                <a:solidFill>
                  <a:srgbClr val="535353"/>
                </a:solidFill>
                <a:latin typeface="DejaVu Sans"/>
                <a:ea typeface="DejaVu Sans"/>
              </a:rPr>
              <a:t>restored</a:t>
            </a:r>
          </a:p>
        </p:txBody>
      </p:sp>
      <p:cxnSp>
        <p:nvCxnSpPr>
          <p:cNvPr id="224" name="line 223"/>
          <p:cNvCxnSpPr/>
          <p:nvPr/>
        </p:nvCxnSpPr>
        <p:spPr>
          <a:xfrm>
            <a:off x="11586960" y="4228070"/>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25" name="line 224"/>
          <p:cNvCxnSpPr/>
          <p:nvPr/>
        </p:nvCxnSpPr>
        <p:spPr>
          <a:xfrm>
            <a:off x="11586960" y="527411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26" name="line 225"/>
          <p:cNvCxnSpPr/>
          <p:nvPr/>
        </p:nvCxnSpPr>
        <p:spPr>
          <a:xfrm>
            <a:off x="11733260" y="4228070"/>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27" name="line 226"/>
          <p:cNvCxnSpPr/>
          <p:nvPr/>
        </p:nvCxnSpPr>
        <p:spPr>
          <a:xfrm>
            <a:off x="11733260" y="527411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28" name="line 227"/>
          <p:cNvCxnSpPr/>
          <p:nvPr/>
        </p:nvCxnSpPr>
        <p:spPr>
          <a:xfrm>
            <a:off x="11879560" y="4228070"/>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29" name="line 228"/>
          <p:cNvCxnSpPr/>
          <p:nvPr/>
        </p:nvCxnSpPr>
        <p:spPr>
          <a:xfrm>
            <a:off x="11879560" y="527411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30" name="line 229"/>
          <p:cNvCxnSpPr/>
          <p:nvPr/>
        </p:nvCxnSpPr>
        <p:spPr>
          <a:xfrm>
            <a:off x="12025860" y="4228070"/>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31" name="line 230"/>
          <p:cNvCxnSpPr/>
          <p:nvPr/>
        </p:nvCxnSpPr>
        <p:spPr>
          <a:xfrm>
            <a:off x="12025860" y="527411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32" name="line 231"/>
          <p:cNvCxnSpPr/>
          <p:nvPr/>
        </p:nvCxnSpPr>
        <p:spPr>
          <a:xfrm>
            <a:off x="12172160" y="4228070"/>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33" name="line 232"/>
          <p:cNvCxnSpPr/>
          <p:nvPr/>
        </p:nvCxnSpPr>
        <p:spPr>
          <a:xfrm>
            <a:off x="12172160" y="527411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34" name="line 233"/>
          <p:cNvCxnSpPr/>
          <p:nvPr/>
        </p:nvCxnSpPr>
        <p:spPr>
          <a:xfrm>
            <a:off x="12318460" y="4228070"/>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35" name="line 234"/>
          <p:cNvCxnSpPr/>
          <p:nvPr/>
        </p:nvCxnSpPr>
        <p:spPr>
          <a:xfrm>
            <a:off x="12318460" y="527411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36" name="line 235"/>
          <p:cNvCxnSpPr/>
          <p:nvPr/>
        </p:nvCxnSpPr>
        <p:spPr>
          <a:xfrm>
            <a:off x="12464760" y="4228070"/>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37" name="line 236"/>
          <p:cNvCxnSpPr/>
          <p:nvPr/>
        </p:nvCxnSpPr>
        <p:spPr>
          <a:xfrm>
            <a:off x="12464760" y="527411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38" name="line 237"/>
          <p:cNvCxnSpPr/>
          <p:nvPr/>
        </p:nvCxnSpPr>
        <p:spPr>
          <a:xfrm>
            <a:off x="11411400" y="4410945"/>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39" name="line 238"/>
          <p:cNvCxnSpPr/>
          <p:nvPr/>
        </p:nvCxnSpPr>
        <p:spPr>
          <a:xfrm>
            <a:off x="12508650" y="4410945"/>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40" name="line 239"/>
          <p:cNvCxnSpPr/>
          <p:nvPr/>
        </p:nvCxnSpPr>
        <p:spPr>
          <a:xfrm>
            <a:off x="11411400" y="4557245"/>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41" name="line 240"/>
          <p:cNvCxnSpPr/>
          <p:nvPr/>
        </p:nvCxnSpPr>
        <p:spPr>
          <a:xfrm>
            <a:off x="12508650" y="4557245"/>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42" name="line 241"/>
          <p:cNvCxnSpPr/>
          <p:nvPr/>
        </p:nvCxnSpPr>
        <p:spPr>
          <a:xfrm>
            <a:off x="11411400" y="4703545"/>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43" name="line 242"/>
          <p:cNvCxnSpPr/>
          <p:nvPr/>
        </p:nvCxnSpPr>
        <p:spPr>
          <a:xfrm>
            <a:off x="12508650" y="4703545"/>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44" name="line 243"/>
          <p:cNvCxnSpPr/>
          <p:nvPr/>
        </p:nvCxnSpPr>
        <p:spPr>
          <a:xfrm>
            <a:off x="11411400" y="4849845"/>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45" name="line 244"/>
          <p:cNvCxnSpPr/>
          <p:nvPr/>
        </p:nvCxnSpPr>
        <p:spPr>
          <a:xfrm>
            <a:off x="12508650" y="4849845"/>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46" name="line 245"/>
          <p:cNvCxnSpPr/>
          <p:nvPr/>
        </p:nvCxnSpPr>
        <p:spPr>
          <a:xfrm>
            <a:off x="11411400" y="4996145"/>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47" name="line 246"/>
          <p:cNvCxnSpPr/>
          <p:nvPr/>
        </p:nvCxnSpPr>
        <p:spPr>
          <a:xfrm>
            <a:off x="12508650" y="4996145"/>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48" name="line 247"/>
          <p:cNvCxnSpPr/>
          <p:nvPr/>
        </p:nvCxnSpPr>
        <p:spPr>
          <a:xfrm>
            <a:off x="11411400" y="5142445"/>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49" name="line 248"/>
          <p:cNvCxnSpPr/>
          <p:nvPr/>
        </p:nvCxnSpPr>
        <p:spPr>
          <a:xfrm>
            <a:off x="12508650" y="5142445"/>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250" name="rect 249"/>
          <p:cNvSpPr/>
          <p:nvPr/>
        </p:nvSpPr>
        <p:spPr>
          <a:xfrm>
            <a:off x="11484550" y="4301220"/>
            <a:ext cx="1024100" cy="972895"/>
          </a:xfrm>
          <a:prstGeom prst="roundRect">
            <a:avLst>
              <a:gd name="adj" fmla="val 1503"/>
            </a:avLst>
          </a:prstGeom>
          <a:solidFill>
            <a:srgbClr val="A9CEE8"/>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1" name="GPU"/>
          <p:cNvSpPr txBox="1"/>
          <p:nvPr/>
        </p:nvSpPr>
        <p:spPr>
          <a:xfrm>
            <a:off x="11745047" y="4348768"/>
            <a:ext cx="503106" cy="235909"/>
          </a:xfrm>
          <a:prstGeom prst="rect">
            <a:avLst/>
          </a:prstGeom>
          <a:noFill/>
        </p:spPr>
        <p:txBody>
          <a:bodyPr wrap="none" lIns="0" rIns="0" tIns="0" bIns="0" anchor="t">
            <a:spAutoFit/>
          </a:bodyPr>
          <a:lstStyle/>
          <a:p>
            <a:pPr algn="ctr">
              <a:lnSpc>
                <a:spcPct val="100000"/>
              </a:lnSpc>
              <a:spcBef>
                <a:spcPts val="0"/>
              </a:spcBef>
              <a:spcAft>
                <a:spcPts val="0"/>
              </a:spcAft>
            </a:pPr>
            <a:r>
              <a:rPr sz="1382" b="1" i="0" lang="en-US" spc="0">
                <a:solidFill>
                  <a:srgbClr val="181818"/>
                </a:solidFill>
                <a:latin typeface="DejaVu Sans"/>
                <a:ea typeface="DejaVu Sans"/>
              </a:rPr>
              <a:t>GPU</a:t>
            </a:r>
          </a:p>
        </p:txBody>
      </p:sp>
      <p:sp>
        <p:nvSpPr>
          <p:cNvPr id="252" name="rect 251"/>
          <p:cNvSpPr/>
          <p:nvPr/>
        </p:nvSpPr>
        <p:spPr>
          <a:xfrm>
            <a:off x="11579645" y="4608450"/>
            <a:ext cx="256025" cy="245052"/>
          </a:xfrm>
          <a:prstGeom prst="roundRect">
            <a:avLst>
              <a:gd name="adj" fmla="val 2985"/>
            </a:avLst>
          </a:prstGeom>
          <a:solidFill>
            <a:srgbClr val="E9A6B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3" name="rect 252"/>
          <p:cNvSpPr/>
          <p:nvPr/>
        </p:nvSpPr>
        <p:spPr>
          <a:xfrm>
            <a:off x="11867368" y="4608450"/>
            <a:ext cx="256025" cy="245052"/>
          </a:xfrm>
          <a:prstGeom prst="roundRect">
            <a:avLst>
              <a:gd name="adj" fmla="val 2985"/>
            </a:avLst>
          </a:prstGeom>
          <a:solidFill>
            <a:srgbClr val="B5D68B"/>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4" name="rect 253"/>
          <p:cNvSpPr/>
          <p:nvPr/>
        </p:nvSpPr>
        <p:spPr>
          <a:xfrm>
            <a:off x="12155092" y="4608450"/>
            <a:ext cx="256025" cy="245052"/>
          </a:xfrm>
          <a:prstGeom prst="roundRect">
            <a:avLst>
              <a:gd name="adj" fmla="val 2985"/>
            </a:avLst>
          </a:prstGeom>
          <a:solidFill>
            <a:srgbClr val="F2BD7D"/>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5" name="rect 254"/>
          <p:cNvSpPr/>
          <p:nvPr/>
        </p:nvSpPr>
        <p:spPr>
          <a:xfrm>
            <a:off x="11579645" y="4901050"/>
            <a:ext cx="256025" cy="245052"/>
          </a:xfrm>
          <a:prstGeom prst="roundRect">
            <a:avLst>
              <a:gd name="adj" fmla="val 2985"/>
            </a:avLst>
          </a:prstGeom>
          <a:solidFill>
            <a:srgbClr val="FFFFF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6" name="rect 255"/>
          <p:cNvSpPr/>
          <p:nvPr/>
        </p:nvSpPr>
        <p:spPr>
          <a:xfrm>
            <a:off x="11867368" y="4901050"/>
            <a:ext cx="256025" cy="245052"/>
          </a:xfrm>
          <a:prstGeom prst="roundRect">
            <a:avLst>
              <a:gd name="adj" fmla="val 2985"/>
            </a:avLst>
          </a:prstGeom>
          <a:solidFill>
            <a:srgbClr val="E9A6B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7" name="rect 256"/>
          <p:cNvSpPr/>
          <p:nvPr/>
        </p:nvSpPr>
        <p:spPr>
          <a:xfrm>
            <a:off x="12155092" y="4901050"/>
            <a:ext cx="256025" cy="245052"/>
          </a:xfrm>
          <a:prstGeom prst="roundRect">
            <a:avLst>
              <a:gd name="adj" fmla="val 2985"/>
            </a:avLst>
          </a:prstGeom>
          <a:solidFill>
            <a:srgbClr val="FFFFF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8" name="path 257"/>
          <p:cNvSpPr/>
          <p:nvPr/>
        </p:nvSpPr>
        <p:spPr>
          <a:xfrm>
            <a:off x="10687215" y="3957415"/>
            <a:ext cx="702240" cy="497420"/>
          </a:xfrm>
          <a:custGeom>
            <a:avLst/>
            <a:gdLst/>
            <a:ahLst/>
            <a:cxnLst/>
            <a:rect l="l" t="t" r="r" b="b"/>
            <a:pathLst>
              <a:path w="96" h="68">
                <a:moveTo>
                  <a:pt x="0" y="0"/>
                </a:moveTo>
                <a:lnTo>
                  <a:pt x="53" y="0"/>
                </a:lnTo>
                <a:lnTo>
                  <a:pt x="53" y="68"/>
                </a:lnTo>
                <a:lnTo>
                  <a:pt x="96" y="68"/>
                </a:lnTo>
              </a:path>
            </a:pathLst>
          </a:custGeom>
          <a:noFill/>
          <a:ln w="19019">
            <a:solidFill>
              <a:srgbClr val="181818"/>
            </a:solidFill>
            <a:prstDash val="dash"/>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59" name="path 258"/>
          <p:cNvCxnSpPr/>
          <p:nvPr/>
        </p:nvCxnSpPr>
        <p:spPr>
          <a:xfrm>
            <a:off x="10687215" y="4652340"/>
            <a:ext cx="702240" cy="0"/>
          </a:xfrm>
          <a:prstGeom prst="line">
            <a:avLst/>
          </a:prstGeom>
          <a:ln w="19019">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260" name="path 259"/>
          <p:cNvSpPr/>
          <p:nvPr/>
        </p:nvSpPr>
        <p:spPr>
          <a:xfrm>
            <a:off x="10687215" y="5069295"/>
            <a:ext cx="702240" cy="277970"/>
          </a:xfrm>
          <a:custGeom>
            <a:avLst/>
            <a:gdLst/>
            <a:ahLst/>
            <a:cxnLst/>
            <a:rect l="l" t="t" r="r" b="b"/>
            <a:pathLst>
              <a:path w="96" h="38">
                <a:moveTo>
                  <a:pt x="0" y="38"/>
                </a:moveTo>
                <a:lnTo>
                  <a:pt x="53" y="38"/>
                </a:lnTo>
                <a:lnTo>
                  <a:pt x="53" y="0"/>
                </a:lnTo>
                <a:lnTo>
                  <a:pt x="96" y="0"/>
                </a:lnTo>
              </a:path>
            </a:pathLst>
          </a:custGeom>
          <a:noFill/>
          <a:ln w="19019">
            <a:solidFill>
              <a:srgbClr val="BF3335"/>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1" name="path 260"/>
          <p:cNvSpPr/>
          <p:nvPr/>
        </p:nvSpPr>
        <p:spPr>
          <a:xfrm>
            <a:off x="11235840" y="5764220"/>
            <a:ext cx="124355" cy="124355"/>
          </a:xfrm>
          <a:custGeom>
            <a:avLst/>
            <a:gdLst/>
            <a:ahLst/>
            <a:cxnLst/>
            <a:rect l="l" t="t" r="r" b="b"/>
            <a:pathLst>
              <a:path w="17" h="17">
                <a:moveTo>
                  <a:pt x="0" y="8"/>
                </a:moveTo>
                <a:lnTo>
                  <a:pt x="6" y="17"/>
                </a:lnTo>
                <a:lnTo>
                  <a:pt x="17" y="0"/>
                </a:lnTo>
              </a:path>
            </a:pathLst>
          </a:custGeom>
          <a:noFill/>
          <a:ln w="2048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2" name="KV ∧ slot"/>
          <p:cNvSpPr txBox="1"/>
          <p:nvPr/>
        </p:nvSpPr>
        <p:spPr>
          <a:xfrm>
            <a:off x="11426030" y="5733131"/>
            <a:ext cx="912546" cy="243224"/>
          </a:xfrm>
          <a:prstGeom prst="rect">
            <a:avLst/>
          </a:prstGeom>
          <a:noFill/>
        </p:spPr>
        <p:txBody>
          <a:bodyPr wrap="none" lIns="0" rIns="0" tIns="0" bIns="0" anchor="t">
            <a:spAutoFit/>
          </a:bodyPr>
          <a:lstStyle/>
          <a:p>
            <a:pPr algn="l">
              <a:lnSpc>
                <a:spcPct val="100000"/>
              </a:lnSpc>
              <a:spcBef>
                <a:spcPts val="0"/>
              </a:spcBef>
              <a:spcAft>
                <a:spcPts val="0"/>
              </a:spcAft>
            </a:pPr>
            <a:r>
              <a:rPr sz="1439" b="0" i="0" lang="en-US" spc="0">
                <a:solidFill>
                  <a:srgbClr val="181818"/>
                </a:solidFill>
                <a:latin typeface="DejaVu Sans"/>
                <a:ea typeface="DejaVu Sans"/>
              </a:rPr>
              <a:t>KV ∧ slot</a:t>
            </a:r>
          </a:p>
        </p:txBody>
      </p:sp>
      <p:sp>
        <p:nvSpPr>
          <p:cNvPr id="263" name="PrefillAdder"/>
          <p:cNvSpPr txBox="1"/>
          <p:nvPr/>
        </p:nvSpPr>
        <p:spPr>
          <a:xfrm>
            <a:off x="11199265" y="6060478"/>
            <a:ext cx="1265438" cy="235909"/>
          </a:xfrm>
          <a:prstGeom prst="rect">
            <a:avLst/>
          </a:prstGeom>
          <a:noFill/>
        </p:spPr>
        <p:txBody>
          <a:bodyPr wrap="none" lIns="0" rIns="0" tIns="0" bIns="0" anchor="t">
            <a:spAutoFit/>
          </a:bodyPr>
          <a:lstStyle/>
          <a:p>
            <a:pPr algn="l">
              <a:lnSpc>
                <a:spcPct val="100000"/>
              </a:lnSpc>
              <a:spcBef>
                <a:spcPts val="0"/>
              </a:spcBef>
              <a:spcAft>
                <a:spcPts val="0"/>
              </a:spcAft>
            </a:pPr>
            <a:r>
              <a:rPr sz="1382" b="1" i="0" lang="en-US" spc="0">
                <a:solidFill>
                  <a:srgbClr val="181818"/>
                </a:solidFill>
                <a:latin typeface="DejaVu Sans"/>
                <a:ea typeface="DejaVu Sans"/>
              </a:rPr>
              <a:t>PrefillAdder</a:t>
            </a:r>
          </a:p>
        </p:txBody>
      </p:sp>
      <p:sp>
        <p:nvSpPr>
          <p:cNvPr id="264" name="rect 263"/>
          <p:cNvSpPr/>
          <p:nvPr/>
        </p:nvSpPr>
        <p:spPr>
          <a:xfrm>
            <a:off x="292600" y="6861470"/>
            <a:ext cx="12581800" cy="1506890"/>
          </a:xfrm>
          <a:prstGeom prst="roundRect">
            <a:avLst>
              <a:gd name="adj" fmla="val 2912"/>
            </a:avLst>
          </a:prstGeom>
          <a:solidFill>
            <a:srgbClr val="EEEEEE"/>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5" name="rect 264"/>
          <p:cNvSpPr/>
          <p:nvPr/>
        </p:nvSpPr>
        <p:spPr>
          <a:xfrm>
            <a:off x="292600" y="6861470"/>
            <a:ext cx="12581800" cy="351120"/>
          </a:xfrm>
          <a:prstGeom prst="roundRect">
            <a:avLst>
              <a:gd name="adj" fmla="val 12500"/>
            </a:avLst>
          </a:prstGeom>
          <a:solidFill>
            <a:srgbClr val="A9CEE8"/>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6" name="rect 265"/>
          <p:cNvSpPr/>
          <p:nvPr/>
        </p:nvSpPr>
        <p:spPr>
          <a:xfrm>
            <a:off x="301378" y="7058975"/>
            <a:ext cx="12564244" cy="146300"/>
          </a:xfrm>
          <a:prstGeom prst="rect">
            <a:avLst/>
          </a:prstGeom>
          <a:solidFill>
            <a:srgbClr val="A9CE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67" name="line 266"/>
          <p:cNvCxnSpPr/>
          <p:nvPr/>
        </p:nvCxnSpPr>
        <p:spPr>
          <a:xfrm>
            <a:off x="292600" y="7212590"/>
            <a:ext cx="12581800" cy="0"/>
          </a:xfrm>
          <a:prstGeom prst="line">
            <a:avLst/>
          </a:prstGeom>
          <a:ln w="12435">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268" name="(b) Native SGLang data plane"/>
          <p:cNvSpPr txBox="1"/>
          <p:nvPr/>
        </p:nvSpPr>
        <p:spPr>
          <a:xfrm>
            <a:off x="438900" y="6912675"/>
            <a:ext cx="3494684" cy="268826"/>
          </a:xfrm>
          <a:prstGeom prst="rect">
            <a:avLst/>
          </a:prstGeom>
          <a:noFill/>
        </p:spPr>
        <p:txBody>
          <a:bodyPr wrap="none" lIns="0" rIns="0" tIns="0" bIns="0" anchor="t">
            <a:spAutoFit/>
          </a:bodyPr>
          <a:lstStyle/>
          <a:p>
            <a:pPr algn="l">
              <a:lnSpc>
                <a:spcPct val="100000"/>
              </a:lnSpc>
              <a:spcBef>
                <a:spcPts val="0"/>
              </a:spcBef>
              <a:spcAft>
                <a:spcPts val="0"/>
              </a:spcAft>
            </a:pPr>
            <a:r>
              <a:rPr sz="1612" b="1" i="0" lang="en-US" spc="0">
                <a:solidFill>
                  <a:srgbClr val="181818"/>
                </a:solidFill>
                <a:latin typeface="DejaVu Sans"/>
                <a:ea typeface="DejaVu Sans"/>
              </a:rPr>
              <a:t>(b) Native SGLang data plane</a:t>
            </a:r>
          </a:p>
        </p:txBody>
      </p:sp>
      <p:sp>
        <p:nvSpPr>
          <p:cNvPr id="269" name="path 268"/>
          <p:cNvSpPr/>
          <p:nvPr/>
        </p:nvSpPr>
        <p:spPr>
          <a:xfrm>
            <a:off x="4293905" y="6407940"/>
            <a:ext cx="2282280" cy="811965"/>
          </a:xfrm>
          <a:custGeom>
            <a:avLst/>
            <a:gdLst/>
            <a:ahLst/>
            <a:cxnLst/>
            <a:rect l="l" t="t" r="r" b="b"/>
            <a:pathLst>
              <a:path w="312" h="111">
                <a:moveTo>
                  <a:pt x="312" y="0"/>
                </a:moveTo>
                <a:lnTo>
                  <a:pt x="312" y="34"/>
                </a:lnTo>
                <a:lnTo>
                  <a:pt x="0" y="34"/>
                </a:lnTo>
                <a:lnTo>
                  <a:pt x="0" y="111"/>
                </a:lnTo>
              </a:path>
            </a:pathLst>
          </a:custGeom>
          <a:noFill/>
          <a:ln w="19019">
            <a:solidFill>
              <a:srgbClr val="BF3335"/>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70" name="path 269"/>
          <p:cNvCxnSpPr/>
          <p:nvPr/>
        </p:nvCxnSpPr>
        <p:spPr>
          <a:xfrm>
            <a:off x="11908820" y="6407940"/>
            <a:ext cx="0" cy="438900"/>
          </a:xfrm>
          <a:prstGeom prst="line">
            <a:avLst/>
          </a:prstGeom>
          <a:ln w="19019">
            <a:solidFill>
              <a:srgbClr val="BF3335"/>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271" name="rect 270"/>
          <p:cNvSpPr/>
          <p:nvPr/>
        </p:nvSpPr>
        <p:spPr>
          <a:xfrm>
            <a:off x="804650" y="7571025"/>
            <a:ext cx="365750" cy="212135"/>
          </a:xfrm>
          <a:prstGeom prst="roundRect">
            <a:avLst>
              <a:gd name="adj" fmla="val 3448"/>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2" name="rect 271"/>
          <p:cNvSpPr/>
          <p:nvPr/>
        </p:nvSpPr>
        <p:spPr>
          <a:xfrm>
            <a:off x="1623930" y="7344260"/>
            <a:ext cx="365750" cy="212135"/>
          </a:xfrm>
          <a:prstGeom prst="roundRect">
            <a:avLst>
              <a:gd name="adj" fmla="val 3448"/>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3" name="rect 272"/>
          <p:cNvSpPr/>
          <p:nvPr/>
        </p:nvSpPr>
        <p:spPr>
          <a:xfrm>
            <a:off x="1623930" y="7885570"/>
            <a:ext cx="365750" cy="212135"/>
          </a:xfrm>
          <a:prstGeom prst="roundRect">
            <a:avLst>
              <a:gd name="adj" fmla="val 3448"/>
            </a:avLst>
          </a:prstGeom>
          <a:solidFill>
            <a:srgbClr val="F2BD7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74" name="line 273"/>
          <p:cNvCxnSpPr/>
          <p:nvPr/>
        </p:nvCxnSpPr>
        <p:spPr>
          <a:xfrm flipV="1">
            <a:off x="1170400" y="7461300"/>
            <a:ext cx="431585" cy="20482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75" name="line 274"/>
          <p:cNvCxnSpPr/>
          <p:nvPr/>
        </p:nvCxnSpPr>
        <p:spPr>
          <a:xfrm>
            <a:off x="1170400" y="7680750"/>
            <a:ext cx="431585" cy="30723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276" name="Unified"/>
          <p:cNvSpPr txBox="1"/>
          <p:nvPr/>
        </p:nvSpPr>
        <p:spPr>
          <a:xfrm>
            <a:off x="2201815" y="7371691"/>
            <a:ext cx="819651" cy="243224"/>
          </a:xfrm>
          <a:prstGeom prst="rect">
            <a:avLst/>
          </a:prstGeom>
          <a:noFill/>
        </p:spPr>
        <p:txBody>
          <a:bodyPr wrap="none" lIns="0" rIns="0" tIns="0" bIns="0" anchor="t">
            <a:spAutoFit/>
          </a:bodyPr>
          <a:lstStyle/>
          <a:p>
            <a:pPr algn="l">
              <a:lnSpc>
                <a:spcPct val="100000"/>
              </a:lnSpc>
              <a:spcBef>
                <a:spcPts val="0"/>
              </a:spcBef>
              <a:spcAft>
                <a:spcPts val="0"/>
              </a:spcAft>
            </a:pPr>
            <a:r>
              <a:rPr sz="1439" b="1" i="0" lang="en-US" spc="0">
                <a:solidFill>
                  <a:srgbClr val="181818"/>
                </a:solidFill>
                <a:latin typeface="DejaVu Sans"/>
                <a:ea typeface="DejaVu Sans"/>
              </a:rPr>
              <a:t>Unified</a:t>
            </a:r>
          </a:p>
        </p:txBody>
      </p:sp>
      <p:sp>
        <p:nvSpPr>
          <p:cNvPr id="277" name="RadixCache"/>
          <p:cNvSpPr txBox="1"/>
          <p:nvPr/>
        </p:nvSpPr>
        <p:spPr>
          <a:xfrm>
            <a:off x="2201815" y="7642346"/>
            <a:ext cx="1283811" cy="243224"/>
          </a:xfrm>
          <a:prstGeom prst="rect">
            <a:avLst/>
          </a:prstGeom>
          <a:noFill/>
        </p:spPr>
        <p:txBody>
          <a:bodyPr wrap="none" lIns="0" rIns="0" tIns="0" bIns="0" anchor="t">
            <a:spAutoFit/>
          </a:bodyPr>
          <a:lstStyle/>
          <a:p>
            <a:pPr algn="l">
              <a:lnSpc>
                <a:spcPct val="100000"/>
              </a:lnSpc>
              <a:spcBef>
                <a:spcPts val="0"/>
              </a:spcBef>
              <a:spcAft>
                <a:spcPts val="0"/>
              </a:spcAft>
            </a:pPr>
            <a:r>
              <a:rPr sz="1439" b="1" i="0" lang="en-US" spc="0">
                <a:solidFill>
                  <a:srgbClr val="181818"/>
                </a:solidFill>
                <a:latin typeface="DejaVu Sans"/>
                <a:ea typeface="DejaVu Sans"/>
              </a:rPr>
              <a:t>RadixCache</a:t>
            </a:r>
          </a:p>
        </p:txBody>
      </p:sp>
      <p:cxnSp>
        <p:nvCxnSpPr>
          <p:cNvPr id="278" name="path 277"/>
          <p:cNvCxnSpPr/>
          <p:nvPr/>
        </p:nvCxnSpPr>
        <p:spPr>
          <a:xfrm>
            <a:off x="3342955" y="7688065"/>
            <a:ext cx="351120" cy="0"/>
          </a:xfrm>
          <a:prstGeom prst="line">
            <a:avLst/>
          </a:prstGeom>
          <a:ln w="19019">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279" name="rect 278"/>
          <p:cNvSpPr/>
          <p:nvPr/>
        </p:nvSpPr>
        <p:spPr>
          <a:xfrm>
            <a:off x="3745280" y="7373520"/>
            <a:ext cx="1185030" cy="636405"/>
          </a:xfrm>
          <a:prstGeom prst="roundRect">
            <a:avLst>
              <a:gd name="adj" fmla="val 3448"/>
            </a:avLst>
          </a:prstGeom>
          <a:solidFill>
            <a:srgbClr val="F5D460"/>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0" name="HiCache"/>
          <p:cNvSpPr txBox="1"/>
          <p:nvPr/>
        </p:nvSpPr>
        <p:spPr>
          <a:xfrm>
            <a:off x="3859163" y="7408266"/>
            <a:ext cx="957265" cy="252368"/>
          </a:xfrm>
          <a:prstGeom prst="rect">
            <a:avLst/>
          </a:prstGeom>
          <a:noFill/>
        </p:spPr>
        <p:txBody>
          <a:bodyPr wrap="none" lIns="0" rIns="0" tIns="0" bIns="0" anchor="t">
            <a:spAutoFit/>
          </a:bodyPr>
          <a:lstStyle/>
          <a:p>
            <a:pPr algn="ctr">
              <a:lnSpc>
                <a:spcPct val="100000"/>
              </a:lnSpc>
              <a:spcBef>
                <a:spcPts val="0"/>
              </a:spcBef>
              <a:spcAft>
                <a:spcPts val="0"/>
              </a:spcAft>
            </a:pPr>
            <a:r>
              <a:rPr sz="1497" b="1" i="0" lang="en-US" spc="0">
                <a:solidFill>
                  <a:srgbClr val="181818"/>
                </a:solidFill>
                <a:latin typeface="DejaVu Sans"/>
                <a:ea typeface="DejaVu Sans"/>
              </a:rPr>
              <a:t>HiCache</a:t>
            </a:r>
          </a:p>
        </p:txBody>
      </p:sp>
      <p:cxnSp>
        <p:nvCxnSpPr>
          <p:cNvPr id="281" name="path 280"/>
          <p:cNvCxnSpPr/>
          <p:nvPr/>
        </p:nvCxnSpPr>
        <p:spPr>
          <a:xfrm>
            <a:off x="3884265" y="7774455"/>
            <a:ext cx="907060" cy="0"/>
          </a:xfrm>
          <a:prstGeom prst="line">
            <a:avLst/>
          </a:prstGeom>
          <a:ln w="14630">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282" name="path 281"/>
          <p:cNvCxnSpPr/>
          <p:nvPr/>
        </p:nvCxnSpPr>
        <p:spPr>
          <a:xfrm flipH="1">
            <a:off x="3884265" y="7895372"/>
            <a:ext cx="907060" cy="0"/>
          </a:xfrm>
          <a:prstGeom prst="line">
            <a:avLst/>
          </a:prstGeom>
          <a:ln w="14630">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283" name="path 282"/>
          <p:cNvCxnSpPr/>
          <p:nvPr/>
        </p:nvCxnSpPr>
        <p:spPr>
          <a:xfrm>
            <a:off x="4981515" y="7688065"/>
            <a:ext cx="438900" cy="0"/>
          </a:xfrm>
          <a:prstGeom prst="line">
            <a:avLst/>
          </a:prstGeom>
          <a:ln w="19019">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284" name="rect 283"/>
          <p:cNvSpPr/>
          <p:nvPr/>
        </p:nvSpPr>
        <p:spPr>
          <a:xfrm>
            <a:off x="5493565" y="7512505"/>
            <a:ext cx="1719025" cy="460845"/>
          </a:xfrm>
          <a:prstGeom prst="roundRect">
            <a:avLst>
              <a:gd name="adj" fmla="val 4761"/>
            </a:avLst>
          </a:prstGeom>
          <a:solidFill>
            <a:srgbClr val="FFFFFF"/>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5" name="rect 284"/>
          <p:cNvSpPr/>
          <p:nvPr/>
        </p:nvSpPr>
        <p:spPr>
          <a:xfrm>
            <a:off x="5537455" y="7556395"/>
            <a:ext cx="1631245" cy="87780"/>
          </a:xfrm>
          <a:prstGeom prst="rect">
            <a:avLst/>
          </a:prstGeom>
          <a:solidFill>
            <a:srgbClr val="DDDDD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6" name="rect 285"/>
          <p:cNvSpPr/>
          <p:nvPr/>
        </p:nvSpPr>
        <p:spPr>
          <a:xfrm>
            <a:off x="5566715" y="7724640"/>
            <a:ext cx="360264" cy="146300"/>
          </a:xfrm>
          <a:prstGeom prst="roundRect">
            <a:avLst>
              <a:gd name="adj" fmla="val 500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7" name="rect 286"/>
          <p:cNvSpPr/>
          <p:nvPr/>
        </p:nvSpPr>
        <p:spPr>
          <a:xfrm>
            <a:off x="5970869" y="7724640"/>
            <a:ext cx="360264" cy="146300"/>
          </a:xfrm>
          <a:prstGeom prst="roundRect">
            <a:avLst>
              <a:gd name="adj" fmla="val 5000"/>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8" name="rect 287"/>
          <p:cNvSpPr/>
          <p:nvPr/>
        </p:nvSpPr>
        <p:spPr>
          <a:xfrm>
            <a:off x="6375022" y="7724640"/>
            <a:ext cx="360264" cy="146300"/>
          </a:xfrm>
          <a:prstGeom prst="roundRect">
            <a:avLst>
              <a:gd name="adj" fmla="val 5000"/>
            </a:avLst>
          </a:prstGeom>
          <a:solidFill>
            <a:srgbClr val="F2BD7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9" name="rect 288"/>
          <p:cNvSpPr/>
          <p:nvPr/>
        </p:nvSpPr>
        <p:spPr>
          <a:xfrm>
            <a:off x="6779176" y="7724640"/>
            <a:ext cx="360264" cy="146300"/>
          </a:xfrm>
          <a:prstGeom prst="roundRect">
            <a:avLst>
              <a:gd name="adj" fmla="val 500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0" name="rect 289"/>
          <p:cNvSpPr/>
          <p:nvPr/>
        </p:nvSpPr>
        <p:spPr>
          <a:xfrm>
            <a:off x="5588660" y="797335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1" name="rect 290"/>
          <p:cNvSpPr/>
          <p:nvPr/>
        </p:nvSpPr>
        <p:spPr>
          <a:xfrm>
            <a:off x="5713015" y="797335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2" name="rect 291"/>
          <p:cNvSpPr/>
          <p:nvPr/>
        </p:nvSpPr>
        <p:spPr>
          <a:xfrm>
            <a:off x="5837370" y="797335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3" name="rect 292"/>
          <p:cNvSpPr/>
          <p:nvPr/>
        </p:nvSpPr>
        <p:spPr>
          <a:xfrm>
            <a:off x="5961725" y="797335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4" name="rect 293"/>
          <p:cNvSpPr/>
          <p:nvPr/>
        </p:nvSpPr>
        <p:spPr>
          <a:xfrm>
            <a:off x="6086080" y="797335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5" name="rect 294"/>
          <p:cNvSpPr/>
          <p:nvPr/>
        </p:nvSpPr>
        <p:spPr>
          <a:xfrm>
            <a:off x="6210435" y="797335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6" name="rect 295"/>
          <p:cNvSpPr/>
          <p:nvPr/>
        </p:nvSpPr>
        <p:spPr>
          <a:xfrm>
            <a:off x="6334790" y="797335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7" name="rect 296"/>
          <p:cNvSpPr/>
          <p:nvPr/>
        </p:nvSpPr>
        <p:spPr>
          <a:xfrm>
            <a:off x="6459145" y="797335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8" name="rect 297"/>
          <p:cNvSpPr/>
          <p:nvPr/>
        </p:nvSpPr>
        <p:spPr>
          <a:xfrm>
            <a:off x="6583500" y="797335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9" name="rect 298"/>
          <p:cNvSpPr/>
          <p:nvPr/>
        </p:nvSpPr>
        <p:spPr>
          <a:xfrm>
            <a:off x="6707855" y="797335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0" name="rect 299"/>
          <p:cNvSpPr/>
          <p:nvPr/>
        </p:nvSpPr>
        <p:spPr>
          <a:xfrm>
            <a:off x="6832210" y="797335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1" name="rect 300"/>
          <p:cNvSpPr/>
          <p:nvPr/>
        </p:nvSpPr>
        <p:spPr>
          <a:xfrm>
            <a:off x="6956565" y="797335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2" name="rect 301"/>
          <p:cNvSpPr/>
          <p:nvPr/>
        </p:nvSpPr>
        <p:spPr>
          <a:xfrm>
            <a:off x="7080920" y="7973350"/>
            <a:ext cx="51205" cy="58520"/>
          </a:xfrm>
          <a:prstGeom prst="rect">
            <a:avLst/>
          </a:prstGeom>
          <a:solidFill>
            <a:srgbClr val="F5D460"/>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3" name="rect 302"/>
          <p:cNvSpPr/>
          <p:nvPr/>
        </p:nvSpPr>
        <p:spPr>
          <a:xfrm>
            <a:off x="7530792" y="7446670"/>
            <a:ext cx="433414" cy="323689"/>
          </a:xfrm>
          <a:prstGeom prst="roundRect">
            <a:avLst>
              <a:gd name="adj" fmla="val 2259"/>
            </a:avLst>
          </a:prstGeom>
          <a:solidFill>
            <a:srgbClr val="E9A6B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4" name="rect 303"/>
          <p:cNvSpPr/>
          <p:nvPr/>
        </p:nvSpPr>
        <p:spPr>
          <a:xfrm>
            <a:off x="7492389" y="7479588"/>
            <a:ext cx="433414" cy="323689"/>
          </a:xfrm>
          <a:prstGeom prst="roundRect">
            <a:avLst>
              <a:gd name="adj" fmla="val 2259"/>
            </a:avLst>
          </a:prstGeom>
          <a:solidFill>
            <a:srgbClr val="E9A6B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5" name="rect 304"/>
          <p:cNvSpPr/>
          <p:nvPr/>
        </p:nvSpPr>
        <p:spPr>
          <a:xfrm>
            <a:off x="7453985" y="7512505"/>
            <a:ext cx="433414" cy="323689"/>
          </a:xfrm>
          <a:prstGeom prst="roundRect">
            <a:avLst>
              <a:gd name="adj" fmla="val 2259"/>
            </a:avLst>
          </a:prstGeom>
          <a:solidFill>
            <a:srgbClr val="E9A6B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6" name="rect 305"/>
          <p:cNvSpPr/>
          <p:nvPr/>
        </p:nvSpPr>
        <p:spPr>
          <a:xfrm>
            <a:off x="7508848" y="7567368"/>
            <a:ext cx="82294" cy="76808"/>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7" name="rect 306"/>
          <p:cNvSpPr/>
          <p:nvPr/>
        </p:nvSpPr>
        <p:spPr>
          <a:xfrm>
            <a:off x="7629545" y="7567368"/>
            <a:ext cx="82294" cy="76808"/>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8" name="rect 307"/>
          <p:cNvSpPr/>
          <p:nvPr/>
        </p:nvSpPr>
        <p:spPr>
          <a:xfrm>
            <a:off x="7750242" y="7567368"/>
            <a:ext cx="82294" cy="76808"/>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9" name="rect 308"/>
          <p:cNvSpPr/>
          <p:nvPr/>
        </p:nvSpPr>
        <p:spPr>
          <a:xfrm>
            <a:off x="7508848" y="7688065"/>
            <a:ext cx="82294" cy="76808"/>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0" name="rect 309"/>
          <p:cNvSpPr/>
          <p:nvPr/>
        </p:nvSpPr>
        <p:spPr>
          <a:xfrm>
            <a:off x="7629545" y="7688065"/>
            <a:ext cx="82294" cy="76808"/>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1" name="rect 310"/>
          <p:cNvSpPr/>
          <p:nvPr/>
        </p:nvSpPr>
        <p:spPr>
          <a:xfrm>
            <a:off x="7750242" y="7688065"/>
            <a:ext cx="82294" cy="76808"/>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2" name="FULL"/>
          <p:cNvSpPr txBox="1"/>
          <p:nvPr/>
        </p:nvSpPr>
        <p:spPr>
          <a:xfrm>
            <a:off x="5866630" y="8079418"/>
            <a:ext cx="495163" cy="226765"/>
          </a:xfrm>
          <a:prstGeom prst="rect">
            <a:avLst/>
          </a:prstGeom>
          <a:noFill/>
        </p:spPr>
        <p:txBody>
          <a:bodyPr wrap="none" lIns="0" rIns="0" tIns="0" bIns="0" anchor="t">
            <a:spAutoFit/>
          </a:bodyPr>
          <a:lstStyle/>
          <a:p>
            <a:pPr algn="l">
              <a:lnSpc>
                <a:spcPct val="100000"/>
              </a:lnSpc>
              <a:spcBef>
                <a:spcPts val="0"/>
              </a:spcBef>
              <a:spcAft>
                <a:spcPts val="0"/>
              </a:spcAft>
            </a:pPr>
            <a:r>
              <a:rPr sz="1324" b="0" i="0" lang="en-US" spc="0">
                <a:solidFill>
                  <a:srgbClr val="181818"/>
                </a:solidFill>
                <a:latin typeface="DejaVu Sans"/>
                <a:ea typeface="DejaVu Sans"/>
              </a:rPr>
              <a:t>FULL</a:t>
            </a:r>
          </a:p>
        </p:txBody>
      </p:sp>
      <p:sp>
        <p:nvSpPr>
          <p:cNvPr id="313" name="Mamba"/>
          <p:cNvSpPr txBox="1"/>
          <p:nvPr/>
        </p:nvSpPr>
        <p:spPr>
          <a:xfrm>
            <a:off x="7432040" y="8079418"/>
            <a:ext cx="709841" cy="226765"/>
          </a:xfrm>
          <a:prstGeom prst="rect">
            <a:avLst/>
          </a:prstGeom>
          <a:noFill/>
        </p:spPr>
        <p:txBody>
          <a:bodyPr wrap="none" lIns="0" rIns="0" tIns="0" bIns="0" anchor="t">
            <a:spAutoFit/>
          </a:bodyPr>
          <a:lstStyle/>
          <a:p>
            <a:pPr algn="l">
              <a:lnSpc>
                <a:spcPct val="100000"/>
              </a:lnSpc>
              <a:spcBef>
                <a:spcPts val="0"/>
              </a:spcBef>
              <a:spcAft>
                <a:spcPts val="0"/>
              </a:spcAft>
            </a:pPr>
            <a:r>
              <a:rPr sz="1324" b="0" i="0" lang="en-US" spc="0">
                <a:solidFill>
                  <a:srgbClr val="181818"/>
                </a:solidFill>
                <a:latin typeface="DejaVu Sans"/>
                <a:ea typeface="DejaVu Sans"/>
              </a:rPr>
              <a:t>Mamba</a:t>
            </a:r>
          </a:p>
        </p:txBody>
      </p:sp>
      <p:cxnSp>
        <p:nvCxnSpPr>
          <p:cNvPr id="314" name="path 313"/>
          <p:cNvCxnSpPr/>
          <p:nvPr/>
        </p:nvCxnSpPr>
        <p:spPr>
          <a:xfrm>
            <a:off x="8083075" y="7688065"/>
            <a:ext cx="402325" cy="0"/>
          </a:xfrm>
          <a:prstGeom prst="line">
            <a:avLst/>
          </a:prstGeom>
          <a:ln w="19019">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315" name="rect 314"/>
          <p:cNvSpPr/>
          <p:nvPr/>
        </p:nvSpPr>
        <p:spPr>
          <a:xfrm>
            <a:off x="8595125" y="7388150"/>
            <a:ext cx="1243550" cy="182875"/>
          </a:xfrm>
          <a:prstGeom prst="roundRect">
            <a:avLst>
              <a:gd name="adj" fmla="val 8000"/>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6" name="rect 315"/>
          <p:cNvSpPr/>
          <p:nvPr/>
        </p:nvSpPr>
        <p:spPr>
          <a:xfrm>
            <a:off x="8602440" y="7395465"/>
            <a:ext cx="73150" cy="168245"/>
          </a:xfrm>
          <a:prstGeom prst="rect">
            <a:avLst/>
          </a:prstGeom>
          <a:solidFill>
            <a:srgbClr val="DDDDD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7" name="r0"/>
          <p:cNvSpPr txBox="1"/>
          <p:nvPr/>
        </p:nvSpPr>
        <p:spPr>
          <a:xfrm>
            <a:off x="8819733" y="7397001"/>
            <a:ext cx="253025" cy="192019"/>
          </a:xfrm>
          <a:prstGeom prst="rect">
            <a:avLst/>
          </a:prstGeom>
          <a:noFill/>
        </p:spPr>
        <p:txBody>
          <a:bodyPr wrap="none" lIns="0" rIns="0" tIns="0" bIns="0" anchor="t">
            <a:spAutoFit/>
          </a:bodyPr>
          <a:lstStyle/>
          <a:p>
            <a:pPr algn="ctr">
              <a:lnSpc>
                <a:spcPct val="100000"/>
              </a:lnSpc>
              <a:spcBef>
                <a:spcPts val="0"/>
              </a:spcBef>
              <a:spcAft>
                <a:spcPts val="0"/>
              </a:spcAft>
            </a:pPr>
            <a:r>
              <a:rPr sz="1094" b="1" i="0" lang="en-US" spc="0">
                <a:solidFill>
                  <a:srgbClr val="181818"/>
                </a:solidFill>
                <a:latin typeface="DejaVu Sans"/>
                <a:ea typeface="DejaVu Sans"/>
              </a:rPr>
              <a:t>r0</a:t>
            </a:r>
          </a:p>
        </p:txBody>
      </p:sp>
      <p:sp>
        <p:nvSpPr>
          <p:cNvPr id="318" name="rect 317"/>
          <p:cNvSpPr/>
          <p:nvPr/>
        </p:nvSpPr>
        <p:spPr>
          <a:xfrm>
            <a:off x="9290050" y="7417410"/>
            <a:ext cx="109725" cy="124355"/>
          </a:xfrm>
          <a:prstGeom prst="roundRect">
            <a:avLst>
              <a:gd name="adj" fmla="val 6666"/>
            </a:avLst>
          </a:prstGeom>
          <a:solidFill>
            <a:srgbClr val="DDDDD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9" name="rect 318"/>
          <p:cNvSpPr/>
          <p:nvPr/>
        </p:nvSpPr>
        <p:spPr>
          <a:xfrm>
            <a:off x="9436350" y="7417410"/>
            <a:ext cx="109725" cy="124355"/>
          </a:xfrm>
          <a:prstGeom prst="roundRect">
            <a:avLst>
              <a:gd name="adj" fmla="val 6666"/>
            </a:avLst>
          </a:prstGeom>
          <a:solidFill>
            <a:srgbClr val="DDDDD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0" name="rect 319"/>
          <p:cNvSpPr/>
          <p:nvPr/>
        </p:nvSpPr>
        <p:spPr>
          <a:xfrm>
            <a:off x="9582650" y="7417410"/>
            <a:ext cx="109725" cy="124355"/>
          </a:xfrm>
          <a:prstGeom prst="roundRect">
            <a:avLst>
              <a:gd name="adj" fmla="val 6666"/>
            </a:avLst>
          </a:prstGeom>
          <a:solidFill>
            <a:srgbClr val="DDDDD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1" name="rect 320"/>
          <p:cNvSpPr/>
          <p:nvPr/>
        </p:nvSpPr>
        <p:spPr>
          <a:xfrm>
            <a:off x="8595125" y="7607600"/>
            <a:ext cx="1243550" cy="182875"/>
          </a:xfrm>
          <a:prstGeom prst="roundRect">
            <a:avLst>
              <a:gd name="adj" fmla="val 8000"/>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2" name="rect 321"/>
          <p:cNvSpPr/>
          <p:nvPr/>
        </p:nvSpPr>
        <p:spPr>
          <a:xfrm>
            <a:off x="8602440" y="7614915"/>
            <a:ext cx="73150" cy="168245"/>
          </a:xfrm>
          <a:prstGeom prst="rect">
            <a:avLst/>
          </a:prstGeom>
          <a:solidFill>
            <a:srgbClr val="DDDDD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3" name="r1"/>
          <p:cNvSpPr txBox="1"/>
          <p:nvPr/>
        </p:nvSpPr>
        <p:spPr>
          <a:xfrm>
            <a:off x="8819733" y="7616451"/>
            <a:ext cx="253025" cy="192019"/>
          </a:xfrm>
          <a:prstGeom prst="rect">
            <a:avLst/>
          </a:prstGeom>
          <a:noFill/>
        </p:spPr>
        <p:txBody>
          <a:bodyPr wrap="none" lIns="0" rIns="0" tIns="0" bIns="0" anchor="t">
            <a:spAutoFit/>
          </a:bodyPr>
          <a:lstStyle/>
          <a:p>
            <a:pPr algn="ctr">
              <a:lnSpc>
                <a:spcPct val="100000"/>
              </a:lnSpc>
              <a:spcBef>
                <a:spcPts val="0"/>
              </a:spcBef>
              <a:spcAft>
                <a:spcPts val="0"/>
              </a:spcAft>
            </a:pPr>
            <a:r>
              <a:rPr sz="1094" b="1" i="0" lang="en-US" spc="0">
                <a:solidFill>
                  <a:srgbClr val="181818"/>
                </a:solidFill>
                <a:latin typeface="DejaVu Sans"/>
                <a:ea typeface="DejaVu Sans"/>
              </a:rPr>
              <a:t>r1</a:t>
            </a:r>
          </a:p>
        </p:txBody>
      </p:sp>
      <p:sp>
        <p:nvSpPr>
          <p:cNvPr id="324" name="rect 323"/>
          <p:cNvSpPr/>
          <p:nvPr/>
        </p:nvSpPr>
        <p:spPr>
          <a:xfrm>
            <a:off x="9290050" y="7636860"/>
            <a:ext cx="109725" cy="124355"/>
          </a:xfrm>
          <a:prstGeom prst="roundRect">
            <a:avLst>
              <a:gd name="adj" fmla="val 6666"/>
            </a:avLst>
          </a:prstGeom>
          <a:solidFill>
            <a:srgbClr val="DDDDD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5" name="rect 324"/>
          <p:cNvSpPr/>
          <p:nvPr/>
        </p:nvSpPr>
        <p:spPr>
          <a:xfrm>
            <a:off x="9436350" y="7636860"/>
            <a:ext cx="109725" cy="124355"/>
          </a:xfrm>
          <a:prstGeom prst="roundRect">
            <a:avLst>
              <a:gd name="adj" fmla="val 6666"/>
            </a:avLst>
          </a:prstGeom>
          <a:solidFill>
            <a:srgbClr val="DDDDD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6" name="rect 325"/>
          <p:cNvSpPr/>
          <p:nvPr/>
        </p:nvSpPr>
        <p:spPr>
          <a:xfrm>
            <a:off x="9582650" y="7636860"/>
            <a:ext cx="109725" cy="124355"/>
          </a:xfrm>
          <a:prstGeom prst="roundRect">
            <a:avLst>
              <a:gd name="adj" fmla="val 6666"/>
            </a:avLst>
          </a:prstGeom>
          <a:solidFill>
            <a:srgbClr val="DDDDD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7" name="rect 326"/>
          <p:cNvSpPr/>
          <p:nvPr/>
        </p:nvSpPr>
        <p:spPr>
          <a:xfrm>
            <a:off x="8595125" y="7827050"/>
            <a:ext cx="1243550" cy="182875"/>
          </a:xfrm>
          <a:prstGeom prst="roundRect">
            <a:avLst>
              <a:gd name="adj" fmla="val 8000"/>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8" name="rect 327"/>
          <p:cNvSpPr/>
          <p:nvPr/>
        </p:nvSpPr>
        <p:spPr>
          <a:xfrm>
            <a:off x="8602440" y="7834365"/>
            <a:ext cx="73150" cy="168245"/>
          </a:xfrm>
          <a:prstGeom prst="rect">
            <a:avLst/>
          </a:prstGeom>
          <a:solidFill>
            <a:srgbClr val="DDDDD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9" name="r2"/>
          <p:cNvSpPr txBox="1"/>
          <p:nvPr/>
        </p:nvSpPr>
        <p:spPr>
          <a:xfrm>
            <a:off x="8819733" y="7835901"/>
            <a:ext cx="253025" cy="192019"/>
          </a:xfrm>
          <a:prstGeom prst="rect">
            <a:avLst/>
          </a:prstGeom>
          <a:noFill/>
        </p:spPr>
        <p:txBody>
          <a:bodyPr wrap="none" lIns="0" rIns="0" tIns="0" bIns="0" anchor="t">
            <a:spAutoFit/>
          </a:bodyPr>
          <a:lstStyle/>
          <a:p>
            <a:pPr algn="ctr">
              <a:lnSpc>
                <a:spcPct val="100000"/>
              </a:lnSpc>
              <a:spcBef>
                <a:spcPts val="0"/>
              </a:spcBef>
              <a:spcAft>
                <a:spcPts val="0"/>
              </a:spcAft>
            </a:pPr>
            <a:r>
              <a:rPr sz="1094" b="1" i="0" lang="en-US" spc="0">
                <a:solidFill>
                  <a:srgbClr val="181818"/>
                </a:solidFill>
                <a:latin typeface="DejaVu Sans"/>
                <a:ea typeface="DejaVu Sans"/>
              </a:rPr>
              <a:t>r2</a:t>
            </a:r>
          </a:p>
        </p:txBody>
      </p:sp>
      <p:sp>
        <p:nvSpPr>
          <p:cNvPr id="330" name="rect 329"/>
          <p:cNvSpPr/>
          <p:nvPr/>
        </p:nvSpPr>
        <p:spPr>
          <a:xfrm>
            <a:off x="9290050" y="7856310"/>
            <a:ext cx="109725" cy="124355"/>
          </a:xfrm>
          <a:prstGeom prst="roundRect">
            <a:avLst>
              <a:gd name="adj" fmla="val 6666"/>
            </a:avLst>
          </a:prstGeom>
          <a:solidFill>
            <a:srgbClr val="DDDDD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1" name="rect 330"/>
          <p:cNvSpPr/>
          <p:nvPr/>
        </p:nvSpPr>
        <p:spPr>
          <a:xfrm>
            <a:off x="9436350" y="7856310"/>
            <a:ext cx="109725" cy="124355"/>
          </a:xfrm>
          <a:prstGeom prst="roundRect">
            <a:avLst>
              <a:gd name="adj" fmla="val 6666"/>
            </a:avLst>
          </a:prstGeom>
          <a:solidFill>
            <a:srgbClr val="DDDDD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2" name="rect 331"/>
          <p:cNvSpPr/>
          <p:nvPr/>
        </p:nvSpPr>
        <p:spPr>
          <a:xfrm>
            <a:off x="9582650" y="7856310"/>
            <a:ext cx="109725" cy="124355"/>
          </a:xfrm>
          <a:prstGeom prst="roundRect">
            <a:avLst>
              <a:gd name="adj" fmla="val 6666"/>
            </a:avLst>
          </a:prstGeom>
          <a:solidFill>
            <a:srgbClr val="DDDDD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33" name="path 332"/>
          <p:cNvCxnSpPr/>
          <p:nvPr/>
        </p:nvCxnSpPr>
        <p:spPr>
          <a:xfrm>
            <a:off x="9897195" y="7688065"/>
            <a:ext cx="387695" cy="0"/>
          </a:xfrm>
          <a:prstGeom prst="line">
            <a:avLst/>
          </a:prstGeom>
          <a:ln w="19019">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334" name="line 333"/>
          <p:cNvCxnSpPr/>
          <p:nvPr/>
        </p:nvCxnSpPr>
        <p:spPr>
          <a:xfrm>
            <a:off x="10665270" y="727842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35" name="line 334"/>
          <p:cNvCxnSpPr/>
          <p:nvPr/>
        </p:nvCxnSpPr>
        <p:spPr>
          <a:xfrm>
            <a:off x="10665270" y="818548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36" name="line 335"/>
          <p:cNvCxnSpPr/>
          <p:nvPr/>
        </p:nvCxnSpPr>
        <p:spPr>
          <a:xfrm>
            <a:off x="10811570" y="727842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37" name="line 336"/>
          <p:cNvCxnSpPr/>
          <p:nvPr/>
        </p:nvCxnSpPr>
        <p:spPr>
          <a:xfrm>
            <a:off x="10811570" y="818548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38" name="line 337"/>
          <p:cNvCxnSpPr/>
          <p:nvPr/>
        </p:nvCxnSpPr>
        <p:spPr>
          <a:xfrm>
            <a:off x="10957870" y="727842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39" name="line 338"/>
          <p:cNvCxnSpPr/>
          <p:nvPr/>
        </p:nvCxnSpPr>
        <p:spPr>
          <a:xfrm>
            <a:off x="10957870" y="818548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40" name="line 339"/>
          <p:cNvCxnSpPr/>
          <p:nvPr/>
        </p:nvCxnSpPr>
        <p:spPr>
          <a:xfrm>
            <a:off x="11104170" y="727842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41" name="line 340"/>
          <p:cNvCxnSpPr/>
          <p:nvPr/>
        </p:nvCxnSpPr>
        <p:spPr>
          <a:xfrm>
            <a:off x="11104170" y="818548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42" name="line 341"/>
          <p:cNvCxnSpPr/>
          <p:nvPr/>
        </p:nvCxnSpPr>
        <p:spPr>
          <a:xfrm>
            <a:off x="11250470" y="727842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43" name="line 342"/>
          <p:cNvCxnSpPr/>
          <p:nvPr/>
        </p:nvCxnSpPr>
        <p:spPr>
          <a:xfrm>
            <a:off x="11250470" y="818548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44" name="line 343"/>
          <p:cNvCxnSpPr/>
          <p:nvPr/>
        </p:nvCxnSpPr>
        <p:spPr>
          <a:xfrm>
            <a:off x="11396770" y="727842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45" name="line 344"/>
          <p:cNvCxnSpPr/>
          <p:nvPr/>
        </p:nvCxnSpPr>
        <p:spPr>
          <a:xfrm>
            <a:off x="11396770" y="818548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46" name="line 345"/>
          <p:cNvCxnSpPr/>
          <p:nvPr/>
        </p:nvCxnSpPr>
        <p:spPr>
          <a:xfrm>
            <a:off x="10489710" y="746130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47" name="line 346"/>
          <p:cNvCxnSpPr/>
          <p:nvPr/>
        </p:nvCxnSpPr>
        <p:spPr>
          <a:xfrm>
            <a:off x="11565015" y="746130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48" name="line 347"/>
          <p:cNvCxnSpPr/>
          <p:nvPr/>
        </p:nvCxnSpPr>
        <p:spPr>
          <a:xfrm>
            <a:off x="10489710" y="760760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49" name="line 348"/>
          <p:cNvCxnSpPr/>
          <p:nvPr/>
        </p:nvCxnSpPr>
        <p:spPr>
          <a:xfrm>
            <a:off x="11565015" y="760760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50" name="line 349"/>
          <p:cNvCxnSpPr/>
          <p:nvPr/>
        </p:nvCxnSpPr>
        <p:spPr>
          <a:xfrm>
            <a:off x="10489710" y="775390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51" name="line 350"/>
          <p:cNvCxnSpPr/>
          <p:nvPr/>
        </p:nvCxnSpPr>
        <p:spPr>
          <a:xfrm>
            <a:off x="11565015" y="775390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52" name="line 351"/>
          <p:cNvCxnSpPr/>
          <p:nvPr/>
        </p:nvCxnSpPr>
        <p:spPr>
          <a:xfrm>
            <a:off x="10489710" y="790020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53" name="line 352"/>
          <p:cNvCxnSpPr/>
          <p:nvPr/>
        </p:nvCxnSpPr>
        <p:spPr>
          <a:xfrm>
            <a:off x="11565015" y="790020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54" name="line 353"/>
          <p:cNvCxnSpPr/>
          <p:nvPr/>
        </p:nvCxnSpPr>
        <p:spPr>
          <a:xfrm>
            <a:off x="10489710" y="804650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55" name="line 354"/>
          <p:cNvCxnSpPr/>
          <p:nvPr/>
        </p:nvCxnSpPr>
        <p:spPr>
          <a:xfrm>
            <a:off x="11565015" y="804650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356" name="rect 355"/>
          <p:cNvSpPr/>
          <p:nvPr/>
        </p:nvSpPr>
        <p:spPr>
          <a:xfrm>
            <a:off x="10562860" y="7351575"/>
            <a:ext cx="1002155" cy="833910"/>
          </a:xfrm>
          <a:prstGeom prst="roundRect">
            <a:avLst>
              <a:gd name="adj" fmla="val 1754"/>
            </a:avLst>
          </a:prstGeom>
          <a:solidFill>
            <a:srgbClr val="A9CEE8"/>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7" name="GPU"/>
          <p:cNvSpPr txBox="1"/>
          <p:nvPr/>
        </p:nvSpPr>
        <p:spPr>
          <a:xfrm>
            <a:off x="10812384" y="7399122"/>
            <a:ext cx="503106" cy="235909"/>
          </a:xfrm>
          <a:prstGeom prst="rect">
            <a:avLst/>
          </a:prstGeom>
          <a:noFill/>
        </p:spPr>
        <p:txBody>
          <a:bodyPr wrap="none" lIns="0" rIns="0" tIns="0" bIns="0" anchor="t">
            <a:spAutoFit/>
          </a:bodyPr>
          <a:lstStyle/>
          <a:p>
            <a:pPr algn="ctr">
              <a:lnSpc>
                <a:spcPct val="100000"/>
              </a:lnSpc>
              <a:spcBef>
                <a:spcPts val="0"/>
              </a:spcBef>
              <a:spcAft>
                <a:spcPts val="0"/>
              </a:spcAft>
            </a:pPr>
            <a:r>
              <a:rPr sz="1382" b="1" i="0" lang="en-US" spc="0">
                <a:solidFill>
                  <a:srgbClr val="181818"/>
                </a:solidFill>
                <a:latin typeface="DejaVu Sans"/>
                <a:ea typeface="DejaVu Sans"/>
              </a:rPr>
              <a:t>GPU</a:t>
            </a:r>
          </a:p>
        </p:txBody>
      </p:sp>
      <p:sp>
        <p:nvSpPr>
          <p:cNvPr id="358" name="rect 357"/>
          <p:cNvSpPr/>
          <p:nvPr/>
        </p:nvSpPr>
        <p:spPr>
          <a:xfrm>
            <a:off x="10657955" y="7658805"/>
            <a:ext cx="248710" cy="175560"/>
          </a:xfrm>
          <a:prstGeom prst="roundRect">
            <a:avLst>
              <a:gd name="adj" fmla="val 4166"/>
            </a:avLst>
          </a:prstGeom>
          <a:solidFill>
            <a:srgbClr val="E9A6B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9" name="rect 358"/>
          <p:cNvSpPr/>
          <p:nvPr/>
        </p:nvSpPr>
        <p:spPr>
          <a:xfrm>
            <a:off x="10938363" y="7658805"/>
            <a:ext cx="248710" cy="175560"/>
          </a:xfrm>
          <a:prstGeom prst="roundRect">
            <a:avLst>
              <a:gd name="adj" fmla="val 4166"/>
            </a:avLst>
          </a:prstGeom>
          <a:solidFill>
            <a:srgbClr val="B5D68B"/>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0" name="rect 359"/>
          <p:cNvSpPr/>
          <p:nvPr/>
        </p:nvSpPr>
        <p:spPr>
          <a:xfrm>
            <a:off x="11218772" y="7658805"/>
            <a:ext cx="248710" cy="175560"/>
          </a:xfrm>
          <a:prstGeom prst="roundRect">
            <a:avLst>
              <a:gd name="adj" fmla="val 4166"/>
            </a:avLst>
          </a:prstGeom>
          <a:solidFill>
            <a:srgbClr val="E9A6B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1" name="rect 360"/>
          <p:cNvSpPr/>
          <p:nvPr/>
        </p:nvSpPr>
        <p:spPr>
          <a:xfrm>
            <a:off x="10657955" y="7881912"/>
            <a:ext cx="248710" cy="175560"/>
          </a:xfrm>
          <a:prstGeom prst="roundRect">
            <a:avLst>
              <a:gd name="adj" fmla="val 4166"/>
            </a:avLst>
          </a:prstGeom>
          <a:solidFill>
            <a:srgbClr val="F2BD7D"/>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2" name="rect 361"/>
          <p:cNvSpPr/>
          <p:nvPr/>
        </p:nvSpPr>
        <p:spPr>
          <a:xfrm>
            <a:off x="10938363" y="7881912"/>
            <a:ext cx="248710" cy="175560"/>
          </a:xfrm>
          <a:prstGeom prst="roundRect">
            <a:avLst>
              <a:gd name="adj" fmla="val 4166"/>
            </a:avLst>
          </a:prstGeom>
          <a:solidFill>
            <a:srgbClr val="FFFFF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3" name="rect 362"/>
          <p:cNvSpPr/>
          <p:nvPr/>
        </p:nvSpPr>
        <p:spPr>
          <a:xfrm>
            <a:off x="11218772" y="7881912"/>
            <a:ext cx="248710" cy="175560"/>
          </a:xfrm>
          <a:prstGeom prst="roundRect">
            <a:avLst>
              <a:gd name="adj" fmla="val 4166"/>
            </a:avLst>
          </a:prstGeom>
          <a:solidFill>
            <a:srgbClr val="FFFFF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4" name="Native"/>
          <p:cNvSpPr txBox="1"/>
          <p:nvPr/>
        </p:nvSpPr>
        <p:spPr>
          <a:xfrm>
            <a:off x="11777150" y="7443012"/>
            <a:ext cx="730786" cy="235909"/>
          </a:xfrm>
          <a:prstGeom prst="rect">
            <a:avLst/>
          </a:prstGeom>
          <a:noFill/>
        </p:spPr>
        <p:txBody>
          <a:bodyPr wrap="none" lIns="0" rIns="0" tIns="0" bIns="0" anchor="t">
            <a:spAutoFit/>
          </a:bodyPr>
          <a:lstStyle/>
          <a:p>
            <a:pPr algn="l">
              <a:lnSpc>
                <a:spcPct val="100000"/>
              </a:lnSpc>
              <a:spcBef>
                <a:spcPts val="0"/>
              </a:spcBef>
              <a:spcAft>
                <a:spcPts val="0"/>
              </a:spcAft>
            </a:pPr>
            <a:r>
              <a:rPr sz="1382" b="1" i="0" lang="en-US" spc="0">
                <a:solidFill>
                  <a:srgbClr val="181818"/>
                </a:solidFill>
                <a:latin typeface="DejaVu Sans"/>
                <a:ea typeface="DejaVu Sans"/>
              </a:rPr>
              <a:t>Native</a:t>
            </a:r>
          </a:p>
        </p:txBody>
      </p:sp>
      <p:sp>
        <p:nvSpPr>
          <p:cNvPr id="365" name="batch"/>
          <p:cNvSpPr txBox="1"/>
          <p:nvPr/>
        </p:nvSpPr>
        <p:spPr>
          <a:xfrm>
            <a:off x="11777150" y="7684408"/>
            <a:ext cx="644892" cy="235909"/>
          </a:xfrm>
          <a:prstGeom prst="rect">
            <a:avLst/>
          </a:prstGeom>
          <a:noFill/>
        </p:spPr>
        <p:txBody>
          <a:bodyPr wrap="none" lIns="0" rIns="0" tIns="0" bIns="0" anchor="t">
            <a:spAutoFit/>
          </a:bodyPr>
          <a:lstStyle/>
          <a:p>
            <a:pPr algn="l">
              <a:lnSpc>
                <a:spcPct val="100000"/>
              </a:lnSpc>
              <a:spcBef>
                <a:spcPts val="0"/>
              </a:spcBef>
              <a:spcAft>
                <a:spcPts val="0"/>
              </a:spcAft>
            </a:pPr>
            <a:r>
              <a:rPr sz="1382" b="1" i="0" lang="en-US" spc="0">
                <a:solidFill>
                  <a:srgbClr val="181818"/>
                </a:solidFill>
                <a:latin typeface="DejaVu Sans"/>
                <a:ea typeface="DejaVu Sans"/>
              </a:rPr>
              <a:t>batch</a:t>
            </a:r>
          </a:p>
        </p:txBody>
      </p:sp>
      <p:sp>
        <p:nvSpPr>
          <p:cNvPr id="366" name="path 365"/>
          <p:cNvSpPr/>
          <p:nvPr/>
        </p:nvSpPr>
        <p:spPr>
          <a:xfrm>
            <a:off x="146300" y="4791325"/>
            <a:ext cx="12508650" cy="3723335"/>
          </a:xfrm>
          <a:custGeom>
            <a:avLst/>
            <a:gdLst/>
            <a:ahLst/>
            <a:cxnLst/>
            <a:rect l="l" t="t" r="r" b="b"/>
            <a:pathLst>
              <a:path w="1710" h="509">
                <a:moveTo>
                  <a:pt x="1710" y="468"/>
                </a:moveTo>
                <a:lnTo>
                  <a:pt x="1710" y="509"/>
                </a:lnTo>
                <a:lnTo>
                  <a:pt x="0" y="509"/>
                </a:lnTo>
                <a:lnTo>
                  <a:pt x="0" y="0"/>
                </a:lnTo>
                <a:lnTo>
                  <a:pt x="19" y="0"/>
                </a:lnTo>
              </a:path>
            </a:pathLst>
          </a:custGeom>
          <a:noFill/>
          <a:ln w="14630">
            <a:solidFill>
              <a:srgbClr val="2676B8"/>
            </a:solidFill>
            <a:prstDash val="dash"/>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7" name="rect 366"/>
          <p:cNvSpPr/>
          <p:nvPr/>
        </p:nvSpPr>
        <p:spPr>
          <a:xfrm>
            <a:off x="512050" y="8602440"/>
            <a:ext cx="182875" cy="138985"/>
          </a:xfrm>
          <a:prstGeom prst="roundRect">
            <a:avLst>
              <a:gd name="adj" fmla="val 5263"/>
            </a:avLst>
          </a:prstGeom>
          <a:solidFill>
            <a:srgbClr val="E9A6BF"/>
          </a:solidFill>
          <a:ln w="9509">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8" name="Parent"/>
          <p:cNvSpPr txBox="1"/>
          <p:nvPr/>
        </p:nvSpPr>
        <p:spPr>
          <a:xfrm>
            <a:off x="775390" y="8540262"/>
            <a:ext cx="579542" cy="208478"/>
          </a:xfrm>
          <a:prstGeom prst="rect">
            <a:avLst/>
          </a:prstGeom>
          <a:noFill/>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rPr>
              <a:t>Parent</a:t>
            </a:r>
          </a:p>
        </p:txBody>
      </p:sp>
      <p:sp>
        <p:nvSpPr>
          <p:cNvPr id="369" name="rect 368"/>
          <p:cNvSpPr/>
          <p:nvPr/>
        </p:nvSpPr>
        <p:spPr>
          <a:xfrm>
            <a:off x="2055515" y="8602440"/>
            <a:ext cx="182875" cy="138985"/>
          </a:xfrm>
          <a:prstGeom prst="roundRect">
            <a:avLst>
              <a:gd name="adj" fmla="val 5263"/>
            </a:avLst>
          </a:prstGeom>
          <a:solidFill>
            <a:srgbClr val="B5D68B"/>
          </a:solidFill>
          <a:ln w="9509">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0" name="Child 1"/>
          <p:cNvSpPr txBox="1"/>
          <p:nvPr/>
        </p:nvSpPr>
        <p:spPr>
          <a:xfrm>
            <a:off x="2318855" y="8540262"/>
            <a:ext cx="621861" cy="208478"/>
          </a:xfrm>
          <a:prstGeom prst="rect">
            <a:avLst/>
          </a:prstGeom>
          <a:noFill/>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rPr>
              <a:t>Child 1</a:t>
            </a:r>
          </a:p>
        </p:txBody>
      </p:sp>
      <p:sp>
        <p:nvSpPr>
          <p:cNvPr id="371" name="rect 370"/>
          <p:cNvSpPr/>
          <p:nvPr/>
        </p:nvSpPr>
        <p:spPr>
          <a:xfrm>
            <a:off x="3584350" y="8602440"/>
            <a:ext cx="182875" cy="138985"/>
          </a:xfrm>
          <a:prstGeom prst="roundRect">
            <a:avLst>
              <a:gd name="adj" fmla="val 5263"/>
            </a:avLst>
          </a:prstGeom>
          <a:solidFill>
            <a:srgbClr val="F2BD7D"/>
          </a:solidFill>
          <a:ln w="9509">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2" name="Child 2"/>
          <p:cNvSpPr txBox="1"/>
          <p:nvPr/>
        </p:nvSpPr>
        <p:spPr>
          <a:xfrm>
            <a:off x="3847690" y="8540262"/>
            <a:ext cx="621861" cy="208478"/>
          </a:xfrm>
          <a:prstGeom prst="rect">
            <a:avLst/>
          </a:prstGeom>
          <a:noFill/>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rPr>
              <a:t>Child 2</a:t>
            </a:r>
          </a:p>
        </p:txBody>
      </p:sp>
      <p:cxnSp>
        <p:nvCxnSpPr>
          <p:cNvPr id="373" name="path 372"/>
          <p:cNvCxnSpPr/>
          <p:nvPr/>
        </p:nvCxnSpPr>
        <p:spPr>
          <a:xfrm>
            <a:off x="5537455" y="8660960"/>
            <a:ext cx="321860" cy="0"/>
          </a:xfrm>
          <a:prstGeom prst="line">
            <a:avLst/>
          </a:prstGeom>
          <a:ln w="14630">
            <a:solidFill>
              <a:srgbClr val="BF3335"/>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374" name="Action"/>
          <p:cNvSpPr txBox="1"/>
          <p:nvPr/>
        </p:nvSpPr>
        <p:spPr>
          <a:xfrm>
            <a:off x="5976355" y="8540262"/>
            <a:ext cx="568913" cy="208478"/>
          </a:xfrm>
          <a:prstGeom prst="rect">
            <a:avLst/>
          </a:prstGeom>
          <a:noFill/>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rPr>
              <a:t>Action</a:t>
            </a:r>
          </a:p>
        </p:txBody>
      </p:sp>
      <p:cxnSp>
        <p:nvCxnSpPr>
          <p:cNvPr id="375" name="path 374"/>
          <p:cNvCxnSpPr/>
          <p:nvPr/>
        </p:nvCxnSpPr>
        <p:spPr>
          <a:xfrm>
            <a:off x="7783160" y="8660960"/>
            <a:ext cx="321860" cy="0"/>
          </a:xfrm>
          <a:prstGeom prst="line">
            <a:avLst/>
          </a:prstGeom>
          <a:ln w="14630">
            <a:solidFill>
              <a:srgbClr val="2676B8"/>
            </a:solidFill>
            <a:prstDash val="dash"/>
            <a:tailEnd type="triangle" w="lg" len="lg"/>
          </a:ln>
          <a:effectLst/>
        </p:spPr>
        <p:style>
          <a:lnRef idx="2">
            <a:schemeClr val="accent1"/>
          </a:lnRef>
          <a:fillRef idx="0">
            <a:schemeClr val="accent1"/>
          </a:fillRef>
          <a:effectRef idx="0">
            <a:schemeClr val="accent1"/>
          </a:effectRef>
          <a:fontRef idx="minor">
            <a:schemeClr val="tx1"/>
          </a:fontRef>
        </p:style>
      </p:cxnSp>
      <p:sp>
        <p:nvSpPr>
          <p:cNvPr id="376" name="ACK / service / reuse"/>
          <p:cNvSpPr txBox="1"/>
          <p:nvPr/>
        </p:nvSpPr>
        <p:spPr>
          <a:xfrm>
            <a:off x="8229375" y="8540262"/>
            <a:ext cx="1673535" cy="208478"/>
          </a:xfrm>
          <a:prstGeom prst="rect">
            <a:avLst/>
          </a:prstGeom>
          <a:noFill/>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rPr>
              <a:t>ACK / service / reuse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From Completion Signals to Near-term Demand"/>
          <p:cNvSpPr txBox="1"/>
          <p:nvPr/>
        </p:nvSpPr>
        <p:spPr>
          <a:xfrm>
            <a:off x="292600" y="120698"/>
            <a:ext cx="7317629" cy="345634"/>
          </a:xfrm>
          <a:prstGeom prst="rect">
            <a:avLst/>
          </a:prstGeom>
          <a:noFill/>
        </p:spPr>
        <p:txBody>
          <a:bodyPr wrap="none" lIns="0" rIns="0" tIns="0" bIns="0" anchor="t">
            <a:spAutoFit/>
          </a:bodyPr>
          <a:lstStyle/>
          <a:p>
            <a:pPr algn="l">
              <a:lnSpc>
                <a:spcPct val="100000"/>
              </a:lnSpc>
              <a:spcBef>
                <a:spcPts val="0"/>
              </a:spcBef>
              <a:spcAft>
                <a:spcPts val="0"/>
              </a:spcAft>
            </a:pPr>
            <a:r>
              <a:rPr sz="2131" b="1" i="0" lang="en-US" spc="0">
                <a:solidFill>
                  <a:srgbClr val="181818"/>
                </a:solidFill>
                <a:latin typeface="DejaVu Sans"/>
                <a:ea typeface="DejaVu Sans"/>
              </a:rPr>
              <a:t>From Completion Signals to Near-term Demand</a:t>
            </a:r>
          </a:p>
        </p:txBody>
      </p:sp>
      <p:sp>
        <p:nvSpPr>
          <p:cNvPr id="3" name="Delivered content + service progress → separate phase / work heads → runtime timing"/>
          <p:cNvSpPr txBox="1"/>
          <p:nvPr/>
        </p:nvSpPr>
        <p:spPr>
          <a:xfrm>
            <a:off x="292600" y="479132"/>
            <a:ext cx="7723954" cy="235909"/>
          </a:xfrm>
          <a:prstGeom prst="rect">
            <a:avLst/>
          </a:prstGeom>
          <a:noFill/>
        </p:spPr>
        <p:txBody>
          <a:bodyPr wrap="none" lIns="0" rIns="0" tIns="0" bIns="0" anchor="t">
            <a:spAutoFit/>
          </a:bodyPr>
          <a:lstStyle/>
          <a:p>
            <a:pPr algn="l">
              <a:lnSpc>
                <a:spcPct val="100000"/>
              </a:lnSpc>
              <a:spcBef>
                <a:spcPts val="0"/>
              </a:spcBef>
              <a:spcAft>
                <a:spcPts val="0"/>
              </a:spcAft>
            </a:pPr>
            <a:r>
              <a:rPr sz="1382" b="0" i="0" lang="en-US" spc="0">
                <a:solidFill>
                  <a:srgbClr val="535353"/>
                </a:solidFill>
                <a:latin typeface="DejaVu Sans"/>
                <a:ea typeface="DejaVu Sans"/>
              </a:rPr>
              <a:t>Delivered content + service progress → separate phase / work heads → runtime timing</a:t>
            </a:r>
          </a:p>
        </p:txBody>
      </p:sp>
      <p:cxnSp>
        <p:nvCxnSpPr>
          <p:cNvPr id="4" name="line 3"/>
          <p:cNvCxnSpPr/>
          <p:nvPr/>
        </p:nvCxnSpPr>
        <p:spPr>
          <a:xfrm>
            <a:off x="292600" y="790020"/>
            <a:ext cx="12581800" cy="0"/>
          </a:xfrm>
          <a:prstGeom prst="line">
            <a:avLst/>
          </a:prstGeom>
          <a:ln w="11704">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5" name="rect 4"/>
          <p:cNvSpPr/>
          <p:nvPr/>
        </p:nvSpPr>
        <p:spPr>
          <a:xfrm>
            <a:off x="292600" y="965580"/>
            <a:ext cx="8119650" cy="3218600"/>
          </a:xfrm>
          <a:prstGeom prst="roundRect">
            <a:avLst>
              <a:gd name="adj" fmla="val 1363"/>
            </a:avLst>
          </a:prstGeom>
          <a:solidFill>
            <a:srgbClr val="EEEEEE"/>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 5"/>
          <p:cNvSpPr/>
          <p:nvPr/>
        </p:nvSpPr>
        <p:spPr>
          <a:xfrm>
            <a:off x="292600" y="965580"/>
            <a:ext cx="8119650" cy="351120"/>
          </a:xfrm>
          <a:prstGeom prst="roundRect">
            <a:avLst>
              <a:gd name="adj" fmla="val 12500"/>
            </a:avLst>
          </a:prstGeom>
          <a:solidFill>
            <a:srgbClr val="A9CEE8"/>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 6"/>
          <p:cNvSpPr/>
          <p:nvPr/>
        </p:nvSpPr>
        <p:spPr>
          <a:xfrm>
            <a:off x="301378" y="1163085"/>
            <a:ext cx="8102094" cy="146300"/>
          </a:xfrm>
          <a:prstGeom prst="rect">
            <a:avLst/>
          </a:prstGeom>
          <a:solidFill>
            <a:srgbClr val="A9CE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8" name="line 7"/>
          <p:cNvCxnSpPr/>
          <p:nvPr/>
        </p:nvCxnSpPr>
        <p:spPr>
          <a:xfrm>
            <a:off x="292600" y="1316700"/>
            <a:ext cx="8119650" cy="0"/>
          </a:xfrm>
          <a:prstGeom prst="line">
            <a:avLst/>
          </a:prstGeom>
          <a:ln w="12435">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9" name="(a) Asynchronous child model"/>
          <p:cNvSpPr txBox="1"/>
          <p:nvPr/>
        </p:nvSpPr>
        <p:spPr>
          <a:xfrm>
            <a:off x="438900" y="1016785"/>
            <a:ext cx="3514372" cy="268826"/>
          </a:xfrm>
          <a:prstGeom prst="rect">
            <a:avLst/>
          </a:prstGeom>
          <a:noFill/>
        </p:spPr>
        <p:txBody>
          <a:bodyPr wrap="none" lIns="0" rIns="0" tIns="0" bIns="0" anchor="t">
            <a:spAutoFit/>
          </a:bodyPr>
          <a:lstStyle/>
          <a:p>
            <a:pPr algn="l">
              <a:lnSpc>
                <a:spcPct val="100000"/>
              </a:lnSpc>
              <a:spcBef>
                <a:spcPts val="0"/>
              </a:spcBef>
              <a:spcAft>
                <a:spcPts val="0"/>
              </a:spcAft>
            </a:pPr>
            <a:r>
              <a:rPr sz="1612" b="1" i="0" lang="en-US" spc="0">
                <a:solidFill>
                  <a:srgbClr val="181818"/>
                </a:solidFill>
                <a:latin typeface="DejaVu Sans"/>
                <a:ea typeface="DejaVu Sans"/>
              </a:rPr>
              <a:t>(a) Asynchronous child model</a:t>
            </a:r>
          </a:p>
        </p:txBody>
      </p:sp>
      <p:sp>
        <p:nvSpPr>
          <p:cNvPr id="10" name="rect 9"/>
          <p:cNvSpPr/>
          <p:nvPr/>
        </p:nvSpPr>
        <p:spPr>
          <a:xfrm>
            <a:off x="555940" y="1740970"/>
            <a:ext cx="1060675" cy="899745"/>
          </a:xfrm>
          <a:prstGeom prst="roundRect">
            <a:avLst>
              <a:gd name="adj" fmla="val 1626"/>
            </a:avLst>
          </a:prstGeom>
          <a:solidFill>
            <a:srgbClr val="FFFFFF"/>
          </a:solidFill>
          <a:ln w="13898">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polygon 10"/>
          <p:cNvSpPr/>
          <p:nvPr/>
        </p:nvSpPr>
        <p:spPr>
          <a:xfrm>
            <a:off x="1441055" y="1740970"/>
            <a:ext cx="175560" cy="175560"/>
          </a:xfrm>
          <a:custGeom>
            <a:avLst/>
            <a:gdLst/>
            <a:ahLst/>
            <a:cxnLst/>
            <a:rect l="l" t="t" r="r" b="b"/>
            <a:pathLst>
              <a:path w="24" h="24">
                <a:moveTo>
                  <a:pt x="0" y="0"/>
                </a:moveTo>
                <a:lnTo>
                  <a:pt x="24" y="24"/>
                </a:lnTo>
                <a:lnTo>
                  <a:pt x="0" y="24"/>
                </a:lnTo>
                <a:close/>
              </a:path>
            </a:pathLst>
          </a:custGeom>
          <a:solidFill>
            <a:srgbClr val="DDDDD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 11"/>
          <p:cNvSpPr/>
          <p:nvPr/>
        </p:nvSpPr>
        <p:spPr>
          <a:xfrm>
            <a:off x="643720" y="1916530"/>
            <a:ext cx="632016" cy="73150"/>
          </a:xfrm>
          <a:prstGeom prst="rect">
            <a:avLst/>
          </a:prstGeom>
          <a:solidFill>
            <a:srgbClr val="DDDDD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 12"/>
          <p:cNvSpPr/>
          <p:nvPr/>
        </p:nvSpPr>
        <p:spPr>
          <a:xfrm>
            <a:off x="643720" y="2055515"/>
            <a:ext cx="737352" cy="73150"/>
          </a:xfrm>
          <a:prstGeom prst="rect">
            <a:avLst/>
          </a:prstGeom>
          <a:solidFill>
            <a:srgbClr val="F2BD7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ect 13"/>
          <p:cNvSpPr/>
          <p:nvPr/>
        </p:nvSpPr>
        <p:spPr>
          <a:xfrm>
            <a:off x="643720" y="2194500"/>
            <a:ext cx="570570" cy="73150"/>
          </a:xfrm>
          <a:prstGeom prst="rect">
            <a:avLst/>
          </a:prstGeom>
          <a:solidFill>
            <a:srgbClr val="DDDDD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rect 14"/>
          <p:cNvSpPr/>
          <p:nvPr/>
        </p:nvSpPr>
        <p:spPr>
          <a:xfrm>
            <a:off x="643720" y="2333485"/>
            <a:ext cx="675906" cy="73150"/>
          </a:xfrm>
          <a:prstGeom prst="rect">
            <a:avLst/>
          </a:prstGeom>
          <a:solidFill>
            <a:srgbClr val="F2BD7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x"/>
          <p:cNvSpPr txBox="1"/>
          <p:nvPr/>
        </p:nvSpPr>
        <p:spPr>
          <a:xfrm>
            <a:off x="891273" y="1406309"/>
            <a:ext cx="185190" cy="272484"/>
          </a:xfrm>
          <a:prstGeom prst="rect">
            <a:avLst/>
          </a:prstGeom>
          <a:noFill/>
        </p:spPr>
        <p:txBody>
          <a:bodyPr wrap="none" lIns="0" rIns="0" tIns="0" bIns="0" anchor="t">
            <a:spAutoFit/>
          </a:bodyPr>
          <a:lstStyle/>
          <a:p>
            <a:pPr algn="l">
              <a:lnSpc>
                <a:spcPct val="100000"/>
              </a:lnSpc>
              <a:spcBef>
                <a:spcPts val="0"/>
              </a:spcBef>
              <a:spcAft>
                <a:spcPts val="0"/>
              </a:spcAft>
            </a:pPr>
            <a:r>
              <a:rPr sz="1727" b="0" i="1" lang="en-US" spc="0">
                <a:solidFill>
                  <a:srgbClr val="181818"/>
                </a:solidFill>
                <a:latin typeface="Liberation Serif"/>
                <a:ea typeface="Liberation Serif"/>
              </a:rPr>
              <a:t>x</a:t>
            </a:r>
          </a:p>
        </p:txBody>
      </p:sp>
      <p:sp>
        <p:nvSpPr>
          <p:cNvPr id="17" name="t−k:t"/>
          <p:cNvSpPr txBox="1"/>
          <p:nvPr/>
        </p:nvSpPr>
        <p:spPr>
          <a:xfrm>
            <a:off x="995997" y="1528835"/>
            <a:ext cx="358435" cy="188361"/>
          </a:xfrm>
          <a:prstGeom prst="rect">
            <a:avLst/>
          </a:prstGeom>
          <a:noFill/>
        </p:spPr>
        <p:txBody>
          <a:bodyPr wrap="none" lIns="0" rIns="0" tIns="0" bIns="0" anchor="t">
            <a:spAutoFit/>
          </a:bodyPr>
          <a:lstStyle/>
          <a:p>
            <a:pPr algn="l">
              <a:lnSpc>
                <a:spcPct val="100000"/>
              </a:lnSpc>
              <a:spcBef>
                <a:spcPts val="0"/>
              </a:spcBef>
              <a:spcAft>
                <a:spcPts val="0"/>
              </a:spcAft>
            </a:pPr>
            <a:r>
              <a:rPr sz="1123" b="0" i="0" lang="en-US" spc="0">
                <a:solidFill>
                  <a:srgbClr val="181818"/>
                </a:solidFill>
                <a:latin typeface="Liberation Serif"/>
                <a:ea typeface="Liberation Serif"/>
              </a:rPr>
              <a:t>t−k:t</a:t>
            </a:r>
          </a:p>
        </p:txBody>
      </p:sp>
      <p:cxnSp>
        <p:nvCxnSpPr>
          <p:cNvPr id="18" name="path 17"/>
          <p:cNvCxnSpPr/>
          <p:nvPr/>
        </p:nvCxnSpPr>
        <p:spPr>
          <a:xfrm>
            <a:off x="1631245" y="2179870"/>
            <a:ext cx="497420" cy="0"/>
          </a:xfrm>
          <a:prstGeom prst="line">
            <a:avLst/>
          </a:prstGeom>
          <a:ln w="19019">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19" name="line 18"/>
          <p:cNvCxnSpPr/>
          <p:nvPr/>
        </p:nvCxnSpPr>
        <p:spPr>
          <a:xfrm>
            <a:off x="2384690" y="1828750"/>
            <a:ext cx="446215" cy="0"/>
          </a:xfrm>
          <a:prstGeom prst="line">
            <a:avLst/>
          </a:prstGeom>
          <a:ln w="8046">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20" name="line 19"/>
          <p:cNvCxnSpPr/>
          <p:nvPr/>
        </p:nvCxnSpPr>
        <p:spPr>
          <a:xfrm>
            <a:off x="2384690" y="1828750"/>
            <a:ext cx="446215" cy="329175"/>
          </a:xfrm>
          <a:prstGeom prst="line">
            <a:avLst/>
          </a:prstGeom>
          <a:ln w="8046">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21" name="line 20"/>
          <p:cNvCxnSpPr/>
          <p:nvPr/>
        </p:nvCxnSpPr>
        <p:spPr>
          <a:xfrm>
            <a:off x="2384690" y="1828750"/>
            <a:ext cx="446215" cy="658350"/>
          </a:xfrm>
          <a:prstGeom prst="line">
            <a:avLst/>
          </a:prstGeom>
          <a:ln w="8046">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22" name="line 21"/>
          <p:cNvCxnSpPr/>
          <p:nvPr/>
        </p:nvCxnSpPr>
        <p:spPr>
          <a:xfrm flipV="1">
            <a:off x="2384690" y="1828750"/>
            <a:ext cx="446215" cy="329175"/>
          </a:xfrm>
          <a:prstGeom prst="line">
            <a:avLst/>
          </a:prstGeom>
          <a:ln w="8046">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23" name="line 22"/>
          <p:cNvCxnSpPr/>
          <p:nvPr/>
        </p:nvCxnSpPr>
        <p:spPr>
          <a:xfrm>
            <a:off x="2384690" y="2157925"/>
            <a:ext cx="446215" cy="0"/>
          </a:xfrm>
          <a:prstGeom prst="line">
            <a:avLst/>
          </a:prstGeom>
          <a:ln w="8046">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24" name="line 23"/>
          <p:cNvCxnSpPr/>
          <p:nvPr/>
        </p:nvCxnSpPr>
        <p:spPr>
          <a:xfrm>
            <a:off x="2384690" y="2157925"/>
            <a:ext cx="446215" cy="329175"/>
          </a:xfrm>
          <a:prstGeom prst="line">
            <a:avLst/>
          </a:prstGeom>
          <a:ln w="8046">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25" name="line 24"/>
          <p:cNvCxnSpPr/>
          <p:nvPr/>
        </p:nvCxnSpPr>
        <p:spPr>
          <a:xfrm flipV="1">
            <a:off x="2384690" y="1828750"/>
            <a:ext cx="446215" cy="658350"/>
          </a:xfrm>
          <a:prstGeom prst="line">
            <a:avLst/>
          </a:prstGeom>
          <a:ln w="8046">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26" name="line 25"/>
          <p:cNvCxnSpPr/>
          <p:nvPr/>
        </p:nvCxnSpPr>
        <p:spPr>
          <a:xfrm flipV="1">
            <a:off x="2384690" y="2157925"/>
            <a:ext cx="446215" cy="329175"/>
          </a:xfrm>
          <a:prstGeom prst="line">
            <a:avLst/>
          </a:prstGeom>
          <a:ln w="8046">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27" name="line 26"/>
          <p:cNvCxnSpPr/>
          <p:nvPr/>
        </p:nvCxnSpPr>
        <p:spPr>
          <a:xfrm>
            <a:off x="2384690" y="2487100"/>
            <a:ext cx="446215" cy="0"/>
          </a:xfrm>
          <a:prstGeom prst="line">
            <a:avLst/>
          </a:prstGeom>
          <a:ln w="8046">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28" name="line 27"/>
          <p:cNvCxnSpPr/>
          <p:nvPr/>
        </p:nvCxnSpPr>
        <p:spPr>
          <a:xfrm>
            <a:off x="2991835" y="1828750"/>
            <a:ext cx="446215" cy="0"/>
          </a:xfrm>
          <a:prstGeom prst="line">
            <a:avLst/>
          </a:prstGeom>
          <a:ln w="8046">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29" name="line 28"/>
          <p:cNvCxnSpPr/>
          <p:nvPr/>
        </p:nvCxnSpPr>
        <p:spPr>
          <a:xfrm>
            <a:off x="2991835" y="1828750"/>
            <a:ext cx="446215" cy="329175"/>
          </a:xfrm>
          <a:prstGeom prst="line">
            <a:avLst/>
          </a:prstGeom>
          <a:ln w="8046">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30" name="line 29"/>
          <p:cNvCxnSpPr/>
          <p:nvPr/>
        </p:nvCxnSpPr>
        <p:spPr>
          <a:xfrm>
            <a:off x="2991835" y="1828750"/>
            <a:ext cx="446215" cy="658350"/>
          </a:xfrm>
          <a:prstGeom prst="line">
            <a:avLst/>
          </a:prstGeom>
          <a:ln w="8046">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31" name="line 30"/>
          <p:cNvCxnSpPr/>
          <p:nvPr/>
        </p:nvCxnSpPr>
        <p:spPr>
          <a:xfrm flipV="1">
            <a:off x="2991835" y="1828750"/>
            <a:ext cx="446215" cy="329175"/>
          </a:xfrm>
          <a:prstGeom prst="line">
            <a:avLst/>
          </a:prstGeom>
          <a:ln w="8046">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32" name="line 31"/>
          <p:cNvCxnSpPr/>
          <p:nvPr/>
        </p:nvCxnSpPr>
        <p:spPr>
          <a:xfrm>
            <a:off x="2991835" y="2157925"/>
            <a:ext cx="446215" cy="0"/>
          </a:xfrm>
          <a:prstGeom prst="line">
            <a:avLst/>
          </a:prstGeom>
          <a:ln w="8046">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33" name="line 32"/>
          <p:cNvCxnSpPr/>
          <p:nvPr/>
        </p:nvCxnSpPr>
        <p:spPr>
          <a:xfrm>
            <a:off x="2991835" y="2157925"/>
            <a:ext cx="446215" cy="329175"/>
          </a:xfrm>
          <a:prstGeom prst="line">
            <a:avLst/>
          </a:prstGeom>
          <a:ln w="8046">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34" name="line 33"/>
          <p:cNvCxnSpPr/>
          <p:nvPr/>
        </p:nvCxnSpPr>
        <p:spPr>
          <a:xfrm flipV="1">
            <a:off x="2991835" y="1828750"/>
            <a:ext cx="446215" cy="658350"/>
          </a:xfrm>
          <a:prstGeom prst="line">
            <a:avLst/>
          </a:prstGeom>
          <a:ln w="8046">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35" name="line 34"/>
          <p:cNvCxnSpPr/>
          <p:nvPr/>
        </p:nvCxnSpPr>
        <p:spPr>
          <a:xfrm flipV="1">
            <a:off x="2991835" y="2157925"/>
            <a:ext cx="446215" cy="329175"/>
          </a:xfrm>
          <a:prstGeom prst="line">
            <a:avLst/>
          </a:prstGeom>
          <a:ln w="8046">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36" name="line 35"/>
          <p:cNvCxnSpPr/>
          <p:nvPr/>
        </p:nvCxnSpPr>
        <p:spPr>
          <a:xfrm>
            <a:off x="2991835" y="2487100"/>
            <a:ext cx="446215" cy="0"/>
          </a:xfrm>
          <a:prstGeom prst="line">
            <a:avLst/>
          </a:prstGeom>
          <a:ln w="8046">
            <a:solidFill>
              <a:srgbClr val="A6A6A6"/>
            </a:solidFill>
          </a:ln>
          <a:effectLst/>
        </p:spPr>
        <p:style>
          <a:lnRef idx="2">
            <a:schemeClr val="accent1"/>
          </a:lnRef>
          <a:fillRef idx="0">
            <a:schemeClr val="accent1"/>
          </a:fillRef>
          <a:effectRef idx="0">
            <a:schemeClr val="accent1"/>
          </a:effectRef>
          <a:fontRef idx="minor">
            <a:schemeClr val="tx1"/>
          </a:fontRef>
        </p:style>
      </p:cxnSp>
      <p:sp>
        <p:nvSpPr>
          <p:cNvPr id="37" name="circle 36"/>
          <p:cNvSpPr/>
          <p:nvPr/>
        </p:nvSpPr>
        <p:spPr>
          <a:xfrm>
            <a:off x="2216445" y="1740970"/>
            <a:ext cx="175560" cy="175560"/>
          </a:xfrm>
          <a:prstGeom prst="ellipse">
            <a:avLst/>
          </a:prstGeom>
          <a:solidFill>
            <a:srgbClr val="A9CEE8"/>
          </a:solidFill>
          <a:ln w="11704">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circle 37"/>
          <p:cNvSpPr/>
          <p:nvPr/>
        </p:nvSpPr>
        <p:spPr>
          <a:xfrm>
            <a:off x="2216445" y="2070145"/>
            <a:ext cx="175560" cy="175560"/>
          </a:xfrm>
          <a:prstGeom prst="ellipse">
            <a:avLst/>
          </a:prstGeom>
          <a:solidFill>
            <a:srgbClr val="A9CEE8"/>
          </a:solidFill>
          <a:ln w="11704">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circle 38"/>
          <p:cNvSpPr/>
          <p:nvPr/>
        </p:nvSpPr>
        <p:spPr>
          <a:xfrm>
            <a:off x="2216445" y="2399320"/>
            <a:ext cx="175560" cy="175560"/>
          </a:xfrm>
          <a:prstGeom prst="ellipse">
            <a:avLst/>
          </a:prstGeom>
          <a:solidFill>
            <a:srgbClr val="A9CEE8"/>
          </a:solidFill>
          <a:ln w="11704">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circle 39"/>
          <p:cNvSpPr/>
          <p:nvPr/>
        </p:nvSpPr>
        <p:spPr>
          <a:xfrm>
            <a:off x="2823590" y="1740970"/>
            <a:ext cx="175560" cy="175560"/>
          </a:xfrm>
          <a:prstGeom prst="ellipse">
            <a:avLst/>
          </a:prstGeom>
          <a:solidFill>
            <a:srgbClr val="A9CEE8"/>
          </a:solidFill>
          <a:ln w="11704">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circle 40"/>
          <p:cNvSpPr/>
          <p:nvPr/>
        </p:nvSpPr>
        <p:spPr>
          <a:xfrm>
            <a:off x="2823590" y="2070145"/>
            <a:ext cx="175560" cy="175560"/>
          </a:xfrm>
          <a:prstGeom prst="ellipse">
            <a:avLst/>
          </a:prstGeom>
          <a:solidFill>
            <a:srgbClr val="A9CEE8"/>
          </a:solidFill>
          <a:ln w="11704">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circle 41"/>
          <p:cNvSpPr/>
          <p:nvPr/>
        </p:nvSpPr>
        <p:spPr>
          <a:xfrm>
            <a:off x="2823590" y="2399320"/>
            <a:ext cx="175560" cy="175560"/>
          </a:xfrm>
          <a:prstGeom prst="ellipse">
            <a:avLst/>
          </a:prstGeom>
          <a:solidFill>
            <a:srgbClr val="A9CEE8"/>
          </a:solidFill>
          <a:ln w="11704">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circle 42"/>
          <p:cNvSpPr/>
          <p:nvPr/>
        </p:nvSpPr>
        <p:spPr>
          <a:xfrm>
            <a:off x="3430735" y="1740970"/>
            <a:ext cx="175560" cy="175560"/>
          </a:xfrm>
          <a:prstGeom prst="ellipse">
            <a:avLst/>
          </a:prstGeom>
          <a:solidFill>
            <a:srgbClr val="B5D68B"/>
          </a:solidFill>
          <a:ln w="11704">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circle 43"/>
          <p:cNvSpPr/>
          <p:nvPr/>
        </p:nvSpPr>
        <p:spPr>
          <a:xfrm>
            <a:off x="3430735" y="2070145"/>
            <a:ext cx="175560" cy="175560"/>
          </a:xfrm>
          <a:prstGeom prst="ellipse">
            <a:avLst/>
          </a:prstGeom>
          <a:solidFill>
            <a:srgbClr val="B5D68B"/>
          </a:solidFill>
          <a:ln w="11704">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circle 44"/>
          <p:cNvSpPr/>
          <p:nvPr/>
        </p:nvSpPr>
        <p:spPr>
          <a:xfrm>
            <a:off x="3430735" y="2399320"/>
            <a:ext cx="175560" cy="175560"/>
          </a:xfrm>
          <a:prstGeom prst="ellipse">
            <a:avLst/>
          </a:prstGeom>
          <a:solidFill>
            <a:srgbClr val="B5D68B"/>
          </a:solidFill>
          <a:ln w="11704">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path 45"/>
          <p:cNvSpPr/>
          <p:nvPr/>
        </p:nvSpPr>
        <p:spPr>
          <a:xfrm>
            <a:off x="3474625" y="1448370"/>
            <a:ext cx="73150" cy="65835"/>
          </a:xfrm>
          <a:custGeom>
            <a:avLst/>
            <a:gdLst/>
            <a:ahLst/>
            <a:cxnLst/>
            <a:rect l="l" t="t" r="r" b="b"/>
            <a:pathLst>
              <a:path w="10" h="9">
                <a:moveTo>
                  <a:pt x="0" y="9"/>
                </a:moveTo>
                <a:lnTo>
                  <a:pt x="0" y="0"/>
                </a:lnTo>
                <a:lnTo>
                  <a:pt x="10" y="0"/>
                </a:lnTo>
                <a:lnTo>
                  <a:pt x="10" y="9"/>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rect 46"/>
          <p:cNvSpPr/>
          <p:nvPr/>
        </p:nvSpPr>
        <p:spPr>
          <a:xfrm>
            <a:off x="3445365" y="1512376"/>
            <a:ext cx="131670" cy="109725"/>
          </a:xfrm>
          <a:prstGeom prst="roundRect">
            <a:avLst>
              <a:gd name="adj" fmla="val 13333"/>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circle 47"/>
          <p:cNvSpPr/>
          <p:nvPr/>
        </p:nvSpPr>
        <p:spPr>
          <a:xfrm>
            <a:off x="3500228" y="1545294"/>
            <a:ext cx="21945" cy="21945"/>
          </a:xfrm>
          <a:prstGeom prst="ellipse">
            <a:avLst/>
          </a:prstGeom>
          <a:solidFill>
            <a:srgbClr val="18181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Frozen encoder"/>
          <p:cNvSpPr txBox="1"/>
          <p:nvPr/>
        </p:nvSpPr>
        <p:spPr>
          <a:xfrm>
            <a:off x="2105834" y="2754098"/>
            <a:ext cx="1611072" cy="235909"/>
          </a:xfrm>
          <a:prstGeom prst="rect">
            <a:avLst/>
          </a:prstGeom>
          <a:noFill/>
        </p:spPr>
        <p:txBody>
          <a:bodyPr wrap="none" lIns="0" rIns="0" tIns="0" bIns="0" anchor="t">
            <a:spAutoFit/>
          </a:bodyPr>
          <a:lstStyle/>
          <a:p>
            <a:pPr algn="ctr">
              <a:lnSpc>
                <a:spcPct val="100000"/>
              </a:lnSpc>
              <a:spcBef>
                <a:spcPts val="0"/>
              </a:spcBef>
              <a:spcAft>
                <a:spcPts val="0"/>
              </a:spcAft>
            </a:pPr>
            <a:r>
              <a:rPr sz="1382" b="1" i="0" lang="en-US" spc="0">
                <a:solidFill>
                  <a:srgbClr val="181818"/>
                </a:solidFill>
                <a:latin typeface="DejaVu Sans"/>
                <a:ea typeface="DejaVu Sans"/>
              </a:rPr>
              <a:t>Frozen encoder</a:t>
            </a:r>
          </a:p>
        </p:txBody>
      </p:sp>
      <p:cxnSp>
        <p:nvCxnSpPr>
          <p:cNvPr id="50" name="path 49"/>
          <p:cNvCxnSpPr/>
          <p:nvPr/>
        </p:nvCxnSpPr>
        <p:spPr>
          <a:xfrm>
            <a:off x="3628240" y="2172555"/>
            <a:ext cx="416955" cy="0"/>
          </a:xfrm>
          <a:prstGeom prst="line">
            <a:avLst/>
          </a:prstGeom>
          <a:ln w="19019">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51" name="rect 50"/>
          <p:cNvSpPr/>
          <p:nvPr/>
        </p:nvSpPr>
        <p:spPr>
          <a:xfrm>
            <a:off x="4154920" y="1711710"/>
            <a:ext cx="219450" cy="124355"/>
          </a:xfrm>
          <a:prstGeom prst="rect">
            <a:avLst/>
          </a:prstGeom>
          <a:solidFill>
            <a:srgbClr val="A9CEE8"/>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rect 51"/>
          <p:cNvSpPr/>
          <p:nvPr/>
        </p:nvSpPr>
        <p:spPr>
          <a:xfrm>
            <a:off x="4154920" y="1858010"/>
            <a:ext cx="219450" cy="124355"/>
          </a:xfrm>
          <a:prstGeom prst="rect">
            <a:avLst/>
          </a:prstGeom>
          <a:solidFill>
            <a:srgbClr val="F2BD7D"/>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rect 52"/>
          <p:cNvSpPr/>
          <p:nvPr/>
        </p:nvSpPr>
        <p:spPr>
          <a:xfrm>
            <a:off x="4154920" y="2004310"/>
            <a:ext cx="219450" cy="124355"/>
          </a:xfrm>
          <a:prstGeom prst="rect">
            <a:avLst/>
          </a:prstGeom>
          <a:solidFill>
            <a:srgbClr val="A9CEE8"/>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rect 53"/>
          <p:cNvSpPr/>
          <p:nvPr/>
        </p:nvSpPr>
        <p:spPr>
          <a:xfrm>
            <a:off x="4154920" y="2150610"/>
            <a:ext cx="219450" cy="124355"/>
          </a:xfrm>
          <a:prstGeom prst="rect">
            <a:avLst/>
          </a:prstGeom>
          <a:solidFill>
            <a:srgbClr val="B5D68B"/>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rect 54"/>
          <p:cNvSpPr/>
          <p:nvPr/>
        </p:nvSpPr>
        <p:spPr>
          <a:xfrm>
            <a:off x="4154920" y="2296910"/>
            <a:ext cx="219450" cy="124355"/>
          </a:xfrm>
          <a:prstGeom prst="rect">
            <a:avLst/>
          </a:prstGeom>
          <a:solidFill>
            <a:srgbClr val="E9A6B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rect 55"/>
          <p:cNvSpPr/>
          <p:nvPr/>
        </p:nvSpPr>
        <p:spPr>
          <a:xfrm>
            <a:off x="4154920" y="2443210"/>
            <a:ext cx="219450" cy="124355"/>
          </a:xfrm>
          <a:prstGeom prst="rect">
            <a:avLst/>
          </a:prstGeom>
          <a:solidFill>
            <a:srgbClr val="A9CEE8"/>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z"/>
          <p:cNvSpPr txBox="1"/>
          <p:nvPr/>
        </p:nvSpPr>
        <p:spPr>
          <a:xfrm>
            <a:off x="4194810" y="2693749"/>
            <a:ext cx="173188" cy="272484"/>
          </a:xfrm>
          <a:prstGeom prst="rect">
            <a:avLst/>
          </a:prstGeom>
          <a:noFill/>
        </p:spPr>
        <p:txBody>
          <a:bodyPr wrap="none" lIns="0" rIns="0" tIns="0" bIns="0" anchor="t">
            <a:spAutoFit/>
          </a:bodyPr>
          <a:lstStyle/>
          <a:p>
            <a:pPr algn="l">
              <a:lnSpc>
                <a:spcPct val="100000"/>
              </a:lnSpc>
              <a:spcBef>
                <a:spcPts val="0"/>
              </a:spcBef>
              <a:spcAft>
                <a:spcPts val="0"/>
              </a:spcAft>
            </a:pPr>
            <a:r>
              <a:rPr sz="1727" b="0" i="1" lang="en-US" spc="0">
                <a:solidFill>
                  <a:srgbClr val="181818"/>
                </a:solidFill>
                <a:latin typeface="Liberation Serif"/>
                <a:ea typeface="Liberation Serif"/>
              </a:rPr>
              <a:t>z</a:t>
            </a:r>
          </a:p>
        </p:txBody>
      </p:sp>
      <p:sp>
        <p:nvSpPr>
          <p:cNvPr id="58" name="t"/>
          <p:cNvSpPr txBox="1"/>
          <p:nvPr/>
        </p:nvSpPr>
        <p:spPr>
          <a:xfrm>
            <a:off x="4287533" y="2816275"/>
            <a:ext cx="127412" cy="188361"/>
          </a:xfrm>
          <a:prstGeom prst="rect">
            <a:avLst/>
          </a:prstGeom>
          <a:noFill/>
        </p:spPr>
        <p:txBody>
          <a:bodyPr wrap="none" lIns="0" rIns="0" tIns="0" bIns="0" anchor="t">
            <a:spAutoFit/>
          </a:bodyPr>
          <a:lstStyle/>
          <a:p>
            <a:pPr algn="l">
              <a:lnSpc>
                <a:spcPct val="100000"/>
              </a:lnSpc>
              <a:spcBef>
                <a:spcPts val="0"/>
              </a:spcBef>
              <a:spcAft>
                <a:spcPts val="0"/>
              </a:spcAft>
            </a:pPr>
            <a:r>
              <a:rPr sz="1123" b="0" i="0" lang="en-US" spc="0">
                <a:solidFill>
                  <a:srgbClr val="181818"/>
                </a:solidFill>
                <a:latin typeface="Liberation Serif"/>
                <a:ea typeface="Liberation Serif"/>
              </a:rPr>
              <a:t>t</a:t>
            </a:r>
          </a:p>
        </p:txBody>
      </p:sp>
      <p:sp>
        <p:nvSpPr>
          <p:cNvPr id="59" name="circle 58"/>
          <p:cNvSpPr/>
          <p:nvPr/>
        </p:nvSpPr>
        <p:spPr>
          <a:xfrm>
            <a:off x="4696230" y="1982365"/>
            <a:ext cx="380380" cy="380380"/>
          </a:xfrm>
          <a:prstGeom prst="ellipse">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
          <p:cNvSpPr txBox="1"/>
          <p:nvPr/>
        </p:nvSpPr>
        <p:spPr>
          <a:xfrm>
            <a:off x="4801069" y="2050029"/>
            <a:ext cx="258482" cy="272484"/>
          </a:xfrm>
          <a:prstGeom prst="rect">
            <a:avLst/>
          </a:prstGeom>
          <a:noFill/>
        </p:spPr>
        <p:txBody>
          <a:bodyPr wrap="none" lIns="0" rIns="0" tIns="0" bIns="0" anchor="t">
            <a:spAutoFit/>
          </a:bodyPr>
          <a:lstStyle/>
          <a:p>
            <a:pPr algn="l">
              <a:lnSpc>
                <a:spcPct val="100000"/>
              </a:lnSpc>
              <a:spcBef>
                <a:spcPts val="0"/>
              </a:spcBef>
              <a:spcAft>
                <a:spcPts val="0"/>
              </a:spcAft>
            </a:pPr>
            <a:r>
              <a:rPr sz="1727" b="0" i="0" lang="en-US" spc="0">
                <a:solidFill>
                  <a:srgbClr val="181818"/>
                </a:solidFill>
                <a:latin typeface="Liberation Serif"/>
                <a:ea typeface="Liberation Serif"/>
              </a:rPr>
              <a:t>∥</a:t>
            </a:r>
          </a:p>
        </p:txBody>
      </p:sp>
      <p:cxnSp>
        <p:nvCxnSpPr>
          <p:cNvPr id="61" name="path 60"/>
          <p:cNvCxnSpPr/>
          <p:nvPr/>
        </p:nvCxnSpPr>
        <p:spPr>
          <a:xfrm>
            <a:off x="4396315" y="2172555"/>
            <a:ext cx="277970" cy="0"/>
          </a:xfrm>
          <a:prstGeom prst="line">
            <a:avLst/>
          </a:prstGeom>
          <a:ln w="19019">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62" name="polygon 61"/>
          <p:cNvSpPr/>
          <p:nvPr/>
        </p:nvSpPr>
        <p:spPr>
          <a:xfrm>
            <a:off x="599830" y="3277120"/>
            <a:ext cx="972895" cy="526680"/>
          </a:xfrm>
          <a:custGeom>
            <a:avLst/>
            <a:gdLst/>
            <a:ahLst/>
            <a:cxnLst/>
            <a:rect l="l" t="t" r="r" b="b"/>
            <a:pathLst>
              <a:path w="133" h="72">
                <a:moveTo>
                  <a:pt x="0" y="0"/>
                </a:moveTo>
                <a:lnTo>
                  <a:pt x="133" y="0"/>
                </a:lnTo>
                <a:lnTo>
                  <a:pt x="133" y="56"/>
                </a:lnTo>
                <a:lnTo>
                  <a:pt x="63" y="56"/>
                </a:lnTo>
                <a:lnTo>
                  <a:pt x="44" y="72"/>
                </a:lnTo>
                <a:lnTo>
                  <a:pt x="44" y="56"/>
                </a:lnTo>
                <a:lnTo>
                  <a:pt x="0" y="56"/>
                </a:lnTo>
                <a:close/>
              </a:path>
            </a:pathLst>
          </a:custGeom>
          <a:solidFill>
            <a:srgbClr val="F2BD7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Notice"/>
          <p:cNvSpPr txBox="1"/>
          <p:nvPr/>
        </p:nvSpPr>
        <p:spPr>
          <a:xfrm>
            <a:off x="721342" y="3368558"/>
            <a:ext cx="722556" cy="235909"/>
          </a:xfrm>
          <a:prstGeom prst="rect">
            <a:avLst/>
          </a:prstGeom>
          <a:noFill/>
        </p:spPr>
        <p:txBody>
          <a:bodyPr wrap="none" lIns="0" rIns="0" tIns="0" bIns="0" anchor="t">
            <a:spAutoFit/>
          </a:bodyPr>
          <a:lstStyle/>
          <a:p>
            <a:pPr algn="ctr">
              <a:lnSpc>
                <a:spcPct val="100000"/>
              </a:lnSpc>
              <a:spcBef>
                <a:spcPts val="0"/>
              </a:spcBef>
              <a:spcAft>
                <a:spcPts val="0"/>
              </a:spcAft>
            </a:pPr>
            <a:r>
              <a:rPr sz="1382" b="1" i="0" lang="en-US" spc="0">
                <a:solidFill>
                  <a:srgbClr val="181818"/>
                </a:solidFill>
                <a:latin typeface="DejaVu Sans"/>
                <a:ea typeface="DejaVu Sans"/>
              </a:rPr>
              <a:t>Notice</a:t>
            </a:r>
          </a:p>
        </p:txBody>
      </p:sp>
      <p:sp>
        <p:nvSpPr>
          <p:cNvPr id="64" name="path 63"/>
          <p:cNvSpPr/>
          <p:nvPr/>
        </p:nvSpPr>
        <p:spPr>
          <a:xfrm>
            <a:off x="2267650" y="3291750"/>
            <a:ext cx="819280" cy="395010"/>
          </a:xfrm>
          <a:custGeom>
            <a:avLst/>
            <a:gdLst/>
            <a:ahLst/>
            <a:cxnLst/>
            <a:rect l="l" t="t" r="r" b="b"/>
            <a:pathLst>
              <a:path w="112" h="54">
                <a:moveTo>
                  <a:pt x="0" y="54"/>
                </a:moveTo>
                <a:lnTo>
                  <a:pt x="25" y="54"/>
                </a:lnTo>
                <a:lnTo>
                  <a:pt x="25" y="38"/>
                </a:lnTo>
                <a:lnTo>
                  <a:pt x="55" y="38"/>
                </a:lnTo>
                <a:lnTo>
                  <a:pt x="55" y="20"/>
                </a:lnTo>
                <a:lnTo>
                  <a:pt x="86" y="20"/>
                </a:lnTo>
                <a:lnTo>
                  <a:pt x="86" y="0"/>
                </a:lnTo>
                <a:lnTo>
                  <a:pt x="112" y="0"/>
                </a:lnTo>
              </a:path>
            </a:pathLst>
          </a:custGeom>
          <a:noFill/>
          <a:ln w="19751">
            <a:solidFill>
              <a:srgbClr val="2676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N"/>
          <p:cNvSpPr txBox="1"/>
          <p:nvPr/>
        </p:nvSpPr>
        <p:spPr>
          <a:xfrm>
            <a:off x="2362231" y="3745280"/>
            <a:ext cx="229280" cy="266998"/>
          </a:xfrm>
          <a:prstGeom prst="rect">
            <a:avLst/>
          </a:prstGeom>
          <a:noFill/>
        </p:spPr>
        <p:txBody>
          <a:bodyPr wrap="none" lIns="0" rIns="0" tIns="0" bIns="0" anchor="t">
            <a:spAutoFit/>
          </a:bodyPr>
          <a:lstStyle/>
          <a:p>
            <a:pPr algn="l">
              <a:lnSpc>
                <a:spcPct val="100000"/>
              </a:lnSpc>
              <a:spcBef>
                <a:spcPts val="0"/>
              </a:spcBef>
              <a:spcAft>
                <a:spcPts val="0"/>
              </a:spcAft>
            </a:pPr>
            <a:r>
              <a:rPr sz="1670" b="0" i="1" lang="en-US" spc="0">
                <a:solidFill>
                  <a:srgbClr val="181818"/>
                </a:solidFill>
                <a:latin typeface="Liberation Serif"/>
                <a:ea typeface="Liberation Serif"/>
              </a:rPr>
              <a:t>N</a:t>
            </a:r>
          </a:p>
        </p:txBody>
      </p:sp>
      <p:sp>
        <p:nvSpPr>
          <p:cNvPr id="66" name="t"/>
          <p:cNvSpPr txBox="1"/>
          <p:nvPr/>
        </p:nvSpPr>
        <p:spPr>
          <a:xfrm>
            <a:off x="2511045" y="3865978"/>
            <a:ext cx="125898" cy="182875"/>
          </a:xfrm>
          <a:prstGeom prst="rect">
            <a:avLst/>
          </a:prstGeom>
          <a:noFill/>
        </p:spPr>
        <p:txBody>
          <a:bodyPr wrap="none" lIns="0" rIns="0" tIns="0" bIns="0" anchor="t">
            <a:spAutoFit/>
          </a:bodyPr>
          <a:lstStyle/>
          <a:p>
            <a:pPr algn="l">
              <a:lnSpc>
                <a:spcPct val="100000"/>
              </a:lnSpc>
              <a:spcBef>
                <a:spcPts val="0"/>
              </a:spcBef>
              <a:spcAft>
                <a:spcPts val="0"/>
              </a:spcAft>
            </a:pPr>
            <a:r>
              <a:rPr sz="1085" b="0" i="0" lang="en-US" spc="0">
                <a:solidFill>
                  <a:srgbClr val="181818"/>
                </a:solidFill>
                <a:latin typeface="Liberation Serif"/>
                <a:ea typeface="Liberation Serif"/>
              </a:rPr>
              <a:t>t</a:t>
            </a:r>
          </a:p>
        </p:txBody>
      </p:sp>
      <p:sp>
        <p:nvSpPr>
          <p:cNvPr id="67" name=", { }"/>
          <p:cNvSpPr txBox="1"/>
          <p:nvPr/>
        </p:nvSpPr>
        <p:spPr>
          <a:xfrm>
            <a:off x="2556478" y="3745280"/>
            <a:ext cx="450501" cy="266998"/>
          </a:xfrm>
          <a:prstGeom prst="rect">
            <a:avLst/>
          </a:prstGeom>
          <a:noFill/>
        </p:spPr>
        <p:txBody>
          <a:bodyPr wrap="none" lIns="0" rIns="0" tIns="0" bIns="0" anchor="t">
            <a:spAutoFit/>
          </a:bodyPr>
          <a:lstStyle/>
          <a:p>
            <a:pPr algn="l">
              <a:lnSpc>
                <a:spcPct val="100000"/>
              </a:lnSpc>
              <a:spcBef>
                <a:spcPts val="0"/>
              </a:spcBef>
              <a:spcAft>
                <a:spcPts val="0"/>
              </a:spcAft>
            </a:pPr>
            <a:r>
              <a:rPr sz="1670" b="0" i="0" lang="en-US" spc="0">
                <a:solidFill>
                  <a:srgbClr val="181818"/>
                </a:solidFill>
                <a:latin typeface="Liberation Serif"/>
                <a:ea typeface="Liberation Serif"/>
              </a:rPr>
              <a:t>, { }</a:t>
            </a:r>
          </a:p>
        </p:txBody>
      </p:sp>
      <p:sp>
        <p:nvSpPr>
          <p:cNvPr id="68" name="path 67"/>
          <p:cNvSpPr/>
          <p:nvPr/>
        </p:nvSpPr>
        <p:spPr>
          <a:xfrm>
            <a:off x="1587355" y="3057670"/>
            <a:ext cx="3299065" cy="431585"/>
          </a:xfrm>
          <a:custGeom>
            <a:avLst/>
            <a:gdLst/>
            <a:ahLst/>
            <a:cxnLst/>
            <a:rect l="l" t="t" r="r" b="b"/>
            <a:pathLst>
              <a:path w="451" h="59">
                <a:moveTo>
                  <a:pt x="0" y="59"/>
                </a:moveTo>
                <a:lnTo>
                  <a:pt x="41" y="59"/>
                </a:lnTo>
                <a:lnTo>
                  <a:pt x="41" y="0"/>
                </a:lnTo>
                <a:lnTo>
                  <a:pt x="451" y="0"/>
                </a:lnTo>
              </a:path>
            </a:pathLst>
          </a:custGeom>
          <a:noFill/>
          <a:ln w="19019">
            <a:solidFill>
              <a:srgbClr val="181818"/>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path 68"/>
          <p:cNvSpPr/>
          <p:nvPr/>
        </p:nvSpPr>
        <p:spPr>
          <a:xfrm>
            <a:off x="3123505" y="2392005"/>
            <a:ext cx="1762915" cy="1097250"/>
          </a:xfrm>
          <a:custGeom>
            <a:avLst/>
            <a:gdLst/>
            <a:ahLst/>
            <a:cxnLst/>
            <a:rect l="l" t="t" r="r" b="b"/>
            <a:pathLst>
              <a:path w="241" h="150">
                <a:moveTo>
                  <a:pt x="0" y="150"/>
                </a:moveTo>
                <a:lnTo>
                  <a:pt x="241" y="150"/>
                </a:lnTo>
                <a:lnTo>
                  <a:pt x="241" y="0"/>
                </a:lnTo>
              </a:path>
            </a:pathLst>
          </a:custGeom>
          <a:noFill/>
          <a:ln w="19019">
            <a:solidFill>
              <a:srgbClr val="181818"/>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path 69"/>
          <p:cNvSpPr/>
          <p:nvPr/>
        </p:nvSpPr>
        <p:spPr>
          <a:xfrm>
            <a:off x="5098555" y="1872640"/>
            <a:ext cx="585200" cy="299915"/>
          </a:xfrm>
          <a:custGeom>
            <a:avLst/>
            <a:gdLst/>
            <a:ahLst/>
            <a:cxnLst/>
            <a:rect l="l" t="t" r="r" b="b"/>
            <a:pathLst>
              <a:path w="80" h="41">
                <a:moveTo>
                  <a:pt x="0" y="41"/>
                </a:moveTo>
                <a:lnTo>
                  <a:pt x="33" y="41"/>
                </a:lnTo>
                <a:lnTo>
                  <a:pt x="33" y="0"/>
                </a:lnTo>
                <a:lnTo>
                  <a:pt x="80" y="0"/>
                </a:lnTo>
              </a:path>
            </a:pathLst>
          </a:custGeom>
          <a:noFill/>
          <a:ln w="19019">
            <a:solidFill>
              <a:srgbClr val="BF3335"/>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path 70"/>
          <p:cNvSpPr/>
          <p:nvPr/>
        </p:nvSpPr>
        <p:spPr>
          <a:xfrm>
            <a:off x="5339950" y="2172555"/>
            <a:ext cx="343805" cy="1060675"/>
          </a:xfrm>
          <a:custGeom>
            <a:avLst/>
            <a:gdLst/>
            <a:ahLst/>
            <a:cxnLst/>
            <a:rect l="l" t="t" r="r" b="b"/>
            <a:pathLst>
              <a:path w="47" h="145">
                <a:moveTo>
                  <a:pt x="0" y="0"/>
                </a:moveTo>
                <a:lnTo>
                  <a:pt x="0" y="145"/>
                </a:lnTo>
                <a:lnTo>
                  <a:pt x="47" y="145"/>
                </a:lnTo>
              </a:path>
            </a:pathLst>
          </a:custGeom>
          <a:noFill/>
          <a:ln w="19019">
            <a:solidFill>
              <a:srgbClr val="BF3335"/>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rect 71"/>
          <p:cNvSpPr/>
          <p:nvPr/>
        </p:nvSpPr>
        <p:spPr>
          <a:xfrm>
            <a:off x="5778850" y="1609300"/>
            <a:ext cx="80465" cy="80465"/>
          </a:xfrm>
          <a:prstGeom prst="rect">
            <a:avLst/>
          </a:prstGeom>
          <a:solidFill>
            <a:srgbClr val="F2BD7D"/>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rect 72"/>
          <p:cNvSpPr/>
          <p:nvPr/>
        </p:nvSpPr>
        <p:spPr>
          <a:xfrm>
            <a:off x="5888575" y="1609300"/>
            <a:ext cx="80465" cy="80465"/>
          </a:xfrm>
          <a:prstGeom prst="rect">
            <a:avLst/>
          </a:prstGeom>
          <a:solidFill>
            <a:srgbClr val="A9CEE8"/>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rect 73"/>
          <p:cNvSpPr/>
          <p:nvPr/>
        </p:nvSpPr>
        <p:spPr>
          <a:xfrm>
            <a:off x="5998300" y="1609300"/>
            <a:ext cx="80465" cy="80465"/>
          </a:xfrm>
          <a:prstGeom prst="rect">
            <a:avLst/>
          </a:prstGeom>
          <a:solidFill>
            <a:srgbClr val="A9CEE8"/>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rect 74"/>
          <p:cNvSpPr/>
          <p:nvPr/>
        </p:nvSpPr>
        <p:spPr>
          <a:xfrm>
            <a:off x="5778850" y="1719025"/>
            <a:ext cx="80465" cy="80465"/>
          </a:xfrm>
          <a:prstGeom prst="rect">
            <a:avLst/>
          </a:prstGeom>
          <a:solidFill>
            <a:srgbClr val="A9CEE8"/>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rect 75"/>
          <p:cNvSpPr/>
          <p:nvPr/>
        </p:nvSpPr>
        <p:spPr>
          <a:xfrm>
            <a:off x="5888575" y="1719025"/>
            <a:ext cx="80465" cy="80465"/>
          </a:xfrm>
          <a:prstGeom prst="rect">
            <a:avLst/>
          </a:prstGeom>
          <a:solidFill>
            <a:srgbClr val="F2BD7D"/>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rect 76"/>
          <p:cNvSpPr/>
          <p:nvPr/>
        </p:nvSpPr>
        <p:spPr>
          <a:xfrm>
            <a:off x="5998300" y="1719025"/>
            <a:ext cx="80465" cy="80465"/>
          </a:xfrm>
          <a:prstGeom prst="rect">
            <a:avLst/>
          </a:prstGeom>
          <a:solidFill>
            <a:srgbClr val="A9CEE8"/>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rect 77"/>
          <p:cNvSpPr/>
          <p:nvPr/>
        </p:nvSpPr>
        <p:spPr>
          <a:xfrm>
            <a:off x="5778850" y="1828750"/>
            <a:ext cx="80465" cy="80465"/>
          </a:xfrm>
          <a:prstGeom prst="rect">
            <a:avLst/>
          </a:prstGeom>
          <a:solidFill>
            <a:srgbClr val="A9CEE8"/>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rect 78"/>
          <p:cNvSpPr/>
          <p:nvPr/>
        </p:nvSpPr>
        <p:spPr>
          <a:xfrm>
            <a:off x="5888575" y="1828750"/>
            <a:ext cx="80465" cy="80465"/>
          </a:xfrm>
          <a:prstGeom prst="rect">
            <a:avLst/>
          </a:prstGeom>
          <a:solidFill>
            <a:srgbClr val="A9CEE8"/>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rect 79"/>
          <p:cNvSpPr/>
          <p:nvPr/>
        </p:nvSpPr>
        <p:spPr>
          <a:xfrm>
            <a:off x="5998300" y="1828750"/>
            <a:ext cx="80465" cy="80465"/>
          </a:xfrm>
          <a:prstGeom prst="rect">
            <a:avLst/>
          </a:prstGeom>
          <a:solidFill>
            <a:srgbClr val="F2BD7D"/>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1" name="Phase"/>
          <p:cNvSpPr txBox="1"/>
          <p:nvPr/>
        </p:nvSpPr>
        <p:spPr>
          <a:xfrm>
            <a:off x="6217750" y="1665991"/>
            <a:ext cx="708298" cy="243224"/>
          </a:xfrm>
          <a:prstGeom prst="rect">
            <a:avLst/>
          </a:prstGeom>
          <a:noFill/>
        </p:spPr>
        <p:txBody>
          <a:bodyPr wrap="none" lIns="0" rIns="0" tIns="0" bIns="0" anchor="t">
            <a:spAutoFit/>
          </a:bodyPr>
          <a:lstStyle/>
          <a:p>
            <a:pPr algn="l">
              <a:lnSpc>
                <a:spcPct val="100000"/>
              </a:lnSpc>
              <a:spcBef>
                <a:spcPts val="0"/>
              </a:spcBef>
              <a:spcAft>
                <a:spcPts val="0"/>
              </a:spcAft>
            </a:pPr>
            <a:r>
              <a:rPr sz="1439" b="1" i="0" lang="en-US" spc="0">
                <a:solidFill>
                  <a:srgbClr val="181818"/>
                </a:solidFill>
                <a:latin typeface="DejaVu Sans"/>
                <a:ea typeface="DejaVu Sans"/>
              </a:rPr>
              <a:t>Phase</a:t>
            </a:r>
          </a:p>
        </p:txBody>
      </p:sp>
      <p:sp>
        <p:nvSpPr>
          <p:cNvPr id="82" name="rect 81"/>
          <p:cNvSpPr/>
          <p:nvPr/>
        </p:nvSpPr>
        <p:spPr>
          <a:xfrm>
            <a:off x="5778850" y="2962575"/>
            <a:ext cx="80465" cy="80465"/>
          </a:xfrm>
          <a:prstGeom prst="rect">
            <a:avLst/>
          </a:prstGeom>
          <a:solidFill>
            <a:srgbClr val="F2BD7D"/>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rect 82"/>
          <p:cNvSpPr/>
          <p:nvPr/>
        </p:nvSpPr>
        <p:spPr>
          <a:xfrm>
            <a:off x="5888575" y="2962575"/>
            <a:ext cx="80465" cy="80465"/>
          </a:xfrm>
          <a:prstGeom prst="rect">
            <a:avLst/>
          </a:prstGeom>
          <a:solidFill>
            <a:srgbClr val="A9CEE8"/>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rect 83"/>
          <p:cNvSpPr/>
          <p:nvPr/>
        </p:nvSpPr>
        <p:spPr>
          <a:xfrm>
            <a:off x="5998300" y="2962575"/>
            <a:ext cx="80465" cy="80465"/>
          </a:xfrm>
          <a:prstGeom prst="rect">
            <a:avLst/>
          </a:prstGeom>
          <a:solidFill>
            <a:srgbClr val="A9CEE8"/>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rect 84"/>
          <p:cNvSpPr/>
          <p:nvPr/>
        </p:nvSpPr>
        <p:spPr>
          <a:xfrm>
            <a:off x="5778850" y="3072300"/>
            <a:ext cx="80465" cy="80465"/>
          </a:xfrm>
          <a:prstGeom prst="rect">
            <a:avLst/>
          </a:prstGeom>
          <a:solidFill>
            <a:srgbClr val="A9CEE8"/>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6" name="rect 85"/>
          <p:cNvSpPr/>
          <p:nvPr/>
        </p:nvSpPr>
        <p:spPr>
          <a:xfrm>
            <a:off x="5888575" y="3072300"/>
            <a:ext cx="80465" cy="80465"/>
          </a:xfrm>
          <a:prstGeom prst="rect">
            <a:avLst/>
          </a:prstGeom>
          <a:solidFill>
            <a:srgbClr val="F2BD7D"/>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rect 86"/>
          <p:cNvSpPr/>
          <p:nvPr/>
        </p:nvSpPr>
        <p:spPr>
          <a:xfrm>
            <a:off x="5998300" y="3072300"/>
            <a:ext cx="80465" cy="80465"/>
          </a:xfrm>
          <a:prstGeom prst="rect">
            <a:avLst/>
          </a:prstGeom>
          <a:solidFill>
            <a:srgbClr val="A9CEE8"/>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8" name="rect 87"/>
          <p:cNvSpPr/>
          <p:nvPr/>
        </p:nvSpPr>
        <p:spPr>
          <a:xfrm>
            <a:off x="5778850" y="3182025"/>
            <a:ext cx="80465" cy="80465"/>
          </a:xfrm>
          <a:prstGeom prst="rect">
            <a:avLst/>
          </a:prstGeom>
          <a:solidFill>
            <a:srgbClr val="A9CEE8"/>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rect 88"/>
          <p:cNvSpPr/>
          <p:nvPr/>
        </p:nvSpPr>
        <p:spPr>
          <a:xfrm>
            <a:off x="5888575" y="3182025"/>
            <a:ext cx="80465" cy="80465"/>
          </a:xfrm>
          <a:prstGeom prst="rect">
            <a:avLst/>
          </a:prstGeom>
          <a:solidFill>
            <a:srgbClr val="A9CEE8"/>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0" name="rect 89"/>
          <p:cNvSpPr/>
          <p:nvPr/>
        </p:nvSpPr>
        <p:spPr>
          <a:xfrm>
            <a:off x="5998300" y="3182025"/>
            <a:ext cx="80465" cy="80465"/>
          </a:xfrm>
          <a:prstGeom prst="rect">
            <a:avLst/>
          </a:prstGeom>
          <a:solidFill>
            <a:srgbClr val="F2BD7D"/>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1" name="Work"/>
          <p:cNvSpPr txBox="1"/>
          <p:nvPr/>
        </p:nvSpPr>
        <p:spPr>
          <a:xfrm>
            <a:off x="6217750" y="3019266"/>
            <a:ext cx="620403" cy="243224"/>
          </a:xfrm>
          <a:prstGeom prst="rect">
            <a:avLst/>
          </a:prstGeom>
          <a:noFill/>
        </p:spPr>
        <p:txBody>
          <a:bodyPr wrap="none" lIns="0" rIns="0" tIns="0" bIns="0" anchor="t">
            <a:spAutoFit/>
          </a:bodyPr>
          <a:lstStyle/>
          <a:p>
            <a:pPr algn="l">
              <a:lnSpc>
                <a:spcPct val="100000"/>
              </a:lnSpc>
              <a:spcBef>
                <a:spcPts val="0"/>
              </a:spcBef>
              <a:spcAft>
                <a:spcPts val="0"/>
              </a:spcAft>
            </a:pPr>
            <a:r>
              <a:rPr sz="1439" b="1" i="0" lang="en-US" spc="0">
                <a:solidFill>
                  <a:srgbClr val="181818"/>
                </a:solidFill>
                <a:latin typeface="DejaVu Sans"/>
                <a:ea typeface="DejaVu Sans"/>
              </a:rPr>
              <a:t>Work</a:t>
            </a:r>
          </a:p>
        </p:txBody>
      </p:sp>
      <p:cxnSp>
        <p:nvCxnSpPr>
          <p:cNvPr id="92" name="path 91"/>
          <p:cNvCxnSpPr/>
          <p:nvPr/>
        </p:nvCxnSpPr>
        <p:spPr>
          <a:xfrm>
            <a:off x="6773690" y="1865325"/>
            <a:ext cx="234080" cy="0"/>
          </a:xfrm>
          <a:prstGeom prst="line">
            <a:avLst/>
          </a:prstGeom>
          <a:ln w="19019">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93" name="path 92"/>
          <p:cNvCxnSpPr/>
          <p:nvPr/>
        </p:nvCxnSpPr>
        <p:spPr>
          <a:xfrm>
            <a:off x="6839525" y="3218600"/>
            <a:ext cx="212135" cy="0"/>
          </a:xfrm>
          <a:prstGeom prst="line">
            <a:avLst/>
          </a:prstGeom>
          <a:ln w="19019">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94" name="rect 93"/>
          <p:cNvSpPr/>
          <p:nvPr/>
        </p:nvSpPr>
        <p:spPr>
          <a:xfrm>
            <a:off x="7183330" y="2165240"/>
            <a:ext cx="212135" cy="182875"/>
          </a:xfrm>
          <a:prstGeom prst="rect">
            <a:avLst/>
          </a:prstGeom>
          <a:solidFill>
            <a:srgbClr val="A9CEE8"/>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5" name="W"/>
          <p:cNvSpPr txBox="1"/>
          <p:nvPr/>
        </p:nvSpPr>
        <p:spPr>
          <a:xfrm>
            <a:off x="7165900" y="2432238"/>
            <a:ext cx="239681" cy="208478"/>
          </a:xfrm>
          <a:prstGeom prst="rect">
            <a:avLst/>
          </a:prstGeom>
          <a:noFill/>
        </p:spPr>
        <p:txBody>
          <a:bodyPr wrap="none" lIns="0" rIns="0" tIns="0" bIns="0" anchor="t">
            <a:spAutoFit/>
          </a:bodyPr>
          <a:lstStyle/>
          <a:p>
            <a:pPr algn="ctr">
              <a:lnSpc>
                <a:spcPct val="100000"/>
              </a:lnSpc>
              <a:spcBef>
                <a:spcPts val="0"/>
              </a:spcBef>
              <a:spcAft>
                <a:spcPts val="0"/>
              </a:spcAft>
            </a:pPr>
            <a:r>
              <a:rPr sz="1209" b="0" i="0" lang="en-US" spc="0">
                <a:solidFill>
                  <a:srgbClr val="181818"/>
                </a:solidFill>
                <a:latin typeface="DejaVu Sans"/>
                <a:ea typeface="DejaVu Sans"/>
              </a:rPr>
              <a:t>W</a:t>
            </a:r>
          </a:p>
        </p:txBody>
      </p:sp>
      <p:sp>
        <p:nvSpPr>
          <p:cNvPr id="96" name="rect 95"/>
          <p:cNvSpPr/>
          <p:nvPr/>
        </p:nvSpPr>
        <p:spPr>
          <a:xfrm>
            <a:off x="7541765" y="2033570"/>
            <a:ext cx="212135" cy="314545"/>
          </a:xfrm>
          <a:prstGeom prst="rect">
            <a:avLst/>
          </a:prstGeom>
          <a:solidFill>
            <a:srgbClr val="F2BD7D"/>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7" name="N"/>
          <p:cNvSpPr txBox="1"/>
          <p:nvPr/>
        </p:nvSpPr>
        <p:spPr>
          <a:xfrm>
            <a:off x="7542822" y="2432238"/>
            <a:ext cx="202706" cy="208478"/>
          </a:xfrm>
          <a:prstGeom prst="rect">
            <a:avLst/>
          </a:prstGeom>
          <a:noFill/>
        </p:spPr>
        <p:txBody>
          <a:bodyPr wrap="none" lIns="0" rIns="0" tIns="0" bIns="0" anchor="t">
            <a:spAutoFit/>
          </a:bodyPr>
          <a:lstStyle/>
          <a:p>
            <a:pPr algn="ctr">
              <a:lnSpc>
                <a:spcPct val="100000"/>
              </a:lnSpc>
              <a:spcBef>
                <a:spcPts val="0"/>
              </a:spcBef>
              <a:spcAft>
                <a:spcPts val="0"/>
              </a:spcAft>
            </a:pPr>
            <a:r>
              <a:rPr sz="1209" b="0" i="0" lang="en-US" spc="0">
                <a:solidFill>
                  <a:srgbClr val="181818"/>
                </a:solidFill>
                <a:latin typeface="DejaVu Sans"/>
                <a:ea typeface="DejaVu Sans"/>
              </a:rPr>
              <a:t>N</a:t>
            </a:r>
          </a:p>
        </p:txBody>
      </p:sp>
      <p:sp>
        <p:nvSpPr>
          <p:cNvPr id="98" name="rect 97"/>
          <p:cNvSpPr/>
          <p:nvPr/>
        </p:nvSpPr>
        <p:spPr>
          <a:xfrm>
            <a:off x="7900200" y="1740970"/>
            <a:ext cx="212135" cy="607145"/>
          </a:xfrm>
          <a:prstGeom prst="rect">
            <a:avLst/>
          </a:prstGeom>
          <a:solidFill>
            <a:srgbClr val="E9A6B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9" name="F"/>
          <p:cNvSpPr txBox="1"/>
          <p:nvPr/>
        </p:nvSpPr>
        <p:spPr>
          <a:xfrm>
            <a:off x="7914544" y="2432238"/>
            <a:ext cx="176131" cy="208478"/>
          </a:xfrm>
          <a:prstGeom prst="rect">
            <a:avLst/>
          </a:prstGeom>
          <a:noFill/>
        </p:spPr>
        <p:txBody>
          <a:bodyPr wrap="none" lIns="0" rIns="0" tIns="0" bIns="0" anchor="t">
            <a:spAutoFit/>
          </a:bodyPr>
          <a:lstStyle/>
          <a:p>
            <a:pPr algn="ctr">
              <a:lnSpc>
                <a:spcPct val="100000"/>
              </a:lnSpc>
              <a:spcBef>
                <a:spcPts val="0"/>
              </a:spcBef>
              <a:spcAft>
                <a:spcPts val="0"/>
              </a:spcAft>
            </a:pPr>
            <a:r>
              <a:rPr sz="1209" b="0" i="0" lang="en-US" spc="0">
                <a:solidFill>
                  <a:srgbClr val="181818"/>
                </a:solidFill>
                <a:latin typeface="DejaVu Sans"/>
                <a:ea typeface="DejaVu Sans"/>
              </a:rPr>
              <a:t>F</a:t>
            </a:r>
          </a:p>
        </p:txBody>
      </p:sp>
      <p:sp>
        <p:nvSpPr>
          <p:cNvPr id="100" name="p"/>
          <p:cNvSpPr txBox="1"/>
          <p:nvPr/>
        </p:nvSpPr>
        <p:spPr>
          <a:xfrm>
            <a:off x="7435012" y="1375220"/>
            <a:ext cx="193848" cy="266998"/>
          </a:xfrm>
          <a:prstGeom prst="rect">
            <a:avLst/>
          </a:prstGeom>
          <a:noFill/>
        </p:spPr>
        <p:txBody>
          <a:bodyPr wrap="none" lIns="0" rIns="0" tIns="0" bIns="0" anchor="t">
            <a:spAutoFit/>
          </a:bodyPr>
          <a:lstStyle/>
          <a:p>
            <a:pPr algn="l">
              <a:lnSpc>
                <a:spcPct val="100000"/>
              </a:lnSpc>
              <a:spcBef>
                <a:spcPts val="0"/>
              </a:spcBef>
              <a:spcAft>
                <a:spcPts val="0"/>
              </a:spcAft>
            </a:pPr>
            <a:r>
              <a:rPr sz="1670" b="0" i="1" lang="en-US" spc="0">
                <a:solidFill>
                  <a:srgbClr val="181818"/>
                </a:solidFill>
                <a:latin typeface="Liberation Serif"/>
                <a:ea typeface="Liberation Serif"/>
              </a:rPr>
              <a:t>p</a:t>
            </a:r>
          </a:p>
        </p:txBody>
      </p:sp>
      <p:sp>
        <p:nvSpPr>
          <p:cNvPr id="101" name="phase"/>
          <p:cNvSpPr txBox="1"/>
          <p:nvPr/>
        </p:nvSpPr>
        <p:spPr>
          <a:xfrm>
            <a:off x="7548394" y="1495918"/>
            <a:ext cx="400039" cy="182875"/>
          </a:xfrm>
          <a:prstGeom prst="rect">
            <a:avLst/>
          </a:prstGeom>
          <a:noFill/>
        </p:spPr>
        <p:txBody>
          <a:bodyPr wrap="none" lIns="0" rIns="0" tIns="0" bIns="0" anchor="t">
            <a:spAutoFit/>
          </a:bodyPr>
          <a:lstStyle/>
          <a:p>
            <a:pPr algn="l">
              <a:lnSpc>
                <a:spcPct val="100000"/>
              </a:lnSpc>
              <a:spcBef>
                <a:spcPts val="0"/>
              </a:spcBef>
              <a:spcAft>
                <a:spcPts val="0"/>
              </a:spcAft>
            </a:pPr>
            <a:r>
              <a:rPr sz="1085" b="0" i="0" lang="en-US" spc="0">
                <a:solidFill>
                  <a:srgbClr val="181818"/>
                </a:solidFill>
                <a:latin typeface="Liberation Serif"/>
                <a:ea typeface="Liberation Serif"/>
              </a:rPr>
              <a:t>phase</a:t>
            </a:r>
          </a:p>
        </p:txBody>
      </p:sp>
      <p:cxnSp>
        <p:nvCxnSpPr>
          <p:cNvPr id="102" name="line 101"/>
          <p:cNvCxnSpPr/>
          <p:nvPr/>
        </p:nvCxnSpPr>
        <p:spPr>
          <a:xfrm>
            <a:off x="7154070" y="3218600"/>
            <a:ext cx="1009470" cy="0"/>
          </a:xfrm>
          <a:prstGeom prst="line">
            <a:avLst/>
          </a:prstGeom>
          <a:ln w="18288">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103" name="line 102"/>
          <p:cNvCxnSpPr/>
          <p:nvPr/>
        </p:nvCxnSpPr>
        <p:spPr>
          <a:xfrm>
            <a:off x="7154070" y="3152765"/>
            <a:ext cx="0" cy="13167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104" name="line 103"/>
          <p:cNvCxnSpPr/>
          <p:nvPr/>
        </p:nvCxnSpPr>
        <p:spPr>
          <a:xfrm>
            <a:off x="8163540" y="3152765"/>
            <a:ext cx="0" cy="13167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05" name="circle 104"/>
          <p:cNvSpPr/>
          <p:nvPr/>
        </p:nvSpPr>
        <p:spPr>
          <a:xfrm>
            <a:off x="7519820" y="3182025"/>
            <a:ext cx="73150" cy="73150"/>
          </a:xfrm>
          <a:prstGeom prst="ellipse">
            <a:avLst/>
          </a:prstGeom>
          <a:solidFill>
            <a:srgbClr val="18181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6" name="["/>
          <p:cNvSpPr txBox="1"/>
          <p:nvPr/>
        </p:nvSpPr>
        <p:spPr>
          <a:xfrm>
            <a:off x="7109108" y="3472796"/>
            <a:ext cx="151129" cy="241395"/>
          </a:xfrm>
          <a:prstGeom prst="rect">
            <a:avLst/>
          </a:prstGeom>
          <a:noFill/>
        </p:spPr>
        <p:txBody>
          <a:bodyPr wrap="none" lIns="0" rIns="0" tIns="0" bIns="0" anchor="t">
            <a:spAutoFit/>
          </a:bodyPr>
          <a:lstStyle/>
          <a:p>
            <a:pPr algn="l">
              <a:lnSpc>
                <a:spcPct val="100000"/>
              </a:lnSpc>
              <a:spcBef>
                <a:spcPts val="0"/>
              </a:spcBef>
              <a:spcAft>
                <a:spcPts val="0"/>
              </a:spcAft>
            </a:pPr>
            <a:r>
              <a:rPr sz="1497" b="0" i="0" lang="en-US" spc="0">
                <a:solidFill>
                  <a:srgbClr val="181818"/>
                </a:solidFill>
                <a:latin typeface="Liberation Serif"/>
                <a:ea typeface="Liberation Serif"/>
              </a:rPr>
              <a:t>[</a:t>
            </a:r>
          </a:p>
        </p:txBody>
      </p:sp>
      <p:sp>
        <p:nvSpPr>
          <p:cNvPr id="107" name="W"/>
          <p:cNvSpPr txBox="1"/>
          <p:nvPr/>
        </p:nvSpPr>
        <p:spPr>
          <a:xfrm>
            <a:off x="7172458" y="3472796"/>
            <a:ext cx="246224" cy="241395"/>
          </a:xfrm>
          <a:prstGeom prst="rect">
            <a:avLst/>
          </a:prstGeom>
          <a:noFill/>
        </p:spPr>
        <p:txBody>
          <a:bodyPr wrap="none" lIns="0" rIns="0" tIns="0" bIns="0" anchor="t">
            <a:spAutoFit/>
          </a:bodyPr>
          <a:lstStyle/>
          <a:p>
            <a:pPr algn="l">
              <a:lnSpc>
                <a:spcPct val="100000"/>
              </a:lnSpc>
              <a:spcBef>
                <a:spcPts val="0"/>
              </a:spcBef>
              <a:spcAft>
                <a:spcPts val="0"/>
              </a:spcAft>
            </a:pPr>
            <a:r>
              <a:rPr sz="1497" b="0" i="1" lang="en-US" spc="0">
                <a:solidFill>
                  <a:srgbClr val="181818"/>
                </a:solidFill>
                <a:latin typeface="Liberation Serif"/>
                <a:ea typeface="Liberation Serif"/>
              </a:rPr>
              <a:t>W</a:t>
            </a:r>
          </a:p>
        </p:txBody>
      </p:sp>
      <p:sp>
        <p:nvSpPr>
          <p:cNvPr id="108" name="lo"/>
          <p:cNvSpPr txBox="1"/>
          <p:nvPr/>
        </p:nvSpPr>
        <p:spPr>
          <a:xfrm>
            <a:off x="7338217" y="3578864"/>
            <a:ext cx="184504" cy="168245"/>
          </a:xfrm>
          <a:prstGeom prst="rect">
            <a:avLst/>
          </a:prstGeom>
          <a:noFill/>
        </p:spPr>
        <p:txBody>
          <a:bodyPr wrap="none" lIns="0" rIns="0" tIns="0" bIns="0" anchor="t">
            <a:spAutoFit/>
          </a:bodyPr>
          <a:lstStyle/>
          <a:p>
            <a:pPr algn="l">
              <a:lnSpc>
                <a:spcPct val="100000"/>
              </a:lnSpc>
              <a:spcBef>
                <a:spcPts val="0"/>
              </a:spcBef>
              <a:spcAft>
                <a:spcPts val="0"/>
              </a:spcAft>
            </a:pPr>
            <a:r>
              <a:rPr sz="973" b="0" i="0" lang="en-US" spc="0">
                <a:solidFill>
                  <a:srgbClr val="181818"/>
                </a:solidFill>
                <a:latin typeface="Liberation Serif"/>
                <a:ea typeface="Liberation Serif"/>
              </a:rPr>
              <a:t>lo</a:t>
            </a:r>
          </a:p>
        </p:txBody>
      </p:sp>
      <p:sp>
        <p:nvSpPr>
          <p:cNvPr id="109" name=", "/>
          <p:cNvSpPr txBox="1"/>
          <p:nvPr/>
        </p:nvSpPr>
        <p:spPr>
          <a:xfrm>
            <a:off x="7442255" y="3472796"/>
            <a:ext cx="182875" cy="241395"/>
          </a:xfrm>
          <a:prstGeom prst="rect">
            <a:avLst/>
          </a:prstGeom>
          <a:noFill/>
        </p:spPr>
        <p:txBody>
          <a:bodyPr wrap="none" lIns="0" rIns="0" tIns="0" bIns="0" anchor="t">
            <a:spAutoFit/>
          </a:bodyPr>
          <a:lstStyle/>
          <a:p>
            <a:pPr algn="l">
              <a:lnSpc>
                <a:spcPct val="100000"/>
              </a:lnSpc>
              <a:spcBef>
                <a:spcPts val="0"/>
              </a:spcBef>
              <a:spcAft>
                <a:spcPts val="0"/>
              </a:spcAft>
            </a:pPr>
            <a:r>
              <a:rPr sz="1497" b="0" i="0" lang="en-US" spc="0">
                <a:solidFill>
                  <a:srgbClr val="181818"/>
                </a:solidFill>
                <a:latin typeface="Liberation Serif"/>
                <a:ea typeface="Liberation Serif"/>
              </a:rPr>
              <a:t>, </a:t>
            </a:r>
          </a:p>
        </p:txBody>
      </p:sp>
      <p:sp>
        <p:nvSpPr>
          <p:cNvPr id="110" name="W"/>
          <p:cNvSpPr txBox="1"/>
          <p:nvPr/>
        </p:nvSpPr>
        <p:spPr>
          <a:xfrm>
            <a:off x="7537350" y="3472796"/>
            <a:ext cx="246224" cy="241395"/>
          </a:xfrm>
          <a:prstGeom prst="rect">
            <a:avLst/>
          </a:prstGeom>
          <a:noFill/>
        </p:spPr>
        <p:txBody>
          <a:bodyPr wrap="none" lIns="0" rIns="0" tIns="0" bIns="0" anchor="t">
            <a:spAutoFit/>
          </a:bodyPr>
          <a:lstStyle/>
          <a:p>
            <a:pPr algn="l">
              <a:lnSpc>
                <a:spcPct val="100000"/>
              </a:lnSpc>
              <a:spcBef>
                <a:spcPts val="0"/>
              </a:spcBef>
              <a:spcAft>
                <a:spcPts val="0"/>
              </a:spcAft>
            </a:pPr>
            <a:r>
              <a:rPr sz="1497" b="0" i="1" lang="en-US" spc="0">
                <a:solidFill>
                  <a:srgbClr val="181818"/>
                </a:solidFill>
                <a:latin typeface="Liberation Serif"/>
                <a:ea typeface="Liberation Serif"/>
              </a:rPr>
              <a:t>W</a:t>
            </a:r>
          </a:p>
        </p:txBody>
      </p:sp>
      <p:sp>
        <p:nvSpPr>
          <p:cNvPr id="111" name="c"/>
          <p:cNvSpPr txBox="1"/>
          <p:nvPr/>
        </p:nvSpPr>
        <p:spPr>
          <a:xfrm>
            <a:off x="7703109" y="3578864"/>
            <a:ext cx="142985" cy="168245"/>
          </a:xfrm>
          <a:prstGeom prst="rect">
            <a:avLst/>
          </a:prstGeom>
          <a:noFill/>
        </p:spPr>
        <p:txBody>
          <a:bodyPr wrap="none" lIns="0" rIns="0" tIns="0" bIns="0" anchor="t">
            <a:spAutoFit/>
          </a:bodyPr>
          <a:lstStyle/>
          <a:p>
            <a:pPr algn="l">
              <a:lnSpc>
                <a:spcPct val="100000"/>
              </a:lnSpc>
              <a:spcBef>
                <a:spcPts val="0"/>
              </a:spcBef>
              <a:spcAft>
                <a:spcPts val="0"/>
              </a:spcAft>
            </a:pPr>
            <a:r>
              <a:rPr sz="973" b="0" i="0" lang="en-US" spc="0">
                <a:solidFill>
                  <a:srgbClr val="181818"/>
                </a:solidFill>
                <a:latin typeface="Liberation Serif"/>
                <a:ea typeface="Liberation Serif"/>
              </a:rPr>
              <a:t>c</a:t>
            </a:r>
          </a:p>
        </p:txBody>
      </p:sp>
      <p:sp>
        <p:nvSpPr>
          <p:cNvPr id="112" name=", "/>
          <p:cNvSpPr txBox="1"/>
          <p:nvPr/>
        </p:nvSpPr>
        <p:spPr>
          <a:xfrm>
            <a:off x="7765630" y="3472796"/>
            <a:ext cx="182875" cy="241395"/>
          </a:xfrm>
          <a:prstGeom prst="rect">
            <a:avLst/>
          </a:prstGeom>
          <a:noFill/>
        </p:spPr>
        <p:txBody>
          <a:bodyPr wrap="none" lIns="0" rIns="0" tIns="0" bIns="0" anchor="t">
            <a:spAutoFit/>
          </a:bodyPr>
          <a:lstStyle/>
          <a:p>
            <a:pPr algn="l">
              <a:lnSpc>
                <a:spcPct val="100000"/>
              </a:lnSpc>
              <a:spcBef>
                <a:spcPts val="0"/>
              </a:spcBef>
              <a:spcAft>
                <a:spcPts val="0"/>
              </a:spcAft>
            </a:pPr>
            <a:r>
              <a:rPr sz="1497" b="0" i="0" lang="en-US" spc="0">
                <a:solidFill>
                  <a:srgbClr val="181818"/>
                </a:solidFill>
                <a:latin typeface="Liberation Serif"/>
                <a:ea typeface="Liberation Serif"/>
              </a:rPr>
              <a:t>, </a:t>
            </a:r>
          </a:p>
        </p:txBody>
      </p:sp>
      <p:sp>
        <p:nvSpPr>
          <p:cNvPr id="113" name="W"/>
          <p:cNvSpPr txBox="1"/>
          <p:nvPr/>
        </p:nvSpPr>
        <p:spPr>
          <a:xfrm>
            <a:off x="7860725" y="3472796"/>
            <a:ext cx="246224" cy="241395"/>
          </a:xfrm>
          <a:prstGeom prst="rect">
            <a:avLst/>
          </a:prstGeom>
          <a:noFill/>
        </p:spPr>
        <p:txBody>
          <a:bodyPr wrap="none" lIns="0" rIns="0" tIns="0" bIns="0" anchor="t">
            <a:spAutoFit/>
          </a:bodyPr>
          <a:lstStyle/>
          <a:p>
            <a:pPr algn="l">
              <a:lnSpc>
                <a:spcPct val="100000"/>
              </a:lnSpc>
              <a:spcBef>
                <a:spcPts val="0"/>
              </a:spcBef>
              <a:spcAft>
                <a:spcPts val="0"/>
              </a:spcAft>
            </a:pPr>
            <a:r>
              <a:rPr sz="1497" b="0" i="1" lang="en-US" spc="0">
                <a:solidFill>
                  <a:srgbClr val="181818"/>
                </a:solidFill>
                <a:latin typeface="Liberation Serif"/>
                <a:ea typeface="Liberation Serif"/>
              </a:rPr>
              <a:t>W</a:t>
            </a:r>
          </a:p>
        </p:txBody>
      </p:sp>
      <p:sp>
        <p:nvSpPr>
          <p:cNvPr id="114" name="hi"/>
          <p:cNvSpPr txBox="1"/>
          <p:nvPr/>
        </p:nvSpPr>
        <p:spPr>
          <a:xfrm>
            <a:off x="8026484" y="3578864"/>
            <a:ext cx="184504" cy="168245"/>
          </a:xfrm>
          <a:prstGeom prst="rect">
            <a:avLst/>
          </a:prstGeom>
          <a:noFill/>
        </p:spPr>
        <p:txBody>
          <a:bodyPr wrap="none" lIns="0" rIns="0" tIns="0" bIns="0" anchor="t">
            <a:spAutoFit/>
          </a:bodyPr>
          <a:lstStyle/>
          <a:p>
            <a:pPr algn="l">
              <a:lnSpc>
                <a:spcPct val="100000"/>
              </a:lnSpc>
              <a:spcBef>
                <a:spcPts val="0"/>
              </a:spcBef>
              <a:spcAft>
                <a:spcPts val="0"/>
              </a:spcAft>
            </a:pPr>
            <a:r>
              <a:rPr sz="973" b="0" i="0" lang="en-US" spc="0">
                <a:solidFill>
                  <a:srgbClr val="181818"/>
                </a:solidFill>
                <a:latin typeface="Liberation Serif"/>
                <a:ea typeface="Liberation Serif"/>
              </a:rPr>
              <a:t>hi</a:t>
            </a:r>
          </a:p>
        </p:txBody>
      </p:sp>
      <p:sp>
        <p:nvSpPr>
          <p:cNvPr id="115" name="]"/>
          <p:cNvSpPr txBox="1"/>
          <p:nvPr/>
        </p:nvSpPr>
        <p:spPr>
          <a:xfrm>
            <a:off x="8130522" y="3472796"/>
            <a:ext cx="151129" cy="241395"/>
          </a:xfrm>
          <a:prstGeom prst="rect">
            <a:avLst/>
          </a:prstGeom>
          <a:noFill/>
        </p:spPr>
        <p:txBody>
          <a:bodyPr wrap="none" lIns="0" rIns="0" tIns="0" bIns="0" anchor="t">
            <a:spAutoFit/>
          </a:bodyPr>
          <a:lstStyle/>
          <a:p>
            <a:pPr algn="l">
              <a:lnSpc>
                <a:spcPct val="100000"/>
              </a:lnSpc>
              <a:spcBef>
                <a:spcPts val="0"/>
              </a:spcBef>
              <a:spcAft>
                <a:spcPts val="0"/>
              </a:spcAft>
            </a:pPr>
            <a:r>
              <a:rPr sz="1497" b="0" i="0" lang="en-US" spc="0">
                <a:solidFill>
                  <a:srgbClr val="181818"/>
                </a:solidFill>
                <a:latin typeface="Liberation Serif"/>
                <a:ea typeface="Liberation Serif"/>
              </a:rPr>
              <a:t>]</a:t>
            </a:r>
          </a:p>
        </p:txBody>
      </p:sp>
      <p:sp>
        <p:nvSpPr>
          <p:cNvPr id="116" name="path 115"/>
          <p:cNvSpPr/>
          <p:nvPr/>
        </p:nvSpPr>
        <p:spPr>
          <a:xfrm>
            <a:off x="395010" y="2267650"/>
            <a:ext cx="7505190" cy="1740970"/>
          </a:xfrm>
          <a:custGeom>
            <a:avLst/>
            <a:gdLst/>
            <a:ahLst/>
            <a:cxnLst/>
            <a:rect l="l" t="t" r="r" b="b"/>
            <a:pathLst>
              <a:path w="1026" h="238">
                <a:moveTo>
                  <a:pt x="1026" y="238"/>
                </a:moveTo>
                <a:lnTo>
                  <a:pt x="0" y="238"/>
                </a:lnTo>
                <a:lnTo>
                  <a:pt x="0" y="0"/>
                </a:lnTo>
                <a:lnTo>
                  <a:pt x="21" y="0"/>
                </a:lnTo>
              </a:path>
            </a:pathLst>
          </a:custGeom>
          <a:noFill/>
          <a:ln w="13167">
            <a:solidFill>
              <a:srgbClr val="2676B8"/>
            </a:solidFill>
            <a:prstDash val="dash"/>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7" name="rect 116"/>
          <p:cNvSpPr/>
          <p:nvPr/>
        </p:nvSpPr>
        <p:spPr>
          <a:xfrm>
            <a:off x="3789170" y="3884265"/>
            <a:ext cx="1565410" cy="219450"/>
          </a:xfrm>
          <a:prstGeom prst="rect">
            <a:avLst/>
          </a:prstGeom>
          <a:solidFill>
            <a:srgbClr val="EEEE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8" name="t"/>
          <p:cNvSpPr txBox="1"/>
          <p:nvPr/>
        </p:nvSpPr>
        <p:spPr>
          <a:xfrm>
            <a:off x="4192895" y="3882436"/>
            <a:ext cx="140614" cy="241395"/>
          </a:xfrm>
          <a:prstGeom prst="rect">
            <a:avLst/>
          </a:prstGeom>
          <a:noFill/>
        </p:spPr>
        <p:txBody>
          <a:bodyPr wrap="none" lIns="0" rIns="0" tIns="0" bIns="0" anchor="t">
            <a:spAutoFit/>
          </a:bodyPr>
          <a:lstStyle/>
          <a:p>
            <a:pPr algn="l">
              <a:lnSpc>
                <a:spcPct val="100000"/>
              </a:lnSpc>
              <a:spcBef>
                <a:spcPts val="0"/>
              </a:spcBef>
              <a:spcAft>
                <a:spcPts val="0"/>
              </a:spcAft>
            </a:pPr>
            <a:r>
              <a:rPr sz="1497" b="0" i="1" lang="en-US" spc="0">
                <a:solidFill>
                  <a:srgbClr val="2676B8"/>
                </a:solidFill>
                <a:latin typeface="Liberation Serif"/>
                <a:ea typeface="Liberation Serif"/>
              </a:rPr>
              <a:t>t</a:t>
            </a:r>
          </a:p>
        </p:txBody>
      </p:sp>
      <p:sp>
        <p:nvSpPr>
          <p:cNvPr id="119" name=" → "/>
          <p:cNvSpPr txBox="1"/>
          <p:nvPr/>
        </p:nvSpPr>
        <p:spPr>
          <a:xfrm>
            <a:off x="4245729" y="3882436"/>
            <a:ext cx="373065" cy="241395"/>
          </a:xfrm>
          <a:prstGeom prst="rect">
            <a:avLst/>
          </a:prstGeom>
          <a:noFill/>
        </p:spPr>
        <p:txBody>
          <a:bodyPr wrap="none" lIns="0" rIns="0" tIns="0" bIns="0" anchor="t">
            <a:spAutoFit/>
          </a:bodyPr>
          <a:lstStyle/>
          <a:p>
            <a:pPr algn="l">
              <a:lnSpc>
                <a:spcPct val="100000"/>
              </a:lnSpc>
              <a:spcBef>
                <a:spcPts val="0"/>
              </a:spcBef>
              <a:spcAft>
                <a:spcPts val="0"/>
              </a:spcAft>
            </a:pPr>
            <a:r>
              <a:rPr sz="1497" b="0" i="0" lang="en-US" spc="0">
                <a:solidFill>
                  <a:srgbClr val="2676B8"/>
                </a:solidFill>
                <a:latin typeface="Liberation Serif"/>
                <a:ea typeface="Liberation Serif"/>
              </a:rPr>
              <a:t> → </a:t>
            </a:r>
          </a:p>
        </p:txBody>
      </p:sp>
      <p:sp>
        <p:nvSpPr>
          <p:cNvPr id="120" name="t"/>
          <p:cNvSpPr txBox="1"/>
          <p:nvPr/>
        </p:nvSpPr>
        <p:spPr>
          <a:xfrm>
            <a:off x="4531014" y="3882436"/>
            <a:ext cx="140614" cy="241395"/>
          </a:xfrm>
          <a:prstGeom prst="rect">
            <a:avLst/>
          </a:prstGeom>
          <a:noFill/>
        </p:spPr>
        <p:txBody>
          <a:bodyPr wrap="none" lIns="0" rIns="0" tIns="0" bIns="0" anchor="t">
            <a:spAutoFit/>
          </a:bodyPr>
          <a:lstStyle/>
          <a:p>
            <a:pPr algn="l">
              <a:lnSpc>
                <a:spcPct val="100000"/>
              </a:lnSpc>
              <a:spcBef>
                <a:spcPts val="0"/>
              </a:spcBef>
              <a:spcAft>
                <a:spcPts val="0"/>
              </a:spcAft>
            </a:pPr>
            <a:r>
              <a:rPr sz="1497" b="0" i="1" lang="en-US" spc="0">
                <a:solidFill>
                  <a:srgbClr val="2676B8"/>
                </a:solidFill>
                <a:latin typeface="Liberation Serif"/>
                <a:ea typeface="Liberation Serif"/>
              </a:rPr>
              <a:t>t</a:t>
            </a:r>
          </a:p>
        </p:txBody>
      </p:sp>
      <p:sp>
        <p:nvSpPr>
          <p:cNvPr id="121" name=" + Δ"/>
          <p:cNvSpPr txBox="1"/>
          <p:nvPr/>
        </p:nvSpPr>
        <p:spPr>
          <a:xfrm>
            <a:off x="4583848" y="3882436"/>
            <a:ext cx="401954" cy="241395"/>
          </a:xfrm>
          <a:prstGeom prst="rect">
            <a:avLst/>
          </a:prstGeom>
          <a:noFill/>
        </p:spPr>
        <p:txBody>
          <a:bodyPr wrap="none" lIns="0" rIns="0" tIns="0" bIns="0" anchor="t">
            <a:spAutoFit/>
          </a:bodyPr>
          <a:lstStyle/>
          <a:p>
            <a:pPr algn="l">
              <a:lnSpc>
                <a:spcPct val="100000"/>
              </a:lnSpc>
              <a:spcBef>
                <a:spcPts val="0"/>
              </a:spcBef>
              <a:spcAft>
                <a:spcPts val="0"/>
              </a:spcAft>
            </a:pPr>
            <a:r>
              <a:rPr sz="1497" b="0" i="0" lang="en-US" spc="0">
                <a:solidFill>
                  <a:srgbClr val="2676B8"/>
                </a:solidFill>
                <a:latin typeface="Liberation Serif"/>
                <a:ea typeface="Liberation Serif"/>
              </a:rPr>
              <a:t> + Δ</a:t>
            </a:r>
          </a:p>
        </p:txBody>
      </p:sp>
      <p:sp>
        <p:nvSpPr>
          <p:cNvPr id="122" name="t"/>
          <p:cNvSpPr txBox="1"/>
          <p:nvPr/>
        </p:nvSpPr>
        <p:spPr>
          <a:xfrm>
            <a:off x="4898021" y="3882436"/>
            <a:ext cx="140614" cy="241395"/>
          </a:xfrm>
          <a:prstGeom prst="rect">
            <a:avLst/>
          </a:prstGeom>
          <a:noFill/>
        </p:spPr>
        <p:txBody>
          <a:bodyPr wrap="none" lIns="0" rIns="0" tIns="0" bIns="0" anchor="t">
            <a:spAutoFit/>
          </a:bodyPr>
          <a:lstStyle/>
          <a:p>
            <a:pPr algn="l">
              <a:lnSpc>
                <a:spcPct val="100000"/>
              </a:lnSpc>
              <a:spcBef>
                <a:spcPts val="0"/>
              </a:spcBef>
              <a:spcAft>
                <a:spcPts val="0"/>
              </a:spcAft>
            </a:pPr>
            <a:r>
              <a:rPr sz="1497" b="0" i="1" lang="en-US" spc="0">
                <a:solidFill>
                  <a:srgbClr val="2676B8"/>
                </a:solidFill>
                <a:latin typeface="Liberation Serif"/>
                <a:ea typeface="Liberation Serif"/>
              </a:rPr>
              <a:t>t</a:t>
            </a:r>
          </a:p>
        </p:txBody>
      </p:sp>
      <p:sp>
        <p:nvSpPr>
          <p:cNvPr id="123" name="rect 122"/>
          <p:cNvSpPr/>
          <p:nvPr/>
        </p:nvSpPr>
        <p:spPr>
          <a:xfrm>
            <a:off x="8704850" y="965580"/>
            <a:ext cx="4169550" cy="3218600"/>
          </a:xfrm>
          <a:prstGeom prst="roundRect">
            <a:avLst>
              <a:gd name="adj" fmla="val 1363"/>
            </a:avLst>
          </a:prstGeom>
          <a:solidFill>
            <a:srgbClr val="EEEEEE"/>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4" name="rect 123"/>
          <p:cNvSpPr/>
          <p:nvPr/>
        </p:nvSpPr>
        <p:spPr>
          <a:xfrm>
            <a:off x="8704850" y="965580"/>
            <a:ext cx="4169550" cy="351120"/>
          </a:xfrm>
          <a:prstGeom prst="roundRect">
            <a:avLst>
              <a:gd name="adj" fmla="val 12500"/>
            </a:avLst>
          </a:prstGeom>
          <a:solidFill>
            <a:srgbClr val="A9CEE8"/>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5" name="rect 124"/>
          <p:cNvSpPr/>
          <p:nvPr/>
        </p:nvSpPr>
        <p:spPr>
          <a:xfrm>
            <a:off x="8713628" y="1163085"/>
            <a:ext cx="4151994" cy="146300"/>
          </a:xfrm>
          <a:prstGeom prst="rect">
            <a:avLst/>
          </a:prstGeom>
          <a:solidFill>
            <a:srgbClr val="A9CE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6" name="line 125"/>
          <p:cNvCxnSpPr/>
          <p:nvPr/>
        </p:nvCxnSpPr>
        <p:spPr>
          <a:xfrm>
            <a:off x="8704850" y="1316700"/>
            <a:ext cx="4169550" cy="0"/>
          </a:xfrm>
          <a:prstGeom prst="line">
            <a:avLst/>
          </a:prstGeom>
          <a:ln w="12435">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27" name="(b) Direct JOIN"/>
          <p:cNvSpPr txBox="1"/>
          <p:nvPr/>
        </p:nvSpPr>
        <p:spPr>
          <a:xfrm>
            <a:off x="8851150" y="1016785"/>
            <a:ext cx="1761715" cy="268826"/>
          </a:xfrm>
          <a:prstGeom prst="rect">
            <a:avLst/>
          </a:prstGeom>
          <a:noFill/>
        </p:spPr>
        <p:txBody>
          <a:bodyPr wrap="none" lIns="0" rIns="0" tIns="0" bIns="0" anchor="t">
            <a:spAutoFit/>
          </a:bodyPr>
          <a:lstStyle/>
          <a:p>
            <a:pPr algn="l">
              <a:lnSpc>
                <a:spcPct val="100000"/>
              </a:lnSpc>
              <a:spcBef>
                <a:spcPts val="0"/>
              </a:spcBef>
              <a:spcAft>
                <a:spcPts val="0"/>
              </a:spcAft>
            </a:pPr>
            <a:r>
              <a:rPr sz="1612" b="1" i="0" lang="en-US" spc="0">
                <a:solidFill>
                  <a:srgbClr val="181818"/>
                </a:solidFill>
                <a:latin typeface="DejaVu Sans"/>
                <a:ea typeface="DejaVu Sans"/>
              </a:rPr>
              <a:t>(b) Direct JOIN</a:t>
            </a:r>
          </a:p>
        </p:txBody>
      </p:sp>
      <p:sp>
        <p:nvSpPr>
          <p:cNvPr id="128" name="circle 127"/>
          <p:cNvSpPr/>
          <p:nvPr/>
        </p:nvSpPr>
        <p:spPr>
          <a:xfrm>
            <a:off x="8946245" y="2062830"/>
            <a:ext cx="365750" cy="365750"/>
          </a:xfrm>
          <a:prstGeom prst="ellipse">
            <a:avLst/>
          </a:prstGeom>
          <a:solidFill>
            <a:srgbClr val="E9A6BF"/>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9" name="P"/>
          <p:cNvSpPr txBox="1"/>
          <p:nvPr/>
        </p:nvSpPr>
        <p:spPr>
          <a:xfrm>
            <a:off x="9020895" y="2140808"/>
            <a:ext cx="216450" cy="235909"/>
          </a:xfrm>
          <a:prstGeom prst="rect">
            <a:avLst/>
          </a:prstGeom>
          <a:noFill/>
        </p:spPr>
        <p:txBody>
          <a:bodyPr wrap="none" lIns="0" rIns="0" tIns="0" bIns="0" anchor="t">
            <a:spAutoFit/>
          </a:bodyPr>
          <a:lstStyle/>
          <a:p>
            <a:pPr algn="ctr">
              <a:lnSpc>
                <a:spcPct val="100000"/>
              </a:lnSpc>
              <a:spcBef>
                <a:spcPts val="0"/>
              </a:spcBef>
              <a:spcAft>
                <a:spcPts val="0"/>
              </a:spcAft>
            </a:pPr>
            <a:r>
              <a:rPr sz="1382" b="1" i="0" lang="en-US" spc="0">
                <a:solidFill>
                  <a:srgbClr val="181818"/>
                </a:solidFill>
                <a:latin typeface="DejaVu Sans"/>
                <a:ea typeface="DejaVu Sans"/>
              </a:rPr>
              <a:t>P</a:t>
            </a:r>
          </a:p>
        </p:txBody>
      </p:sp>
      <p:sp>
        <p:nvSpPr>
          <p:cNvPr id="130" name="circle 129"/>
          <p:cNvSpPr/>
          <p:nvPr/>
        </p:nvSpPr>
        <p:spPr>
          <a:xfrm>
            <a:off x="9933770" y="1594670"/>
            <a:ext cx="365750" cy="365750"/>
          </a:xfrm>
          <a:prstGeom prst="ellipse">
            <a:avLst/>
          </a:prstGeom>
          <a:solidFill>
            <a:srgbClr val="B5D68B"/>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1" name="C1"/>
          <p:cNvSpPr txBox="1"/>
          <p:nvPr/>
        </p:nvSpPr>
        <p:spPr>
          <a:xfrm>
            <a:off x="9952486" y="1677476"/>
            <a:ext cx="328318" cy="226765"/>
          </a:xfrm>
          <a:prstGeom prst="rect">
            <a:avLst/>
          </a:prstGeom>
          <a:noFill/>
        </p:spPr>
        <p:txBody>
          <a:bodyPr wrap="none" lIns="0" rIns="0" tIns="0" bIns="0" anchor="t">
            <a:spAutoFit/>
          </a:bodyPr>
          <a:lstStyle/>
          <a:p>
            <a:pPr algn="ctr">
              <a:lnSpc>
                <a:spcPct val="100000"/>
              </a:lnSpc>
              <a:spcBef>
                <a:spcPts val="0"/>
              </a:spcBef>
              <a:spcAft>
                <a:spcPts val="0"/>
              </a:spcAft>
            </a:pPr>
            <a:r>
              <a:rPr sz="1324" b="1" i="0" lang="en-US" spc="0">
                <a:solidFill>
                  <a:srgbClr val="181818"/>
                </a:solidFill>
                <a:latin typeface="DejaVu Sans"/>
                <a:ea typeface="DejaVu Sans"/>
              </a:rPr>
              <a:t>C1</a:t>
            </a:r>
          </a:p>
        </p:txBody>
      </p:sp>
      <p:sp>
        <p:nvSpPr>
          <p:cNvPr id="132" name="circle 131"/>
          <p:cNvSpPr/>
          <p:nvPr/>
        </p:nvSpPr>
        <p:spPr>
          <a:xfrm>
            <a:off x="9933770" y="2494415"/>
            <a:ext cx="365750" cy="365750"/>
          </a:xfrm>
          <a:prstGeom prst="ellipse">
            <a:avLst/>
          </a:prstGeom>
          <a:solidFill>
            <a:srgbClr val="F2BD7D"/>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3" name="C2"/>
          <p:cNvSpPr txBox="1"/>
          <p:nvPr/>
        </p:nvSpPr>
        <p:spPr>
          <a:xfrm>
            <a:off x="9952486" y="2577221"/>
            <a:ext cx="328318" cy="226765"/>
          </a:xfrm>
          <a:prstGeom prst="rect">
            <a:avLst/>
          </a:prstGeom>
          <a:noFill/>
        </p:spPr>
        <p:txBody>
          <a:bodyPr wrap="none" lIns="0" rIns="0" tIns="0" bIns="0" anchor="t">
            <a:spAutoFit/>
          </a:bodyPr>
          <a:lstStyle/>
          <a:p>
            <a:pPr algn="ctr">
              <a:lnSpc>
                <a:spcPct val="100000"/>
              </a:lnSpc>
              <a:spcBef>
                <a:spcPts val="0"/>
              </a:spcBef>
              <a:spcAft>
                <a:spcPts val="0"/>
              </a:spcAft>
            </a:pPr>
            <a:r>
              <a:rPr sz="1324" b="1" i="0" lang="en-US" spc="0">
                <a:solidFill>
                  <a:srgbClr val="181818"/>
                </a:solidFill>
                <a:latin typeface="DejaVu Sans"/>
                <a:ea typeface="DejaVu Sans"/>
              </a:rPr>
              <a:t>C2</a:t>
            </a:r>
          </a:p>
        </p:txBody>
      </p:sp>
      <p:sp>
        <p:nvSpPr>
          <p:cNvPr id="134" name="path 133"/>
          <p:cNvSpPr/>
          <p:nvPr/>
        </p:nvSpPr>
        <p:spPr>
          <a:xfrm>
            <a:off x="10372670" y="1594670"/>
            <a:ext cx="146300" cy="146300"/>
          </a:xfrm>
          <a:custGeom>
            <a:avLst/>
            <a:gdLst/>
            <a:ahLst/>
            <a:cxnLst/>
            <a:rect l="l" t="t" r="r" b="b"/>
            <a:pathLst>
              <a:path w="20" h="20">
                <a:moveTo>
                  <a:pt x="0" y="10"/>
                </a:moveTo>
                <a:lnTo>
                  <a:pt x="7" y="20"/>
                </a:lnTo>
                <a:lnTo>
                  <a:pt x="20" y="0"/>
                </a:lnTo>
              </a:path>
            </a:pathLst>
          </a:custGeom>
          <a:noFill/>
          <a:ln w="2048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5" name="polygon 134"/>
          <p:cNvSpPr/>
          <p:nvPr/>
        </p:nvSpPr>
        <p:spPr>
          <a:xfrm>
            <a:off x="11060280" y="1960420"/>
            <a:ext cx="775390" cy="570570"/>
          </a:xfrm>
          <a:custGeom>
            <a:avLst/>
            <a:gdLst/>
            <a:ahLst/>
            <a:cxnLst/>
            <a:rect l="l" t="t" r="r" b="b"/>
            <a:pathLst>
              <a:path w="106" h="78">
                <a:moveTo>
                  <a:pt x="53" y="0"/>
                </a:moveTo>
                <a:lnTo>
                  <a:pt x="106" y="39"/>
                </a:lnTo>
                <a:lnTo>
                  <a:pt x="53" y="78"/>
                </a:lnTo>
                <a:lnTo>
                  <a:pt x="0" y="39"/>
                </a:lnTo>
                <a:close/>
              </a:path>
            </a:pathLst>
          </a:custGeom>
          <a:solidFill>
            <a:srgbClr val="FFFFF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6" name="ALL"/>
          <p:cNvSpPr txBox="1"/>
          <p:nvPr/>
        </p:nvSpPr>
        <p:spPr>
          <a:xfrm>
            <a:off x="11216795" y="2141466"/>
            <a:ext cx="462359"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i="0" lang="en-US" spc="0">
                <a:solidFill>
                  <a:srgbClr val="181818"/>
                </a:solidFill>
                <a:latin typeface="DejaVu Sans"/>
                <a:ea typeface="DejaVu Sans"/>
              </a:rPr>
              <a:t>ALL</a:t>
            </a:r>
          </a:p>
        </p:txBody>
      </p:sp>
      <p:sp>
        <p:nvSpPr>
          <p:cNvPr id="137" name="circle 136"/>
          <p:cNvSpPr/>
          <p:nvPr/>
        </p:nvSpPr>
        <p:spPr>
          <a:xfrm>
            <a:off x="12252625" y="2062830"/>
            <a:ext cx="365750" cy="365750"/>
          </a:xfrm>
          <a:prstGeom prst="ellipse">
            <a:avLst/>
          </a:prstGeom>
          <a:solidFill>
            <a:srgbClr val="E9A6BF"/>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8" name="P"/>
          <p:cNvSpPr txBox="1"/>
          <p:nvPr/>
        </p:nvSpPr>
        <p:spPr>
          <a:xfrm>
            <a:off x="12327275" y="2140808"/>
            <a:ext cx="216450" cy="235909"/>
          </a:xfrm>
          <a:prstGeom prst="rect">
            <a:avLst/>
          </a:prstGeom>
          <a:noFill/>
        </p:spPr>
        <p:txBody>
          <a:bodyPr wrap="none" lIns="0" rIns="0" tIns="0" bIns="0" anchor="t">
            <a:spAutoFit/>
          </a:bodyPr>
          <a:lstStyle/>
          <a:p>
            <a:pPr algn="ctr">
              <a:lnSpc>
                <a:spcPct val="100000"/>
              </a:lnSpc>
              <a:spcBef>
                <a:spcPts val="0"/>
              </a:spcBef>
              <a:spcAft>
                <a:spcPts val="0"/>
              </a:spcAft>
            </a:pPr>
            <a:r>
              <a:rPr sz="1382" b="1" i="0" lang="en-US" spc="0">
                <a:solidFill>
                  <a:srgbClr val="181818"/>
                </a:solidFill>
                <a:latin typeface="DejaVu Sans"/>
                <a:ea typeface="DejaVu Sans"/>
              </a:rPr>
              <a:t>P</a:t>
            </a:r>
          </a:p>
        </p:txBody>
      </p:sp>
      <p:cxnSp>
        <p:nvCxnSpPr>
          <p:cNvPr id="139" name="path 138"/>
          <p:cNvCxnSpPr/>
          <p:nvPr/>
        </p:nvCxnSpPr>
        <p:spPr>
          <a:xfrm flipV="1">
            <a:off x="9319310" y="1850695"/>
            <a:ext cx="599830" cy="299915"/>
          </a:xfrm>
          <a:prstGeom prst="line">
            <a:avLst/>
          </a:prstGeom>
          <a:ln w="19019">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140" name="path 139"/>
          <p:cNvCxnSpPr/>
          <p:nvPr/>
        </p:nvCxnSpPr>
        <p:spPr>
          <a:xfrm>
            <a:off x="9319310" y="2348115"/>
            <a:ext cx="599830" cy="248710"/>
          </a:xfrm>
          <a:prstGeom prst="line">
            <a:avLst/>
          </a:prstGeom>
          <a:ln w="19019">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41" name="path 140"/>
          <p:cNvSpPr/>
          <p:nvPr/>
        </p:nvSpPr>
        <p:spPr>
          <a:xfrm>
            <a:off x="10321465" y="1777545"/>
            <a:ext cx="775390" cy="358435"/>
          </a:xfrm>
          <a:custGeom>
            <a:avLst/>
            <a:gdLst/>
            <a:ahLst/>
            <a:cxnLst/>
            <a:rect l="l" t="t" r="r" b="b"/>
            <a:pathLst>
              <a:path w="106" h="49">
                <a:moveTo>
                  <a:pt x="0" y="0"/>
                </a:moveTo>
                <a:lnTo>
                  <a:pt x="55" y="0"/>
                </a:lnTo>
                <a:lnTo>
                  <a:pt x="106" y="49"/>
                </a:lnTo>
              </a:path>
            </a:pathLst>
          </a:custGeom>
          <a:noFill/>
          <a:ln w="19019">
            <a:solidFill>
              <a:srgbClr val="969696"/>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2" name="path 141"/>
          <p:cNvSpPr/>
          <p:nvPr/>
        </p:nvSpPr>
        <p:spPr>
          <a:xfrm>
            <a:off x="10321465" y="2348115"/>
            <a:ext cx="775390" cy="329175"/>
          </a:xfrm>
          <a:custGeom>
            <a:avLst/>
            <a:gdLst/>
            <a:ahLst/>
            <a:cxnLst/>
            <a:rect l="l" t="t" r="r" b="b"/>
            <a:pathLst>
              <a:path w="106" h="45">
                <a:moveTo>
                  <a:pt x="0" y="45"/>
                </a:moveTo>
                <a:lnTo>
                  <a:pt x="55" y="45"/>
                </a:lnTo>
                <a:lnTo>
                  <a:pt x="106" y="0"/>
                </a:lnTo>
              </a:path>
            </a:pathLst>
          </a:custGeom>
          <a:noFill/>
          <a:ln w="19019">
            <a:solidFill>
              <a:srgbClr val="BF3335"/>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43" name="path 142"/>
          <p:cNvCxnSpPr/>
          <p:nvPr/>
        </p:nvCxnSpPr>
        <p:spPr>
          <a:xfrm>
            <a:off x="11857615" y="2245705"/>
            <a:ext cx="365750" cy="0"/>
          </a:xfrm>
          <a:prstGeom prst="line">
            <a:avLst/>
          </a:prstGeom>
          <a:ln w="19019">
            <a:solidFill>
              <a:srgbClr val="BF3335"/>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44" name="pending = {C2}"/>
          <p:cNvSpPr txBox="1"/>
          <p:nvPr/>
        </p:nvSpPr>
        <p:spPr>
          <a:xfrm>
            <a:off x="9099860" y="2938801"/>
            <a:ext cx="1795775" cy="252368"/>
          </a:xfrm>
          <a:prstGeom prst="rect">
            <a:avLst/>
          </a:prstGeom>
          <a:noFill/>
        </p:spPr>
        <p:txBody>
          <a:bodyPr wrap="none" lIns="0" rIns="0" tIns="0" bIns="0" anchor="t">
            <a:spAutoFit/>
          </a:bodyPr>
          <a:lstStyle/>
          <a:p>
            <a:pPr algn="l">
              <a:lnSpc>
                <a:spcPct val="100000"/>
              </a:lnSpc>
              <a:spcBef>
                <a:spcPts val="0"/>
              </a:spcBef>
              <a:spcAft>
                <a:spcPts val="0"/>
              </a:spcAft>
            </a:pPr>
            <a:r>
              <a:rPr sz="1497" b="1" i="0" lang="en-US" spc="0">
                <a:solidFill>
                  <a:srgbClr val="181818"/>
                </a:solidFill>
                <a:latin typeface="DejaVu Sans"/>
                <a:ea typeface="DejaVu Sans"/>
              </a:rPr>
              <a:t>pending = {C2}</a:t>
            </a:r>
          </a:p>
        </p:txBody>
      </p:sp>
      <p:sp>
        <p:nvSpPr>
          <p:cNvPr id="145" name="τ"/>
          <p:cNvSpPr txBox="1"/>
          <p:nvPr/>
        </p:nvSpPr>
        <p:spPr>
          <a:xfrm>
            <a:off x="9055970" y="3383188"/>
            <a:ext cx="176789" cy="307230"/>
          </a:xfrm>
          <a:prstGeom prst="rect">
            <a:avLst/>
          </a:prstGeom>
          <a:noFill/>
        </p:spPr>
        <p:txBody>
          <a:bodyPr wrap="none" lIns="0" rIns="0" tIns="0" bIns="0" anchor="t">
            <a:spAutoFit/>
          </a:bodyPr>
          <a:lstStyle/>
          <a:p>
            <a:pPr algn="l">
              <a:lnSpc>
                <a:spcPct val="100000"/>
              </a:lnSpc>
              <a:spcBef>
                <a:spcPts val="0"/>
              </a:spcBef>
              <a:spcAft>
                <a:spcPts val="0"/>
              </a:spcAft>
            </a:pPr>
            <a:r>
              <a:rPr sz="1958" b="0" i="1" lang="en-US" spc="0">
                <a:solidFill>
                  <a:srgbClr val="181818"/>
                </a:solidFill>
                <a:latin typeface="Liberation Serif"/>
                <a:ea typeface="Liberation Serif"/>
              </a:rPr>
              <a:t>τ</a:t>
            </a:r>
          </a:p>
        </p:txBody>
      </p:sp>
      <p:sp>
        <p:nvSpPr>
          <p:cNvPr id="146" name="join"/>
          <p:cNvSpPr txBox="1"/>
          <p:nvPr/>
        </p:nvSpPr>
        <p:spPr>
          <a:xfrm>
            <a:off x="9152294" y="3524001"/>
            <a:ext cx="338147" cy="210306"/>
          </a:xfrm>
          <a:prstGeom prst="rect">
            <a:avLst/>
          </a:prstGeom>
          <a:noFill/>
        </p:spPr>
        <p:txBody>
          <a:bodyPr wrap="none" lIns="0" rIns="0" tIns="0" bIns="0" anchor="t">
            <a:spAutoFit/>
          </a:bodyPr>
          <a:lstStyle/>
          <a:p>
            <a:pPr algn="l">
              <a:lnSpc>
                <a:spcPct val="100000"/>
              </a:lnSpc>
              <a:spcBef>
                <a:spcPts val="0"/>
              </a:spcBef>
              <a:spcAft>
                <a:spcPts val="0"/>
              </a:spcAft>
            </a:pPr>
            <a:r>
              <a:rPr sz="1272" b="0" i="0" lang="en-US" spc="0">
                <a:solidFill>
                  <a:srgbClr val="181818"/>
                </a:solidFill>
                <a:latin typeface="Liberation Serif"/>
                <a:ea typeface="Liberation Serif"/>
              </a:rPr>
              <a:t>join</a:t>
            </a:r>
          </a:p>
        </p:txBody>
      </p:sp>
      <p:sp>
        <p:nvSpPr>
          <p:cNvPr id="147" name=" = "/>
          <p:cNvSpPr txBox="1"/>
          <p:nvPr/>
        </p:nvSpPr>
        <p:spPr>
          <a:xfrm>
            <a:off x="9409976" y="3383188"/>
            <a:ext cx="352406" cy="307230"/>
          </a:xfrm>
          <a:prstGeom prst="rect">
            <a:avLst/>
          </a:prstGeom>
          <a:noFill/>
        </p:spPr>
        <p:txBody>
          <a:bodyPr wrap="none" lIns="0" rIns="0" tIns="0" bIns="0" anchor="t">
            <a:spAutoFit/>
          </a:bodyPr>
          <a:lstStyle/>
          <a:p>
            <a:pPr algn="l">
              <a:lnSpc>
                <a:spcPct val="100000"/>
              </a:lnSpc>
              <a:spcBef>
                <a:spcPts val="0"/>
              </a:spcBef>
              <a:spcAft>
                <a:spcPts val="0"/>
              </a:spcAft>
            </a:pPr>
            <a:r>
              <a:rPr sz="1958" b="0" i="0" lang="en-US" spc="0">
                <a:solidFill>
                  <a:srgbClr val="181818"/>
                </a:solidFill>
                <a:latin typeface="Liberation Serif"/>
                <a:ea typeface="Liberation Serif"/>
              </a:rPr>
              <a:t> = </a:t>
            </a:r>
          </a:p>
        </p:txBody>
      </p:sp>
      <p:sp>
        <p:nvSpPr>
          <p:cNvPr id="148" name="["/>
          <p:cNvSpPr txBox="1"/>
          <p:nvPr/>
        </p:nvSpPr>
        <p:spPr>
          <a:xfrm>
            <a:off x="10123960" y="3229572"/>
            <a:ext cx="168159" cy="298086"/>
          </a:xfrm>
          <a:prstGeom prst="rect">
            <a:avLst/>
          </a:prstGeom>
          <a:noFill/>
        </p:spPr>
        <p:txBody>
          <a:bodyPr wrap="none" lIns="0" rIns="0" tIns="0" bIns="0" anchor="t">
            <a:spAutoFit/>
          </a:bodyPr>
          <a:lstStyle/>
          <a:p>
            <a:pPr algn="l">
              <a:lnSpc>
                <a:spcPct val="100000"/>
              </a:lnSpc>
              <a:spcBef>
                <a:spcPts val="0"/>
              </a:spcBef>
              <a:spcAft>
                <a:spcPts val="0"/>
              </a:spcAft>
            </a:pPr>
            <a:r>
              <a:rPr sz="1900" b="0" i="0" lang="en-US" spc="0">
                <a:solidFill>
                  <a:srgbClr val="181818"/>
                </a:solidFill>
                <a:latin typeface="Liberation Serif"/>
                <a:ea typeface="Liberation Serif"/>
              </a:rPr>
              <a:t>[</a:t>
            </a:r>
          </a:p>
        </p:txBody>
      </p:sp>
      <p:sp>
        <p:nvSpPr>
          <p:cNvPr id="149" name="W"/>
          <p:cNvSpPr txBox="1"/>
          <p:nvPr/>
        </p:nvSpPr>
        <p:spPr>
          <a:xfrm>
            <a:off x="10204339" y="3229572"/>
            <a:ext cx="288857" cy="298086"/>
          </a:xfrm>
          <a:prstGeom prst="rect">
            <a:avLst/>
          </a:prstGeom>
          <a:noFill/>
        </p:spPr>
        <p:txBody>
          <a:bodyPr wrap="none" lIns="0" rIns="0" tIns="0" bIns="0" anchor="t">
            <a:spAutoFit/>
          </a:bodyPr>
          <a:lstStyle/>
          <a:p>
            <a:pPr algn="l">
              <a:lnSpc>
                <a:spcPct val="100000"/>
              </a:lnSpc>
              <a:spcBef>
                <a:spcPts val="0"/>
              </a:spcBef>
              <a:spcAft>
                <a:spcPts val="0"/>
              </a:spcAft>
            </a:pPr>
            <a:r>
              <a:rPr sz="1900" b="0" i="1" lang="en-US" spc="0">
                <a:solidFill>
                  <a:srgbClr val="181818"/>
                </a:solidFill>
                <a:latin typeface="Liberation Serif"/>
                <a:ea typeface="Liberation Serif"/>
              </a:rPr>
              <a:t>W</a:t>
            </a:r>
          </a:p>
        </p:txBody>
      </p:sp>
      <p:sp>
        <p:nvSpPr>
          <p:cNvPr id="150" name=" − Δ"/>
          <p:cNvSpPr txBox="1"/>
          <p:nvPr/>
        </p:nvSpPr>
        <p:spPr>
          <a:xfrm>
            <a:off x="10405416" y="3229572"/>
            <a:ext cx="486533" cy="298086"/>
          </a:xfrm>
          <a:prstGeom prst="rect">
            <a:avLst/>
          </a:prstGeom>
          <a:noFill/>
        </p:spPr>
        <p:txBody>
          <a:bodyPr wrap="none" lIns="0" rIns="0" tIns="0" bIns="0" anchor="t">
            <a:spAutoFit/>
          </a:bodyPr>
          <a:lstStyle/>
          <a:p>
            <a:pPr algn="l">
              <a:lnSpc>
                <a:spcPct val="100000"/>
              </a:lnSpc>
              <a:spcBef>
                <a:spcPts val="0"/>
              </a:spcBef>
              <a:spcAft>
                <a:spcPts val="0"/>
              </a:spcAft>
            </a:pPr>
            <a:r>
              <a:rPr sz="1900" b="0" i="0" lang="en-US" spc="0">
                <a:solidFill>
                  <a:srgbClr val="181818"/>
                </a:solidFill>
                <a:latin typeface="Liberation Serif"/>
                <a:ea typeface="Liberation Serif"/>
              </a:rPr>
              <a:t> − Δ</a:t>
            </a:r>
          </a:p>
        </p:txBody>
      </p:sp>
      <p:sp>
        <p:nvSpPr>
          <p:cNvPr id="151" name="N"/>
          <p:cNvSpPr txBox="1"/>
          <p:nvPr/>
        </p:nvSpPr>
        <p:spPr>
          <a:xfrm>
            <a:off x="10804169" y="3229572"/>
            <a:ext cx="248796" cy="298086"/>
          </a:xfrm>
          <a:prstGeom prst="rect">
            <a:avLst/>
          </a:prstGeom>
          <a:noFill/>
        </p:spPr>
        <p:txBody>
          <a:bodyPr wrap="none" lIns="0" rIns="0" tIns="0" bIns="0" anchor="t">
            <a:spAutoFit/>
          </a:bodyPr>
          <a:lstStyle/>
          <a:p>
            <a:pPr algn="l">
              <a:lnSpc>
                <a:spcPct val="100000"/>
              </a:lnSpc>
              <a:spcBef>
                <a:spcPts val="0"/>
              </a:spcBef>
              <a:spcAft>
                <a:spcPts val="0"/>
              </a:spcAft>
            </a:pPr>
            <a:r>
              <a:rPr sz="1900" b="0" i="1" lang="en-US" spc="0">
                <a:solidFill>
                  <a:srgbClr val="181818"/>
                </a:solidFill>
                <a:latin typeface="Liberation Serif"/>
                <a:ea typeface="Liberation Serif"/>
              </a:rPr>
              <a:t>N</a:t>
            </a:r>
          </a:p>
        </p:txBody>
      </p:sp>
      <p:sp>
        <p:nvSpPr>
          <p:cNvPr id="152" name="]"/>
          <p:cNvSpPr txBox="1"/>
          <p:nvPr/>
        </p:nvSpPr>
        <p:spPr>
          <a:xfrm>
            <a:off x="10965185" y="3229572"/>
            <a:ext cx="181732" cy="298086"/>
          </a:xfrm>
          <a:prstGeom prst="rect">
            <a:avLst/>
          </a:prstGeom>
          <a:noFill/>
        </p:spPr>
        <p:txBody>
          <a:bodyPr wrap="none" lIns="0" rIns="0" tIns="0" bIns="0" anchor="t">
            <a:spAutoFit/>
          </a:bodyPr>
          <a:lstStyle/>
          <a:p>
            <a:pPr algn="l">
              <a:lnSpc>
                <a:spcPct val="100000"/>
              </a:lnSpc>
              <a:spcBef>
                <a:spcPts val="0"/>
              </a:spcBef>
              <a:spcAft>
                <a:spcPts val="0"/>
              </a:spcAft>
            </a:pPr>
            <a:r>
              <a:rPr sz="1900" b="0" i="1" lang="en-US" spc="0">
                <a:solidFill>
                  <a:srgbClr val="181818"/>
                </a:solidFill>
                <a:latin typeface="Liberation Serif"/>
                <a:ea typeface="Liberation Serif"/>
              </a:rPr>
              <a:t>]</a:t>
            </a:r>
          </a:p>
        </p:txBody>
      </p:sp>
      <p:sp>
        <p:nvSpPr>
          <p:cNvPr id="153" name="+"/>
          <p:cNvSpPr txBox="1"/>
          <p:nvPr/>
        </p:nvSpPr>
        <p:spPr>
          <a:xfrm>
            <a:off x="11066452" y="3364900"/>
            <a:ext cx="176474" cy="204820"/>
          </a:xfrm>
          <a:prstGeom prst="rect">
            <a:avLst/>
          </a:prstGeom>
          <a:noFill/>
        </p:spPr>
        <p:txBody>
          <a:bodyPr wrap="none" lIns="0" rIns="0" tIns="0" bIns="0" anchor="t">
            <a:spAutoFit/>
          </a:bodyPr>
          <a:lstStyle/>
          <a:p>
            <a:pPr algn="l">
              <a:lnSpc>
                <a:spcPct val="100000"/>
              </a:lnSpc>
              <a:spcBef>
                <a:spcPts val="0"/>
              </a:spcBef>
              <a:spcAft>
                <a:spcPts val="0"/>
              </a:spcAft>
            </a:pPr>
            <a:r>
              <a:rPr sz="1235" b="0" i="0" lang="en-US" spc="0">
                <a:solidFill>
                  <a:srgbClr val="181818"/>
                </a:solidFill>
                <a:latin typeface="Liberation Serif"/>
                <a:ea typeface="Liberation Serif"/>
              </a:rPr>
              <a:t>+</a:t>
            </a:r>
          </a:p>
        </p:txBody>
      </p:sp>
      <p:cxnSp>
        <p:nvCxnSpPr>
          <p:cNvPr id="154" name="line 153"/>
          <p:cNvCxnSpPr/>
          <p:nvPr/>
        </p:nvCxnSpPr>
        <p:spPr>
          <a:xfrm>
            <a:off x="10050810" y="3511200"/>
            <a:ext cx="1184801" cy="0"/>
          </a:xfrm>
          <a:prstGeom prst="line">
            <a:avLst/>
          </a:prstGeom>
          <a:ln w="13167">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55" name="v"/>
          <p:cNvSpPr txBox="1"/>
          <p:nvPr/>
        </p:nvSpPr>
        <p:spPr>
          <a:xfrm>
            <a:off x="10475723" y="3558748"/>
            <a:ext cx="194933" cy="298086"/>
          </a:xfrm>
          <a:prstGeom prst="rect">
            <a:avLst/>
          </a:prstGeom>
          <a:noFill/>
        </p:spPr>
        <p:txBody>
          <a:bodyPr wrap="none" lIns="0" rIns="0" tIns="0" bIns="0" anchor="t">
            <a:spAutoFit/>
          </a:bodyPr>
          <a:lstStyle/>
          <a:p>
            <a:pPr algn="l">
              <a:lnSpc>
                <a:spcPct val="100000"/>
              </a:lnSpc>
              <a:spcBef>
                <a:spcPts val="0"/>
              </a:spcBef>
              <a:spcAft>
                <a:spcPts val="0"/>
              </a:spcAft>
            </a:pPr>
            <a:r>
              <a:rPr sz="1900" b="0" i="1" lang="en-US" spc="0">
                <a:solidFill>
                  <a:srgbClr val="181818"/>
                </a:solidFill>
                <a:latin typeface="Liberation Serif"/>
                <a:ea typeface="Liberation Serif"/>
              </a:rPr>
              <a:t>v</a:t>
            </a:r>
          </a:p>
        </p:txBody>
      </p:sp>
      <p:sp>
        <p:nvSpPr>
          <p:cNvPr id="156" name="("/>
          <p:cNvSpPr txBox="1"/>
          <p:nvPr/>
        </p:nvSpPr>
        <p:spPr>
          <a:xfrm>
            <a:off x="10582876" y="3558748"/>
            <a:ext cx="168159" cy="298086"/>
          </a:xfrm>
          <a:prstGeom prst="rect">
            <a:avLst/>
          </a:prstGeom>
          <a:noFill/>
        </p:spPr>
        <p:txBody>
          <a:bodyPr wrap="none" lIns="0" rIns="0" tIns="0" bIns="0" anchor="t">
            <a:spAutoFit/>
          </a:bodyPr>
          <a:lstStyle/>
          <a:p>
            <a:pPr algn="l">
              <a:lnSpc>
                <a:spcPct val="100000"/>
              </a:lnSpc>
              <a:spcBef>
                <a:spcPts val="0"/>
              </a:spcBef>
              <a:spcAft>
                <a:spcPts val="0"/>
              </a:spcAft>
            </a:pPr>
            <a:r>
              <a:rPr sz="1900" b="0" i="0" lang="en-US" spc="0">
                <a:solidFill>
                  <a:srgbClr val="181818"/>
                </a:solidFill>
                <a:latin typeface="Liberation Serif"/>
                <a:ea typeface="Liberation Serif"/>
              </a:rPr>
              <a:t>(</a:t>
            </a:r>
          </a:p>
        </p:txBody>
      </p:sp>
      <p:sp>
        <p:nvSpPr>
          <p:cNvPr id="157" name="t"/>
          <p:cNvSpPr txBox="1"/>
          <p:nvPr/>
        </p:nvSpPr>
        <p:spPr>
          <a:xfrm>
            <a:off x="10663256" y="3558748"/>
            <a:ext cx="154844" cy="298086"/>
          </a:xfrm>
          <a:prstGeom prst="rect">
            <a:avLst/>
          </a:prstGeom>
          <a:noFill/>
        </p:spPr>
        <p:txBody>
          <a:bodyPr wrap="none" lIns="0" rIns="0" tIns="0" bIns="0" anchor="t">
            <a:spAutoFit/>
          </a:bodyPr>
          <a:lstStyle/>
          <a:p>
            <a:pPr algn="l">
              <a:lnSpc>
                <a:spcPct val="100000"/>
              </a:lnSpc>
              <a:spcBef>
                <a:spcPts val="0"/>
              </a:spcBef>
              <a:spcAft>
                <a:spcPts val="0"/>
              </a:spcAft>
            </a:pPr>
            <a:r>
              <a:rPr sz="1900" b="0" i="1" lang="en-US" spc="0">
                <a:solidFill>
                  <a:srgbClr val="181818"/>
                </a:solidFill>
                <a:latin typeface="Liberation Serif"/>
                <a:ea typeface="Liberation Serif"/>
              </a:rPr>
              <a:t>t</a:t>
            </a:r>
          </a:p>
        </p:txBody>
      </p:sp>
      <p:sp>
        <p:nvSpPr>
          <p:cNvPr id="158" name=")"/>
          <p:cNvSpPr txBox="1"/>
          <p:nvPr/>
        </p:nvSpPr>
        <p:spPr>
          <a:xfrm>
            <a:off x="10730319" y="3558748"/>
            <a:ext cx="168159" cy="298086"/>
          </a:xfrm>
          <a:prstGeom prst="rect">
            <a:avLst/>
          </a:prstGeom>
          <a:noFill/>
        </p:spPr>
        <p:txBody>
          <a:bodyPr wrap="none" lIns="0" rIns="0" tIns="0" bIns="0" anchor="t">
            <a:spAutoFit/>
          </a:bodyPr>
          <a:lstStyle/>
          <a:p>
            <a:pPr algn="l">
              <a:lnSpc>
                <a:spcPct val="100000"/>
              </a:lnSpc>
              <a:spcBef>
                <a:spcPts val="0"/>
              </a:spcBef>
              <a:spcAft>
                <a:spcPts val="0"/>
              </a:spcAft>
            </a:pPr>
            <a:r>
              <a:rPr sz="1900" b="0" i="0" lang="en-US" spc="0">
                <a:solidFill>
                  <a:srgbClr val="181818"/>
                </a:solidFill>
                <a:latin typeface="Liberation Serif"/>
                <a:ea typeface="Liberation Serif"/>
              </a:rPr>
              <a:t>)</a:t>
            </a:r>
          </a:p>
        </p:txBody>
      </p:sp>
      <p:sp>
        <p:nvSpPr>
          <p:cNvPr id="159" name="Observed service rate; queue separate"/>
          <p:cNvSpPr txBox="1"/>
          <p:nvPr/>
        </p:nvSpPr>
        <p:spPr>
          <a:xfrm>
            <a:off x="9055970" y="3880608"/>
            <a:ext cx="3238916" cy="217621"/>
          </a:xfrm>
          <a:prstGeom prst="rect">
            <a:avLst/>
          </a:prstGeom>
          <a:noFill/>
        </p:spPr>
        <p:txBody>
          <a:bodyPr wrap="none" lIns="0" rIns="0" tIns="0" bIns="0" anchor="t">
            <a:spAutoFit/>
          </a:bodyPr>
          <a:lstStyle/>
          <a:p>
            <a:pPr algn="l">
              <a:lnSpc>
                <a:spcPct val="100000"/>
              </a:lnSpc>
              <a:spcBef>
                <a:spcPts val="0"/>
              </a:spcBef>
              <a:spcAft>
                <a:spcPts val="0"/>
              </a:spcAft>
            </a:pPr>
            <a:r>
              <a:rPr sz="1267" b="0" i="0" lang="en-US" spc="0">
                <a:solidFill>
                  <a:srgbClr val="535353"/>
                </a:solidFill>
                <a:latin typeface="DejaVu Sans"/>
                <a:ea typeface="DejaVu Sans"/>
              </a:rPr>
              <a:t>Observed service rate; queue separate</a:t>
            </a:r>
          </a:p>
        </p:txBody>
      </p:sp>
      <p:sp>
        <p:nvSpPr>
          <p:cNvPr id="160" name="path 159"/>
          <p:cNvSpPr/>
          <p:nvPr/>
        </p:nvSpPr>
        <p:spPr>
          <a:xfrm>
            <a:off x="8185485" y="3218600"/>
            <a:ext cx="833910" cy="292600"/>
          </a:xfrm>
          <a:custGeom>
            <a:avLst/>
            <a:gdLst/>
            <a:ahLst/>
            <a:cxnLst/>
            <a:rect l="l" t="t" r="r" b="b"/>
            <a:pathLst>
              <a:path w="114" h="40">
                <a:moveTo>
                  <a:pt x="0" y="0"/>
                </a:moveTo>
                <a:lnTo>
                  <a:pt x="93" y="0"/>
                </a:lnTo>
                <a:lnTo>
                  <a:pt x="93" y="40"/>
                </a:lnTo>
                <a:lnTo>
                  <a:pt x="114" y="40"/>
                </a:lnTo>
              </a:path>
            </a:pathLst>
          </a:custGeom>
          <a:noFill/>
          <a:ln w="19019">
            <a:solidFill>
              <a:srgbClr val="BF3335"/>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1" name="path 160"/>
          <p:cNvSpPr/>
          <p:nvPr/>
        </p:nvSpPr>
        <p:spPr>
          <a:xfrm>
            <a:off x="9377830" y="4191495"/>
            <a:ext cx="3642870" cy="2450525"/>
          </a:xfrm>
          <a:custGeom>
            <a:avLst/>
            <a:gdLst/>
            <a:ahLst/>
            <a:cxnLst/>
            <a:rect l="l" t="t" r="r" b="b"/>
            <a:pathLst>
              <a:path w="498" h="335">
                <a:moveTo>
                  <a:pt x="220" y="0"/>
                </a:moveTo>
                <a:lnTo>
                  <a:pt x="220" y="22"/>
                </a:lnTo>
                <a:lnTo>
                  <a:pt x="498" y="22"/>
                </a:lnTo>
                <a:lnTo>
                  <a:pt x="498" y="267"/>
                </a:lnTo>
                <a:lnTo>
                  <a:pt x="0" y="267"/>
                </a:lnTo>
                <a:lnTo>
                  <a:pt x="0" y="335"/>
                </a:lnTo>
              </a:path>
            </a:pathLst>
          </a:custGeom>
          <a:noFill/>
          <a:ln w="19019">
            <a:solidFill>
              <a:srgbClr val="BF3335"/>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2" name="rect 161"/>
          <p:cNvSpPr/>
          <p:nvPr/>
        </p:nvSpPr>
        <p:spPr>
          <a:xfrm>
            <a:off x="292600" y="4520670"/>
            <a:ext cx="12581800" cy="1506890"/>
          </a:xfrm>
          <a:prstGeom prst="roundRect">
            <a:avLst>
              <a:gd name="adj" fmla="val 2912"/>
            </a:avLst>
          </a:prstGeom>
          <a:solidFill>
            <a:srgbClr val="EEEEEE"/>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3" name="rect 162"/>
          <p:cNvSpPr/>
          <p:nvPr/>
        </p:nvSpPr>
        <p:spPr>
          <a:xfrm>
            <a:off x="292600" y="4520670"/>
            <a:ext cx="12581800" cy="351120"/>
          </a:xfrm>
          <a:prstGeom prst="roundRect">
            <a:avLst>
              <a:gd name="adj" fmla="val 12500"/>
            </a:avLst>
          </a:prstGeom>
          <a:solidFill>
            <a:srgbClr val="A9CEE8"/>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4" name="rect 163"/>
          <p:cNvSpPr/>
          <p:nvPr/>
        </p:nvSpPr>
        <p:spPr>
          <a:xfrm>
            <a:off x="301378" y="4718175"/>
            <a:ext cx="12564244" cy="146300"/>
          </a:xfrm>
          <a:prstGeom prst="rect">
            <a:avLst/>
          </a:prstGeom>
          <a:solidFill>
            <a:srgbClr val="A9CE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65" name="line 164"/>
          <p:cNvCxnSpPr/>
          <p:nvPr/>
        </p:nvCxnSpPr>
        <p:spPr>
          <a:xfrm>
            <a:off x="292600" y="4871790"/>
            <a:ext cx="12581800" cy="0"/>
          </a:xfrm>
          <a:prstGeom prst="line">
            <a:avLst/>
          </a:prstGeom>
          <a:ln w="12435">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66" name="(c) Tool timing conditioned on survival"/>
          <p:cNvSpPr txBox="1"/>
          <p:nvPr/>
        </p:nvSpPr>
        <p:spPr>
          <a:xfrm>
            <a:off x="438900" y="4571875"/>
            <a:ext cx="4527356" cy="268826"/>
          </a:xfrm>
          <a:prstGeom prst="rect">
            <a:avLst/>
          </a:prstGeom>
          <a:noFill/>
        </p:spPr>
        <p:txBody>
          <a:bodyPr wrap="none" lIns="0" rIns="0" tIns="0" bIns="0" anchor="t">
            <a:spAutoFit/>
          </a:bodyPr>
          <a:lstStyle/>
          <a:p>
            <a:pPr algn="l">
              <a:lnSpc>
                <a:spcPct val="100000"/>
              </a:lnSpc>
              <a:spcBef>
                <a:spcPts val="0"/>
              </a:spcBef>
              <a:spcAft>
                <a:spcPts val="0"/>
              </a:spcAft>
            </a:pPr>
            <a:r>
              <a:rPr sz="1612" b="1" i="0" lang="en-US" spc="0">
                <a:solidFill>
                  <a:srgbClr val="181818"/>
                </a:solidFill>
                <a:latin typeface="DejaVu Sans"/>
                <a:ea typeface="DejaVu Sans"/>
              </a:rPr>
              <a:t>(c) Tool timing conditioned on survival</a:t>
            </a:r>
          </a:p>
        </p:txBody>
      </p:sp>
      <p:sp>
        <p:nvSpPr>
          <p:cNvPr id="167" name="circle 166"/>
          <p:cNvSpPr/>
          <p:nvPr/>
        </p:nvSpPr>
        <p:spPr>
          <a:xfrm>
            <a:off x="541310" y="5040035"/>
            <a:ext cx="424270" cy="424270"/>
          </a:xfrm>
          <a:prstGeom prst="ellipse">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8" name="path 167"/>
          <p:cNvSpPr/>
          <p:nvPr/>
        </p:nvSpPr>
        <p:spPr>
          <a:xfrm>
            <a:off x="753445" y="5113185"/>
            <a:ext cx="117040" cy="190190"/>
          </a:xfrm>
          <a:custGeom>
            <a:avLst/>
            <a:gdLst/>
            <a:ahLst/>
            <a:cxnLst/>
            <a:rect l="l" t="t" r="r" b="b"/>
            <a:pathLst>
              <a:path w="16" h="26">
                <a:moveTo>
                  <a:pt x="0" y="0"/>
                </a:moveTo>
                <a:lnTo>
                  <a:pt x="0" y="19"/>
                </a:lnTo>
                <a:lnTo>
                  <a:pt x="16" y="26"/>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9" name="a"/>
          <p:cNvSpPr txBox="1"/>
          <p:nvPr/>
        </p:nvSpPr>
        <p:spPr>
          <a:xfrm>
            <a:off x="595001" y="5531969"/>
            <a:ext cx="197505" cy="272484"/>
          </a:xfrm>
          <a:prstGeom prst="rect">
            <a:avLst/>
          </a:prstGeom>
          <a:noFill/>
        </p:spPr>
        <p:txBody>
          <a:bodyPr wrap="none" lIns="0" rIns="0" tIns="0" bIns="0" anchor="t">
            <a:spAutoFit/>
          </a:bodyPr>
          <a:lstStyle/>
          <a:p>
            <a:pPr algn="l">
              <a:lnSpc>
                <a:spcPct val="100000"/>
              </a:lnSpc>
              <a:spcBef>
                <a:spcPts val="0"/>
              </a:spcBef>
              <a:spcAft>
                <a:spcPts val="0"/>
              </a:spcAft>
            </a:pPr>
            <a:r>
              <a:rPr sz="1727" b="0" i="1" lang="en-US" spc="0">
                <a:solidFill>
                  <a:srgbClr val="181818"/>
                </a:solidFill>
                <a:latin typeface="Liberation Serif"/>
                <a:ea typeface="Liberation Serif"/>
              </a:rPr>
              <a:t>a</a:t>
            </a:r>
          </a:p>
        </p:txBody>
      </p:sp>
      <p:sp>
        <p:nvSpPr>
          <p:cNvPr id="170" name="("/>
          <p:cNvSpPr txBox="1"/>
          <p:nvPr/>
        </p:nvSpPr>
        <p:spPr>
          <a:xfrm>
            <a:off x="704726" y="5531969"/>
            <a:ext cx="160873" cy="272484"/>
          </a:xfrm>
          <a:prstGeom prst="rect">
            <a:avLst/>
          </a:prstGeom>
          <a:noFill/>
        </p:spPr>
        <p:txBody>
          <a:bodyPr wrap="none" lIns="0" rIns="0" tIns="0" bIns="0" anchor="t">
            <a:spAutoFit/>
          </a:bodyPr>
          <a:lstStyle/>
          <a:p>
            <a:pPr algn="l">
              <a:lnSpc>
                <a:spcPct val="100000"/>
              </a:lnSpc>
              <a:spcBef>
                <a:spcPts val="0"/>
              </a:spcBef>
              <a:spcAft>
                <a:spcPts val="0"/>
              </a:spcAft>
            </a:pPr>
            <a:r>
              <a:rPr sz="1727" b="0" i="0" lang="en-US" spc="0">
                <a:solidFill>
                  <a:srgbClr val="181818"/>
                </a:solidFill>
                <a:latin typeface="Liberation Serif"/>
                <a:ea typeface="Liberation Serif"/>
              </a:rPr>
              <a:t>(</a:t>
            </a:r>
          </a:p>
        </p:txBody>
      </p:sp>
      <p:sp>
        <p:nvSpPr>
          <p:cNvPr id="171" name="t"/>
          <p:cNvSpPr txBox="1"/>
          <p:nvPr/>
        </p:nvSpPr>
        <p:spPr>
          <a:xfrm>
            <a:off x="777819" y="5531969"/>
            <a:ext cx="148757" cy="272484"/>
          </a:xfrm>
          <a:prstGeom prst="rect">
            <a:avLst/>
          </a:prstGeom>
          <a:noFill/>
        </p:spPr>
        <p:txBody>
          <a:bodyPr wrap="none" lIns="0" rIns="0" tIns="0" bIns="0" anchor="t">
            <a:spAutoFit/>
          </a:bodyPr>
          <a:lstStyle/>
          <a:p>
            <a:pPr algn="l">
              <a:lnSpc>
                <a:spcPct val="100000"/>
              </a:lnSpc>
              <a:spcBef>
                <a:spcPts val="0"/>
              </a:spcBef>
              <a:spcAft>
                <a:spcPts val="0"/>
              </a:spcAft>
            </a:pPr>
            <a:r>
              <a:rPr sz="1727" b="0" i="1" lang="en-US" spc="0">
                <a:solidFill>
                  <a:srgbClr val="181818"/>
                </a:solidFill>
                <a:latin typeface="Liberation Serif"/>
                <a:ea typeface="Liberation Serif"/>
              </a:rPr>
              <a:t>t</a:t>
            </a:r>
          </a:p>
        </p:txBody>
      </p:sp>
      <p:sp>
        <p:nvSpPr>
          <p:cNvPr id="172" name=")"/>
          <p:cNvSpPr txBox="1"/>
          <p:nvPr/>
        </p:nvSpPr>
        <p:spPr>
          <a:xfrm>
            <a:off x="838796" y="5531969"/>
            <a:ext cx="160873" cy="272484"/>
          </a:xfrm>
          <a:prstGeom prst="rect">
            <a:avLst/>
          </a:prstGeom>
          <a:noFill/>
        </p:spPr>
        <p:txBody>
          <a:bodyPr wrap="none" lIns="0" rIns="0" tIns="0" bIns="0" anchor="t">
            <a:spAutoFit/>
          </a:bodyPr>
          <a:lstStyle/>
          <a:p>
            <a:pPr algn="l">
              <a:lnSpc>
                <a:spcPct val="100000"/>
              </a:lnSpc>
              <a:spcBef>
                <a:spcPts val="0"/>
              </a:spcBef>
              <a:spcAft>
                <a:spcPts val="0"/>
              </a:spcAft>
            </a:pPr>
            <a:r>
              <a:rPr sz="1727" b="0" i="0" lang="en-US" spc="0">
                <a:solidFill>
                  <a:srgbClr val="181818"/>
                </a:solidFill>
                <a:latin typeface="Liberation Serif"/>
                <a:ea typeface="Liberation Serif"/>
              </a:rPr>
              <a:t>)</a:t>
            </a:r>
          </a:p>
        </p:txBody>
      </p:sp>
      <p:sp>
        <p:nvSpPr>
          <p:cNvPr id="173" name="rect 172"/>
          <p:cNvSpPr/>
          <p:nvPr/>
        </p:nvSpPr>
        <p:spPr>
          <a:xfrm>
            <a:off x="1345960" y="5054665"/>
            <a:ext cx="848540" cy="475475"/>
          </a:xfrm>
          <a:prstGeom prst="roundRect">
            <a:avLst>
              <a:gd name="adj" fmla="val 4615"/>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4" name="rect 173"/>
          <p:cNvSpPr/>
          <p:nvPr/>
        </p:nvSpPr>
        <p:spPr>
          <a:xfrm>
            <a:off x="1353275" y="5061980"/>
            <a:ext cx="833910" cy="95095"/>
          </a:xfrm>
          <a:prstGeom prst="rect">
            <a:avLst/>
          </a:prstGeom>
          <a:solidFill>
            <a:srgbClr val="DDDDD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5" name="path 174"/>
          <p:cNvSpPr/>
          <p:nvPr/>
        </p:nvSpPr>
        <p:spPr>
          <a:xfrm>
            <a:off x="1463000" y="5259485"/>
            <a:ext cx="80465" cy="146300"/>
          </a:xfrm>
          <a:custGeom>
            <a:avLst/>
            <a:gdLst/>
            <a:ahLst/>
            <a:cxnLst/>
            <a:rect l="l" t="t" r="r" b="b"/>
            <a:pathLst>
              <a:path w="11" h="20">
                <a:moveTo>
                  <a:pt x="0" y="0"/>
                </a:moveTo>
                <a:lnTo>
                  <a:pt x="11" y="10"/>
                </a:lnTo>
                <a:lnTo>
                  <a:pt x="0" y="20"/>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76" name="line 175"/>
          <p:cNvCxnSpPr/>
          <p:nvPr/>
        </p:nvCxnSpPr>
        <p:spPr>
          <a:xfrm>
            <a:off x="1623930" y="5398470"/>
            <a:ext cx="46816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77" name="cmd / project"/>
          <p:cNvSpPr txBox="1"/>
          <p:nvPr/>
        </p:nvSpPr>
        <p:spPr>
          <a:xfrm>
            <a:off x="1294755" y="5650838"/>
            <a:ext cx="1150284" cy="217621"/>
          </a:xfrm>
          <a:prstGeom prst="rect">
            <a:avLst/>
          </a:prstGeom>
          <a:noFill/>
        </p:spPr>
        <p:txBody>
          <a:bodyPr wrap="none" lIns="0" rIns="0" tIns="0" bIns="0" anchor="t">
            <a:spAutoFit/>
          </a:bodyPr>
          <a:lstStyle/>
          <a:p>
            <a:pPr algn="l">
              <a:lnSpc>
                <a:spcPct val="100000"/>
              </a:lnSpc>
              <a:spcBef>
                <a:spcPts val="0"/>
              </a:spcBef>
              <a:spcAft>
                <a:spcPts val="0"/>
              </a:spcAft>
            </a:pPr>
            <a:r>
              <a:rPr sz="1267" b="0" i="0" lang="en-US" spc="0">
                <a:solidFill>
                  <a:srgbClr val="181818"/>
                </a:solidFill>
                <a:latin typeface="DejaVu Sans"/>
                <a:ea typeface="DejaVu Sans"/>
              </a:rPr>
              <a:t>cmd / project</a:t>
            </a:r>
          </a:p>
        </p:txBody>
      </p:sp>
      <p:cxnSp>
        <p:nvCxnSpPr>
          <p:cNvPr id="178" name="path 177"/>
          <p:cNvCxnSpPr/>
          <p:nvPr/>
        </p:nvCxnSpPr>
        <p:spPr>
          <a:xfrm>
            <a:off x="987525" y="5252170"/>
            <a:ext cx="336490" cy="0"/>
          </a:xfrm>
          <a:prstGeom prst="line">
            <a:avLst/>
          </a:prstGeom>
          <a:ln w="19019">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179" name="path 178"/>
          <p:cNvCxnSpPr/>
          <p:nvPr/>
        </p:nvCxnSpPr>
        <p:spPr>
          <a:xfrm>
            <a:off x="2216445" y="5252170"/>
            <a:ext cx="548625" cy="0"/>
          </a:xfrm>
          <a:prstGeom prst="line">
            <a:avLst/>
          </a:prstGeom>
          <a:ln w="19019">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80" name="rect 179"/>
          <p:cNvSpPr/>
          <p:nvPr/>
        </p:nvSpPr>
        <p:spPr>
          <a:xfrm>
            <a:off x="2962575" y="4966885"/>
            <a:ext cx="1316700" cy="424270"/>
          </a:xfrm>
          <a:prstGeom prst="roundRect">
            <a:avLst>
              <a:gd name="adj" fmla="val 3448"/>
            </a:avLst>
          </a:prstGeom>
          <a:solidFill>
            <a:srgbClr val="FFFFF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1" name="rect 180"/>
          <p:cNvSpPr/>
          <p:nvPr/>
        </p:nvSpPr>
        <p:spPr>
          <a:xfrm>
            <a:off x="2904055" y="5025405"/>
            <a:ext cx="1316700" cy="424270"/>
          </a:xfrm>
          <a:prstGeom prst="roundRect">
            <a:avLst>
              <a:gd name="adj" fmla="val 3448"/>
            </a:avLst>
          </a:prstGeom>
          <a:solidFill>
            <a:srgbClr val="FFFFF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2" name="rect 181"/>
          <p:cNvSpPr/>
          <p:nvPr/>
        </p:nvSpPr>
        <p:spPr>
          <a:xfrm>
            <a:off x="2845535" y="5083925"/>
            <a:ext cx="1316700" cy="424270"/>
          </a:xfrm>
          <a:prstGeom prst="roundRect">
            <a:avLst>
              <a:gd name="adj" fmla="val 3448"/>
            </a:avLst>
          </a:prstGeom>
          <a:solidFill>
            <a:srgbClr val="FFFFF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3" name="History"/>
          <p:cNvSpPr txBox="1"/>
          <p:nvPr/>
        </p:nvSpPr>
        <p:spPr>
          <a:xfrm>
            <a:off x="3086487" y="5191821"/>
            <a:ext cx="834796"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i="0" lang="en-US" spc="0">
                <a:solidFill>
                  <a:srgbClr val="181818"/>
                </a:solidFill>
                <a:latin typeface="DejaVu Sans"/>
                <a:ea typeface="DejaVu Sans"/>
              </a:rPr>
              <a:t>History</a:t>
            </a:r>
          </a:p>
        </p:txBody>
      </p:sp>
      <p:sp>
        <p:nvSpPr>
          <p:cNvPr id="184" name="path 183"/>
          <p:cNvSpPr/>
          <p:nvPr/>
        </p:nvSpPr>
        <p:spPr>
          <a:xfrm>
            <a:off x="4052510" y="4908365"/>
            <a:ext cx="124355" cy="124355"/>
          </a:xfrm>
          <a:custGeom>
            <a:avLst/>
            <a:gdLst/>
            <a:ahLst/>
            <a:cxnLst/>
            <a:rect l="l" t="t" r="r" b="b"/>
            <a:pathLst>
              <a:path w="17" h="17">
                <a:moveTo>
                  <a:pt x="0" y="9"/>
                </a:moveTo>
                <a:lnTo>
                  <a:pt x="6" y="17"/>
                </a:lnTo>
                <a:lnTo>
                  <a:pt x="17" y="0"/>
                </a:lnTo>
              </a:path>
            </a:pathLst>
          </a:custGeom>
          <a:noFill/>
          <a:ln w="2048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5" name="path 184"/>
          <p:cNvCxnSpPr/>
          <p:nvPr/>
        </p:nvCxnSpPr>
        <p:spPr>
          <a:xfrm>
            <a:off x="4323165" y="5252170"/>
            <a:ext cx="468160" cy="0"/>
          </a:xfrm>
          <a:prstGeom prst="line">
            <a:avLst/>
          </a:prstGeom>
          <a:ln w="19019">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86" name="rect 185"/>
          <p:cNvSpPr/>
          <p:nvPr/>
        </p:nvSpPr>
        <p:spPr>
          <a:xfrm>
            <a:off x="5808110" y="4952255"/>
            <a:ext cx="1265495" cy="738815"/>
          </a:xfrm>
          <a:prstGeom prst="rect">
            <a:avLst/>
          </a:prstGeom>
          <a:solidFill>
            <a:srgbClr val="B5D68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7" name="line 186"/>
          <p:cNvCxnSpPr/>
          <p:nvPr/>
        </p:nvCxnSpPr>
        <p:spPr>
          <a:xfrm>
            <a:off x="4988830" y="5698385"/>
            <a:ext cx="2092090" cy="0"/>
          </a:xfrm>
          <a:prstGeom prst="line">
            <a:avLst/>
          </a:prstGeom>
          <a:ln w="13167">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188" name="line 187"/>
          <p:cNvCxnSpPr/>
          <p:nvPr/>
        </p:nvCxnSpPr>
        <p:spPr>
          <a:xfrm flipV="1">
            <a:off x="4988830" y="4974200"/>
            <a:ext cx="0" cy="724185"/>
          </a:xfrm>
          <a:prstGeom prst="line">
            <a:avLst/>
          </a:prstGeom>
          <a:ln w="13167">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89" name="path 188"/>
          <p:cNvSpPr/>
          <p:nvPr/>
        </p:nvSpPr>
        <p:spPr>
          <a:xfrm>
            <a:off x="4996145" y="4974200"/>
            <a:ext cx="2062830" cy="716870"/>
          </a:xfrm>
          <a:custGeom>
            <a:avLst/>
            <a:gdLst/>
            <a:ahLst/>
            <a:cxnLst/>
            <a:rect l="l" t="t" r="r" b="b"/>
            <a:pathLst>
              <a:path w="282" h="98">
                <a:moveTo>
                  <a:pt x="0" y="98"/>
                </a:moveTo>
                <a:lnTo>
                  <a:pt x="34" y="98"/>
                </a:lnTo>
                <a:lnTo>
                  <a:pt x="34" y="80"/>
                </a:lnTo>
                <a:lnTo>
                  <a:pt x="68" y="80"/>
                </a:lnTo>
                <a:lnTo>
                  <a:pt x="68" y="60"/>
                </a:lnTo>
                <a:lnTo>
                  <a:pt x="111" y="60"/>
                </a:lnTo>
                <a:lnTo>
                  <a:pt x="111" y="30"/>
                </a:lnTo>
                <a:lnTo>
                  <a:pt x="158" y="30"/>
                </a:lnTo>
                <a:lnTo>
                  <a:pt x="158" y="11"/>
                </a:lnTo>
                <a:lnTo>
                  <a:pt x="226" y="11"/>
                </a:lnTo>
                <a:lnTo>
                  <a:pt x="226" y="0"/>
                </a:lnTo>
                <a:lnTo>
                  <a:pt x="282" y="0"/>
                </a:lnTo>
              </a:path>
            </a:pathLst>
          </a:custGeom>
          <a:noFill/>
          <a:ln w="19019">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90" name="line 189"/>
          <p:cNvCxnSpPr/>
          <p:nvPr/>
        </p:nvCxnSpPr>
        <p:spPr>
          <a:xfrm>
            <a:off x="5800795" y="4981515"/>
            <a:ext cx="0" cy="760760"/>
          </a:xfrm>
          <a:prstGeom prst="line">
            <a:avLst/>
          </a:prstGeom>
          <a:ln w="14630">
            <a:solidFill>
              <a:srgbClr val="BF3335"/>
            </a:solidFill>
            <a:prstDash val="dash"/>
          </a:ln>
          <a:effectLst/>
        </p:spPr>
        <p:style>
          <a:lnRef idx="2">
            <a:schemeClr val="accent1"/>
          </a:lnRef>
          <a:fillRef idx="0">
            <a:schemeClr val="accent1"/>
          </a:fillRef>
          <a:effectRef idx="0">
            <a:schemeClr val="accent1"/>
          </a:effectRef>
          <a:fontRef idx="minor">
            <a:schemeClr val="tx1"/>
          </a:fontRef>
        </p:style>
      </p:cxnSp>
      <p:sp>
        <p:nvSpPr>
          <p:cNvPr id="191" name="a"/>
          <p:cNvSpPr txBox="1"/>
          <p:nvPr/>
        </p:nvSpPr>
        <p:spPr>
          <a:xfrm>
            <a:off x="5755076" y="5760562"/>
            <a:ext cx="179218" cy="234080"/>
          </a:xfrm>
          <a:prstGeom prst="rect">
            <a:avLst/>
          </a:prstGeom>
          <a:noFill/>
        </p:spPr>
        <p:txBody>
          <a:bodyPr wrap="none" lIns="0" rIns="0" tIns="0" bIns="0" anchor="t">
            <a:spAutoFit/>
          </a:bodyPr>
          <a:lstStyle/>
          <a:p>
            <a:pPr algn="l">
              <a:lnSpc>
                <a:spcPct val="100000"/>
              </a:lnSpc>
              <a:spcBef>
                <a:spcPts val="0"/>
              </a:spcBef>
              <a:spcAft>
                <a:spcPts val="0"/>
              </a:spcAft>
            </a:pPr>
            <a:r>
              <a:rPr sz="1439" b="0" i="1" lang="en-US" spc="0">
                <a:solidFill>
                  <a:srgbClr val="BF3335"/>
                </a:solidFill>
                <a:latin typeface="Liberation Serif"/>
                <a:ea typeface="Liberation Serif"/>
              </a:rPr>
              <a:t>a</a:t>
            </a:r>
          </a:p>
        </p:txBody>
      </p:sp>
      <p:sp>
        <p:nvSpPr>
          <p:cNvPr id="192" name="T"/>
          <p:cNvSpPr txBox="1"/>
          <p:nvPr/>
        </p:nvSpPr>
        <p:spPr>
          <a:xfrm>
            <a:off x="6934620" y="5760562"/>
            <a:ext cx="189476" cy="234080"/>
          </a:xfrm>
          <a:prstGeom prst="rect">
            <a:avLst/>
          </a:prstGeom>
          <a:noFill/>
        </p:spPr>
        <p:txBody>
          <a:bodyPr wrap="none" lIns="0" rIns="0" tIns="0" bIns="0" anchor="t">
            <a:spAutoFit/>
          </a:bodyPr>
          <a:lstStyle/>
          <a:p>
            <a:pPr algn="l">
              <a:lnSpc>
                <a:spcPct val="100000"/>
              </a:lnSpc>
              <a:spcBef>
                <a:spcPts val="0"/>
              </a:spcBef>
              <a:spcAft>
                <a:spcPts val="0"/>
              </a:spcAft>
            </a:pPr>
            <a:r>
              <a:rPr sz="1439" b="0" i="1" lang="en-US" spc="0">
                <a:solidFill>
                  <a:srgbClr val="181818"/>
                </a:solidFill>
                <a:latin typeface="Liberation Serif"/>
                <a:ea typeface="Liberation Serif"/>
              </a:rPr>
              <a:t>T</a:t>
            </a:r>
          </a:p>
        </p:txBody>
      </p:sp>
      <p:sp>
        <p:nvSpPr>
          <p:cNvPr id="193" name="F"/>
          <p:cNvSpPr txBox="1"/>
          <p:nvPr/>
        </p:nvSpPr>
        <p:spPr>
          <a:xfrm>
            <a:off x="4808441" y="4897392"/>
            <a:ext cx="195019" cy="224936"/>
          </a:xfrm>
          <a:prstGeom prst="rect">
            <a:avLst/>
          </a:prstGeom>
          <a:noFill/>
        </p:spPr>
        <p:txBody>
          <a:bodyPr wrap="none" lIns="0" rIns="0" tIns="0" bIns="0" anchor="t">
            <a:spAutoFit/>
          </a:bodyPr>
          <a:lstStyle/>
          <a:p>
            <a:pPr algn="l">
              <a:lnSpc>
                <a:spcPct val="100000"/>
              </a:lnSpc>
              <a:spcBef>
                <a:spcPts val="0"/>
              </a:spcBef>
              <a:spcAft>
                <a:spcPts val="0"/>
              </a:spcAft>
            </a:pPr>
            <a:r>
              <a:rPr sz="1382" b="0" i="1" lang="en-US" spc="0">
                <a:solidFill>
                  <a:srgbClr val="181818"/>
                </a:solidFill>
                <a:latin typeface="Liberation Serif"/>
                <a:ea typeface="Liberation Serif"/>
              </a:rPr>
              <a:t>F</a:t>
            </a:r>
          </a:p>
        </p:txBody>
      </p:sp>
      <p:cxnSp>
        <p:nvCxnSpPr>
          <p:cNvPr id="194" name="path 193"/>
          <p:cNvCxnSpPr/>
          <p:nvPr/>
        </p:nvCxnSpPr>
        <p:spPr>
          <a:xfrm>
            <a:off x="7219905" y="5252170"/>
            <a:ext cx="358435" cy="0"/>
          </a:xfrm>
          <a:prstGeom prst="line">
            <a:avLst/>
          </a:prstGeom>
          <a:ln w="19019">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95" name="P("/>
          <p:cNvSpPr txBox="1"/>
          <p:nvPr/>
        </p:nvSpPr>
        <p:spPr>
          <a:xfrm>
            <a:off x="7753900" y="4992488"/>
            <a:ext cx="308944" cy="307230"/>
          </a:xfrm>
          <a:prstGeom prst="rect">
            <a:avLst/>
          </a:prstGeom>
          <a:noFill/>
        </p:spPr>
        <p:txBody>
          <a:bodyPr wrap="none" lIns="0" rIns="0" tIns="0" bIns="0" anchor="t">
            <a:spAutoFit/>
          </a:bodyPr>
          <a:lstStyle/>
          <a:p>
            <a:pPr algn="l">
              <a:lnSpc>
                <a:spcPct val="100000"/>
              </a:lnSpc>
              <a:spcBef>
                <a:spcPts val="0"/>
              </a:spcBef>
              <a:spcAft>
                <a:spcPts val="0"/>
              </a:spcAft>
            </a:pPr>
            <a:r>
              <a:rPr sz="1958" b="0" i="0" lang="en-US" spc="0">
                <a:solidFill>
                  <a:srgbClr val="181818"/>
                </a:solidFill>
                <a:latin typeface="Liberation Serif"/>
                <a:ea typeface="Liberation Serif"/>
              </a:rPr>
              <a:t>P(</a:t>
            </a:r>
          </a:p>
        </p:txBody>
      </p:sp>
      <p:sp>
        <p:nvSpPr>
          <p:cNvPr id="196" name="T"/>
          <p:cNvSpPr txBox="1"/>
          <p:nvPr/>
        </p:nvSpPr>
        <p:spPr>
          <a:xfrm>
            <a:off x="7975064" y="4992488"/>
            <a:ext cx="226108" cy="307230"/>
          </a:xfrm>
          <a:prstGeom prst="rect">
            <a:avLst/>
          </a:prstGeom>
          <a:noFill/>
        </p:spPr>
        <p:txBody>
          <a:bodyPr wrap="none" lIns="0" rIns="0" tIns="0" bIns="0" anchor="t">
            <a:spAutoFit/>
          </a:bodyPr>
          <a:lstStyle/>
          <a:p>
            <a:pPr algn="l">
              <a:lnSpc>
                <a:spcPct val="100000"/>
              </a:lnSpc>
              <a:spcBef>
                <a:spcPts val="0"/>
              </a:spcBef>
              <a:spcAft>
                <a:spcPts val="0"/>
              </a:spcAft>
            </a:pPr>
            <a:r>
              <a:rPr sz="1958" b="0" i="1" lang="en-US" spc="0">
                <a:solidFill>
                  <a:srgbClr val="181818"/>
                </a:solidFill>
                <a:latin typeface="Liberation Serif"/>
                <a:ea typeface="Liberation Serif"/>
              </a:rPr>
              <a:t>T</a:t>
            </a:r>
          </a:p>
        </p:txBody>
      </p:sp>
      <p:sp>
        <p:nvSpPr>
          <p:cNvPr id="197" name=" ≤ "/>
          <p:cNvSpPr txBox="1"/>
          <p:nvPr/>
        </p:nvSpPr>
        <p:spPr>
          <a:xfrm>
            <a:off x="8113392" y="4992488"/>
            <a:ext cx="348634" cy="307230"/>
          </a:xfrm>
          <a:prstGeom prst="rect">
            <a:avLst/>
          </a:prstGeom>
          <a:noFill/>
        </p:spPr>
        <p:txBody>
          <a:bodyPr wrap="none" lIns="0" rIns="0" tIns="0" bIns="0" anchor="t">
            <a:spAutoFit/>
          </a:bodyPr>
          <a:lstStyle/>
          <a:p>
            <a:pPr algn="l">
              <a:lnSpc>
                <a:spcPct val="100000"/>
              </a:lnSpc>
              <a:spcBef>
                <a:spcPts val="0"/>
              </a:spcBef>
              <a:spcAft>
                <a:spcPts val="0"/>
              </a:spcAft>
            </a:pPr>
            <a:r>
              <a:rPr sz="1958" b="0" i="0" lang="en-US" spc="0">
                <a:solidFill>
                  <a:srgbClr val="181818"/>
                </a:solidFill>
                <a:latin typeface="Liberation Serif"/>
                <a:ea typeface="Liberation Serif"/>
              </a:rPr>
              <a:t> ≤ </a:t>
            </a:r>
          </a:p>
        </p:txBody>
      </p:sp>
      <p:sp>
        <p:nvSpPr>
          <p:cNvPr id="198" name="a"/>
          <p:cNvSpPr txBox="1"/>
          <p:nvPr/>
        </p:nvSpPr>
        <p:spPr>
          <a:xfrm>
            <a:off x="8374246" y="4992488"/>
            <a:ext cx="212135" cy="307230"/>
          </a:xfrm>
          <a:prstGeom prst="rect">
            <a:avLst/>
          </a:prstGeom>
          <a:noFill/>
        </p:spPr>
        <p:txBody>
          <a:bodyPr wrap="none" lIns="0" rIns="0" tIns="0" bIns="0" anchor="t">
            <a:spAutoFit/>
          </a:bodyPr>
          <a:lstStyle/>
          <a:p>
            <a:pPr algn="l">
              <a:lnSpc>
                <a:spcPct val="100000"/>
              </a:lnSpc>
              <a:spcBef>
                <a:spcPts val="0"/>
              </a:spcBef>
              <a:spcAft>
                <a:spcPts val="0"/>
              </a:spcAft>
            </a:pPr>
            <a:r>
              <a:rPr sz="1958" b="0" i="1" lang="en-US" spc="0">
                <a:solidFill>
                  <a:srgbClr val="181818"/>
                </a:solidFill>
                <a:latin typeface="Liberation Serif"/>
                <a:ea typeface="Liberation Serif"/>
              </a:rPr>
              <a:t>a</a:t>
            </a:r>
          </a:p>
        </p:txBody>
      </p:sp>
      <p:sp>
        <p:nvSpPr>
          <p:cNvPr id="199" name=" + "/>
          <p:cNvSpPr txBox="1"/>
          <p:nvPr/>
        </p:nvSpPr>
        <p:spPr>
          <a:xfrm>
            <a:off x="8498601" y="4992488"/>
            <a:ext cx="352406" cy="307230"/>
          </a:xfrm>
          <a:prstGeom prst="rect">
            <a:avLst/>
          </a:prstGeom>
          <a:noFill/>
        </p:spPr>
        <p:txBody>
          <a:bodyPr wrap="none" lIns="0" rIns="0" tIns="0" bIns="0" anchor="t">
            <a:spAutoFit/>
          </a:bodyPr>
          <a:lstStyle/>
          <a:p>
            <a:pPr algn="l">
              <a:lnSpc>
                <a:spcPct val="100000"/>
              </a:lnSpc>
              <a:spcBef>
                <a:spcPts val="0"/>
              </a:spcBef>
              <a:spcAft>
                <a:spcPts val="0"/>
              </a:spcAft>
            </a:pPr>
            <a:r>
              <a:rPr sz="1958" b="0" i="0" lang="en-US" spc="0">
                <a:solidFill>
                  <a:srgbClr val="181818"/>
                </a:solidFill>
                <a:latin typeface="Liberation Serif"/>
                <a:ea typeface="Liberation Serif"/>
              </a:rPr>
              <a:t> + </a:t>
            </a:r>
          </a:p>
        </p:txBody>
      </p:sp>
      <p:sp>
        <p:nvSpPr>
          <p:cNvPr id="200" name="r"/>
          <p:cNvSpPr txBox="1"/>
          <p:nvPr/>
        </p:nvSpPr>
        <p:spPr>
          <a:xfrm>
            <a:off x="8763227" y="4992488"/>
            <a:ext cx="184561" cy="307230"/>
          </a:xfrm>
          <a:prstGeom prst="rect">
            <a:avLst/>
          </a:prstGeom>
          <a:noFill/>
        </p:spPr>
        <p:txBody>
          <a:bodyPr wrap="none" lIns="0" rIns="0" tIns="0" bIns="0" anchor="t">
            <a:spAutoFit/>
          </a:bodyPr>
          <a:lstStyle/>
          <a:p>
            <a:pPr algn="l">
              <a:lnSpc>
                <a:spcPct val="100000"/>
              </a:lnSpc>
              <a:spcBef>
                <a:spcPts val="0"/>
              </a:spcBef>
              <a:spcAft>
                <a:spcPts val="0"/>
              </a:spcAft>
            </a:pPr>
            <a:r>
              <a:rPr sz="1958" b="0" i="1" lang="en-US" spc="0">
                <a:solidFill>
                  <a:srgbClr val="181818"/>
                </a:solidFill>
                <a:latin typeface="Liberation Serif"/>
                <a:ea typeface="Liberation Serif"/>
              </a:rPr>
              <a:t>r</a:t>
            </a:r>
          </a:p>
        </p:txBody>
      </p:sp>
      <p:sp>
        <p:nvSpPr>
          <p:cNvPr id="201" name=" | "/>
          <p:cNvSpPr txBox="1"/>
          <p:nvPr/>
        </p:nvSpPr>
        <p:spPr>
          <a:xfrm>
            <a:off x="8860008" y="4992488"/>
            <a:ext cx="261940" cy="307230"/>
          </a:xfrm>
          <a:prstGeom prst="rect">
            <a:avLst/>
          </a:prstGeom>
          <a:noFill/>
        </p:spPr>
        <p:txBody>
          <a:bodyPr wrap="none" lIns="0" rIns="0" tIns="0" bIns="0" anchor="t">
            <a:spAutoFit/>
          </a:bodyPr>
          <a:lstStyle/>
          <a:p>
            <a:pPr algn="l">
              <a:lnSpc>
                <a:spcPct val="100000"/>
              </a:lnSpc>
              <a:spcBef>
                <a:spcPts val="0"/>
              </a:spcBef>
              <a:spcAft>
                <a:spcPts val="0"/>
              </a:spcAft>
            </a:pPr>
            <a:r>
              <a:rPr sz="1958" b="0" i="0" lang="en-US" spc="0">
                <a:solidFill>
                  <a:srgbClr val="181818"/>
                </a:solidFill>
                <a:latin typeface="Liberation Serif"/>
                <a:ea typeface="Liberation Serif"/>
              </a:rPr>
              <a:t> | </a:t>
            </a:r>
          </a:p>
        </p:txBody>
      </p:sp>
      <p:sp>
        <p:nvSpPr>
          <p:cNvPr id="202" name="T"/>
          <p:cNvSpPr txBox="1"/>
          <p:nvPr/>
        </p:nvSpPr>
        <p:spPr>
          <a:xfrm>
            <a:off x="9034168" y="4992488"/>
            <a:ext cx="226108" cy="307230"/>
          </a:xfrm>
          <a:prstGeom prst="rect">
            <a:avLst/>
          </a:prstGeom>
          <a:noFill/>
        </p:spPr>
        <p:txBody>
          <a:bodyPr wrap="none" lIns="0" rIns="0" tIns="0" bIns="0" anchor="t">
            <a:spAutoFit/>
          </a:bodyPr>
          <a:lstStyle/>
          <a:p>
            <a:pPr algn="l">
              <a:lnSpc>
                <a:spcPct val="100000"/>
              </a:lnSpc>
              <a:spcBef>
                <a:spcPts val="0"/>
              </a:spcBef>
              <a:spcAft>
                <a:spcPts val="0"/>
              </a:spcAft>
            </a:pPr>
            <a:r>
              <a:rPr sz="1958" b="0" i="1" lang="en-US" spc="0">
                <a:solidFill>
                  <a:srgbClr val="181818"/>
                </a:solidFill>
                <a:latin typeface="Liberation Serif"/>
                <a:ea typeface="Liberation Serif"/>
              </a:rPr>
              <a:t>T</a:t>
            </a:r>
          </a:p>
        </p:txBody>
      </p:sp>
      <p:sp>
        <p:nvSpPr>
          <p:cNvPr id="203" name=" &gt; "/>
          <p:cNvSpPr txBox="1"/>
          <p:nvPr/>
        </p:nvSpPr>
        <p:spPr>
          <a:xfrm>
            <a:off x="9172496" y="4992488"/>
            <a:ext cx="352406" cy="307230"/>
          </a:xfrm>
          <a:prstGeom prst="rect">
            <a:avLst/>
          </a:prstGeom>
          <a:noFill/>
        </p:spPr>
        <p:txBody>
          <a:bodyPr wrap="none" lIns="0" rIns="0" tIns="0" bIns="0" anchor="t">
            <a:spAutoFit/>
          </a:bodyPr>
          <a:lstStyle/>
          <a:p>
            <a:pPr algn="l">
              <a:lnSpc>
                <a:spcPct val="100000"/>
              </a:lnSpc>
              <a:spcBef>
                <a:spcPts val="0"/>
              </a:spcBef>
              <a:spcAft>
                <a:spcPts val="0"/>
              </a:spcAft>
            </a:pPr>
            <a:r>
              <a:rPr sz="1958" b="0" i="0" lang="en-US" spc="0">
                <a:solidFill>
                  <a:srgbClr val="181818"/>
                </a:solidFill>
                <a:latin typeface="Liberation Serif"/>
                <a:ea typeface="Liberation Serif"/>
              </a:rPr>
              <a:t> &gt; </a:t>
            </a:r>
          </a:p>
        </p:txBody>
      </p:sp>
      <p:sp>
        <p:nvSpPr>
          <p:cNvPr id="204" name="a"/>
          <p:cNvSpPr txBox="1"/>
          <p:nvPr/>
        </p:nvSpPr>
        <p:spPr>
          <a:xfrm>
            <a:off x="9437122" y="4992488"/>
            <a:ext cx="212135" cy="307230"/>
          </a:xfrm>
          <a:prstGeom prst="rect">
            <a:avLst/>
          </a:prstGeom>
          <a:noFill/>
        </p:spPr>
        <p:txBody>
          <a:bodyPr wrap="none" lIns="0" rIns="0" tIns="0" bIns="0" anchor="t">
            <a:spAutoFit/>
          </a:bodyPr>
          <a:lstStyle/>
          <a:p>
            <a:pPr algn="l">
              <a:lnSpc>
                <a:spcPct val="100000"/>
              </a:lnSpc>
              <a:spcBef>
                <a:spcPts val="0"/>
              </a:spcBef>
              <a:spcAft>
                <a:spcPts val="0"/>
              </a:spcAft>
            </a:pPr>
            <a:r>
              <a:rPr sz="1958" b="0" i="1" lang="en-US" spc="0">
                <a:solidFill>
                  <a:srgbClr val="181818"/>
                </a:solidFill>
                <a:latin typeface="Liberation Serif"/>
                <a:ea typeface="Liberation Serif"/>
              </a:rPr>
              <a:t>a</a:t>
            </a:r>
          </a:p>
        </p:txBody>
      </p:sp>
      <p:sp>
        <p:nvSpPr>
          <p:cNvPr id="205" name=")"/>
          <p:cNvSpPr txBox="1"/>
          <p:nvPr/>
        </p:nvSpPr>
        <p:spPr>
          <a:xfrm>
            <a:off x="9561477" y="4992488"/>
            <a:ext cx="170617" cy="307230"/>
          </a:xfrm>
          <a:prstGeom prst="rect">
            <a:avLst/>
          </a:prstGeom>
          <a:noFill/>
        </p:spPr>
        <p:txBody>
          <a:bodyPr wrap="none" lIns="0" rIns="0" tIns="0" bIns="0" anchor="t">
            <a:spAutoFit/>
          </a:bodyPr>
          <a:lstStyle/>
          <a:p>
            <a:pPr algn="l">
              <a:lnSpc>
                <a:spcPct val="100000"/>
              </a:lnSpc>
              <a:spcBef>
                <a:spcPts val="0"/>
              </a:spcBef>
              <a:spcAft>
                <a:spcPts val="0"/>
              </a:spcAft>
            </a:pPr>
            <a:r>
              <a:rPr sz="1958" b="0" i="0" lang="en-US" spc="0">
                <a:solidFill>
                  <a:srgbClr val="181818"/>
                </a:solidFill>
                <a:latin typeface="Liberation Serif"/>
                <a:ea typeface="Liberation Serif"/>
              </a:rPr>
              <a:t>)</a:t>
            </a:r>
          </a:p>
        </p:txBody>
      </p:sp>
      <p:cxnSp>
        <p:nvCxnSpPr>
          <p:cNvPr id="206" name="line 205"/>
          <p:cNvCxnSpPr/>
          <p:nvPr/>
        </p:nvCxnSpPr>
        <p:spPr>
          <a:xfrm>
            <a:off x="7973350" y="5574030"/>
            <a:ext cx="2787015" cy="0"/>
          </a:xfrm>
          <a:prstGeom prst="line">
            <a:avLst/>
          </a:prstGeom>
          <a:ln w="18288">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07" name="line 206"/>
          <p:cNvCxnSpPr/>
          <p:nvPr/>
        </p:nvCxnSpPr>
        <p:spPr>
          <a:xfrm>
            <a:off x="7973350" y="5508195"/>
            <a:ext cx="0" cy="13167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08" name="line 207"/>
          <p:cNvCxnSpPr/>
          <p:nvPr/>
        </p:nvCxnSpPr>
        <p:spPr>
          <a:xfrm>
            <a:off x="10760365" y="5508195"/>
            <a:ext cx="0" cy="13167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209" name="circle 208"/>
          <p:cNvSpPr/>
          <p:nvPr/>
        </p:nvSpPr>
        <p:spPr>
          <a:xfrm>
            <a:off x="9173010" y="5537455"/>
            <a:ext cx="73150" cy="73150"/>
          </a:xfrm>
          <a:prstGeom prst="ellipse">
            <a:avLst/>
          </a:prstGeom>
          <a:solidFill>
            <a:srgbClr val="18181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0" name="q"/>
          <p:cNvSpPr txBox="1"/>
          <p:nvPr/>
        </p:nvSpPr>
        <p:spPr>
          <a:xfrm>
            <a:off x="7852652" y="5711186"/>
            <a:ext cx="186532" cy="250539"/>
          </a:xfrm>
          <a:prstGeom prst="rect">
            <a:avLst/>
          </a:prstGeom>
          <a:noFill/>
        </p:spPr>
        <p:txBody>
          <a:bodyPr wrap="none" lIns="0" rIns="0" tIns="0" bIns="0" anchor="t">
            <a:spAutoFit/>
          </a:bodyPr>
          <a:lstStyle/>
          <a:p>
            <a:pPr algn="l">
              <a:lnSpc>
                <a:spcPct val="100000"/>
              </a:lnSpc>
              <a:spcBef>
                <a:spcPts val="0"/>
              </a:spcBef>
              <a:spcAft>
                <a:spcPts val="0"/>
              </a:spcAft>
            </a:pPr>
            <a:r>
              <a:rPr sz="1555" b="0" i="1" lang="en-US" spc="0">
                <a:solidFill>
                  <a:srgbClr val="181818"/>
                </a:solidFill>
                <a:latin typeface="Liberation Serif"/>
                <a:ea typeface="Liberation Serif"/>
              </a:rPr>
              <a:t>q</a:t>
            </a:r>
          </a:p>
        </p:txBody>
      </p:sp>
      <p:sp>
        <p:nvSpPr>
          <p:cNvPr id="211" name="10"/>
          <p:cNvSpPr txBox="1"/>
          <p:nvPr/>
        </p:nvSpPr>
        <p:spPr>
          <a:xfrm>
            <a:off x="7958720" y="5822740"/>
            <a:ext cx="215792" cy="173731"/>
          </a:xfrm>
          <a:prstGeom prst="rect">
            <a:avLst/>
          </a:prstGeom>
          <a:noFill/>
        </p:spPr>
        <p:txBody>
          <a:bodyPr wrap="none" lIns="0" rIns="0" tIns="0" bIns="0" anchor="t">
            <a:spAutoFit/>
          </a:bodyPr>
          <a:lstStyle/>
          <a:p>
            <a:pPr algn="l">
              <a:lnSpc>
                <a:spcPct val="100000"/>
              </a:lnSpc>
              <a:spcBef>
                <a:spcPts val="0"/>
              </a:spcBef>
              <a:spcAft>
                <a:spcPts val="0"/>
              </a:spcAft>
            </a:pPr>
            <a:r>
              <a:rPr sz="1010" b="0" i="0" lang="en-US" spc="0">
                <a:solidFill>
                  <a:srgbClr val="181818"/>
                </a:solidFill>
                <a:latin typeface="Liberation Serif"/>
                <a:ea typeface="Liberation Serif"/>
              </a:rPr>
              <a:t>10</a:t>
            </a:r>
          </a:p>
        </p:txBody>
      </p:sp>
      <p:sp>
        <p:nvSpPr>
          <p:cNvPr id="212" name="q"/>
          <p:cNvSpPr txBox="1"/>
          <p:nvPr/>
        </p:nvSpPr>
        <p:spPr>
          <a:xfrm>
            <a:off x="9088888" y="5711186"/>
            <a:ext cx="186532" cy="250539"/>
          </a:xfrm>
          <a:prstGeom prst="rect">
            <a:avLst/>
          </a:prstGeom>
          <a:noFill/>
        </p:spPr>
        <p:txBody>
          <a:bodyPr wrap="none" lIns="0" rIns="0" tIns="0" bIns="0" anchor="t">
            <a:spAutoFit/>
          </a:bodyPr>
          <a:lstStyle/>
          <a:p>
            <a:pPr algn="l">
              <a:lnSpc>
                <a:spcPct val="100000"/>
              </a:lnSpc>
              <a:spcBef>
                <a:spcPts val="0"/>
              </a:spcBef>
              <a:spcAft>
                <a:spcPts val="0"/>
              </a:spcAft>
            </a:pPr>
            <a:r>
              <a:rPr sz="1555" b="0" i="1" lang="en-US" spc="0">
                <a:solidFill>
                  <a:srgbClr val="181818"/>
                </a:solidFill>
                <a:latin typeface="Liberation Serif"/>
                <a:ea typeface="Liberation Serif"/>
              </a:rPr>
              <a:t>q</a:t>
            </a:r>
          </a:p>
        </p:txBody>
      </p:sp>
      <p:sp>
        <p:nvSpPr>
          <p:cNvPr id="213" name="50"/>
          <p:cNvSpPr txBox="1"/>
          <p:nvPr/>
        </p:nvSpPr>
        <p:spPr>
          <a:xfrm>
            <a:off x="9194955" y="5822740"/>
            <a:ext cx="215792" cy="173731"/>
          </a:xfrm>
          <a:prstGeom prst="rect">
            <a:avLst/>
          </a:prstGeom>
          <a:noFill/>
        </p:spPr>
        <p:txBody>
          <a:bodyPr wrap="none" lIns="0" rIns="0" tIns="0" bIns="0" anchor="t">
            <a:spAutoFit/>
          </a:bodyPr>
          <a:lstStyle/>
          <a:p>
            <a:pPr algn="l">
              <a:lnSpc>
                <a:spcPct val="100000"/>
              </a:lnSpc>
              <a:spcBef>
                <a:spcPts val="0"/>
              </a:spcBef>
              <a:spcAft>
                <a:spcPts val="0"/>
              </a:spcAft>
            </a:pPr>
            <a:r>
              <a:rPr sz="1010" b="0" i="0" lang="en-US" spc="0">
                <a:solidFill>
                  <a:srgbClr val="181818"/>
                </a:solidFill>
                <a:latin typeface="Liberation Serif"/>
                <a:ea typeface="Liberation Serif"/>
              </a:rPr>
              <a:t>50</a:t>
            </a:r>
          </a:p>
        </p:txBody>
      </p:sp>
      <p:sp>
        <p:nvSpPr>
          <p:cNvPr id="214" name="q"/>
          <p:cNvSpPr txBox="1"/>
          <p:nvPr/>
        </p:nvSpPr>
        <p:spPr>
          <a:xfrm>
            <a:off x="10639668" y="5711186"/>
            <a:ext cx="186532" cy="250539"/>
          </a:xfrm>
          <a:prstGeom prst="rect">
            <a:avLst/>
          </a:prstGeom>
          <a:noFill/>
        </p:spPr>
        <p:txBody>
          <a:bodyPr wrap="none" lIns="0" rIns="0" tIns="0" bIns="0" anchor="t">
            <a:spAutoFit/>
          </a:bodyPr>
          <a:lstStyle/>
          <a:p>
            <a:pPr algn="l">
              <a:lnSpc>
                <a:spcPct val="100000"/>
              </a:lnSpc>
              <a:spcBef>
                <a:spcPts val="0"/>
              </a:spcBef>
              <a:spcAft>
                <a:spcPts val="0"/>
              </a:spcAft>
            </a:pPr>
            <a:r>
              <a:rPr sz="1555" b="0" i="1" lang="en-US" spc="0">
                <a:solidFill>
                  <a:srgbClr val="181818"/>
                </a:solidFill>
                <a:latin typeface="Liberation Serif"/>
                <a:ea typeface="Liberation Serif"/>
              </a:rPr>
              <a:t>q</a:t>
            </a:r>
          </a:p>
        </p:txBody>
      </p:sp>
      <p:sp>
        <p:nvSpPr>
          <p:cNvPr id="215" name="90"/>
          <p:cNvSpPr txBox="1"/>
          <p:nvPr/>
        </p:nvSpPr>
        <p:spPr>
          <a:xfrm>
            <a:off x="10745735" y="5822740"/>
            <a:ext cx="215792" cy="173731"/>
          </a:xfrm>
          <a:prstGeom prst="rect">
            <a:avLst/>
          </a:prstGeom>
          <a:noFill/>
        </p:spPr>
        <p:txBody>
          <a:bodyPr wrap="none" lIns="0" rIns="0" tIns="0" bIns="0" anchor="t">
            <a:spAutoFit/>
          </a:bodyPr>
          <a:lstStyle/>
          <a:p>
            <a:pPr algn="l">
              <a:lnSpc>
                <a:spcPct val="100000"/>
              </a:lnSpc>
              <a:spcBef>
                <a:spcPts val="0"/>
              </a:spcBef>
              <a:spcAft>
                <a:spcPts val="0"/>
              </a:spcAft>
            </a:pPr>
            <a:r>
              <a:rPr sz="1010" b="0" i="0" lang="en-US" spc="0">
                <a:solidFill>
                  <a:srgbClr val="181818"/>
                </a:solidFill>
                <a:latin typeface="Liberation Serif"/>
                <a:ea typeface="Liberation Serif"/>
              </a:rPr>
              <a:t>90</a:t>
            </a:r>
          </a:p>
        </p:txBody>
      </p:sp>
      <p:cxnSp>
        <p:nvCxnSpPr>
          <p:cNvPr id="216" name="path 215"/>
          <p:cNvCxnSpPr/>
          <p:nvPr/>
        </p:nvCxnSpPr>
        <p:spPr>
          <a:xfrm>
            <a:off x="10899350" y="5442360"/>
            <a:ext cx="460845" cy="0"/>
          </a:xfrm>
          <a:prstGeom prst="line">
            <a:avLst/>
          </a:prstGeom>
          <a:ln w="19019">
            <a:solidFill>
              <a:srgbClr val="BF3335"/>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217" name="τ"/>
          <p:cNvSpPr txBox="1"/>
          <p:nvPr/>
        </p:nvSpPr>
        <p:spPr>
          <a:xfrm>
            <a:off x="11744404" y="5279601"/>
            <a:ext cx="179418" cy="314545"/>
          </a:xfrm>
          <a:prstGeom prst="rect">
            <a:avLst/>
          </a:prstGeom>
          <a:noFill/>
        </p:spPr>
        <p:txBody>
          <a:bodyPr wrap="none" lIns="0" rIns="0" tIns="0" bIns="0" anchor="t">
            <a:spAutoFit/>
          </a:bodyPr>
          <a:lstStyle/>
          <a:p>
            <a:pPr algn="l">
              <a:lnSpc>
                <a:spcPct val="100000"/>
              </a:lnSpc>
              <a:spcBef>
                <a:spcPts val="0"/>
              </a:spcBef>
              <a:spcAft>
                <a:spcPts val="0"/>
              </a:spcAft>
            </a:pPr>
            <a:r>
              <a:rPr sz="2016" b="0" i="1" lang="en-US" spc="0">
                <a:solidFill>
                  <a:srgbClr val="181818"/>
                </a:solidFill>
                <a:latin typeface="Liberation Serif"/>
                <a:ea typeface="Liberation Serif"/>
              </a:rPr>
              <a:t>τ</a:t>
            </a:r>
          </a:p>
        </p:txBody>
      </p:sp>
      <p:sp>
        <p:nvSpPr>
          <p:cNvPr id="218" name="tool"/>
          <p:cNvSpPr txBox="1"/>
          <p:nvPr/>
        </p:nvSpPr>
        <p:spPr>
          <a:xfrm>
            <a:off x="11843356" y="5422244"/>
            <a:ext cx="346662" cy="215792"/>
          </a:xfrm>
          <a:prstGeom prst="rect">
            <a:avLst/>
          </a:prstGeom>
          <a:noFill/>
        </p:spPr>
        <p:txBody>
          <a:bodyPr wrap="none" lIns="0" rIns="0" tIns="0" bIns="0" anchor="t">
            <a:spAutoFit/>
          </a:bodyPr>
          <a:lstStyle/>
          <a:p>
            <a:pPr algn="l">
              <a:lnSpc>
                <a:spcPct val="100000"/>
              </a:lnSpc>
              <a:spcBef>
                <a:spcPts val="0"/>
              </a:spcBef>
              <a:spcAft>
                <a:spcPts val="0"/>
              </a:spcAft>
            </a:pPr>
            <a:r>
              <a:rPr sz="1310" b="0" i="0" lang="en-US" spc="0">
                <a:solidFill>
                  <a:srgbClr val="181818"/>
                </a:solidFill>
                <a:latin typeface="Liberation Serif"/>
                <a:ea typeface="Liberation Serif"/>
              </a:rPr>
              <a:t>tool</a:t>
            </a:r>
          </a:p>
        </p:txBody>
      </p:sp>
      <p:sp>
        <p:nvSpPr>
          <p:cNvPr id="219" name="("/>
          <p:cNvSpPr txBox="1"/>
          <p:nvPr/>
        </p:nvSpPr>
        <p:spPr>
          <a:xfrm>
            <a:off x="12109554" y="5279601"/>
            <a:ext cx="173045" cy="314545"/>
          </a:xfrm>
          <a:prstGeom prst="rect">
            <a:avLst/>
          </a:prstGeom>
          <a:noFill/>
        </p:spPr>
        <p:txBody>
          <a:bodyPr wrap="none" lIns="0" rIns="0" tIns="0" bIns="0" anchor="t">
            <a:spAutoFit/>
          </a:bodyPr>
          <a:lstStyle/>
          <a:p>
            <a:pPr algn="l">
              <a:lnSpc>
                <a:spcPct val="100000"/>
              </a:lnSpc>
              <a:spcBef>
                <a:spcPts val="0"/>
              </a:spcBef>
              <a:spcAft>
                <a:spcPts val="0"/>
              </a:spcAft>
            </a:pPr>
            <a:r>
              <a:rPr sz="2016" b="0" i="0" lang="en-US" spc="0">
                <a:solidFill>
                  <a:srgbClr val="181818"/>
                </a:solidFill>
                <a:latin typeface="Liberation Serif"/>
                <a:ea typeface="Liberation Serif"/>
              </a:rPr>
              <a:t>(</a:t>
            </a:r>
          </a:p>
        </p:txBody>
      </p:sp>
      <p:sp>
        <p:nvSpPr>
          <p:cNvPr id="220" name="t"/>
          <p:cNvSpPr txBox="1"/>
          <p:nvPr/>
        </p:nvSpPr>
        <p:spPr>
          <a:xfrm>
            <a:off x="12194819" y="5279601"/>
            <a:ext cx="158901" cy="314545"/>
          </a:xfrm>
          <a:prstGeom prst="rect">
            <a:avLst/>
          </a:prstGeom>
          <a:noFill/>
        </p:spPr>
        <p:txBody>
          <a:bodyPr wrap="none" lIns="0" rIns="0" tIns="0" bIns="0" anchor="t">
            <a:spAutoFit/>
          </a:bodyPr>
          <a:lstStyle/>
          <a:p>
            <a:pPr algn="l">
              <a:lnSpc>
                <a:spcPct val="100000"/>
              </a:lnSpc>
              <a:spcBef>
                <a:spcPts val="0"/>
              </a:spcBef>
              <a:spcAft>
                <a:spcPts val="0"/>
              </a:spcAft>
            </a:pPr>
            <a:r>
              <a:rPr sz="2016" b="0" i="1" lang="en-US" spc="0">
                <a:solidFill>
                  <a:srgbClr val="181818"/>
                </a:solidFill>
                <a:latin typeface="Liberation Serif"/>
                <a:ea typeface="Liberation Serif"/>
              </a:rPr>
              <a:t>t</a:t>
            </a:r>
          </a:p>
        </p:txBody>
      </p:sp>
      <p:sp>
        <p:nvSpPr>
          <p:cNvPr id="221" name=")"/>
          <p:cNvSpPr txBox="1"/>
          <p:nvPr/>
        </p:nvSpPr>
        <p:spPr>
          <a:xfrm>
            <a:off x="12265941" y="5279601"/>
            <a:ext cx="173045" cy="314545"/>
          </a:xfrm>
          <a:prstGeom prst="rect">
            <a:avLst/>
          </a:prstGeom>
          <a:noFill/>
        </p:spPr>
        <p:txBody>
          <a:bodyPr wrap="none" lIns="0" rIns="0" tIns="0" bIns="0" anchor="t">
            <a:spAutoFit/>
          </a:bodyPr>
          <a:lstStyle/>
          <a:p>
            <a:pPr algn="l">
              <a:lnSpc>
                <a:spcPct val="100000"/>
              </a:lnSpc>
              <a:spcBef>
                <a:spcPts val="0"/>
              </a:spcBef>
              <a:spcAft>
                <a:spcPts val="0"/>
              </a:spcAft>
            </a:pPr>
            <a:r>
              <a:rPr sz="2016" b="0" i="0" lang="en-US" spc="0">
                <a:solidFill>
                  <a:srgbClr val="181818"/>
                </a:solidFill>
                <a:latin typeface="Liberation Serif"/>
                <a:ea typeface="Liberation Serif"/>
              </a:rPr>
              <a:t>)</a:t>
            </a:r>
          </a:p>
        </p:txBody>
      </p:sp>
      <p:cxnSp>
        <p:nvCxnSpPr>
          <p:cNvPr id="222" name="line 221"/>
          <p:cNvCxnSpPr/>
          <p:nvPr/>
        </p:nvCxnSpPr>
        <p:spPr>
          <a:xfrm>
            <a:off x="12047805" y="6034875"/>
            <a:ext cx="0" cy="109725"/>
          </a:xfrm>
          <a:prstGeom prst="line">
            <a:avLst/>
          </a:prstGeom>
          <a:ln w="19019">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223" name="circle 222"/>
          <p:cNvSpPr/>
          <p:nvPr/>
        </p:nvSpPr>
        <p:spPr>
          <a:xfrm>
            <a:off x="12018545" y="6115340"/>
            <a:ext cx="58520" cy="58520"/>
          </a:xfrm>
          <a:prstGeom prst="ellipse">
            <a:avLst/>
          </a:prstGeom>
          <a:solidFill>
            <a:srgbClr val="BF3335"/>
          </a:solidFill>
          <a:ln w="7315">
            <a:solidFill>
              <a:srgbClr val="BF333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4" name="rect 223"/>
          <p:cNvSpPr/>
          <p:nvPr/>
        </p:nvSpPr>
        <p:spPr>
          <a:xfrm>
            <a:off x="292600" y="6320160"/>
            <a:ext cx="12581800" cy="965580"/>
          </a:xfrm>
          <a:prstGeom prst="roundRect">
            <a:avLst>
              <a:gd name="adj" fmla="val 4545"/>
            </a:avLst>
          </a:prstGeom>
          <a:solidFill>
            <a:srgbClr val="EEEEEE"/>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5" name="rect 224"/>
          <p:cNvSpPr/>
          <p:nvPr/>
        </p:nvSpPr>
        <p:spPr>
          <a:xfrm>
            <a:off x="292600" y="6320160"/>
            <a:ext cx="12581800" cy="351120"/>
          </a:xfrm>
          <a:prstGeom prst="roundRect">
            <a:avLst>
              <a:gd name="adj" fmla="val 12500"/>
            </a:avLst>
          </a:prstGeom>
          <a:solidFill>
            <a:srgbClr val="A9CEE8"/>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6" name="rect 225"/>
          <p:cNvSpPr/>
          <p:nvPr/>
        </p:nvSpPr>
        <p:spPr>
          <a:xfrm>
            <a:off x="301378" y="6517665"/>
            <a:ext cx="12564244" cy="146300"/>
          </a:xfrm>
          <a:prstGeom prst="rect">
            <a:avLst/>
          </a:prstGeom>
          <a:solidFill>
            <a:srgbClr val="A9CE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27" name="line 226"/>
          <p:cNvCxnSpPr/>
          <p:nvPr/>
        </p:nvCxnSpPr>
        <p:spPr>
          <a:xfrm>
            <a:off x="292600" y="6671280"/>
            <a:ext cx="12581800" cy="0"/>
          </a:xfrm>
          <a:prstGeom prst="line">
            <a:avLst/>
          </a:prstGeom>
          <a:ln w="12435">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228" name="(d) Runtime transfer window"/>
          <p:cNvSpPr txBox="1"/>
          <p:nvPr/>
        </p:nvSpPr>
        <p:spPr>
          <a:xfrm>
            <a:off x="438900" y="6371365"/>
            <a:ext cx="3421163" cy="268826"/>
          </a:xfrm>
          <a:prstGeom prst="rect">
            <a:avLst/>
          </a:prstGeom>
          <a:noFill/>
        </p:spPr>
        <p:txBody>
          <a:bodyPr wrap="none" lIns="0" rIns="0" tIns="0" bIns="0" anchor="t">
            <a:spAutoFit/>
          </a:bodyPr>
          <a:lstStyle/>
          <a:p>
            <a:pPr algn="l">
              <a:lnSpc>
                <a:spcPct val="100000"/>
              </a:lnSpc>
              <a:spcBef>
                <a:spcPts val="0"/>
              </a:spcBef>
              <a:spcAft>
                <a:spcPts val="0"/>
              </a:spcAft>
            </a:pPr>
            <a:r>
              <a:rPr sz="1612" b="1" i="0" lang="en-US" spc="0">
                <a:solidFill>
                  <a:srgbClr val="181818"/>
                </a:solidFill>
                <a:latin typeface="DejaVu Sans"/>
                <a:ea typeface="DejaVu Sans"/>
              </a:rPr>
              <a:t>(d) Runtime transfer window</a:t>
            </a:r>
          </a:p>
        </p:txBody>
      </p:sp>
      <p:sp>
        <p:nvSpPr>
          <p:cNvPr id="229" name="ACK history"/>
          <p:cNvSpPr txBox="1"/>
          <p:nvPr/>
        </p:nvSpPr>
        <p:spPr>
          <a:xfrm>
            <a:off x="468160" y="6837696"/>
            <a:ext cx="1293041" cy="243224"/>
          </a:xfrm>
          <a:prstGeom prst="rect">
            <a:avLst/>
          </a:prstGeom>
          <a:noFill/>
        </p:spPr>
        <p:txBody>
          <a:bodyPr wrap="none" lIns="0" rIns="0" tIns="0" bIns="0" anchor="t">
            <a:spAutoFit/>
          </a:bodyPr>
          <a:lstStyle/>
          <a:p>
            <a:pPr algn="l">
              <a:lnSpc>
                <a:spcPct val="100000"/>
              </a:lnSpc>
              <a:spcBef>
                <a:spcPts val="0"/>
              </a:spcBef>
              <a:spcAft>
                <a:spcPts val="0"/>
              </a:spcAft>
            </a:pPr>
            <a:r>
              <a:rPr sz="1439" b="1" i="0" lang="en-US" spc="0">
                <a:solidFill>
                  <a:srgbClr val="181818"/>
                </a:solidFill>
                <a:latin typeface="DejaVu Sans"/>
                <a:ea typeface="DejaVu Sans"/>
              </a:rPr>
              <a:t>ACK history</a:t>
            </a:r>
          </a:p>
        </p:txBody>
      </p:sp>
      <p:sp>
        <p:nvSpPr>
          <p:cNvPr id="230" name="rect 229"/>
          <p:cNvSpPr/>
          <p:nvPr/>
        </p:nvSpPr>
        <p:spPr>
          <a:xfrm>
            <a:off x="1770230" y="6985825"/>
            <a:ext cx="73150" cy="138985"/>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1" name="rect 230"/>
          <p:cNvSpPr/>
          <p:nvPr/>
        </p:nvSpPr>
        <p:spPr>
          <a:xfrm>
            <a:off x="1879955" y="6912675"/>
            <a:ext cx="73150" cy="212135"/>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2" name="rect 231"/>
          <p:cNvSpPr/>
          <p:nvPr/>
        </p:nvSpPr>
        <p:spPr>
          <a:xfrm>
            <a:off x="1989680" y="6956565"/>
            <a:ext cx="73150" cy="168245"/>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3" name="rect 232"/>
          <p:cNvSpPr/>
          <p:nvPr/>
        </p:nvSpPr>
        <p:spPr>
          <a:xfrm>
            <a:off x="2099405" y="6839525"/>
            <a:ext cx="73150" cy="285285"/>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34" name="path 233"/>
          <p:cNvCxnSpPr/>
          <p:nvPr/>
        </p:nvCxnSpPr>
        <p:spPr>
          <a:xfrm>
            <a:off x="2267650" y="6919990"/>
            <a:ext cx="351120" cy="0"/>
          </a:xfrm>
          <a:prstGeom prst="line">
            <a:avLst/>
          </a:prstGeom>
          <a:ln w="19019">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235" name="H"/>
          <p:cNvSpPr txBox="1"/>
          <p:nvPr/>
        </p:nvSpPr>
        <p:spPr>
          <a:xfrm>
            <a:off x="2823590" y="6784662"/>
            <a:ext cx="267398" cy="307230"/>
          </a:xfrm>
          <a:prstGeom prst="rect">
            <a:avLst/>
          </a:prstGeom>
          <a:noFill/>
        </p:spPr>
        <p:txBody>
          <a:bodyPr wrap="none" lIns="0" rIns="0" tIns="0" bIns="0" anchor="t">
            <a:spAutoFit/>
          </a:bodyPr>
          <a:lstStyle/>
          <a:p>
            <a:pPr algn="l">
              <a:lnSpc>
                <a:spcPct val="100000"/>
              </a:lnSpc>
              <a:spcBef>
                <a:spcPts val="0"/>
              </a:spcBef>
              <a:spcAft>
                <a:spcPts val="0"/>
              </a:spcAft>
            </a:pPr>
            <a:r>
              <a:rPr sz="1958" b="0" i="1" lang="en-US" spc="0">
                <a:solidFill>
                  <a:srgbClr val="181818"/>
                </a:solidFill>
                <a:latin typeface="Liberation Serif"/>
                <a:ea typeface="Liberation Serif"/>
              </a:rPr>
              <a:t>H</a:t>
            </a:r>
          </a:p>
        </p:txBody>
      </p:sp>
      <p:sp>
        <p:nvSpPr>
          <p:cNvPr id="236" name=" = min("/>
          <p:cNvSpPr txBox="1"/>
          <p:nvPr/>
        </p:nvSpPr>
        <p:spPr>
          <a:xfrm>
            <a:off x="3003208" y="6784662"/>
            <a:ext cx="822137" cy="307230"/>
          </a:xfrm>
          <a:prstGeom prst="rect">
            <a:avLst/>
          </a:prstGeom>
          <a:noFill/>
        </p:spPr>
        <p:txBody>
          <a:bodyPr wrap="none" lIns="0" rIns="0" tIns="0" bIns="0" anchor="t">
            <a:spAutoFit/>
          </a:bodyPr>
          <a:lstStyle/>
          <a:p>
            <a:pPr algn="l">
              <a:lnSpc>
                <a:spcPct val="100000"/>
              </a:lnSpc>
              <a:spcBef>
                <a:spcPts val="0"/>
              </a:spcBef>
              <a:spcAft>
                <a:spcPts val="0"/>
              </a:spcAft>
            </a:pPr>
            <a:r>
              <a:rPr sz="1958" b="0" i="0" lang="en-US" spc="0">
                <a:solidFill>
                  <a:srgbClr val="181818"/>
                </a:solidFill>
                <a:latin typeface="Liberation Serif"/>
                <a:ea typeface="Liberation Serif"/>
              </a:rPr>
              <a:t> = min(</a:t>
            </a:r>
          </a:p>
        </p:txBody>
      </p:sp>
      <p:sp>
        <p:nvSpPr>
          <p:cNvPr id="237" name="L"/>
          <p:cNvSpPr txBox="1"/>
          <p:nvPr/>
        </p:nvSpPr>
        <p:spPr>
          <a:xfrm>
            <a:off x="3737565" y="6784662"/>
            <a:ext cx="226108" cy="307230"/>
          </a:xfrm>
          <a:prstGeom prst="rect">
            <a:avLst/>
          </a:prstGeom>
          <a:noFill/>
        </p:spPr>
        <p:txBody>
          <a:bodyPr wrap="none" lIns="0" rIns="0" tIns="0" bIns="0" anchor="t">
            <a:spAutoFit/>
          </a:bodyPr>
          <a:lstStyle/>
          <a:p>
            <a:pPr algn="l">
              <a:lnSpc>
                <a:spcPct val="100000"/>
              </a:lnSpc>
              <a:spcBef>
                <a:spcPts val="0"/>
              </a:spcBef>
              <a:spcAft>
                <a:spcPts val="0"/>
              </a:spcAft>
            </a:pPr>
            <a:r>
              <a:rPr sz="1958" b="0" i="1" lang="en-US" spc="0">
                <a:solidFill>
                  <a:srgbClr val="181818"/>
                </a:solidFill>
                <a:latin typeface="Liberation Serif"/>
                <a:ea typeface="Liberation Serif"/>
              </a:rPr>
              <a:t>L</a:t>
            </a:r>
          </a:p>
        </p:txBody>
      </p:sp>
      <p:sp>
        <p:nvSpPr>
          <p:cNvPr id="238" name=", "/>
          <p:cNvSpPr txBox="1"/>
          <p:nvPr/>
        </p:nvSpPr>
        <p:spPr>
          <a:xfrm>
            <a:off x="3875893" y="6784662"/>
            <a:ext cx="212135" cy="307230"/>
          </a:xfrm>
          <a:prstGeom prst="rect">
            <a:avLst/>
          </a:prstGeom>
          <a:noFill/>
        </p:spPr>
        <p:txBody>
          <a:bodyPr wrap="none" lIns="0" rIns="0" tIns="0" bIns="0" anchor="t">
            <a:spAutoFit/>
          </a:bodyPr>
          <a:lstStyle/>
          <a:p>
            <a:pPr algn="l">
              <a:lnSpc>
                <a:spcPct val="100000"/>
              </a:lnSpc>
              <a:spcBef>
                <a:spcPts val="0"/>
              </a:spcBef>
              <a:spcAft>
                <a:spcPts val="0"/>
              </a:spcAft>
            </a:pPr>
            <a:r>
              <a:rPr sz="1958" b="0" i="0" lang="en-US" spc="0">
                <a:solidFill>
                  <a:srgbClr val="181818"/>
                </a:solidFill>
                <a:latin typeface="Liberation Serif"/>
                <a:ea typeface="Liberation Serif"/>
              </a:rPr>
              <a:t>, </a:t>
            </a:r>
          </a:p>
        </p:txBody>
      </p:sp>
      <p:sp>
        <p:nvSpPr>
          <p:cNvPr id="239" name="S"/>
          <p:cNvSpPr txBox="1"/>
          <p:nvPr/>
        </p:nvSpPr>
        <p:spPr>
          <a:xfrm>
            <a:off x="4000248" y="6784662"/>
            <a:ext cx="212135" cy="307230"/>
          </a:xfrm>
          <a:prstGeom prst="rect">
            <a:avLst/>
          </a:prstGeom>
          <a:noFill/>
        </p:spPr>
        <p:txBody>
          <a:bodyPr wrap="none" lIns="0" rIns="0" tIns="0" bIns="0" anchor="t">
            <a:spAutoFit/>
          </a:bodyPr>
          <a:lstStyle/>
          <a:p>
            <a:pPr algn="l">
              <a:lnSpc>
                <a:spcPct val="100000"/>
              </a:lnSpc>
              <a:spcBef>
                <a:spcPts val="0"/>
              </a:spcBef>
              <a:spcAft>
                <a:spcPts val="0"/>
              </a:spcAft>
            </a:pPr>
            <a:r>
              <a:rPr sz="1958" b="0" i="1" lang="en-US" spc="0">
                <a:solidFill>
                  <a:srgbClr val="181818"/>
                </a:solidFill>
                <a:latin typeface="Liberation Serif"/>
                <a:ea typeface="Liberation Serif"/>
              </a:rPr>
              <a:t>S</a:t>
            </a:r>
          </a:p>
        </p:txBody>
      </p:sp>
      <p:sp>
        <p:nvSpPr>
          <p:cNvPr id="240" name="90"/>
          <p:cNvSpPr txBox="1"/>
          <p:nvPr/>
        </p:nvSpPr>
        <p:spPr>
          <a:xfrm>
            <a:off x="4131918" y="6925476"/>
            <a:ext cx="248710" cy="210306"/>
          </a:xfrm>
          <a:prstGeom prst="rect">
            <a:avLst/>
          </a:prstGeom>
          <a:noFill/>
        </p:spPr>
        <p:txBody>
          <a:bodyPr wrap="none" lIns="0" rIns="0" tIns="0" bIns="0" anchor="t">
            <a:spAutoFit/>
          </a:bodyPr>
          <a:lstStyle/>
          <a:p>
            <a:pPr algn="l">
              <a:lnSpc>
                <a:spcPct val="100000"/>
              </a:lnSpc>
              <a:spcBef>
                <a:spcPts val="0"/>
              </a:spcBef>
              <a:spcAft>
                <a:spcPts val="0"/>
              </a:spcAft>
            </a:pPr>
            <a:r>
              <a:rPr sz="1272" b="0" i="0" lang="en-US" spc="0">
                <a:solidFill>
                  <a:srgbClr val="181818"/>
                </a:solidFill>
                <a:latin typeface="Liberation Serif"/>
                <a:ea typeface="Liberation Serif"/>
              </a:rPr>
              <a:t>90</a:t>
            </a:r>
          </a:p>
        </p:txBody>
      </p:sp>
      <p:sp>
        <p:nvSpPr>
          <p:cNvPr id="241" name=" + "/>
          <p:cNvSpPr txBox="1"/>
          <p:nvPr/>
        </p:nvSpPr>
        <p:spPr>
          <a:xfrm>
            <a:off x="4300163" y="6784662"/>
            <a:ext cx="352406" cy="307230"/>
          </a:xfrm>
          <a:prstGeom prst="rect">
            <a:avLst/>
          </a:prstGeom>
          <a:noFill/>
        </p:spPr>
        <p:txBody>
          <a:bodyPr wrap="none" lIns="0" rIns="0" tIns="0" bIns="0" anchor="t">
            <a:spAutoFit/>
          </a:bodyPr>
          <a:lstStyle/>
          <a:p>
            <a:pPr algn="l">
              <a:lnSpc>
                <a:spcPct val="100000"/>
              </a:lnSpc>
              <a:spcBef>
                <a:spcPts val="0"/>
              </a:spcBef>
              <a:spcAft>
                <a:spcPts val="0"/>
              </a:spcAft>
            </a:pPr>
            <a:r>
              <a:rPr sz="1958" b="0" i="0" lang="en-US" spc="0">
                <a:solidFill>
                  <a:srgbClr val="181818"/>
                </a:solidFill>
                <a:latin typeface="Liberation Serif"/>
                <a:ea typeface="Liberation Serif"/>
              </a:rPr>
              <a:t> + </a:t>
            </a:r>
          </a:p>
        </p:txBody>
      </p:sp>
      <p:sp>
        <p:nvSpPr>
          <p:cNvPr id="242" name="Q"/>
          <p:cNvSpPr txBox="1"/>
          <p:nvPr/>
        </p:nvSpPr>
        <p:spPr>
          <a:xfrm>
            <a:off x="4564789" y="6784662"/>
            <a:ext cx="267398" cy="307230"/>
          </a:xfrm>
          <a:prstGeom prst="rect">
            <a:avLst/>
          </a:prstGeom>
          <a:noFill/>
        </p:spPr>
        <p:txBody>
          <a:bodyPr wrap="none" lIns="0" rIns="0" tIns="0" bIns="0" anchor="t">
            <a:spAutoFit/>
          </a:bodyPr>
          <a:lstStyle/>
          <a:p>
            <a:pPr algn="l">
              <a:lnSpc>
                <a:spcPct val="100000"/>
              </a:lnSpc>
              <a:spcBef>
                <a:spcPts val="0"/>
              </a:spcBef>
              <a:spcAft>
                <a:spcPts val="0"/>
              </a:spcAft>
            </a:pPr>
            <a:r>
              <a:rPr sz="1958" b="0" i="1" lang="en-US" spc="0">
                <a:solidFill>
                  <a:srgbClr val="181818"/>
                </a:solidFill>
                <a:latin typeface="Liberation Serif"/>
                <a:ea typeface="Liberation Serif"/>
              </a:rPr>
              <a:t>Q</a:t>
            </a:r>
          </a:p>
        </p:txBody>
      </p:sp>
      <p:sp>
        <p:nvSpPr>
          <p:cNvPr id="243" name="90"/>
          <p:cNvSpPr txBox="1"/>
          <p:nvPr/>
        </p:nvSpPr>
        <p:spPr>
          <a:xfrm>
            <a:off x="4751721" y="6925476"/>
            <a:ext cx="248710" cy="210306"/>
          </a:xfrm>
          <a:prstGeom prst="rect">
            <a:avLst/>
          </a:prstGeom>
          <a:noFill/>
        </p:spPr>
        <p:txBody>
          <a:bodyPr wrap="none" lIns="0" rIns="0" tIns="0" bIns="0" anchor="t">
            <a:spAutoFit/>
          </a:bodyPr>
          <a:lstStyle/>
          <a:p>
            <a:pPr algn="l">
              <a:lnSpc>
                <a:spcPct val="100000"/>
              </a:lnSpc>
              <a:spcBef>
                <a:spcPts val="0"/>
              </a:spcBef>
              <a:spcAft>
                <a:spcPts val="0"/>
              </a:spcAft>
            </a:pPr>
            <a:r>
              <a:rPr sz="1272" b="0" i="0" lang="en-US" spc="0">
                <a:solidFill>
                  <a:srgbClr val="181818"/>
                </a:solidFill>
                <a:latin typeface="Liberation Serif"/>
                <a:ea typeface="Liberation Serif"/>
              </a:rPr>
              <a:t>90</a:t>
            </a:r>
          </a:p>
        </p:txBody>
      </p:sp>
      <p:sp>
        <p:nvSpPr>
          <p:cNvPr id="244" name=" + "/>
          <p:cNvSpPr txBox="1"/>
          <p:nvPr/>
        </p:nvSpPr>
        <p:spPr>
          <a:xfrm>
            <a:off x="4919966" y="6784662"/>
            <a:ext cx="352406" cy="307230"/>
          </a:xfrm>
          <a:prstGeom prst="rect">
            <a:avLst/>
          </a:prstGeom>
          <a:noFill/>
        </p:spPr>
        <p:txBody>
          <a:bodyPr wrap="none" lIns="0" rIns="0" tIns="0" bIns="0" anchor="t">
            <a:spAutoFit/>
          </a:bodyPr>
          <a:lstStyle/>
          <a:p>
            <a:pPr algn="l">
              <a:lnSpc>
                <a:spcPct val="100000"/>
              </a:lnSpc>
              <a:spcBef>
                <a:spcPts val="0"/>
              </a:spcBef>
              <a:spcAft>
                <a:spcPts val="0"/>
              </a:spcAft>
            </a:pPr>
            <a:r>
              <a:rPr sz="1958" b="0" i="0" lang="en-US" spc="0">
                <a:solidFill>
                  <a:srgbClr val="181818"/>
                </a:solidFill>
                <a:latin typeface="Liberation Serif"/>
                <a:ea typeface="Liberation Serif"/>
              </a:rPr>
              <a:t> + </a:t>
            </a:r>
          </a:p>
        </p:txBody>
      </p:sp>
      <p:sp>
        <p:nvSpPr>
          <p:cNvPr id="245" name="Δ"/>
          <p:cNvSpPr txBox="1"/>
          <p:nvPr/>
        </p:nvSpPr>
        <p:spPr>
          <a:xfrm>
            <a:off x="5184592" y="6784662"/>
            <a:ext cx="233766" cy="307230"/>
          </a:xfrm>
          <a:prstGeom prst="rect">
            <a:avLst/>
          </a:prstGeom>
          <a:noFill/>
        </p:spPr>
        <p:txBody>
          <a:bodyPr wrap="none" lIns="0" rIns="0" tIns="0" bIns="0" anchor="t">
            <a:spAutoFit/>
          </a:bodyPr>
          <a:lstStyle/>
          <a:p>
            <a:pPr algn="l">
              <a:lnSpc>
                <a:spcPct val="100000"/>
              </a:lnSpc>
              <a:spcBef>
                <a:spcPts val="0"/>
              </a:spcBef>
              <a:spcAft>
                <a:spcPts val="0"/>
              </a:spcAft>
            </a:pPr>
            <a:r>
              <a:rPr sz="1958" b="0" i="1" lang="en-US" spc="0">
                <a:solidFill>
                  <a:srgbClr val="181818"/>
                </a:solidFill>
                <a:latin typeface="Liberation Serif"/>
                <a:ea typeface="Liberation Serif"/>
              </a:rPr>
              <a:t>Δ</a:t>
            </a:r>
          </a:p>
        </p:txBody>
      </p:sp>
      <p:sp>
        <p:nvSpPr>
          <p:cNvPr id="246" name="obs"/>
          <p:cNvSpPr txBox="1"/>
          <p:nvPr/>
        </p:nvSpPr>
        <p:spPr>
          <a:xfrm>
            <a:off x="5337893" y="6925476"/>
            <a:ext cx="311345" cy="210306"/>
          </a:xfrm>
          <a:prstGeom prst="rect">
            <a:avLst/>
          </a:prstGeom>
          <a:noFill/>
        </p:spPr>
        <p:txBody>
          <a:bodyPr wrap="none" lIns="0" rIns="0" tIns="0" bIns="0" anchor="t">
            <a:spAutoFit/>
          </a:bodyPr>
          <a:lstStyle/>
          <a:p>
            <a:pPr algn="l">
              <a:lnSpc>
                <a:spcPct val="100000"/>
              </a:lnSpc>
              <a:spcBef>
                <a:spcPts val="0"/>
              </a:spcBef>
              <a:spcAft>
                <a:spcPts val="0"/>
              </a:spcAft>
            </a:pPr>
            <a:r>
              <a:rPr sz="1272" b="0" i="0" lang="en-US" spc="0">
                <a:solidFill>
                  <a:srgbClr val="181818"/>
                </a:solidFill>
                <a:latin typeface="Liberation Serif"/>
                <a:ea typeface="Liberation Serif"/>
              </a:rPr>
              <a:t>obs</a:t>
            </a:r>
          </a:p>
        </p:txBody>
      </p:sp>
      <p:sp>
        <p:nvSpPr>
          <p:cNvPr id="247" name=" + "/>
          <p:cNvSpPr txBox="1"/>
          <p:nvPr/>
        </p:nvSpPr>
        <p:spPr>
          <a:xfrm>
            <a:off x="5568772" y="6784662"/>
            <a:ext cx="352406" cy="307230"/>
          </a:xfrm>
          <a:prstGeom prst="rect">
            <a:avLst/>
          </a:prstGeom>
          <a:noFill/>
        </p:spPr>
        <p:txBody>
          <a:bodyPr wrap="none" lIns="0" rIns="0" tIns="0" bIns="0" anchor="t">
            <a:spAutoFit/>
          </a:bodyPr>
          <a:lstStyle/>
          <a:p>
            <a:pPr algn="l">
              <a:lnSpc>
                <a:spcPct val="100000"/>
              </a:lnSpc>
              <a:spcBef>
                <a:spcPts val="0"/>
              </a:spcBef>
              <a:spcAft>
                <a:spcPts val="0"/>
              </a:spcAft>
            </a:pPr>
            <a:r>
              <a:rPr sz="1958" b="0" i="0" lang="en-US" spc="0">
                <a:solidFill>
                  <a:srgbClr val="181818"/>
                </a:solidFill>
                <a:latin typeface="Liberation Serif"/>
                <a:ea typeface="Liberation Serif"/>
              </a:rPr>
              <a:t> + </a:t>
            </a:r>
          </a:p>
        </p:txBody>
      </p:sp>
      <p:sp>
        <p:nvSpPr>
          <p:cNvPr id="248" name="ε"/>
          <p:cNvSpPr txBox="1"/>
          <p:nvPr/>
        </p:nvSpPr>
        <p:spPr>
          <a:xfrm>
            <a:off x="5833398" y="6784662"/>
            <a:ext cx="185790" cy="307230"/>
          </a:xfrm>
          <a:prstGeom prst="rect">
            <a:avLst/>
          </a:prstGeom>
          <a:noFill/>
        </p:spPr>
        <p:txBody>
          <a:bodyPr wrap="none" lIns="0" rIns="0" tIns="0" bIns="0" anchor="t">
            <a:spAutoFit/>
          </a:bodyPr>
          <a:lstStyle/>
          <a:p>
            <a:pPr algn="l">
              <a:lnSpc>
                <a:spcPct val="100000"/>
              </a:lnSpc>
              <a:spcBef>
                <a:spcPts val="0"/>
              </a:spcBef>
              <a:spcAft>
                <a:spcPts val="0"/>
              </a:spcAft>
            </a:pPr>
            <a:r>
              <a:rPr sz="1958" b="0" i="1" lang="en-US" spc="0">
                <a:solidFill>
                  <a:srgbClr val="181818"/>
                </a:solidFill>
                <a:latin typeface="Liberation Serif"/>
                <a:ea typeface="Liberation Serif"/>
              </a:rPr>
              <a:t>ε</a:t>
            </a:r>
          </a:p>
        </p:txBody>
      </p:sp>
      <p:sp>
        <p:nvSpPr>
          <p:cNvPr id="249" name="early"/>
          <p:cNvSpPr txBox="1"/>
          <p:nvPr/>
        </p:nvSpPr>
        <p:spPr>
          <a:xfrm>
            <a:off x="5938723" y="6925476"/>
            <a:ext cx="409440" cy="210306"/>
          </a:xfrm>
          <a:prstGeom prst="rect">
            <a:avLst/>
          </a:prstGeom>
          <a:noFill/>
        </p:spPr>
        <p:txBody>
          <a:bodyPr wrap="none" lIns="0" rIns="0" tIns="0" bIns="0" anchor="t">
            <a:spAutoFit/>
          </a:bodyPr>
          <a:lstStyle/>
          <a:p>
            <a:pPr algn="l">
              <a:lnSpc>
                <a:spcPct val="100000"/>
              </a:lnSpc>
              <a:spcBef>
                <a:spcPts val="0"/>
              </a:spcBef>
              <a:spcAft>
                <a:spcPts val="0"/>
              </a:spcAft>
            </a:pPr>
            <a:r>
              <a:rPr sz="1272" b="0" i="0" lang="en-US" spc="0">
                <a:solidFill>
                  <a:srgbClr val="181818"/>
                </a:solidFill>
                <a:latin typeface="Liberation Serif"/>
                <a:ea typeface="Liberation Serif"/>
              </a:rPr>
              <a:t>early</a:t>
            </a:r>
          </a:p>
        </p:txBody>
      </p:sp>
      <p:sp>
        <p:nvSpPr>
          <p:cNvPr id="250" name=")"/>
          <p:cNvSpPr txBox="1"/>
          <p:nvPr/>
        </p:nvSpPr>
        <p:spPr>
          <a:xfrm>
            <a:off x="6267698" y="6784662"/>
            <a:ext cx="170617" cy="307230"/>
          </a:xfrm>
          <a:prstGeom prst="rect">
            <a:avLst/>
          </a:prstGeom>
          <a:noFill/>
        </p:spPr>
        <p:txBody>
          <a:bodyPr wrap="none" lIns="0" rIns="0" tIns="0" bIns="0" anchor="t">
            <a:spAutoFit/>
          </a:bodyPr>
          <a:lstStyle/>
          <a:p>
            <a:pPr algn="l">
              <a:lnSpc>
                <a:spcPct val="100000"/>
              </a:lnSpc>
              <a:spcBef>
                <a:spcPts val="0"/>
              </a:spcBef>
              <a:spcAft>
                <a:spcPts val="0"/>
              </a:spcAft>
            </a:pPr>
            <a:r>
              <a:rPr sz="1958" b="0" i="0" lang="en-US" spc="0">
                <a:solidFill>
                  <a:srgbClr val="181818"/>
                </a:solidFill>
                <a:latin typeface="Liberation Serif"/>
                <a:ea typeface="Liberation Serif"/>
              </a:rPr>
              <a:t>)</a:t>
            </a:r>
          </a:p>
        </p:txBody>
      </p:sp>
      <p:cxnSp>
        <p:nvCxnSpPr>
          <p:cNvPr id="251" name="path 250"/>
          <p:cNvCxnSpPr/>
          <p:nvPr/>
        </p:nvCxnSpPr>
        <p:spPr>
          <a:xfrm>
            <a:off x="7980665" y="6919990"/>
            <a:ext cx="563255" cy="0"/>
          </a:xfrm>
          <a:prstGeom prst="line">
            <a:avLst/>
          </a:prstGeom>
          <a:ln w="19019">
            <a:solidFill>
              <a:srgbClr val="BF3335"/>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252" name="polygon 251"/>
          <p:cNvSpPr/>
          <p:nvPr/>
        </p:nvSpPr>
        <p:spPr>
          <a:xfrm>
            <a:off x="8580495" y="6656650"/>
            <a:ext cx="1594670" cy="526680"/>
          </a:xfrm>
          <a:custGeom>
            <a:avLst/>
            <a:gdLst/>
            <a:ahLst/>
            <a:cxnLst/>
            <a:rect l="l" t="t" r="r" b="b"/>
            <a:pathLst>
              <a:path w="218" h="72">
                <a:moveTo>
                  <a:pt x="109" y="0"/>
                </a:moveTo>
                <a:lnTo>
                  <a:pt x="218" y="36"/>
                </a:lnTo>
                <a:lnTo>
                  <a:pt x="109" y="72"/>
                </a:lnTo>
                <a:lnTo>
                  <a:pt x="0" y="36"/>
                </a:lnTo>
                <a:close/>
              </a:path>
            </a:pathLst>
          </a:custGeom>
          <a:solidFill>
            <a:srgbClr val="FFFFF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3" name="τ"/>
          <p:cNvSpPr txBox="1"/>
          <p:nvPr/>
        </p:nvSpPr>
        <p:spPr>
          <a:xfrm>
            <a:off x="9113090" y="6784662"/>
            <a:ext cx="176789" cy="307230"/>
          </a:xfrm>
          <a:prstGeom prst="rect">
            <a:avLst/>
          </a:prstGeom>
          <a:noFill/>
        </p:spPr>
        <p:txBody>
          <a:bodyPr wrap="none" lIns="0" rIns="0" tIns="0" bIns="0" anchor="t">
            <a:spAutoFit/>
          </a:bodyPr>
          <a:lstStyle/>
          <a:p>
            <a:pPr algn="l">
              <a:lnSpc>
                <a:spcPct val="100000"/>
              </a:lnSpc>
              <a:spcBef>
                <a:spcPts val="0"/>
              </a:spcBef>
              <a:spcAft>
                <a:spcPts val="0"/>
              </a:spcAft>
            </a:pPr>
            <a:r>
              <a:rPr sz="1958" b="0" i="1" lang="en-US" spc="0">
                <a:solidFill>
                  <a:srgbClr val="181818"/>
                </a:solidFill>
                <a:latin typeface="Liberation Serif"/>
                <a:ea typeface="Liberation Serif"/>
              </a:rPr>
              <a:t>τ</a:t>
            </a:r>
          </a:p>
        </p:txBody>
      </p:sp>
      <p:sp>
        <p:nvSpPr>
          <p:cNvPr id="254" name=" ≤ "/>
          <p:cNvSpPr txBox="1"/>
          <p:nvPr/>
        </p:nvSpPr>
        <p:spPr>
          <a:xfrm>
            <a:off x="9202099" y="6784662"/>
            <a:ext cx="348634" cy="307230"/>
          </a:xfrm>
          <a:prstGeom prst="rect">
            <a:avLst/>
          </a:prstGeom>
          <a:noFill/>
        </p:spPr>
        <p:txBody>
          <a:bodyPr wrap="none" lIns="0" rIns="0" tIns="0" bIns="0" anchor="t">
            <a:spAutoFit/>
          </a:bodyPr>
          <a:lstStyle/>
          <a:p>
            <a:pPr algn="l">
              <a:lnSpc>
                <a:spcPct val="100000"/>
              </a:lnSpc>
              <a:spcBef>
                <a:spcPts val="0"/>
              </a:spcBef>
              <a:spcAft>
                <a:spcPts val="0"/>
              </a:spcAft>
            </a:pPr>
            <a:r>
              <a:rPr sz="1958" b="0" i="0" lang="en-US" spc="0">
                <a:solidFill>
                  <a:srgbClr val="181818"/>
                </a:solidFill>
                <a:latin typeface="Liberation Serif"/>
                <a:ea typeface="Liberation Serif"/>
              </a:rPr>
              <a:t> ≤ </a:t>
            </a:r>
          </a:p>
        </p:txBody>
      </p:sp>
      <p:sp>
        <p:nvSpPr>
          <p:cNvPr id="255" name="H"/>
          <p:cNvSpPr txBox="1"/>
          <p:nvPr/>
        </p:nvSpPr>
        <p:spPr>
          <a:xfrm>
            <a:off x="9462953" y="6784662"/>
            <a:ext cx="267398" cy="307230"/>
          </a:xfrm>
          <a:prstGeom prst="rect">
            <a:avLst/>
          </a:prstGeom>
          <a:noFill/>
        </p:spPr>
        <p:txBody>
          <a:bodyPr wrap="none" lIns="0" rIns="0" tIns="0" bIns="0" anchor="t">
            <a:spAutoFit/>
          </a:bodyPr>
          <a:lstStyle/>
          <a:p>
            <a:pPr algn="l">
              <a:lnSpc>
                <a:spcPct val="100000"/>
              </a:lnSpc>
              <a:spcBef>
                <a:spcPts val="0"/>
              </a:spcBef>
              <a:spcAft>
                <a:spcPts val="0"/>
              </a:spcAft>
            </a:pPr>
            <a:r>
              <a:rPr sz="1958" b="0" i="1" lang="en-US" spc="0">
                <a:solidFill>
                  <a:srgbClr val="181818"/>
                </a:solidFill>
                <a:latin typeface="Liberation Serif"/>
                <a:ea typeface="Liberation Serif"/>
              </a:rPr>
              <a:t>H</a:t>
            </a:r>
          </a:p>
        </p:txBody>
      </p:sp>
      <p:cxnSp>
        <p:nvCxnSpPr>
          <p:cNvPr id="256" name="path 255"/>
          <p:cNvCxnSpPr/>
          <p:nvPr/>
        </p:nvCxnSpPr>
        <p:spPr>
          <a:xfrm>
            <a:off x="10204425" y="6919990"/>
            <a:ext cx="1133825" cy="0"/>
          </a:xfrm>
          <a:prstGeom prst="line">
            <a:avLst/>
          </a:prstGeom>
          <a:ln w="19019">
            <a:solidFill>
              <a:srgbClr val="BF3335"/>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257" name="rect 256"/>
          <p:cNvSpPr/>
          <p:nvPr/>
        </p:nvSpPr>
        <p:spPr>
          <a:xfrm>
            <a:off x="11462605" y="6766375"/>
            <a:ext cx="1206975" cy="424270"/>
          </a:xfrm>
          <a:prstGeom prst="roundRect">
            <a:avLst>
              <a:gd name="adj" fmla="val 5172"/>
            </a:avLst>
          </a:prstGeom>
          <a:solidFill>
            <a:srgbClr val="F5D460"/>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8" name="H2D"/>
          <p:cNvSpPr txBox="1"/>
          <p:nvPr/>
        </p:nvSpPr>
        <p:spPr>
          <a:xfrm>
            <a:off x="11797509" y="6779908"/>
            <a:ext cx="537167" cy="252368"/>
          </a:xfrm>
          <a:prstGeom prst="rect">
            <a:avLst/>
          </a:prstGeom>
          <a:noFill/>
        </p:spPr>
        <p:txBody>
          <a:bodyPr wrap="none" lIns="0" rIns="0" tIns="0" bIns="0" anchor="t">
            <a:spAutoFit/>
          </a:bodyPr>
          <a:lstStyle/>
          <a:p>
            <a:pPr algn="ctr">
              <a:lnSpc>
                <a:spcPct val="100000"/>
              </a:lnSpc>
              <a:spcBef>
                <a:spcPts val="0"/>
              </a:spcBef>
              <a:spcAft>
                <a:spcPts val="0"/>
              </a:spcAft>
            </a:pPr>
            <a:r>
              <a:rPr sz="1497" b="1" i="0" lang="en-US" spc="0">
                <a:solidFill>
                  <a:srgbClr val="181818"/>
                </a:solidFill>
                <a:latin typeface="DejaVu Sans"/>
                <a:ea typeface="DejaVu Sans"/>
              </a:rPr>
              <a:t>H2D</a:t>
            </a:r>
          </a:p>
        </p:txBody>
      </p:sp>
      <p:cxnSp>
        <p:nvCxnSpPr>
          <p:cNvPr id="259" name="path 258"/>
          <p:cNvCxnSpPr/>
          <p:nvPr/>
        </p:nvCxnSpPr>
        <p:spPr>
          <a:xfrm>
            <a:off x="11601590" y="7033665"/>
            <a:ext cx="929005" cy="0"/>
          </a:xfrm>
          <a:prstGeom prst="line">
            <a:avLst/>
          </a:prstGeom>
          <a:ln w="14630">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260" name="path 259"/>
          <p:cNvCxnSpPr/>
          <p:nvPr/>
        </p:nvCxnSpPr>
        <p:spPr>
          <a:xfrm flipH="1">
            <a:off x="11601590" y="7114276"/>
            <a:ext cx="929005" cy="0"/>
          </a:xfrm>
          <a:prstGeom prst="line">
            <a:avLst/>
          </a:prstGeom>
          <a:ln w="14630">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261" name="line 260"/>
          <p:cNvCxnSpPr/>
          <p:nvPr/>
        </p:nvCxnSpPr>
        <p:spPr>
          <a:xfrm>
            <a:off x="8485400" y="7527135"/>
            <a:ext cx="0" cy="1177715"/>
          </a:xfrm>
          <a:prstGeom prst="line">
            <a:avLst/>
          </a:prstGeom>
          <a:ln w="12435">
            <a:solidFill>
              <a:srgbClr val="969696"/>
            </a:solidFill>
            <a:prstDash val="dash"/>
          </a:ln>
          <a:effectLst/>
        </p:spPr>
        <p:style>
          <a:lnRef idx="2">
            <a:schemeClr val="accent1"/>
          </a:lnRef>
          <a:fillRef idx="0">
            <a:schemeClr val="accent1"/>
          </a:fillRef>
          <a:effectRef idx="0">
            <a:schemeClr val="accent1"/>
          </a:effectRef>
          <a:fontRef idx="minor">
            <a:schemeClr val="tx1"/>
          </a:fontRef>
        </p:style>
      </p:cxnSp>
      <p:sp>
        <p:nvSpPr>
          <p:cNvPr id="262" name="RETURN / TOOL_END"/>
          <p:cNvSpPr txBox="1"/>
          <p:nvPr/>
        </p:nvSpPr>
        <p:spPr>
          <a:xfrm>
            <a:off x="8573180" y="7347918"/>
            <a:ext cx="1936189" cy="217621"/>
          </a:xfrm>
          <a:prstGeom prst="rect">
            <a:avLst/>
          </a:prstGeom>
          <a:noFill/>
        </p:spPr>
        <p:txBody>
          <a:bodyPr wrap="none" lIns="0" rIns="0" tIns="0" bIns="0" anchor="t">
            <a:spAutoFit/>
          </a:bodyPr>
          <a:lstStyle/>
          <a:p>
            <a:pPr algn="l">
              <a:lnSpc>
                <a:spcPct val="100000"/>
              </a:lnSpc>
              <a:spcBef>
                <a:spcPts val="0"/>
              </a:spcBef>
              <a:spcAft>
                <a:spcPts val="0"/>
              </a:spcAft>
            </a:pPr>
            <a:r>
              <a:rPr sz="1267" b="1" i="0" lang="en-US" spc="0">
                <a:solidFill>
                  <a:srgbClr val="181818"/>
                </a:solidFill>
                <a:latin typeface="DejaVu Sans"/>
                <a:ea typeface="DejaVu Sans"/>
              </a:rPr>
              <a:t>RETURN / TOOL_END</a:t>
            </a:r>
          </a:p>
        </p:txBody>
      </p:sp>
      <p:cxnSp>
        <p:nvCxnSpPr>
          <p:cNvPr id="263" name="line 262"/>
          <p:cNvCxnSpPr/>
          <p:nvPr/>
        </p:nvCxnSpPr>
        <p:spPr>
          <a:xfrm>
            <a:off x="6583500" y="7519820"/>
            <a:ext cx="1872640" cy="0"/>
          </a:xfrm>
          <a:prstGeom prst="line">
            <a:avLst/>
          </a:prstGeom>
          <a:ln w="14630">
            <a:solidFill>
              <a:srgbClr val="BF3335"/>
            </a:solidFill>
          </a:ln>
          <a:effectLst/>
        </p:spPr>
        <p:style>
          <a:lnRef idx="2">
            <a:schemeClr val="accent1"/>
          </a:lnRef>
          <a:fillRef idx="0">
            <a:schemeClr val="accent1"/>
          </a:fillRef>
          <a:effectRef idx="0">
            <a:schemeClr val="accent1"/>
          </a:effectRef>
          <a:fontRef idx="minor">
            <a:schemeClr val="tx1"/>
          </a:fontRef>
        </p:style>
      </p:cxnSp>
      <p:cxnSp>
        <p:nvCxnSpPr>
          <p:cNvPr id="264" name="line 263"/>
          <p:cNvCxnSpPr/>
          <p:nvPr/>
        </p:nvCxnSpPr>
        <p:spPr>
          <a:xfrm>
            <a:off x="6583500" y="7475930"/>
            <a:ext cx="0" cy="80465"/>
          </a:xfrm>
          <a:prstGeom prst="line">
            <a:avLst/>
          </a:prstGeom>
          <a:ln w="14630">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265" name="Δ"/>
          <p:cNvSpPr txBox="1"/>
          <p:nvPr/>
        </p:nvSpPr>
        <p:spPr>
          <a:xfrm>
            <a:off x="7377092" y="7304028"/>
            <a:ext cx="205391" cy="234080"/>
          </a:xfrm>
          <a:prstGeom prst="rect">
            <a:avLst/>
          </a:prstGeom>
          <a:noFill/>
        </p:spPr>
        <p:txBody>
          <a:bodyPr wrap="none" lIns="0" rIns="0" tIns="0" bIns="0" anchor="t">
            <a:spAutoFit/>
          </a:bodyPr>
          <a:lstStyle/>
          <a:p>
            <a:pPr algn="l">
              <a:lnSpc>
                <a:spcPct val="100000"/>
              </a:lnSpc>
              <a:spcBef>
                <a:spcPts val="0"/>
              </a:spcBef>
              <a:spcAft>
                <a:spcPts val="0"/>
              </a:spcAft>
            </a:pPr>
            <a:r>
              <a:rPr sz="1439" b="0" i="0" lang="en-US" spc="0">
                <a:solidFill>
                  <a:srgbClr val="BF3335"/>
                </a:solidFill>
                <a:latin typeface="Liberation Serif"/>
                <a:ea typeface="Liberation Serif"/>
              </a:rPr>
              <a:t>Δ</a:t>
            </a:r>
          </a:p>
        </p:txBody>
      </p:sp>
      <p:sp>
        <p:nvSpPr>
          <p:cNvPr id="266" name="t"/>
          <p:cNvSpPr txBox="1"/>
          <p:nvPr/>
        </p:nvSpPr>
        <p:spPr>
          <a:xfrm>
            <a:off x="7494703" y="7304028"/>
            <a:ext cx="138585" cy="234080"/>
          </a:xfrm>
          <a:prstGeom prst="rect">
            <a:avLst/>
          </a:prstGeom>
          <a:noFill/>
        </p:spPr>
        <p:txBody>
          <a:bodyPr wrap="none" lIns="0" rIns="0" tIns="0" bIns="0" anchor="t">
            <a:spAutoFit/>
          </a:bodyPr>
          <a:lstStyle/>
          <a:p>
            <a:pPr algn="l">
              <a:lnSpc>
                <a:spcPct val="100000"/>
              </a:lnSpc>
              <a:spcBef>
                <a:spcPts val="0"/>
              </a:spcBef>
              <a:spcAft>
                <a:spcPts val="0"/>
              </a:spcAft>
            </a:pPr>
            <a:r>
              <a:rPr sz="1439" b="0" i="1" lang="en-US" spc="0">
                <a:solidFill>
                  <a:srgbClr val="BF3335"/>
                </a:solidFill>
                <a:latin typeface="Liberation Serif"/>
                <a:ea typeface="Liberation Serif"/>
              </a:rPr>
              <a:t>t</a:t>
            </a:r>
          </a:p>
        </p:txBody>
      </p:sp>
      <p:sp>
        <p:nvSpPr>
          <p:cNvPr id="267" name="child / tool"/>
          <p:cNvSpPr txBox="1"/>
          <p:nvPr/>
        </p:nvSpPr>
        <p:spPr>
          <a:xfrm>
            <a:off x="475475" y="7605771"/>
            <a:ext cx="1221862" cy="252368"/>
          </a:xfrm>
          <a:prstGeom prst="rect">
            <a:avLst/>
          </a:prstGeom>
          <a:noFill/>
        </p:spPr>
        <p:txBody>
          <a:bodyPr wrap="none" lIns="0" rIns="0" tIns="0" bIns="0" anchor="t">
            <a:spAutoFit/>
          </a:bodyPr>
          <a:lstStyle/>
          <a:p>
            <a:pPr algn="l">
              <a:lnSpc>
                <a:spcPct val="100000"/>
              </a:lnSpc>
              <a:spcBef>
                <a:spcPts val="0"/>
              </a:spcBef>
              <a:spcAft>
                <a:spcPts val="0"/>
              </a:spcAft>
            </a:pPr>
            <a:r>
              <a:rPr sz="1497" b="1" i="0" lang="en-US" spc="0">
                <a:solidFill>
                  <a:srgbClr val="181818"/>
                </a:solidFill>
                <a:latin typeface="DejaVu Sans"/>
                <a:ea typeface="DejaVu Sans"/>
              </a:rPr>
              <a:t>child / tool</a:t>
            </a:r>
          </a:p>
        </p:txBody>
      </p:sp>
      <p:cxnSp>
        <p:nvCxnSpPr>
          <p:cNvPr id="268" name="line 267"/>
          <p:cNvCxnSpPr/>
          <p:nvPr/>
        </p:nvCxnSpPr>
        <p:spPr>
          <a:xfrm>
            <a:off x="2633400" y="7724640"/>
            <a:ext cx="10241000" cy="0"/>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sp>
        <p:nvSpPr>
          <p:cNvPr id="269" name="prefetch"/>
          <p:cNvSpPr txBox="1"/>
          <p:nvPr/>
        </p:nvSpPr>
        <p:spPr>
          <a:xfrm>
            <a:off x="475475" y="8030041"/>
            <a:ext cx="997555" cy="252368"/>
          </a:xfrm>
          <a:prstGeom prst="rect">
            <a:avLst/>
          </a:prstGeom>
          <a:noFill/>
        </p:spPr>
        <p:txBody>
          <a:bodyPr wrap="none" lIns="0" rIns="0" tIns="0" bIns="0" anchor="t">
            <a:spAutoFit/>
          </a:bodyPr>
          <a:lstStyle/>
          <a:p>
            <a:pPr algn="l">
              <a:lnSpc>
                <a:spcPct val="100000"/>
              </a:lnSpc>
              <a:spcBef>
                <a:spcPts val="0"/>
              </a:spcBef>
              <a:spcAft>
                <a:spcPts val="0"/>
              </a:spcAft>
            </a:pPr>
            <a:r>
              <a:rPr sz="1497" b="1" i="0" lang="en-US" spc="0">
                <a:solidFill>
                  <a:srgbClr val="181818"/>
                </a:solidFill>
                <a:latin typeface="DejaVu Sans"/>
                <a:ea typeface="DejaVu Sans"/>
              </a:rPr>
              <a:t>prefetch</a:t>
            </a:r>
          </a:p>
        </p:txBody>
      </p:sp>
      <p:cxnSp>
        <p:nvCxnSpPr>
          <p:cNvPr id="270" name="line 269"/>
          <p:cNvCxnSpPr/>
          <p:nvPr/>
        </p:nvCxnSpPr>
        <p:spPr>
          <a:xfrm>
            <a:off x="2633400" y="8148910"/>
            <a:ext cx="10241000" cy="0"/>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sp>
        <p:nvSpPr>
          <p:cNvPr id="271" name="reactive"/>
          <p:cNvSpPr txBox="1"/>
          <p:nvPr/>
        </p:nvSpPr>
        <p:spPr>
          <a:xfrm>
            <a:off x="475475" y="8454311"/>
            <a:ext cx="960780" cy="252368"/>
          </a:xfrm>
          <a:prstGeom prst="rect">
            <a:avLst/>
          </a:prstGeom>
          <a:noFill/>
        </p:spPr>
        <p:txBody>
          <a:bodyPr wrap="none" lIns="0" rIns="0" tIns="0" bIns="0" anchor="t">
            <a:spAutoFit/>
          </a:bodyPr>
          <a:lstStyle/>
          <a:p>
            <a:pPr algn="l">
              <a:lnSpc>
                <a:spcPct val="100000"/>
              </a:lnSpc>
              <a:spcBef>
                <a:spcPts val="0"/>
              </a:spcBef>
              <a:spcAft>
                <a:spcPts val="0"/>
              </a:spcAft>
            </a:pPr>
            <a:r>
              <a:rPr sz="1497" b="1" i="0" lang="en-US" spc="0">
                <a:solidFill>
                  <a:srgbClr val="181818"/>
                </a:solidFill>
                <a:latin typeface="DejaVu Sans"/>
                <a:ea typeface="DejaVu Sans"/>
              </a:rPr>
              <a:t>reactive</a:t>
            </a:r>
          </a:p>
        </p:txBody>
      </p:sp>
      <p:cxnSp>
        <p:nvCxnSpPr>
          <p:cNvPr id="272" name="line 271"/>
          <p:cNvCxnSpPr/>
          <p:nvPr/>
        </p:nvCxnSpPr>
        <p:spPr>
          <a:xfrm>
            <a:off x="2633400" y="8573180"/>
            <a:ext cx="10241000" cy="0"/>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sp>
        <p:nvSpPr>
          <p:cNvPr id="273" name="rect 272"/>
          <p:cNvSpPr/>
          <p:nvPr/>
        </p:nvSpPr>
        <p:spPr>
          <a:xfrm>
            <a:off x="2633400" y="7600285"/>
            <a:ext cx="5852000" cy="248710"/>
          </a:xfrm>
          <a:prstGeom prst="roundRect">
            <a:avLst>
              <a:gd name="adj" fmla="val 2941"/>
            </a:avLst>
          </a:prstGeom>
          <a:solidFill>
            <a:srgbClr val="F2BD7D"/>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4" name="decode / tool"/>
          <p:cNvSpPr txBox="1"/>
          <p:nvPr/>
        </p:nvSpPr>
        <p:spPr>
          <a:xfrm>
            <a:off x="4508955" y="7613086"/>
            <a:ext cx="1281611" cy="243224"/>
          </a:xfrm>
          <a:prstGeom prst="rect">
            <a:avLst/>
          </a:prstGeom>
          <a:noFill/>
        </p:spPr>
        <p:txBody>
          <a:bodyPr wrap="none" lIns="0" rIns="0" tIns="0" bIns="0" anchor="t">
            <a:spAutoFit/>
          </a:bodyPr>
          <a:lstStyle/>
          <a:p>
            <a:pPr algn="ctr">
              <a:lnSpc>
                <a:spcPct val="100000"/>
              </a:lnSpc>
              <a:spcBef>
                <a:spcPts val="0"/>
              </a:spcBef>
              <a:spcAft>
                <a:spcPts val="0"/>
              </a:spcAft>
            </a:pPr>
            <a:r>
              <a:rPr sz="1439" b="0" i="0" lang="en-US" spc="0">
                <a:solidFill>
                  <a:srgbClr val="181818"/>
                </a:solidFill>
                <a:latin typeface="DejaVu Sans"/>
                <a:ea typeface="DejaVu Sans"/>
              </a:rPr>
              <a:t>decode / tool</a:t>
            </a:r>
          </a:p>
        </p:txBody>
      </p:sp>
      <p:sp>
        <p:nvSpPr>
          <p:cNvPr id="275" name="rect 274"/>
          <p:cNvSpPr/>
          <p:nvPr/>
        </p:nvSpPr>
        <p:spPr>
          <a:xfrm>
            <a:off x="6583500" y="8024555"/>
            <a:ext cx="2926000" cy="248710"/>
          </a:xfrm>
          <a:prstGeom prst="roundRect">
            <a:avLst>
              <a:gd name="adj" fmla="val 2941"/>
            </a:avLst>
          </a:prstGeom>
          <a:solidFill>
            <a:srgbClr val="F5D460"/>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6" name="H2D"/>
          <p:cNvSpPr txBox="1"/>
          <p:nvPr/>
        </p:nvSpPr>
        <p:spPr>
          <a:xfrm>
            <a:off x="7658962" y="8037356"/>
            <a:ext cx="482476" cy="243224"/>
          </a:xfrm>
          <a:prstGeom prst="rect">
            <a:avLst/>
          </a:prstGeom>
          <a:noFill/>
        </p:spPr>
        <p:txBody>
          <a:bodyPr wrap="none" lIns="0" rIns="0" tIns="0" bIns="0" anchor="t">
            <a:spAutoFit/>
          </a:bodyPr>
          <a:lstStyle/>
          <a:p>
            <a:pPr algn="ctr">
              <a:lnSpc>
                <a:spcPct val="100000"/>
              </a:lnSpc>
              <a:spcBef>
                <a:spcPts val="0"/>
              </a:spcBef>
              <a:spcAft>
                <a:spcPts val="0"/>
              </a:spcAft>
            </a:pPr>
            <a:r>
              <a:rPr sz="1439" b="0" i="0" lang="en-US" spc="0">
                <a:solidFill>
                  <a:srgbClr val="181818"/>
                </a:solidFill>
                <a:latin typeface="DejaVu Sans"/>
                <a:ea typeface="DejaVu Sans"/>
              </a:rPr>
              <a:t>H2D</a:t>
            </a:r>
          </a:p>
        </p:txBody>
      </p:sp>
      <p:sp>
        <p:nvSpPr>
          <p:cNvPr id="277" name="rect 276"/>
          <p:cNvSpPr/>
          <p:nvPr/>
        </p:nvSpPr>
        <p:spPr>
          <a:xfrm>
            <a:off x="9509500" y="8024555"/>
            <a:ext cx="1170400" cy="248710"/>
          </a:xfrm>
          <a:prstGeom prst="roundRect">
            <a:avLst>
              <a:gd name="adj" fmla="val 2941"/>
            </a:avLst>
          </a:prstGeom>
          <a:solidFill>
            <a:srgbClr val="DDDDDD"/>
          </a:solidFill>
          <a:ln w="9509">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8" name="rect 277"/>
          <p:cNvSpPr/>
          <p:nvPr/>
        </p:nvSpPr>
        <p:spPr>
          <a:xfrm>
            <a:off x="10679900" y="8024555"/>
            <a:ext cx="2194500" cy="248710"/>
          </a:xfrm>
          <a:prstGeom prst="roundRect">
            <a:avLst>
              <a:gd name="adj" fmla="val 2941"/>
            </a:avLst>
          </a:prstGeom>
          <a:solidFill>
            <a:srgbClr val="A9CEE8"/>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9" name="GPU"/>
          <p:cNvSpPr txBox="1"/>
          <p:nvPr/>
        </p:nvSpPr>
        <p:spPr>
          <a:xfrm>
            <a:off x="11540355" y="8037356"/>
            <a:ext cx="473589" cy="243224"/>
          </a:xfrm>
          <a:prstGeom prst="rect">
            <a:avLst/>
          </a:prstGeom>
          <a:noFill/>
        </p:spPr>
        <p:txBody>
          <a:bodyPr wrap="none" lIns="0" rIns="0" tIns="0" bIns="0" anchor="t">
            <a:spAutoFit/>
          </a:bodyPr>
          <a:lstStyle/>
          <a:p>
            <a:pPr algn="ctr">
              <a:lnSpc>
                <a:spcPct val="100000"/>
              </a:lnSpc>
              <a:spcBef>
                <a:spcPts val="0"/>
              </a:spcBef>
              <a:spcAft>
                <a:spcPts val="0"/>
              </a:spcAft>
            </a:pPr>
            <a:r>
              <a:rPr sz="1439" b="0" i="0" lang="en-US" spc="0">
                <a:solidFill>
                  <a:srgbClr val="181818"/>
                </a:solidFill>
                <a:latin typeface="DejaVu Sans"/>
                <a:ea typeface="DejaVu Sans"/>
              </a:rPr>
              <a:t>GPU</a:t>
            </a:r>
          </a:p>
        </p:txBody>
      </p:sp>
      <p:sp>
        <p:nvSpPr>
          <p:cNvPr id="280" name="ACK"/>
          <p:cNvSpPr txBox="1"/>
          <p:nvPr/>
        </p:nvSpPr>
        <p:spPr>
          <a:xfrm>
            <a:off x="9538760" y="7830708"/>
            <a:ext cx="398182" cy="208478"/>
          </a:xfrm>
          <a:prstGeom prst="rect">
            <a:avLst/>
          </a:prstGeom>
          <a:noFill/>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rPr>
              <a:t>ACK</a:t>
            </a:r>
          </a:p>
        </p:txBody>
      </p:sp>
      <p:sp>
        <p:nvSpPr>
          <p:cNvPr id="281" name="First use"/>
          <p:cNvSpPr txBox="1"/>
          <p:nvPr/>
        </p:nvSpPr>
        <p:spPr>
          <a:xfrm>
            <a:off x="10731105" y="7830708"/>
            <a:ext cx="731814" cy="208478"/>
          </a:xfrm>
          <a:prstGeom prst="rect">
            <a:avLst/>
          </a:prstGeom>
          <a:noFill/>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rPr>
              <a:t>First use</a:t>
            </a:r>
          </a:p>
        </p:txBody>
      </p:sp>
      <p:sp>
        <p:nvSpPr>
          <p:cNvPr id="282" name="rect 281"/>
          <p:cNvSpPr/>
          <p:nvPr/>
        </p:nvSpPr>
        <p:spPr>
          <a:xfrm>
            <a:off x="8485400" y="8448825"/>
            <a:ext cx="2926000" cy="248710"/>
          </a:xfrm>
          <a:prstGeom prst="roundRect">
            <a:avLst>
              <a:gd name="adj" fmla="val 2941"/>
            </a:avLst>
          </a:prstGeom>
          <a:solidFill>
            <a:srgbClr val="F5D460"/>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3" name="H2D"/>
          <p:cNvSpPr txBox="1"/>
          <p:nvPr/>
        </p:nvSpPr>
        <p:spPr>
          <a:xfrm>
            <a:off x="9707162" y="8461626"/>
            <a:ext cx="482476" cy="243224"/>
          </a:xfrm>
          <a:prstGeom prst="rect">
            <a:avLst/>
          </a:prstGeom>
          <a:noFill/>
        </p:spPr>
        <p:txBody>
          <a:bodyPr wrap="none" lIns="0" rIns="0" tIns="0" bIns="0" anchor="t">
            <a:spAutoFit/>
          </a:bodyPr>
          <a:lstStyle/>
          <a:p>
            <a:pPr algn="ctr">
              <a:lnSpc>
                <a:spcPct val="100000"/>
              </a:lnSpc>
              <a:spcBef>
                <a:spcPts val="0"/>
              </a:spcBef>
              <a:spcAft>
                <a:spcPts val="0"/>
              </a:spcAft>
            </a:pPr>
            <a:r>
              <a:rPr sz="1439" b="0" i="0" lang="en-US" spc="0">
                <a:solidFill>
                  <a:srgbClr val="181818"/>
                </a:solidFill>
                <a:latin typeface="DejaVu Sans"/>
                <a:ea typeface="DejaVu Sans"/>
              </a:rPr>
              <a:t>H2D</a:t>
            </a:r>
          </a:p>
        </p:txBody>
      </p:sp>
      <p:sp>
        <p:nvSpPr>
          <p:cNvPr id="284" name="rect 283"/>
          <p:cNvSpPr/>
          <p:nvPr/>
        </p:nvSpPr>
        <p:spPr>
          <a:xfrm>
            <a:off x="11411400" y="8448825"/>
            <a:ext cx="1463000" cy="248710"/>
          </a:xfrm>
          <a:prstGeom prst="roundRect">
            <a:avLst>
              <a:gd name="adj" fmla="val 2941"/>
            </a:avLst>
          </a:prstGeom>
          <a:solidFill>
            <a:srgbClr val="A9CEE8"/>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5" name="GPU"/>
          <p:cNvSpPr txBox="1"/>
          <p:nvPr/>
        </p:nvSpPr>
        <p:spPr>
          <a:xfrm>
            <a:off x="11906105" y="8461626"/>
            <a:ext cx="473589" cy="243224"/>
          </a:xfrm>
          <a:prstGeom prst="rect">
            <a:avLst/>
          </a:prstGeom>
          <a:noFill/>
        </p:spPr>
        <p:txBody>
          <a:bodyPr wrap="none" lIns="0" rIns="0" tIns="0" bIns="0" anchor="t">
            <a:spAutoFit/>
          </a:bodyPr>
          <a:lstStyle/>
          <a:p>
            <a:pPr algn="ctr">
              <a:lnSpc>
                <a:spcPct val="100000"/>
              </a:lnSpc>
              <a:spcBef>
                <a:spcPts val="0"/>
              </a:spcBef>
              <a:spcAft>
                <a:spcPts val="0"/>
              </a:spcAft>
            </a:pPr>
            <a:r>
              <a:rPr sz="1439" b="0" i="0" lang="en-US" spc="0">
                <a:solidFill>
                  <a:srgbClr val="181818"/>
                </a:solidFill>
                <a:latin typeface="DejaVu Sans"/>
                <a:ea typeface="DejaVu Sans"/>
              </a:rPr>
              <a:t>GPU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V Lifecycle and Restore-aware Admission"/>
          <p:cNvSpPr txBox="1"/>
          <p:nvPr/>
        </p:nvSpPr>
        <p:spPr>
          <a:xfrm>
            <a:off x="292600" y="120698"/>
            <a:ext cx="6594958" cy="345634"/>
          </a:xfrm>
          <a:prstGeom prst="rect">
            <a:avLst/>
          </a:prstGeom>
          <a:noFill/>
        </p:spPr>
        <p:txBody>
          <a:bodyPr wrap="none" lIns="0" rIns="0" tIns="0" bIns="0" anchor="t">
            <a:spAutoFit/>
          </a:bodyPr>
          <a:lstStyle/>
          <a:p>
            <a:pPr algn="l">
              <a:lnSpc>
                <a:spcPct val="100000"/>
              </a:lnSpc>
              <a:spcBef>
                <a:spcPts val="0"/>
              </a:spcBef>
              <a:spcAft>
                <a:spcPts val="0"/>
              </a:spcAft>
            </a:pPr>
            <a:r>
              <a:rPr sz="2131" b="1" i="0" lang="en-US" spc="0">
                <a:solidFill>
                  <a:srgbClr val="181818"/>
                </a:solidFill>
                <a:latin typeface="DejaVu Sans"/>
                <a:ea typeface="DejaVu Sans"/>
              </a:rPr>
              <a:t>KV Lifecycle and Restore-aware Admission</a:t>
            </a:r>
          </a:p>
        </p:txBody>
      </p:sp>
      <p:sp>
        <p:nvSpPr>
          <p:cNvPr id="3" name="Stable FULL extents · checkpoint state · missing pages · child-to-parent capacity"/>
          <p:cNvSpPr txBox="1"/>
          <p:nvPr/>
        </p:nvSpPr>
        <p:spPr>
          <a:xfrm>
            <a:off x="292600" y="479132"/>
            <a:ext cx="7157670" cy="235909"/>
          </a:xfrm>
          <a:prstGeom prst="rect">
            <a:avLst/>
          </a:prstGeom>
          <a:noFill/>
        </p:spPr>
        <p:txBody>
          <a:bodyPr wrap="none" lIns="0" rIns="0" tIns="0" bIns="0" anchor="t">
            <a:spAutoFit/>
          </a:bodyPr>
          <a:lstStyle/>
          <a:p>
            <a:pPr algn="l">
              <a:lnSpc>
                <a:spcPct val="100000"/>
              </a:lnSpc>
              <a:spcBef>
                <a:spcPts val="0"/>
              </a:spcBef>
              <a:spcAft>
                <a:spcPts val="0"/>
              </a:spcAft>
            </a:pPr>
            <a:r>
              <a:rPr sz="1382" b="0" i="0" lang="en-US" spc="0">
                <a:solidFill>
                  <a:srgbClr val="535353"/>
                </a:solidFill>
                <a:latin typeface="DejaVu Sans"/>
                <a:ea typeface="DejaVu Sans"/>
              </a:rPr>
              <a:t>Stable FULL extents · checkpoint state · missing pages · child-to-parent capacity</a:t>
            </a:r>
          </a:p>
        </p:txBody>
      </p:sp>
      <p:cxnSp>
        <p:nvCxnSpPr>
          <p:cNvPr id="4" name="line 3"/>
          <p:cNvCxnSpPr/>
          <p:nvPr/>
        </p:nvCxnSpPr>
        <p:spPr>
          <a:xfrm>
            <a:off x="292600" y="790020"/>
            <a:ext cx="12581800" cy="0"/>
          </a:xfrm>
          <a:prstGeom prst="line">
            <a:avLst/>
          </a:prstGeom>
          <a:ln w="11704">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5" name="rect 4"/>
          <p:cNvSpPr/>
          <p:nvPr/>
        </p:nvSpPr>
        <p:spPr>
          <a:xfrm>
            <a:off x="292600" y="965580"/>
            <a:ext cx="7607600" cy="2084775"/>
          </a:xfrm>
          <a:prstGeom prst="roundRect">
            <a:avLst>
              <a:gd name="adj" fmla="val 2105"/>
            </a:avLst>
          </a:prstGeom>
          <a:solidFill>
            <a:srgbClr val="EEEEEE"/>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 5"/>
          <p:cNvSpPr/>
          <p:nvPr/>
        </p:nvSpPr>
        <p:spPr>
          <a:xfrm>
            <a:off x="292600" y="965580"/>
            <a:ext cx="7607600" cy="351120"/>
          </a:xfrm>
          <a:prstGeom prst="roundRect">
            <a:avLst>
              <a:gd name="adj" fmla="val 12500"/>
            </a:avLst>
          </a:prstGeom>
          <a:solidFill>
            <a:srgbClr val="A9CEE8"/>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 6"/>
          <p:cNvSpPr/>
          <p:nvPr/>
        </p:nvSpPr>
        <p:spPr>
          <a:xfrm>
            <a:off x="301378" y="1163085"/>
            <a:ext cx="7590044" cy="146300"/>
          </a:xfrm>
          <a:prstGeom prst="rect">
            <a:avLst/>
          </a:prstGeom>
          <a:solidFill>
            <a:srgbClr val="A9CE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8" name="line 7"/>
          <p:cNvCxnSpPr/>
          <p:nvPr/>
        </p:nvCxnSpPr>
        <p:spPr>
          <a:xfrm>
            <a:off x="292600" y="1316700"/>
            <a:ext cx="7607600" cy="0"/>
          </a:xfrm>
          <a:prstGeom prst="line">
            <a:avLst/>
          </a:prstGeom>
          <a:ln w="12435">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9" name="(a) Stable FULL: incremental PREPARE_HOST"/>
          <p:cNvSpPr txBox="1"/>
          <p:nvPr/>
        </p:nvSpPr>
        <p:spPr>
          <a:xfrm>
            <a:off x="438900" y="1016785"/>
            <a:ext cx="5239540" cy="268826"/>
          </a:xfrm>
          <a:prstGeom prst="rect">
            <a:avLst/>
          </a:prstGeom>
          <a:noFill/>
        </p:spPr>
        <p:txBody>
          <a:bodyPr wrap="none" lIns="0" rIns="0" tIns="0" bIns="0" anchor="t">
            <a:spAutoFit/>
          </a:bodyPr>
          <a:lstStyle/>
          <a:p>
            <a:pPr algn="l">
              <a:lnSpc>
                <a:spcPct val="100000"/>
              </a:lnSpc>
              <a:spcBef>
                <a:spcPts val="0"/>
              </a:spcBef>
              <a:spcAft>
                <a:spcPts val="0"/>
              </a:spcAft>
            </a:pPr>
            <a:r>
              <a:rPr sz="1612" b="1" i="0" lang="en-US" spc="0">
                <a:solidFill>
                  <a:srgbClr val="181818"/>
                </a:solidFill>
                <a:latin typeface="DejaVu Sans"/>
                <a:ea typeface="DejaVu Sans"/>
              </a:rPr>
              <a:t>(a) Stable FULL: incremental PREPARE_HOST</a:t>
            </a:r>
          </a:p>
        </p:txBody>
      </p:sp>
      <p:sp>
        <p:nvSpPr>
          <p:cNvPr id="10" name="HBM"/>
          <p:cNvSpPr txBox="1"/>
          <p:nvPr/>
        </p:nvSpPr>
        <p:spPr>
          <a:xfrm>
            <a:off x="497420" y="1594670"/>
            <a:ext cx="619146" cy="268826"/>
          </a:xfrm>
          <a:prstGeom prst="rect">
            <a:avLst/>
          </a:prstGeom>
          <a:noFill/>
        </p:spPr>
        <p:txBody>
          <a:bodyPr wrap="none" lIns="0" rIns="0" tIns="0" bIns="0" anchor="t">
            <a:spAutoFit/>
          </a:bodyPr>
          <a:lstStyle/>
          <a:p>
            <a:pPr algn="l">
              <a:lnSpc>
                <a:spcPct val="100000"/>
              </a:lnSpc>
              <a:spcBef>
                <a:spcPts val="0"/>
              </a:spcBef>
              <a:spcAft>
                <a:spcPts val="0"/>
              </a:spcAft>
            </a:pPr>
            <a:r>
              <a:rPr sz="1612" b="1" i="0" lang="en-US" spc="0">
                <a:solidFill>
                  <a:srgbClr val="181818"/>
                </a:solidFill>
                <a:latin typeface="DejaVu Sans"/>
                <a:ea typeface="DejaVu Sans"/>
              </a:rPr>
              <a:t>HBM</a:t>
            </a:r>
          </a:p>
        </p:txBody>
      </p:sp>
      <p:sp>
        <p:nvSpPr>
          <p:cNvPr id="11" name="Host"/>
          <p:cNvSpPr txBox="1"/>
          <p:nvPr/>
        </p:nvSpPr>
        <p:spPr>
          <a:xfrm>
            <a:off x="497420" y="2201815"/>
            <a:ext cx="619775" cy="268826"/>
          </a:xfrm>
          <a:prstGeom prst="rect">
            <a:avLst/>
          </a:prstGeom>
          <a:noFill/>
        </p:spPr>
        <p:txBody>
          <a:bodyPr wrap="none" lIns="0" rIns="0" tIns="0" bIns="0" anchor="t">
            <a:spAutoFit/>
          </a:bodyPr>
          <a:lstStyle/>
          <a:p>
            <a:pPr algn="l">
              <a:lnSpc>
                <a:spcPct val="100000"/>
              </a:lnSpc>
              <a:spcBef>
                <a:spcPts val="0"/>
              </a:spcBef>
              <a:spcAft>
                <a:spcPts val="0"/>
              </a:spcAft>
            </a:pPr>
            <a:r>
              <a:rPr sz="1612" b="1" i="0" lang="en-US" spc="0">
                <a:solidFill>
                  <a:srgbClr val="181818"/>
                </a:solidFill>
                <a:latin typeface="DejaVu Sans"/>
                <a:ea typeface="DejaVu Sans"/>
              </a:rPr>
              <a:t>Host</a:t>
            </a:r>
          </a:p>
        </p:txBody>
      </p:sp>
      <p:sp>
        <p:nvSpPr>
          <p:cNvPr id="12" name="rect 11"/>
          <p:cNvSpPr/>
          <p:nvPr/>
        </p:nvSpPr>
        <p:spPr>
          <a:xfrm>
            <a:off x="1558095" y="1558095"/>
            <a:ext cx="468160" cy="321860"/>
          </a:xfrm>
          <a:prstGeom prst="roundRect">
            <a:avLst>
              <a:gd name="adj" fmla="val 2272"/>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p0"/>
          <p:cNvSpPr txBox="1"/>
          <p:nvPr/>
        </p:nvSpPr>
        <p:spPr>
          <a:xfrm>
            <a:off x="1639860" y="1628612"/>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p0</a:t>
            </a:r>
          </a:p>
        </p:txBody>
      </p:sp>
      <p:sp>
        <p:nvSpPr>
          <p:cNvPr id="14" name="rect 13"/>
          <p:cNvSpPr/>
          <p:nvPr/>
        </p:nvSpPr>
        <p:spPr>
          <a:xfrm>
            <a:off x="1558095" y="2165240"/>
            <a:ext cx="468160" cy="321860"/>
          </a:xfrm>
          <a:prstGeom prst="roundRect">
            <a:avLst>
              <a:gd name="adj" fmla="val 2272"/>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p0"/>
          <p:cNvSpPr txBox="1"/>
          <p:nvPr/>
        </p:nvSpPr>
        <p:spPr>
          <a:xfrm>
            <a:off x="1639860" y="2235757"/>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p0</a:t>
            </a:r>
          </a:p>
        </p:txBody>
      </p:sp>
      <p:sp>
        <p:nvSpPr>
          <p:cNvPr id="16" name="rect 15"/>
          <p:cNvSpPr/>
          <p:nvPr/>
        </p:nvSpPr>
        <p:spPr>
          <a:xfrm>
            <a:off x="2187185" y="1558095"/>
            <a:ext cx="468160" cy="321860"/>
          </a:xfrm>
          <a:prstGeom prst="roundRect">
            <a:avLst>
              <a:gd name="adj" fmla="val 2272"/>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p1"/>
          <p:cNvSpPr txBox="1"/>
          <p:nvPr/>
        </p:nvSpPr>
        <p:spPr>
          <a:xfrm>
            <a:off x="2268950" y="1628612"/>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p1</a:t>
            </a:r>
          </a:p>
        </p:txBody>
      </p:sp>
      <p:sp>
        <p:nvSpPr>
          <p:cNvPr id="18" name="rect 17"/>
          <p:cNvSpPr/>
          <p:nvPr/>
        </p:nvSpPr>
        <p:spPr>
          <a:xfrm>
            <a:off x="2187185" y="2165240"/>
            <a:ext cx="468160" cy="321860"/>
          </a:xfrm>
          <a:prstGeom prst="roundRect">
            <a:avLst>
              <a:gd name="adj" fmla="val 2272"/>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p1"/>
          <p:cNvSpPr txBox="1"/>
          <p:nvPr/>
        </p:nvSpPr>
        <p:spPr>
          <a:xfrm>
            <a:off x="2268950" y="2235757"/>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p1</a:t>
            </a:r>
          </a:p>
        </p:txBody>
      </p:sp>
      <p:sp>
        <p:nvSpPr>
          <p:cNvPr id="20" name="rect 19"/>
          <p:cNvSpPr/>
          <p:nvPr/>
        </p:nvSpPr>
        <p:spPr>
          <a:xfrm>
            <a:off x="2816275" y="1558095"/>
            <a:ext cx="468160" cy="321860"/>
          </a:xfrm>
          <a:prstGeom prst="roundRect">
            <a:avLst>
              <a:gd name="adj" fmla="val 2272"/>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p2"/>
          <p:cNvSpPr txBox="1"/>
          <p:nvPr/>
        </p:nvSpPr>
        <p:spPr>
          <a:xfrm>
            <a:off x="2898040" y="1628612"/>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p2</a:t>
            </a:r>
          </a:p>
        </p:txBody>
      </p:sp>
      <p:sp>
        <p:nvSpPr>
          <p:cNvPr id="22" name="rect 21"/>
          <p:cNvSpPr/>
          <p:nvPr/>
        </p:nvSpPr>
        <p:spPr>
          <a:xfrm>
            <a:off x="2816275" y="2165240"/>
            <a:ext cx="468160" cy="321860"/>
          </a:xfrm>
          <a:prstGeom prst="roundRect">
            <a:avLst>
              <a:gd name="adj" fmla="val 2272"/>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p2"/>
          <p:cNvSpPr txBox="1"/>
          <p:nvPr/>
        </p:nvSpPr>
        <p:spPr>
          <a:xfrm>
            <a:off x="2898040" y="2235757"/>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p2</a:t>
            </a:r>
          </a:p>
        </p:txBody>
      </p:sp>
      <p:sp>
        <p:nvSpPr>
          <p:cNvPr id="24" name="rect 23"/>
          <p:cNvSpPr/>
          <p:nvPr/>
        </p:nvSpPr>
        <p:spPr>
          <a:xfrm>
            <a:off x="3445365" y="1558095"/>
            <a:ext cx="468160" cy="321860"/>
          </a:xfrm>
          <a:prstGeom prst="roundRect">
            <a:avLst>
              <a:gd name="adj" fmla="val 2272"/>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p3"/>
          <p:cNvSpPr txBox="1"/>
          <p:nvPr/>
        </p:nvSpPr>
        <p:spPr>
          <a:xfrm>
            <a:off x="3527130" y="1628612"/>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p3</a:t>
            </a:r>
          </a:p>
        </p:txBody>
      </p:sp>
      <p:sp>
        <p:nvSpPr>
          <p:cNvPr id="26" name="rect 25"/>
          <p:cNvSpPr/>
          <p:nvPr/>
        </p:nvSpPr>
        <p:spPr>
          <a:xfrm>
            <a:off x="3445365" y="2165240"/>
            <a:ext cx="468160" cy="321860"/>
          </a:xfrm>
          <a:prstGeom prst="roundRect">
            <a:avLst>
              <a:gd name="adj" fmla="val 2272"/>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p3"/>
          <p:cNvSpPr txBox="1"/>
          <p:nvPr/>
        </p:nvSpPr>
        <p:spPr>
          <a:xfrm>
            <a:off x="3527130" y="2235757"/>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p3</a:t>
            </a:r>
          </a:p>
        </p:txBody>
      </p:sp>
      <p:sp>
        <p:nvSpPr>
          <p:cNvPr id="28" name="rect 27"/>
          <p:cNvSpPr/>
          <p:nvPr/>
        </p:nvSpPr>
        <p:spPr>
          <a:xfrm>
            <a:off x="4074455" y="1558095"/>
            <a:ext cx="468160" cy="321860"/>
          </a:xfrm>
          <a:prstGeom prst="roundRect">
            <a:avLst>
              <a:gd name="adj" fmla="val 2272"/>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p4"/>
          <p:cNvSpPr txBox="1"/>
          <p:nvPr/>
        </p:nvSpPr>
        <p:spPr>
          <a:xfrm>
            <a:off x="4156220" y="1628612"/>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p4</a:t>
            </a:r>
          </a:p>
        </p:txBody>
      </p:sp>
      <p:sp>
        <p:nvSpPr>
          <p:cNvPr id="30" name="rect 29"/>
          <p:cNvSpPr/>
          <p:nvPr/>
        </p:nvSpPr>
        <p:spPr>
          <a:xfrm>
            <a:off x="4074455" y="2165240"/>
            <a:ext cx="468160" cy="321860"/>
          </a:xfrm>
          <a:prstGeom prst="roundRect">
            <a:avLst>
              <a:gd name="adj" fmla="val 2272"/>
            </a:avLst>
          </a:prstGeom>
          <a:solidFill>
            <a:srgbClr val="FFFFFF"/>
          </a:solidFill>
          <a:ln w="13167">
            <a:solidFill>
              <a:srgbClr val="969696"/>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p4"/>
          <p:cNvSpPr txBox="1"/>
          <p:nvPr/>
        </p:nvSpPr>
        <p:spPr>
          <a:xfrm>
            <a:off x="4156220" y="2235757"/>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p4</a:t>
            </a:r>
          </a:p>
        </p:txBody>
      </p:sp>
      <p:cxnSp>
        <p:nvCxnSpPr>
          <p:cNvPr id="32" name="path 31"/>
          <p:cNvCxnSpPr/>
          <p:nvPr/>
        </p:nvCxnSpPr>
        <p:spPr>
          <a:xfrm>
            <a:off x="4308535" y="1894585"/>
            <a:ext cx="0" cy="234080"/>
          </a:xfrm>
          <a:prstGeom prst="line">
            <a:avLst/>
          </a:prstGeom>
          <a:ln w="14630">
            <a:solidFill>
              <a:srgbClr val="BF3335"/>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33" name="rect 32"/>
          <p:cNvSpPr/>
          <p:nvPr/>
        </p:nvSpPr>
        <p:spPr>
          <a:xfrm>
            <a:off x="4703545" y="1558095"/>
            <a:ext cx="468160" cy="321860"/>
          </a:xfrm>
          <a:prstGeom prst="roundRect">
            <a:avLst>
              <a:gd name="adj" fmla="val 2272"/>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p5"/>
          <p:cNvSpPr txBox="1"/>
          <p:nvPr/>
        </p:nvSpPr>
        <p:spPr>
          <a:xfrm>
            <a:off x="4785310" y="1628612"/>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p5</a:t>
            </a:r>
          </a:p>
        </p:txBody>
      </p:sp>
      <p:sp>
        <p:nvSpPr>
          <p:cNvPr id="35" name="rect 34"/>
          <p:cNvSpPr/>
          <p:nvPr/>
        </p:nvSpPr>
        <p:spPr>
          <a:xfrm>
            <a:off x="4703545" y="2165240"/>
            <a:ext cx="468160" cy="321860"/>
          </a:xfrm>
          <a:prstGeom prst="roundRect">
            <a:avLst>
              <a:gd name="adj" fmla="val 2272"/>
            </a:avLst>
          </a:prstGeom>
          <a:solidFill>
            <a:srgbClr val="FFFFFF"/>
          </a:solidFill>
          <a:ln w="13167">
            <a:solidFill>
              <a:srgbClr val="969696"/>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p5"/>
          <p:cNvSpPr txBox="1"/>
          <p:nvPr/>
        </p:nvSpPr>
        <p:spPr>
          <a:xfrm>
            <a:off x="4785310" y="2235757"/>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p5</a:t>
            </a:r>
          </a:p>
        </p:txBody>
      </p:sp>
      <p:cxnSp>
        <p:nvCxnSpPr>
          <p:cNvPr id="37" name="path 36"/>
          <p:cNvCxnSpPr/>
          <p:nvPr/>
        </p:nvCxnSpPr>
        <p:spPr>
          <a:xfrm>
            <a:off x="4937625" y="1894585"/>
            <a:ext cx="0" cy="234080"/>
          </a:xfrm>
          <a:prstGeom prst="line">
            <a:avLst/>
          </a:prstGeom>
          <a:ln w="14630">
            <a:solidFill>
              <a:srgbClr val="BF3335"/>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38" name="rect 37"/>
          <p:cNvSpPr/>
          <p:nvPr/>
        </p:nvSpPr>
        <p:spPr>
          <a:xfrm>
            <a:off x="5332635" y="1558095"/>
            <a:ext cx="468160" cy="321860"/>
          </a:xfrm>
          <a:prstGeom prst="roundRect">
            <a:avLst>
              <a:gd name="adj" fmla="val 2272"/>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p6"/>
          <p:cNvSpPr txBox="1"/>
          <p:nvPr/>
        </p:nvSpPr>
        <p:spPr>
          <a:xfrm>
            <a:off x="5414400" y="1628612"/>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p6</a:t>
            </a:r>
          </a:p>
        </p:txBody>
      </p:sp>
      <p:sp>
        <p:nvSpPr>
          <p:cNvPr id="40" name="rect 39"/>
          <p:cNvSpPr/>
          <p:nvPr/>
        </p:nvSpPr>
        <p:spPr>
          <a:xfrm>
            <a:off x="5332635" y="2165240"/>
            <a:ext cx="468160" cy="321860"/>
          </a:xfrm>
          <a:prstGeom prst="roundRect">
            <a:avLst>
              <a:gd name="adj" fmla="val 2272"/>
            </a:avLst>
          </a:prstGeom>
          <a:solidFill>
            <a:srgbClr val="FFFFFF"/>
          </a:solidFill>
          <a:ln w="13167">
            <a:solidFill>
              <a:srgbClr val="969696"/>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p6"/>
          <p:cNvSpPr txBox="1"/>
          <p:nvPr/>
        </p:nvSpPr>
        <p:spPr>
          <a:xfrm>
            <a:off x="5414400" y="2235757"/>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p6</a:t>
            </a:r>
          </a:p>
        </p:txBody>
      </p:sp>
      <p:cxnSp>
        <p:nvCxnSpPr>
          <p:cNvPr id="42" name="path 41"/>
          <p:cNvCxnSpPr/>
          <p:nvPr/>
        </p:nvCxnSpPr>
        <p:spPr>
          <a:xfrm>
            <a:off x="5566715" y="1894585"/>
            <a:ext cx="0" cy="234080"/>
          </a:xfrm>
          <a:prstGeom prst="line">
            <a:avLst/>
          </a:prstGeom>
          <a:ln w="14630">
            <a:solidFill>
              <a:srgbClr val="BF3335"/>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43" name="rect 42"/>
          <p:cNvSpPr/>
          <p:nvPr/>
        </p:nvSpPr>
        <p:spPr>
          <a:xfrm>
            <a:off x="5961725" y="1558095"/>
            <a:ext cx="468160" cy="321860"/>
          </a:xfrm>
          <a:prstGeom prst="roundRect">
            <a:avLst>
              <a:gd name="adj" fmla="val 2272"/>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p7"/>
          <p:cNvSpPr txBox="1"/>
          <p:nvPr/>
        </p:nvSpPr>
        <p:spPr>
          <a:xfrm>
            <a:off x="6043490" y="1628612"/>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p7</a:t>
            </a:r>
          </a:p>
        </p:txBody>
      </p:sp>
      <p:sp>
        <p:nvSpPr>
          <p:cNvPr id="45" name="rect 44"/>
          <p:cNvSpPr/>
          <p:nvPr/>
        </p:nvSpPr>
        <p:spPr>
          <a:xfrm>
            <a:off x="5961725" y="2165240"/>
            <a:ext cx="468160" cy="321860"/>
          </a:xfrm>
          <a:prstGeom prst="roundRect">
            <a:avLst>
              <a:gd name="adj" fmla="val 2272"/>
            </a:avLst>
          </a:prstGeom>
          <a:solidFill>
            <a:srgbClr val="FFFFFF"/>
          </a:solidFill>
          <a:ln w="13167">
            <a:solidFill>
              <a:srgbClr val="969696"/>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p7"/>
          <p:cNvSpPr txBox="1"/>
          <p:nvPr/>
        </p:nvSpPr>
        <p:spPr>
          <a:xfrm>
            <a:off x="6043490" y="2235757"/>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p7</a:t>
            </a:r>
          </a:p>
        </p:txBody>
      </p:sp>
      <p:cxnSp>
        <p:nvCxnSpPr>
          <p:cNvPr id="47" name="path 46"/>
          <p:cNvCxnSpPr/>
          <p:nvPr/>
        </p:nvCxnSpPr>
        <p:spPr>
          <a:xfrm>
            <a:off x="6195805" y="1894585"/>
            <a:ext cx="0" cy="234080"/>
          </a:xfrm>
          <a:prstGeom prst="line">
            <a:avLst/>
          </a:prstGeom>
          <a:ln w="14630">
            <a:solidFill>
              <a:srgbClr val="BF3335"/>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48" name="ΔFULL"/>
          <p:cNvSpPr txBox="1"/>
          <p:nvPr/>
        </p:nvSpPr>
        <p:spPr>
          <a:xfrm>
            <a:off x="7080920" y="1914701"/>
            <a:ext cx="685581" cy="241395"/>
          </a:xfrm>
          <a:prstGeom prst="rect">
            <a:avLst/>
          </a:prstGeom>
          <a:noFill/>
        </p:spPr>
        <p:txBody>
          <a:bodyPr wrap="none" lIns="0" rIns="0" tIns="0" bIns="0" anchor="t">
            <a:spAutoFit/>
          </a:bodyPr>
          <a:lstStyle/>
          <a:p>
            <a:pPr algn="l">
              <a:lnSpc>
                <a:spcPct val="100000"/>
              </a:lnSpc>
              <a:spcBef>
                <a:spcPts val="0"/>
              </a:spcBef>
              <a:spcAft>
                <a:spcPts val="0"/>
              </a:spcAft>
            </a:pPr>
            <a:r>
              <a:rPr sz="1497" b="0" i="0" lang="en-US" spc="0">
                <a:solidFill>
                  <a:srgbClr val="181818"/>
                </a:solidFill>
                <a:latin typeface="Liberation Serif"/>
                <a:ea typeface="Liberation Serif"/>
              </a:rPr>
              <a:t>ΔFULL</a:t>
            </a:r>
          </a:p>
        </p:txBody>
      </p:sp>
      <p:sp>
        <p:nvSpPr>
          <p:cNvPr id="49" name="rect 48"/>
          <p:cNvSpPr/>
          <p:nvPr/>
        </p:nvSpPr>
        <p:spPr>
          <a:xfrm>
            <a:off x="658350" y="2648030"/>
            <a:ext cx="124355" cy="87780"/>
          </a:xfrm>
          <a:prstGeom prst="roundRect">
            <a:avLst>
              <a:gd name="adj" fmla="val 8333"/>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rect 49"/>
          <p:cNvSpPr/>
          <p:nvPr/>
        </p:nvSpPr>
        <p:spPr>
          <a:xfrm>
            <a:off x="819280" y="2648030"/>
            <a:ext cx="124355" cy="87780"/>
          </a:xfrm>
          <a:prstGeom prst="roundRect">
            <a:avLst>
              <a:gd name="adj" fmla="val 8333"/>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rect 50"/>
          <p:cNvSpPr/>
          <p:nvPr/>
        </p:nvSpPr>
        <p:spPr>
          <a:xfrm>
            <a:off x="980210" y="2648030"/>
            <a:ext cx="124355" cy="87780"/>
          </a:xfrm>
          <a:prstGeom prst="roundRect">
            <a:avLst>
              <a:gd name="adj" fmla="val 8333"/>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HBM"/>
          <p:cNvSpPr txBox="1"/>
          <p:nvPr/>
        </p:nvSpPr>
        <p:spPr>
          <a:xfrm>
            <a:off x="1280125" y="2673632"/>
            <a:ext cx="458045" cy="217621"/>
          </a:xfrm>
          <a:prstGeom prst="rect">
            <a:avLst/>
          </a:prstGeom>
          <a:noFill/>
        </p:spPr>
        <p:txBody>
          <a:bodyPr wrap="none" lIns="0" rIns="0" tIns="0" bIns="0" anchor="t">
            <a:spAutoFit/>
          </a:bodyPr>
          <a:lstStyle/>
          <a:p>
            <a:pPr algn="l">
              <a:lnSpc>
                <a:spcPct val="100000"/>
              </a:lnSpc>
              <a:spcBef>
                <a:spcPts val="0"/>
              </a:spcBef>
              <a:spcAft>
                <a:spcPts val="0"/>
              </a:spcAft>
            </a:pPr>
            <a:r>
              <a:rPr sz="1267" b="0" i="0" lang="en-US" spc="0">
                <a:solidFill>
                  <a:srgbClr val="181818"/>
                </a:solidFill>
                <a:latin typeface="DejaVu Sans"/>
                <a:ea typeface="DejaVu Sans"/>
              </a:rPr>
              <a:t>HBM</a:t>
            </a:r>
          </a:p>
        </p:txBody>
      </p:sp>
      <p:sp>
        <p:nvSpPr>
          <p:cNvPr id="53" name="rect 52"/>
          <p:cNvSpPr/>
          <p:nvPr/>
        </p:nvSpPr>
        <p:spPr>
          <a:xfrm>
            <a:off x="3284435" y="2648030"/>
            <a:ext cx="124355" cy="87780"/>
          </a:xfrm>
          <a:prstGeom prst="roundRect">
            <a:avLst>
              <a:gd name="adj" fmla="val 8333"/>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rect 53"/>
          <p:cNvSpPr/>
          <p:nvPr/>
        </p:nvSpPr>
        <p:spPr>
          <a:xfrm>
            <a:off x="3445365" y="2648030"/>
            <a:ext cx="124355" cy="87780"/>
          </a:xfrm>
          <a:prstGeom prst="roundRect">
            <a:avLst>
              <a:gd name="adj" fmla="val 8333"/>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rect 54"/>
          <p:cNvSpPr/>
          <p:nvPr/>
        </p:nvSpPr>
        <p:spPr>
          <a:xfrm>
            <a:off x="3606295" y="2648030"/>
            <a:ext cx="124355" cy="87780"/>
          </a:xfrm>
          <a:prstGeom prst="roundRect">
            <a:avLst>
              <a:gd name="adj" fmla="val 8333"/>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rect 55"/>
          <p:cNvSpPr/>
          <p:nvPr/>
        </p:nvSpPr>
        <p:spPr>
          <a:xfrm>
            <a:off x="3284435" y="2757755"/>
            <a:ext cx="124355" cy="87780"/>
          </a:xfrm>
          <a:prstGeom prst="roundRect">
            <a:avLst>
              <a:gd name="adj" fmla="val 8333"/>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rect 56"/>
          <p:cNvSpPr/>
          <p:nvPr/>
        </p:nvSpPr>
        <p:spPr>
          <a:xfrm>
            <a:off x="3445365" y="2757755"/>
            <a:ext cx="124355" cy="87780"/>
          </a:xfrm>
          <a:prstGeom prst="roundRect">
            <a:avLst>
              <a:gd name="adj" fmla="val 8333"/>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rect 57"/>
          <p:cNvSpPr/>
          <p:nvPr/>
        </p:nvSpPr>
        <p:spPr>
          <a:xfrm>
            <a:off x="3606295" y="2757755"/>
            <a:ext cx="124355" cy="87780"/>
          </a:xfrm>
          <a:prstGeom prst="roundRect">
            <a:avLst>
              <a:gd name="adj" fmla="val 8333"/>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HBM + Host"/>
          <p:cNvSpPr txBox="1"/>
          <p:nvPr/>
        </p:nvSpPr>
        <p:spPr>
          <a:xfrm>
            <a:off x="3906210" y="2673632"/>
            <a:ext cx="1061589" cy="217621"/>
          </a:xfrm>
          <a:prstGeom prst="rect">
            <a:avLst/>
          </a:prstGeom>
          <a:noFill/>
        </p:spPr>
        <p:txBody>
          <a:bodyPr wrap="none" lIns="0" rIns="0" tIns="0" bIns="0" anchor="t">
            <a:spAutoFit/>
          </a:bodyPr>
          <a:lstStyle/>
          <a:p>
            <a:pPr algn="l">
              <a:lnSpc>
                <a:spcPct val="100000"/>
              </a:lnSpc>
              <a:spcBef>
                <a:spcPts val="0"/>
              </a:spcBef>
              <a:spcAft>
                <a:spcPts val="0"/>
              </a:spcAft>
            </a:pPr>
            <a:r>
              <a:rPr sz="1267" b="0" i="0" lang="en-US" spc="0">
                <a:solidFill>
                  <a:srgbClr val="181818"/>
                </a:solidFill>
                <a:latin typeface="DejaVu Sans"/>
                <a:ea typeface="DejaVu Sans"/>
              </a:rPr>
              <a:t>HBM + Host</a:t>
            </a:r>
          </a:p>
        </p:txBody>
      </p:sp>
      <p:sp>
        <p:nvSpPr>
          <p:cNvPr id="60" name="rect 59"/>
          <p:cNvSpPr/>
          <p:nvPr/>
        </p:nvSpPr>
        <p:spPr>
          <a:xfrm>
            <a:off x="6144600" y="2648030"/>
            <a:ext cx="124355" cy="87780"/>
          </a:xfrm>
          <a:prstGeom prst="roundRect">
            <a:avLst>
              <a:gd name="adj" fmla="val 8333"/>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1" name="rect 60"/>
          <p:cNvSpPr/>
          <p:nvPr/>
        </p:nvSpPr>
        <p:spPr>
          <a:xfrm>
            <a:off x="6305530" y="2648030"/>
            <a:ext cx="124355" cy="87780"/>
          </a:xfrm>
          <a:prstGeom prst="roundRect">
            <a:avLst>
              <a:gd name="adj" fmla="val 8333"/>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2" name="rect 61"/>
          <p:cNvSpPr/>
          <p:nvPr/>
        </p:nvSpPr>
        <p:spPr>
          <a:xfrm>
            <a:off x="6466460" y="2648030"/>
            <a:ext cx="124355" cy="87780"/>
          </a:xfrm>
          <a:prstGeom prst="roundRect">
            <a:avLst>
              <a:gd name="adj" fmla="val 8333"/>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Host-only"/>
          <p:cNvSpPr txBox="1"/>
          <p:nvPr/>
        </p:nvSpPr>
        <p:spPr>
          <a:xfrm>
            <a:off x="6766375" y="2673632"/>
            <a:ext cx="855684" cy="217621"/>
          </a:xfrm>
          <a:prstGeom prst="rect">
            <a:avLst/>
          </a:prstGeom>
          <a:noFill/>
        </p:spPr>
        <p:txBody>
          <a:bodyPr wrap="none" lIns="0" rIns="0" tIns="0" bIns="0" anchor="t">
            <a:spAutoFit/>
          </a:bodyPr>
          <a:lstStyle/>
          <a:p>
            <a:pPr algn="l">
              <a:lnSpc>
                <a:spcPct val="100000"/>
              </a:lnSpc>
              <a:spcBef>
                <a:spcPts val="0"/>
              </a:spcBef>
              <a:spcAft>
                <a:spcPts val="0"/>
              </a:spcAft>
            </a:pPr>
            <a:r>
              <a:rPr sz="1267" b="0" i="0" lang="en-US" spc="0">
                <a:solidFill>
                  <a:srgbClr val="181818"/>
                </a:solidFill>
                <a:latin typeface="DejaVu Sans"/>
                <a:ea typeface="DejaVu Sans"/>
              </a:rPr>
              <a:t>Host-only</a:t>
            </a:r>
          </a:p>
        </p:txBody>
      </p:sp>
      <p:cxnSp>
        <p:nvCxnSpPr>
          <p:cNvPr id="64" name="path 63"/>
          <p:cNvCxnSpPr/>
          <p:nvPr/>
        </p:nvCxnSpPr>
        <p:spPr>
          <a:xfrm>
            <a:off x="1953105" y="2765070"/>
            <a:ext cx="1250865" cy="0"/>
          </a:xfrm>
          <a:prstGeom prst="line">
            <a:avLst/>
          </a:prstGeom>
          <a:ln w="19019">
            <a:solidFill>
              <a:srgbClr val="BF3335"/>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65" name="prepare"/>
          <p:cNvSpPr txBox="1"/>
          <p:nvPr/>
        </p:nvSpPr>
        <p:spPr>
          <a:xfrm>
            <a:off x="2245705" y="2518189"/>
            <a:ext cx="657093" cy="201162"/>
          </a:xfrm>
          <a:prstGeom prst="rect">
            <a:avLst/>
          </a:prstGeom>
          <a:noFill/>
        </p:spPr>
        <p:txBody>
          <a:bodyPr wrap="none" lIns="0" rIns="0" tIns="0" bIns="0" anchor="t">
            <a:spAutoFit/>
          </a:bodyPr>
          <a:lstStyle/>
          <a:p>
            <a:pPr algn="l">
              <a:lnSpc>
                <a:spcPct val="100000"/>
              </a:lnSpc>
              <a:spcBef>
                <a:spcPts val="0"/>
              </a:spcBef>
              <a:spcAft>
                <a:spcPts val="0"/>
              </a:spcAft>
            </a:pPr>
            <a:r>
              <a:rPr sz="1152" b="0" i="0" lang="en-US" spc="0">
                <a:solidFill>
                  <a:srgbClr val="181818"/>
                </a:solidFill>
                <a:latin typeface="DejaVu Sans"/>
                <a:ea typeface="DejaVu Sans"/>
              </a:rPr>
              <a:t>prepare</a:t>
            </a:r>
          </a:p>
        </p:txBody>
      </p:sp>
      <p:cxnSp>
        <p:nvCxnSpPr>
          <p:cNvPr id="66" name="path 65"/>
          <p:cNvCxnSpPr/>
          <p:nvPr/>
        </p:nvCxnSpPr>
        <p:spPr>
          <a:xfrm>
            <a:off x="5149760" y="2765070"/>
            <a:ext cx="899745" cy="0"/>
          </a:xfrm>
          <a:prstGeom prst="line">
            <a:avLst/>
          </a:prstGeom>
          <a:ln w="19019">
            <a:solidFill>
              <a:srgbClr val="BF3335"/>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67" name="pressure"/>
          <p:cNvSpPr txBox="1"/>
          <p:nvPr/>
        </p:nvSpPr>
        <p:spPr>
          <a:xfrm>
            <a:off x="5252170" y="2518189"/>
            <a:ext cx="719756" cy="201162"/>
          </a:xfrm>
          <a:prstGeom prst="rect">
            <a:avLst/>
          </a:prstGeom>
          <a:noFill/>
        </p:spPr>
        <p:txBody>
          <a:bodyPr wrap="none" lIns="0" rIns="0" tIns="0" bIns="0" anchor="t">
            <a:spAutoFit/>
          </a:bodyPr>
          <a:lstStyle/>
          <a:p>
            <a:pPr algn="l">
              <a:lnSpc>
                <a:spcPct val="100000"/>
              </a:lnSpc>
              <a:spcBef>
                <a:spcPts val="0"/>
              </a:spcBef>
              <a:spcAft>
                <a:spcPts val="0"/>
              </a:spcAft>
            </a:pPr>
            <a:r>
              <a:rPr sz="1152" b="0" i="0" lang="en-US" spc="0">
                <a:solidFill>
                  <a:srgbClr val="181818"/>
                </a:solidFill>
                <a:latin typeface="DejaVu Sans"/>
                <a:ea typeface="DejaVu Sans"/>
              </a:rPr>
              <a:t>pressure</a:t>
            </a:r>
          </a:p>
        </p:txBody>
      </p:sp>
      <p:sp>
        <p:nvSpPr>
          <p:cNvPr id="68" name="rect 67"/>
          <p:cNvSpPr/>
          <p:nvPr/>
        </p:nvSpPr>
        <p:spPr>
          <a:xfrm>
            <a:off x="8192800" y="965580"/>
            <a:ext cx="4681600" cy="2084775"/>
          </a:xfrm>
          <a:prstGeom prst="roundRect">
            <a:avLst>
              <a:gd name="adj" fmla="val 2105"/>
            </a:avLst>
          </a:prstGeom>
          <a:solidFill>
            <a:srgbClr val="EEEEEE"/>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rect 68"/>
          <p:cNvSpPr/>
          <p:nvPr/>
        </p:nvSpPr>
        <p:spPr>
          <a:xfrm>
            <a:off x="8192800" y="965580"/>
            <a:ext cx="4681600" cy="351120"/>
          </a:xfrm>
          <a:prstGeom prst="roundRect">
            <a:avLst>
              <a:gd name="adj" fmla="val 12500"/>
            </a:avLst>
          </a:prstGeom>
          <a:solidFill>
            <a:srgbClr val="A9CEE8"/>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rect 69"/>
          <p:cNvSpPr/>
          <p:nvPr/>
        </p:nvSpPr>
        <p:spPr>
          <a:xfrm>
            <a:off x="8201578" y="1163085"/>
            <a:ext cx="4664044" cy="146300"/>
          </a:xfrm>
          <a:prstGeom prst="rect">
            <a:avLst/>
          </a:prstGeom>
          <a:solidFill>
            <a:srgbClr val="A9CE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71" name="line 70"/>
          <p:cNvCxnSpPr/>
          <p:nvPr/>
        </p:nvCxnSpPr>
        <p:spPr>
          <a:xfrm>
            <a:off x="8192800" y="1316700"/>
            <a:ext cx="4681600" cy="0"/>
          </a:xfrm>
          <a:prstGeom prst="line">
            <a:avLst/>
          </a:prstGeom>
          <a:ln w="12435">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72" name="(b) Required Mamba state"/>
          <p:cNvSpPr txBox="1"/>
          <p:nvPr/>
        </p:nvSpPr>
        <p:spPr>
          <a:xfrm>
            <a:off x="8339100" y="1016785"/>
            <a:ext cx="3116619" cy="268826"/>
          </a:xfrm>
          <a:prstGeom prst="rect">
            <a:avLst/>
          </a:prstGeom>
          <a:noFill/>
        </p:spPr>
        <p:txBody>
          <a:bodyPr wrap="none" lIns="0" rIns="0" tIns="0" bIns="0" anchor="t">
            <a:spAutoFit/>
          </a:bodyPr>
          <a:lstStyle/>
          <a:p>
            <a:pPr algn="l">
              <a:lnSpc>
                <a:spcPct val="100000"/>
              </a:lnSpc>
              <a:spcBef>
                <a:spcPts val="0"/>
              </a:spcBef>
              <a:spcAft>
                <a:spcPts val="0"/>
              </a:spcAft>
            </a:pPr>
            <a:r>
              <a:rPr sz="1612" b="1" i="0" lang="en-US" spc="0">
                <a:solidFill>
                  <a:srgbClr val="181818"/>
                </a:solidFill>
                <a:latin typeface="DejaVu Sans"/>
                <a:ea typeface="DejaVu Sans"/>
              </a:rPr>
              <a:t>(b) Required Mamba state</a:t>
            </a:r>
          </a:p>
        </p:txBody>
      </p:sp>
      <p:sp>
        <p:nvSpPr>
          <p:cNvPr id="73" name="rect 72"/>
          <p:cNvSpPr/>
          <p:nvPr/>
        </p:nvSpPr>
        <p:spPr>
          <a:xfrm>
            <a:off x="8496226" y="1581210"/>
            <a:ext cx="473866" cy="353900"/>
          </a:xfrm>
          <a:prstGeom prst="roundRect">
            <a:avLst>
              <a:gd name="adj" fmla="val 2066"/>
            </a:avLst>
          </a:prstGeom>
          <a:solidFill>
            <a:srgbClr val="DDDDDD"/>
          </a:solidFill>
          <a:ln w="10972">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rect 73"/>
          <p:cNvSpPr/>
          <p:nvPr/>
        </p:nvSpPr>
        <p:spPr>
          <a:xfrm>
            <a:off x="8454238" y="1617200"/>
            <a:ext cx="473866" cy="353900"/>
          </a:xfrm>
          <a:prstGeom prst="roundRect">
            <a:avLst>
              <a:gd name="adj" fmla="val 2066"/>
            </a:avLst>
          </a:prstGeom>
          <a:solidFill>
            <a:srgbClr val="DDDDDD"/>
          </a:solidFill>
          <a:ln w="10972">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rect 74"/>
          <p:cNvSpPr/>
          <p:nvPr/>
        </p:nvSpPr>
        <p:spPr>
          <a:xfrm>
            <a:off x="8412250" y="1653190"/>
            <a:ext cx="473866" cy="353900"/>
          </a:xfrm>
          <a:prstGeom prst="roundRect">
            <a:avLst>
              <a:gd name="adj" fmla="val 2066"/>
            </a:avLst>
          </a:prstGeom>
          <a:solidFill>
            <a:srgbClr val="DDDDDD"/>
          </a:solidFill>
          <a:ln w="10972">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rect 75"/>
          <p:cNvSpPr/>
          <p:nvPr/>
        </p:nvSpPr>
        <p:spPr>
          <a:xfrm>
            <a:off x="8472233" y="1713173"/>
            <a:ext cx="89974" cy="83976"/>
          </a:xfrm>
          <a:prstGeom prst="rect">
            <a:avLst/>
          </a:prstGeom>
          <a:solidFill>
            <a:srgbClr val="FFFFFF"/>
          </a:solidFill>
          <a:ln w="7315">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rect 76"/>
          <p:cNvSpPr/>
          <p:nvPr/>
        </p:nvSpPr>
        <p:spPr>
          <a:xfrm>
            <a:off x="8604196" y="1713173"/>
            <a:ext cx="89974" cy="83976"/>
          </a:xfrm>
          <a:prstGeom prst="rect">
            <a:avLst/>
          </a:prstGeom>
          <a:solidFill>
            <a:srgbClr val="FFFFFF"/>
          </a:solidFill>
          <a:ln w="7315">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rect 77"/>
          <p:cNvSpPr/>
          <p:nvPr/>
        </p:nvSpPr>
        <p:spPr>
          <a:xfrm>
            <a:off x="8736158" y="1713173"/>
            <a:ext cx="89974" cy="83976"/>
          </a:xfrm>
          <a:prstGeom prst="rect">
            <a:avLst/>
          </a:prstGeom>
          <a:solidFill>
            <a:srgbClr val="FFFFFF"/>
          </a:solidFill>
          <a:ln w="7315">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rect 78"/>
          <p:cNvSpPr/>
          <p:nvPr/>
        </p:nvSpPr>
        <p:spPr>
          <a:xfrm>
            <a:off x="8472233" y="1845136"/>
            <a:ext cx="89974" cy="83976"/>
          </a:xfrm>
          <a:prstGeom prst="rect">
            <a:avLst/>
          </a:prstGeom>
          <a:solidFill>
            <a:srgbClr val="FFFFFF"/>
          </a:solidFill>
          <a:ln w="7315">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rect 79"/>
          <p:cNvSpPr/>
          <p:nvPr/>
        </p:nvSpPr>
        <p:spPr>
          <a:xfrm>
            <a:off x="8604196" y="1845136"/>
            <a:ext cx="89974" cy="83976"/>
          </a:xfrm>
          <a:prstGeom prst="rect">
            <a:avLst/>
          </a:prstGeom>
          <a:solidFill>
            <a:srgbClr val="FFFFFF"/>
          </a:solidFill>
          <a:ln w="7315">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1" name="rect 80"/>
          <p:cNvSpPr/>
          <p:nvPr/>
        </p:nvSpPr>
        <p:spPr>
          <a:xfrm>
            <a:off x="8736158" y="1845136"/>
            <a:ext cx="89974" cy="83976"/>
          </a:xfrm>
          <a:prstGeom prst="rect">
            <a:avLst/>
          </a:prstGeom>
          <a:solidFill>
            <a:srgbClr val="FFFFFF"/>
          </a:solidFill>
          <a:ln w="7315">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 name="s"/>
          <p:cNvSpPr txBox="1"/>
          <p:nvPr/>
        </p:nvSpPr>
        <p:spPr>
          <a:xfrm>
            <a:off x="8575280" y="2042714"/>
            <a:ext cx="173188" cy="272484"/>
          </a:xfrm>
          <a:prstGeom prst="rect">
            <a:avLst/>
          </a:prstGeom>
          <a:noFill/>
        </p:spPr>
        <p:txBody>
          <a:bodyPr wrap="none" lIns="0" rIns="0" tIns="0" bIns="0" anchor="t">
            <a:spAutoFit/>
          </a:bodyPr>
          <a:lstStyle/>
          <a:p>
            <a:pPr algn="l">
              <a:lnSpc>
                <a:spcPct val="100000"/>
              </a:lnSpc>
              <a:spcBef>
                <a:spcPts val="0"/>
              </a:spcBef>
              <a:spcAft>
                <a:spcPts val="0"/>
              </a:spcAft>
            </a:pPr>
            <a:r>
              <a:rPr sz="1727" b="0" i="1" lang="en-US" spc="0">
                <a:solidFill>
                  <a:srgbClr val="969696"/>
                </a:solidFill>
                <a:latin typeface="Liberation Serif"/>
                <a:ea typeface="Liberation Serif"/>
              </a:rPr>
              <a:t>s</a:t>
            </a:r>
          </a:p>
        </p:txBody>
      </p:sp>
      <p:sp>
        <p:nvSpPr>
          <p:cNvPr id="83" name="0"/>
          <p:cNvSpPr txBox="1"/>
          <p:nvPr/>
        </p:nvSpPr>
        <p:spPr>
          <a:xfrm>
            <a:off x="8668004" y="2165240"/>
            <a:ext cx="159101" cy="188361"/>
          </a:xfrm>
          <a:prstGeom prst="rect">
            <a:avLst/>
          </a:prstGeom>
          <a:noFill/>
        </p:spPr>
        <p:txBody>
          <a:bodyPr wrap="none" lIns="0" rIns="0" tIns="0" bIns="0" anchor="t">
            <a:spAutoFit/>
          </a:bodyPr>
          <a:lstStyle/>
          <a:p>
            <a:pPr algn="l">
              <a:lnSpc>
                <a:spcPct val="100000"/>
              </a:lnSpc>
              <a:spcBef>
                <a:spcPts val="0"/>
              </a:spcBef>
              <a:spcAft>
                <a:spcPts val="0"/>
              </a:spcAft>
            </a:pPr>
            <a:r>
              <a:rPr sz="1123" b="0" i="0" lang="en-US" spc="0">
                <a:solidFill>
                  <a:srgbClr val="969696"/>
                </a:solidFill>
                <a:latin typeface="Liberation Serif"/>
                <a:ea typeface="Liberation Serif"/>
              </a:rPr>
              <a:t>0</a:t>
            </a:r>
          </a:p>
        </p:txBody>
      </p:sp>
      <p:sp>
        <p:nvSpPr>
          <p:cNvPr id="84" name="rect 83"/>
          <p:cNvSpPr/>
          <p:nvPr/>
        </p:nvSpPr>
        <p:spPr>
          <a:xfrm>
            <a:off x="9886076" y="1581210"/>
            <a:ext cx="473866" cy="353900"/>
          </a:xfrm>
          <a:prstGeom prst="roundRect">
            <a:avLst>
              <a:gd name="adj" fmla="val 2066"/>
            </a:avLst>
          </a:prstGeom>
          <a:solidFill>
            <a:srgbClr val="DDDDDD"/>
          </a:solidFill>
          <a:ln w="10972">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rect 84"/>
          <p:cNvSpPr/>
          <p:nvPr/>
        </p:nvSpPr>
        <p:spPr>
          <a:xfrm>
            <a:off x="9844088" y="1617200"/>
            <a:ext cx="473866" cy="353900"/>
          </a:xfrm>
          <a:prstGeom prst="roundRect">
            <a:avLst>
              <a:gd name="adj" fmla="val 2066"/>
            </a:avLst>
          </a:prstGeom>
          <a:solidFill>
            <a:srgbClr val="DDDDDD"/>
          </a:solidFill>
          <a:ln w="10972">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6" name="rect 85"/>
          <p:cNvSpPr/>
          <p:nvPr/>
        </p:nvSpPr>
        <p:spPr>
          <a:xfrm>
            <a:off x="9802100" y="1653190"/>
            <a:ext cx="473866" cy="353900"/>
          </a:xfrm>
          <a:prstGeom prst="roundRect">
            <a:avLst>
              <a:gd name="adj" fmla="val 2066"/>
            </a:avLst>
          </a:prstGeom>
          <a:solidFill>
            <a:srgbClr val="DDDDDD"/>
          </a:solidFill>
          <a:ln w="10972">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rect 86"/>
          <p:cNvSpPr/>
          <p:nvPr/>
        </p:nvSpPr>
        <p:spPr>
          <a:xfrm>
            <a:off x="9862083" y="1713173"/>
            <a:ext cx="89974" cy="83976"/>
          </a:xfrm>
          <a:prstGeom prst="rect">
            <a:avLst/>
          </a:prstGeom>
          <a:solidFill>
            <a:srgbClr val="FFFFFF"/>
          </a:solidFill>
          <a:ln w="7315">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8" name="rect 87"/>
          <p:cNvSpPr/>
          <p:nvPr/>
        </p:nvSpPr>
        <p:spPr>
          <a:xfrm>
            <a:off x="9994046" y="1713173"/>
            <a:ext cx="89974" cy="83976"/>
          </a:xfrm>
          <a:prstGeom prst="rect">
            <a:avLst/>
          </a:prstGeom>
          <a:solidFill>
            <a:srgbClr val="FFFFFF"/>
          </a:solidFill>
          <a:ln w="7315">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rect 88"/>
          <p:cNvSpPr/>
          <p:nvPr/>
        </p:nvSpPr>
        <p:spPr>
          <a:xfrm>
            <a:off x="10126008" y="1713173"/>
            <a:ext cx="89974" cy="83976"/>
          </a:xfrm>
          <a:prstGeom prst="rect">
            <a:avLst/>
          </a:prstGeom>
          <a:solidFill>
            <a:srgbClr val="FFFFFF"/>
          </a:solidFill>
          <a:ln w="7315">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0" name="rect 89"/>
          <p:cNvSpPr/>
          <p:nvPr/>
        </p:nvSpPr>
        <p:spPr>
          <a:xfrm>
            <a:off x="9862083" y="1845136"/>
            <a:ext cx="89974" cy="83976"/>
          </a:xfrm>
          <a:prstGeom prst="rect">
            <a:avLst/>
          </a:prstGeom>
          <a:solidFill>
            <a:srgbClr val="FFFFFF"/>
          </a:solidFill>
          <a:ln w="7315">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1" name="rect 90"/>
          <p:cNvSpPr/>
          <p:nvPr/>
        </p:nvSpPr>
        <p:spPr>
          <a:xfrm>
            <a:off x="9994046" y="1845136"/>
            <a:ext cx="89974" cy="83976"/>
          </a:xfrm>
          <a:prstGeom prst="rect">
            <a:avLst/>
          </a:prstGeom>
          <a:solidFill>
            <a:srgbClr val="FFFFFF"/>
          </a:solidFill>
          <a:ln w="7315">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2" name="rect 91"/>
          <p:cNvSpPr/>
          <p:nvPr/>
        </p:nvSpPr>
        <p:spPr>
          <a:xfrm>
            <a:off x="10126008" y="1845136"/>
            <a:ext cx="89974" cy="83976"/>
          </a:xfrm>
          <a:prstGeom prst="rect">
            <a:avLst/>
          </a:prstGeom>
          <a:solidFill>
            <a:srgbClr val="FFFFFF"/>
          </a:solidFill>
          <a:ln w="7315">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3" name="s"/>
          <p:cNvSpPr txBox="1"/>
          <p:nvPr/>
        </p:nvSpPr>
        <p:spPr>
          <a:xfrm>
            <a:off x="9965130" y="2042714"/>
            <a:ext cx="173188" cy="272484"/>
          </a:xfrm>
          <a:prstGeom prst="rect">
            <a:avLst/>
          </a:prstGeom>
          <a:noFill/>
        </p:spPr>
        <p:txBody>
          <a:bodyPr wrap="none" lIns="0" rIns="0" tIns="0" bIns="0" anchor="t">
            <a:spAutoFit/>
          </a:bodyPr>
          <a:lstStyle/>
          <a:p>
            <a:pPr algn="l">
              <a:lnSpc>
                <a:spcPct val="100000"/>
              </a:lnSpc>
              <a:spcBef>
                <a:spcPts val="0"/>
              </a:spcBef>
              <a:spcAft>
                <a:spcPts val="0"/>
              </a:spcAft>
            </a:pPr>
            <a:r>
              <a:rPr sz="1727" b="0" i="1" lang="en-US" spc="0">
                <a:solidFill>
                  <a:srgbClr val="969696"/>
                </a:solidFill>
                <a:latin typeface="Liberation Serif"/>
                <a:ea typeface="Liberation Serif"/>
              </a:rPr>
              <a:t>s</a:t>
            </a:r>
          </a:p>
        </p:txBody>
      </p:sp>
      <p:sp>
        <p:nvSpPr>
          <p:cNvPr id="94" name="1"/>
          <p:cNvSpPr txBox="1"/>
          <p:nvPr/>
        </p:nvSpPr>
        <p:spPr>
          <a:xfrm>
            <a:off x="10057854" y="2165240"/>
            <a:ext cx="159101" cy="188361"/>
          </a:xfrm>
          <a:prstGeom prst="rect">
            <a:avLst/>
          </a:prstGeom>
          <a:noFill/>
        </p:spPr>
        <p:txBody>
          <a:bodyPr wrap="none" lIns="0" rIns="0" tIns="0" bIns="0" anchor="t">
            <a:spAutoFit/>
          </a:bodyPr>
          <a:lstStyle/>
          <a:p>
            <a:pPr algn="l">
              <a:lnSpc>
                <a:spcPct val="100000"/>
              </a:lnSpc>
              <a:spcBef>
                <a:spcPts val="0"/>
              </a:spcBef>
              <a:spcAft>
                <a:spcPts val="0"/>
              </a:spcAft>
            </a:pPr>
            <a:r>
              <a:rPr sz="1123" b="0" i="0" lang="en-US" spc="0">
                <a:solidFill>
                  <a:srgbClr val="969696"/>
                </a:solidFill>
                <a:latin typeface="Liberation Serif"/>
                <a:ea typeface="Liberation Serif"/>
              </a:rPr>
              <a:t>1</a:t>
            </a:r>
          </a:p>
        </p:txBody>
      </p:sp>
      <p:sp>
        <p:nvSpPr>
          <p:cNvPr id="95" name="rect 94"/>
          <p:cNvSpPr/>
          <p:nvPr/>
        </p:nvSpPr>
        <p:spPr>
          <a:xfrm>
            <a:off x="11466116" y="1581210"/>
            <a:ext cx="473866" cy="353900"/>
          </a:xfrm>
          <a:prstGeom prst="roundRect">
            <a:avLst>
              <a:gd name="adj" fmla="val 2066"/>
            </a:avLst>
          </a:prstGeom>
          <a:solidFill>
            <a:srgbClr val="E9A6B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6" name="rect 95"/>
          <p:cNvSpPr/>
          <p:nvPr/>
        </p:nvSpPr>
        <p:spPr>
          <a:xfrm>
            <a:off x="11424128" y="1617200"/>
            <a:ext cx="473866" cy="353900"/>
          </a:xfrm>
          <a:prstGeom prst="roundRect">
            <a:avLst>
              <a:gd name="adj" fmla="val 2066"/>
            </a:avLst>
          </a:prstGeom>
          <a:solidFill>
            <a:srgbClr val="E9A6B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7" name="rect 96"/>
          <p:cNvSpPr/>
          <p:nvPr/>
        </p:nvSpPr>
        <p:spPr>
          <a:xfrm>
            <a:off x="11382140" y="1653190"/>
            <a:ext cx="473866" cy="353900"/>
          </a:xfrm>
          <a:prstGeom prst="roundRect">
            <a:avLst>
              <a:gd name="adj" fmla="val 2066"/>
            </a:avLst>
          </a:prstGeom>
          <a:solidFill>
            <a:srgbClr val="E9A6B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8" name="rect 97"/>
          <p:cNvSpPr/>
          <p:nvPr/>
        </p:nvSpPr>
        <p:spPr>
          <a:xfrm>
            <a:off x="11442123" y="1713173"/>
            <a:ext cx="89974" cy="8397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9" name="rect 98"/>
          <p:cNvSpPr/>
          <p:nvPr/>
        </p:nvSpPr>
        <p:spPr>
          <a:xfrm>
            <a:off x="11574086" y="1713173"/>
            <a:ext cx="89974" cy="8397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0" name="rect 99"/>
          <p:cNvSpPr/>
          <p:nvPr/>
        </p:nvSpPr>
        <p:spPr>
          <a:xfrm>
            <a:off x="11706048" y="1713173"/>
            <a:ext cx="89974" cy="8397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1" name="rect 100"/>
          <p:cNvSpPr/>
          <p:nvPr/>
        </p:nvSpPr>
        <p:spPr>
          <a:xfrm>
            <a:off x="11442123" y="1845136"/>
            <a:ext cx="89974" cy="8397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2" name="rect 101"/>
          <p:cNvSpPr/>
          <p:nvPr/>
        </p:nvSpPr>
        <p:spPr>
          <a:xfrm>
            <a:off x="11574086" y="1845136"/>
            <a:ext cx="89974" cy="8397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3" name="rect 102"/>
          <p:cNvSpPr/>
          <p:nvPr/>
        </p:nvSpPr>
        <p:spPr>
          <a:xfrm>
            <a:off x="11706048" y="1845136"/>
            <a:ext cx="89974" cy="8397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4" name="s"/>
          <p:cNvSpPr txBox="1"/>
          <p:nvPr/>
        </p:nvSpPr>
        <p:spPr>
          <a:xfrm>
            <a:off x="11545170" y="2042714"/>
            <a:ext cx="173188" cy="272484"/>
          </a:xfrm>
          <a:prstGeom prst="rect">
            <a:avLst/>
          </a:prstGeom>
          <a:noFill/>
        </p:spPr>
        <p:txBody>
          <a:bodyPr wrap="none" lIns="0" rIns="0" tIns="0" bIns="0" anchor="t">
            <a:spAutoFit/>
          </a:bodyPr>
          <a:lstStyle/>
          <a:p>
            <a:pPr algn="l">
              <a:lnSpc>
                <a:spcPct val="100000"/>
              </a:lnSpc>
              <a:spcBef>
                <a:spcPts val="0"/>
              </a:spcBef>
              <a:spcAft>
                <a:spcPts val="0"/>
              </a:spcAft>
            </a:pPr>
            <a:r>
              <a:rPr sz="1727" b="0" i="1" lang="en-US" spc="0">
                <a:solidFill>
                  <a:srgbClr val="181818"/>
                </a:solidFill>
                <a:latin typeface="Liberation Serif"/>
                <a:ea typeface="Liberation Serif"/>
              </a:rPr>
              <a:t>s</a:t>
            </a:r>
          </a:p>
        </p:txBody>
      </p:sp>
      <p:sp>
        <p:nvSpPr>
          <p:cNvPr id="105" name="*"/>
          <p:cNvSpPr txBox="1"/>
          <p:nvPr/>
        </p:nvSpPr>
        <p:spPr>
          <a:xfrm>
            <a:off x="11637894" y="1996263"/>
            <a:ext cx="159101" cy="188361"/>
          </a:xfrm>
          <a:prstGeom prst="rect">
            <a:avLst/>
          </a:prstGeom>
          <a:noFill/>
        </p:spPr>
        <p:txBody>
          <a:bodyPr wrap="none" lIns="0" rIns="0" tIns="0" bIns="0" anchor="t">
            <a:spAutoFit/>
          </a:bodyPr>
          <a:lstStyle/>
          <a:p>
            <a:pPr algn="l">
              <a:lnSpc>
                <a:spcPct val="100000"/>
              </a:lnSpc>
              <a:spcBef>
                <a:spcPts val="0"/>
              </a:spcBef>
              <a:spcAft>
                <a:spcPts val="0"/>
              </a:spcAft>
            </a:pPr>
            <a:r>
              <a:rPr sz="1123" b="0" i="0" lang="en-US" spc="0">
                <a:solidFill>
                  <a:srgbClr val="181818"/>
                </a:solidFill>
                <a:latin typeface="Liberation Serif"/>
                <a:ea typeface="Liberation Serif"/>
              </a:rPr>
              <a:t>*</a:t>
            </a:r>
          </a:p>
        </p:txBody>
      </p:sp>
      <p:cxnSp>
        <p:nvCxnSpPr>
          <p:cNvPr id="106" name="path 105"/>
          <p:cNvCxnSpPr/>
          <p:nvPr/>
        </p:nvCxnSpPr>
        <p:spPr>
          <a:xfrm>
            <a:off x="9019395" y="1821435"/>
            <a:ext cx="665665" cy="0"/>
          </a:xfrm>
          <a:prstGeom prst="line">
            <a:avLst/>
          </a:prstGeom>
          <a:ln w="14630">
            <a:solidFill>
              <a:srgbClr val="969696"/>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107" name="path 106"/>
          <p:cNvCxnSpPr/>
          <p:nvPr/>
        </p:nvCxnSpPr>
        <p:spPr>
          <a:xfrm>
            <a:off x="10416560" y="1821435"/>
            <a:ext cx="855855" cy="0"/>
          </a:xfrm>
          <a:prstGeom prst="line">
            <a:avLst/>
          </a:prstGeom>
          <a:ln w="14630">
            <a:solidFill>
              <a:srgbClr val="969696"/>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08" name="decode"/>
          <p:cNvSpPr txBox="1"/>
          <p:nvPr/>
        </p:nvSpPr>
        <p:spPr>
          <a:xfrm>
            <a:off x="10438505" y="1459342"/>
            <a:ext cx="650321" cy="208478"/>
          </a:xfrm>
          <a:prstGeom prst="rect">
            <a:avLst/>
          </a:prstGeom>
          <a:noFill/>
        </p:spPr>
        <p:txBody>
          <a:bodyPr wrap="none" lIns="0" rIns="0" tIns="0" bIns="0" anchor="t">
            <a:spAutoFit/>
          </a:bodyPr>
          <a:lstStyle/>
          <a:p>
            <a:pPr algn="l">
              <a:lnSpc>
                <a:spcPct val="100000"/>
              </a:lnSpc>
              <a:spcBef>
                <a:spcPts val="0"/>
              </a:spcBef>
              <a:spcAft>
                <a:spcPts val="0"/>
              </a:spcAft>
            </a:pPr>
            <a:r>
              <a:rPr sz="1209" b="0" i="0" lang="en-US" spc="0">
                <a:solidFill>
                  <a:srgbClr val="535353"/>
                </a:solidFill>
                <a:latin typeface="DejaVu Sans"/>
                <a:ea typeface="DejaVu Sans"/>
              </a:rPr>
              <a:t>decode</a:t>
            </a:r>
          </a:p>
        </p:txBody>
      </p:sp>
      <p:sp>
        <p:nvSpPr>
          <p:cNvPr id="109" name="c"/>
          <p:cNvSpPr txBox="1"/>
          <p:nvPr/>
        </p:nvSpPr>
        <p:spPr>
          <a:xfrm>
            <a:off x="12316346" y="1669649"/>
            <a:ext cx="191676" cy="290771"/>
          </a:xfrm>
          <a:prstGeom prst="rect">
            <a:avLst/>
          </a:prstGeom>
          <a:noFill/>
        </p:spPr>
        <p:txBody>
          <a:bodyPr wrap="none" lIns="0" rIns="0" tIns="0" bIns="0" anchor="t">
            <a:spAutoFit/>
          </a:bodyPr>
          <a:lstStyle/>
          <a:p>
            <a:pPr algn="l">
              <a:lnSpc>
                <a:spcPct val="100000"/>
              </a:lnSpc>
              <a:spcBef>
                <a:spcPts val="0"/>
              </a:spcBef>
              <a:spcAft>
                <a:spcPts val="0"/>
              </a:spcAft>
            </a:pPr>
            <a:r>
              <a:rPr sz="1843" b="0" i="1" lang="en-US" spc="0">
                <a:solidFill>
                  <a:srgbClr val="181818"/>
                </a:solidFill>
                <a:latin typeface="Liberation Serif"/>
                <a:ea typeface="Liberation Serif"/>
              </a:rPr>
              <a:t>c</a:t>
            </a:r>
          </a:p>
        </p:txBody>
      </p:sp>
      <p:sp>
        <p:nvSpPr>
          <p:cNvPr id="110" name="*"/>
          <p:cNvSpPr txBox="1"/>
          <p:nvPr/>
        </p:nvSpPr>
        <p:spPr>
          <a:xfrm>
            <a:off x="12427556" y="1622906"/>
            <a:ext cx="163673" cy="197505"/>
          </a:xfrm>
          <a:prstGeom prst="rect">
            <a:avLst/>
          </a:prstGeom>
          <a:noFill/>
        </p:spPr>
        <p:txBody>
          <a:bodyPr wrap="none" lIns="0" rIns="0" tIns="0" bIns="0" anchor="t">
            <a:spAutoFit/>
          </a:bodyPr>
          <a:lstStyle/>
          <a:p>
            <a:pPr algn="l">
              <a:lnSpc>
                <a:spcPct val="100000"/>
              </a:lnSpc>
              <a:spcBef>
                <a:spcPts val="0"/>
              </a:spcBef>
              <a:spcAft>
                <a:spcPts val="0"/>
              </a:spcAft>
            </a:pPr>
            <a:r>
              <a:rPr sz="1198" b="0" i="0" lang="en-US" spc="0">
                <a:solidFill>
                  <a:srgbClr val="181818"/>
                </a:solidFill>
                <a:latin typeface="Liberation Serif"/>
                <a:ea typeface="Liberation Serif"/>
              </a:rPr>
              <a:t>*</a:t>
            </a:r>
          </a:p>
        </p:txBody>
      </p:sp>
      <p:cxnSp>
        <p:nvCxnSpPr>
          <p:cNvPr id="111" name="line 110"/>
          <p:cNvCxnSpPr/>
          <p:nvPr/>
        </p:nvCxnSpPr>
        <p:spPr>
          <a:xfrm>
            <a:off x="11996600" y="1828750"/>
            <a:ext cx="204820" cy="0"/>
          </a:xfrm>
          <a:prstGeom prst="line">
            <a:avLst/>
          </a:prstGeom>
          <a:ln w="11704">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12" name="PREPARE"/>
          <p:cNvSpPr txBox="1"/>
          <p:nvPr/>
        </p:nvSpPr>
        <p:spPr>
          <a:xfrm>
            <a:off x="8397620" y="2629742"/>
            <a:ext cx="874200" cy="235909"/>
          </a:xfrm>
          <a:prstGeom prst="rect">
            <a:avLst/>
          </a:prstGeom>
          <a:noFill/>
        </p:spPr>
        <p:txBody>
          <a:bodyPr wrap="none" lIns="0" rIns="0" tIns="0" bIns="0" anchor="t">
            <a:spAutoFit/>
          </a:bodyPr>
          <a:lstStyle/>
          <a:p>
            <a:pPr algn="l">
              <a:lnSpc>
                <a:spcPct val="100000"/>
              </a:lnSpc>
              <a:spcBef>
                <a:spcPts val="0"/>
              </a:spcBef>
              <a:spcAft>
                <a:spcPts val="0"/>
              </a:spcAft>
            </a:pPr>
            <a:r>
              <a:rPr sz="1382" b="0" i="0" lang="en-US" spc="0">
                <a:solidFill>
                  <a:srgbClr val="535353"/>
                </a:solidFill>
                <a:latin typeface="DejaVu Sans"/>
                <a:ea typeface="DejaVu Sans"/>
              </a:rPr>
              <a:t>PREPARE</a:t>
            </a:r>
          </a:p>
        </p:txBody>
      </p:sp>
      <p:cxnSp>
        <p:nvCxnSpPr>
          <p:cNvPr id="113" name="line 112"/>
          <p:cNvCxnSpPr/>
          <p:nvPr/>
        </p:nvCxnSpPr>
        <p:spPr>
          <a:xfrm>
            <a:off x="9509500" y="2611455"/>
            <a:ext cx="175560" cy="175560"/>
          </a:xfrm>
          <a:prstGeom prst="line">
            <a:avLst/>
          </a:prstGeom>
          <a:ln w="20482">
            <a:solidFill>
              <a:srgbClr val="BF3335"/>
            </a:solidFill>
          </a:ln>
          <a:effectLst/>
        </p:spPr>
        <p:style>
          <a:lnRef idx="2">
            <a:schemeClr val="accent1"/>
          </a:lnRef>
          <a:fillRef idx="0">
            <a:schemeClr val="accent1"/>
          </a:fillRef>
          <a:effectRef idx="0">
            <a:schemeClr val="accent1"/>
          </a:effectRef>
          <a:fontRef idx="minor">
            <a:schemeClr val="tx1"/>
          </a:fontRef>
        </p:style>
      </p:cxnSp>
      <p:cxnSp>
        <p:nvCxnSpPr>
          <p:cNvPr id="114" name="line 113"/>
          <p:cNvCxnSpPr/>
          <p:nvPr/>
        </p:nvCxnSpPr>
        <p:spPr>
          <a:xfrm flipV="1">
            <a:off x="9509500" y="2611455"/>
            <a:ext cx="175560" cy="175560"/>
          </a:xfrm>
          <a:prstGeom prst="line">
            <a:avLst/>
          </a:prstGeom>
          <a:ln w="20482">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115" name="rect 114"/>
          <p:cNvSpPr/>
          <p:nvPr/>
        </p:nvSpPr>
        <p:spPr>
          <a:xfrm>
            <a:off x="11443586" y="2536842"/>
            <a:ext cx="346731" cy="258951"/>
          </a:xfrm>
          <a:prstGeom prst="roundRect">
            <a:avLst>
              <a:gd name="adj" fmla="val 2824"/>
            </a:avLst>
          </a:prstGeom>
          <a:solidFill>
            <a:srgbClr val="E9A6B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6" name="rect 115"/>
          <p:cNvSpPr/>
          <p:nvPr/>
        </p:nvSpPr>
        <p:spPr>
          <a:xfrm>
            <a:off x="11412863" y="2563176"/>
            <a:ext cx="346731" cy="258951"/>
          </a:xfrm>
          <a:prstGeom prst="roundRect">
            <a:avLst>
              <a:gd name="adj" fmla="val 2824"/>
            </a:avLst>
          </a:prstGeom>
          <a:solidFill>
            <a:srgbClr val="E9A6B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7" name="rect 116"/>
          <p:cNvSpPr/>
          <p:nvPr/>
        </p:nvSpPr>
        <p:spPr>
          <a:xfrm>
            <a:off x="11382140" y="2589510"/>
            <a:ext cx="346731" cy="258951"/>
          </a:xfrm>
          <a:prstGeom prst="roundRect">
            <a:avLst>
              <a:gd name="adj" fmla="val 2824"/>
            </a:avLst>
          </a:prstGeom>
          <a:solidFill>
            <a:srgbClr val="E9A6B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8" name="rect 117"/>
          <p:cNvSpPr/>
          <p:nvPr/>
        </p:nvSpPr>
        <p:spPr>
          <a:xfrm>
            <a:off x="11426030" y="2633400"/>
            <a:ext cx="65835" cy="6144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9" name="rect 118"/>
          <p:cNvSpPr/>
          <p:nvPr/>
        </p:nvSpPr>
        <p:spPr>
          <a:xfrm>
            <a:off x="11522588" y="2633400"/>
            <a:ext cx="65835" cy="6144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0" name="rect 119"/>
          <p:cNvSpPr/>
          <p:nvPr/>
        </p:nvSpPr>
        <p:spPr>
          <a:xfrm>
            <a:off x="11619146" y="2633400"/>
            <a:ext cx="65835" cy="6144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1" name="rect 120"/>
          <p:cNvSpPr/>
          <p:nvPr/>
        </p:nvSpPr>
        <p:spPr>
          <a:xfrm>
            <a:off x="11426030" y="2729958"/>
            <a:ext cx="65835" cy="6144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2" name="rect 121"/>
          <p:cNvSpPr/>
          <p:nvPr/>
        </p:nvSpPr>
        <p:spPr>
          <a:xfrm>
            <a:off x="11522588" y="2729958"/>
            <a:ext cx="65835" cy="6144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3" name="rect 122"/>
          <p:cNvSpPr/>
          <p:nvPr/>
        </p:nvSpPr>
        <p:spPr>
          <a:xfrm>
            <a:off x="11619146" y="2729958"/>
            <a:ext cx="65835" cy="6144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4" name="Host"/>
          <p:cNvSpPr txBox="1"/>
          <p:nvPr/>
        </p:nvSpPr>
        <p:spPr>
          <a:xfrm>
            <a:off x="10241000" y="2697406"/>
            <a:ext cx="562712" cy="243224"/>
          </a:xfrm>
          <a:prstGeom prst="rect">
            <a:avLst/>
          </a:prstGeom>
          <a:noFill/>
        </p:spPr>
        <p:txBody>
          <a:bodyPr wrap="none" lIns="0" rIns="0" tIns="0" bIns="0" anchor="t">
            <a:spAutoFit/>
          </a:bodyPr>
          <a:lstStyle/>
          <a:p>
            <a:pPr algn="l">
              <a:lnSpc>
                <a:spcPct val="100000"/>
              </a:lnSpc>
              <a:spcBef>
                <a:spcPts val="0"/>
              </a:spcBef>
              <a:spcAft>
                <a:spcPts val="0"/>
              </a:spcAft>
            </a:pPr>
            <a:r>
              <a:rPr sz="1439" b="1" i="0" lang="en-US" spc="0">
                <a:solidFill>
                  <a:srgbClr val="181818"/>
                </a:solidFill>
                <a:latin typeface="DejaVu Sans"/>
                <a:ea typeface="DejaVu Sans"/>
              </a:rPr>
              <a:t>Host</a:t>
            </a:r>
          </a:p>
        </p:txBody>
      </p:sp>
      <p:cxnSp>
        <p:nvCxnSpPr>
          <p:cNvPr id="125" name="path 124"/>
          <p:cNvCxnSpPr/>
          <p:nvPr/>
        </p:nvCxnSpPr>
        <p:spPr>
          <a:xfrm flipV="1">
            <a:off x="11557700" y="2318855"/>
            <a:ext cx="0" cy="182875"/>
          </a:xfrm>
          <a:prstGeom prst="line">
            <a:avLst/>
          </a:prstGeom>
          <a:ln w="14630">
            <a:solidFill>
              <a:srgbClr val="BF3335"/>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26" name="H2D"/>
          <p:cNvSpPr txBox="1"/>
          <p:nvPr/>
        </p:nvSpPr>
        <p:spPr>
          <a:xfrm>
            <a:off x="11945395" y="2520018"/>
            <a:ext cx="435100" cy="217621"/>
          </a:xfrm>
          <a:prstGeom prst="rect">
            <a:avLst/>
          </a:prstGeom>
          <a:noFill/>
        </p:spPr>
        <p:txBody>
          <a:bodyPr wrap="none" lIns="0" rIns="0" tIns="0" bIns="0" anchor="t">
            <a:spAutoFit/>
          </a:bodyPr>
          <a:lstStyle/>
          <a:p>
            <a:pPr algn="l">
              <a:lnSpc>
                <a:spcPct val="100000"/>
              </a:lnSpc>
              <a:spcBef>
                <a:spcPts val="0"/>
              </a:spcBef>
              <a:spcAft>
                <a:spcPts val="0"/>
              </a:spcAft>
            </a:pPr>
            <a:r>
              <a:rPr sz="1267" b="0" i="0" lang="en-US" spc="0">
                <a:solidFill>
                  <a:srgbClr val="181818"/>
                </a:solidFill>
                <a:latin typeface="DejaVu Sans"/>
                <a:ea typeface="DejaVu Sans"/>
              </a:rPr>
              <a:t>H2D</a:t>
            </a:r>
          </a:p>
        </p:txBody>
      </p:sp>
      <p:sp>
        <p:nvSpPr>
          <p:cNvPr id="127" name="rect 126"/>
          <p:cNvSpPr/>
          <p:nvPr/>
        </p:nvSpPr>
        <p:spPr>
          <a:xfrm>
            <a:off x="292600" y="3357585"/>
            <a:ext cx="12581800" cy="2384690"/>
          </a:xfrm>
          <a:prstGeom prst="roundRect">
            <a:avLst>
              <a:gd name="adj" fmla="val 1840"/>
            </a:avLst>
          </a:prstGeom>
          <a:solidFill>
            <a:srgbClr val="EEEEEE"/>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8" name="rect 127"/>
          <p:cNvSpPr/>
          <p:nvPr/>
        </p:nvSpPr>
        <p:spPr>
          <a:xfrm>
            <a:off x="292600" y="3357585"/>
            <a:ext cx="12581800" cy="351120"/>
          </a:xfrm>
          <a:prstGeom prst="roundRect">
            <a:avLst>
              <a:gd name="adj" fmla="val 12500"/>
            </a:avLst>
          </a:prstGeom>
          <a:solidFill>
            <a:srgbClr val="A9CEE8"/>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9" name="rect 128"/>
          <p:cNvSpPr/>
          <p:nvPr/>
        </p:nvSpPr>
        <p:spPr>
          <a:xfrm>
            <a:off x="301378" y="3555090"/>
            <a:ext cx="12564244" cy="146300"/>
          </a:xfrm>
          <a:prstGeom prst="rect">
            <a:avLst/>
          </a:prstGeom>
          <a:solidFill>
            <a:srgbClr val="A9CE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30" name="line 129"/>
          <p:cNvCxnSpPr/>
          <p:nvPr/>
        </p:nvCxnSpPr>
        <p:spPr>
          <a:xfrm>
            <a:off x="292600" y="3708705"/>
            <a:ext cx="12581800" cy="0"/>
          </a:xfrm>
          <a:prstGeom prst="line">
            <a:avLst/>
          </a:prstGeom>
          <a:ln w="12435">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31" name="(c) Safe-input checkpoint → missing pages → native layer pipeline"/>
          <p:cNvSpPr txBox="1"/>
          <p:nvPr/>
        </p:nvSpPr>
        <p:spPr>
          <a:xfrm>
            <a:off x="438900" y="3408790"/>
            <a:ext cx="7661920" cy="268826"/>
          </a:xfrm>
          <a:prstGeom prst="rect">
            <a:avLst/>
          </a:prstGeom>
          <a:noFill/>
        </p:spPr>
        <p:txBody>
          <a:bodyPr wrap="none" lIns="0" rIns="0" tIns="0" bIns="0" anchor="t">
            <a:spAutoFit/>
          </a:bodyPr>
          <a:lstStyle/>
          <a:p>
            <a:pPr algn="l">
              <a:lnSpc>
                <a:spcPct val="100000"/>
              </a:lnSpc>
              <a:spcBef>
                <a:spcPts val="0"/>
              </a:spcBef>
              <a:spcAft>
                <a:spcPts val="0"/>
              </a:spcAft>
            </a:pPr>
            <a:r>
              <a:rPr sz="1612" b="1" i="0" lang="en-US" spc="0">
                <a:solidFill>
                  <a:srgbClr val="181818"/>
                </a:solidFill>
                <a:latin typeface="DejaVu Sans"/>
                <a:ea typeface="DejaVu Sans"/>
              </a:rPr>
              <a:t>(c) Safe-input checkpoint → missing pages → native layer pipeline</a:t>
            </a:r>
          </a:p>
        </p:txBody>
      </p:sp>
      <p:sp>
        <p:nvSpPr>
          <p:cNvPr id="132" name="Native radix tree"/>
          <p:cNvSpPr txBox="1"/>
          <p:nvPr/>
        </p:nvSpPr>
        <p:spPr>
          <a:xfrm>
            <a:off x="490105" y="3858662"/>
            <a:ext cx="1765801" cy="235909"/>
          </a:xfrm>
          <a:prstGeom prst="rect">
            <a:avLst/>
          </a:prstGeom>
          <a:noFill/>
        </p:spPr>
        <p:txBody>
          <a:bodyPr wrap="none" lIns="0" rIns="0" tIns="0" bIns="0" anchor="t">
            <a:spAutoFit/>
          </a:bodyPr>
          <a:lstStyle/>
          <a:p>
            <a:pPr algn="l">
              <a:lnSpc>
                <a:spcPct val="100000"/>
              </a:lnSpc>
              <a:spcBef>
                <a:spcPts val="0"/>
              </a:spcBef>
              <a:spcAft>
                <a:spcPts val="0"/>
              </a:spcAft>
            </a:pPr>
            <a:r>
              <a:rPr sz="1382" b="1" i="0" lang="en-US" spc="0">
                <a:solidFill>
                  <a:srgbClr val="181818"/>
                </a:solidFill>
                <a:latin typeface="DejaVu Sans"/>
                <a:ea typeface="DejaVu Sans"/>
              </a:rPr>
              <a:t>Native radix tree</a:t>
            </a:r>
          </a:p>
        </p:txBody>
      </p:sp>
      <p:sp>
        <p:nvSpPr>
          <p:cNvPr id="133" name="rect 132"/>
          <p:cNvSpPr/>
          <p:nvPr/>
        </p:nvSpPr>
        <p:spPr>
          <a:xfrm>
            <a:off x="592515" y="4425575"/>
            <a:ext cx="409640" cy="314545"/>
          </a:xfrm>
          <a:prstGeom prst="roundRect">
            <a:avLst>
              <a:gd name="adj" fmla="val 2325"/>
            </a:avLst>
          </a:prstGeom>
          <a:solidFill>
            <a:srgbClr val="DDDDD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p0"/>
          <p:cNvSpPr txBox="1"/>
          <p:nvPr/>
        </p:nvSpPr>
        <p:spPr>
          <a:xfrm>
            <a:off x="645020" y="4492434"/>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p0</a:t>
            </a:r>
          </a:p>
        </p:txBody>
      </p:sp>
      <p:sp>
        <p:nvSpPr>
          <p:cNvPr id="135" name="rect 134"/>
          <p:cNvSpPr/>
          <p:nvPr/>
        </p:nvSpPr>
        <p:spPr>
          <a:xfrm>
            <a:off x="1594670" y="4132975"/>
            <a:ext cx="409640" cy="314545"/>
          </a:xfrm>
          <a:prstGeom prst="roundRect">
            <a:avLst>
              <a:gd name="adj" fmla="val 2325"/>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6" name="p1"/>
          <p:cNvSpPr txBox="1"/>
          <p:nvPr/>
        </p:nvSpPr>
        <p:spPr>
          <a:xfrm>
            <a:off x="1647175" y="4199834"/>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p1</a:t>
            </a:r>
          </a:p>
        </p:txBody>
      </p:sp>
      <p:sp>
        <p:nvSpPr>
          <p:cNvPr id="137" name="rect 136"/>
          <p:cNvSpPr/>
          <p:nvPr/>
        </p:nvSpPr>
        <p:spPr>
          <a:xfrm>
            <a:off x="2560250" y="4425575"/>
            <a:ext cx="409640" cy="314545"/>
          </a:xfrm>
          <a:prstGeom prst="roundRect">
            <a:avLst>
              <a:gd name="adj" fmla="val 2325"/>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8" name="p5"/>
          <p:cNvSpPr txBox="1"/>
          <p:nvPr/>
        </p:nvSpPr>
        <p:spPr>
          <a:xfrm>
            <a:off x="2612755" y="4492434"/>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p5</a:t>
            </a:r>
          </a:p>
        </p:txBody>
      </p:sp>
      <p:sp>
        <p:nvSpPr>
          <p:cNvPr id="139" name="rect 138"/>
          <p:cNvSpPr/>
          <p:nvPr/>
        </p:nvSpPr>
        <p:spPr>
          <a:xfrm>
            <a:off x="1594670" y="4988830"/>
            <a:ext cx="409640" cy="314545"/>
          </a:xfrm>
          <a:prstGeom prst="roundRect">
            <a:avLst>
              <a:gd name="adj" fmla="val 2325"/>
            </a:avLst>
          </a:prstGeom>
          <a:solidFill>
            <a:srgbClr val="DDDDDD"/>
          </a:solidFill>
          <a:ln w="13167">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0" name="g"/>
          <p:cNvSpPr txBox="1"/>
          <p:nvPr/>
        </p:nvSpPr>
        <p:spPr>
          <a:xfrm>
            <a:off x="1700623" y="5055689"/>
            <a:ext cx="197734"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g</a:t>
            </a:r>
          </a:p>
        </p:txBody>
      </p:sp>
      <p:cxnSp>
        <p:nvCxnSpPr>
          <p:cNvPr id="141" name="path 140"/>
          <p:cNvCxnSpPr/>
          <p:nvPr/>
        </p:nvCxnSpPr>
        <p:spPr>
          <a:xfrm flipV="1">
            <a:off x="1009470" y="4315850"/>
            <a:ext cx="563255" cy="226765"/>
          </a:xfrm>
          <a:prstGeom prst="line">
            <a:avLst/>
          </a:prstGeom>
          <a:ln w="19019">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142" name="path 141"/>
          <p:cNvCxnSpPr/>
          <p:nvPr/>
        </p:nvCxnSpPr>
        <p:spPr>
          <a:xfrm>
            <a:off x="2011625" y="4315850"/>
            <a:ext cx="526680" cy="219450"/>
          </a:xfrm>
          <a:prstGeom prst="line">
            <a:avLst/>
          </a:prstGeom>
          <a:ln w="19019">
            <a:solidFill>
              <a:srgbClr val="BF3335"/>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143" name="path 142"/>
          <p:cNvCxnSpPr/>
          <p:nvPr/>
        </p:nvCxnSpPr>
        <p:spPr>
          <a:xfrm>
            <a:off x="958265" y="4747435"/>
            <a:ext cx="629090" cy="351120"/>
          </a:xfrm>
          <a:prstGeom prst="line">
            <a:avLst/>
          </a:prstGeom>
          <a:ln w="19019">
            <a:solidFill>
              <a:srgbClr val="969696"/>
            </a:solidFill>
            <a:prstDash val="dash"/>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144" name="line 143"/>
          <p:cNvCxnSpPr/>
          <p:nvPr/>
        </p:nvCxnSpPr>
        <p:spPr>
          <a:xfrm>
            <a:off x="2084775" y="5061980"/>
            <a:ext cx="146300" cy="146300"/>
          </a:xfrm>
          <a:prstGeom prst="line">
            <a:avLst/>
          </a:prstGeom>
          <a:ln w="20482">
            <a:solidFill>
              <a:srgbClr val="969696"/>
            </a:solidFill>
          </a:ln>
          <a:effectLst/>
        </p:spPr>
        <p:style>
          <a:lnRef idx="2">
            <a:schemeClr val="accent1"/>
          </a:lnRef>
          <a:fillRef idx="0">
            <a:schemeClr val="accent1"/>
          </a:fillRef>
          <a:effectRef idx="0">
            <a:schemeClr val="accent1"/>
          </a:effectRef>
          <a:fontRef idx="minor">
            <a:schemeClr val="tx1"/>
          </a:fontRef>
        </p:style>
      </p:cxnSp>
      <p:cxnSp>
        <p:nvCxnSpPr>
          <p:cNvPr id="145" name="line 144"/>
          <p:cNvCxnSpPr/>
          <p:nvPr/>
        </p:nvCxnSpPr>
        <p:spPr>
          <a:xfrm flipV="1">
            <a:off x="2084775" y="5061980"/>
            <a:ext cx="146300" cy="146300"/>
          </a:xfrm>
          <a:prstGeom prst="line">
            <a:avLst/>
          </a:prstGeom>
          <a:ln w="20482">
            <a:solidFill>
              <a:srgbClr val="969696"/>
            </a:solidFill>
          </a:ln>
          <a:effectLst/>
        </p:spPr>
        <p:style>
          <a:lnRef idx="2">
            <a:schemeClr val="accent1"/>
          </a:lnRef>
          <a:fillRef idx="0">
            <a:schemeClr val="accent1"/>
          </a:fillRef>
          <a:effectRef idx="0">
            <a:schemeClr val="accent1"/>
          </a:effectRef>
          <a:fontRef idx="minor">
            <a:schemeClr val="tx1"/>
          </a:fontRef>
        </p:style>
      </p:cxnSp>
      <p:sp>
        <p:nvSpPr>
          <p:cNvPr id="146" name="path 145"/>
          <p:cNvSpPr/>
          <p:nvPr/>
        </p:nvSpPr>
        <p:spPr>
          <a:xfrm>
            <a:off x="680295" y="4798640"/>
            <a:ext cx="65835" cy="51205"/>
          </a:xfrm>
          <a:custGeom>
            <a:avLst/>
            <a:gdLst/>
            <a:ahLst/>
            <a:cxnLst/>
            <a:rect l="l" t="t" r="r" b="b"/>
            <a:pathLst>
              <a:path w="9" h="7">
                <a:moveTo>
                  <a:pt x="0" y="7"/>
                </a:moveTo>
                <a:lnTo>
                  <a:pt x="0" y="0"/>
                </a:lnTo>
                <a:lnTo>
                  <a:pt x="9" y="0"/>
                </a:lnTo>
                <a:lnTo>
                  <a:pt x="9" y="7"/>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7" name="rect 146"/>
          <p:cNvSpPr/>
          <p:nvPr/>
        </p:nvSpPr>
        <p:spPr>
          <a:xfrm>
            <a:off x="658350" y="4853137"/>
            <a:ext cx="114114" cy="95095"/>
          </a:xfrm>
          <a:prstGeom prst="roundRect">
            <a:avLst>
              <a:gd name="adj" fmla="val 15384"/>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8" name="circle 147"/>
          <p:cNvSpPr/>
          <p:nvPr/>
        </p:nvSpPr>
        <p:spPr>
          <a:xfrm>
            <a:off x="705898" y="4881665"/>
            <a:ext cx="19019" cy="19019"/>
          </a:xfrm>
          <a:prstGeom prst="ellipse">
            <a:avLst/>
          </a:prstGeom>
          <a:solidFill>
            <a:srgbClr val="18181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c"/>
          <p:cNvSpPr txBox="1"/>
          <p:nvPr/>
        </p:nvSpPr>
        <p:spPr>
          <a:xfrm>
            <a:off x="2663089" y="4098229"/>
            <a:ext cx="188418" cy="281628"/>
          </a:xfrm>
          <a:prstGeom prst="rect">
            <a:avLst/>
          </a:prstGeom>
          <a:noFill/>
        </p:spPr>
        <p:txBody>
          <a:bodyPr wrap="none" lIns="0" rIns="0" tIns="0" bIns="0" anchor="t">
            <a:spAutoFit/>
          </a:bodyPr>
          <a:lstStyle/>
          <a:p>
            <a:pPr algn="l">
              <a:lnSpc>
                <a:spcPct val="100000"/>
              </a:lnSpc>
              <a:spcBef>
                <a:spcPts val="0"/>
              </a:spcBef>
              <a:spcAft>
                <a:spcPts val="0"/>
              </a:spcAft>
            </a:pPr>
            <a:r>
              <a:rPr sz="1785" b="0" i="1" lang="en-US" spc="0">
                <a:solidFill>
                  <a:srgbClr val="181818"/>
                </a:solidFill>
                <a:latin typeface="Liberation Serif"/>
                <a:ea typeface="Liberation Serif"/>
              </a:rPr>
              <a:t>c</a:t>
            </a:r>
          </a:p>
        </p:txBody>
      </p:sp>
      <p:sp>
        <p:nvSpPr>
          <p:cNvPr id="150" name="*"/>
          <p:cNvSpPr txBox="1"/>
          <p:nvPr/>
        </p:nvSpPr>
        <p:spPr>
          <a:xfrm>
            <a:off x="2771042" y="4049803"/>
            <a:ext cx="161844" cy="195676"/>
          </a:xfrm>
          <a:prstGeom prst="rect">
            <a:avLst/>
          </a:prstGeom>
          <a:noFill/>
        </p:spPr>
        <p:txBody>
          <a:bodyPr wrap="none" lIns="0" rIns="0" tIns="0" bIns="0" anchor="t">
            <a:spAutoFit/>
          </a:bodyPr>
          <a:lstStyle/>
          <a:p>
            <a:pPr algn="l">
              <a:lnSpc>
                <a:spcPct val="100000"/>
              </a:lnSpc>
              <a:spcBef>
                <a:spcPts val="0"/>
              </a:spcBef>
              <a:spcAft>
                <a:spcPts val="0"/>
              </a:spcAft>
            </a:pPr>
            <a:r>
              <a:rPr sz="1160" b="0" i="0" lang="en-US" spc="0">
                <a:solidFill>
                  <a:srgbClr val="181818"/>
                </a:solidFill>
                <a:latin typeface="Liberation Serif"/>
                <a:ea typeface="Liberation Serif"/>
              </a:rPr>
              <a:t>*</a:t>
            </a:r>
          </a:p>
        </p:txBody>
      </p:sp>
      <p:sp>
        <p:nvSpPr>
          <p:cNvPr id="151" name="session / epoch"/>
          <p:cNvSpPr txBox="1"/>
          <p:nvPr/>
        </p:nvSpPr>
        <p:spPr>
          <a:xfrm>
            <a:off x="490105" y="5358238"/>
            <a:ext cx="1386678" cy="226765"/>
          </a:xfrm>
          <a:prstGeom prst="rect">
            <a:avLst/>
          </a:prstGeom>
          <a:noFill/>
        </p:spPr>
        <p:txBody>
          <a:bodyPr wrap="none" lIns="0" rIns="0" tIns="0" bIns="0" anchor="t">
            <a:spAutoFit/>
          </a:bodyPr>
          <a:lstStyle/>
          <a:p>
            <a:pPr algn="l">
              <a:lnSpc>
                <a:spcPct val="100000"/>
              </a:lnSpc>
              <a:spcBef>
                <a:spcPts val="0"/>
              </a:spcBef>
              <a:spcAft>
                <a:spcPts val="0"/>
              </a:spcAft>
            </a:pPr>
            <a:r>
              <a:rPr sz="1324" b="0" i="0" lang="en-US" spc="0">
                <a:solidFill>
                  <a:srgbClr val="535353"/>
                </a:solidFill>
                <a:latin typeface="DejaVu Sans"/>
                <a:ea typeface="DejaVu Sans"/>
              </a:rPr>
              <a:t>session / epoch</a:t>
            </a:r>
          </a:p>
        </p:txBody>
      </p:sp>
      <p:cxnSp>
        <p:nvCxnSpPr>
          <p:cNvPr id="152" name="path 151"/>
          <p:cNvCxnSpPr/>
          <p:nvPr/>
        </p:nvCxnSpPr>
        <p:spPr>
          <a:xfrm>
            <a:off x="2991835" y="4571875"/>
            <a:ext cx="621775" cy="0"/>
          </a:xfrm>
          <a:prstGeom prst="line">
            <a:avLst/>
          </a:prstGeom>
          <a:ln w="19019">
            <a:solidFill>
              <a:srgbClr val="BF3335"/>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53" name="Host"/>
          <p:cNvSpPr txBox="1"/>
          <p:nvPr/>
        </p:nvSpPr>
        <p:spPr>
          <a:xfrm>
            <a:off x="3737965" y="3999476"/>
            <a:ext cx="581771" cy="252368"/>
          </a:xfrm>
          <a:prstGeom prst="rect">
            <a:avLst/>
          </a:prstGeom>
          <a:noFill/>
        </p:spPr>
        <p:txBody>
          <a:bodyPr wrap="none" lIns="0" rIns="0" tIns="0" bIns="0" anchor="t">
            <a:spAutoFit/>
          </a:bodyPr>
          <a:lstStyle/>
          <a:p>
            <a:pPr algn="l">
              <a:lnSpc>
                <a:spcPct val="100000"/>
              </a:lnSpc>
              <a:spcBef>
                <a:spcPts val="0"/>
              </a:spcBef>
              <a:spcAft>
                <a:spcPts val="0"/>
              </a:spcAft>
            </a:pPr>
            <a:r>
              <a:rPr sz="1497" b="1" i="0" lang="en-US" spc="0">
                <a:solidFill>
                  <a:srgbClr val="181818"/>
                </a:solidFill>
                <a:latin typeface="DejaVu Sans"/>
                <a:ea typeface="DejaVu Sans"/>
              </a:rPr>
              <a:t>Host</a:t>
            </a:r>
          </a:p>
        </p:txBody>
      </p:sp>
      <p:sp>
        <p:nvSpPr>
          <p:cNvPr id="154" name="HBM"/>
          <p:cNvSpPr txBox="1"/>
          <p:nvPr/>
        </p:nvSpPr>
        <p:spPr>
          <a:xfrm>
            <a:off x="3737965" y="4606621"/>
            <a:ext cx="581200" cy="252368"/>
          </a:xfrm>
          <a:prstGeom prst="rect">
            <a:avLst/>
          </a:prstGeom>
          <a:noFill/>
        </p:spPr>
        <p:txBody>
          <a:bodyPr wrap="none" lIns="0" rIns="0" tIns="0" bIns="0" anchor="t">
            <a:spAutoFit/>
          </a:bodyPr>
          <a:lstStyle/>
          <a:p>
            <a:pPr algn="l">
              <a:lnSpc>
                <a:spcPct val="100000"/>
              </a:lnSpc>
              <a:spcBef>
                <a:spcPts val="0"/>
              </a:spcBef>
              <a:spcAft>
                <a:spcPts val="0"/>
              </a:spcAft>
            </a:pPr>
            <a:r>
              <a:rPr sz="1497" b="1" i="0" lang="en-US" spc="0">
                <a:solidFill>
                  <a:srgbClr val="181818"/>
                </a:solidFill>
                <a:latin typeface="DejaVu Sans"/>
                <a:ea typeface="DejaVu Sans"/>
              </a:rPr>
              <a:t>HBM</a:t>
            </a:r>
          </a:p>
        </p:txBody>
      </p:sp>
      <p:sp>
        <p:nvSpPr>
          <p:cNvPr id="155" name="rect 154"/>
          <p:cNvSpPr/>
          <p:nvPr/>
        </p:nvSpPr>
        <p:spPr>
          <a:xfrm>
            <a:off x="4571875" y="3972045"/>
            <a:ext cx="373065" cy="307230"/>
          </a:xfrm>
          <a:prstGeom prst="roundRect">
            <a:avLst>
              <a:gd name="adj" fmla="val 2380"/>
            </a:avLst>
          </a:prstGeom>
          <a:solidFill>
            <a:srgbClr val="DDDDD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6" name="p0"/>
          <p:cNvSpPr txBox="1"/>
          <p:nvPr/>
        </p:nvSpPr>
        <p:spPr>
          <a:xfrm>
            <a:off x="4606093" y="4035247"/>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p0</a:t>
            </a:r>
          </a:p>
        </p:txBody>
      </p:sp>
      <p:sp>
        <p:nvSpPr>
          <p:cNvPr id="157" name="rect 156"/>
          <p:cNvSpPr/>
          <p:nvPr/>
        </p:nvSpPr>
        <p:spPr>
          <a:xfrm>
            <a:off x="4571875" y="4579190"/>
            <a:ext cx="373065" cy="307230"/>
          </a:xfrm>
          <a:prstGeom prst="roundRect">
            <a:avLst>
              <a:gd name="adj" fmla="val 2380"/>
            </a:avLst>
          </a:prstGeom>
          <a:solidFill>
            <a:srgbClr val="DDDDD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8" name="p0"/>
          <p:cNvSpPr txBox="1"/>
          <p:nvPr/>
        </p:nvSpPr>
        <p:spPr>
          <a:xfrm>
            <a:off x="4606093" y="4642392"/>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p0</a:t>
            </a:r>
          </a:p>
        </p:txBody>
      </p:sp>
      <p:sp>
        <p:nvSpPr>
          <p:cNvPr id="159" name="rect 158"/>
          <p:cNvSpPr/>
          <p:nvPr/>
        </p:nvSpPr>
        <p:spPr>
          <a:xfrm>
            <a:off x="5032720" y="3972045"/>
            <a:ext cx="373065" cy="307230"/>
          </a:xfrm>
          <a:prstGeom prst="roundRect">
            <a:avLst>
              <a:gd name="adj" fmla="val 238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0" name="p1"/>
          <p:cNvSpPr txBox="1"/>
          <p:nvPr/>
        </p:nvSpPr>
        <p:spPr>
          <a:xfrm>
            <a:off x="5066938" y="4035247"/>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p1</a:t>
            </a:r>
          </a:p>
        </p:txBody>
      </p:sp>
      <p:sp>
        <p:nvSpPr>
          <p:cNvPr id="161" name="rect 160"/>
          <p:cNvSpPr/>
          <p:nvPr/>
        </p:nvSpPr>
        <p:spPr>
          <a:xfrm>
            <a:off x="5032720" y="4579190"/>
            <a:ext cx="373065" cy="307230"/>
          </a:xfrm>
          <a:prstGeom prst="roundRect">
            <a:avLst>
              <a:gd name="adj" fmla="val 238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2" name="p1"/>
          <p:cNvSpPr txBox="1"/>
          <p:nvPr/>
        </p:nvSpPr>
        <p:spPr>
          <a:xfrm>
            <a:off x="5066938" y="4642392"/>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p1</a:t>
            </a:r>
          </a:p>
        </p:txBody>
      </p:sp>
      <p:sp>
        <p:nvSpPr>
          <p:cNvPr id="163" name="rect 162"/>
          <p:cNvSpPr/>
          <p:nvPr/>
        </p:nvSpPr>
        <p:spPr>
          <a:xfrm>
            <a:off x="5493565" y="3972045"/>
            <a:ext cx="373065" cy="307230"/>
          </a:xfrm>
          <a:prstGeom prst="roundRect">
            <a:avLst>
              <a:gd name="adj" fmla="val 238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4" name="p2"/>
          <p:cNvSpPr txBox="1"/>
          <p:nvPr/>
        </p:nvSpPr>
        <p:spPr>
          <a:xfrm>
            <a:off x="5527783" y="4035247"/>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p2</a:t>
            </a:r>
          </a:p>
        </p:txBody>
      </p:sp>
      <p:sp>
        <p:nvSpPr>
          <p:cNvPr id="165" name="rect 164"/>
          <p:cNvSpPr/>
          <p:nvPr/>
        </p:nvSpPr>
        <p:spPr>
          <a:xfrm>
            <a:off x="5493565" y="4579190"/>
            <a:ext cx="373065" cy="307230"/>
          </a:xfrm>
          <a:prstGeom prst="roundRect">
            <a:avLst>
              <a:gd name="adj" fmla="val 238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6" name="p2"/>
          <p:cNvSpPr txBox="1"/>
          <p:nvPr/>
        </p:nvSpPr>
        <p:spPr>
          <a:xfrm>
            <a:off x="5527783" y="4642392"/>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p2</a:t>
            </a:r>
          </a:p>
        </p:txBody>
      </p:sp>
      <p:cxnSp>
        <p:nvCxnSpPr>
          <p:cNvPr id="167" name="path 166"/>
          <p:cNvCxnSpPr/>
          <p:nvPr/>
        </p:nvCxnSpPr>
        <p:spPr>
          <a:xfrm>
            <a:off x="5676440" y="4308535"/>
            <a:ext cx="0" cy="226765"/>
          </a:xfrm>
          <a:prstGeom prst="line">
            <a:avLst/>
          </a:prstGeom>
          <a:ln w="14630">
            <a:solidFill>
              <a:srgbClr val="BF3335"/>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68" name="rect 167"/>
          <p:cNvSpPr/>
          <p:nvPr/>
        </p:nvSpPr>
        <p:spPr>
          <a:xfrm>
            <a:off x="5954410" y="3972045"/>
            <a:ext cx="373065" cy="307230"/>
          </a:xfrm>
          <a:prstGeom prst="roundRect">
            <a:avLst>
              <a:gd name="adj" fmla="val 238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9" name="p3"/>
          <p:cNvSpPr txBox="1"/>
          <p:nvPr/>
        </p:nvSpPr>
        <p:spPr>
          <a:xfrm>
            <a:off x="5988628" y="4035247"/>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p3</a:t>
            </a:r>
          </a:p>
        </p:txBody>
      </p:sp>
      <p:sp>
        <p:nvSpPr>
          <p:cNvPr id="170" name="rect 169"/>
          <p:cNvSpPr/>
          <p:nvPr/>
        </p:nvSpPr>
        <p:spPr>
          <a:xfrm>
            <a:off x="5954410" y="4579190"/>
            <a:ext cx="373065" cy="307230"/>
          </a:xfrm>
          <a:prstGeom prst="roundRect">
            <a:avLst>
              <a:gd name="adj" fmla="val 238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1" name="p3"/>
          <p:cNvSpPr txBox="1"/>
          <p:nvPr/>
        </p:nvSpPr>
        <p:spPr>
          <a:xfrm>
            <a:off x="5988628" y="4642392"/>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p3</a:t>
            </a:r>
          </a:p>
        </p:txBody>
      </p:sp>
      <p:cxnSp>
        <p:nvCxnSpPr>
          <p:cNvPr id="172" name="path 171"/>
          <p:cNvCxnSpPr/>
          <p:nvPr/>
        </p:nvCxnSpPr>
        <p:spPr>
          <a:xfrm>
            <a:off x="6137285" y="4308535"/>
            <a:ext cx="0" cy="226765"/>
          </a:xfrm>
          <a:prstGeom prst="line">
            <a:avLst/>
          </a:prstGeom>
          <a:ln w="14630">
            <a:solidFill>
              <a:srgbClr val="BF3335"/>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173" name="rect 172"/>
          <p:cNvSpPr/>
          <p:nvPr/>
        </p:nvSpPr>
        <p:spPr>
          <a:xfrm>
            <a:off x="6415255" y="3972045"/>
            <a:ext cx="373065" cy="307230"/>
          </a:xfrm>
          <a:prstGeom prst="roundRect">
            <a:avLst>
              <a:gd name="adj" fmla="val 238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4" name="p4"/>
          <p:cNvSpPr txBox="1"/>
          <p:nvPr/>
        </p:nvSpPr>
        <p:spPr>
          <a:xfrm>
            <a:off x="6449473" y="4035247"/>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p4</a:t>
            </a:r>
          </a:p>
        </p:txBody>
      </p:sp>
      <p:sp>
        <p:nvSpPr>
          <p:cNvPr id="175" name="rect 174"/>
          <p:cNvSpPr/>
          <p:nvPr/>
        </p:nvSpPr>
        <p:spPr>
          <a:xfrm>
            <a:off x="6415255" y="4579190"/>
            <a:ext cx="373065" cy="307230"/>
          </a:xfrm>
          <a:prstGeom prst="roundRect">
            <a:avLst>
              <a:gd name="adj" fmla="val 2380"/>
            </a:avLst>
          </a:prstGeom>
          <a:solidFill>
            <a:srgbClr val="FFFFFF"/>
          </a:solidFill>
          <a:ln w="13167">
            <a:solidFill>
              <a:srgbClr val="969696"/>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6" name="p4"/>
          <p:cNvSpPr txBox="1"/>
          <p:nvPr/>
        </p:nvSpPr>
        <p:spPr>
          <a:xfrm>
            <a:off x="6449473" y="4642392"/>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p4</a:t>
            </a:r>
          </a:p>
        </p:txBody>
      </p:sp>
      <p:sp>
        <p:nvSpPr>
          <p:cNvPr id="177" name="rect 176"/>
          <p:cNvSpPr/>
          <p:nvPr/>
        </p:nvSpPr>
        <p:spPr>
          <a:xfrm>
            <a:off x="6876100" y="3972045"/>
            <a:ext cx="373065" cy="307230"/>
          </a:xfrm>
          <a:prstGeom prst="roundRect">
            <a:avLst>
              <a:gd name="adj" fmla="val 238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8" name="p5"/>
          <p:cNvSpPr txBox="1"/>
          <p:nvPr/>
        </p:nvSpPr>
        <p:spPr>
          <a:xfrm>
            <a:off x="6910318" y="4035247"/>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p5</a:t>
            </a:r>
          </a:p>
        </p:txBody>
      </p:sp>
      <p:sp>
        <p:nvSpPr>
          <p:cNvPr id="179" name="rect 178"/>
          <p:cNvSpPr/>
          <p:nvPr/>
        </p:nvSpPr>
        <p:spPr>
          <a:xfrm>
            <a:off x="6876100" y="4579190"/>
            <a:ext cx="373065" cy="307230"/>
          </a:xfrm>
          <a:prstGeom prst="roundRect">
            <a:avLst>
              <a:gd name="adj" fmla="val 2380"/>
            </a:avLst>
          </a:prstGeom>
          <a:solidFill>
            <a:srgbClr val="FFFFFF"/>
          </a:solidFill>
          <a:ln w="13167">
            <a:solidFill>
              <a:srgbClr val="969696"/>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0" name="p5"/>
          <p:cNvSpPr txBox="1"/>
          <p:nvPr/>
        </p:nvSpPr>
        <p:spPr>
          <a:xfrm>
            <a:off x="6910318" y="4642392"/>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p5</a:t>
            </a:r>
          </a:p>
        </p:txBody>
      </p:sp>
      <p:cxnSp>
        <p:nvCxnSpPr>
          <p:cNvPr id="181" name="line 180"/>
          <p:cNvCxnSpPr/>
          <p:nvPr/>
        </p:nvCxnSpPr>
        <p:spPr>
          <a:xfrm>
            <a:off x="4571875" y="4988830"/>
            <a:ext cx="833910" cy="0"/>
          </a:xfrm>
          <a:prstGeom prst="line">
            <a:avLst/>
          </a:prstGeom>
          <a:ln w="11704">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182" name="line 181"/>
          <p:cNvCxnSpPr/>
          <p:nvPr/>
        </p:nvCxnSpPr>
        <p:spPr>
          <a:xfrm>
            <a:off x="5493565" y="4988830"/>
            <a:ext cx="833910" cy="0"/>
          </a:xfrm>
          <a:prstGeom prst="line">
            <a:avLst/>
          </a:prstGeom>
          <a:ln w="17556">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183" name="hit"/>
          <p:cNvSpPr txBox="1"/>
          <p:nvPr/>
        </p:nvSpPr>
        <p:spPr>
          <a:xfrm>
            <a:off x="4601135" y="5093069"/>
            <a:ext cx="278541" cy="201162"/>
          </a:xfrm>
          <a:prstGeom prst="rect">
            <a:avLst/>
          </a:prstGeom>
          <a:noFill/>
        </p:spPr>
        <p:txBody>
          <a:bodyPr wrap="none" lIns="0" rIns="0" tIns="0" bIns="0" anchor="t">
            <a:spAutoFit/>
          </a:bodyPr>
          <a:lstStyle/>
          <a:p>
            <a:pPr algn="l">
              <a:lnSpc>
                <a:spcPct val="100000"/>
              </a:lnSpc>
              <a:spcBef>
                <a:spcPts val="0"/>
              </a:spcBef>
              <a:spcAft>
                <a:spcPts val="0"/>
              </a:spcAft>
            </a:pPr>
            <a:r>
              <a:rPr sz="1152" b="0" i="0" lang="en-US" spc="0">
                <a:solidFill>
                  <a:srgbClr val="181818"/>
                </a:solidFill>
                <a:latin typeface="DejaVu Sans"/>
                <a:ea typeface="DejaVu Sans"/>
              </a:rPr>
              <a:t>hit</a:t>
            </a:r>
          </a:p>
        </p:txBody>
      </p:sp>
      <p:sp>
        <p:nvSpPr>
          <p:cNvPr id="184" name="restore"/>
          <p:cNvSpPr txBox="1"/>
          <p:nvPr/>
        </p:nvSpPr>
        <p:spPr>
          <a:xfrm>
            <a:off x="5508195" y="5093069"/>
            <a:ext cx="604830" cy="201162"/>
          </a:xfrm>
          <a:prstGeom prst="rect">
            <a:avLst/>
          </a:prstGeom>
          <a:noFill/>
        </p:spPr>
        <p:txBody>
          <a:bodyPr wrap="none" lIns="0" rIns="0" tIns="0" bIns="0" anchor="t">
            <a:spAutoFit/>
          </a:bodyPr>
          <a:lstStyle/>
          <a:p>
            <a:pPr algn="l">
              <a:lnSpc>
                <a:spcPct val="100000"/>
              </a:lnSpc>
              <a:spcBef>
                <a:spcPts val="0"/>
              </a:spcBef>
              <a:spcAft>
                <a:spcPts val="0"/>
              </a:spcAft>
            </a:pPr>
            <a:r>
              <a:rPr sz="1152" b="0" i="0" lang="en-US" spc="0">
                <a:solidFill>
                  <a:srgbClr val="BF3335"/>
                </a:solidFill>
                <a:latin typeface="DejaVu Sans"/>
                <a:ea typeface="DejaVu Sans"/>
              </a:rPr>
              <a:t>restore</a:t>
            </a:r>
          </a:p>
        </p:txBody>
      </p:sp>
      <p:sp>
        <p:nvSpPr>
          <p:cNvPr id="185" name="defer"/>
          <p:cNvSpPr txBox="1"/>
          <p:nvPr/>
        </p:nvSpPr>
        <p:spPr>
          <a:xfrm>
            <a:off x="6488405" y="5093069"/>
            <a:ext cx="472332" cy="201162"/>
          </a:xfrm>
          <a:prstGeom prst="rect">
            <a:avLst/>
          </a:prstGeom>
          <a:noFill/>
        </p:spPr>
        <p:txBody>
          <a:bodyPr wrap="none" lIns="0" rIns="0" tIns="0" bIns="0" anchor="t">
            <a:spAutoFit/>
          </a:bodyPr>
          <a:lstStyle/>
          <a:p>
            <a:pPr algn="l">
              <a:lnSpc>
                <a:spcPct val="100000"/>
              </a:lnSpc>
              <a:spcBef>
                <a:spcPts val="0"/>
              </a:spcBef>
              <a:spcAft>
                <a:spcPts val="0"/>
              </a:spcAft>
            </a:pPr>
            <a:r>
              <a:rPr sz="1152" b="0" i="0" lang="en-US" spc="0">
                <a:solidFill>
                  <a:srgbClr val="535353"/>
                </a:solidFill>
                <a:latin typeface="DejaVu Sans"/>
                <a:ea typeface="DejaVu Sans"/>
              </a:rPr>
              <a:t>defer</a:t>
            </a:r>
          </a:p>
        </p:txBody>
      </p:sp>
      <p:sp>
        <p:nvSpPr>
          <p:cNvPr id="186" name="B"/>
          <p:cNvSpPr txBox="1"/>
          <p:nvPr/>
        </p:nvSpPr>
        <p:spPr>
          <a:xfrm>
            <a:off x="3745280" y="5356409"/>
            <a:ext cx="226308" cy="281628"/>
          </a:xfrm>
          <a:prstGeom prst="rect">
            <a:avLst/>
          </a:prstGeom>
          <a:noFill/>
        </p:spPr>
        <p:txBody>
          <a:bodyPr wrap="none" lIns="0" rIns="0" tIns="0" bIns="0" anchor="t">
            <a:spAutoFit/>
          </a:bodyPr>
          <a:lstStyle/>
          <a:p>
            <a:pPr algn="l">
              <a:lnSpc>
                <a:spcPct val="100000"/>
              </a:lnSpc>
              <a:spcBef>
                <a:spcPts val="0"/>
              </a:spcBef>
              <a:spcAft>
                <a:spcPts val="0"/>
              </a:spcAft>
            </a:pPr>
            <a:r>
              <a:rPr sz="1785" b="0" i="1" lang="en-US" spc="0">
                <a:solidFill>
                  <a:srgbClr val="181818"/>
                </a:solidFill>
                <a:latin typeface="Liberation Serif"/>
                <a:ea typeface="Liberation Serif"/>
              </a:rPr>
              <a:t>B</a:t>
            </a:r>
          </a:p>
        </p:txBody>
      </p:sp>
      <p:sp>
        <p:nvSpPr>
          <p:cNvPr id="187" name=" ≤ "/>
          <p:cNvSpPr txBox="1"/>
          <p:nvPr/>
        </p:nvSpPr>
        <p:spPr>
          <a:xfrm>
            <a:off x="3883808" y="5356409"/>
            <a:ext cx="325632" cy="281628"/>
          </a:xfrm>
          <a:prstGeom prst="rect">
            <a:avLst/>
          </a:prstGeom>
          <a:noFill/>
        </p:spPr>
        <p:txBody>
          <a:bodyPr wrap="none" lIns="0" rIns="0" tIns="0" bIns="0" anchor="t">
            <a:spAutoFit/>
          </a:bodyPr>
          <a:lstStyle/>
          <a:p>
            <a:pPr algn="l">
              <a:lnSpc>
                <a:spcPct val="100000"/>
              </a:lnSpc>
              <a:spcBef>
                <a:spcPts val="0"/>
              </a:spcBef>
              <a:spcAft>
                <a:spcPts val="0"/>
              </a:spcAft>
            </a:pPr>
            <a:r>
              <a:rPr sz="1785" b="0" i="0" lang="en-US" spc="0">
                <a:solidFill>
                  <a:srgbClr val="181818"/>
                </a:solidFill>
                <a:latin typeface="Liberation Serif"/>
                <a:ea typeface="Liberation Serif"/>
              </a:rPr>
              <a:t> ≤ </a:t>
            </a:r>
          </a:p>
        </p:txBody>
      </p:sp>
      <p:sp>
        <p:nvSpPr>
          <p:cNvPr id="188" name="C"/>
          <p:cNvSpPr txBox="1"/>
          <p:nvPr/>
        </p:nvSpPr>
        <p:spPr>
          <a:xfrm>
            <a:off x="4121660" y="5356409"/>
            <a:ext cx="239023" cy="281628"/>
          </a:xfrm>
          <a:prstGeom prst="rect">
            <a:avLst/>
          </a:prstGeom>
          <a:noFill/>
        </p:spPr>
        <p:txBody>
          <a:bodyPr wrap="none" lIns="0" rIns="0" tIns="0" bIns="0" anchor="t">
            <a:spAutoFit/>
          </a:bodyPr>
          <a:lstStyle/>
          <a:p>
            <a:pPr algn="l">
              <a:lnSpc>
                <a:spcPct val="100000"/>
              </a:lnSpc>
              <a:spcBef>
                <a:spcPts val="0"/>
              </a:spcBef>
              <a:spcAft>
                <a:spcPts val="0"/>
              </a:spcAft>
            </a:pPr>
            <a:r>
              <a:rPr sz="1785" b="0" i="1" lang="en-US" spc="0">
                <a:solidFill>
                  <a:srgbClr val="181818"/>
                </a:solidFill>
                <a:latin typeface="Liberation Serif"/>
                <a:ea typeface="Liberation Serif"/>
              </a:rPr>
              <a:t>C</a:t>
            </a:r>
          </a:p>
        </p:txBody>
      </p:sp>
      <p:sp>
        <p:nvSpPr>
          <p:cNvPr id="189" name="free"/>
          <p:cNvSpPr txBox="1"/>
          <p:nvPr/>
        </p:nvSpPr>
        <p:spPr>
          <a:xfrm>
            <a:off x="4280218" y="5482592"/>
            <a:ext cx="317917" cy="195676"/>
          </a:xfrm>
          <a:prstGeom prst="rect">
            <a:avLst/>
          </a:prstGeom>
          <a:noFill/>
        </p:spPr>
        <p:txBody>
          <a:bodyPr wrap="none" lIns="0" rIns="0" tIns="0" bIns="0" anchor="t">
            <a:spAutoFit/>
          </a:bodyPr>
          <a:lstStyle/>
          <a:p>
            <a:pPr algn="l">
              <a:lnSpc>
                <a:spcPct val="100000"/>
              </a:lnSpc>
              <a:spcBef>
                <a:spcPts val="0"/>
              </a:spcBef>
              <a:spcAft>
                <a:spcPts val="0"/>
              </a:spcAft>
            </a:pPr>
            <a:r>
              <a:rPr sz="1160" b="0" i="0" lang="en-US" spc="0">
                <a:solidFill>
                  <a:srgbClr val="181818"/>
                </a:solidFill>
                <a:latin typeface="Liberation Serif"/>
                <a:ea typeface="Liberation Serif"/>
              </a:rPr>
              <a:t>free</a:t>
            </a:r>
          </a:p>
        </p:txBody>
      </p:sp>
      <p:sp>
        <p:nvSpPr>
          <p:cNvPr id="190" name=" + "/>
          <p:cNvSpPr txBox="1"/>
          <p:nvPr/>
        </p:nvSpPr>
        <p:spPr>
          <a:xfrm>
            <a:off x="4517670" y="5356409"/>
            <a:ext cx="329061" cy="281628"/>
          </a:xfrm>
          <a:prstGeom prst="rect">
            <a:avLst/>
          </a:prstGeom>
          <a:noFill/>
        </p:spPr>
        <p:txBody>
          <a:bodyPr wrap="none" lIns="0" rIns="0" tIns="0" bIns="0" anchor="t">
            <a:spAutoFit/>
          </a:bodyPr>
          <a:lstStyle/>
          <a:p>
            <a:pPr algn="l">
              <a:lnSpc>
                <a:spcPct val="100000"/>
              </a:lnSpc>
              <a:spcBef>
                <a:spcPts val="0"/>
              </a:spcBef>
              <a:spcAft>
                <a:spcPts val="0"/>
              </a:spcAft>
            </a:pPr>
            <a:r>
              <a:rPr sz="1785" b="0" i="0" lang="en-US" spc="0">
                <a:solidFill>
                  <a:srgbClr val="181818"/>
                </a:solidFill>
                <a:latin typeface="Liberation Serif"/>
                <a:ea typeface="Liberation Serif"/>
              </a:rPr>
              <a:t> + </a:t>
            </a:r>
          </a:p>
        </p:txBody>
      </p:sp>
      <p:sp>
        <p:nvSpPr>
          <p:cNvPr id="191" name="C"/>
          <p:cNvSpPr txBox="1"/>
          <p:nvPr/>
        </p:nvSpPr>
        <p:spPr>
          <a:xfrm>
            <a:off x="4758950" y="5356409"/>
            <a:ext cx="239023" cy="281628"/>
          </a:xfrm>
          <a:prstGeom prst="rect">
            <a:avLst/>
          </a:prstGeom>
          <a:noFill/>
        </p:spPr>
        <p:txBody>
          <a:bodyPr wrap="none" lIns="0" rIns="0" tIns="0" bIns="0" anchor="t">
            <a:spAutoFit/>
          </a:bodyPr>
          <a:lstStyle/>
          <a:p>
            <a:pPr algn="l">
              <a:lnSpc>
                <a:spcPct val="100000"/>
              </a:lnSpc>
              <a:spcBef>
                <a:spcPts val="0"/>
              </a:spcBef>
              <a:spcAft>
                <a:spcPts val="0"/>
              </a:spcAft>
            </a:pPr>
            <a:r>
              <a:rPr sz="1785" b="0" i="1" lang="en-US" spc="0">
                <a:solidFill>
                  <a:srgbClr val="181818"/>
                </a:solidFill>
                <a:latin typeface="Liberation Serif"/>
                <a:ea typeface="Liberation Serif"/>
              </a:rPr>
              <a:t>C</a:t>
            </a:r>
          </a:p>
        </p:txBody>
      </p:sp>
      <p:sp>
        <p:nvSpPr>
          <p:cNvPr id="192" name="cold"/>
          <p:cNvSpPr txBox="1"/>
          <p:nvPr/>
        </p:nvSpPr>
        <p:spPr>
          <a:xfrm>
            <a:off x="4917509" y="5482592"/>
            <a:ext cx="342805" cy="195676"/>
          </a:xfrm>
          <a:prstGeom prst="rect">
            <a:avLst/>
          </a:prstGeom>
          <a:noFill/>
        </p:spPr>
        <p:txBody>
          <a:bodyPr wrap="none" lIns="0" rIns="0" tIns="0" bIns="0" anchor="t">
            <a:spAutoFit/>
          </a:bodyPr>
          <a:lstStyle/>
          <a:p>
            <a:pPr algn="l">
              <a:lnSpc>
                <a:spcPct val="100000"/>
              </a:lnSpc>
              <a:spcBef>
                <a:spcPts val="0"/>
              </a:spcBef>
              <a:spcAft>
                <a:spcPts val="0"/>
              </a:spcAft>
            </a:pPr>
            <a:r>
              <a:rPr sz="1160" b="0" i="0" lang="en-US" spc="0">
                <a:solidFill>
                  <a:srgbClr val="181818"/>
                </a:solidFill>
                <a:latin typeface="Liberation Serif"/>
                <a:ea typeface="Liberation Serif"/>
              </a:rPr>
              <a:t>cold</a:t>
            </a:r>
          </a:p>
        </p:txBody>
      </p:sp>
      <p:sp>
        <p:nvSpPr>
          <p:cNvPr id="193" name=" − "/>
          <p:cNvSpPr txBox="1"/>
          <p:nvPr/>
        </p:nvSpPr>
        <p:spPr>
          <a:xfrm>
            <a:off x="5179849" y="5356409"/>
            <a:ext cx="329061" cy="281628"/>
          </a:xfrm>
          <a:prstGeom prst="rect">
            <a:avLst/>
          </a:prstGeom>
          <a:noFill/>
        </p:spPr>
        <p:txBody>
          <a:bodyPr wrap="none" lIns="0" rIns="0" tIns="0" bIns="0" anchor="t">
            <a:spAutoFit/>
          </a:bodyPr>
          <a:lstStyle/>
          <a:p>
            <a:pPr algn="l">
              <a:lnSpc>
                <a:spcPct val="100000"/>
              </a:lnSpc>
              <a:spcBef>
                <a:spcPts val="0"/>
              </a:spcBef>
              <a:spcAft>
                <a:spcPts val="0"/>
              </a:spcAft>
            </a:pPr>
            <a:r>
              <a:rPr sz="1785" b="0" i="0" lang="en-US" spc="0">
                <a:solidFill>
                  <a:srgbClr val="181818"/>
                </a:solidFill>
                <a:latin typeface="Liberation Serif"/>
                <a:ea typeface="Liberation Serif"/>
              </a:rPr>
              <a:t> − </a:t>
            </a:r>
          </a:p>
        </p:txBody>
      </p:sp>
      <p:sp>
        <p:nvSpPr>
          <p:cNvPr id="194" name="G"/>
          <p:cNvSpPr txBox="1"/>
          <p:nvPr/>
        </p:nvSpPr>
        <p:spPr>
          <a:xfrm>
            <a:off x="5421129" y="5356409"/>
            <a:ext cx="251539" cy="281628"/>
          </a:xfrm>
          <a:prstGeom prst="rect">
            <a:avLst/>
          </a:prstGeom>
          <a:noFill/>
        </p:spPr>
        <p:txBody>
          <a:bodyPr wrap="none" lIns="0" rIns="0" tIns="0" bIns="0" anchor="t">
            <a:spAutoFit/>
          </a:bodyPr>
          <a:lstStyle/>
          <a:p>
            <a:pPr algn="l">
              <a:lnSpc>
                <a:spcPct val="100000"/>
              </a:lnSpc>
              <a:spcBef>
                <a:spcPts val="0"/>
              </a:spcBef>
              <a:spcAft>
                <a:spcPts val="0"/>
              </a:spcAft>
            </a:pPr>
            <a:r>
              <a:rPr sz="1785" b="0" i="1" lang="en-US" spc="0">
                <a:solidFill>
                  <a:srgbClr val="181818"/>
                </a:solidFill>
                <a:latin typeface="Liberation Serif"/>
                <a:ea typeface="Liberation Serif"/>
              </a:rPr>
              <a:t>G</a:t>
            </a:r>
          </a:p>
        </p:txBody>
      </p:sp>
      <p:sp>
        <p:nvSpPr>
          <p:cNvPr id="195" name="next"/>
          <p:cNvSpPr txBox="1"/>
          <p:nvPr/>
        </p:nvSpPr>
        <p:spPr>
          <a:xfrm>
            <a:off x="5592203" y="5482592"/>
            <a:ext cx="342805" cy="195676"/>
          </a:xfrm>
          <a:prstGeom prst="rect">
            <a:avLst/>
          </a:prstGeom>
          <a:noFill/>
        </p:spPr>
        <p:txBody>
          <a:bodyPr wrap="none" lIns="0" rIns="0" tIns="0" bIns="0" anchor="t">
            <a:spAutoFit/>
          </a:bodyPr>
          <a:lstStyle/>
          <a:p>
            <a:pPr algn="l">
              <a:lnSpc>
                <a:spcPct val="100000"/>
              </a:lnSpc>
              <a:spcBef>
                <a:spcPts val="0"/>
              </a:spcBef>
              <a:spcAft>
                <a:spcPts val="0"/>
              </a:spcAft>
            </a:pPr>
            <a:r>
              <a:rPr sz="1160" b="0" i="0" lang="en-US" spc="0">
                <a:solidFill>
                  <a:srgbClr val="181818"/>
                </a:solidFill>
                <a:latin typeface="Liberation Serif"/>
                <a:ea typeface="Liberation Serif"/>
              </a:rPr>
              <a:t>next</a:t>
            </a:r>
          </a:p>
        </p:txBody>
      </p:sp>
      <p:sp>
        <p:nvSpPr>
          <p:cNvPr id="196" name="path 195"/>
          <p:cNvSpPr/>
          <p:nvPr/>
        </p:nvSpPr>
        <p:spPr>
          <a:xfrm>
            <a:off x="7358890" y="4403630"/>
            <a:ext cx="614460" cy="329175"/>
          </a:xfrm>
          <a:custGeom>
            <a:avLst/>
            <a:gdLst/>
            <a:ahLst/>
            <a:cxnLst/>
            <a:rect l="l" t="t" r="r" b="b"/>
            <a:pathLst>
              <a:path w="84" h="45">
                <a:moveTo>
                  <a:pt x="0" y="45"/>
                </a:moveTo>
                <a:lnTo>
                  <a:pt x="34" y="45"/>
                </a:lnTo>
                <a:lnTo>
                  <a:pt x="34" y="0"/>
                </a:lnTo>
                <a:lnTo>
                  <a:pt x="84" y="0"/>
                </a:lnTo>
              </a:path>
            </a:pathLst>
          </a:custGeom>
          <a:noFill/>
          <a:ln w="19019">
            <a:solidFill>
              <a:srgbClr val="BF3335"/>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7" name="rect 196"/>
          <p:cNvSpPr/>
          <p:nvPr/>
        </p:nvSpPr>
        <p:spPr>
          <a:xfrm>
            <a:off x="8053815" y="4030565"/>
            <a:ext cx="1192345" cy="738815"/>
          </a:xfrm>
          <a:prstGeom prst="roundRect">
            <a:avLst>
              <a:gd name="adj" fmla="val 2970"/>
            </a:avLst>
          </a:prstGeom>
          <a:solidFill>
            <a:srgbClr val="F5D460"/>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8" name="HiCache"/>
          <p:cNvSpPr txBox="1"/>
          <p:nvPr/>
        </p:nvSpPr>
        <p:spPr>
          <a:xfrm>
            <a:off x="8171355" y="4065311"/>
            <a:ext cx="957265" cy="252368"/>
          </a:xfrm>
          <a:prstGeom prst="rect">
            <a:avLst/>
          </a:prstGeom>
          <a:noFill/>
        </p:spPr>
        <p:txBody>
          <a:bodyPr wrap="none" lIns="0" rIns="0" tIns="0" bIns="0" anchor="t">
            <a:spAutoFit/>
          </a:bodyPr>
          <a:lstStyle/>
          <a:p>
            <a:pPr algn="ctr">
              <a:lnSpc>
                <a:spcPct val="100000"/>
              </a:lnSpc>
              <a:spcBef>
                <a:spcPts val="0"/>
              </a:spcBef>
              <a:spcAft>
                <a:spcPts val="0"/>
              </a:spcAft>
            </a:pPr>
            <a:r>
              <a:rPr sz="1497" b="1" i="0" lang="en-US" spc="0">
                <a:solidFill>
                  <a:srgbClr val="181818"/>
                </a:solidFill>
                <a:latin typeface="DejaVu Sans"/>
                <a:ea typeface="DejaVu Sans"/>
              </a:rPr>
              <a:t>HiCache</a:t>
            </a:r>
          </a:p>
        </p:txBody>
      </p:sp>
      <p:cxnSp>
        <p:nvCxnSpPr>
          <p:cNvPr id="199" name="path 198"/>
          <p:cNvCxnSpPr/>
          <p:nvPr/>
        </p:nvCxnSpPr>
        <p:spPr>
          <a:xfrm>
            <a:off x="8192800" y="4496018"/>
            <a:ext cx="914375" cy="0"/>
          </a:xfrm>
          <a:prstGeom prst="line">
            <a:avLst/>
          </a:prstGeom>
          <a:ln w="14630">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200" name="path 199"/>
          <p:cNvCxnSpPr/>
          <p:nvPr/>
        </p:nvCxnSpPr>
        <p:spPr>
          <a:xfrm flipH="1">
            <a:off x="8192800" y="4636393"/>
            <a:ext cx="914375" cy="0"/>
          </a:xfrm>
          <a:prstGeom prst="line">
            <a:avLst/>
          </a:prstGeom>
          <a:ln w="14630">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201" name="rect 200"/>
          <p:cNvSpPr/>
          <p:nvPr/>
        </p:nvSpPr>
        <p:spPr>
          <a:xfrm>
            <a:off x="8276337" y="5059347"/>
            <a:ext cx="306279" cy="228740"/>
          </a:xfrm>
          <a:prstGeom prst="roundRect">
            <a:avLst>
              <a:gd name="adj" fmla="val 3197"/>
            </a:avLst>
          </a:prstGeom>
          <a:solidFill>
            <a:srgbClr val="E9A6B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2" name="rect 201"/>
          <p:cNvSpPr/>
          <p:nvPr/>
        </p:nvSpPr>
        <p:spPr>
          <a:xfrm>
            <a:off x="8249199" y="5082608"/>
            <a:ext cx="306279" cy="228740"/>
          </a:xfrm>
          <a:prstGeom prst="roundRect">
            <a:avLst>
              <a:gd name="adj" fmla="val 3197"/>
            </a:avLst>
          </a:prstGeom>
          <a:solidFill>
            <a:srgbClr val="E9A6B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3" name="rect 202"/>
          <p:cNvSpPr/>
          <p:nvPr/>
        </p:nvSpPr>
        <p:spPr>
          <a:xfrm>
            <a:off x="8222060" y="5105870"/>
            <a:ext cx="306279" cy="228740"/>
          </a:xfrm>
          <a:prstGeom prst="roundRect">
            <a:avLst>
              <a:gd name="adj" fmla="val 3197"/>
            </a:avLst>
          </a:prstGeom>
          <a:solidFill>
            <a:srgbClr val="E9A6B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4" name="rect 203"/>
          <p:cNvSpPr/>
          <p:nvPr/>
        </p:nvSpPr>
        <p:spPr>
          <a:xfrm>
            <a:off x="8260830" y="5144640"/>
            <a:ext cx="58154" cy="54277"/>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5" name="rect 204"/>
          <p:cNvSpPr/>
          <p:nvPr/>
        </p:nvSpPr>
        <p:spPr>
          <a:xfrm>
            <a:off x="8346122" y="5144640"/>
            <a:ext cx="58154" cy="54277"/>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6" name="rect 205"/>
          <p:cNvSpPr/>
          <p:nvPr/>
        </p:nvSpPr>
        <p:spPr>
          <a:xfrm>
            <a:off x="8431415" y="5144640"/>
            <a:ext cx="58154" cy="54277"/>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7" name="rect 206"/>
          <p:cNvSpPr/>
          <p:nvPr/>
        </p:nvSpPr>
        <p:spPr>
          <a:xfrm>
            <a:off x="8260830" y="5229932"/>
            <a:ext cx="58154" cy="54277"/>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8" name="rect 207"/>
          <p:cNvSpPr/>
          <p:nvPr/>
        </p:nvSpPr>
        <p:spPr>
          <a:xfrm>
            <a:off x="8346122" y="5229932"/>
            <a:ext cx="58154" cy="54277"/>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9" name="rect 208"/>
          <p:cNvSpPr/>
          <p:nvPr/>
        </p:nvSpPr>
        <p:spPr>
          <a:xfrm>
            <a:off x="8431415" y="5229932"/>
            <a:ext cx="58154" cy="54277"/>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0" name="s"/>
          <p:cNvSpPr txBox="1"/>
          <p:nvPr/>
        </p:nvSpPr>
        <p:spPr>
          <a:xfrm>
            <a:off x="8887725" y="5100384"/>
            <a:ext cx="176017" cy="281628"/>
          </a:xfrm>
          <a:prstGeom prst="rect">
            <a:avLst/>
          </a:prstGeom>
          <a:noFill/>
        </p:spPr>
        <p:txBody>
          <a:bodyPr wrap="none" lIns="0" rIns="0" tIns="0" bIns="0" anchor="t">
            <a:spAutoFit/>
          </a:bodyPr>
          <a:lstStyle/>
          <a:p>
            <a:pPr algn="l">
              <a:lnSpc>
                <a:spcPct val="100000"/>
              </a:lnSpc>
              <a:spcBef>
                <a:spcPts val="0"/>
              </a:spcBef>
              <a:spcAft>
                <a:spcPts val="0"/>
              </a:spcAft>
            </a:pPr>
            <a:r>
              <a:rPr sz="1785" b="0" i="1" lang="en-US" spc="0">
                <a:solidFill>
                  <a:srgbClr val="181818"/>
                </a:solidFill>
                <a:latin typeface="Liberation Serif"/>
                <a:ea typeface="Liberation Serif"/>
              </a:rPr>
              <a:t>s</a:t>
            </a:r>
          </a:p>
        </p:txBody>
      </p:sp>
      <p:sp>
        <p:nvSpPr>
          <p:cNvPr id="211" name="*"/>
          <p:cNvSpPr txBox="1"/>
          <p:nvPr/>
        </p:nvSpPr>
        <p:spPr>
          <a:xfrm>
            <a:off x="8983277" y="5051958"/>
            <a:ext cx="161844" cy="195676"/>
          </a:xfrm>
          <a:prstGeom prst="rect">
            <a:avLst/>
          </a:prstGeom>
          <a:noFill/>
        </p:spPr>
        <p:txBody>
          <a:bodyPr wrap="none" lIns="0" rIns="0" tIns="0" bIns="0" anchor="t">
            <a:spAutoFit/>
          </a:bodyPr>
          <a:lstStyle/>
          <a:p>
            <a:pPr algn="l">
              <a:lnSpc>
                <a:spcPct val="100000"/>
              </a:lnSpc>
              <a:spcBef>
                <a:spcPts val="0"/>
              </a:spcBef>
              <a:spcAft>
                <a:spcPts val="0"/>
              </a:spcAft>
            </a:pPr>
            <a:r>
              <a:rPr sz="1160" b="0" i="0" lang="en-US" spc="0">
                <a:solidFill>
                  <a:srgbClr val="181818"/>
                </a:solidFill>
                <a:latin typeface="Liberation Serif"/>
                <a:ea typeface="Liberation Serif"/>
              </a:rPr>
              <a:t>*</a:t>
            </a:r>
          </a:p>
        </p:txBody>
      </p:sp>
      <p:sp>
        <p:nvSpPr>
          <p:cNvPr id="212" name="path 211"/>
          <p:cNvSpPr/>
          <p:nvPr/>
        </p:nvSpPr>
        <p:spPr>
          <a:xfrm>
            <a:off x="9260790" y="4403630"/>
            <a:ext cx="453530" cy="358435"/>
          </a:xfrm>
          <a:custGeom>
            <a:avLst/>
            <a:gdLst/>
            <a:ahLst/>
            <a:cxnLst/>
            <a:rect l="l" t="t" r="r" b="b"/>
            <a:pathLst>
              <a:path w="62" h="49">
                <a:moveTo>
                  <a:pt x="0" y="0"/>
                </a:moveTo>
                <a:lnTo>
                  <a:pt x="62" y="0"/>
                </a:lnTo>
                <a:lnTo>
                  <a:pt x="62" y="49"/>
                </a:lnTo>
              </a:path>
            </a:pathLst>
          </a:custGeom>
          <a:noFill/>
          <a:ln w="19019">
            <a:solidFill>
              <a:srgbClr val="BF3335"/>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3" name="path 212"/>
          <p:cNvSpPr/>
          <p:nvPr/>
        </p:nvSpPr>
        <p:spPr>
          <a:xfrm>
            <a:off x="9158380" y="4996145"/>
            <a:ext cx="555940" cy="234080"/>
          </a:xfrm>
          <a:custGeom>
            <a:avLst/>
            <a:gdLst/>
            <a:ahLst/>
            <a:cxnLst/>
            <a:rect l="l" t="t" r="r" b="b"/>
            <a:pathLst>
              <a:path w="76" h="32">
                <a:moveTo>
                  <a:pt x="0" y="32"/>
                </a:moveTo>
                <a:lnTo>
                  <a:pt x="76" y="32"/>
                </a:lnTo>
                <a:lnTo>
                  <a:pt x="76" y="0"/>
                </a:lnTo>
              </a:path>
            </a:pathLst>
          </a:custGeom>
          <a:noFill/>
          <a:ln w="19019">
            <a:solidFill>
              <a:srgbClr val="BF3335"/>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4" name="circle 213"/>
          <p:cNvSpPr/>
          <p:nvPr/>
        </p:nvSpPr>
        <p:spPr>
          <a:xfrm>
            <a:off x="9582650" y="4747435"/>
            <a:ext cx="263340" cy="263340"/>
          </a:xfrm>
          <a:prstGeom prst="ellipse">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5" name="∧"/>
          <p:cNvSpPr txBox="1"/>
          <p:nvPr/>
        </p:nvSpPr>
        <p:spPr>
          <a:xfrm>
            <a:off x="9634655" y="4762065"/>
            <a:ext cx="247110" cy="257854"/>
          </a:xfrm>
          <a:prstGeom prst="rect">
            <a:avLst/>
          </a:prstGeom>
          <a:noFill/>
        </p:spPr>
        <p:txBody>
          <a:bodyPr wrap="none" lIns="0" rIns="0" tIns="0" bIns="0" anchor="t">
            <a:spAutoFit/>
          </a:bodyPr>
          <a:lstStyle/>
          <a:p>
            <a:pPr algn="l">
              <a:lnSpc>
                <a:spcPct val="100000"/>
              </a:lnSpc>
              <a:spcBef>
                <a:spcPts val="0"/>
              </a:spcBef>
              <a:spcAft>
                <a:spcPts val="0"/>
              </a:spcAft>
            </a:pPr>
            <a:r>
              <a:rPr sz="1612" b="0" i="0" lang="en-US" spc="0">
                <a:solidFill>
                  <a:srgbClr val="181818"/>
                </a:solidFill>
                <a:latin typeface="Liberation Serif"/>
                <a:ea typeface="Liberation Serif"/>
              </a:rPr>
              <a:t>∧</a:t>
            </a:r>
          </a:p>
        </p:txBody>
      </p:sp>
      <p:sp>
        <p:nvSpPr>
          <p:cNvPr id="216" name="path 215"/>
          <p:cNvSpPr/>
          <p:nvPr/>
        </p:nvSpPr>
        <p:spPr>
          <a:xfrm>
            <a:off x="9867935" y="4103715"/>
            <a:ext cx="760760" cy="775390"/>
          </a:xfrm>
          <a:custGeom>
            <a:avLst/>
            <a:gdLst/>
            <a:ahLst/>
            <a:cxnLst/>
            <a:rect l="l" t="t" r="r" b="b"/>
            <a:pathLst>
              <a:path w="104" h="106">
                <a:moveTo>
                  <a:pt x="0" y="106"/>
                </a:moveTo>
                <a:lnTo>
                  <a:pt x="44" y="106"/>
                </a:lnTo>
                <a:lnTo>
                  <a:pt x="44" y="0"/>
                </a:lnTo>
                <a:lnTo>
                  <a:pt x="104" y="0"/>
                </a:lnTo>
              </a:path>
            </a:pathLst>
          </a:custGeom>
          <a:noFill/>
          <a:ln w="19019">
            <a:solidFill>
              <a:srgbClr val="181818"/>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7" name="rect 216"/>
          <p:cNvSpPr/>
          <p:nvPr/>
        </p:nvSpPr>
        <p:spPr>
          <a:xfrm>
            <a:off x="10657955" y="3906210"/>
            <a:ext cx="1923845" cy="402325"/>
          </a:xfrm>
          <a:prstGeom prst="roundRect">
            <a:avLst>
              <a:gd name="adj" fmla="val 5454"/>
            </a:avLst>
          </a:prstGeom>
          <a:solidFill>
            <a:srgbClr val="A9CEE8"/>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8" name="ℓ"/>
          <p:cNvSpPr txBox="1"/>
          <p:nvPr/>
        </p:nvSpPr>
        <p:spPr>
          <a:xfrm>
            <a:off x="10884720" y="3966559"/>
            <a:ext cx="179189" cy="272484"/>
          </a:xfrm>
          <a:prstGeom prst="rect">
            <a:avLst/>
          </a:prstGeom>
          <a:noFill/>
        </p:spPr>
        <p:txBody>
          <a:bodyPr wrap="none" lIns="0" rIns="0" tIns="0" bIns="0" anchor="t">
            <a:spAutoFit/>
          </a:bodyPr>
          <a:lstStyle/>
          <a:p>
            <a:pPr algn="l">
              <a:lnSpc>
                <a:spcPct val="100000"/>
              </a:lnSpc>
              <a:spcBef>
                <a:spcPts val="0"/>
              </a:spcBef>
              <a:spcAft>
                <a:spcPts val="0"/>
              </a:spcAft>
            </a:pPr>
            <a:r>
              <a:rPr sz="1727" b="0" i="1" lang="en-US" spc="0">
                <a:solidFill>
                  <a:srgbClr val="181818"/>
                </a:solidFill>
                <a:latin typeface="Liberation Serif"/>
                <a:ea typeface="Liberation Serif"/>
              </a:rPr>
              <a:t>ℓ</a:t>
            </a:r>
          </a:p>
        </p:txBody>
      </p:sp>
      <p:sp>
        <p:nvSpPr>
          <p:cNvPr id="219" name="0"/>
          <p:cNvSpPr txBox="1"/>
          <p:nvPr/>
        </p:nvSpPr>
        <p:spPr>
          <a:xfrm>
            <a:off x="10983444" y="4089085"/>
            <a:ext cx="159101" cy="188361"/>
          </a:xfrm>
          <a:prstGeom prst="rect">
            <a:avLst/>
          </a:prstGeom>
          <a:noFill/>
        </p:spPr>
        <p:txBody>
          <a:bodyPr wrap="none" lIns="0" rIns="0" tIns="0" bIns="0" anchor="t">
            <a:spAutoFit/>
          </a:bodyPr>
          <a:lstStyle/>
          <a:p>
            <a:pPr algn="l">
              <a:lnSpc>
                <a:spcPct val="100000"/>
              </a:lnSpc>
              <a:spcBef>
                <a:spcPts val="0"/>
              </a:spcBef>
              <a:spcAft>
                <a:spcPts val="0"/>
              </a:spcAft>
            </a:pPr>
            <a:r>
              <a:rPr sz="1123" b="0" i="0" lang="en-US" spc="0">
                <a:solidFill>
                  <a:srgbClr val="181818"/>
                </a:solidFill>
                <a:latin typeface="Liberation Serif"/>
                <a:ea typeface="Liberation Serif"/>
              </a:rPr>
              <a:t>0</a:t>
            </a:r>
          </a:p>
        </p:txBody>
      </p:sp>
      <p:sp>
        <p:nvSpPr>
          <p:cNvPr id="220" name="rect 219"/>
          <p:cNvSpPr/>
          <p:nvPr/>
        </p:nvSpPr>
        <p:spPr>
          <a:xfrm>
            <a:off x="11338250" y="4023250"/>
            <a:ext cx="197505" cy="182875"/>
          </a:xfrm>
          <a:prstGeom prst="roundRect">
            <a:avLst>
              <a:gd name="adj" fmla="val 4000"/>
            </a:avLst>
          </a:prstGeom>
          <a:solidFill>
            <a:srgbClr val="FFFFF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1" name="rect 220"/>
          <p:cNvSpPr/>
          <p:nvPr/>
        </p:nvSpPr>
        <p:spPr>
          <a:xfrm>
            <a:off x="11608905" y="4023250"/>
            <a:ext cx="197505" cy="182875"/>
          </a:xfrm>
          <a:prstGeom prst="roundRect">
            <a:avLst>
              <a:gd name="adj" fmla="val 4000"/>
            </a:avLst>
          </a:prstGeom>
          <a:solidFill>
            <a:srgbClr val="FFFFF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2" name="rect 221"/>
          <p:cNvSpPr/>
          <p:nvPr/>
        </p:nvSpPr>
        <p:spPr>
          <a:xfrm>
            <a:off x="11879560" y="4023250"/>
            <a:ext cx="197505" cy="182875"/>
          </a:xfrm>
          <a:prstGeom prst="roundRect">
            <a:avLst>
              <a:gd name="adj" fmla="val 4000"/>
            </a:avLst>
          </a:prstGeom>
          <a:solidFill>
            <a:srgbClr val="FFFFF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3" name="rect 222"/>
          <p:cNvSpPr/>
          <p:nvPr/>
        </p:nvSpPr>
        <p:spPr>
          <a:xfrm>
            <a:off x="12150215" y="4023250"/>
            <a:ext cx="197505" cy="182875"/>
          </a:xfrm>
          <a:prstGeom prst="roundRect">
            <a:avLst>
              <a:gd name="adj" fmla="val 4000"/>
            </a:avLst>
          </a:prstGeom>
          <a:solidFill>
            <a:srgbClr val="FFFFF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24" name="path 223"/>
          <p:cNvCxnSpPr/>
          <p:nvPr/>
        </p:nvCxnSpPr>
        <p:spPr>
          <a:xfrm>
            <a:off x="11630850" y="4323165"/>
            <a:ext cx="0" cy="131670"/>
          </a:xfrm>
          <a:prstGeom prst="line">
            <a:avLst/>
          </a:prstGeom>
          <a:ln w="14630">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225" name="rect 224"/>
          <p:cNvSpPr/>
          <p:nvPr/>
        </p:nvSpPr>
        <p:spPr>
          <a:xfrm>
            <a:off x="10657955" y="4476780"/>
            <a:ext cx="1923845" cy="402325"/>
          </a:xfrm>
          <a:prstGeom prst="roundRect">
            <a:avLst>
              <a:gd name="adj" fmla="val 5454"/>
            </a:avLst>
          </a:prstGeom>
          <a:solidFill>
            <a:srgbClr val="A9CEE8"/>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6" name="ℓ"/>
          <p:cNvSpPr txBox="1"/>
          <p:nvPr/>
        </p:nvSpPr>
        <p:spPr>
          <a:xfrm>
            <a:off x="10884720" y="4537129"/>
            <a:ext cx="179189" cy="272484"/>
          </a:xfrm>
          <a:prstGeom prst="rect">
            <a:avLst/>
          </a:prstGeom>
          <a:noFill/>
        </p:spPr>
        <p:txBody>
          <a:bodyPr wrap="none" lIns="0" rIns="0" tIns="0" bIns="0" anchor="t">
            <a:spAutoFit/>
          </a:bodyPr>
          <a:lstStyle/>
          <a:p>
            <a:pPr algn="l">
              <a:lnSpc>
                <a:spcPct val="100000"/>
              </a:lnSpc>
              <a:spcBef>
                <a:spcPts val="0"/>
              </a:spcBef>
              <a:spcAft>
                <a:spcPts val="0"/>
              </a:spcAft>
            </a:pPr>
            <a:r>
              <a:rPr sz="1727" b="0" i="1" lang="en-US" spc="0">
                <a:solidFill>
                  <a:srgbClr val="181818"/>
                </a:solidFill>
                <a:latin typeface="Liberation Serif"/>
                <a:ea typeface="Liberation Serif"/>
              </a:rPr>
              <a:t>ℓ</a:t>
            </a:r>
          </a:p>
        </p:txBody>
      </p:sp>
      <p:sp>
        <p:nvSpPr>
          <p:cNvPr id="227" name="1"/>
          <p:cNvSpPr txBox="1"/>
          <p:nvPr/>
        </p:nvSpPr>
        <p:spPr>
          <a:xfrm>
            <a:off x="10983444" y="4659655"/>
            <a:ext cx="159101" cy="188361"/>
          </a:xfrm>
          <a:prstGeom prst="rect">
            <a:avLst/>
          </a:prstGeom>
          <a:noFill/>
        </p:spPr>
        <p:txBody>
          <a:bodyPr wrap="none" lIns="0" rIns="0" tIns="0" bIns="0" anchor="t">
            <a:spAutoFit/>
          </a:bodyPr>
          <a:lstStyle/>
          <a:p>
            <a:pPr algn="l">
              <a:lnSpc>
                <a:spcPct val="100000"/>
              </a:lnSpc>
              <a:spcBef>
                <a:spcPts val="0"/>
              </a:spcBef>
              <a:spcAft>
                <a:spcPts val="0"/>
              </a:spcAft>
            </a:pPr>
            <a:r>
              <a:rPr sz="1123" b="0" i="0" lang="en-US" spc="0">
                <a:solidFill>
                  <a:srgbClr val="181818"/>
                </a:solidFill>
                <a:latin typeface="Liberation Serif"/>
                <a:ea typeface="Liberation Serif"/>
              </a:rPr>
              <a:t>1</a:t>
            </a:r>
          </a:p>
        </p:txBody>
      </p:sp>
      <p:sp>
        <p:nvSpPr>
          <p:cNvPr id="228" name="rect 227"/>
          <p:cNvSpPr/>
          <p:nvPr/>
        </p:nvSpPr>
        <p:spPr>
          <a:xfrm>
            <a:off x="11338250" y="4593820"/>
            <a:ext cx="197505" cy="182875"/>
          </a:xfrm>
          <a:prstGeom prst="roundRect">
            <a:avLst>
              <a:gd name="adj" fmla="val 4000"/>
            </a:avLst>
          </a:prstGeom>
          <a:solidFill>
            <a:srgbClr val="FFFFF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9" name="rect 228"/>
          <p:cNvSpPr/>
          <p:nvPr/>
        </p:nvSpPr>
        <p:spPr>
          <a:xfrm>
            <a:off x="11608905" y="4593820"/>
            <a:ext cx="197505" cy="182875"/>
          </a:xfrm>
          <a:prstGeom prst="roundRect">
            <a:avLst>
              <a:gd name="adj" fmla="val 4000"/>
            </a:avLst>
          </a:prstGeom>
          <a:solidFill>
            <a:srgbClr val="FFFFF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0" name="rect 229"/>
          <p:cNvSpPr/>
          <p:nvPr/>
        </p:nvSpPr>
        <p:spPr>
          <a:xfrm>
            <a:off x="11879560" y="4593820"/>
            <a:ext cx="197505" cy="182875"/>
          </a:xfrm>
          <a:prstGeom prst="roundRect">
            <a:avLst>
              <a:gd name="adj" fmla="val 4000"/>
            </a:avLst>
          </a:prstGeom>
          <a:solidFill>
            <a:srgbClr val="FFFFF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1" name="rect 230"/>
          <p:cNvSpPr/>
          <p:nvPr/>
        </p:nvSpPr>
        <p:spPr>
          <a:xfrm>
            <a:off x="12150215" y="4593820"/>
            <a:ext cx="197505" cy="182875"/>
          </a:xfrm>
          <a:prstGeom prst="roundRect">
            <a:avLst>
              <a:gd name="adj" fmla="val 4000"/>
            </a:avLst>
          </a:prstGeom>
          <a:solidFill>
            <a:srgbClr val="FFFFF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32" name="path 231"/>
          <p:cNvCxnSpPr/>
          <p:nvPr/>
        </p:nvCxnSpPr>
        <p:spPr>
          <a:xfrm>
            <a:off x="11630850" y="4893735"/>
            <a:ext cx="0" cy="131670"/>
          </a:xfrm>
          <a:prstGeom prst="line">
            <a:avLst/>
          </a:prstGeom>
          <a:ln w="14630">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233" name="rect 232"/>
          <p:cNvSpPr/>
          <p:nvPr/>
        </p:nvSpPr>
        <p:spPr>
          <a:xfrm>
            <a:off x="10657955" y="5047350"/>
            <a:ext cx="1923845" cy="402325"/>
          </a:xfrm>
          <a:prstGeom prst="roundRect">
            <a:avLst>
              <a:gd name="adj" fmla="val 5454"/>
            </a:avLst>
          </a:prstGeom>
          <a:solidFill>
            <a:srgbClr val="A9CEE8"/>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4" name="ℓ"/>
          <p:cNvSpPr txBox="1"/>
          <p:nvPr/>
        </p:nvSpPr>
        <p:spPr>
          <a:xfrm>
            <a:off x="10884720" y="5107699"/>
            <a:ext cx="179189" cy="272484"/>
          </a:xfrm>
          <a:prstGeom prst="rect">
            <a:avLst/>
          </a:prstGeom>
          <a:noFill/>
        </p:spPr>
        <p:txBody>
          <a:bodyPr wrap="none" lIns="0" rIns="0" tIns="0" bIns="0" anchor="t">
            <a:spAutoFit/>
          </a:bodyPr>
          <a:lstStyle/>
          <a:p>
            <a:pPr algn="l">
              <a:lnSpc>
                <a:spcPct val="100000"/>
              </a:lnSpc>
              <a:spcBef>
                <a:spcPts val="0"/>
              </a:spcBef>
              <a:spcAft>
                <a:spcPts val="0"/>
              </a:spcAft>
            </a:pPr>
            <a:r>
              <a:rPr sz="1727" b="0" i="1" lang="en-US" spc="0">
                <a:solidFill>
                  <a:srgbClr val="181818"/>
                </a:solidFill>
                <a:latin typeface="Liberation Serif"/>
                <a:ea typeface="Liberation Serif"/>
              </a:rPr>
              <a:t>ℓ</a:t>
            </a:r>
          </a:p>
        </p:txBody>
      </p:sp>
      <p:sp>
        <p:nvSpPr>
          <p:cNvPr id="235" name="2"/>
          <p:cNvSpPr txBox="1"/>
          <p:nvPr/>
        </p:nvSpPr>
        <p:spPr>
          <a:xfrm>
            <a:off x="10983444" y="5230225"/>
            <a:ext cx="159101" cy="188361"/>
          </a:xfrm>
          <a:prstGeom prst="rect">
            <a:avLst/>
          </a:prstGeom>
          <a:noFill/>
        </p:spPr>
        <p:txBody>
          <a:bodyPr wrap="none" lIns="0" rIns="0" tIns="0" bIns="0" anchor="t">
            <a:spAutoFit/>
          </a:bodyPr>
          <a:lstStyle/>
          <a:p>
            <a:pPr algn="l">
              <a:lnSpc>
                <a:spcPct val="100000"/>
              </a:lnSpc>
              <a:spcBef>
                <a:spcPts val="0"/>
              </a:spcBef>
              <a:spcAft>
                <a:spcPts val="0"/>
              </a:spcAft>
            </a:pPr>
            <a:r>
              <a:rPr sz="1123" b="0" i="0" lang="en-US" spc="0">
                <a:solidFill>
                  <a:srgbClr val="181818"/>
                </a:solidFill>
                <a:latin typeface="Liberation Serif"/>
                <a:ea typeface="Liberation Serif"/>
              </a:rPr>
              <a:t>2</a:t>
            </a:r>
          </a:p>
        </p:txBody>
      </p:sp>
      <p:sp>
        <p:nvSpPr>
          <p:cNvPr id="236" name="rect 235"/>
          <p:cNvSpPr/>
          <p:nvPr/>
        </p:nvSpPr>
        <p:spPr>
          <a:xfrm>
            <a:off x="11338250" y="5164390"/>
            <a:ext cx="197505" cy="182875"/>
          </a:xfrm>
          <a:prstGeom prst="roundRect">
            <a:avLst>
              <a:gd name="adj" fmla="val 4000"/>
            </a:avLst>
          </a:prstGeom>
          <a:solidFill>
            <a:srgbClr val="FFFFF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7" name="rect 236"/>
          <p:cNvSpPr/>
          <p:nvPr/>
        </p:nvSpPr>
        <p:spPr>
          <a:xfrm>
            <a:off x="11608905" y="5164390"/>
            <a:ext cx="197505" cy="182875"/>
          </a:xfrm>
          <a:prstGeom prst="roundRect">
            <a:avLst>
              <a:gd name="adj" fmla="val 4000"/>
            </a:avLst>
          </a:prstGeom>
          <a:solidFill>
            <a:srgbClr val="FFFFF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8" name="rect 237"/>
          <p:cNvSpPr/>
          <p:nvPr/>
        </p:nvSpPr>
        <p:spPr>
          <a:xfrm>
            <a:off x="11879560" y="5164390"/>
            <a:ext cx="197505" cy="182875"/>
          </a:xfrm>
          <a:prstGeom prst="roundRect">
            <a:avLst>
              <a:gd name="adj" fmla="val 4000"/>
            </a:avLst>
          </a:prstGeom>
          <a:solidFill>
            <a:srgbClr val="FFFFF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9" name="rect 238"/>
          <p:cNvSpPr/>
          <p:nvPr/>
        </p:nvSpPr>
        <p:spPr>
          <a:xfrm>
            <a:off x="12150215" y="5164390"/>
            <a:ext cx="197505" cy="182875"/>
          </a:xfrm>
          <a:prstGeom prst="roundRect">
            <a:avLst>
              <a:gd name="adj" fmla="val 4000"/>
            </a:avLst>
          </a:prstGeom>
          <a:solidFill>
            <a:srgbClr val="FFFFF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0" name="path 239"/>
          <p:cNvSpPr/>
          <p:nvPr/>
        </p:nvSpPr>
        <p:spPr>
          <a:xfrm>
            <a:off x="7549080" y="4784010"/>
            <a:ext cx="3057670" cy="819280"/>
          </a:xfrm>
          <a:custGeom>
            <a:avLst/>
            <a:gdLst/>
            <a:ahLst/>
            <a:cxnLst/>
            <a:rect l="l" t="t" r="r" b="b"/>
            <a:pathLst>
              <a:path w="418" h="112">
                <a:moveTo>
                  <a:pt x="151" y="0"/>
                </a:moveTo>
                <a:lnTo>
                  <a:pt x="151" y="19"/>
                </a:lnTo>
                <a:lnTo>
                  <a:pt x="0" y="19"/>
                </a:lnTo>
                <a:lnTo>
                  <a:pt x="0" y="112"/>
                </a:lnTo>
                <a:lnTo>
                  <a:pt x="418" y="112"/>
                </a:lnTo>
              </a:path>
            </a:pathLst>
          </a:custGeom>
          <a:noFill/>
          <a:ln w="12435">
            <a:solidFill>
              <a:srgbClr val="2676B8"/>
            </a:solidFill>
            <a:prstDash val="dash"/>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1" name="ACK"/>
          <p:cNvSpPr txBox="1"/>
          <p:nvPr/>
        </p:nvSpPr>
        <p:spPr>
          <a:xfrm>
            <a:off x="9897195" y="5372868"/>
            <a:ext cx="398182" cy="208478"/>
          </a:xfrm>
          <a:prstGeom prst="rect">
            <a:avLst/>
          </a:prstGeom>
          <a:noFill/>
        </p:spPr>
        <p:txBody>
          <a:bodyPr wrap="none" lIns="0" rIns="0" tIns="0" bIns="0" anchor="t">
            <a:spAutoFit/>
          </a:bodyPr>
          <a:lstStyle/>
          <a:p>
            <a:pPr algn="l">
              <a:lnSpc>
                <a:spcPct val="100000"/>
              </a:lnSpc>
              <a:spcBef>
                <a:spcPts val="0"/>
              </a:spcBef>
              <a:spcAft>
                <a:spcPts val="0"/>
              </a:spcAft>
            </a:pPr>
            <a:r>
              <a:rPr sz="1209" b="0" i="0" lang="en-US" spc="0">
                <a:solidFill>
                  <a:srgbClr val="2676B8"/>
                </a:solidFill>
                <a:latin typeface="DejaVu Sans"/>
                <a:ea typeface="DejaVu Sans"/>
              </a:rPr>
              <a:t>ACK</a:t>
            </a:r>
          </a:p>
        </p:txBody>
      </p:sp>
      <p:sp>
        <p:nvSpPr>
          <p:cNvPr id="242" name="rect 241"/>
          <p:cNvSpPr/>
          <p:nvPr/>
        </p:nvSpPr>
        <p:spPr>
          <a:xfrm>
            <a:off x="292600" y="6071450"/>
            <a:ext cx="7827050" cy="2384690"/>
          </a:xfrm>
          <a:prstGeom prst="roundRect">
            <a:avLst>
              <a:gd name="adj" fmla="val 1840"/>
            </a:avLst>
          </a:prstGeom>
          <a:solidFill>
            <a:srgbClr val="EEEEEE"/>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3" name="rect 242"/>
          <p:cNvSpPr/>
          <p:nvPr/>
        </p:nvSpPr>
        <p:spPr>
          <a:xfrm>
            <a:off x="292600" y="6071450"/>
            <a:ext cx="7827050" cy="351120"/>
          </a:xfrm>
          <a:prstGeom prst="roundRect">
            <a:avLst>
              <a:gd name="adj" fmla="val 12500"/>
            </a:avLst>
          </a:prstGeom>
          <a:solidFill>
            <a:srgbClr val="A9CEE8"/>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4" name="rect 243"/>
          <p:cNvSpPr/>
          <p:nvPr/>
        </p:nvSpPr>
        <p:spPr>
          <a:xfrm>
            <a:off x="301378" y="6268955"/>
            <a:ext cx="7809494" cy="146300"/>
          </a:xfrm>
          <a:prstGeom prst="rect">
            <a:avLst/>
          </a:prstGeom>
          <a:solidFill>
            <a:srgbClr val="A9CE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45" name="line 244"/>
          <p:cNvCxnSpPr/>
          <p:nvPr/>
        </p:nvCxnSpPr>
        <p:spPr>
          <a:xfrm>
            <a:off x="292600" y="6422570"/>
            <a:ext cx="7827050" cy="0"/>
          </a:xfrm>
          <a:prstGeom prst="line">
            <a:avLst/>
          </a:prstGeom>
          <a:ln w="12435">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246" name="(d) Terminal child → native free capacity"/>
          <p:cNvSpPr txBox="1"/>
          <p:nvPr/>
        </p:nvSpPr>
        <p:spPr>
          <a:xfrm>
            <a:off x="438900" y="6122655"/>
            <a:ext cx="4725861" cy="268826"/>
          </a:xfrm>
          <a:prstGeom prst="rect">
            <a:avLst/>
          </a:prstGeom>
          <a:noFill/>
        </p:spPr>
        <p:txBody>
          <a:bodyPr wrap="none" lIns="0" rIns="0" tIns="0" bIns="0" anchor="t">
            <a:spAutoFit/>
          </a:bodyPr>
          <a:lstStyle/>
          <a:p>
            <a:pPr algn="l">
              <a:lnSpc>
                <a:spcPct val="100000"/>
              </a:lnSpc>
              <a:spcBef>
                <a:spcPts val="0"/>
              </a:spcBef>
              <a:spcAft>
                <a:spcPts val="0"/>
              </a:spcAft>
            </a:pPr>
            <a:r>
              <a:rPr sz="1612" b="1" i="0" lang="en-US" spc="0">
                <a:solidFill>
                  <a:srgbClr val="181818"/>
                </a:solidFill>
                <a:latin typeface="DejaVu Sans"/>
                <a:ea typeface="DejaVu Sans"/>
              </a:rPr>
              <a:t>(d) Terminal child → native free capacity</a:t>
            </a:r>
          </a:p>
        </p:txBody>
      </p:sp>
      <p:sp>
        <p:nvSpPr>
          <p:cNvPr id="247" name="circle 246"/>
          <p:cNvSpPr/>
          <p:nvPr/>
        </p:nvSpPr>
        <p:spPr>
          <a:xfrm>
            <a:off x="533995" y="6963880"/>
            <a:ext cx="395010" cy="395010"/>
          </a:xfrm>
          <a:prstGeom prst="ellipse">
            <a:avLst/>
          </a:prstGeom>
          <a:solidFill>
            <a:srgbClr val="E9A6BF"/>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8" name="P"/>
          <p:cNvSpPr txBox="1"/>
          <p:nvPr/>
        </p:nvSpPr>
        <p:spPr>
          <a:xfrm>
            <a:off x="620589" y="7053489"/>
            <a:ext cx="221822"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i="0" lang="en-US" spc="0">
                <a:solidFill>
                  <a:srgbClr val="181818"/>
                </a:solidFill>
                <a:latin typeface="DejaVu Sans"/>
                <a:ea typeface="DejaVu Sans"/>
              </a:rPr>
              <a:t>P</a:t>
            </a:r>
          </a:p>
        </p:txBody>
      </p:sp>
      <p:sp>
        <p:nvSpPr>
          <p:cNvPr id="249" name="circle 248"/>
          <p:cNvSpPr/>
          <p:nvPr/>
        </p:nvSpPr>
        <p:spPr>
          <a:xfrm>
            <a:off x="1653190" y="6568870"/>
            <a:ext cx="395010" cy="395010"/>
          </a:xfrm>
          <a:prstGeom prst="ellipse">
            <a:avLst/>
          </a:prstGeom>
          <a:solidFill>
            <a:srgbClr val="B5D68B"/>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0" name="C1"/>
          <p:cNvSpPr txBox="1"/>
          <p:nvPr/>
        </p:nvSpPr>
        <p:spPr>
          <a:xfrm>
            <a:off x="1676078" y="6658479"/>
            <a:ext cx="349234"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i="0" lang="en-US" spc="0">
                <a:solidFill>
                  <a:srgbClr val="181818"/>
                </a:solidFill>
                <a:latin typeface="DejaVu Sans"/>
                <a:ea typeface="DejaVu Sans"/>
              </a:rPr>
              <a:t>C1</a:t>
            </a:r>
          </a:p>
        </p:txBody>
      </p:sp>
      <p:sp>
        <p:nvSpPr>
          <p:cNvPr id="251" name="circle 250"/>
          <p:cNvSpPr/>
          <p:nvPr/>
        </p:nvSpPr>
        <p:spPr>
          <a:xfrm>
            <a:off x="1653190" y="7702695"/>
            <a:ext cx="395010" cy="395010"/>
          </a:xfrm>
          <a:prstGeom prst="ellipse">
            <a:avLst/>
          </a:prstGeom>
          <a:solidFill>
            <a:srgbClr val="F2BD7D"/>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2" name="C2"/>
          <p:cNvSpPr txBox="1"/>
          <p:nvPr/>
        </p:nvSpPr>
        <p:spPr>
          <a:xfrm>
            <a:off x="1676078" y="7792304"/>
            <a:ext cx="349234" cy="243224"/>
          </a:xfrm>
          <a:prstGeom prst="rect">
            <a:avLst/>
          </a:prstGeom>
          <a:noFill/>
        </p:spPr>
        <p:txBody>
          <a:bodyPr wrap="none" lIns="0" rIns="0" tIns="0" bIns="0" anchor="t">
            <a:spAutoFit/>
          </a:bodyPr>
          <a:lstStyle/>
          <a:p>
            <a:pPr algn="ctr">
              <a:lnSpc>
                <a:spcPct val="100000"/>
              </a:lnSpc>
              <a:spcBef>
                <a:spcPts val="0"/>
              </a:spcBef>
              <a:spcAft>
                <a:spcPts val="0"/>
              </a:spcAft>
            </a:pPr>
            <a:r>
              <a:rPr sz="1439" b="1" i="0" lang="en-US" spc="0">
                <a:solidFill>
                  <a:srgbClr val="181818"/>
                </a:solidFill>
                <a:latin typeface="DejaVu Sans"/>
                <a:ea typeface="DejaVu Sans"/>
              </a:rPr>
              <a:t>C2</a:t>
            </a:r>
          </a:p>
        </p:txBody>
      </p:sp>
      <p:cxnSp>
        <p:nvCxnSpPr>
          <p:cNvPr id="253" name="path 252"/>
          <p:cNvCxnSpPr/>
          <p:nvPr/>
        </p:nvCxnSpPr>
        <p:spPr>
          <a:xfrm flipV="1">
            <a:off x="936320" y="6839525"/>
            <a:ext cx="702240" cy="248710"/>
          </a:xfrm>
          <a:prstGeom prst="line">
            <a:avLst/>
          </a:prstGeom>
          <a:ln w="19019">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cxnSp>
        <p:nvCxnSpPr>
          <p:cNvPr id="254" name="path 253"/>
          <p:cNvCxnSpPr/>
          <p:nvPr/>
        </p:nvCxnSpPr>
        <p:spPr>
          <a:xfrm>
            <a:off x="914375" y="7271110"/>
            <a:ext cx="738815" cy="512050"/>
          </a:xfrm>
          <a:prstGeom prst="line">
            <a:avLst/>
          </a:prstGeom>
          <a:ln w="19019">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255" name="path 254"/>
          <p:cNvSpPr/>
          <p:nvPr/>
        </p:nvSpPr>
        <p:spPr>
          <a:xfrm>
            <a:off x="2099405" y="6568870"/>
            <a:ext cx="131670" cy="131670"/>
          </a:xfrm>
          <a:custGeom>
            <a:avLst/>
            <a:gdLst/>
            <a:ahLst/>
            <a:cxnLst/>
            <a:rect l="l" t="t" r="r" b="b"/>
            <a:pathLst>
              <a:path w="18" h="18">
                <a:moveTo>
                  <a:pt x="0" y="9"/>
                </a:moveTo>
                <a:lnTo>
                  <a:pt x="6" y="18"/>
                </a:lnTo>
                <a:lnTo>
                  <a:pt x="18" y="0"/>
                </a:lnTo>
              </a:path>
            </a:pathLst>
          </a:custGeom>
          <a:noFill/>
          <a:ln w="2048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56" name="path 255"/>
          <p:cNvCxnSpPr/>
          <p:nvPr/>
        </p:nvCxnSpPr>
        <p:spPr>
          <a:xfrm>
            <a:off x="2070145" y="6766375"/>
            <a:ext cx="497420" cy="0"/>
          </a:xfrm>
          <a:prstGeom prst="line">
            <a:avLst/>
          </a:prstGeom>
          <a:ln w="19019">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257" name="rect 256"/>
          <p:cNvSpPr/>
          <p:nvPr/>
        </p:nvSpPr>
        <p:spPr>
          <a:xfrm>
            <a:off x="2640715" y="6627390"/>
            <a:ext cx="263340" cy="248710"/>
          </a:xfrm>
          <a:prstGeom prst="roundRect">
            <a:avLst>
              <a:gd name="adj" fmla="val 2941"/>
            </a:avLst>
          </a:prstGeom>
          <a:solidFill>
            <a:srgbClr val="DDDDD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8" name="rect 257"/>
          <p:cNvSpPr/>
          <p:nvPr/>
        </p:nvSpPr>
        <p:spPr>
          <a:xfrm>
            <a:off x="2969890" y="6627390"/>
            <a:ext cx="263340" cy="248710"/>
          </a:xfrm>
          <a:prstGeom prst="roundRect">
            <a:avLst>
              <a:gd name="adj" fmla="val 2941"/>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9" name="rect 258"/>
          <p:cNvSpPr/>
          <p:nvPr/>
        </p:nvSpPr>
        <p:spPr>
          <a:xfrm>
            <a:off x="3299065" y="6627390"/>
            <a:ext cx="263340" cy="248710"/>
          </a:xfrm>
          <a:prstGeom prst="roundRect">
            <a:avLst>
              <a:gd name="adj" fmla="val 2941"/>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0" name="rect 259"/>
          <p:cNvSpPr/>
          <p:nvPr/>
        </p:nvSpPr>
        <p:spPr>
          <a:xfrm>
            <a:off x="3628240" y="6627390"/>
            <a:ext cx="263340" cy="248710"/>
          </a:xfrm>
          <a:prstGeom prst="roundRect">
            <a:avLst>
              <a:gd name="adj" fmla="val 2941"/>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1" name="path 260"/>
          <p:cNvSpPr/>
          <p:nvPr/>
        </p:nvSpPr>
        <p:spPr>
          <a:xfrm>
            <a:off x="2721180" y="6927305"/>
            <a:ext cx="58520" cy="51205"/>
          </a:xfrm>
          <a:custGeom>
            <a:avLst/>
            <a:gdLst/>
            <a:ahLst/>
            <a:cxnLst/>
            <a:rect l="l" t="t" r="r" b="b"/>
            <a:pathLst>
              <a:path w="8" h="7">
                <a:moveTo>
                  <a:pt x="0" y="7"/>
                </a:moveTo>
                <a:lnTo>
                  <a:pt x="0" y="0"/>
                </a:lnTo>
                <a:lnTo>
                  <a:pt x="8" y="0"/>
                </a:lnTo>
                <a:lnTo>
                  <a:pt x="8" y="7"/>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2" name="rect 261"/>
          <p:cNvSpPr/>
          <p:nvPr/>
        </p:nvSpPr>
        <p:spPr>
          <a:xfrm>
            <a:off x="2699235" y="6977047"/>
            <a:ext cx="105336" cy="87780"/>
          </a:xfrm>
          <a:prstGeom prst="roundRect">
            <a:avLst>
              <a:gd name="adj" fmla="val 16666"/>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3" name="circle 262"/>
          <p:cNvSpPr/>
          <p:nvPr/>
        </p:nvSpPr>
        <p:spPr>
          <a:xfrm>
            <a:off x="2743125" y="7003381"/>
            <a:ext cx="17556" cy="17556"/>
          </a:xfrm>
          <a:prstGeom prst="ellipse">
            <a:avLst/>
          </a:prstGeom>
          <a:solidFill>
            <a:srgbClr val="18181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4" name="private"/>
          <p:cNvSpPr txBox="1"/>
          <p:nvPr/>
        </p:nvSpPr>
        <p:spPr>
          <a:xfrm>
            <a:off x="3094245" y="7004112"/>
            <a:ext cx="630947" cy="208478"/>
          </a:xfrm>
          <a:prstGeom prst="rect">
            <a:avLst/>
          </a:prstGeom>
          <a:noFill/>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rPr>
              <a:t>private</a:t>
            </a:r>
          </a:p>
        </p:txBody>
      </p:sp>
      <p:cxnSp>
        <p:nvCxnSpPr>
          <p:cNvPr id="265" name="path 264"/>
          <p:cNvCxnSpPr/>
          <p:nvPr/>
        </p:nvCxnSpPr>
        <p:spPr>
          <a:xfrm>
            <a:off x="4008620" y="6751745"/>
            <a:ext cx="636405" cy="0"/>
          </a:xfrm>
          <a:prstGeom prst="line">
            <a:avLst/>
          </a:prstGeom>
          <a:ln w="19019">
            <a:solidFill>
              <a:srgbClr val="BF3335"/>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266" name="rect 265"/>
          <p:cNvSpPr/>
          <p:nvPr/>
        </p:nvSpPr>
        <p:spPr>
          <a:xfrm>
            <a:off x="4740120" y="6590815"/>
            <a:ext cx="899745" cy="351120"/>
          </a:xfrm>
          <a:prstGeom prst="roundRect">
            <a:avLst>
              <a:gd name="adj" fmla="val 4166"/>
            </a:avLst>
          </a:prstGeom>
          <a:solidFill>
            <a:srgbClr val="FFFFFF"/>
          </a:solidFill>
          <a:ln w="1243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7" name="rect 266"/>
          <p:cNvSpPr/>
          <p:nvPr/>
        </p:nvSpPr>
        <p:spPr>
          <a:xfrm>
            <a:off x="4805955" y="6678595"/>
            <a:ext cx="146300" cy="175560"/>
          </a:xfrm>
          <a:prstGeom prst="rect">
            <a:avLst/>
          </a:prstGeom>
          <a:solidFill>
            <a:srgbClr val="FFFFFF"/>
          </a:solidFill>
          <a:ln w="8778">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8" name="rect 267"/>
          <p:cNvSpPr/>
          <p:nvPr/>
        </p:nvSpPr>
        <p:spPr>
          <a:xfrm>
            <a:off x="5010775" y="6678595"/>
            <a:ext cx="146300" cy="175560"/>
          </a:xfrm>
          <a:prstGeom prst="rect">
            <a:avLst/>
          </a:prstGeom>
          <a:solidFill>
            <a:srgbClr val="FFFFFF"/>
          </a:solidFill>
          <a:ln w="8778">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9" name="rect 268"/>
          <p:cNvSpPr/>
          <p:nvPr/>
        </p:nvSpPr>
        <p:spPr>
          <a:xfrm>
            <a:off x="5215595" y="6678595"/>
            <a:ext cx="146300" cy="175560"/>
          </a:xfrm>
          <a:prstGeom prst="rect">
            <a:avLst/>
          </a:prstGeom>
          <a:solidFill>
            <a:srgbClr val="FFFFFF"/>
          </a:solidFill>
          <a:ln w="8778">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0" name="rect 269"/>
          <p:cNvSpPr/>
          <p:nvPr/>
        </p:nvSpPr>
        <p:spPr>
          <a:xfrm>
            <a:off x="5420415" y="6678595"/>
            <a:ext cx="146300" cy="175560"/>
          </a:xfrm>
          <a:prstGeom prst="rect">
            <a:avLst/>
          </a:prstGeom>
          <a:solidFill>
            <a:srgbClr val="FFFFFF"/>
          </a:solidFill>
          <a:ln w="8778">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1" name="Free list"/>
          <p:cNvSpPr txBox="1"/>
          <p:nvPr/>
        </p:nvSpPr>
        <p:spPr>
          <a:xfrm>
            <a:off x="4740120" y="7011428"/>
            <a:ext cx="824195" cy="217621"/>
          </a:xfrm>
          <a:prstGeom prst="rect">
            <a:avLst/>
          </a:prstGeom>
          <a:noFill/>
        </p:spPr>
        <p:txBody>
          <a:bodyPr wrap="none" lIns="0" rIns="0" tIns="0" bIns="0" anchor="t">
            <a:spAutoFit/>
          </a:bodyPr>
          <a:lstStyle/>
          <a:p>
            <a:pPr algn="l">
              <a:lnSpc>
                <a:spcPct val="100000"/>
              </a:lnSpc>
              <a:spcBef>
                <a:spcPts val="0"/>
              </a:spcBef>
              <a:spcAft>
                <a:spcPts val="0"/>
              </a:spcAft>
            </a:pPr>
            <a:r>
              <a:rPr sz="1267" b="1" i="0" lang="en-US" spc="0">
                <a:solidFill>
                  <a:srgbClr val="181818"/>
                </a:solidFill>
                <a:latin typeface="DejaVu Sans"/>
                <a:ea typeface="DejaVu Sans"/>
              </a:rPr>
              <a:t>Free list</a:t>
            </a:r>
          </a:p>
        </p:txBody>
      </p:sp>
      <p:cxnSp>
        <p:nvCxnSpPr>
          <p:cNvPr id="272" name="path 271"/>
          <p:cNvCxnSpPr/>
          <p:nvPr/>
        </p:nvCxnSpPr>
        <p:spPr>
          <a:xfrm>
            <a:off x="5676440" y="6751745"/>
            <a:ext cx="694925" cy="0"/>
          </a:xfrm>
          <a:prstGeom prst="line">
            <a:avLst/>
          </a:prstGeom>
          <a:ln w="19019">
            <a:solidFill>
              <a:srgbClr val="BF3335"/>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273" name="rect 272"/>
          <p:cNvSpPr/>
          <p:nvPr/>
        </p:nvSpPr>
        <p:spPr>
          <a:xfrm>
            <a:off x="6481090" y="6605445"/>
            <a:ext cx="365750" cy="314545"/>
          </a:xfrm>
          <a:prstGeom prst="roundRect">
            <a:avLst>
              <a:gd name="adj" fmla="val 2325"/>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4" name="q0"/>
          <p:cNvSpPr txBox="1"/>
          <p:nvPr/>
        </p:nvSpPr>
        <p:spPr>
          <a:xfrm>
            <a:off x="6511650" y="6672304"/>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q0</a:t>
            </a:r>
          </a:p>
        </p:txBody>
      </p:sp>
      <p:sp>
        <p:nvSpPr>
          <p:cNvPr id="275" name="rect 274"/>
          <p:cNvSpPr/>
          <p:nvPr/>
        </p:nvSpPr>
        <p:spPr>
          <a:xfrm>
            <a:off x="6927305" y="6605445"/>
            <a:ext cx="365750" cy="314545"/>
          </a:xfrm>
          <a:prstGeom prst="roundRect">
            <a:avLst>
              <a:gd name="adj" fmla="val 2325"/>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6" name="q1"/>
          <p:cNvSpPr txBox="1"/>
          <p:nvPr/>
        </p:nvSpPr>
        <p:spPr>
          <a:xfrm>
            <a:off x="6957865" y="6672304"/>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q1</a:t>
            </a:r>
          </a:p>
        </p:txBody>
      </p:sp>
      <p:sp>
        <p:nvSpPr>
          <p:cNvPr id="277" name="rect 276"/>
          <p:cNvSpPr/>
          <p:nvPr/>
        </p:nvSpPr>
        <p:spPr>
          <a:xfrm>
            <a:off x="7373520" y="6605445"/>
            <a:ext cx="365750" cy="314545"/>
          </a:xfrm>
          <a:prstGeom prst="roundRect">
            <a:avLst>
              <a:gd name="adj" fmla="val 2325"/>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8" name="q2"/>
          <p:cNvSpPr txBox="1"/>
          <p:nvPr/>
        </p:nvSpPr>
        <p:spPr>
          <a:xfrm>
            <a:off x="7404080" y="6672304"/>
            <a:ext cx="30463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rPr>
              <a:t>q2</a:t>
            </a:r>
          </a:p>
        </p:txBody>
      </p:sp>
      <p:sp>
        <p:nvSpPr>
          <p:cNvPr id="279" name="Parent KV"/>
          <p:cNvSpPr txBox="1"/>
          <p:nvPr/>
        </p:nvSpPr>
        <p:spPr>
          <a:xfrm>
            <a:off x="6539610" y="6989482"/>
            <a:ext cx="1036558" cy="226765"/>
          </a:xfrm>
          <a:prstGeom prst="rect">
            <a:avLst/>
          </a:prstGeom>
          <a:noFill/>
        </p:spPr>
        <p:txBody>
          <a:bodyPr wrap="none" lIns="0" rIns="0" tIns="0" bIns="0" anchor="t">
            <a:spAutoFit/>
          </a:bodyPr>
          <a:lstStyle/>
          <a:p>
            <a:pPr algn="l">
              <a:lnSpc>
                <a:spcPct val="100000"/>
              </a:lnSpc>
              <a:spcBef>
                <a:spcPts val="0"/>
              </a:spcBef>
              <a:spcAft>
                <a:spcPts val="0"/>
              </a:spcAft>
            </a:pPr>
            <a:r>
              <a:rPr sz="1324" b="1" i="0" lang="en-US" spc="0">
                <a:solidFill>
                  <a:srgbClr val="181818"/>
                </a:solidFill>
                <a:latin typeface="DejaVu Sans"/>
                <a:ea typeface="DejaVu Sans"/>
              </a:rPr>
              <a:t>Parent KV</a:t>
            </a:r>
          </a:p>
        </p:txBody>
      </p:sp>
      <p:cxnSp>
        <p:nvCxnSpPr>
          <p:cNvPr id="280" name="line 279"/>
          <p:cNvCxnSpPr/>
          <p:nvPr/>
        </p:nvCxnSpPr>
        <p:spPr>
          <a:xfrm>
            <a:off x="6810265" y="7402780"/>
            <a:ext cx="0" cy="936320"/>
          </a:xfrm>
          <a:prstGeom prst="line">
            <a:avLst/>
          </a:prstGeom>
          <a:ln w="12435">
            <a:solidFill>
              <a:srgbClr val="969696"/>
            </a:solidFill>
            <a:prstDash val="dash"/>
          </a:ln>
          <a:effectLst/>
        </p:spPr>
        <p:style>
          <a:lnRef idx="2">
            <a:schemeClr val="accent1"/>
          </a:lnRef>
          <a:fillRef idx="0">
            <a:schemeClr val="accent1"/>
          </a:fillRef>
          <a:effectRef idx="0">
            <a:schemeClr val="accent1"/>
          </a:effectRef>
          <a:fontRef idx="minor">
            <a:schemeClr val="tx1"/>
          </a:fontRef>
        </p:style>
      </p:cxnSp>
      <p:sp>
        <p:nvSpPr>
          <p:cNvPr id="281" name="RETURN"/>
          <p:cNvSpPr txBox="1"/>
          <p:nvPr/>
        </p:nvSpPr>
        <p:spPr>
          <a:xfrm>
            <a:off x="6890730" y="7391808"/>
            <a:ext cx="787363" cy="208478"/>
          </a:xfrm>
          <a:prstGeom prst="rect">
            <a:avLst/>
          </a:prstGeom>
          <a:noFill/>
        </p:spPr>
        <p:txBody>
          <a:bodyPr wrap="none" lIns="0" rIns="0" tIns="0" bIns="0" anchor="t">
            <a:spAutoFit/>
          </a:bodyPr>
          <a:lstStyle/>
          <a:p>
            <a:pPr algn="l">
              <a:lnSpc>
                <a:spcPct val="100000"/>
              </a:lnSpc>
              <a:spcBef>
                <a:spcPts val="0"/>
              </a:spcBef>
              <a:spcAft>
                <a:spcPts val="0"/>
              </a:spcAft>
            </a:pPr>
            <a:r>
              <a:rPr sz="1209" b="1" i="0" lang="en-US" spc="0">
                <a:solidFill>
                  <a:srgbClr val="181818"/>
                </a:solidFill>
                <a:latin typeface="DejaVu Sans"/>
                <a:ea typeface="DejaVu Sans"/>
              </a:rPr>
              <a:t>RETURN</a:t>
            </a:r>
          </a:p>
        </p:txBody>
      </p:sp>
      <p:sp>
        <p:nvSpPr>
          <p:cNvPr id="282" name="rect 281"/>
          <p:cNvSpPr/>
          <p:nvPr/>
        </p:nvSpPr>
        <p:spPr>
          <a:xfrm>
            <a:off x="2713865" y="8061130"/>
            <a:ext cx="4096400" cy="234080"/>
          </a:xfrm>
          <a:prstGeom prst="roundRect">
            <a:avLst>
              <a:gd name="adj" fmla="val 3125"/>
            </a:avLst>
          </a:prstGeom>
          <a:solidFill>
            <a:srgbClr val="F2BD7D"/>
          </a:solidFill>
          <a:ln w="11704">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3" name="C2: decode"/>
          <p:cNvSpPr txBox="1"/>
          <p:nvPr/>
        </p:nvSpPr>
        <p:spPr>
          <a:xfrm>
            <a:off x="4074541" y="8072102"/>
            <a:ext cx="1038559" cy="226765"/>
          </a:xfrm>
          <a:prstGeom prst="rect">
            <a:avLst/>
          </a:prstGeom>
          <a:noFill/>
        </p:spPr>
        <p:txBody>
          <a:bodyPr wrap="none" lIns="0" rIns="0" tIns="0" bIns="0" anchor="t">
            <a:spAutoFit/>
          </a:bodyPr>
          <a:lstStyle/>
          <a:p>
            <a:pPr algn="ctr">
              <a:lnSpc>
                <a:spcPct val="100000"/>
              </a:lnSpc>
              <a:spcBef>
                <a:spcPts val="0"/>
              </a:spcBef>
              <a:spcAft>
                <a:spcPts val="0"/>
              </a:spcAft>
            </a:pPr>
            <a:r>
              <a:rPr sz="1324" b="0" i="0" lang="en-US" spc="0">
                <a:solidFill>
                  <a:srgbClr val="181818"/>
                </a:solidFill>
                <a:latin typeface="DejaVu Sans"/>
                <a:ea typeface="DejaVu Sans"/>
              </a:rPr>
              <a:t>C2: decode</a:t>
            </a:r>
          </a:p>
        </p:txBody>
      </p:sp>
      <p:sp>
        <p:nvSpPr>
          <p:cNvPr id="284" name="rect 283"/>
          <p:cNvSpPr/>
          <p:nvPr/>
        </p:nvSpPr>
        <p:spPr>
          <a:xfrm>
            <a:off x="5274115" y="7666120"/>
            <a:ext cx="1324015" cy="241395"/>
          </a:xfrm>
          <a:prstGeom prst="roundRect">
            <a:avLst>
              <a:gd name="adj" fmla="val 3030"/>
            </a:avLst>
          </a:prstGeom>
          <a:solidFill>
            <a:srgbClr val="F5D460"/>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5" name="H2D"/>
          <p:cNvSpPr txBox="1"/>
          <p:nvPr/>
        </p:nvSpPr>
        <p:spPr>
          <a:xfrm>
            <a:off x="5699128" y="7677092"/>
            <a:ext cx="466674" cy="235909"/>
          </a:xfrm>
          <a:prstGeom prst="rect">
            <a:avLst/>
          </a:prstGeom>
          <a:noFill/>
        </p:spPr>
        <p:txBody>
          <a:bodyPr wrap="none" lIns="0" rIns="0" tIns="0" bIns="0" anchor="t">
            <a:spAutoFit/>
          </a:bodyPr>
          <a:lstStyle/>
          <a:p>
            <a:pPr algn="ctr">
              <a:lnSpc>
                <a:spcPct val="100000"/>
              </a:lnSpc>
              <a:spcBef>
                <a:spcPts val="0"/>
              </a:spcBef>
              <a:spcAft>
                <a:spcPts val="0"/>
              </a:spcAft>
            </a:pPr>
            <a:r>
              <a:rPr sz="1382" b="0" i="0" lang="en-US" spc="0">
                <a:solidFill>
                  <a:srgbClr val="181818"/>
                </a:solidFill>
                <a:latin typeface="DejaVu Sans"/>
                <a:ea typeface="DejaVu Sans"/>
              </a:rPr>
              <a:t>H2D</a:t>
            </a:r>
          </a:p>
        </p:txBody>
      </p:sp>
      <p:sp>
        <p:nvSpPr>
          <p:cNvPr id="286" name="rect 285"/>
          <p:cNvSpPr/>
          <p:nvPr/>
        </p:nvSpPr>
        <p:spPr>
          <a:xfrm>
            <a:off x="6824895" y="7666120"/>
            <a:ext cx="1082620" cy="241395"/>
          </a:xfrm>
          <a:prstGeom prst="roundRect">
            <a:avLst>
              <a:gd name="adj" fmla="val 3030"/>
            </a:avLst>
          </a:prstGeom>
          <a:solidFill>
            <a:srgbClr val="DDDDDD"/>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7" name="demand"/>
          <p:cNvSpPr txBox="1"/>
          <p:nvPr/>
        </p:nvSpPr>
        <p:spPr>
          <a:xfrm>
            <a:off x="7006970" y="7699038"/>
            <a:ext cx="718470" cy="208478"/>
          </a:xfrm>
          <a:prstGeom prst="rect">
            <a:avLst/>
          </a:prstGeom>
          <a:noFill/>
        </p:spPr>
        <p:txBody>
          <a:bodyPr wrap="none" lIns="0" rIns="0" tIns="0" bIns="0" anchor="t">
            <a:spAutoFit/>
          </a:bodyPr>
          <a:lstStyle/>
          <a:p>
            <a:pPr algn="ctr">
              <a:lnSpc>
                <a:spcPct val="100000"/>
              </a:lnSpc>
              <a:spcBef>
                <a:spcPts val="0"/>
              </a:spcBef>
              <a:spcAft>
                <a:spcPts val="0"/>
              </a:spcAft>
            </a:pPr>
            <a:r>
              <a:rPr sz="1209" b="0" i="0" lang="en-US" spc="0">
                <a:solidFill>
                  <a:srgbClr val="181818"/>
                </a:solidFill>
                <a:latin typeface="DejaVu Sans"/>
                <a:ea typeface="DejaVu Sans"/>
              </a:rPr>
              <a:t>demand</a:t>
            </a:r>
          </a:p>
        </p:txBody>
      </p:sp>
      <p:sp>
        <p:nvSpPr>
          <p:cNvPr id="288" name="path 287"/>
          <p:cNvSpPr/>
          <p:nvPr/>
        </p:nvSpPr>
        <p:spPr>
          <a:xfrm>
            <a:off x="4498725" y="6883415"/>
            <a:ext cx="1433740" cy="753445"/>
          </a:xfrm>
          <a:custGeom>
            <a:avLst/>
            <a:gdLst/>
            <a:ahLst/>
            <a:cxnLst/>
            <a:rect l="l" t="t" r="r" b="b"/>
            <a:pathLst>
              <a:path w="196" h="103">
                <a:moveTo>
                  <a:pt x="33" y="0"/>
                </a:moveTo>
                <a:lnTo>
                  <a:pt x="0" y="0"/>
                </a:lnTo>
                <a:lnTo>
                  <a:pt x="0" y="60"/>
                </a:lnTo>
                <a:lnTo>
                  <a:pt x="196" y="60"/>
                </a:lnTo>
                <a:lnTo>
                  <a:pt x="196" y="103"/>
                </a:lnTo>
              </a:path>
            </a:pathLst>
          </a:custGeom>
          <a:noFill/>
          <a:ln w="19019">
            <a:solidFill>
              <a:srgbClr val="BF3335"/>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9" name="path 288"/>
          <p:cNvSpPr/>
          <p:nvPr/>
        </p:nvSpPr>
        <p:spPr>
          <a:xfrm>
            <a:off x="1792175" y="8156225"/>
            <a:ext cx="65835" cy="51205"/>
          </a:xfrm>
          <a:custGeom>
            <a:avLst/>
            <a:gdLst/>
            <a:ahLst/>
            <a:cxnLst/>
            <a:rect l="l" t="t" r="r" b="b"/>
            <a:pathLst>
              <a:path w="9" h="7">
                <a:moveTo>
                  <a:pt x="0" y="7"/>
                </a:moveTo>
                <a:lnTo>
                  <a:pt x="0" y="0"/>
                </a:lnTo>
                <a:lnTo>
                  <a:pt x="9" y="0"/>
                </a:lnTo>
                <a:lnTo>
                  <a:pt x="9" y="7"/>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0" name="rect 289"/>
          <p:cNvSpPr/>
          <p:nvPr/>
        </p:nvSpPr>
        <p:spPr>
          <a:xfrm>
            <a:off x="1770230" y="8210722"/>
            <a:ext cx="114114" cy="95095"/>
          </a:xfrm>
          <a:prstGeom prst="roundRect">
            <a:avLst>
              <a:gd name="adj" fmla="val 15384"/>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1" name="circle 290"/>
          <p:cNvSpPr/>
          <p:nvPr/>
        </p:nvSpPr>
        <p:spPr>
          <a:xfrm>
            <a:off x="1817778" y="8239250"/>
            <a:ext cx="19019" cy="19019"/>
          </a:xfrm>
          <a:prstGeom prst="ellipse">
            <a:avLst/>
          </a:prstGeom>
          <a:solidFill>
            <a:srgbClr val="18181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2" name="rect 291"/>
          <p:cNvSpPr/>
          <p:nvPr/>
        </p:nvSpPr>
        <p:spPr>
          <a:xfrm>
            <a:off x="8412250" y="6071450"/>
            <a:ext cx="4462150" cy="2384690"/>
          </a:xfrm>
          <a:prstGeom prst="roundRect">
            <a:avLst>
              <a:gd name="adj" fmla="val 1840"/>
            </a:avLst>
          </a:prstGeom>
          <a:solidFill>
            <a:srgbClr val="EEEEEE"/>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3" name="rect 292"/>
          <p:cNvSpPr/>
          <p:nvPr/>
        </p:nvSpPr>
        <p:spPr>
          <a:xfrm>
            <a:off x="8412250" y="6071450"/>
            <a:ext cx="4462150" cy="351120"/>
          </a:xfrm>
          <a:prstGeom prst="roundRect">
            <a:avLst>
              <a:gd name="adj" fmla="val 12500"/>
            </a:avLst>
          </a:prstGeom>
          <a:solidFill>
            <a:srgbClr val="A9CEE8"/>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4" name="rect 293"/>
          <p:cNvSpPr/>
          <p:nvPr/>
        </p:nvSpPr>
        <p:spPr>
          <a:xfrm>
            <a:off x="8421028" y="6268955"/>
            <a:ext cx="4444594" cy="146300"/>
          </a:xfrm>
          <a:prstGeom prst="rect">
            <a:avLst/>
          </a:prstGeom>
          <a:solidFill>
            <a:srgbClr val="A9CE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95" name="line 294"/>
          <p:cNvCxnSpPr/>
          <p:nvPr/>
        </p:nvCxnSpPr>
        <p:spPr>
          <a:xfrm>
            <a:off x="8412250" y="6422570"/>
            <a:ext cx="4462150" cy="0"/>
          </a:xfrm>
          <a:prstGeom prst="line">
            <a:avLst/>
          </a:prstGeom>
          <a:ln w="12435">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296" name="(e) Timely consumption"/>
          <p:cNvSpPr txBox="1"/>
          <p:nvPr/>
        </p:nvSpPr>
        <p:spPr>
          <a:xfrm>
            <a:off x="8558550" y="6122655"/>
            <a:ext cx="2812989" cy="268826"/>
          </a:xfrm>
          <a:prstGeom prst="rect">
            <a:avLst/>
          </a:prstGeom>
          <a:noFill/>
        </p:spPr>
        <p:txBody>
          <a:bodyPr wrap="none" lIns="0" rIns="0" tIns="0" bIns="0" anchor="t">
            <a:spAutoFit/>
          </a:bodyPr>
          <a:lstStyle/>
          <a:p>
            <a:pPr algn="l">
              <a:lnSpc>
                <a:spcPct val="100000"/>
              </a:lnSpc>
              <a:spcBef>
                <a:spcPts val="0"/>
              </a:spcBef>
              <a:spcAft>
                <a:spcPts val="0"/>
              </a:spcAft>
            </a:pPr>
            <a:r>
              <a:rPr sz="1612" b="1" i="0" lang="en-US" spc="0">
                <a:solidFill>
                  <a:srgbClr val="181818"/>
                </a:solidFill>
                <a:latin typeface="DejaVu Sans"/>
                <a:ea typeface="DejaVu Sans"/>
              </a:rPr>
              <a:t>(e) Timely consumption</a:t>
            </a:r>
          </a:p>
        </p:txBody>
      </p:sp>
      <p:sp>
        <p:nvSpPr>
          <p:cNvPr id="297" name="rect 296"/>
          <p:cNvSpPr/>
          <p:nvPr/>
        </p:nvSpPr>
        <p:spPr>
          <a:xfrm>
            <a:off x="8639015" y="6627390"/>
            <a:ext cx="1433740" cy="380380"/>
          </a:xfrm>
          <a:prstGeom prst="roundRect">
            <a:avLst>
              <a:gd name="adj" fmla="val 3846"/>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8" name="rect 297"/>
          <p:cNvSpPr/>
          <p:nvPr/>
        </p:nvSpPr>
        <p:spPr>
          <a:xfrm>
            <a:off x="8646330" y="6634705"/>
            <a:ext cx="73150" cy="365750"/>
          </a:xfrm>
          <a:prstGeom prst="rect">
            <a:avLst/>
          </a:prstGeom>
          <a:solidFill>
            <a:srgbClr val="DDDDD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9" name="old"/>
          <p:cNvSpPr txBox="1"/>
          <p:nvPr/>
        </p:nvSpPr>
        <p:spPr>
          <a:xfrm>
            <a:off x="8799402" y="6717511"/>
            <a:ext cx="381466" cy="226765"/>
          </a:xfrm>
          <a:prstGeom prst="rect">
            <a:avLst/>
          </a:prstGeom>
          <a:noFill/>
        </p:spPr>
        <p:txBody>
          <a:bodyPr wrap="none" lIns="0" rIns="0" tIns="0" bIns="0" anchor="t">
            <a:spAutoFit/>
          </a:bodyPr>
          <a:lstStyle/>
          <a:p>
            <a:pPr algn="ctr">
              <a:lnSpc>
                <a:spcPct val="100000"/>
              </a:lnSpc>
              <a:spcBef>
                <a:spcPts val="0"/>
              </a:spcBef>
              <a:spcAft>
                <a:spcPts val="0"/>
              </a:spcAft>
            </a:pPr>
            <a:r>
              <a:rPr sz="1324" b="1" i="0" lang="en-US" spc="0">
                <a:solidFill>
                  <a:srgbClr val="181818"/>
                </a:solidFill>
                <a:latin typeface="DejaVu Sans"/>
                <a:ea typeface="DejaVu Sans"/>
              </a:rPr>
              <a:t>old</a:t>
            </a:r>
          </a:p>
        </p:txBody>
      </p:sp>
      <p:sp>
        <p:nvSpPr>
          <p:cNvPr id="300" name="rect 299"/>
          <p:cNvSpPr/>
          <p:nvPr/>
        </p:nvSpPr>
        <p:spPr>
          <a:xfrm>
            <a:off x="9524130" y="6737115"/>
            <a:ext cx="109725" cy="160930"/>
          </a:xfrm>
          <a:prstGeom prst="roundRect">
            <a:avLst>
              <a:gd name="adj" fmla="val 6666"/>
            </a:avLst>
          </a:prstGeom>
          <a:solidFill>
            <a:srgbClr val="FFFFFF"/>
          </a:solidFill>
          <a:ln w="13167">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1" name="rect 300"/>
          <p:cNvSpPr/>
          <p:nvPr/>
        </p:nvSpPr>
        <p:spPr>
          <a:xfrm>
            <a:off x="9670430" y="6737115"/>
            <a:ext cx="109725" cy="160930"/>
          </a:xfrm>
          <a:prstGeom prst="roundRect">
            <a:avLst>
              <a:gd name="adj" fmla="val 6666"/>
            </a:avLst>
          </a:prstGeom>
          <a:solidFill>
            <a:srgbClr val="FFFFFF"/>
          </a:solidFill>
          <a:ln w="13167">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2" name="rect 301"/>
          <p:cNvSpPr/>
          <p:nvPr/>
        </p:nvSpPr>
        <p:spPr>
          <a:xfrm>
            <a:off x="9816730" y="6737115"/>
            <a:ext cx="109725" cy="160930"/>
          </a:xfrm>
          <a:prstGeom prst="roundRect">
            <a:avLst>
              <a:gd name="adj" fmla="val 6666"/>
            </a:avLst>
          </a:prstGeom>
          <a:solidFill>
            <a:srgbClr val="FFFFFF"/>
          </a:solidFill>
          <a:ln w="13167">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3" name="rect 302"/>
          <p:cNvSpPr/>
          <p:nvPr/>
        </p:nvSpPr>
        <p:spPr>
          <a:xfrm>
            <a:off x="8639015" y="7197960"/>
            <a:ext cx="1433740" cy="380380"/>
          </a:xfrm>
          <a:prstGeom prst="roundRect">
            <a:avLst>
              <a:gd name="adj" fmla="val 3846"/>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4" name="rect 303"/>
          <p:cNvSpPr/>
          <p:nvPr/>
        </p:nvSpPr>
        <p:spPr>
          <a:xfrm>
            <a:off x="8646330" y="7205275"/>
            <a:ext cx="73150" cy="365750"/>
          </a:xfrm>
          <a:prstGeom prst="rect">
            <a:avLst/>
          </a:prstGeom>
          <a:solidFill>
            <a:srgbClr val="B5D68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5" name="hit"/>
          <p:cNvSpPr txBox="1"/>
          <p:nvPr/>
        </p:nvSpPr>
        <p:spPr>
          <a:xfrm>
            <a:off x="8817304" y="7288081"/>
            <a:ext cx="345662" cy="226765"/>
          </a:xfrm>
          <a:prstGeom prst="rect">
            <a:avLst/>
          </a:prstGeom>
          <a:noFill/>
        </p:spPr>
        <p:txBody>
          <a:bodyPr wrap="none" lIns="0" rIns="0" tIns="0" bIns="0" anchor="t">
            <a:spAutoFit/>
          </a:bodyPr>
          <a:lstStyle/>
          <a:p>
            <a:pPr algn="ctr">
              <a:lnSpc>
                <a:spcPct val="100000"/>
              </a:lnSpc>
              <a:spcBef>
                <a:spcPts val="0"/>
              </a:spcBef>
              <a:spcAft>
                <a:spcPts val="0"/>
              </a:spcAft>
            </a:pPr>
            <a:r>
              <a:rPr sz="1324" b="1" i="0" lang="en-US" spc="0">
                <a:solidFill>
                  <a:srgbClr val="181818"/>
                </a:solidFill>
                <a:latin typeface="DejaVu Sans"/>
                <a:ea typeface="DejaVu Sans"/>
              </a:rPr>
              <a:t>hit</a:t>
            </a:r>
          </a:p>
        </p:txBody>
      </p:sp>
      <p:sp>
        <p:nvSpPr>
          <p:cNvPr id="306" name="rect 305"/>
          <p:cNvSpPr/>
          <p:nvPr/>
        </p:nvSpPr>
        <p:spPr>
          <a:xfrm>
            <a:off x="9524130" y="7307685"/>
            <a:ext cx="109725" cy="160930"/>
          </a:xfrm>
          <a:prstGeom prst="roundRect">
            <a:avLst>
              <a:gd name="adj" fmla="val 6666"/>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7" name="rect 306"/>
          <p:cNvSpPr/>
          <p:nvPr/>
        </p:nvSpPr>
        <p:spPr>
          <a:xfrm>
            <a:off x="9670430" y="7307685"/>
            <a:ext cx="109725" cy="160930"/>
          </a:xfrm>
          <a:prstGeom prst="roundRect">
            <a:avLst>
              <a:gd name="adj" fmla="val 6666"/>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8" name="rect 307"/>
          <p:cNvSpPr/>
          <p:nvPr/>
        </p:nvSpPr>
        <p:spPr>
          <a:xfrm>
            <a:off x="9816730" y="7307685"/>
            <a:ext cx="109725" cy="160930"/>
          </a:xfrm>
          <a:prstGeom prst="roundRect">
            <a:avLst>
              <a:gd name="adj" fmla="val 6666"/>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9" name="rect 308"/>
          <p:cNvSpPr/>
          <p:nvPr/>
        </p:nvSpPr>
        <p:spPr>
          <a:xfrm>
            <a:off x="8639015" y="7768530"/>
            <a:ext cx="1433740" cy="380380"/>
          </a:xfrm>
          <a:prstGeom prst="roundRect">
            <a:avLst>
              <a:gd name="adj" fmla="val 3846"/>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0" name="rect 309"/>
          <p:cNvSpPr/>
          <p:nvPr/>
        </p:nvSpPr>
        <p:spPr>
          <a:xfrm>
            <a:off x="8646330" y="7775845"/>
            <a:ext cx="73150" cy="365750"/>
          </a:xfrm>
          <a:prstGeom prst="rect">
            <a:avLst/>
          </a:prstGeom>
          <a:solidFill>
            <a:srgbClr val="E9A6B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1" name="P"/>
          <p:cNvSpPr txBox="1"/>
          <p:nvPr/>
        </p:nvSpPr>
        <p:spPr>
          <a:xfrm>
            <a:off x="8884596" y="7858651"/>
            <a:ext cx="211078" cy="226765"/>
          </a:xfrm>
          <a:prstGeom prst="rect">
            <a:avLst/>
          </a:prstGeom>
          <a:noFill/>
        </p:spPr>
        <p:txBody>
          <a:bodyPr wrap="none" lIns="0" rIns="0" tIns="0" bIns="0" anchor="t">
            <a:spAutoFit/>
          </a:bodyPr>
          <a:lstStyle/>
          <a:p>
            <a:pPr algn="ctr">
              <a:lnSpc>
                <a:spcPct val="100000"/>
              </a:lnSpc>
              <a:spcBef>
                <a:spcPts val="0"/>
              </a:spcBef>
              <a:spcAft>
                <a:spcPts val="0"/>
              </a:spcAft>
            </a:pPr>
            <a:r>
              <a:rPr sz="1324" b="1" i="0" lang="en-US" spc="0">
                <a:solidFill>
                  <a:srgbClr val="181818"/>
                </a:solidFill>
                <a:latin typeface="DejaVu Sans"/>
                <a:ea typeface="DejaVu Sans"/>
              </a:rPr>
              <a:t>P</a:t>
            </a:r>
          </a:p>
        </p:txBody>
      </p:sp>
      <p:sp>
        <p:nvSpPr>
          <p:cNvPr id="312" name="rect 311"/>
          <p:cNvSpPr/>
          <p:nvPr/>
        </p:nvSpPr>
        <p:spPr>
          <a:xfrm>
            <a:off x="9524130" y="7878255"/>
            <a:ext cx="109725" cy="160930"/>
          </a:xfrm>
          <a:prstGeom prst="roundRect">
            <a:avLst>
              <a:gd name="adj" fmla="val 6666"/>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3" name="rect 312"/>
          <p:cNvSpPr/>
          <p:nvPr/>
        </p:nvSpPr>
        <p:spPr>
          <a:xfrm>
            <a:off x="9670430" y="7878255"/>
            <a:ext cx="109725" cy="160930"/>
          </a:xfrm>
          <a:prstGeom prst="roundRect">
            <a:avLst>
              <a:gd name="adj" fmla="val 6666"/>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4" name="rect 313"/>
          <p:cNvSpPr/>
          <p:nvPr/>
        </p:nvSpPr>
        <p:spPr>
          <a:xfrm>
            <a:off x="9816730" y="7878255"/>
            <a:ext cx="109725" cy="160930"/>
          </a:xfrm>
          <a:prstGeom prst="roundRect">
            <a:avLst>
              <a:gd name="adj" fmla="val 6666"/>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5" name="path 314"/>
          <p:cNvSpPr/>
          <p:nvPr/>
        </p:nvSpPr>
        <p:spPr>
          <a:xfrm>
            <a:off x="9948400" y="7644175"/>
            <a:ext cx="58520" cy="51205"/>
          </a:xfrm>
          <a:custGeom>
            <a:avLst/>
            <a:gdLst/>
            <a:ahLst/>
            <a:cxnLst/>
            <a:rect l="l" t="t" r="r" b="b"/>
            <a:pathLst>
              <a:path w="8" h="7">
                <a:moveTo>
                  <a:pt x="0" y="7"/>
                </a:moveTo>
                <a:lnTo>
                  <a:pt x="0" y="0"/>
                </a:lnTo>
                <a:lnTo>
                  <a:pt x="8" y="0"/>
                </a:lnTo>
                <a:lnTo>
                  <a:pt x="8" y="7"/>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6" name="rect 315"/>
          <p:cNvSpPr/>
          <p:nvPr/>
        </p:nvSpPr>
        <p:spPr>
          <a:xfrm>
            <a:off x="9926455" y="7693917"/>
            <a:ext cx="105336" cy="87780"/>
          </a:xfrm>
          <a:prstGeom prst="roundRect">
            <a:avLst>
              <a:gd name="adj" fmla="val 16666"/>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7" name="circle 316"/>
          <p:cNvSpPr/>
          <p:nvPr/>
        </p:nvSpPr>
        <p:spPr>
          <a:xfrm>
            <a:off x="9970345" y="7720251"/>
            <a:ext cx="17556" cy="17556"/>
          </a:xfrm>
          <a:prstGeom prst="ellipse">
            <a:avLst/>
          </a:prstGeom>
          <a:solidFill>
            <a:srgbClr val="18181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8" name="circle 317"/>
          <p:cNvSpPr/>
          <p:nvPr/>
        </p:nvSpPr>
        <p:spPr>
          <a:xfrm>
            <a:off x="10145905" y="6656650"/>
            <a:ext cx="219450" cy="219450"/>
          </a:xfrm>
          <a:prstGeom prst="ellipse">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9" name="path 318"/>
          <p:cNvSpPr/>
          <p:nvPr/>
        </p:nvSpPr>
        <p:spPr>
          <a:xfrm>
            <a:off x="10255630" y="6693225"/>
            <a:ext cx="58520" cy="102410"/>
          </a:xfrm>
          <a:custGeom>
            <a:avLst/>
            <a:gdLst/>
            <a:ahLst/>
            <a:cxnLst/>
            <a:rect l="l" t="t" r="r" b="b"/>
            <a:pathLst>
              <a:path w="8" h="14">
                <a:moveTo>
                  <a:pt x="0" y="0"/>
                </a:moveTo>
                <a:lnTo>
                  <a:pt x="0" y="10"/>
                </a:lnTo>
                <a:lnTo>
                  <a:pt x="8" y="14"/>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0" name="aging"/>
          <p:cNvSpPr txBox="1"/>
          <p:nvPr/>
        </p:nvSpPr>
        <p:spPr>
          <a:xfrm>
            <a:off x="10431190" y="6682252"/>
            <a:ext cx="516993" cy="208478"/>
          </a:xfrm>
          <a:prstGeom prst="rect">
            <a:avLst/>
          </a:prstGeom>
          <a:noFill/>
        </p:spPr>
        <p:txBody>
          <a:bodyPr wrap="none" lIns="0" rIns="0" tIns="0" bIns="0" anchor="t">
            <a:spAutoFit/>
          </a:bodyPr>
          <a:lstStyle/>
          <a:p>
            <a:pPr algn="l">
              <a:lnSpc>
                <a:spcPct val="100000"/>
              </a:lnSpc>
              <a:spcBef>
                <a:spcPts val="0"/>
              </a:spcBef>
              <a:spcAft>
                <a:spcPts val="0"/>
              </a:spcAft>
            </a:pPr>
            <a:r>
              <a:rPr sz="1209" b="0" i="0" lang="en-US" spc="0">
                <a:solidFill>
                  <a:srgbClr val="535353"/>
                </a:solidFill>
                <a:latin typeface="DejaVu Sans"/>
                <a:ea typeface="DejaVu Sans"/>
              </a:rPr>
              <a:t>aging</a:t>
            </a:r>
          </a:p>
        </p:txBody>
      </p:sp>
      <p:cxnSp>
        <p:nvCxnSpPr>
          <p:cNvPr id="321" name="line 320"/>
          <p:cNvCxnSpPr/>
          <p:nvPr/>
        </p:nvCxnSpPr>
        <p:spPr>
          <a:xfrm>
            <a:off x="11513810" y="701508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22" name="line 321"/>
          <p:cNvCxnSpPr/>
          <p:nvPr/>
        </p:nvCxnSpPr>
        <p:spPr>
          <a:xfrm>
            <a:off x="11513810" y="8075760"/>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23" name="line 322"/>
          <p:cNvCxnSpPr/>
          <p:nvPr/>
        </p:nvCxnSpPr>
        <p:spPr>
          <a:xfrm>
            <a:off x="11660110" y="701508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24" name="line 323"/>
          <p:cNvCxnSpPr/>
          <p:nvPr/>
        </p:nvCxnSpPr>
        <p:spPr>
          <a:xfrm>
            <a:off x="11660110" y="8075760"/>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25" name="line 324"/>
          <p:cNvCxnSpPr/>
          <p:nvPr/>
        </p:nvCxnSpPr>
        <p:spPr>
          <a:xfrm>
            <a:off x="11806410" y="701508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26" name="line 325"/>
          <p:cNvCxnSpPr/>
          <p:nvPr/>
        </p:nvCxnSpPr>
        <p:spPr>
          <a:xfrm>
            <a:off x="11806410" y="8075760"/>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27" name="line 326"/>
          <p:cNvCxnSpPr/>
          <p:nvPr/>
        </p:nvCxnSpPr>
        <p:spPr>
          <a:xfrm>
            <a:off x="11952710" y="701508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28" name="line 327"/>
          <p:cNvCxnSpPr/>
          <p:nvPr/>
        </p:nvCxnSpPr>
        <p:spPr>
          <a:xfrm>
            <a:off x="11952710" y="8075760"/>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29" name="line 328"/>
          <p:cNvCxnSpPr/>
          <p:nvPr/>
        </p:nvCxnSpPr>
        <p:spPr>
          <a:xfrm>
            <a:off x="12099010" y="701508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30" name="line 329"/>
          <p:cNvCxnSpPr/>
          <p:nvPr/>
        </p:nvCxnSpPr>
        <p:spPr>
          <a:xfrm>
            <a:off x="12099010" y="8075760"/>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31" name="line 330"/>
          <p:cNvCxnSpPr/>
          <p:nvPr/>
        </p:nvCxnSpPr>
        <p:spPr>
          <a:xfrm>
            <a:off x="12245310" y="701508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32" name="line 331"/>
          <p:cNvCxnSpPr/>
          <p:nvPr/>
        </p:nvCxnSpPr>
        <p:spPr>
          <a:xfrm>
            <a:off x="12245310" y="8075760"/>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33" name="line 332"/>
          <p:cNvCxnSpPr/>
          <p:nvPr/>
        </p:nvCxnSpPr>
        <p:spPr>
          <a:xfrm>
            <a:off x="12391610" y="701508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34" name="line 333"/>
          <p:cNvCxnSpPr/>
          <p:nvPr/>
        </p:nvCxnSpPr>
        <p:spPr>
          <a:xfrm>
            <a:off x="12391610" y="8075760"/>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35" name="line 334"/>
          <p:cNvCxnSpPr/>
          <p:nvPr/>
        </p:nvCxnSpPr>
        <p:spPr>
          <a:xfrm>
            <a:off x="11338250" y="719796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36" name="line 335"/>
          <p:cNvCxnSpPr/>
          <p:nvPr/>
        </p:nvCxnSpPr>
        <p:spPr>
          <a:xfrm>
            <a:off x="12442815" y="719796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37" name="line 336"/>
          <p:cNvCxnSpPr/>
          <p:nvPr/>
        </p:nvCxnSpPr>
        <p:spPr>
          <a:xfrm>
            <a:off x="11338250" y="734426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38" name="line 337"/>
          <p:cNvCxnSpPr/>
          <p:nvPr/>
        </p:nvCxnSpPr>
        <p:spPr>
          <a:xfrm>
            <a:off x="12442815" y="734426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39" name="line 338"/>
          <p:cNvCxnSpPr/>
          <p:nvPr/>
        </p:nvCxnSpPr>
        <p:spPr>
          <a:xfrm>
            <a:off x="11338250" y="749056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40" name="line 339"/>
          <p:cNvCxnSpPr/>
          <p:nvPr/>
        </p:nvCxnSpPr>
        <p:spPr>
          <a:xfrm>
            <a:off x="12442815" y="749056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41" name="line 340"/>
          <p:cNvCxnSpPr/>
          <p:nvPr/>
        </p:nvCxnSpPr>
        <p:spPr>
          <a:xfrm>
            <a:off x="11338250" y="763686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42" name="line 341"/>
          <p:cNvCxnSpPr/>
          <p:nvPr/>
        </p:nvCxnSpPr>
        <p:spPr>
          <a:xfrm>
            <a:off x="12442815" y="763686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43" name="line 342"/>
          <p:cNvCxnSpPr/>
          <p:nvPr/>
        </p:nvCxnSpPr>
        <p:spPr>
          <a:xfrm>
            <a:off x="11338250" y="778316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44" name="line 343"/>
          <p:cNvCxnSpPr/>
          <p:nvPr/>
        </p:nvCxnSpPr>
        <p:spPr>
          <a:xfrm>
            <a:off x="12442815" y="778316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45" name="line 344"/>
          <p:cNvCxnSpPr/>
          <p:nvPr/>
        </p:nvCxnSpPr>
        <p:spPr>
          <a:xfrm>
            <a:off x="11338250" y="792946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46" name="line 345"/>
          <p:cNvCxnSpPr/>
          <p:nvPr/>
        </p:nvCxnSpPr>
        <p:spPr>
          <a:xfrm>
            <a:off x="12442815" y="792946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347" name="rect 346"/>
          <p:cNvSpPr/>
          <p:nvPr/>
        </p:nvSpPr>
        <p:spPr>
          <a:xfrm>
            <a:off x="11411400" y="7088235"/>
            <a:ext cx="1031415" cy="987525"/>
          </a:xfrm>
          <a:prstGeom prst="roundRect">
            <a:avLst>
              <a:gd name="adj" fmla="val 1481"/>
            </a:avLst>
          </a:prstGeom>
          <a:solidFill>
            <a:srgbClr val="A9CEE8"/>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8" name="GPU"/>
          <p:cNvSpPr txBox="1"/>
          <p:nvPr/>
        </p:nvSpPr>
        <p:spPr>
          <a:xfrm>
            <a:off x="11675554" y="7135782"/>
            <a:ext cx="503106" cy="235909"/>
          </a:xfrm>
          <a:prstGeom prst="rect">
            <a:avLst/>
          </a:prstGeom>
          <a:noFill/>
        </p:spPr>
        <p:txBody>
          <a:bodyPr wrap="none" lIns="0" rIns="0" tIns="0" bIns="0" anchor="t">
            <a:spAutoFit/>
          </a:bodyPr>
          <a:lstStyle/>
          <a:p>
            <a:pPr algn="ctr">
              <a:lnSpc>
                <a:spcPct val="100000"/>
              </a:lnSpc>
              <a:spcBef>
                <a:spcPts val="0"/>
              </a:spcBef>
              <a:spcAft>
                <a:spcPts val="0"/>
              </a:spcAft>
            </a:pPr>
            <a:r>
              <a:rPr sz="1382" b="1" i="0" lang="en-US" spc="0">
                <a:solidFill>
                  <a:srgbClr val="181818"/>
                </a:solidFill>
                <a:latin typeface="DejaVu Sans"/>
                <a:ea typeface="DejaVu Sans"/>
              </a:rPr>
              <a:t>GPU</a:t>
            </a:r>
          </a:p>
        </p:txBody>
      </p:sp>
      <p:sp>
        <p:nvSpPr>
          <p:cNvPr id="349" name="rect 348"/>
          <p:cNvSpPr/>
          <p:nvPr/>
        </p:nvSpPr>
        <p:spPr>
          <a:xfrm>
            <a:off x="11506495" y="7395465"/>
            <a:ext cx="258463" cy="252368"/>
          </a:xfrm>
          <a:prstGeom prst="roundRect">
            <a:avLst>
              <a:gd name="adj" fmla="val 2898"/>
            </a:avLst>
          </a:prstGeom>
          <a:solidFill>
            <a:srgbClr val="E9A6B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0" name="rect 349"/>
          <p:cNvSpPr/>
          <p:nvPr/>
        </p:nvSpPr>
        <p:spPr>
          <a:xfrm>
            <a:off x="11796657" y="7395465"/>
            <a:ext cx="258463" cy="252368"/>
          </a:xfrm>
          <a:prstGeom prst="roundRect">
            <a:avLst>
              <a:gd name="adj" fmla="val 2898"/>
            </a:avLst>
          </a:prstGeom>
          <a:solidFill>
            <a:srgbClr val="B5D68B"/>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1" name="rect 350"/>
          <p:cNvSpPr/>
          <p:nvPr/>
        </p:nvSpPr>
        <p:spPr>
          <a:xfrm>
            <a:off x="12086818" y="7395465"/>
            <a:ext cx="258463" cy="252368"/>
          </a:xfrm>
          <a:prstGeom prst="roundRect">
            <a:avLst>
              <a:gd name="adj" fmla="val 2898"/>
            </a:avLst>
          </a:prstGeom>
          <a:solidFill>
            <a:srgbClr val="DDDDDD"/>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2" name="rect 351"/>
          <p:cNvSpPr/>
          <p:nvPr/>
        </p:nvSpPr>
        <p:spPr>
          <a:xfrm>
            <a:off x="11506495" y="7695380"/>
            <a:ext cx="258463" cy="252368"/>
          </a:xfrm>
          <a:prstGeom prst="roundRect">
            <a:avLst>
              <a:gd name="adj" fmla="val 2898"/>
            </a:avLst>
          </a:prstGeom>
          <a:solidFill>
            <a:srgbClr val="E9A6B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3" name="rect 352"/>
          <p:cNvSpPr/>
          <p:nvPr/>
        </p:nvSpPr>
        <p:spPr>
          <a:xfrm>
            <a:off x="11796657" y="7695380"/>
            <a:ext cx="258463" cy="252368"/>
          </a:xfrm>
          <a:prstGeom prst="roundRect">
            <a:avLst>
              <a:gd name="adj" fmla="val 2898"/>
            </a:avLst>
          </a:prstGeom>
          <a:solidFill>
            <a:srgbClr val="F2BD7D"/>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4" name="rect 353"/>
          <p:cNvSpPr/>
          <p:nvPr/>
        </p:nvSpPr>
        <p:spPr>
          <a:xfrm>
            <a:off x="12086818" y="7695380"/>
            <a:ext cx="258463" cy="252368"/>
          </a:xfrm>
          <a:prstGeom prst="roundRect">
            <a:avLst>
              <a:gd name="adj" fmla="val 2898"/>
            </a:avLst>
          </a:prstGeom>
          <a:solidFill>
            <a:srgbClr val="FFFFF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5" name="path 354"/>
          <p:cNvSpPr/>
          <p:nvPr/>
        </p:nvSpPr>
        <p:spPr>
          <a:xfrm>
            <a:off x="10102015" y="6927305"/>
            <a:ext cx="1221605" cy="292600"/>
          </a:xfrm>
          <a:custGeom>
            <a:avLst/>
            <a:gdLst/>
            <a:ahLst/>
            <a:cxnLst/>
            <a:rect l="l" t="t" r="r" b="b"/>
            <a:pathLst>
              <a:path w="167" h="40">
                <a:moveTo>
                  <a:pt x="0" y="0"/>
                </a:moveTo>
                <a:lnTo>
                  <a:pt x="136" y="0"/>
                </a:lnTo>
                <a:lnTo>
                  <a:pt x="136" y="40"/>
                </a:lnTo>
                <a:lnTo>
                  <a:pt x="167" y="40"/>
                </a:lnTo>
              </a:path>
            </a:pathLst>
          </a:custGeom>
          <a:noFill/>
          <a:ln w="14630">
            <a:solidFill>
              <a:srgbClr val="181818"/>
            </a:solidFill>
            <a:prstDash val="dash"/>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56" name="path 355"/>
          <p:cNvCxnSpPr/>
          <p:nvPr/>
        </p:nvCxnSpPr>
        <p:spPr>
          <a:xfrm>
            <a:off x="10102015" y="7388150"/>
            <a:ext cx="1221605" cy="0"/>
          </a:xfrm>
          <a:prstGeom prst="line">
            <a:avLst/>
          </a:prstGeom>
          <a:ln w="19019">
            <a:solidFill>
              <a:srgbClr val="181818"/>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357" name="path 356"/>
          <p:cNvSpPr/>
          <p:nvPr/>
        </p:nvSpPr>
        <p:spPr>
          <a:xfrm>
            <a:off x="10102015" y="7856310"/>
            <a:ext cx="1221605" cy="102410"/>
          </a:xfrm>
          <a:custGeom>
            <a:avLst/>
            <a:gdLst/>
            <a:ahLst/>
            <a:cxnLst/>
            <a:rect l="l" t="t" r="r" b="b"/>
            <a:pathLst>
              <a:path w="167" h="14">
                <a:moveTo>
                  <a:pt x="0" y="14"/>
                </a:moveTo>
                <a:lnTo>
                  <a:pt x="136" y="14"/>
                </a:lnTo>
                <a:lnTo>
                  <a:pt x="136" y="0"/>
                </a:lnTo>
                <a:lnTo>
                  <a:pt x="167" y="0"/>
                </a:lnTo>
              </a:path>
            </a:pathLst>
          </a:custGeom>
          <a:noFill/>
          <a:ln w="19019">
            <a:solidFill>
              <a:srgbClr val="BF3335"/>
            </a:solidFill>
            <a:tailEnd type="triangle" w="lg" len="lg"/>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8" name="KV ∧ slot  /  batch fill"/>
          <p:cNvSpPr txBox="1"/>
          <p:nvPr/>
        </p:nvSpPr>
        <p:spPr>
          <a:xfrm>
            <a:off x="10167850" y="8181828"/>
            <a:ext cx="1845294" cy="226765"/>
          </a:xfrm>
          <a:prstGeom prst="rect">
            <a:avLst/>
          </a:prstGeom>
          <a:noFill/>
        </p:spPr>
        <p:txBody>
          <a:bodyPr wrap="none" lIns="0" rIns="0" tIns="0" bIns="0" anchor="t">
            <a:spAutoFit/>
          </a:bodyPr>
          <a:lstStyle/>
          <a:p>
            <a:pPr algn="l">
              <a:lnSpc>
                <a:spcPct val="100000"/>
              </a:lnSpc>
              <a:spcBef>
                <a:spcPts val="0"/>
              </a:spcBef>
              <a:spcAft>
                <a:spcPts val="0"/>
              </a:spcAft>
            </a:pPr>
            <a:r>
              <a:rPr sz="1324" b="0" i="0" lang="en-US" spc="0">
                <a:solidFill>
                  <a:srgbClr val="181818"/>
                </a:solidFill>
                <a:latin typeface="DejaVu Sans"/>
                <a:ea typeface="DejaVu Sans"/>
              </a:rPr>
              <a:t>KV ∧ slot  /  batch fill</a:t>
            </a:r>
          </a:p>
        </p:txBody>
      </p:sp>
      <p:sp>
        <p:nvSpPr>
          <p:cNvPr id="359" name="rect 358"/>
          <p:cNvSpPr/>
          <p:nvPr/>
        </p:nvSpPr>
        <p:spPr>
          <a:xfrm>
            <a:off x="475475" y="8587810"/>
            <a:ext cx="204820" cy="160930"/>
          </a:xfrm>
          <a:prstGeom prst="roundRect">
            <a:avLst>
              <a:gd name="adj" fmla="val 4545"/>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0" name="Parent pages"/>
          <p:cNvSpPr txBox="1"/>
          <p:nvPr/>
        </p:nvSpPr>
        <p:spPr>
          <a:xfrm>
            <a:off x="782705" y="8540262"/>
            <a:ext cx="1092107" cy="208478"/>
          </a:xfrm>
          <a:prstGeom prst="rect">
            <a:avLst/>
          </a:prstGeom>
          <a:noFill/>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rPr>
              <a:t>Parent pages</a:t>
            </a:r>
          </a:p>
        </p:txBody>
      </p:sp>
      <p:sp>
        <p:nvSpPr>
          <p:cNvPr id="361" name="rect 360"/>
          <p:cNvSpPr/>
          <p:nvPr/>
        </p:nvSpPr>
        <p:spPr>
          <a:xfrm>
            <a:off x="2574880" y="8587810"/>
            <a:ext cx="204820" cy="160930"/>
          </a:xfrm>
          <a:prstGeom prst="roundRect">
            <a:avLst>
              <a:gd name="adj" fmla="val 4545"/>
            </a:avLst>
          </a:prstGeom>
          <a:solidFill>
            <a:srgbClr val="FFFFFF"/>
          </a:solidFill>
          <a:ln w="13167">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2" name="Missing / deferred"/>
          <p:cNvSpPr txBox="1"/>
          <p:nvPr/>
        </p:nvSpPr>
        <p:spPr>
          <a:xfrm>
            <a:off x="2882110" y="8540262"/>
            <a:ext cx="1463000" cy="208478"/>
          </a:xfrm>
          <a:prstGeom prst="rect">
            <a:avLst/>
          </a:prstGeom>
          <a:noFill/>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rPr>
              <a:t>Missing / deferred</a:t>
            </a:r>
          </a:p>
        </p:txBody>
      </p:sp>
      <p:sp>
        <p:nvSpPr>
          <p:cNvPr id="363" name="rect 362"/>
          <p:cNvSpPr/>
          <p:nvPr/>
        </p:nvSpPr>
        <p:spPr>
          <a:xfrm>
            <a:off x="5252170" y="8587810"/>
            <a:ext cx="204820" cy="160930"/>
          </a:xfrm>
          <a:prstGeom prst="roundRect">
            <a:avLst>
              <a:gd name="adj" fmla="val 4545"/>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4" name="Child private pages"/>
          <p:cNvSpPr txBox="1"/>
          <p:nvPr/>
        </p:nvSpPr>
        <p:spPr>
          <a:xfrm>
            <a:off x="5559400" y="8540262"/>
            <a:ext cx="1579869" cy="208478"/>
          </a:xfrm>
          <a:prstGeom prst="rect">
            <a:avLst/>
          </a:prstGeom>
          <a:noFill/>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rPr>
              <a:t>Child private pages</a:t>
            </a:r>
          </a:p>
        </p:txBody>
      </p:sp>
      <p:cxnSp>
        <p:nvCxnSpPr>
          <p:cNvPr id="365" name="path 364"/>
          <p:cNvCxnSpPr/>
          <p:nvPr/>
        </p:nvCxnSpPr>
        <p:spPr>
          <a:xfrm>
            <a:off x="8924300" y="8653645"/>
            <a:ext cx="314545" cy="0"/>
          </a:xfrm>
          <a:prstGeom prst="line">
            <a:avLst/>
          </a:prstGeom>
          <a:ln w="14630">
            <a:solidFill>
              <a:srgbClr val="BF3335"/>
            </a:solidFill>
            <a:tailEnd type="triangle" w="lg" len="lg"/>
          </a:ln>
          <a:effectLst/>
        </p:spPr>
        <p:style>
          <a:lnRef idx="2">
            <a:schemeClr val="accent1"/>
          </a:lnRef>
          <a:fillRef idx="0">
            <a:schemeClr val="accent1"/>
          </a:fillRef>
          <a:effectRef idx="0">
            <a:schemeClr val="accent1"/>
          </a:effectRef>
          <a:fontRef idx="minor">
            <a:schemeClr val="tx1"/>
          </a:fontRef>
        </p:style>
      </p:cxnSp>
      <p:sp>
        <p:nvSpPr>
          <p:cNvPr id="366" name="Action"/>
          <p:cNvSpPr txBox="1"/>
          <p:nvPr/>
        </p:nvSpPr>
        <p:spPr>
          <a:xfrm>
            <a:off x="9370515" y="8540262"/>
            <a:ext cx="568913" cy="208478"/>
          </a:xfrm>
          <a:prstGeom prst="rect">
            <a:avLst/>
          </a:prstGeom>
          <a:noFill/>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rPr>
              <a:t>Action</a:t>
            </a:r>
          </a:p>
        </p:txBody>
      </p:sp>
      <p:cxnSp>
        <p:nvCxnSpPr>
          <p:cNvPr id="367" name="path 366"/>
          <p:cNvCxnSpPr/>
          <p:nvPr/>
        </p:nvCxnSpPr>
        <p:spPr>
          <a:xfrm>
            <a:off x="10782310" y="8653645"/>
            <a:ext cx="314545" cy="0"/>
          </a:xfrm>
          <a:prstGeom prst="line">
            <a:avLst/>
          </a:prstGeom>
          <a:ln w="14630">
            <a:solidFill>
              <a:srgbClr val="2676B8"/>
            </a:solidFill>
            <a:prstDash val="dash"/>
            <a:tailEnd type="triangle" w="lg" len="lg"/>
          </a:ln>
          <a:effectLst/>
        </p:spPr>
        <p:style>
          <a:lnRef idx="2">
            <a:schemeClr val="accent1"/>
          </a:lnRef>
          <a:fillRef idx="0">
            <a:schemeClr val="accent1"/>
          </a:fillRef>
          <a:effectRef idx="0">
            <a:schemeClr val="accent1"/>
          </a:effectRef>
          <a:fontRef idx="minor">
            <a:schemeClr val="tx1"/>
          </a:fontRef>
        </p:style>
      </p:cxnSp>
      <p:sp>
        <p:nvSpPr>
          <p:cNvPr id="368" name="ACK"/>
          <p:cNvSpPr txBox="1"/>
          <p:nvPr/>
        </p:nvSpPr>
        <p:spPr>
          <a:xfrm>
            <a:off x="11221210" y="8540262"/>
            <a:ext cx="398182" cy="208478"/>
          </a:xfrm>
          <a:prstGeom prst="rect">
            <a:avLst/>
          </a:prstGeom>
          <a:noFill/>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rPr>
              <a:t>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BeliefKV Architecture Figures</dc:title>
  <dc:subject>Current development architecture as of 2026-10-15</dc:subject>
  <dc:creator>BeliefKV</dc:creator>
  <cp:keywords>BeliefKV, dynamic agent workflows, KV cache, native editable diagrams</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