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3167360" cy="87782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baseline: 2026-10-15 development implementation, not the frozen code of every running experiment. RCCG receives runtime events; GraphDelta updates affected wait groups. Design IDs are consistent across all four figures: D1 execution-demand inference, D2 workflow-aware KV lifecycle, D3 prefetch/admission coordination. The shared footer shows D1 hints to D3, D2 views to D3, D3 physical actions to D2, and actual service/progress feedback to D1. The running example is parent P and children C1/C2. Text/phase/work inference runs in an independent CPU process. Tool history supplies separate conditional timing. The wait-completion panel has two distinct paths: delivered child text, notice and generated progress feed final-stage confidence and conditional remaining tokens in the async CPU worker; runtime converts work to a RETURN timing hint using observed effective rate. The single pending child is associated with its waiting parent by RCCG. Tool command history and elapsed age instead produce a survival-conditioned TOOL_END hint for the tool-owning agent A. Dashed candidate arrows do not mark either agent ready. The panel sends identity/timing hints to cache and admission planning; neither path independently authorizes transfers or execution. NativeAdmissionRuntime combines causal identity, checkpoint, timing, capacity and next-batch observations. Waiting migrations can run after forward dispatch under the supported overlap configuration. The native waiting queue, PrefillAdder, allocation and data dependencies remain authoritative. Dashed arrows show feedback, not a claim that all control work is asynchronous. Explicit completion notices are harness protocol and must be identical across comparison arms. Root workflows can spawn again after JOIN; the current child harness does not expose nested task delegation. A tool completion resumes its child; only a child RETURN contributes to JOIN completion. Rounded groups encode hierarchy on an aligned grid. The control plane uses blue borders/background and the data plane green. HBM and Host share tier geometry and black outlines but use distinct purple/gold headers and page bodies with neutral/peach backgrounds. All explicit colors are sampled from the user reference, with provenance in the manifest. Thin owner stripes and page labels remain unchanged across copies, separating residency from agent identity. The prefix index is a compact neutral group, not a third storage tier. Native admission has a separate service group. Location and solid/dashed page borders indicate residency. Triangular arrows show execution, notched arrows show runtime control, broad curved ribbons show KV movement, and dashed open curves show feedback. HiCache/DMA denotes the transfer subsystem; D2H and H2D label actions, not separate components. Hexagons marked S identify Mamba checkpoint states, separate from FULL page rectangles. NOTICE is an observed completion announcement, not ground-truth terminal phase. The control plane combines checkpoints, measured timing, native capacity and candidate order; physical FULL pages and Mamba slots remain separate. Sources: causal_graph.py; semantic_report_worker.py; sglang_v0520_runtime.py (scheduler_step, dispatch_after_forward, plan_native_prefill); staging patch.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numbered circles annotate execution arrows. 1: bind the single pending child C2 to waiting parent P; C1 has already returned. 2: infer final-phase confidence and conditional remaining-token bounds from delivered text, notice and generated progress in an independent CPU worker. 3: roll the current work estimate forward and convert it with observed effective service. W in the compact formula is current remaining work after subtracting only progress since its forecast snapshot. The 0.5/2/5-second effective-rate windows include past service gaps, never future queueing. The progress arrow supplies rolling updates. 4: pass candidate identity and timing to D3. The separate tool path conditions history on the tool still running and identifies owning agent A; it does not share the content model. Current live tool transfer handles at most one active call. The drawing abstracts encoder internals, and all confidence/work/time marks are schematic. Forecasts, NOTICE and EOS do not satisfy JOIN or authorize H2D. The current JOIN content path requires one pending child; work bounds are not a calibrated multi-child JOIN wall-clock distribution. Sources: causal_graph.py; child_semantic_work.py; conditional_work.py; project_tool_history.py; semantic_report_worker.py; runtime semantic/tool paths.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Execution-arrow numbers identify typical operations, not mandatory global ordering. 1: copy only missing stable FULL pages p4/p5 to Host; p0..p3 already have backups. PREPARE_HOST itself neither frees HBM nor speculatively backs mutable Mamba. 2: under pressure, reclaim already-backed cold p2/p3 in HBM. 3: C1 RETURN retires its unused private suffix p1..p3 without D2H; shared p0 and C2 live KV remain. Reclamation requires no active references, shared dependencies or in-flight transfer hazards. Empty page symbols show released capacity, not copied child data or parent-exclusive reservations. 4: expose the safe-input checkpoint c*, missing FULL, matching necessary state and actual free capacity to D3. c* ends at p5; generated suffixes are excluded. The state hexagon is a separate matching-state lookup, not another PREPARE destination; newer decoded Mamba need not match c*. Short waits can simply retain HBM. Physical pages and FULL/Mamba pools remain native-managed. Sources: runtime waiting prepare/terminal reclaim; sglang_v0520_physical.py; staging patch.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Execution-arrow steps coordinate inference and native service. 1: use D1's rolling hint and measured direction/shape/size-matched transfer cost to time restoration. 2: use D2's free/reclaimable capacity with next-input growth reserve, accounted separately for FULL and Mamba. 3: H2D copies only missing p2/p3 and necessary state matching c*; other pages in the right-hand prefix were resident. Two pages are an example, not a fixed cap. Its start before and completion after the actual C2 RETURN line illustrate useful partial overlap; no empirical timing scale is claimed. C1 has already returned, as in D1/D2. 4: after actual JOIN and request arrival, admit restored runnable P with a bounded boost, while retaining HBM-hit preference, aging and batch fill. Native PrefillAdder, allocator, layer dependencies, required Mamba and slots remain authoritative. The lock denotes bounded protection pending first use, not an indefinite pin. Ledger ACK manages lifecycle but is not a universal execution barrier. Other tails/dependencies use native recovery; failures or expiry fall back natively. Control paths reuse current-cycle observations and remain lightweight without opportunities. No throughput or JCT gain is implied by the schematic. Sources: native_transfer_policy.py; native_transfer_service.py; runtime _wait_prefetch_opportunity, defer_prefill_for_prefetch, plan_native_prefill.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eliefKV: Workflow-aware Execution and KV Management"/>
          <p:cNvSpPr txBox="1"/>
          <p:nvPr/>
        </p:nvSpPr>
        <p:spPr>
          <a:xfrm>
            <a:off x="292600" y="120817"/>
            <a:ext cx="8898040" cy="345634"/>
          </a:xfrm>
          <a:prstGeom prst="rect">
            <a:avLst/>
          </a:prstGeom>
          <a:noFill/>
          <a:effectLst/>
        </p:spPr>
        <p:txBody>
          <a:bodyPr wrap="none" lIns="0" rIns="0" tIns="0" bIns="0" anchor="t">
            <a:spAutoFit/>
          </a:bodyPr>
          <a:lstStyle/>
          <a:p>
            <a:pPr algn="l">
              <a:lnSpc>
                <a:spcPct val="100000"/>
              </a:lnSpc>
              <a:spcBef>
                <a:spcPts val="0"/>
              </a:spcBef>
              <a:spcAft>
                <a:spcPts val="0"/>
              </a:spcAft>
            </a:pPr>
            <a:r>
              <a:rPr sz="2131" b="1" i="0" lang="en-US" spc="0">
                <a:solidFill>
                  <a:srgbClr val="000000"/>
                </a:solidFill>
                <a:latin typeface="DejaVu Sans"/>
                <a:ea typeface="DejaVu Sans"/>
                <a:effectLst/>
              </a:rPr>
              <a:t>BeliefKV: Workflow-aware Execution and KV Management</a:t>
            </a:r>
          </a:p>
        </p:txBody>
      </p:sp>
      <p:sp>
        <p:nvSpPr>
          <p:cNvPr id="3" name="Forecast demand → manage KV → admit ready work"/>
          <p:cNvSpPr txBox="1"/>
          <p:nvPr/>
        </p:nvSpPr>
        <p:spPr>
          <a:xfrm>
            <a:off x="292600" y="479252"/>
            <a:ext cx="4675914" cy="235909"/>
          </a:xfrm>
          <a:prstGeom prst="rect">
            <a:avLst/>
          </a:prstGeom>
          <a:noFill/>
          <a:effectLst/>
        </p:spPr>
        <p:txBody>
          <a:bodyPr wrap="none" lIns="0" rIns="0" tIns="0" bIns="0" anchor="t">
            <a:spAutoFit/>
          </a:bodyPr>
          <a:lstStyle/>
          <a:p>
            <a:pPr algn="l">
              <a:lnSpc>
                <a:spcPct val="100000"/>
              </a:lnSpc>
              <a:spcBef>
                <a:spcPts val="0"/>
              </a:spcBef>
              <a:spcAft>
                <a:spcPts val="0"/>
              </a:spcAft>
            </a:pPr>
            <a:r>
              <a:rPr sz="1382" b="0" i="0" lang="en-US" spc="0">
                <a:solidFill>
                  <a:srgbClr val="000000"/>
                </a:solidFill>
                <a:latin typeface="DejaVu Sans"/>
                <a:ea typeface="DejaVu Sans"/>
                <a:effectLst/>
              </a:rPr>
              <a:t>Forecast demand → manage KV → admit ready work</a:t>
            </a:r>
          </a:p>
        </p:txBody>
      </p:sp>
      <p:cxnSp>
        <p:nvCxnSpPr>
          <p:cNvPr id="4" name="line 3"/>
          <p:cNvCxnSpPr/>
          <p:nvPr/>
        </p:nvCxnSpPr>
        <p:spPr>
          <a:xfrm>
            <a:off x="292600" y="790140"/>
            <a:ext cx="12581800" cy="0"/>
          </a:xfrm>
          <a:prstGeom prst="line">
            <a:avLst/>
          </a:prstGeom>
          <a:ln w="11704">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5" name="rect 4"/>
          <p:cNvSpPr/>
          <p:nvPr/>
        </p:nvSpPr>
        <p:spPr>
          <a:xfrm>
            <a:off x="234080" y="907180"/>
            <a:ext cx="12698840" cy="1111880"/>
          </a:xfrm>
          <a:prstGeom prst="roundRect">
            <a:avLst>
              <a:gd name="adj" fmla="val 5263"/>
            </a:avLst>
          </a:prstGeom>
          <a:solidFill>
            <a:srgbClr val="F2F2F2"/>
          </a:solidFill>
          <a:ln w="14630">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 5"/>
          <p:cNvSpPr/>
          <p:nvPr/>
        </p:nvSpPr>
        <p:spPr>
          <a:xfrm>
            <a:off x="241395" y="914495"/>
            <a:ext cx="12684210" cy="270655"/>
          </a:xfrm>
          <a:prstGeom prst="roundRect">
            <a:avLst>
              <a:gd name="adj" fmla="val 18918"/>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 6"/>
          <p:cNvSpPr/>
          <p:nvPr/>
        </p:nvSpPr>
        <p:spPr>
          <a:xfrm>
            <a:off x="241395" y="1046165"/>
            <a:ext cx="12684210" cy="138985"/>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line 7"/>
          <p:cNvCxnSpPr/>
          <p:nvPr/>
        </p:nvCxnSpPr>
        <p:spPr>
          <a:xfrm>
            <a:off x="241395" y="1185150"/>
            <a:ext cx="12684210" cy="0"/>
          </a:xfrm>
          <a:prstGeom prst="line">
            <a:avLst/>
          </a:prstGeom>
          <a:ln w="8778">
            <a:solidFill>
              <a:srgbClr val="A6A6A6"/>
            </a:solidFill>
          </a:ln>
          <a:effectLst/>
        </p:spPr>
        <p:style>
          <a:lnRef idx="2">
            <a:schemeClr val="accent1"/>
          </a:lnRef>
          <a:fillRef idx="0">
            <a:schemeClr val="accent1"/>
          </a:fillRef>
          <a:effectRef idx="0">
            <a:schemeClr val="accent1"/>
          </a:effectRef>
          <a:fontRef idx="minor">
            <a:schemeClr val="tx1"/>
          </a:fontRef>
        </p:style>
      </p:cxnSp>
      <p:sp>
        <p:nvSpPr>
          <p:cNvPr id="9" name="Dynamic agent workflow"/>
          <p:cNvSpPr txBox="1"/>
          <p:nvPr/>
        </p:nvSpPr>
        <p:spPr>
          <a:xfrm>
            <a:off x="336490" y="929930"/>
            <a:ext cx="2735839" cy="252368"/>
          </a:xfrm>
          <a:prstGeom prst="rect">
            <a:avLst/>
          </a:prstGeom>
          <a:noFill/>
          <a:effectLst/>
        </p:spPr>
        <p:txBody>
          <a:bodyPr wrap="none" lIns="0" rIns="0" tIns="0" bIns="0" anchor="t">
            <a:spAutoFit/>
          </a:bodyPr>
          <a:lstStyle/>
          <a:p>
            <a:pPr algn="l">
              <a:lnSpc>
                <a:spcPct val="100000"/>
              </a:lnSpc>
              <a:spcBef>
                <a:spcPts val="0"/>
              </a:spcBef>
              <a:spcAft>
                <a:spcPts val="0"/>
              </a:spcAft>
            </a:pPr>
            <a:r>
              <a:rPr sz="1497" b="1" i="0" lang="en-US" spc="0">
                <a:solidFill>
                  <a:srgbClr val="000000"/>
                </a:solidFill>
                <a:latin typeface="DejaVu Sans"/>
                <a:ea typeface="DejaVu Sans"/>
                <a:effectLst/>
              </a:rPr>
              <a:t>Dynamic agent workflow</a:t>
            </a:r>
          </a:p>
        </p:txBody>
      </p:sp>
      <p:sp>
        <p:nvSpPr>
          <p:cNvPr id="10" name="circle 9"/>
          <p:cNvSpPr/>
          <p:nvPr/>
        </p:nvSpPr>
        <p:spPr>
          <a:xfrm>
            <a:off x="424270" y="1426545"/>
            <a:ext cx="365750" cy="365750"/>
          </a:xfrm>
          <a:prstGeom prst="ellipse">
            <a:avLst/>
          </a:prstGeom>
          <a:solidFill>
            <a:srgbClr val="A6CAEC"/>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P"/>
          <p:cNvSpPr txBox="1"/>
          <p:nvPr/>
        </p:nvSpPr>
        <p:spPr>
          <a:xfrm>
            <a:off x="498920" y="1504523"/>
            <a:ext cx="216450" cy="235909"/>
          </a:xfrm>
          <a:prstGeom prst="rect">
            <a:avLst/>
          </a:prstGeom>
          <a:noFill/>
          <a:effectLst/>
        </p:spPr>
        <p:txBody>
          <a:bodyPr wrap="none" lIns="0" rIns="0" tIns="0" bIns="0" anchor="t">
            <a:spAutoFit/>
          </a:bodyPr>
          <a:lstStyle/>
          <a:p>
            <a:pPr algn="ctr">
              <a:lnSpc>
                <a:spcPct val="100000"/>
              </a:lnSpc>
              <a:spcBef>
                <a:spcPts val="0"/>
              </a:spcBef>
              <a:spcAft>
                <a:spcPts val="0"/>
              </a:spcAft>
            </a:pPr>
            <a:r>
              <a:rPr sz="1382" b="1" i="0" lang="en-US" spc="0">
                <a:solidFill>
                  <a:srgbClr val="000000"/>
                </a:solidFill>
                <a:latin typeface="DejaVu Sans"/>
                <a:ea typeface="DejaVu Sans"/>
                <a:effectLst/>
              </a:rPr>
              <a:t>P</a:t>
            </a:r>
          </a:p>
        </p:txBody>
      </p:sp>
      <p:sp>
        <p:nvSpPr>
          <p:cNvPr id="12" name="circle 11"/>
          <p:cNvSpPr/>
          <p:nvPr/>
        </p:nvSpPr>
        <p:spPr>
          <a:xfrm>
            <a:off x="1565410" y="1221725"/>
            <a:ext cx="336490" cy="336490"/>
          </a:xfrm>
          <a:prstGeom prst="ellipse">
            <a:avLst/>
          </a:prstGeom>
          <a:solidFill>
            <a:srgbClr val="84E291"/>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C1"/>
          <p:cNvSpPr txBox="1"/>
          <p:nvPr/>
        </p:nvSpPr>
        <p:spPr>
          <a:xfrm>
            <a:off x="1574725" y="1294729"/>
            <a:ext cx="317860"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C1</a:t>
            </a:r>
          </a:p>
        </p:txBody>
      </p:sp>
      <p:sp>
        <p:nvSpPr>
          <p:cNvPr id="14" name="circle 13"/>
          <p:cNvSpPr/>
          <p:nvPr/>
        </p:nvSpPr>
        <p:spPr>
          <a:xfrm>
            <a:off x="1565410" y="1631365"/>
            <a:ext cx="336490" cy="336490"/>
          </a:xfrm>
          <a:prstGeom prst="ellipse">
            <a:avLst/>
          </a:prstGeom>
          <a:solidFill>
            <a:srgbClr val="F6C6A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C2"/>
          <p:cNvSpPr txBox="1"/>
          <p:nvPr/>
        </p:nvSpPr>
        <p:spPr>
          <a:xfrm>
            <a:off x="1574725" y="1704369"/>
            <a:ext cx="317860"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C2</a:t>
            </a:r>
          </a:p>
        </p:txBody>
      </p:sp>
      <p:sp>
        <p:nvSpPr>
          <p:cNvPr id="16" name="rect 15"/>
          <p:cNvSpPr/>
          <p:nvPr/>
        </p:nvSpPr>
        <p:spPr>
          <a:xfrm>
            <a:off x="2392005" y="1258300"/>
            <a:ext cx="497420" cy="292600"/>
          </a:xfrm>
          <a:prstGeom prst="roundRect">
            <a:avLst>
              <a:gd name="adj" fmla="val 7500"/>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line 16"/>
          <p:cNvCxnSpPr/>
          <p:nvPr/>
        </p:nvCxnSpPr>
        <p:spPr>
          <a:xfrm>
            <a:off x="2399320" y="1319746"/>
            <a:ext cx="482790" cy="0"/>
          </a:xfrm>
          <a:prstGeom prst="line">
            <a:avLst/>
          </a:prstGeom>
          <a:ln w="7315">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8" name="path 17"/>
          <p:cNvSpPr/>
          <p:nvPr/>
        </p:nvSpPr>
        <p:spPr>
          <a:xfrm>
            <a:off x="2509045" y="1382535"/>
            <a:ext cx="80465" cy="109725"/>
          </a:xfrm>
          <a:custGeom>
            <a:avLst/>
            <a:gdLst/>
            <a:ahLst/>
            <a:cxnLst/>
            <a:rect l="l" t="t" r="r" b="b"/>
            <a:pathLst>
              <a:path w="11" h="15">
                <a:moveTo>
                  <a:pt x="0" y="0"/>
                </a:moveTo>
                <a:lnTo>
                  <a:pt x="11" y="7"/>
                </a:lnTo>
                <a:lnTo>
                  <a:pt x="0" y="15"/>
                </a:lnTo>
              </a:path>
            </a:pathLst>
          </a:custGeom>
          <a:no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line 18"/>
          <p:cNvCxnSpPr/>
          <p:nvPr/>
        </p:nvCxnSpPr>
        <p:spPr>
          <a:xfrm>
            <a:off x="2669975" y="1486528"/>
            <a:ext cx="11704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0" name="polygon 19"/>
          <p:cNvSpPr/>
          <p:nvPr/>
        </p:nvSpPr>
        <p:spPr>
          <a:xfrm>
            <a:off x="3174710" y="1360590"/>
            <a:ext cx="775390" cy="482790"/>
          </a:xfrm>
          <a:custGeom>
            <a:avLst/>
            <a:gdLst/>
            <a:ahLst/>
            <a:cxnLst/>
            <a:rect l="l" t="t" r="r" b="b"/>
            <a:pathLst>
              <a:path w="106" h="66">
                <a:moveTo>
                  <a:pt x="53" y="0"/>
                </a:moveTo>
                <a:lnTo>
                  <a:pt x="106" y="33"/>
                </a:lnTo>
                <a:lnTo>
                  <a:pt x="53" y="66"/>
                </a:lnTo>
                <a:lnTo>
                  <a:pt x="0" y="33"/>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JOIN"/>
          <p:cNvSpPr txBox="1"/>
          <p:nvPr/>
        </p:nvSpPr>
        <p:spPr>
          <a:xfrm>
            <a:off x="3305108" y="1496037"/>
            <a:ext cx="514593" cy="235909"/>
          </a:xfrm>
          <a:prstGeom prst="rect">
            <a:avLst/>
          </a:prstGeom>
          <a:noFill/>
          <a:effectLst/>
        </p:spPr>
        <p:txBody>
          <a:bodyPr wrap="none" lIns="0" rIns="0" tIns="0" bIns="0" anchor="t">
            <a:spAutoFit/>
          </a:bodyPr>
          <a:lstStyle/>
          <a:p>
            <a:pPr algn="ctr">
              <a:lnSpc>
                <a:spcPct val="100000"/>
              </a:lnSpc>
              <a:spcBef>
                <a:spcPts val="0"/>
              </a:spcBef>
              <a:spcAft>
                <a:spcPts val="0"/>
              </a:spcAft>
            </a:pPr>
            <a:r>
              <a:rPr sz="1382" b="1" i="0" lang="en-US" spc="0">
                <a:solidFill>
                  <a:srgbClr val="000000"/>
                </a:solidFill>
                <a:latin typeface="DejaVu Sans"/>
                <a:ea typeface="DejaVu Sans"/>
                <a:effectLst/>
              </a:rPr>
              <a:t>JOIN</a:t>
            </a:r>
          </a:p>
        </p:txBody>
      </p:sp>
      <p:sp>
        <p:nvSpPr>
          <p:cNvPr id="22" name="circle 21"/>
          <p:cNvSpPr/>
          <p:nvPr/>
        </p:nvSpPr>
        <p:spPr>
          <a:xfrm>
            <a:off x="4352425" y="1419230"/>
            <a:ext cx="365750" cy="365750"/>
          </a:xfrm>
          <a:prstGeom prst="ellipse">
            <a:avLst/>
          </a:prstGeom>
          <a:solidFill>
            <a:srgbClr val="A6CAEC"/>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P"/>
          <p:cNvSpPr txBox="1"/>
          <p:nvPr/>
        </p:nvSpPr>
        <p:spPr>
          <a:xfrm>
            <a:off x="4427075" y="1497208"/>
            <a:ext cx="216450" cy="235909"/>
          </a:xfrm>
          <a:prstGeom prst="rect">
            <a:avLst/>
          </a:prstGeom>
          <a:noFill/>
          <a:effectLst/>
        </p:spPr>
        <p:txBody>
          <a:bodyPr wrap="none" lIns="0" rIns="0" tIns="0" bIns="0" anchor="t">
            <a:spAutoFit/>
          </a:bodyPr>
          <a:lstStyle/>
          <a:p>
            <a:pPr algn="ctr">
              <a:lnSpc>
                <a:spcPct val="100000"/>
              </a:lnSpc>
              <a:spcBef>
                <a:spcPts val="0"/>
              </a:spcBef>
              <a:spcAft>
                <a:spcPts val="0"/>
              </a:spcAft>
            </a:pPr>
            <a:r>
              <a:rPr sz="1382" b="1" i="0" lang="en-US" spc="0">
                <a:solidFill>
                  <a:srgbClr val="000000"/>
                </a:solidFill>
                <a:latin typeface="DejaVu Sans"/>
                <a:ea typeface="DejaVu Sans"/>
                <a:effectLst/>
              </a:rPr>
              <a:t>P</a:t>
            </a:r>
          </a:p>
        </p:txBody>
      </p:sp>
      <p:cxnSp>
        <p:nvCxnSpPr>
          <p:cNvPr id="24" name="path 23"/>
          <p:cNvCxnSpPr/>
          <p:nvPr/>
        </p:nvCxnSpPr>
        <p:spPr>
          <a:xfrm flipV="1">
            <a:off x="811965" y="1411915"/>
            <a:ext cx="724185" cy="13167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5" name="path 24"/>
          <p:cNvCxnSpPr/>
          <p:nvPr/>
        </p:nvCxnSpPr>
        <p:spPr>
          <a:xfrm flipV="1">
            <a:off x="811965" y="1411915"/>
            <a:ext cx="724185" cy="131670"/>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26" name="arrowhead 25"/>
          <p:cNvSpPr/>
          <p:nvPr/>
        </p:nvSpPr>
        <p:spPr>
          <a:xfrm>
            <a:off x="1397165" y="1367905"/>
            <a:ext cx="138985" cy="131670"/>
          </a:xfrm>
          <a:custGeom>
            <a:avLst/>
            <a:gdLst/>
            <a:ahLst/>
            <a:cxnLst/>
            <a:rect l="l" t="t" r="r" b="b"/>
            <a:pathLst>
              <a:path w="19" h="18">
                <a:moveTo>
                  <a:pt x="19" y="6"/>
                </a:moveTo>
                <a:lnTo>
                  <a:pt x="3"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path 26"/>
          <p:cNvCxnSpPr/>
          <p:nvPr/>
        </p:nvCxnSpPr>
        <p:spPr>
          <a:xfrm>
            <a:off x="811965" y="1697200"/>
            <a:ext cx="724185" cy="80465"/>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8" name="path 27"/>
          <p:cNvCxnSpPr/>
          <p:nvPr/>
        </p:nvCxnSpPr>
        <p:spPr>
          <a:xfrm>
            <a:off x="811965" y="1697200"/>
            <a:ext cx="724185" cy="80465"/>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29" name="arrowhead 28"/>
          <p:cNvSpPr/>
          <p:nvPr/>
        </p:nvSpPr>
        <p:spPr>
          <a:xfrm>
            <a:off x="1397165" y="1697080"/>
            <a:ext cx="138985" cy="131670"/>
          </a:xfrm>
          <a:custGeom>
            <a:avLst/>
            <a:gdLst/>
            <a:ahLst/>
            <a:cxnLst/>
            <a:rect l="l" t="t" r="r" b="b"/>
            <a:pathLst>
              <a:path w="19" h="18">
                <a:moveTo>
                  <a:pt x="19" y="11"/>
                </a:moveTo>
                <a:lnTo>
                  <a:pt x="0" y="18"/>
                </a:lnTo>
                <a:lnTo>
                  <a:pt x="2"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path 29"/>
          <p:cNvCxnSpPr/>
          <p:nvPr/>
        </p:nvCxnSpPr>
        <p:spPr>
          <a:xfrm>
            <a:off x="1923845" y="1389970"/>
            <a:ext cx="446215"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31" name="path 30"/>
          <p:cNvCxnSpPr/>
          <p:nvPr/>
        </p:nvCxnSpPr>
        <p:spPr>
          <a:xfrm>
            <a:off x="1923845" y="1389970"/>
            <a:ext cx="446215" cy="0"/>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32" name="arrowhead 31"/>
          <p:cNvSpPr/>
          <p:nvPr/>
        </p:nvSpPr>
        <p:spPr>
          <a:xfrm>
            <a:off x="2238390" y="1324015"/>
            <a:ext cx="131670" cy="131670"/>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curve 32"/>
          <p:cNvSpPr/>
          <p:nvPr/>
        </p:nvSpPr>
        <p:spPr>
          <a:xfrm>
            <a:off x="2911370" y="1397165"/>
            <a:ext cx="256025" cy="95095"/>
          </a:xfrm>
          <a:custGeom>
            <a:avLst/>
            <a:gdLst/>
            <a:ahLst/>
            <a:cxnLst/>
            <a:rect l="l" t="t" r="r" b="b"/>
            <a:pathLst>
              <a:path w="35" h="13">
                <a:moveTo>
                  <a:pt x="0" y="0"/>
                </a:moveTo>
                <a:lnTo>
                  <a:pt x="13" y="0"/>
                </a:lnTo>
                <a:cubicBezTo>
                  <a:pt x="16" y="0"/>
                  <a:pt x="21" y="2"/>
                  <a:pt x="24" y="4"/>
                </a:cubicBezTo>
                <a:lnTo>
                  <a:pt x="35" y="13"/>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urve 33"/>
          <p:cNvSpPr/>
          <p:nvPr/>
        </p:nvSpPr>
        <p:spPr>
          <a:xfrm>
            <a:off x="2911370" y="1397165"/>
            <a:ext cx="256025" cy="95095"/>
          </a:xfrm>
          <a:custGeom>
            <a:avLst/>
            <a:gdLst/>
            <a:ahLst/>
            <a:cxnLst/>
            <a:rect l="l" t="t" r="r" b="b"/>
            <a:pathLst>
              <a:path w="35" h="13">
                <a:moveTo>
                  <a:pt x="0" y="0"/>
                </a:moveTo>
                <a:lnTo>
                  <a:pt x="13" y="0"/>
                </a:lnTo>
                <a:cubicBezTo>
                  <a:pt x="16" y="0"/>
                  <a:pt x="21" y="2"/>
                  <a:pt x="24" y="4"/>
                </a:cubicBezTo>
                <a:lnTo>
                  <a:pt x="35" y="13"/>
                </a:lnTo>
              </a:path>
            </a:pathLst>
          </a:custGeom>
          <a:noFill/>
          <a:ln w="35112">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arrowhead 34"/>
          <p:cNvSpPr/>
          <p:nvPr/>
        </p:nvSpPr>
        <p:spPr>
          <a:xfrm>
            <a:off x="3072300" y="1404480"/>
            <a:ext cx="95095" cy="87780"/>
          </a:xfrm>
          <a:custGeom>
            <a:avLst/>
            <a:gdLst/>
            <a:ahLst/>
            <a:cxnLst/>
            <a:rect l="l" t="t" r="r" b="b"/>
            <a:pathLst>
              <a:path w="13" h="12">
                <a:moveTo>
                  <a:pt x="13" y="12"/>
                </a:moveTo>
                <a:lnTo>
                  <a:pt x="0" y="9"/>
                </a:lnTo>
                <a:lnTo>
                  <a:pt x="7"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curve 35"/>
          <p:cNvSpPr/>
          <p:nvPr/>
        </p:nvSpPr>
        <p:spPr>
          <a:xfrm>
            <a:off x="1923845" y="1704395"/>
            <a:ext cx="1243550" cy="95095"/>
          </a:xfrm>
          <a:custGeom>
            <a:avLst/>
            <a:gdLst/>
            <a:ahLst/>
            <a:cxnLst/>
            <a:rect l="l" t="t" r="r" b="b"/>
            <a:pathLst>
              <a:path w="170" h="13">
                <a:moveTo>
                  <a:pt x="0" y="13"/>
                </a:moveTo>
                <a:lnTo>
                  <a:pt x="143" y="13"/>
                </a:lnTo>
                <a:cubicBezTo>
                  <a:pt x="148" y="13"/>
                  <a:pt x="154" y="11"/>
                  <a:pt x="157" y="9"/>
                </a:cubicBezTo>
                <a:lnTo>
                  <a:pt x="170" y="0"/>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curve 36"/>
          <p:cNvSpPr/>
          <p:nvPr/>
        </p:nvSpPr>
        <p:spPr>
          <a:xfrm>
            <a:off x="1923845" y="1704395"/>
            <a:ext cx="1243550" cy="95095"/>
          </a:xfrm>
          <a:custGeom>
            <a:avLst/>
            <a:gdLst/>
            <a:ahLst/>
            <a:cxnLst/>
            <a:rect l="l" t="t" r="r" b="b"/>
            <a:pathLst>
              <a:path w="170" h="13">
                <a:moveTo>
                  <a:pt x="0" y="13"/>
                </a:moveTo>
                <a:lnTo>
                  <a:pt x="143" y="13"/>
                </a:lnTo>
                <a:cubicBezTo>
                  <a:pt x="148" y="13"/>
                  <a:pt x="154" y="11"/>
                  <a:pt x="157" y="9"/>
                </a:cubicBezTo>
                <a:lnTo>
                  <a:pt x="170" y="0"/>
                </a:lnTo>
              </a:path>
            </a:pathLst>
          </a:custGeom>
          <a:noFill/>
          <a:ln w="35112">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arrowhead 37"/>
          <p:cNvSpPr/>
          <p:nvPr/>
        </p:nvSpPr>
        <p:spPr>
          <a:xfrm>
            <a:off x="3072300" y="1704395"/>
            <a:ext cx="95095" cy="87780"/>
          </a:xfrm>
          <a:custGeom>
            <a:avLst/>
            <a:gdLst/>
            <a:ahLst/>
            <a:cxnLst/>
            <a:rect l="l" t="t" r="r" b="b"/>
            <a:pathLst>
              <a:path w="13" h="12">
                <a:moveTo>
                  <a:pt x="13" y="0"/>
                </a:moveTo>
                <a:lnTo>
                  <a:pt x="6" y="12"/>
                </a:lnTo>
                <a:lnTo>
                  <a:pt x="0" y="2"/>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9" name="path 38"/>
          <p:cNvCxnSpPr/>
          <p:nvPr/>
        </p:nvCxnSpPr>
        <p:spPr>
          <a:xfrm>
            <a:off x="3979360" y="1602105"/>
            <a:ext cx="35112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0" name="path 39"/>
          <p:cNvCxnSpPr/>
          <p:nvPr/>
        </p:nvCxnSpPr>
        <p:spPr>
          <a:xfrm>
            <a:off x="3979360" y="1602105"/>
            <a:ext cx="351120" cy="0"/>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41" name="arrowhead 40"/>
          <p:cNvSpPr/>
          <p:nvPr/>
        </p:nvSpPr>
        <p:spPr>
          <a:xfrm>
            <a:off x="4198810" y="1536150"/>
            <a:ext cx="131670" cy="131670"/>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SPAWN"/>
          <p:cNvSpPr txBox="1"/>
          <p:nvPr/>
        </p:nvSpPr>
        <p:spPr>
          <a:xfrm>
            <a:off x="929005" y="1203437"/>
            <a:ext cx="631633" cy="208478"/>
          </a:xfrm>
          <a:prstGeom prst="rect">
            <a:avLst/>
          </a:prstGeom>
          <a:noFill/>
          <a:effectLst/>
        </p:spPr>
        <p:txBody>
          <a:bodyPr wrap="none" lIns="0" rIns="0" tIns="0" bIns="0" anchor="t">
            <a:spAutoFit/>
          </a:bodyPr>
          <a:lstStyle/>
          <a:p>
            <a:pPr algn="l">
              <a:lnSpc>
                <a:spcPct val="100000"/>
              </a:lnSpc>
              <a:spcBef>
                <a:spcPts val="0"/>
              </a:spcBef>
              <a:spcAft>
                <a:spcPts val="0"/>
              </a:spcAft>
            </a:pPr>
            <a:r>
              <a:rPr sz="1209" b="0" i="0" lang="en-US" spc="0">
                <a:solidFill>
                  <a:srgbClr val="000000"/>
                </a:solidFill>
                <a:latin typeface="DejaVu Sans"/>
                <a:ea typeface="DejaVu Sans"/>
                <a:effectLst/>
              </a:rPr>
              <a:t>SPAWN</a:t>
            </a:r>
          </a:p>
        </p:txBody>
      </p:sp>
      <p:sp>
        <p:nvSpPr>
          <p:cNvPr id="43" name="RETURN"/>
          <p:cNvSpPr txBox="1"/>
          <p:nvPr/>
        </p:nvSpPr>
        <p:spPr>
          <a:xfrm>
            <a:off x="2882010" y="1172349"/>
            <a:ext cx="629290" cy="182875"/>
          </a:xfrm>
          <a:prstGeom prst="rect">
            <a:avLst/>
          </a:prstGeom>
          <a:noFill/>
          <a:effectLst/>
        </p:spPr>
        <p:txBody>
          <a:bodyPr wrap="none" lIns="0" rIns="0" tIns="0" bIns="0" anchor="t">
            <a:spAutoFit/>
          </a:bodyPr>
          <a:lstStyle/>
          <a:p>
            <a:pPr algn="ctr">
              <a:lnSpc>
                <a:spcPct val="100000"/>
              </a:lnSpc>
              <a:spcBef>
                <a:spcPts val="0"/>
              </a:spcBef>
              <a:spcAft>
                <a:spcPts val="0"/>
              </a:spcAft>
            </a:pPr>
            <a:r>
              <a:rPr sz="1036" b="0" i="0" lang="en-US" spc="0">
                <a:solidFill>
                  <a:srgbClr val="000000"/>
                </a:solidFill>
                <a:latin typeface="DejaVu Sans"/>
                <a:ea typeface="DejaVu Sans"/>
                <a:effectLst/>
              </a:rPr>
              <a:t>RETURN</a:t>
            </a:r>
          </a:p>
        </p:txBody>
      </p:sp>
      <p:sp>
        <p:nvSpPr>
          <p:cNvPr id="44" name="curve 43"/>
          <p:cNvSpPr/>
          <p:nvPr/>
        </p:nvSpPr>
        <p:spPr>
          <a:xfrm>
            <a:off x="4535300" y="1572725"/>
            <a:ext cx="892430" cy="395010"/>
          </a:xfrm>
          <a:custGeom>
            <a:avLst/>
            <a:gdLst/>
            <a:ahLst/>
            <a:cxnLst/>
            <a:rect l="l" t="t" r="r" b="b"/>
            <a:pathLst>
              <a:path w="122" h="54">
                <a:moveTo>
                  <a:pt x="28" y="9"/>
                </a:moveTo>
                <a:cubicBezTo>
                  <a:pt x="108" y="0"/>
                  <a:pt x="122" y="49"/>
                  <a:pt x="43" y="47"/>
                </a:cubicBezTo>
                <a:cubicBezTo>
                  <a:pt x="11" y="47"/>
                  <a:pt x="0" y="54"/>
                  <a:pt x="0" y="32"/>
                </a:cubicBez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curve 44"/>
          <p:cNvSpPr/>
          <p:nvPr/>
        </p:nvSpPr>
        <p:spPr>
          <a:xfrm>
            <a:off x="4535300" y="1572725"/>
            <a:ext cx="892430" cy="395010"/>
          </a:xfrm>
          <a:custGeom>
            <a:avLst/>
            <a:gdLst/>
            <a:ahLst/>
            <a:cxnLst/>
            <a:rect l="l" t="t" r="r" b="b"/>
            <a:pathLst>
              <a:path w="122" h="54">
                <a:moveTo>
                  <a:pt x="28" y="9"/>
                </a:moveTo>
                <a:cubicBezTo>
                  <a:pt x="108" y="0"/>
                  <a:pt x="122" y="49"/>
                  <a:pt x="43" y="47"/>
                </a:cubicBezTo>
                <a:cubicBezTo>
                  <a:pt x="11" y="47"/>
                  <a:pt x="0" y="54"/>
                  <a:pt x="0" y="32"/>
                </a:cubicBezTo>
              </a:path>
            </a:pathLst>
          </a:custGeom>
          <a:noFill/>
          <a:ln w="35112">
            <a:solidFill>
              <a:srgbClr val="156082"/>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arrowhead 45"/>
          <p:cNvSpPr/>
          <p:nvPr/>
        </p:nvSpPr>
        <p:spPr>
          <a:xfrm>
            <a:off x="4491410" y="1806805"/>
            <a:ext cx="87780" cy="87780"/>
          </a:xfrm>
          <a:custGeom>
            <a:avLst/>
            <a:gdLst/>
            <a:ahLst/>
            <a:cxnLst/>
            <a:rect l="l" t="t" r="r" b="b"/>
            <a:pathLst>
              <a:path w="12" h="12">
                <a:moveTo>
                  <a:pt x="6" y="0"/>
                </a:moveTo>
                <a:lnTo>
                  <a:pt x="12" y="12"/>
                </a:lnTo>
                <a:lnTo>
                  <a:pt x="0" y="12"/>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next round"/>
          <p:cNvSpPr txBox="1"/>
          <p:nvPr/>
        </p:nvSpPr>
        <p:spPr>
          <a:xfrm>
            <a:off x="4724861" y="1210752"/>
            <a:ext cx="922947" cy="208478"/>
          </a:xfrm>
          <a:prstGeom prst="rect">
            <a:avLst/>
          </a:prstGeom>
          <a:noFill/>
          <a:effectLst/>
        </p:spPr>
        <p:txBody>
          <a:bodyPr wrap="none" lIns="0" rIns="0" tIns="0" bIns="0" anchor="t">
            <a:spAutoFit/>
          </a:bodyPr>
          <a:lstStyle/>
          <a:p>
            <a:pPr algn="ctr">
              <a:lnSpc>
                <a:spcPct val="100000"/>
              </a:lnSpc>
              <a:spcBef>
                <a:spcPts val="0"/>
              </a:spcBef>
              <a:spcAft>
                <a:spcPts val="0"/>
              </a:spcAft>
            </a:pPr>
            <a:r>
              <a:rPr sz="1209" b="0" i="0" lang="en-US" spc="0">
                <a:solidFill>
                  <a:srgbClr val="000000"/>
                </a:solidFill>
                <a:latin typeface="DejaVu Sans"/>
                <a:ea typeface="DejaVu Sans"/>
                <a:effectLst/>
              </a:rPr>
              <a:t>next round</a:t>
            </a:r>
          </a:p>
        </p:txBody>
      </p:sp>
      <p:cxnSp>
        <p:nvCxnSpPr>
          <p:cNvPr id="48" name="line 47"/>
          <p:cNvCxnSpPr/>
          <p:nvPr/>
        </p:nvCxnSpPr>
        <p:spPr>
          <a:xfrm>
            <a:off x="5705700" y="1250985"/>
            <a:ext cx="0" cy="651035"/>
          </a:xfrm>
          <a:prstGeom prst="line">
            <a:avLst/>
          </a:prstGeom>
          <a:ln w="8778">
            <a:solidFill>
              <a:srgbClr val="A6A6A6"/>
            </a:solidFill>
          </a:ln>
          <a:effectLst/>
        </p:spPr>
        <p:style>
          <a:lnRef idx="2">
            <a:schemeClr val="accent1"/>
          </a:lnRef>
          <a:fillRef idx="0">
            <a:schemeClr val="accent1"/>
          </a:fillRef>
          <a:effectRef idx="0">
            <a:schemeClr val="accent1"/>
          </a:effectRef>
          <a:fontRef idx="minor">
            <a:schemeClr val="tx1"/>
          </a:fontRef>
        </p:style>
      </p:cxnSp>
      <p:cxnSp>
        <p:nvCxnSpPr>
          <p:cNvPr id="49" name="path 48"/>
          <p:cNvCxnSpPr/>
          <p:nvPr/>
        </p:nvCxnSpPr>
        <p:spPr>
          <a:xfrm>
            <a:off x="5961725" y="1543585"/>
            <a:ext cx="2172555"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50" name="path 49"/>
          <p:cNvCxnSpPr/>
          <p:nvPr/>
        </p:nvCxnSpPr>
        <p:spPr>
          <a:xfrm>
            <a:off x="5961725" y="1543585"/>
            <a:ext cx="2172555" cy="0"/>
          </a:xfrm>
          <a:prstGeom prst="line">
            <a:avLst/>
          </a:prstGeom>
          <a:ln w="3511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51" name="arrowhead 50"/>
          <p:cNvSpPr/>
          <p:nvPr/>
        </p:nvSpPr>
        <p:spPr>
          <a:xfrm>
            <a:off x="8002610" y="1477630"/>
            <a:ext cx="131670" cy="131670"/>
          </a:xfrm>
          <a:custGeom>
            <a:avLst/>
            <a:gdLst/>
            <a:ahLst/>
            <a:cxnLst/>
            <a:rect l="l" t="t" r="r" b="b"/>
            <a:pathLst>
              <a:path w="18" h="18">
                <a:moveTo>
                  <a:pt x="0" y="18"/>
                </a:moveTo>
                <a:lnTo>
                  <a:pt x="18" y="9"/>
                </a:lnTo>
                <a:lnTo>
                  <a:pt x="0" y="0"/>
                </a:lnTo>
              </a:path>
            </a:pathLst>
          </a:custGeom>
          <a:noFill/>
          <a:ln w="20574">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circle 51"/>
          <p:cNvSpPr/>
          <p:nvPr/>
        </p:nvSpPr>
        <p:spPr>
          <a:xfrm>
            <a:off x="6151915" y="1499695"/>
            <a:ext cx="87780" cy="87780"/>
          </a:xfrm>
          <a:prstGeom prst="ellipse">
            <a:avLst/>
          </a:prstGeom>
          <a:solidFill>
            <a:srgbClr val="215F9A"/>
          </a:solidFill>
          <a:ln w="73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circle 52"/>
          <p:cNvSpPr/>
          <p:nvPr/>
        </p:nvSpPr>
        <p:spPr>
          <a:xfrm>
            <a:off x="6949250" y="1499695"/>
            <a:ext cx="87780" cy="87780"/>
          </a:xfrm>
          <a:prstGeom prst="ellipse">
            <a:avLst/>
          </a:prstGeom>
          <a:solidFill>
            <a:srgbClr val="215F9A"/>
          </a:solidFill>
          <a:ln w="73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circle 53"/>
          <p:cNvSpPr/>
          <p:nvPr/>
        </p:nvSpPr>
        <p:spPr>
          <a:xfrm>
            <a:off x="7746585" y="1499695"/>
            <a:ext cx="87780" cy="87780"/>
          </a:xfrm>
          <a:prstGeom prst="ellipse">
            <a:avLst/>
          </a:prstGeom>
          <a:solidFill>
            <a:srgbClr val="215F9A"/>
          </a:solidFill>
          <a:ln w="73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events"/>
          <p:cNvSpPr txBox="1"/>
          <p:nvPr/>
        </p:nvSpPr>
        <p:spPr>
          <a:xfrm>
            <a:off x="6673109" y="1715487"/>
            <a:ext cx="654692" cy="226765"/>
          </a:xfrm>
          <a:prstGeom prst="rect">
            <a:avLst/>
          </a:prstGeom>
          <a:noFill/>
          <a:effectLst/>
        </p:spPr>
        <p:txBody>
          <a:bodyPr wrap="none" lIns="0" rIns="0" tIns="0" bIns="0" anchor="t">
            <a:spAutoFit/>
          </a:bodyPr>
          <a:lstStyle/>
          <a:p>
            <a:pPr algn="ctr">
              <a:lnSpc>
                <a:spcPct val="100000"/>
              </a:lnSpc>
              <a:spcBef>
                <a:spcPts val="0"/>
              </a:spcBef>
              <a:spcAft>
                <a:spcPts val="0"/>
              </a:spcAft>
            </a:pPr>
            <a:r>
              <a:rPr sz="1324" b="0" i="0" lang="en-US" spc="0">
                <a:solidFill>
                  <a:srgbClr val="000000"/>
                </a:solidFill>
                <a:latin typeface="DejaVu Sans"/>
                <a:ea typeface="DejaVu Sans"/>
                <a:effectLst/>
              </a:rPr>
              <a:t>events</a:t>
            </a:r>
          </a:p>
        </p:txBody>
      </p:sp>
      <p:sp>
        <p:nvSpPr>
          <p:cNvPr id="56" name="rect 55"/>
          <p:cNvSpPr/>
          <p:nvPr/>
        </p:nvSpPr>
        <p:spPr>
          <a:xfrm>
            <a:off x="8704850" y="1250985"/>
            <a:ext cx="599830" cy="555940"/>
          </a:xfrm>
          <a:prstGeom prst="roundRect">
            <a:avLst>
              <a:gd name="adj" fmla="val 2631"/>
            </a:avLst>
          </a:prstGeom>
          <a:solidFill>
            <a:srgbClr val="FFFFFF"/>
          </a:solidFill>
          <a:ln w="1389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olygon 56"/>
          <p:cNvSpPr/>
          <p:nvPr/>
        </p:nvSpPr>
        <p:spPr>
          <a:xfrm>
            <a:off x="9129120" y="1250865"/>
            <a:ext cx="175560" cy="175560"/>
          </a:xfrm>
          <a:custGeom>
            <a:avLst/>
            <a:gdLst/>
            <a:ahLst/>
            <a:cxnLst/>
            <a:rect l="l" t="t" r="r" b="b"/>
            <a:pathLst>
              <a:path w="24" h="24">
                <a:moveTo>
                  <a:pt x="0" y="0"/>
                </a:moveTo>
                <a:lnTo>
                  <a:pt x="24" y="24"/>
                </a:lnTo>
                <a:lnTo>
                  <a:pt x="0" y="24"/>
                </a:lnTo>
                <a:close/>
              </a:path>
            </a:pathLst>
          </a:cu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 57"/>
          <p:cNvSpPr/>
          <p:nvPr/>
        </p:nvSpPr>
        <p:spPr>
          <a:xfrm>
            <a:off x="8792630" y="1426545"/>
            <a:ext cx="300208" cy="7315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ect 58"/>
          <p:cNvSpPr/>
          <p:nvPr/>
        </p:nvSpPr>
        <p:spPr>
          <a:xfrm>
            <a:off x="8792630" y="1565530"/>
            <a:ext cx="350242" cy="73150"/>
          </a:xfrm>
          <a:prstGeom prst="rect">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
          <p:cNvSpPr txBox="1"/>
          <p:nvPr/>
        </p:nvSpPr>
        <p:spPr>
          <a:xfrm>
            <a:off x="8802074" y="1810582"/>
            <a:ext cx="405382"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0" i="0" lang="en-US" spc="0">
                <a:solidFill>
                  <a:srgbClr val="000000"/>
                </a:solidFill>
                <a:latin typeface="DejaVu Sans"/>
                <a:ea typeface="DejaVu Sans"/>
                <a:effectLst/>
              </a:rPr>
              <a:t>text</a:t>
            </a:r>
          </a:p>
        </p:txBody>
      </p:sp>
      <p:sp>
        <p:nvSpPr>
          <p:cNvPr id="61" name="polygon 60"/>
          <p:cNvSpPr/>
          <p:nvPr/>
        </p:nvSpPr>
        <p:spPr>
          <a:xfrm>
            <a:off x="9970345" y="1324015"/>
            <a:ext cx="892430" cy="409640"/>
          </a:xfrm>
          <a:custGeom>
            <a:avLst/>
            <a:gdLst/>
            <a:ahLst/>
            <a:cxnLst/>
            <a:rect l="l" t="t" r="r" b="b"/>
            <a:pathLst>
              <a:path w="122" h="56">
                <a:moveTo>
                  <a:pt x="0" y="0"/>
                </a:moveTo>
                <a:lnTo>
                  <a:pt x="122" y="0"/>
                </a:lnTo>
                <a:lnTo>
                  <a:pt x="122" y="42"/>
                </a:lnTo>
                <a:lnTo>
                  <a:pt x="57" y="42"/>
                </a:lnTo>
                <a:lnTo>
                  <a:pt x="41" y="56"/>
                </a:lnTo>
                <a:lnTo>
                  <a:pt x="41" y="42"/>
                </a:lnTo>
                <a:lnTo>
                  <a:pt x="0" y="42"/>
                </a:lnTo>
                <a:close/>
              </a:path>
            </a:pathLst>
          </a:custGeom>
          <a:solidFill>
            <a:srgbClr val="F2AA84"/>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NOTICE"/>
          <p:cNvSpPr txBox="1"/>
          <p:nvPr/>
        </p:nvSpPr>
        <p:spPr>
          <a:xfrm>
            <a:off x="10038066" y="1378997"/>
            <a:ext cx="756988"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NOTICE</a:t>
            </a:r>
          </a:p>
        </p:txBody>
      </p:sp>
      <p:sp>
        <p:nvSpPr>
          <p:cNvPr id="63" name="path 62"/>
          <p:cNvSpPr/>
          <p:nvPr/>
        </p:nvSpPr>
        <p:spPr>
          <a:xfrm>
            <a:off x="11586960" y="1331330"/>
            <a:ext cx="768075" cy="395010"/>
          </a:xfrm>
          <a:custGeom>
            <a:avLst/>
            <a:gdLst/>
            <a:ahLst/>
            <a:cxnLst/>
            <a:rect l="l" t="t" r="r" b="b"/>
            <a:pathLst>
              <a:path w="105" h="54">
                <a:moveTo>
                  <a:pt x="0" y="54"/>
                </a:moveTo>
                <a:lnTo>
                  <a:pt x="22" y="54"/>
                </a:lnTo>
                <a:lnTo>
                  <a:pt x="22" y="37"/>
                </a:lnTo>
                <a:lnTo>
                  <a:pt x="47" y="37"/>
                </a:lnTo>
                <a:lnTo>
                  <a:pt x="47" y="19"/>
                </a:lnTo>
                <a:lnTo>
                  <a:pt x="73" y="19"/>
                </a:lnTo>
                <a:lnTo>
                  <a:pt x="73" y="0"/>
                </a:lnTo>
                <a:lnTo>
                  <a:pt x="105" y="0"/>
                </a:lnTo>
              </a:path>
            </a:pathLst>
          </a:custGeom>
          <a:noFill/>
          <a:ln w="18288">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progress"/>
          <p:cNvSpPr txBox="1"/>
          <p:nvPr/>
        </p:nvSpPr>
        <p:spPr>
          <a:xfrm>
            <a:off x="11583403" y="1810582"/>
            <a:ext cx="782505"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0" i="0" lang="en-US" spc="0">
                <a:solidFill>
                  <a:srgbClr val="000000"/>
                </a:solidFill>
                <a:latin typeface="DejaVu Sans"/>
                <a:ea typeface="DejaVu Sans"/>
                <a:effectLst/>
              </a:rPr>
              <a:t>progress</a:t>
            </a:r>
          </a:p>
        </p:txBody>
      </p:sp>
      <p:sp>
        <p:nvSpPr>
          <p:cNvPr id="65" name="rect 64"/>
          <p:cNvSpPr/>
          <p:nvPr/>
        </p:nvSpPr>
        <p:spPr>
          <a:xfrm>
            <a:off x="234080" y="2194620"/>
            <a:ext cx="6671280" cy="5881260"/>
          </a:xfrm>
          <a:prstGeom prst="roundRect">
            <a:avLst>
              <a:gd name="adj" fmla="val 995"/>
            </a:avLst>
          </a:prstGeom>
          <a:solidFill>
            <a:srgbClr val="DCEAF7"/>
          </a:solidFill>
          <a:ln w="14630">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 65"/>
          <p:cNvSpPr/>
          <p:nvPr/>
        </p:nvSpPr>
        <p:spPr>
          <a:xfrm>
            <a:off x="241395" y="2201935"/>
            <a:ext cx="6656650" cy="270655"/>
          </a:xfrm>
          <a:prstGeom prst="roundRect">
            <a:avLst>
              <a:gd name="adj" fmla="val 18918"/>
            </a:avLst>
          </a:pr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 66"/>
          <p:cNvSpPr/>
          <p:nvPr/>
        </p:nvSpPr>
        <p:spPr>
          <a:xfrm>
            <a:off x="241395" y="2333605"/>
            <a:ext cx="6656650" cy="138985"/>
          </a:xfrm>
          <a:prstGeom prst="rect">
            <a:avLst/>
          </a:pr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8" name="line 67"/>
          <p:cNvCxnSpPr/>
          <p:nvPr/>
        </p:nvCxnSpPr>
        <p:spPr>
          <a:xfrm>
            <a:off x="241395" y="2472590"/>
            <a:ext cx="6656650" cy="0"/>
          </a:xfrm>
          <a:prstGeom prst="line">
            <a:avLst/>
          </a:prstGeom>
          <a:ln w="8778">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69" name="BeliefKV control plane"/>
          <p:cNvSpPr txBox="1"/>
          <p:nvPr/>
        </p:nvSpPr>
        <p:spPr>
          <a:xfrm>
            <a:off x="336490" y="2204568"/>
            <a:ext cx="2668803" cy="268826"/>
          </a:xfrm>
          <a:prstGeom prst="rect">
            <a:avLst/>
          </a:prstGeom>
          <a:noFill/>
          <a:effectLst/>
        </p:spPr>
        <p:txBody>
          <a:bodyPr wrap="none" lIns="0" rIns="0" tIns="0" bIns="0" anchor="t">
            <a:spAutoFit/>
          </a:bodyPr>
          <a:lstStyle/>
          <a:p>
            <a:pPr algn="l">
              <a:lnSpc>
                <a:spcPct val="100000"/>
              </a:lnSpc>
              <a:spcBef>
                <a:spcPts val="0"/>
              </a:spcBef>
              <a:spcAft>
                <a:spcPts val="0"/>
              </a:spcAft>
            </a:pPr>
            <a:r>
              <a:rPr sz="1612" b="1" i="0" lang="en-US" spc="0">
                <a:solidFill>
                  <a:srgbClr val="FFFFFF"/>
                </a:solidFill>
                <a:latin typeface="DejaVu Sans"/>
                <a:ea typeface="DejaVu Sans"/>
                <a:effectLst/>
              </a:rPr>
              <a:t>BeliefKV control plane</a:t>
            </a:r>
          </a:p>
        </p:txBody>
      </p:sp>
      <p:sp>
        <p:nvSpPr>
          <p:cNvPr id="70" name="rect 69"/>
          <p:cNvSpPr/>
          <p:nvPr/>
        </p:nvSpPr>
        <p:spPr>
          <a:xfrm>
            <a:off x="7080920" y="2194620"/>
            <a:ext cx="5852000" cy="5881260"/>
          </a:xfrm>
          <a:prstGeom prst="roundRect">
            <a:avLst>
              <a:gd name="adj" fmla="val 1000"/>
            </a:avLst>
          </a:prstGeom>
          <a:solidFill>
            <a:srgbClr val="D9F2D0"/>
          </a:solidFill>
          <a:ln w="14630">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ect 70"/>
          <p:cNvSpPr/>
          <p:nvPr/>
        </p:nvSpPr>
        <p:spPr>
          <a:xfrm>
            <a:off x="7088235" y="2201935"/>
            <a:ext cx="5837370" cy="270655"/>
          </a:xfrm>
          <a:prstGeom prst="roundRect">
            <a:avLst>
              <a:gd name="adj" fmla="val 18918"/>
            </a:avLst>
          </a:pr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ect 71"/>
          <p:cNvSpPr/>
          <p:nvPr/>
        </p:nvSpPr>
        <p:spPr>
          <a:xfrm>
            <a:off x="7088235" y="2333605"/>
            <a:ext cx="5837370" cy="138985"/>
          </a:xfrm>
          <a:prstGeom prst="rect">
            <a:avLst/>
          </a:pr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3" name="line 72"/>
          <p:cNvCxnSpPr/>
          <p:nvPr/>
        </p:nvCxnSpPr>
        <p:spPr>
          <a:xfrm>
            <a:off x="7088235" y="2472590"/>
            <a:ext cx="5837370" cy="0"/>
          </a:xfrm>
          <a:prstGeom prst="line">
            <a:avLst/>
          </a:prstGeom>
          <a:ln w="8778">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74" name="Native SGLang data plane"/>
          <p:cNvSpPr txBox="1"/>
          <p:nvPr/>
        </p:nvSpPr>
        <p:spPr>
          <a:xfrm>
            <a:off x="7183330" y="2204568"/>
            <a:ext cx="3089530" cy="268826"/>
          </a:xfrm>
          <a:prstGeom prst="rect">
            <a:avLst/>
          </a:prstGeom>
          <a:noFill/>
          <a:effectLst/>
        </p:spPr>
        <p:txBody>
          <a:bodyPr wrap="none" lIns="0" rIns="0" tIns="0" bIns="0" anchor="t">
            <a:spAutoFit/>
          </a:bodyPr>
          <a:lstStyle/>
          <a:p>
            <a:pPr algn="l">
              <a:lnSpc>
                <a:spcPct val="100000"/>
              </a:lnSpc>
              <a:spcBef>
                <a:spcPts val="0"/>
              </a:spcBef>
              <a:spcAft>
                <a:spcPts val="0"/>
              </a:spcAft>
            </a:pPr>
            <a:r>
              <a:rPr sz="1612" b="1" i="0" lang="en-US" spc="0">
                <a:solidFill>
                  <a:srgbClr val="FFFFFF"/>
                </a:solidFill>
                <a:latin typeface="DejaVu Sans"/>
                <a:ea typeface="DejaVu Sans"/>
                <a:effectLst/>
              </a:rPr>
              <a:t>Native SGLang data plane</a:t>
            </a:r>
          </a:p>
        </p:txBody>
      </p:sp>
      <p:sp>
        <p:nvSpPr>
          <p:cNvPr id="75" name="curve 74"/>
          <p:cNvSpPr/>
          <p:nvPr/>
        </p:nvSpPr>
        <p:spPr>
          <a:xfrm>
            <a:off x="3313695" y="2040885"/>
            <a:ext cx="5683755" cy="138985"/>
          </a:xfrm>
          <a:custGeom>
            <a:avLst/>
            <a:gdLst/>
            <a:ahLst/>
            <a:cxnLst/>
            <a:rect l="l" t="t" r="r" b="b"/>
            <a:pathLst>
              <a:path w="777" h="19">
                <a:moveTo>
                  <a:pt x="777" y="0"/>
                </a:moveTo>
                <a:lnTo>
                  <a:pt x="777" y="5"/>
                </a:lnTo>
                <a:cubicBezTo>
                  <a:pt x="777" y="7"/>
                  <a:pt x="776" y="8"/>
                  <a:pt x="774" y="8"/>
                </a:cubicBezTo>
                <a:lnTo>
                  <a:pt x="4" y="8"/>
                </a:lnTo>
                <a:cubicBezTo>
                  <a:pt x="2" y="8"/>
                  <a:pt x="0" y="10"/>
                  <a:pt x="0" y="12"/>
                </a:cubicBezTo>
                <a:lnTo>
                  <a:pt x="0" y="19"/>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curve 75"/>
          <p:cNvSpPr/>
          <p:nvPr/>
        </p:nvSpPr>
        <p:spPr>
          <a:xfrm>
            <a:off x="3313695" y="2040885"/>
            <a:ext cx="5683755" cy="138985"/>
          </a:xfrm>
          <a:custGeom>
            <a:avLst/>
            <a:gdLst/>
            <a:ahLst/>
            <a:cxnLst/>
            <a:rect l="l" t="t" r="r" b="b"/>
            <a:pathLst>
              <a:path w="777" h="19">
                <a:moveTo>
                  <a:pt x="777" y="0"/>
                </a:moveTo>
                <a:lnTo>
                  <a:pt x="777" y="5"/>
                </a:lnTo>
                <a:cubicBezTo>
                  <a:pt x="777" y="7"/>
                  <a:pt x="776" y="8"/>
                  <a:pt x="774" y="8"/>
                </a:cubicBezTo>
                <a:lnTo>
                  <a:pt x="4" y="8"/>
                </a:lnTo>
                <a:cubicBezTo>
                  <a:pt x="2" y="8"/>
                  <a:pt x="0" y="10"/>
                  <a:pt x="0" y="12"/>
                </a:cubicBezTo>
                <a:lnTo>
                  <a:pt x="0" y="19"/>
                </a:lnTo>
              </a:path>
            </a:pathLst>
          </a:custGeom>
          <a:noFill/>
          <a:ln w="3511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arrowhead 76"/>
          <p:cNvSpPr/>
          <p:nvPr/>
        </p:nvSpPr>
        <p:spPr>
          <a:xfrm>
            <a:off x="3269805" y="2092090"/>
            <a:ext cx="87780" cy="87780"/>
          </a:xfrm>
          <a:custGeom>
            <a:avLst/>
            <a:gdLst/>
            <a:ahLst/>
            <a:cxnLst/>
            <a:rect l="l" t="t" r="r" b="b"/>
            <a:pathLst>
              <a:path w="12" h="12">
                <a:moveTo>
                  <a:pt x="0" y="0"/>
                </a:moveTo>
                <a:lnTo>
                  <a:pt x="6" y="12"/>
                </a:lnTo>
                <a:lnTo>
                  <a:pt x="12" y="0"/>
                </a:lnTo>
              </a:path>
            </a:pathLst>
          </a:custGeom>
          <a:noFill/>
          <a:ln w="137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ect 77"/>
          <p:cNvSpPr/>
          <p:nvPr/>
        </p:nvSpPr>
        <p:spPr>
          <a:xfrm>
            <a:off x="351120" y="2560370"/>
            <a:ext cx="6437200" cy="2135980"/>
          </a:xfrm>
          <a:prstGeom prst="roundRect">
            <a:avLst>
              <a:gd name="adj" fmla="val 2739"/>
            </a:avLst>
          </a:prstGeom>
          <a:solidFill>
            <a:srgbClr val="FFFFFF"/>
          </a:solidFill>
          <a:ln w="14630">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ct 78"/>
          <p:cNvSpPr/>
          <p:nvPr/>
        </p:nvSpPr>
        <p:spPr>
          <a:xfrm>
            <a:off x="358435" y="2567685"/>
            <a:ext cx="6422570" cy="270655"/>
          </a:xfrm>
          <a:prstGeom prst="roundRect">
            <a:avLst>
              <a:gd name="adj" fmla="val 18918"/>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ect 79"/>
          <p:cNvSpPr/>
          <p:nvPr/>
        </p:nvSpPr>
        <p:spPr>
          <a:xfrm>
            <a:off x="358435" y="2699355"/>
            <a:ext cx="6422570" cy="138985"/>
          </a:xfrm>
          <a:prstGeom prst="rect">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1" name="line 80"/>
          <p:cNvCxnSpPr/>
          <p:nvPr/>
        </p:nvCxnSpPr>
        <p:spPr>
          <a:xfrm>
            <a:off x="358435" y="2838340"/>
            <a:ext cx="6422570" cy="0"/>
          </a:xfrm>
          <a:prstGeom prst="line">
            <a:avLst/>
          </a:prstGeom>
          <a:ln w="8778">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82" name="D1  Event + content forecasts"/>
          <p:cNvSpPr txBox="1"/>
          <p:nvPr/>
        </p:nvSpPr>
        <p:spPr>
          <a:xfrm>
            <a:off x="453530" y="2583120"/>
            <a:ext cx="3297351" cy="252368"/>
          </a:xfrm>
          <a:prstGeom prst="rect">
            <a:avLst/>
          </a:prstGeom>
          <a:noFill/>
          <a:effectLst/>
        </p:spPr>
        <p:txBody>
          <a:bodyPr wrap="none" lIns="0" rIns="0" tIns="0" bIns="0" anchor="t">
            <a:spAutoFit/>
          </a:bodyPr>
          <a:lstStyle/>
          <a:p>
            <a:pPr algn="l">
              <a:lnSpc>
                <a:spcPct val="100000"/>
              </a:lnSpc>
              <a:spcBef>
                <a:spcPts val="0"/>
              </a:spcBef>
              <a:spcAft>
                <a:spcPts val="0"/>
              </a:spcAft>
            </a:pPr>
            <a:r>
              <a:rPr sz="1497" b="1" i="0" lang="en-US" spc="0">
                <a:solidFill>
                  <a:srgbClr val="000000"/>
                </a:solidFill>
                <a:latin typeface="DejaVu Sans"/>
                <a:ea typeface="DejaVu Sans"/>
                <a:effectLst/>
              </a:rPr>
              <a:t>D1  Event + content forecasts</a:t>
            </a:r>
          </a:p>
        </p:txBody>
      </p:sp>
      <p:sp>
        <p:nvSpPr>
          <p:cNvPr id="83" name="circle 82"/>
          <p:cNvSpPr/>
          <p:nvPr/>
        </p:nvSpPr>
        <p:spPr>
          <a:xfrm>
            <a:off x="490105" y="3321130"/>
            <a:ext cx="351120" cy="351120"/>
          </a:xfrm>
          <a:prstGeom prst="ellipse">
            <a:avLst/>
          </a:prstGeom>
          <a:solidFill>
            <a:srgbClr val="A6CAEC"/>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P"/>
          <p:cNvSpPr txBox="1"/>
          <p:nvPr/>
        </p:nvSpPr>
        <p:spPr>
          <a:xfrm>
            <a:off x="560126" y="3396621"/>
            <a:ext cx="211078" cy="226765"/>
          </a:xfrm>
          <a:prstGeom prst="rect">
            <a:avLst/>
          </a:prstGeom>
          <a:noFill/>
          <a:effectLst/>
        </p:spPr>
        <p:txBody>
          <a:bodyPr wrap="none" lIns="0" rIns="0" tIns="0" bIns="0" anchor="t">
            <a:spAutoFit/>
          </a:bodyPr>
          <a:lstStyle/>
          <a:p>
            <a:pPr algn="ctr">
              <a:lnSpc>
                <a:spcPct val="100000"/>
              </a:lnSpc>
              <a:spcBef>
                <a:spcPts val="0"/>
              </a:spcBef>
              <a:spcAft>
                <a:spcPts val="0"/>
              </a:spcAft>
            </a:pPr>
            <a:r>
              <a:rPr sz="1324" b="1" i="0" lang="en-US" spc="0">
                <a:solidFill>
                  <a:srgbClr val="000000"/>
                </a:solidFill>
                <a:latin typeface="DejaVu Sans"/>
                <a:ea typeface="DejaVu Sans"/>
                <a:effectLst/>
              </a:rPr>
              <a:t>P</a:t>
            </a:r>
          </a:p>
        </p:txBody>
      </p:sp>
      <p:sp>
        <p:nvSpPr>
          <p:cNvPr id="85" name="circle 84"/>
          <p:cNvSpPr/>
          <p:nvPr/>
        </p:nvSpPr>
        <p:spPr>
          <a:xfrm>
            <a:off x="1309385" y="2955380"/>
            <a:ext cx="336490" cy="336490"/>
          </a:xfrm>
          <a:prstGeom prst="ellipse">
            <a:avLst/>
          </a:prstGeom>
          <a:solidFill>
            <a:srgbClr val="84E291"/>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C1"/>
          <p:cNvSpPr txBox="1"/>
          <p:nvPr/>
        </p:nvSpPr>
        <p:spPr>
          <a:xfrm>
            <a:off x="1318700" y="3028384"/>
            <a:ext cx="317860"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C1</a:t>
            </a:r>
          </a:p>
        </p:txBody>
      </p:sp>
      <p:sp>
        <p:nvSpPr>
          <p:cNvPr id="87" name="circle 86"/>
          <p:cNvSpPr/>
          <p:nvPr/>
        </p:nvSpPr>
        <p:spPr>
          <a:xfrm>
            <a:off x="1309385" y="3760030"/>
            <a:ext cx="336490" cy="336490"/>
          </a:xfrm>
          <a:prstGeom prst="ellipse">
            <a:avLst/>
          </a:prstGeom>
          <a:solidFill>
            <a:srgbClr val="F6C6AD"/>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C2"/>
          <p:cNvSpPr txBox="1"/>
          <p:nvPr/>
        </p:nvSpPr>
        <p:spPr>
          <a:xfrm>
            <a:off x="1318700" y="3833034"/>
            <a:ext cx="317860"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C2</a:t>
            </a:r>
          </a:p>
        </p:txBody>
      </p:sp>
      <p:sp>
        <p:nvSpPr>
          <p:cNvPr id="89" name="path 88"/>
          <p:cNvSpPr/>
          <p:nvPr/>
        </p:nvSpPr>
        <p:spPr>
          <a:xfrm>
            <a:off x="1711710" y="2947945"/>
            <a:ext cx="131670" cy="131670"/>
          </a:xfrm>
          <a:custGeom>
            <a:avLst/>
            <a:gdLst/>
            <a:ahLst/>
            <a:cxnLst/>
            <a:rect l="l" t="t" r="r" b="b"/>
            <a:pathLst>
              <a:path w="18" h="18">
                <a:moveTo>
                  <a:pt x="0" y="9"/>
                </a:moveTo>
                <a:lnTo>
                  <a:pt x="6" y="18"/>
                </a:lnTo>
                <a:lnTo>
                  <a:pt x="18" y="0"/>
                </a:lnTo>
              </a:path>
            </a:pathLst>
          </a:custGeom>
          <a:noFill/>
          <a:ln w="2048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polygon 89"/>
          <p:cNvSpPr/>
          <p:nvPr/>
        </p:nvSpPr>
        <p:spPr>
          <a:xfrm>
            <a:off x="2062830" y="3277120"/>
            <a:ext cx="599830" cy="438900"/>
          </a:xfrm>
          <a:custGeom>
            <a:avLst/>
            <a:gdLst/>
            <a:ahLst/>
            <a:cxnLst/>
            <a:rect l="l" t="t" r="r" b="b"/>
            <a:pathLst>
              <a:path w="82" h="60">
                <a:moveTo>
                  <a:pt x="41" y="0"/>
                </a:moveTo>
                <a:lnTo>
                  <a:pt x="82" y="30"/>
                </a:lnTo>
                <a:lnTo>
                  <a:pt x="41" y="60"/>
                </a:lnTo>
                <a:lnTo>
                  <a:pt x="0" y="30"/>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ALL"/>
          <p:cNvSpPr txBox="1"/>
          <p:nvPr/>
        </p:nvSpPr>
        <p:spPr>
          <a:xfrm>
            <a:off x="2154025" y="3412567"/>
            <a:ext cx="417441"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ALL</a:t>
            </a:r>
          </a:p>
        </p:txBody>
      </p:sp>
      <p:cxnSp>
        <p:nvCxnSpPr>
          <p:cNvPr id="92" name="path 91"/>
          <p:cNvCxnSpPr/>
          <p:nvPr/>
        </p:nvCxnSpPr>
        <p:spPr>
          <a:xfrm flipV="1">
            <a:off x="863170" y="3211405"/>
            <a:ext cx="424270" cy="182875"/>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93" name="path 92"/>
          <p:cNvCxnSpPr/>
          <p:nvPr/>
        </p:nvCxnSpPr>
        <p:spPr>
          <a:xfrm flipV="1">
            <a:off x="863170" y="3211405"/>
            <a:ext cx="424270" cy="182875"/>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94" name="arrowhead 93"/>
          <p:cNvSpPr/>
          <p:nvPr/>
        </p:nvSpPr>
        <p:spPr>
          <a:xfrm>
            <a:off x="1141140" y="3203970"/>
            <a:ext cx="146300" cy="117040"/>
          </a:xfrm>
          <a:custGeom>
            <a:avLst/>
            <a:gdLst/>
            <a:ahLst/>
            <a:cxnLst/>
            <a:rect l="l" t="t" r="r" b="b"/>
            <a:pathLst>
              <a:path w="20" h="16">
                <a:moveTo>
                  <a:pt x="20" y="1"/>
                </a:moveTo>
                <a:lnTo>
                  <a:pt x="7" y="16"/>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5" name="path 94"/>
          <p:cNvCxnSpPr/>
          <p:nvPr/>
        </p:nvCxnSpPr>
        <p:spPr>
          <a:xfrm>
            <a:off x="863170" y="3606415"/>
            <a:ext cx="424270" cy="226765"/>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96" name="path 95"/>
          <p:cNvCxnSpPr/>
          <p:nvPr/>
        </p:nvCxnSpPr>
        <p:spPr>
          <a:xfrm>
            <a:off x="863170" y="3606415"/>
            <a:ext cx="424270" cy="226765"/>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97" name="arrowhead 96"/>
          <p:cNvSpPr/>
          <p:nvPr/>
        </p:nvSpPr>
        <p:spPr>
          <a:xfrm>
            <a:off x="1141140" y="3716020"/>
            <a:ext cx="146300" cy="117040"/>
          </a:xfrm>
          <a:custGeom>
            <a:avLst/>
            <a:gdLst/>
            <a:ahLst/>
            <a:cxnLst/>
            <a:rect l="l" t="t" r="r" b="b"/>
            <a:pathLst>
              <a:path w="20" h="16">
                <a:moveTo>
                  <a:pt x="20" y="16"/>
                </a:moveTo>
                <a:lnTo>
                  <a:pt x="0" y="15"/>
                </a:lnTo>
                <a:lnTo>
                  <a:pt x="8"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curve 97"/>
          <p:cNvSpPr/>
          <p:nvPr/>
        </p:nvSpPr>
        <p:spPr>
          <a:xfrm>
            <a:off x="1682450" y="3123505"/>
            <a:ext cx="380380" cy="263340"/>
          </a:xfrm>
          <a:custGeom>
            <a:avLst/>
            <a:gdLst/>
            <a:ahLst/>
            <a:cxnLst/>
            <a:rect l="l" t="t" r="r" b="b"/>
            <a:pathLst>
              <a:path w="52" h="36">
                <a:moveTo>
                  <a:pt x="0" y="0"/>
                </a:moveTo>
                <a:lnTo>
                  <a:pt x="15" y="0"/>
                </a:lnTo>
                <a:cubicBezTo>
                  <a:pt x="20" y="0"/>
                  <a:pt x="25" y="3"/>
                  <a:pt x="28" y="6"/>
                </a:cubicBezTo>
                <a:lnTo>
                  <a:pt x="52" y="36"/>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curve 98"/>
          <p:cNvSpPr/>
          <p:nvPr/>
        </p:nvSpPr>
        <p:spPr>
          <a:xfrm>
            <a:off x="1682450" y="3123505"/>
            <a:ext cx="380380" cy="263340"/>
          </a:xfrm>
          <a:custGeom>
            <a:avLst/>
            <a:gdLst/>
            <a:ahLst/>
            <a:cxnLst/>
            <a:rect l="l" t="t" r="r" b="b"/>
            <a:pathLst>
              <a:path w="52" h="36">
                <a:moveTo>
                  <a:pt x="0" y="0"/>
                </a:moveTo>
                <a:lnTo>
                  <a:pt x="15" y="0"/>
                </a:lnTo>
                <a:cubicBezTo>
                  <a:pt x="20" y="0"/>
                  <a:pt x="25" y="3"/>
                  <a:pt x="28" y="6"/>
                </a:cubicBezTo>
                <a:lnTo>
                  <a:pt x="52" y="36"/>
                </a:lnTo>
              </a:path>
            </a:pathLst>
          </a:custGeom>
          <a:noFill/>
          <a:ln w="35112">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arrowhead 99"/>
          <p:cNvSpPr/>
          <p:nvPr/>
        </p:nvSpPr>
        <p:spPr>
          <a:xfrm>
            <a:off x="1931160" y="3240545"/>
            <a:ext cx="131670" cy="146300"/>
          </a:xfrm>
          <a:custGeom>
            <a:avLst/>
            <a:gdLst/>
            <a:ahLst/>
            <a:cxnLst/>
            <a:rect l="l" t="t" r="r" b="b"/>
            <a:pathLst>
              <a:path w="18" h="20">
                <a:moveTo>
                  <a:pt x="0" y="12"/>
                </a:moveTo>
                <a:lnTo>
                  <a:pt x="18" y="20"/>
                </a:lnTo>
                <a:lnTo>
                  <a:pt x="14" y="0"/>
                </a:lnTo>
              </a:path>
            </a:pathLst>
          </a:custGeom>
          <a:noFill/>
          <a:ln w="20574">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curve 100"/>
          <p:cNvSpPr/>
          <p:nvPr/>
        </p:nvSpPr>
        <p:spPr>
          <a:xfrm>
            <a:off x="1682450" y="3606295"/>
            <a:ext cx="380380" cy="321860"/>
          </a:xfrm>
          <a:custGeom>
            <a:avLst/>
            <a:gdLst/>
            <a:ahLst/>
            <a:cxnLst/>
            <a:rect l="l" t="t" r="r" b="b"/>
            <a:pathLst>
              <a:path w="52" h="44">
                <a:moveTo>
                  <a:pt x="0" y="44"/>
                </a:moveTo>
                <a:lnTo>
                  <a:pt x="15" y="44"/>
                </a:lnTo>
                <a:cubicBezTo>
                  <a:pt x="20" y="44"/>
                  <a:pt x="25" y="41"/>
                  <a:pt x="27" y="38"/>
                </a:cubicBezTo>
                <a:lnTo>
                  <a:pt x="52" y="0"/>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curve 101"/>
          <p:cNvSpPr/>
          <p:nvPr/>
        </p:nvSpPr>
        <p:spPr>
          <a:xfrm>
            <a:off x="1682450" y="3606295"/>
            <a:ext cx="380380" cy="321860"/>
          </a:xfrm>
          <a:custGeom>
            <a:avLst/>
            <a:gdLst/>
            <a:ahLst/>
            <a:cxnLst/>
            <a:rect l="l" t="t" r="r" b="b"/>
            <a:pathLst>
              <a:path w="52" h="44">
                <a:moveTo>
                  <a:pt x="0" y="44"/>
                </a:moveTo>
                <a:lnTo>
                  <a:pt x="15" y="44"/>
                </a:lnTo>
                <a:cubicBezTo>
                  <a:pt x="20" y="44"/>
                  <a:pt x="25" y="41"/>
                  <a:pt x="27" y="38"/>
                </a:cubicBezTo>
                <a:lnTo>
                  <a:pt x="52" y="0"/>
                </a:lnTo>
              </a:path>
            </a:pathLst>
          </a:custGeom>
          <a:noFill/>
          <a:ln w="3511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arrowhead 102"/>
          <p:cNvSpPr/>
          <p:nvPr/>
        </p:nvSpPr>
        <p:spPr>
          <a:xfrm>
            <a:off x="1938475" y="3606295"/>
            <a:ext cx="124355" cy="146300"/>
          </a:xfrm>
          <a:custGeom>
            <a:avLst/>
            <a:gdLst/>
            <a:ahLst/>
            <a:cxnLst/>
            <a:rect l="l" t="t" r="r" b="b"/>
            <a:pathLst>
              <a:path w="17" h="20">
                <a:moveTo>
                  <a:pt x="15" y="20"/>
                </a:moveTo>
                <a:lnTo>
                  <a:pt x="17" y="0"/>
                </a:lnTo>
                <a:lnTo>
                  <a:pt x="0" y="10"/>
                </a:lnTo>
              </a:path>
            </a:pathLst>
          </a:custGeom>
          <a:noFill/>
          <a:ln w="20574">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pending {C2}"/>
          <p:cNvSpPr txBox="1"/>
          <p:nvPr/>
        </p:nvSpPr>
        <p:spPr>
          <a:xfrm>
            <a:off x="504735" y="4290368"/>
            <a:ext cx="1456085" cy="235909"/>
          </a:xfrm>
          <a:prstGeom prst="rect">
            <a:avLst/>
          </a:prstGeom>
          <a:noFill/>
          <a:effectLst/>
        </p:spPr>
        <p:txBody>
          <a:bodyPr wrap="none" lIns="0" rIns="0" tIns="0" bIns="0" anchor="t">
            <a:spAutoFit/>
          </a:bodyPr>
          <a:lstStyle/>
          <a:p>
            <a:pPr algn="l">
              <a:lnSpc>
                <a:spcPct val="100000"/>
              </a:lnSpc>
              <a:spcBef>
                <a:spcPts val="0"/>
              </a:spcBef>
              <a:spcAft>
                <a:spcPts val="0"/>
              </a:spcAft>
            </a:pPr>
            <a:r>
              <a:rPr sz="1382" b="1" i="0" lang="en-US" spc="0">
                <a:solidFill>
                  <a:srgbClr val="000000"/>
                </a:solidFill>
                <a:latin typeface="DejaVu Sans"/>
                <a:ea typeface="DejaVu Sans"/>
                <a:effectLst/>
              </a:rPr>
              <a:t>pending {C2}</a:t>
            </a:r>
          </a:p>
        </p:txBody>
      </p:sp>
      <p:sp>
        <p:nvSpPr>
          <p:cNvPr id="105" name="rect 104"/>
          <p:cNvSpPr/>
          <p:nvPr/>
        </p:nvSpPr>
        <p:spPr>
          <a:xfrm>
            <a:off x="3123505" y="3087050"/>
            <a:ext cx="533995" cy="555940"/>
          </a:xfrm>
          <a:prstGeom prst="roundRect">
            <a:avLst>
              <a:gd name="adj" fmla="val 2739"/>
            </a:avLst>
          </a:prstGeom>
          <a:solidFill>
            <a:srgbClr val="FFFFFF"/>
          </a:solidFill>
          <a:ln w="13898">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polygon 105"/>
          <p:cNvSpPr/>
          <p:nvPr/>
        </p:nvSpPr>
        <p:spPr>
          <a:xfrm>
            <a:off x="3481940" y="3086930"/>
            <a:ext cx="175560" cy="175560"/>
          </a:xfrm>
          <a:custGeom>
            <a:avLst/>
            <a:gdLst/>
            <a:ahLst/>
            <a:cxnLst/>
            <a:rect l="l" t="t" r="r" b="b"/>
            <a:pathLst>
              <a:path w="24" h="24">
                <a:moveTo>
                  <a:pt x="0" y="0"/>
                </a:moveTo>
                <a:lnTo>
                  <a:pt x="24" y="24"/>
                </a:lnTo>
                <a:lnTo>
                  <a:pt x="0" y="24"/>
                </a:lnTo>
                <a:close/>
              </a:path>
            </a:pathLst>
          </a:cu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 106"/>
          <p:cNvSpPr/>
          <p:nvPr/>
        </p:nvSpPr>
        <p:spPr>
          <a:xfrm>
            <a:off x="3211285" y="3262610"/>
            <a:ext cx="252806" cy="7315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rect 107"/>
          <p:cNvSpPr/>
          <p:nvPr/>
        </p:nvSpPr>
        <p:spPr>
          <a:xfrm>
            <a:off x="3211285" y="3401595"/>
            <a:ext cx="294941" cy="73150"/>
          </a:xfrm>
          <a:prstGeom prst="rect">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polygon 108"/>
          <p:cNvSpPr/>
          <p:nvPr/>
        </p:nvSpPr>
        <p:spPr>
          <a:xfrm>
            <a:off x="3123505" y="3840375"/>
            <a:ext cx="658350" cy="321860"/>
          </a:xfrm>
          <a:custGeom>
            <a:avLst/>
            <a:gdLst/>
            <a:ahLst/>
            <a:cxnLst/>
            <a:rect l="l" t="t" r="r" b="b"/>
            <a:pathLst>
              <a:path w="90" h="44">
                <a:moveTo>
                  <a:pt x="0" y="0"/>
                </a:moveTo>
                <a:lnTo>
                  <a:pt x="90" y="0"/>
                </a:lnTo>
                <a:lnTo>
                  <a:pt x="90" y="32"/>
                </a:lnTo>
                <a:lnTo>
                  <a:pt x="44" y="32"/>
                </a:lnTo>
                <a:lnTo>
                  <a:pt x="31" y="44"/>
                </a:lnTo>
                <a:lnTo>
                  <a:pt x="31" y="32"/>
                </a:lnTo>
                <a:lnTo>
                  <a:pt x="0" y="32"/>
                </a:lnTo>
                <a:close/>
              </a:path>
            </a:pathLst>
          </a:custGeom>
          <a:solidFill>
            <a:srgbClr val="F6C6AD"/>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NOTICE"/>
          <p:cNvSpPr txBox="1"/>
          <p:nvPr/>
        </p:nvSpPr>
        <p:spPr>
          <a:xfrm>
            <a:off x="3150236" y="3899015"/>
            <a:ext cx="604888" cy="177389"/>
          </a:xfrm>
          <a:prstGeom prst="rect">
            <a:avLst/>
          </a:prstGeom>
          <a:noFill/>
          <a:effectLst/>
        </p:spPr>
        <p:txBody>
          <a:bodyPr wrap="none" lIns="0" rIns="0" tIns="0" bIns="0" anchor="t">
            <a:spAutoFit/>
          </a:bodyPr>
          <a:lstStyle/>
          <a:p>
            <a:pPr algn="ctr">
              <a:lnSpc>
                <a:spcPct val="100000"/>
              </a:lnSpc>
              <a:spcBef>
                <a:spcPts val="0"/>
              </a:spcBef>
              <a:spcAft>
                <a:spcPts val="0"/>
              </a:spcAft>
            </a:pPr>
            <a:r>
              <a:rPr sz="979" b="1" i="0" lang="en-US" spc="0">
                <a:solidFill>
                  <a:srgbClr val="000000"/>
                </a:solidFill>
                <a:latin typeface="DejaVu Sans"/>
                <a:ea typeface="DejaVu Sans"/>
                <a:effectLst/>
              </a:rPr>
              <a:t>NOTICE</a:t>
            </a:r>
          </a:p>
        </p:txBody>
      </p:sp>
      <p:sp>
        <p:nvSpPr>
          <p:cNvPr id="111" name="curve 110"/>
          <p:cNvSpPr/>
          <p:nvPr/>
        </p:nvSpPr>
        <p:spPr>
          <a:xfrm>
            <a:off x="1682450" y="3357585"/>
            <a:ext cx="1411795" cy="570570"/>
          </a:xfrm>
          <a:custGeom>
            <a:avLst/>
            <a:gdLst/>
            <a:ahLst/>
            <a:cxnLst/>
            <a:rect l="l" t="t" r="r" b="b"/>
            <a:pathLst>
              <a:path w="193" h="78">
                <a:moveTo>
                  <a:pt x="0" y="78"/>
                </a:moveTo>
                <a:lnTo>
                  <a:pt x="142" y="78"/>
                </a:lnTo>
                <a:cubicBezTo>
                  <a:pt x="152" y="78"/>
                  <a:pt x="160" y="70"/>
                  <a:pt x="160" y="60"/>
                </a:cubicBezTo>
                <a:lnTo>
                  <a:pt x="160" y="11"/>
                </a:lnTo>
                <a:cubicBezTo>
                  <a:pt x="160" y="5"/>
                  <a:pt x="165" y="0"/>
                  <a:pt x="171" y="0"/>
                </a:cubicBezTo>
                <a:lnTo>
                  <a:pt x="193" y="0"/>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curve 111"/>
          <p:cNvSpPr/>
          <p:nvPr/>
        </p:nvSpPr>
        <p:spPr>
          <a:xfrm>
            <a:off x="1682450" y="3357585"/>
            <a:ext cx="1411795" cy="570570"/>
          </a:xfrm>
          <a:custGeom>
            <a:avLst/>
            <a:gdLst/>
            <a:ahLst/>
            <a:cxnLst/>
            <a:rect l="l" t="t" r="r" b="b"/>
            <a:pathLst>
              <a:path w="193" h="78">
                <a:moveTo>
                  <a:pt x="0" y="78"/>
                </a:moveTo>
                <a:lnTo>
                  <a:pt x="142" y="78"/>
                </a:lnTo>
                <a:cubicBezTo>
                  <a:pt x="152" y="78"/>
                  <a:pt x="160" y="70"/>
                  <a:pt x="160" y="60"/>
                </a:cubicBezTo>
                <a:lnTo>
                  <a:pt x="160" y="11"/>
                </a:lnTo>
                <a:cubicBezTo>
                  <a:pt x="160" y="5"/>
                  <a:pt x="165" y="0"/>
                  <a:pt x="171" y="0"/>
                </a:cubicBezTo>
                <a:lnTo>
                  <a:pt x="193" y="0"/>
                </a:lnTo>
              </a:path>
            </a:pathLst>
          </a:custGeom>
          <a:noFill/>
          <a:ln w="35112">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arrowhead 112"/>
          <p:cNvSpPr/>
          <p:nvPr/>
        </p:nvSpPr>
        <p:spPr>
          <a:xfrm>
            <a:off x="3006465" y="3313695"/>
            <a:ext cx="87780" cy="87780"/>
          </a:xfrm>
          <a:custGeom>
            <a:avLst/>
            <a:gdLst/>
            <a:ahLst/>
            <a:cxnLst/>
            <a:rect l="l" t="t" r="r" b="b"/>
            <a:pathLst>
              <a:path w="12" h="12">
                <a:moveTo>
                  <a:pt x="12" y="6"/>
                </a:moveTo>
                <a:lnTo>
                  <a:pt x="0" y="12"/>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4" name="path 113"/>
          <p:cNvCxnSpPr/>
          <p:nvPr/>
        </p:nvCxnSpPr>
        <p:spPr>
          <a:xfrm>
            <a:off x="3686760" y="3372335"/>
            <a:ext cx="460845"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15" name="path 114"/>
          <p:cNvCxnSpPr/>
          <p:nvPr/>
        </p:nvCxnSpPr>
        <p:spPr>
          <a:xfrm>
            <a:off x="3686760" y="3372335"/>
            <a:ext cx="460845" cy="0"/>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16" name="arrowhead 115"/>
          <p:cNvSpPr/>
          <p:nvPr/>
        </p:nvSpPr>
        <p:spPr>
          <a:xfrm>
            <a:off x="4015935" y="3306380"/>
            <a:ext cx="131670" cy="131670"/>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curve 116"/>
          <p:cNvSpPr/>
          <p:nvPr/>
        </p:nvSpPr>
        <p:spPr>
          <a:xfrm>
            <a:off x="3803800" y="3372215"/>
            <a:ext cx="343805" cy="585200"/>
          </a:xfrm>
          <a:custGeom>
            <a:avLst/>
            <a:gdLst/>
            <a:ahLst/>
            <a:cxnLst/>
            <a:rect l="l" t="t" r="r" b="b"/>
            <a:pathLst>
              <a:path w="47" h="80">
                <a:moveTo>
                  <a:pt x="0" y="80"/>
                </a:moveTo>
                <a:lnTo>
                  <a:pt x="17" y="80"/>
                </a:lnTo>
                <a:cubicBezTo>
                  <a:pt x="21" y="80"/>
                  <a:pt x="25" y="76"/>
                  <a:pt x="25" y="72"/>
                </a:cubicBezTo>
                <a:lnTo>
                  <a:pt x="25" y="7"/>
                </a:lnTo>
                <a:cubicBezTo>
                  <a:pt x="25" y="3"/>
                  <a:pt x="28" y="0"/>
                  <a:pt x="32" y="0"/>
                </a:cubicBezTo>
                <a:lnTo>
                  <a:pt x="47" y="0"/>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curve 117"/>
          <p:cNvSpPr/>
          <p:nvPr/>
        </p:nvSpPr>
        <p:spPr>
          <a:xfrm>
            <a:off x="3803800" y="3372215"/>
            <a:ext cx="343805" cy="585200"/>
          </a:xfrm>
          <a:custGeom>
            <a:avLst/>
            <a:gdLst/>
            <a:ahLst/>
            <a:cxnLst/>
            <a:rect l="l" t="t" r="r" b="b"/>
            <a:pathLst>
              <a:path w="47" h="80">
                <a:moveTo>
                  <a:pt x="0" y="80"/>
                </a:moveTo>
                <a:lnTo>
                  <a:pt x="17" y="80"/>
                </a:lnTo>
                <a:cubicBezTo>
                  <a:pt x="21" y="80"/>
                  <a:pt x="25" y="76"/>
                  <a:pt x="25" y="72"/>
                </a:cubicBezTo>
                <a:lnTo>
                  <a:pt x="25" y="7"/>
                </a:lnTo>
                <a:cubicBezTo>
                  <a:pt x="25" y="3"/>
                  <a:pt x="28" y="0"/>
                  <a:pt x="32" y="0"/>
                </a:cubicBezTo>
                <a:lnTo>
                  <a:pt x="47" y="0"/>
                </a:lnTo>
              </a:path>
            </a:pathLst>
          </a:custGeom>
          <a:noFill/>
          <a:ln w="35112">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arrowhead 118"/>
          <p:cNvSpPr/>
          <p:nvPr/>
        </p:nvSpPr>
        <p:spPr>
          <a:xfrm>
            <a:off x="4059825" y="3328325"/>
            <a:ext cx="87780" cy="87780"/>
          </a:xfrm>
          <a:custGeom>
            <a:avLst/>
            <a:gdLst/>
            <a:ahLst/>
            <a:cxnLst/>
            <a:rect l="l" t="t" r="r" b="b"/>
            <a:pathLst>
              <a:path w="12" h="12">
                <a:moveTo>
                  <a:pt x="12" y="6"/>
                </a:moveTo>
                <a:lnTo>
                  <a:pt x="0" y="12"/>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phase / work"/>
          <p:cNvSpPr txBox="1"/>
          <p:nvPr/>
        </p:nvSpPr>
        <p:spPr>
          <a:xfrm>
            <a:off x="4184180" y="2915147"/>
            <a:ext cx="1247608" cy="217621"/>
          </a:xfrm>
          <a:prstGeom prst="rect">
            <a:avLst/>
          </a:prstGeom>
          <a:noFill/>
          <a:effectLst/>
        </p:spPr>
        <p:txBody>
          <a:bodyPr wrap="none" lIns="0" rIns="0" tIns="0" bIns="0" anchor="t">
            <a:spAutoFit/>
          </a:bodyPr>
          <a:lstStyle/>
          <a:p>
            <a:pPr algn="l">
              <a:lnSpc>
                <a:spcPct val="100000"/>
              </a:lnSpc>
              <a:spcBef>
                <a:spcPts val="0"/>
              </a:spcBef>
              <a:spcAft>
                <a:spcPts val="0"/>
              </a:spcAft>
            </a:pPr>
            <a:r>
              <a:rPr sz="1267" b="1" i="0" lang="en-US" spc="0">
                <a:solidFill>
                  <a:srgbClr val="000000"/>
                </a:solidFill>
                <a:latin typeface="DejaVu Sans"/>
                <a:ea typeface="DejaVu Sans"/>
                <a:effectLst/>
              </a:rPr>
              <a:t>phase / work</a:t>
            </a:r>
          </a:p>
        </p:txBody>
      </p:sp>
      <p:sp>
        <p:nvSpPr>
          <p:cNvPr id="121" name="rect 120"/>
          <p:cNvSpPr/>
          <p:nvPr/>
        </p:nvSpPr>
        <p:spPr>
          <a:xfrm>
            <a:off x="4220755" y="3204090"/>
            <a:ext cx="724185" cy="124355"/>
          </a:xfrm>
          <a:prstGeom prst="rect">
            <a:avLst/>
          </a:prstGeom>
          <a:solidFill>
            <a:srgbClr val="FFFFFF"/>
          </a:solidFill>
          <a:ln w="7315">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rect 121"/>
          <p:cNvSpPr/>
          <p:nvPr/>
        </p:nvSpPr>
        <p:spPr>
          <a:xfrm>
            <a:off x="4220755" y="3204090"/>
            <a:ext cx="512050" cy="124355"/>
          </a:xfrm>
          <a:prstGeom prst="rect">
            <a:avLst/>
          </a:prstGeom>
          <a:solidFill>
            <a:srgbClr val="A6CAEC"/>
          </a:solidFill>
          <a:ln w="731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3" name="line 122"/>
          <p:cNvCxnSpPr/>
          <p:nvPr/>
        </p:nvCxnSpPr>
        <p:spPr>
          <a:xfrm>
            <a:off x="4220755" y="3533265"/>
            <a:ext cx="724185" cy="0"/>
          </a:xfrm>
          <a:prstGeom prst="line">
            <a:avLst/>
          </a:prstGeom>
          <a:ln w="18288">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24" name="line 123"/>
          <p:cNvCxnSpPr/>
          <p:nvPr/>
        </p:nvCxnSpPr>
        <p:spPr>
          <a:xfrm>
            <a:off x="4220755" y="3467430"/>
            <a:ext cx="0" cy="13167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25" name="line 124"/>
          <p:cNvCxnSpPr/>
          <p:nvPr/>
        </p:nvCxnSpPr>
        <p:spPr>
          <a:xfrm>
            <a:off x="4944940" y="3467430"/>
            <a:ext cx="0" cy="13167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26" name="circle 125"/>
          <p:cNvSpPr/>
          <p:nvPr/>
        </p:nvSpPr>
        <p:spPr>
          <a:xfrm>
            <a:off x="4623080" y="3496690"/>
            <a:ext cx="73150" cy="73150"/>
          </a:xfrm>
          <a:prstGeom prst="ellipse">
            <a:avLst/>
          </a:prstGeom>
          <a:solidFill>
            <a:srgbClr val="000000"/>
          </a:solidFill>
          <a:ln w="731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7" name="path 126"/>
          <p:cNvCxnSpPr/>
          <p:nvPr/>
        </p:nvCxnSpPr>
        <p:spPr>
          <a:xfrm>
            <a:off x="5010775" y="3372335"/>
            <a:ext cx="24871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28" name="path 127"/>
          <p:cNvCxnSpPr/>
          <p:nvPr/>
        </p:nvCxnSpPr>
        <p:spPr>
          <a:xfrm>
            <a:off x="5010775" y="3372335"/>
            <a:ext cx="248710" cy="0"/>
          </a:xfrm>
          <a:prstGeom prst="line">
            <a:avLst/>
          </a:prstGeom>
          <a:ln w="3511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129" name="arrowhead 128"/>
          <p:cNvSpPr/>
          <p:nvPr/>
        </p:nvSpPr>
        <p:spPr>
          <a:xfrm>
            <a:off x="5127815" y="3306380"/>
            <a:ext cx="131670" cy="131670"/>
          </a:xfrm>
          <a:custGeom>
            <a:avLst/>
            <a:gdLst/>
            <a:ahLst/>
            <a:cxnLst/>
            <a:rect l="l" t="t" r="r" b="b"/>
            <a:pathLst>
              <a:path w="18" h="18">
                <a:moveTo>
                  <a:pt x="18" y="9"/>
                </a:moveTo>
                <a:lnTo>
                  <a:pt x="0" y="18"/>
                </a:lnTo>
                <a:lnTo>
                  <a:pt x="5" y="9"/>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circle 129"/>
          <p:cNvSpPr/>
          <p:nvPr/>
        </p:nvSpPr>
        <p:spPr>
          <a:xfrm>
            <a:off x="5303375" y="3233350"/>
            <a:ext cx="277970" cy="277970"/>
          </a:xfrm>
          <a:prstGeom prst="ellipse">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path 130"/>
          <p:cNvSpPr/>
          <p:nvPr/>
        </p:nvSpPr>
        <p:spPr>
          <a:xfrm>
            <a:off x="5442360" y="3284435"/>
            <a:ext cx="73150" cy="124355"/>
          </a:xfrm>
          <a:custGeom>
            <a:avLst/>
            <a:gdLst/>
            <a:ahLst/>
            <a:cxnLst/>
            <a:rect l="l" t="t" r="r" b="b"/>
            <a:pathLst>
              <a:path w="10" h="17">
                <a:moveTo>
                  <a:pt x="0" y="0"/>
                </a:moveTo>
                <a:lnTo>
                  <a:pt x="0" y="12"/>
                </a:lnTo>
                <a:lnTo>
                  <a:pt x="10" y="17"/>
                </a:lnTo>
              </a:path>
            </a:pathLst>
          </a:custGeom>
          <a:no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2" name="path 131"/>
          <p:cNvCxnSpPr/>
          <p:nvPr/>
        </p:nvCxnSpPr>
        <p:spPr>
          <a:xfrm>
            <a:off x="5639865" y="3372335"/>
            <a:ext cx="42427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33" name="path 132"/>
          <p:cNvCxnSpPr/>
          <p:nvPr/>
        </p:nvCxnSpPr>
        <p:spPr>
          <a:xfrm>
            <a:off x="5639865" y="3372335"/>
            <a:ext cx="424270" cy="0"/>
          </a:xfrm>
          <a:prstGeom prst="line">
            <a:avLst/>
          </a:prstGeom>
          <a:ln w="3511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134" name="arrowhead 133"/>
          <p:cNvSpPr/>
          <p:nvPr/>
        </p:nvSpPr>
        <p:spPr>
          <a:xfrm>
            <a:off x="5932465" y="3306380"/>
            <a:ext cx="131670" cy="131670"/>
          </a:xfrm>
          <a:custGeom>
            <a:avLst/>
            <a:gdLst/>
            <a:ahLst/>
            <a:cxnLst/>
            <a:rect l="l" t="t" r="r" b="b"/>
            <a:pathLst>
              <a:path w="18" h="18">
                <a:moveTo>
                  <a:pt x="0" y="18"/>
                </a:moveTo>
                <a:lnTo>
                  <a:pt x="18" y="9"/>
                </a:lnTo>
                <a:lnTo>
                  <a:pt x="0" y="0"/>
                </a:lnTo>
              </a:path>
            </a:pathLst>
          </a:custGeom>
          <a:noFill/>
          <a:ln w="20574">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circle 134"/>
          <p:cNvSpPr/>
          <p:nvPr/>
        </p:nvSpPr>
        <p:spPr>
          <a:xfrm>
            <a:off x="6129970" y="3204090"/>
            <a:ext cx="336490" cy="336490"/>
          </a:xfrm>
          <a:prstGeom prst="ellipse">
            <a:avLst/>
          </a:prstGeom>
          <a:solidFill>
            <a:srgbClr val="A6CAEC"/>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P"/>
          <p:cNvSpPr txBox="1"/>
          <p:nvPr/>
        </p:nvSpPr>
        <p:spPr>
          <a:xfrm>
            <a:off x="6195348" y="3277094"/>
            <a:ext cx="205734"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P</a:t>
            </a:r>
          </a:p>
        </p:txBody>
      </p:sp>
      <p:sp>
        <p:nvSpPr>
          <p:cNvPr id="137" name="RETURN"/>
          <p:cNvSpPr txBox="1"/>
          <p:nvPr/>
        </p:nvSpPr>
        <p:spPr>
          <a:xfrm>
            <a:off x="5601976" y="3566182"/>
            <a:ext cx="719499" cy="208478"/>
          </a:xfrm>
          <a:prstGeom prst="rect">
            <a:avLst/>
          </a:prstGeom>
          <a:noFill/>
          <a:effectLst/>
        </p:spPr>
        <p:txBody>
          <a:bodyPr wrap="none" lIns="0" rIns="0" tIns="0" bIns="0" anchor="t">
            <a:spAutoFit/>
          </a:bodyPr>
          <a:lstStyle/>
          <a:p>
            <a:pPr algn="ctr">
              <a:lnSpc>
                <a:spcPct val="100000"/>
              </a:lnSpc>
              <a:spcBef>
                <a:spcPts val="0"/>
              </a:spcBef>
              <a:spcAft>
                <a:spcPts val="0"/>
              </a:spcAft>
            </a:pPr>
            <a:r>
              <a:rPr sz="1209" b="0" i="0" lang="en-US" spc="0">
                <a:solidFill>
                  <a:srgbClr val="000000"/>
                </a:solidFill>
                <a:latin typeface="DejaVu Sans"/>
                <a:ea typeface="DejaVu Sans"/>
                <a:effectLst/>
              </a:rPr>
              <a:t>RETURN</a:t>
            </a:r>
          </a:p>
        </p:txBody>
      </p:sp>
      <p:sp>
        <p:nvSpPr>
          <p:cNvPr id="138" name="curve 137"/>
          <p:cNvSpPr/>
          <p:nvPr/>
        </p:nvSpPr>
        <p:spPr>
          <a:xfrm>
            <a:off x="2691920" y="2889425"/>
            <a:ext cx="3606295" cy="607145"/>
          </a:xfrm>
          <a:custGeom>
            <a:avLst/>
            <a:gdLst/>
            <a:ahLst/>
            <a:cxnLst/>
            <a:rect l="l" t="t" r="r" b="b"/>
            <a:pathLst>
              <a:path w="493" h="83">
                <a:moveTo>
                  <a:pt x="0" y="83"/>
                </a:moveTo>
                <a:lnTo>
                  <a:pt x="12" y="83"/>
                </a:lnTo>
                <a:cubicBezTo>
                  <a:pt x="15" y="83"/>
                  <a:pt x="18" y="80"/>
                  <a:pt x="18" y="77"/>
                </a:cubicBezTo>
                <a:lnTo>
                  <a:pt x="18" y="18"/>
                </a:lnTo>
                <a:cubicBezTo>
                  <a:pt x="18" y="8"/>
                  <a:pt x="26" y="0"/>
                  <a:pt x="36" y="0"/>
                </a:cubicBezTo>
                <a:lnTo>
                  <a:pt x="480" y="0"/>
                </a:lnTo>
                <a:cubicBezTo>
                  <a:pt x="487" y="0"/>
                  <a:pt x="493" y="6"/>
                  <a:pt x="493" y="13"/>
                </a:cubicBezTo>
                <a:lnTo>
                  <a:pt x="493" y="39"/>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curve 138"/>
          <p:cNvSpPr/>
          <p:nvPr/>
        </p:nvSpPr>
        <p:spPr>
          <a:xfrm>
            <a:off x="2691920" y="2889425"/>
            <a:ext cx="3606295" cy="607145"/>
          </a:xfrm>
          <a:custGeom>
            <a:avLst/>
            <a:gdLst/>
            <a:ahLst/>
            <a:cxnLst/>
            <a:rect l="l" t="t" r="r" b="b"/>
            <a:pathLst>
              <a:path w="493" h="83">
                <a:moveTo>
                  <a:pt x="0" y="83"/>
                </a:moveTo>
                <a:lnTo>
                  <a:pt x="12" y="83"/>
                </a:lnTo>
                <a:cubicBezTo>
                  <a:pt x="15" y="83"/>
                  <a:pt x="18" y="80"/>
                  <a:pt x="18" y="77"/>
                </a:cubicBezTo>
                <a:lnTo>
                  <a:pt x="18" y="18"/>
                </a:lnTo>
                <a:cubicBezTo>
                  <a:pt x="18" y="8"/>
                  <a:pt x="26" y="0"/>
                  <a:pt x="36" y="0"/>
                </a:cubicBezTo>
                <a:lnTo>
                  <a:pt x="480" y="0"/>
                </a:lnTo>
                <a:cubicBezTo>
                  <a:pt x="487" y="0"/>
                  <a:pt x="493" y="6"/>
                  <a:pt x="493" y="13"/>
                </a:cubicBezTo>
                <a:lnTo>
                  <a:pt x="493" y="39"/>
                </a:lnTo>
              </a:path>
            </a:pathLst>
          </a:custGeom>
          <a:noFill/>
          <a:ln w="3511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arrowhead 139"/>
          <p:cNvSpPr/>
          <p:nvPr/>
        </p:nvSpPr>
        <p:spPr>
          <a:xfrm>
            <a:off x="6254325" y="3086930"/>
            <a:ext cx="87780" cy="87780"/>
          </a:xfrm>
          <a:custGeom>
            <a:avLst/>
            <a:gdLst/>
            <a:ahLst/>
            <a:cxnLst/>
            <a:rect l="l" t="t" r="r" b="b"/>
            <a:pathLst>
              <a:path w="12" h="12">
                <a:moveTo>
                  <a:pt x="0" y="0"/>
                </a:moveTo>
                <a:lnTo>
                  <a:pt x="6" y="12"/>
                </a:lnTo>
                <a:lnTo>
                  <a:pt x="12" y="0"/>
                </a:lnTo>
              </a:path>
            </a:pathLst>
          </a:custGeom>
          <a:noFill/>
          <a:ln w="137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rect 140"/>
          <p:cNvSpPr/>
          <p:nvPr/>
        </p:nvSpPr>
        <p:spPr>
          <a:xfrm>
            <a:off x="3123505" y="4257450"/>
            <a:ext cx="490105" cy="314545"/>
          </a:xfrm>
          <a:prstGeom prst="roundRect">
            <a:avLst>
              <a:gd name="adj" fmla="val 6976"/>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2" name="line 141"/>
          <p:cNvCxnSpPr/>
          <p:nvPr/>
        </p:nvCxnSpPr>
        <p:spPr>
          <a:xfrm>
            <a:off x="3130820" y="4323504"/>
            <a:ext cx="475475" cy="0"/>
          </a:xfrm>
          <a:prstGeom prst="line">
            <a:avLst/>
          </a:prstGeom>
          <a:ln w="7315">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43" name="path 142"/>
          <p:cNvSpPr/>
          <p:nvPr/>
        </p:nvSpPr>
        <p:spPr>
          <a:xfrm>
            <a:off x="3240545" y="4396315"/>
            <a:ext cx="80465" cy="109725"/>
          </a:xfrm>
          <a:custGeom>
            <a:avLst/>
            <a:gdLst/>
            <a:ahLst/>
            <a:cxnLst/>
            <a:rect l="l" t="t" r="r" b="b"/>
            <a:pathLst>
              <a:path w="11" h="15">
                <a:moveTo>
                  <a:pt x="0" y="0"/>
                </a:moveTo>
                <a:lnTo>
                  <a:pt x="11" y="7"/>
                </a:lnTo>
                <a:lnTo>
                  <a:pt x="0" y="15"/>
                </a:lnTo>
              </a:path>
            </a:pathLst>
          </a:custGeom>
          <a:no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4" name="line 143"/>
          <p:cNvCxnSpPr/>
          <p:nvPr/>
        </p:nvCxnSpPr>
        <p:spPr>
          <a:xfrm>
            <a:off x="3401475" y="4502795"/>
            <a:ext cx="109725"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45" name="circle 144"/>
          <p:cNvSpPr/>
          <p:nvPr/>
        </p:nvSpPr>
        <p:spPr>
          <a:xfrm>
            <a:off x="3781855" y="4301340"/>
            <a:ext cx="248710" cy="248710"/>
          </a:xfrm>
          <a:prstGeom prst="ellipse">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path 145"/>
          <p:cNvSpPr/>
          <p:nvPr/>
        </p:nvSpPr>
        <p:spPr>
          <a:xfrm>
            <a:off x="3906210" y="4345110"/>
            <a:ext cx="65835" cy="109725"/>
          </a:xfrm>
          <a:custGeom>
            <a:avLst/>
            <a:gdLst/>
            <a:ahLst/>
            <a:cxnLst/>
            <a:rect l="l" t="t" r="r" b="b"/>
            <a:pathLst>
              <a:path w="9" h="15">
                <a:moveTo>
                  <a:pt x="0" y="0"/>
                </a:moveTo>
                <a:lnTo>
                  <a:pt x="0" y="11"/>
                </a:lnTo>
                <a:lnTo>
                  <a:pt x="9" y="15"/>
                </a:lnTo>
              </a:path>
            </a:pathLst>
          </a:custGeom>
          <a:no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path 146"/>
          <p:cNvSpPr/>
          <p:nvPr/>
        </p:nvSpPr>
        <p:spPr>
          <a:xfrm>
            <a:off x="4228070" y="4323165"/>
            <a:ext cx="709555" cy="212135"/>
          </a:xfrm>
          <a:custGeom>
            <a:avLst/>
            <a:gdLst/>
            <a:ahLst/>
            <a:cxnLst/>
            <a:rect l="l" t="t" r="r" b="b"/>
            <a:pathLst>
              <a:path w="97" h="29">
                <a:moveTo>
                  <a:pt x="0" y="29"/>
                </a:moveTo>
                <a:lnTo>
                  <a:pt x="22" y="29"/>
                </a:lnTo>
                <a:lnTo>
                  <a:pt x="22" y="15"/>
                </a:lnTo>
                <a:lnTo>
                  <a:pt x="50" y="15"/>
                </a:lnTo>
                <a:lnTo>
                  <a:pt x="50" y="0"/>
                </a:lnTo>
                <a:lnTo>
                  <a:pt x="97" y="0"/>
                </a:lnTo>
              </a:path>
            </a:pathLst>
          </a:custGeom>
          <a:noFill/>
          <a:ln w="20482">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path 147"/>
          <p:cNvCxnSpPr/>
          <p:nvPr/>
        </p:nvCxnSpPr>
        <p:spPr>
          <a:xfrm>
            <a:off x="4074455" y="4425695"/>
            <a:ext cx="109725"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49" name="path 148"/>
          <p:cNvCxnSpPr/>
          <p:nvPr/>
        </p:nvCxnSpPr>
        <p:spPr>
          <a:xfrm>
            <a:off x="4074455" y="4425695"/>
            <a:ext cx="109725" cy="0"/>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50" name="arrowhead 149"/>
          <p:cNvSpPr/>
          <p:nvPr/>
        </p:nvSpPr>
        <p:spPr>
          <a:xfrm>
            <a:off x="4096400" y="4381685"/>
            <a:ext cx="87780" cy="87780"/>
          </a:xfrm>
          <a:custGeom>
            <a:avLst/>
            <a:gdLst/>
            <a:ahLst/>
            <a:cxnLst/>
            <a:rect l="l" t="t" r="r" b="b"/>
            <a:pathLst>
              <a:path w="12" h="12">
                <a:moveTo>
                  <a:pt x="12" y="6"/>
                </a:moveTo>
                <a:lnTo>
                  <a:pt x="0" y="12"/>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1" name="path 150"/>
          <p:cNvCxnSpPr/>
          <p:nvPr/>
        </p:nvCxnSpPr>
        <p:spPr>
          <a:xfrm>
            <a:off x="5010775" y="4425695"/>
            <a:ext cx="24871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52" name="path 151"/>
          <p:cNvCxnSpPr/>
          <p:nvPr/>
        </p:nvCxnSpPr>
        <p:spPr>
          <a:xfrm>
            <a:off x="5010775" y="4425695"/>
            <a:ext cx="248710" cy="0"/>
          </a:xfrm>
          <a:prstGeom prst="line">
            <a:avLst/>
          </a:prstGeom>
          <a:ln w="3511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153" name="arrowhead 152"/>
          <p:cNvSpPr/>
          <p:nvPr/>
        </p:nvSpPr>
        <p:spPr>
          <a:xfrm>
            <a:off x="5127815" y="4359740"/>
            <a:ext cx="131670" cy="131670"/>
          </a:xfrm>
          <a:custGeom>
            <a:avLst/>
            <a:gdLst/>
            <a:ahLst/>
            <a:cxnLst/>
            <a:rect l="l" t="t" r="r" b="b"/>
            <a:pathLst>
              <a:path w="18" h="18">
                <a:moveTo>
                  <a:pt x="18" y="9"/>
                </a:moveTo>
                <a:lnTo>
                  <a:pt x="0" y="18"/>
                </a:lnTo>
                <a:lnTo>
                  <a:pt x="5" y="9"/>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4" name="line 153"/>
          <p:cNvCxnSpPr/>
          <p:nvPr/>
        </p:nvCxnSpPr>
        <p:spPr>
          <a:xfrm>
            <a:off x="5318005" y="4425695"/>
            <a:ext cx="563255" cy="0"/>
          </a:xfrm>
          <a:prstGeom prst="line">
            <a:avLst/>
          </a:prstGeom>
          <a:ln w="18288">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55" name="line 154"/>
          <p:cNvCxnSpPr/>
          <p:nvPr/>
        </p:nvCxnSpPr>
        <p:spPr>
          <a:xfrm>
            <a:off x="5318005" y="4359860"/>
            <a:ext cx="0" cy="13167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56" name="line 155"/>
          <p:cNvCxnSpPr/>
          <p:nvPr/>
        </p:nvCxnSpPr>
        <p:spPr>
          <a:xfrm>
            <a:off x="5881260" y="4359860"/>
            <a:ext cx="0" cy="13167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57" name="circle 156"/>
          <p:cNvSpPr/>
          <p:nvPr/>
        </p:nvSpPr>
        <p:spPr>
          <a:xfrm>
            <a:off x="5595975" y="4389120"/>
            <a:ext cx="73150" cy="73150"/>
          </a:xfrm>
          <a:prstGeom prst="ellipse">
            <a:avLst/>
          </a:prstGeom>
          <a:solidFill>
            <a:srgbClr val="000000"/>
          </a:solidFill>
          <a:ln w="731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8" name="path 157"/>
          <p:cNvCxnSpPr/>
          <p:nvPr/>
        </p:nvCxnSpPr>
        <p:spPr>
          <a:xfrm>
            <a:off x="5939780" y="4425695"/>
            <a:ext cx="14630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59" name="path 158"/>
          <p:cNvCxnSpPr/>
          <p:nvPr/>
        </p:nvCxnSpPr>
        <p:spPr>
          <a:xfrm>
            <a:off x="5939780" y="4425695"/>
            <a:ext cx="146300" cy="0"/>
          </a:xfrm>
          <a:prstGeom prst="line">
            <a:avLst/>
          </a:prstGeom>
          <a:ln w="3511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160" name="arrowhead 159"/>
          <p:cNvSpPr/>
          <p:nvPr/>
        </p:nvSpPr>
        <p:spPr>
          <a:xfrm>
            <a:off x="5998300" y="4381685"/>
            <a:ext cx="87780" cy="87780"/>
          </a:xfrm>
          <a:custGeom>
            <a:avLst/>
            <a:gdLst/>
            <a:ahLst/>
            <a:cxnLst/>
            <a:rect l="l" t="t" r="r" b="b"/>
            <a:pathLst>
              <a:path w="12" h="12">
                <a:moveTo>
                  <a:pt x="0" y="12"/>
                </a:moveTo>
                <a:lnTo>
                  <a:pt x="12" y="6"/>
                </a:lnTo>
                <a:lnTo>
                  <a:pt x="0" y="0"/>
                </a:lnTo>
              </a:path>
            </a:pathLst>
          </a:custGeom>
          <a:noFill/>
          <a:ln w="137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1" name="circle 160"/>
          <p:cNvSpPr/>
          <p:nvPr/>
        </p:nvSpPr>
        <p:spPr>
          <a:xfrm>
            <a:off x="6129970" y="4257450"/>
            <a:ext cx="336490" cy="336490"/>
          </a:xfrm>
          <a:prstGeom prst="ellipse">
            <a:avLst/>
          </a:prstGeom>
          <a:solidFill>
            <a:srgbClr val="84E291"/>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A"/>
          <p:cNvSpPr txBox="1"/>
          <p:nvPr/>
        </p:nvSpPr>
        <p:spPr>
          <a:xfrm>
            <a:off x="6192047" y="4330454"/>
            <a:ext cx="212335"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A</a:t>
            </a:r>
          </a:p>
        </p:txBody>
      </p:sp>
      <p:sp>
        <p:nvSpPr>
          <p:cNvPr id="163" name="TOOL_END"/>
          <p:cNvSpPr txBox="1"/>
          <p:nvPr/>
        </p:nvSpPr>
        <p:spPr>
          <a:xfrm>
            <a:off x="5206623" y="4076404"/>
            <a:ext cx="837225" cy="192019"/>
          </a:xfrm>
          <a:prstGeom prst="rect">
            <a:avLst/>
          </a:prstGeom>
          <a:noFill/>
          <a:effectLst/>
        </p:spPr>
        <p:txBody>
          <a:bodyPr wrap="none" lIns="0" rIns="0" tIns="0" bIns="0" anchor="t">
            <a:spAutoFit/>
          </a:bodyPr>
          <a:lstStyle/>
          <a:p>
            <a:pPr algn="ctr">
              <a:lnSpc>
                <a:spcPct val="100000"/>
              </a:lnSpc>
              <a:spcBef>
                <a:spcPts val="0"/>
              </a:spcBef>
              <a:spcAft>
                <a:spcPts val="0"/>
              </a:spcAft>
            </a:pPr>
            <a:r>
              <a:rPr sz="1094" b="0" i="0" lang="en-US" spc="0">
                <a:solidFill>
                  <a:srgbClr val="000000"/>
                </a:solidFill>
                <a:latin typeface="DejaVu Sans"/>
                <a:ea typeface="DejaVu Sans"/>
                <a:effectLst/>
              </a:rPr>
              <a:t>TOOL_END</a:t>
            </a:r>
          </a:p>
        </p:txBody>
      </p:sp>
      <p:sp>
        <p:nvSpPr>
          <p:cNvPr id="164" name="rect 163"/>
          <p:cNvSpPr/>
          <p:nvPr/>
        </p:nvSpPr>
        <p:spPr>
          <a:xfrm>
            <a:off x="351120" y="4901170"/>
            <a:ext cx="3145450" cy="3174710"/>
          </a:xfrm>
          <a:prstGeom prst="roundRect">
            <a:avLst>
              <a:gd name="adj" fmla="val 1860"/>
            </a:avLst>
          </a:prstGeom>
          <a:solidFill>
            <a:srgbClr val="FFFFFF"/>
          </a:solidFill>
          <a:ln w="14630">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rect 164"/>
          <p:cNvSpPr/>
          <p:nvPr/>
        </p:nvSpPr>
        <p:spPr>
          <a:xfrm>
            <a:off x="358435" y="4908485"/>
            <a:ext cx="3130820" cy="270655"/>
          </a:xfrm>
          <a:prstGeom prst="roundRect">
            <a:avLst>
              <a:gd name="adj" fmla="val 18918"/>
            </a:avLst>
          </a:prstGeom>
          <a:solidFill>
            <a:srgbClr val="D9F2D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rect 165"/>
          <p:cNvSpPr/>
          <p:nvPr/>
        </p:nvSpPr>
        <p:spPr>
          <a:xfrm>
            <a:off x="358435" y="5040155"/>
            <a:ext cx="3130820" cy="138985"/>
          </a:xfrm>
          <a:prstGeom prst="rect">
            <a:avLst/>
          </a:prstGeom>
          <a:solidFill>
            <a:srgbClr val="D9F2D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7" name="line 166"/>
          <p:cNvCxnSpPr/>
          <p:nvPr/>
        </p:nvCxnSpPr>
        <p:spPr>
          <a:xfrm>
            <a:off x="358435" y="5179140"/>
            <a:ext cx="3130820" cy="0"/>
          </a:xfrm>
          <a:prstGeom prst="line">
            <a:avLst/>
          </a:prstGeom>
          <a:ln w="8778">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68" name="D2  KV lifecycle"/>
          <p:cNvSpPr txBox="1"/>
          <p:nvPr/>
        </p:nvSpPr>
        <p:spPr>
          <a:xfrm>
            <a:off x="453530" y="4923920"/>
            <a:ext cx="1757000" cy="252368"/>
          </a:xfrm>
          <a:prstGeom prst="rect">
            <a:avLst/>
          </a:prstGeom>
          <a:noFill/>
          <a:effectLst/>
        </p:spPr>
        <p:txBody>
          <a:bodyPr wrap="none" lIns="0" rIns="0" tIns="0" bIns="0" anchor="t">
            <a:spAutoFit/>
          </a:bodyPr>
          <a:lstStyle/>
          <a:p>
            <a:pPr algn="l">
              <a:lnSpc>
                <a:spcPct val="100000"/>
              </a:lnSpc>
              <a:spcBef>
                <a:spcPts val="0"/>
              </a:spcBef>
              <a:spcAft>
                <a:spcPts val="0"/>
              </a:spcAft>
            </a:pPr>
            <a:r>
              <a:rPr sz="1497" b="1" i="0" lang="en-US" spc="0">
                <a:solidFill>
                  <a:srgbClr val="000000"/>
                </a:solidFill>
                <a:latin typeface="DejaVu Sans"/>
                <a:ea typeface="DejaVu Sans"/>
                <a:effectLst/>
              </a:rPr>
              <a:t>D2  KV lifecycle</a:t>
            </a:r>
          </a:p>
        </p:txBody>
      </p:sp>
      <p:sp>
        <p:nvSpPr>
          <p:cNvPr id="169" name="WAIT_JOIN / WAIT_TOOL"/>
          <p:cNvSpPr txBox="1"/>
          <p:nvPr/>
        </p:nvSpPr>
        <p:spPr>
          <a:xfrm>
            <a:off x="468160" y="5336412"/>
            <a:ext cx="2128551" cy="208478"/>
          </a:xfrm>
          <a:prstGeom prst="rect">
            <a:avLst/>
          </a:prstGeom>
          <a:noFill/>
          <a:effectLst/>
        </p:spPr>
        <p:txBody>
          <a:bodyPr wrap="none" lIns="0" rIns="0" tIns="0" bIns="0" anchor="t">
            <a:spAutoFit/>
          </a:bodyPr>
          <a:lstStyle/>
          <a:p>
            <a:pPr algn="l">
              <a:lnSpc>
                <a:spcPct val="100000"/>
              </a:lnSpc>
              <a:spcBef>
                <a:spcPts val="0"/>
              </a:spcBef>
              <a:spcAft>
                <a:spcPts val="0"/>
              </a:spcAft>
            </a:pPr>
            <a:r>
              <a:rPr sz="1209" b="1" i="0" lang="en-US" spc="0">
                <a:solidFill>
                  <a:srgbClr val="000000"/>
                </a:solidFill>
                <a:latin typeface="DejaVu Sans"/>
                <a:ea typeface="DejaVu Sans"/>
                <a:effectLst/>
              </a:rPr>
              <a:t>WAIT_JOIN / WAIT_TOOL</a:t>
            </a:r>
          </a:p>
        </p:txBody>
      </p:sp>
      <p:sp>
        <p:nvSpPr>
          <p:cNvPr id="170" name="circle 169"/>
          <p:cNvSpPr/>
          <p:nvPr/>
        </p:nvSpPr>
        <p:spPr>
          <a:xfrm>
            <a:off x="490105" y="5632670"/>
            <a:ext cx="292600" cy="292600"/>
          </a:xfrm>
          <a:prstGeom prst="ellipse">
            <a:avLst/>
          </a:prstGeom>
          <a:solidFill>
            <a:srgbClr val="A6CAEC"/>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P"/>
          <p:cNvSpPr txBox="1"/>
          <p:nvPr/>
        </p:nvSpPr>
        <p:spPr>
          <a:xfrm>
            <a:off x="538895" y="5691556"/>
            <a:ext cx="195019" cy="201162"/>
          </a:xfrm>
          <a:prstGeom prst="rect">
            <a:avLst/>
          </a:prstGeom>
          <a:noFill/>
          <a:effectLst/>
        </p:spPr>
        <p:txBody>
          <a:bodyPr wrap="none" lIns="0" rIns="0" tIns="0" bIns="0" anchor="t">
            <a:spAutoFit/>
          </a:bodyPr>
          <a:lstStyle/>
          <a:p>
            <a:pPr algn="ctr">
              <a:lnSpc>
                <a:spcPct val="100000"/>
              </a:lnSpc>
              <a:spcBef>
                <a:spcPts val="0"/>
              </a:spcBef>
              <a:spcAft>
                <a:spcPts val="0"/>
              </a:spcAft>
            </a:pPr>
            <a:r>
              <a:rPr sz="1152" b="1" i="0" lang="en-US" spc="0">
                <a:solidFill>
                  <a:srgbClr val="000000"/>
                </a:solidFill>
                <a:latin typeface="DejaVu Sans"/>
                <a:ea typeface="DejaVu Sans"/>
                <a:effectLst/>
              </a:rPr>
              <a:t>P</a:t>
            </a:r>
          </a:p>
        </p:txBody>
      </p:sp>
      <p:sp>
        <p:nvSpPr>
          <p:cNvPr id="172" name="rect 171"/>
          <p:cNvSpPr/>
          <p:nvPr/>
        </p:nvSpPr>
        <p:spPr>
          <a:xfrm>
            <a:off x="994840" y="5588780"/>
            <a:ext cx="790020" cy="643720"/>
          </a:xfrm>
          <a:prstGeom prst="roundRect">
            <a:avLst>
              <a:gd name="adj" fmla="val 9090"/>
            </a:avLst>
          </a:prstGeom>
          <a:solidFill>
            <a:srgbClr val="F2F2F2"/>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3" name="rect 172"/>
          <p:cNvSpPr/>
          <p:nvPr/>
        </p:nvSpPr>
        <p:spPr>
          <a:xfrm>
            <a:off x="2238390" y="5588780"/>
            <a:ext cx="790020" cy="643720"/>
          </a:xfrm>
          <a:prstGeom prst="roundRect">
            <a:avLst>
              <a:gd name="adj" fmla="val 9090"/>
            </a:avLst>
          </a:prstGeom>
          <a:solidFill>
            <a:srgbClr val="FBE3D6"/>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rect 173"/>
          <p:cNvSpPr/>
          <p:nvPr/>
        </p:nvSpPr>
        <p:spPr>
          <a:xfrm>
            <a:off x="1053360" y="5661930"/>
            <a:ext cx="204820" cy="226765"/>
          </a:xfrm>
          <a:prstGeom prst="roundRect">
            <a:avLst>
              <a:gd name="adj" fmla="val 7142"/>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5" name="rect 174"/>
          <p:cNvSpPr/>
          <p:nvPr/>
        </p:nvSpPr>
        <p:spPr>
          <a:xfrm>
            <a:off x="1067990" y="5676560"/>
            <a:ext cx="175560" cy="34015"/>
          </a:xfrm>
          <a:prstGeom prst="roundRect">
            <a:avLst>
              <a:gd name="adj" fmla="val 2150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rect 175"/>
          <p:cNvSpPr/>
          <p:nvPr/>
        </p:nvSpPr>
        <p:spPr>
          <a:xfrm>
            <a:off x="2296910" y="5661930"/>
            <a:ext cx="204820" cy="226765"/>
          </a:xfrm>
          <a:prstGeom prst="roundRect">
            <a:avLst>
              <a:gd name="adj" fmla="val 7142"/>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rect 176"/>
          <p:cNvSpPr/>
          <p:nvPr/>
        </p:nvSpPr>
        <p:spPr>
          <a:xfrm>
            <a:off x="2311540" y="5676560"/>
            <a:ext cx="175560" cy="34015"/>
          </a:xfrm>
          <a:prstGeom prst="roundRect">
            <a:avLst>
              <a:gd name="adj" fmla="val 2150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rect 177"/>
          <p:cNvSpPr/>
          <p:nvPr/>
        </p:nvSpPr>
        <p:spPr>
          <a:xfrm>
            <a:off x="1294755" y="5661930"/>
            <a:ext cx="204820" cy="226765"/>
          </a:xfrm>
          <a:prstGeom prst="roundRect">
            <a:avLst>
              <a:gd name="adj" fmla="val 7142"/>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rect 178"/>
          <p:cNvSpPr/>
          <p:nvPr/>
        </p:nvSpPr>
        <p:spPr>
          <a:xfrm>
            <a:off x="1309385" y="5676560"/>
            <a:ext cx="175560" cy="34015"/>
          </a:xfrm>
          <a:prstGeom prst="roundRect">
            <a:avLst>
              <a:gd name="adj" fmla="val 2150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rect 179"/>
          <p:cNvSpPr/>
          <p:nvPr/>
        </p:nvSpPr>
        <p:spPr>
          <a:xfrm>
            <a:off x="2538305" y="5661930"/>
            <a:ext cx="204820" cy="226765"/>
          </a:xfrm>
          <a:prstGeom prst="roundRect">
            <a:avLst>
              <a:gd name="adj" fmla="val 7142"/>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rect 180"/>
          <p:cNvSpPr/>
          <p:nvPr/>
        </p:nvSpPr>
        <p:spPr>
          <a:xfrm>
            <a:off x="2552935" y="5676560"/>
            <a:ext cx="175560" cy="34015"/>
          </a:xfrm>
          <a:prstGeom prst="roundRect">
            <a:avLst>
              <a:gd name="adj" fmla="val 2150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2" name="rect 181"/>
          <p:cNvSpPr/>
          <p:nvPr/>
        </p:nvSpPr>
        <p:spPr>
          <a:xfrm>
            <a:off x="1536150" y="5661930"/>
            <a:ext cx="204820" cy="226765"/>
          </a:xfrm>
          <a:prstGeom prst="roundRect">
            <a:avLst>
              <a:gd name="adj" fmla="val 7142"/>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rect 182"/>
          <p:cNvSpPr/>
          <p:nvPr/>
        </p:nvSpPr>
        <p:spPr>
          <a:xfrm>
            <a:off x="1550780" y="5676560"/>
            <a:ext cx="175560" cy="34015"/>
          </a:xfrm>
          <a:prstGeom prst="roundRect">
            <a:avLst>
              <a:gd name="adj" fmla="val 2150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rect 183"/>
          <p:cNvSpPr/>
          <p:nvPr/>
        </p:nvSpPr>
        <p:spPr>
          <a:xfrm>
            <a:off x="2779700" y="5661930"/>
            <a:ext cx="204820" cy="226765"/>
          </a:xfrm>
          <a:prstGeom prst="roundRect">
            <a:avLst>
              <a:gd name="adj" fmla="val 7142"/>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5" name="rect 184"/>
          <p:cNvSpPr/>
          <p:nvPr/>
        </p:nvSpPr>
        <p:spPr>
          <a:xfrm>
            <a:off x="2794330" y="5676560"/>
            <a:ext cx="175560" cy="34015"/>
          </a:xfrm>
          <a:prstGeom prst="roundRect">
            <a:avLst>
              <a:gd name="adj" fmla="val 2150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polygon 185"/>
          <p:cNvSpPr/>
          <p:nvPr/>
        </p:nvSpPr>
        <p:spPr>
          <a:xfrm>
            <a:off x="1828750" y="5683755"/>
            <a:ext cx="387695" cy="190190"/>
          </a:xfrm>
          <a:custGeom>
            <a:avLst/>
            <a:gdLst/>
            <a:ahLst/>
            <a:cxnLst/>
            <a:rect l="l" t="t" r="r" b="b"/>
            <a:pathLst>
              <a:path w="53" h="26">
                <a:moveTo>
                  <a:pt x="0" y="6"/>
                </a:moveTo>
                <a:lnTo>
                  <a:pt x="34" y="6"/>
                </a:lnTo>
                <a:lnTo>
                  <a:pt x="34" y="0"/>
                </a:lnTo>
                <a:lnTo>
                  <a:pt x="53" y="13"/>
                </a:lnTo>
                <a:lnTo>
                  <a:pt x="34" y="26"/>
                </a:lnTo>
                <a:lnTo>
                  <a:pt x="34" y="20"/>
                </a:lnTo>
                <a:lnTo>
                  <a:pt x="0" y="20"/>
                </a:lnTo>
                <a:close/>
              </a:path>
            </a:pathLst>
          </a:custGeom>
          <a:solidFill>
            <a:srgbClr val="F2AA84"/>
          </a:solidFill>
          <a:ln w="10241">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7" name="D2H"/>
          <p:cNvSpPr txBox="1"/>
          <p:nvPr/>
        </p:nvSpPr>
        <p:spPr>
          <a:xfrm>
            <a:off x="1810848" y="5510144"/>
            <a:ext cx="416183" cy="192019"/>
          </a:xfrm>
          <a:prstGeom prst="rect">
            <a:avLst/>
          </a:prstGeom>
          <a:noFill/>
          <a:effectLst/>
        </p:spPr>
        <p:txBody>
          <a:bodyPr wrap="none" lIns="0" rIns="0" tIns="0" bIns="0" anchor="t">
            <a:spAutoFit/>
          </a:bodyPr>
          <a:lstStyle/>
          <a:p>
            <a:pPr algn="ctr">
              <a:lnSpc>
                <a:spcPct val="100000"/>
              </a:lnSpc>
              <a:spcBef>
                <a:spcPts val="0"/>
              </a:spcBef>
              <a:spcAft>
                <a:spcPts val="0"/>
              </a:spcAft>
            </a:pPr>
            <a:r>
              <a:rPr sz="1094" b="1" i="0" lang="en-US" spc="0">
                <a:solidFill>
                  <a:srgbClr val="000000"/>
                </a:solidFill>
                <a:latin typeface="DejaVu Sans"/>
                <a:ea typeface="DejaVu Sans"/>
                <a:effectLst/>
              </a:rPr>
              <a:t>D2H</a:t>
            </a:r>
          </a:p>
        </p:txBody>
      </p:sp>
      <p:sp>
        <p:nvSpPr>
          <p:cNvPr id="188" name="HBM"/>
          <p:cNvSpPr txBox="1"/>
          <p:nvPr/>
        </p:nvSpPr>
        <p:spPr>
          <a:xfrm>
            <a:off x="1146198" y="5980132"/>
            <a:ext cx="458045"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0" i="0" lang="en-US" spc="0">
                <a:solidFill>
                  <a:srgbClr val="000000"/>
                </a:solidFill>
                <a:latin typeface="DejaVu Sans"/>
                <a:ea typeface="DejaVu Sans"/>
                <a:effectLst/>
              </a:rPr>
              <a:t>HBM</a:t>
            </a:r>
          </a:p>
        </p:txBody>
      </p:sp>
      <p:sp>
        <p:nvSpPr>
          <p:cNvPr id="189" name="Host"/>
          <p:cNvSpPr txBox="1"/>
          <p:nvPr/>
        </p:nvSpPr>
        <p:spPr>
          <a:xfrm>
            <a:off x="2391676" y="5980132"/>
            <a:ext cx="454187"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0" i="0" lang="en-US" spc="0">
                <a:solidFill>
                  <a:srgbClr val="000000"/>
                </a:solidFill>
                <a:latin typeface="DejaVu Sans"/>
                <a:ea typeface="DejaVu Sans"/>
                <a:effectLst/>
              </a:rPr>
              <a:t>Host</a:t>
            </a:r>
          </a:p>
        </p:txBody>
      </p:sp>
      <p:sp>
        <p:nvSpPr>
          <p:cNvPr id="190" name="stable FULL"/>
          <p:cNvSpPr txBox="1"/>
          <p:nvPr/>
        </p:nvSpPr>
        <p:spPr>
          <a:xfrm>
            <a:off x="1479659" y="6301992"/>
            <a:ext cx="1020042"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0" i="0" lang="en-US" spc="0">
                <a:solidFill>
                  <a:srgbClr val="000000"/>
                </a:solidFill>
                <a:latin typeface="DejaVu Sans"/>
                <a:ea typeface="DejaVu Sans"/>
                <a:effectLst/>
              </a:rPr>
              <a:t>stable FULL</a:t>
            </a:r>
          </a:p>
        </p:txBody>
      </p:sp>
      <p:sp>
        <p:nvSpPr>
          <p:cNvPr id="191" name="circle 190"/>
          <p:cNvSpPr/>
          <p:nvPr/>
        </p:nvSpPr>
        <p:spPr>
          <a:xfrm>
            <a:off x="490105" y="6612880"/>
            <a:ext cx="292600" cy="292600"/>
          </a:xfrm>
          <a:prstGeom prst="ellipse">
            <a:avLst/>
          </a:prstGeom>
          <a:solidFill>
            <a:srgbClr val="84E291"/>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2" name="C1"/>
          <p:cNvSpPr txBox="1"/>
          <p:nvPr/>
        </p:nvSpPr>
        <p:spPr>
          <a:xfrm>
            <a:off x="498392" y="6681422"/>
            <a:ext cx="276027" cy="182875"/>
          </a:xfrm>
          <a:prstGeom prst="rect">
            <a:avLst/>
          </a:prstGeom>
          <a:noFill/>
          <a:effectLst/>
        </p:spPr>
        <p:txBody>
          <a:bodyPr wrap="none" lIns="0" rIns="0" tIns="0" bIns="0" anchor="t">
            <a:spAutoFit/>
          </a:bodyPr>
          <a:lstStyle/>
          <a:p>
            <a:pPr algn="ctr">
              <a:lnSpc>
                <a:spcPct val="100000"/>
              </a:lnSpc>
              <a:spcBef>
                <a:spcPts val="0"/>
              </a:spcBef>
              <a:spcAft>
                <a:spcPts val="0"/>
              </a:spcAft>
            </a:pPr>
            <a:r>
              <a:rPr sz="1036" b="1" i="0" lang="en-US" spc="0">
                <a:solidFill>
                  <a:srgbClr val="000000"/>
                </a:solidFill>
                <a:latin typeface="DejaVu Sans"/>
                <a:ea typeface="DejaVu Sans"/>
                <a:effectLst/>
              </a:rPr>
              <a:t>C1</a:t>
            </a:r>
          </a:p>
        </p:txBody>
      </p:sp>
      <p:sp>
        <p:nvSpPr>
          <p:cNvPr id="193" name="path 192"/>
          <p:cNvSpPr/>
          <p:nvPr/>
        </p:nvSpPr>
        <p:spPr>
          <a:xfrm>
            <a:off x="797335" y="6539610"/>
            <a:ext cx="124355" cy="124355"/>
          </a:xfrm>
          <a:custGeom>
            <a:avLst/>
            <a:gdLst/>
            <a:ahLst/>
            <a:cxnLst/>
            <a:rect l="l" t="t" r="r" b="b"/>
            <a:pathLst>
              <a:path w="17" h="17">
                <a:moveTo>
                  <a:pt x="0" y="9"/>
                </a:moveTo>
                <a:lnTo>
                  <a:pt x="6" y="17"/>
                </a:lnTo>
                <a:lnTo>
                  <a:pt x="17" y="0"/>
                </a:lnTo>
              </a:path>
            </a:pathLst>
          </a:custGeom>
          <a:noFill/>
          <a:ln w="2048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4" name="rect 193"/>
          <p:cNvSpPr/>
          <p:nvPr/>
        </p:nvSpPr>
        <p:spPr>
          <a:xfrm>
            <a:off x="1024100" y="6642140"/>
            <a:ext cx="204820" cy="226765"/>
          </a:xfrm>
          <a:prstGeom prst="roundRect">
            <a:avLst>
              <a:gd name="adj" fmla="val 7142"/>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rect 194"/>
          <p:cNvSpPr/>
          <p:nvPr/>
        </p:nvSpPr>
        <p:spPr>
          <a:xfrm>
            <a:off x="1038730" y="6656770"/>
            <a:ext cx="175560" cy="34015"/>
          </a:xfrm>
          <a:prstGeom prst="roundRect">
            <a:avLst>
              <a:gd name="adj" fmla="val 21505"/>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rect 195"/>
          <p:cNvSpPr/>
          <p:nvPr/>
        </p:nvSpPr>
        <p:spPr>
          <a:xfrm>
            <a:off x="1265495" y="6642140"/>
            <a:ext cx="204820" cy="226765"/>
          </a:xfrm>
          <a:prstGeom prst="roundRect">
            <a:avLst>
              <a:gd name="adj" fmla="val 7142"/>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rect 196"/>
          <p:cNvSpPr/>
          <p:nvPr/>
        </p:nvSpPr>
        <p:spPr>
          <a:xfrm>
            <a:off x="1280125" y="6656770"/>
            <a:ext cx="175560" cy="34015"/>
          </a:xfrm>
          <a:prstGeom prst="roundRect">
            <a:avLst>
              <a:gd name="adj" fmla="val 21505"/>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rect 197"/>
          <p:cNvSpPr/>
          <p:nvPr/>
        </p:nvSpPr>
        <p:spPr>
          <a:xfrm>
            <a:off x="1506890" y="6642140"/>
            <a:ext cx="204820" cy="226765"/>
          </a:xfrm>
          <a:prstGeom prst="roundRect">
            <a:avLst>
              <a:gd name="adj" fmla="val 7142"/>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rect 198"/>
          <p:cNvSpPr/>
          <p:nvPr/>
        </p:nvSpPr>
        <p:spPr>
          <a:xfrm>
            <a:off x="1521520" y="6656770"/>
            <a:ext cx="175560" cy="34015"/>
          </a:xfrm>
          <a:prstGeom prst="roundRect">
            <a:avLst>
              <a:gd name="adj" fmla="val 21505"/>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0" name="path 199"/>
          <p:cNvSpPr/>
          <p:nvPr/>
        </p:nvSpPr>
        <p:spPr>
          <a:xfrm>
            <a:off x="1082620" y="6905360"/>
            <a:ext cx="58520" cy="43890"/>
          </a:xfrm>
          <a:custGeom>
            <a:avLst/>
            <a:gdLst/>
            <a:ahLst/>
            <a:cxnLst/>
            <a:rect l="l" t="t" r="r" b="b"/>
            <a:pathLst>
              <a:path w="8" h="6">
                <a:moveTo>
                  <a:pt x="0" y="6"/>
                </a:moveTo>
                <a:lnTo>
                  <a:pt x="0" y="0"/>
                </a:lnTo>
                <a:lnTo>
                  <a:pt x="8" y="0"/>
                </a:lnTo>
                <a:lnTo>
                  <a:pt x="8" y="6"/>
                </a:lnTo>
              </a:path>
            </a:pathLst>
          </a:custGeom>
          <a:no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rect 200"/>
          <p:cNvSpPr/>
          <p:nvPr/>
        </p:nvSpPr>
        <p:spPr>
          <a:xfrm>
            <a:off x="1067990" y="6945712"/>
            <a:ext cx="87780" cy="73150"/>
          </a:xfrm>
          <a:prstGeom prst="roundRect">
            <a:avLst>
              <a:gd name="adj" fmla="val 20000"/>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circle 201"/>
          <p:cNvSpPr/>
          <p:nvPr/>
        </p:nvSpPr>
        <p:spPr>
          <a:xfrm>
            <a:off x="1104565" y="6967658"/>
            <a:ext cx="14630" cy="14630"/>
          </a:xfrm>
          <a:prstGeom prst="ellipse">
            <a:avLst/>
          </a:prstGeom>
          <a:solidFill>
            <a:srgbClr val="000000"/>
          </a:solidFill>
          <a:ln w="731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shared"/>
          <p:cNvSpPr txBox="1"/>
          <p:nvPr/>
        </p:nvSpPr>
        <p:spPr>
          <a:xfrm>
            <a:off x="1024100" y="7106642"/>
            <a:ext cx="611117" cy="208478"/>
          </a:xfrm>
          <a:prstGeom prst="rect">
            <a:avLst/>
          </a:prstGeom>
          <a:noFill/>
          <a:effectLst/>
        </p:spPr>
        <p:txBody>
          <a:bodyPr wrap="none" lIns="0" rIns="0" tIns="0" bIns="0" anchor="t">
            <a:spAutoFit/>
          </a:bodyPr>
          <a:lstStyle/>
          <a:p>
            <a:pPr algn="l">
              <a:lnSpc>
                <a:spcPct val="100000"/>
              </a:lnSpc>
              <a:spcBef>
                <a:spcPts val="0"/>
              </a:spcBef>
              <a:spcAft>
                <a:spcPts val="0"/>
              </a:spcAft>
            </a:pPr>
            <a:r>
              <a:rPr sz="1209" b="0" i="0" lang="en-US" spc="0">
                <a:solidFill>
                  <a:srgbClr val="000000"/>
                </a:solidFill>
                <a:latin typeface="DejaVu Sans"/>
                <a:ea typeface="DejaVu Sans"/>
                <a:effectLst/>
              </a:rPr>
              <a:t>shared</a:t>
            </a:r>
          </a:p>
        </p:txBody>
      </p:sp>
      <p:cxnSp>
        <p:nvCxnSpPr>
          <p:cNvPr id="204" name="path 203"/>
          <p:cNvCxnSpPr/>
          <p:nvPr/>
        </p:nvCxnSpPr>
        <p:spPr>
          <a:xfrm>
            <a:off x="1799490" y="6759180"/>
            <a:ext cx="40964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05" name="path 204"/>
          <p:cNvCxnSpPr/>
          <p:nvPr/>
        </p:nvCxnSpPr>
        <p:spPr>
          <a:xfrm>
            <a:off x="1799490" y="6759180"/>
            <a:ext cx="409640" cy="0"/>
          </a:xfrm>
          <a:prstGeom prst="line">
            <a:avLst/>
          </a:prstGeom>
          <a:ln w="3511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206" name="arrowhead 205"/>
          <p:cNvSpPr/>
          <p:nvPr/>
        </p:nvSpPr>
        <p:spPr>
          <a:xfrm>
            <a:off x="2077460" y="6693225"/>
            <a:ext cx="131670" cy="131670"/>
          </a:xfrm>
          <a:custGeom>
            <a:avLst/>
            <a:gdLst/>
            <a:ahLst/>
            <a:cxnLst/>
            <a:rect l="l" t="t" r="r" b="b"/>
            <a:pathLst>
              <a:path w="18" h="18">
                <a:moveTo>
                  <a:pt x="18" y="9"/>
                </a:moveTo>
                <a:lnTo>
                  <a:pt x="0" y="18"/>
                </a:lnTo>
                <a:lnTo>
                  <a:pt x="4" y="9"/>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rect 206"/>
          <p:cNvSpPr/>
          <p:nvPr/>
        </p:nvSpPr>
        <p:spPr>
          <a:xfrm>
            <a:off x="2296910" y="6642140"/>
            <a:ext cx="204820" cy="226765"/>
          </a:xfrm>
          <a:prstGeom prst="roundRect">
            <a:avLst>
              <a:gd name="adj" fmla="val 3571"/>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8" name="rect 207"/>
          <p:cNvSpPr/>
          <p:nvPr/>
        </p:nvSpPr>
        <p:spPr>
          <a:xfrm>
            <a:off x="2538305" y="6642140"/>
            <a:ext cx="204820" cy="226765"/>
          </a:xfrm>
          <a:prstGeom prst="roundRect">
            <a:avLst>
              <a:gd name="adj" fmla="val 3571"/>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RETURN: retire private KV"/>
          <p:cNvSpPr txBox="1"/>
          <p:nvPr/>
        </p:nvSpPr>
        <p:spPr>
          <a:xfrm>
            <a:off x="468160" y="7472392"/>
            <a:ext cx="2172955" cy="217621"/>
          </a:xfrm>
          <a:prstGeom prst="rect">
            <a:avLst/>
          </a:prstGeom>
          <a:noFill/>
          <a:effectLst/>
        </p:spPr>
        <p:txBody>
          <a:bodyPr wrap="none" lIns="0" rIns="0" tIns="0" bIns="0" anchor="t">
            <a:spAutoFit/>
          </a:bodyPr>
          <a:lstStyle/>
          <a:p>
            <a:pPr algn="l">
              <a:lnSpc>
                <a:spcPct val="100000"/>
              </a:lnSpc>
              <a:spcBef>
                <a:spcPts val="0"/>
              </a:spcBef>
              <a:spcAft>
                <a:spcPts val="0"/>
              </a:spcAft>
            </a:pPr>
            <a:r>
              <a:rPr sz="1267" b="0" i="0" lang="en-US" spc="0">
                <a:solidFill>
                  <a:srgbClr val="000000"/>
                </a:solidFill>
                <a:latin typeface="DejaVu Sans"/>
                <a:ea typeface="DejaVu Sans"/>
                <a:effectLst/>
              </a:rPr>
              <a:t>RETURN: retire private KV</a:t>
            </a:r>
          </a:p>
        </p:txBody>
      </p:sp>
      <p:sp>
        <p:nvSpPr>
          <p:cNvPr id="210" name="rect 209"/>
          <p:cNvSpPr/>
          <p:nvPr/>
        </p:nvSpPr>
        <p:spPr>
          <a:xfrm>
            <a:off x="3642870" y="4901170"/>
            <a:ext cx="3145450" cy="3174710"/>
          </a:xfrm>
          <a:prstGeom prst="roundRect">
            <a:avLst>
              <a:gd name="adj" fmla="val 1860"/>
            </a:avLst>
          </a:prstGeom>
          <a:solidFill>
            <a:srgbClr val="FFFFFF"/>
          </a:solidFill>
          <a:ln w="14630">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rect 210"/>
          <p:cNvSpPr/>
          <p:nvPr/>
        </p:nvSpPr>
        <p:spPr>
          <a:xfrm>
            <a:off x="3650185" y="4908485"/>
            <a:ext cx="3130820" cy="270655"/>
          </a:xfrm>
          <a:prstGeom prst="roundRect">
            <a:avLst>
              <a:gd name="adj" fmla="val 18918"/>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rect 211"/>
          <p:cNvSpPr/>
          <p:nvPr/>
        </p:nvSpPr>
        <p:spPr>
          <a:xfrm>
            <a:off x="3650185" y="5040155"/>
            <a:ext cx="3130820" cy="138985"/>
          </a:xfrm>
          <a:prstGeom prst="rect">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3" name="line 212"/>
          <p:cNvCxnSpPr/>
          <p:nvPr/>
        </p:nvCxnSpPr>
        <p:spPr>
          <a:xfrm>
            <a:off x="3650185" y="5179140"/>
            <a:ext cx="3130820" cy="0"/>
          </a:xfrm>
          <a:prstGeom prst="line">
            <a:avLst/>
          </a:prstGeom>
          <a:ln w="8778">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214" name="D3  Prefetch + admission"/>
          <p:cNvSpPr txBox="1"/>
          <p:nvPr/>
        </p:nvSpPr>
        <p:spPr>
          <a:xfrm>
            <a:off x="3745280" y="4923920"/>
            <a:ext cx="2800788" cy="252368"/>
          </a:xfrm>
          <a:prstGeom prst="rect">
            <a:avLst/>
          </a:prstGeom>
          <a:noFill/>
          <a:effectLst/>
        </p:spPr>
        <p:txBody>
          <a:bodyPr wrap="none" lIns="0" rIns="0" tIns="0" bIns="0" anchor="t">
            <a:spAutoFit/>
          </a:bodyPr>
          <a:lstStyle/>
          <a:p>
            <a:pPr algn="l">
              <a:lnSpc>
                <a:spcPct val="100000"/>
              </a:lnSpc>
              <a:spcBef>
                <a:spcPts val="0"/>
              </a:spcBef>
              <a:spcAft>
                <a:spcPts val="0"/>
              </a:spcAft>
            </a:pPr>
            <a:r>
              <a:rPr sz="1497" b="1" i="0" lang="en-US" spc="0">
                <a:solidFill>
                  <a:srgbClr val="000000"/>
                </a:solidFill>
                <a:latin typeface="DejaVu Sans"/>
                <a:ea typeface="DejaVu Sans"/>
                <a:effectLst/>
              </a:rPr>
              <a:t>D3  Prefetch + admission</a:t>
            </a:r>
          </a:p>
        </p:txBody>
      </p:sp>
      <p:sp>
        <p:nvSpPr>
          <p:cNvPr id="215" name="circle 214"/>
          <p:cNvSpPr/>
          <p:nvPr/>
        </p:nvSpPr>
        <p:spPr>
          <a:xfrm>
            <a:off x="3759910" y="5413220"/>
            <a:ext cx="321860" cy="321860"/>
          </a:xfrm>
          <a:prstGeom prst="ellipse">
            <a:avLst/>
          </a:prstGeom>
          <a:solidFill>
            <a:srgbClr val="A6CAEC"/>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6" name="P"/>
          <p:cNvSpPr txBox="1"/>
          <p:nvPr/>
        </p:nvSpPr>
        <p:spPr>
          <a:xfrm>
            <a:off x="3817973" y="5478909"/>
            <a:ext cx="205734"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P</a:t>
            </a:r>
          </a:p>
        </p:txBody>
      </p:sp>
      <p:sp>
        <p:nvSpPr>
          <p:cNvPr id="217" name="circle 216"/>
          <p:cNvSpPr/>
          <p:nvPr/>
        </p:nvSpPr>
        <p:spPr>
          <a:xfrm>
            <a:off x="4279275" y="5427850"/>
            <a:ext cx="292600" cy="292600"/>
          </a:xfrm>
          <a:prstGeom prst="ellipse">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8" name="path 217"/>
          <p:cNvSpPr/>
          <p:nvPr/>
        </p:nvSpPr>
        <p:spPr>
          <a:xfrm>
            <a:off x="4425575" y="5478935"/>
            <a:ext cx="80465" cy="131670"/>
          </a:xfrm>
          <a:custGeom>
            <a:avLst/>
            <a:gdLst/>
            <a:ahLst/>
            <a:cxnLst/>
            <a:rect l="l" t="t" r="r" b="b"/>
            <a:pathLst>
              <a:path w="11" h="18">
                <a:moveTo>
                  <a:pt x="0" y="0"/>
                </a:moveTo>
                <a:lnTo>
                  <a:pt x="0" y="13"/>
                </a:lnTo>
                <a:lnTo>
                  <a:pt x="11" y="18"/>
                </a:lnTo>
              </a:path>
            </a:pathLst>
          </a:custGeom>
          <a:no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9" name="line 218"/>
          <p:cNvCxnSpPr/>
          <p:nvPr/>
        </p:nvCxnSpPr>
        <p:spPr>
          <a:xfrm>
            <a:off x="4776695" y="5574150"/>
            <a:ext cx="1477630" cy="0"/>
          </a:xfrm>
          <a:prstGeom prst="line">
            <a:avLst/>
          </a:prstGeom>
          <a:ln w="18288">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0" name="line 219"/>
          <p:cNvCxnSpPr/>
          <p:nvPr/>
        </p:nvCxnSpPr>
        <p:spPr>
          <a:xfrm>
            <a:off x="4776695" y="5508315"/>
            <a:ext cx="0" cy="13167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221" name="line 220"/>
          <p:cNvCxnSpPr/>
          <p:nvPr/>
        </p:nvCxnSpPr>
        <p:spPr>
          <a:xfrm>
            <a:off x="6254325" y="5508315"/>
            <a:ext cx="0" cy="13167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22" name="circle 221"/>
          <p:cNvSpPr/>
          <p:nvPr/>
        </p:nvSpPr>
        <p:spPr>
          <a:xfrm>
            <a:off x="5683755" y="5537575"/>
            <a:ext cx="73150" cy="73150"/>
          </a:xfrm>
          <a:prstGeom prst="ellipse">
            <a:avLst/>
          </a:prstGeom>
          <a:solidFill>
            <a:srgbClr val="000000"/>
          </a:solidFill>
          <a:ln w="7315">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3" name="rect 222"/>
          <p:cNvSpPr/>
          <p:nvPr/>
        </p:nvSpPr>
        <p:spPr>
          <a:xfrm>
            <a:off x="3847690" y="6034995"/>
            <a:ext cx="329175" cy="248710"/>
          </a:xfrm>
          <a:prstGeom prst="roundRect">
            <a:avLst>
              <a:gd name="adj" fmla="val 2941"/>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4" name="rect 223"/>
          <p:cNvSpPr/>
          <p:nvPr/>
        </p:nvSpPr>
        <p:spPr>
          <a:xfrm>
            <a:off x="4228070" y="6034995"/>
            <a:ext cx="329175" cy="248710"/>
          </a:xfrm>
          <a:prstGeom prst="roundRect">
            <a:avLst>
              <a:gd name="adj" fmla="val 2941"/>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5" name="rect 224"/>
          <p:cNvSpPr/>
          <p:nvPr/>
        </p:nvSpPr>
        <p:spPr>
          <a:xfrm>
            <a:off x="4608450" y="6034995"/>
            <a:ext cx="329175" cy="248710"/>
          </a:xfrm>
          <a:prstGeom prst="roundRect">
            <a:avLst>
              <a:gd name="adj" fmla="val 2941"/>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6" name="rect 225"/>
          <p:cNvSpPr/>
          <p:nvPr/>
        </p:nvSpPr>
        <p:spPr>
          <a:xfrm>
            <a:off x="4988830" y="6034995"/>
            <a:ext cx="329175" cy="248710"/>
          </a:xfrm>
          <a:prstGeom prst="roundRect">
            <a:avLst>
              <a:gd name="adj" fmla="val 2941"/>
            </a:avLst>
          </a:prstGeom>
          <a:solidFill>
            <a:srgbClr val="84E291"/>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7" name="rect 226"/>
          <p:cNvSpPr/>
          <p:nvPr/>
        </p:nvSpPr>
        <p:spPr>
          <a:xfrm>
            <a:off x="5369210" y="6034995"/>
            <a:ext cx="329175" cy="248710"/>
          </a:xfrm>
          <a:prstGeom prst="roundRect">
            <a:avLst>
              <a:gd name="adj" fmla="val 2941"/>
            </a:avLst>
          </a:prstGeom>
          <a:solidFill>
            <a:srgbClr val="84E291"/>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8" name="rect 227"/>
          <p:cNvSpPr/>
          <p:nvPr/>
        </p:nvSpPr>
        <p:spPr>
          <a:xfrm>
            <a:off x="5749590" y="6034995"/>
            <a:ext cx="329175" cy="248710"/>
          </a:xfrm>
          <a:prstGeom prst="roundRect">
            <a:avLst>
              <a:gd name="adj" fmla="val 2941"/>
            </a:avLst>
          </a:prstGeom>
          <a:solidFill>
            <a:srgbClr val="D9D9D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rect 228"/>
          <p:cNvSpPr/>
          <p:nvPr/>
        </p:nvSpPr>
        <p:spPr>
          <a:xfrm>
            <a:off x="6129970" y="6034995"/>
            <a:ext cx="329175" cy="248710"/>
          </a:xfrm>
          <a:prstGeom prst="roundRect">
            <a:avLst>
              <a:gd name="adj" fmla="val 2941"/>
            </a:avLst>
          </a:prstGeom>
          <a:solidFill>
            <a:srgbClr val="D9D9D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0" name="free / cold / growth"/>
          <p:cNvSpPr txBox="1"/>
          <p:nvPr/>
        </p:nvSpPr>
        <p:spPr>
          <a:xfrm>
            <a:off x="3847690" y="6411718"/>
            <a:ext cx="1681336"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0" i="0" lang="en-US" spc="0">
                <a:solidFill>
                  <a:srgbClr val="000000"/>
                </a:solidFill>
                <a:latin typeface="DejaVu Sans"/>
                <a:ea typeface="DejaVu Sans"/>
                <a:effectLst/>
              </a:rPr>
              <a:t>free / cold / growth</a:t>
            </a:r>
          </a:p>
        </p:txBody>
      </p:sp>
      <p:sp>
        <p:nvSpPr>
          <p:cNvPr id="231" name="c"/>
          <p:cNvSpPr txBox="1"/>
          <p:nvPr/>
        </p:nvSpPr>
        <p:spPr>
          <a:xfrm>
            <a:off x="3825745" y="6781125"/>
            <a:ext cx="181932" cy="266998"/>
          </a:xfrm>
          <a:prstGeom prst="rect">
            <a:avLst/>
          </a:prstGeom>
          <a:noFill/>
          <a:effectLst/>
        </p:spPr>
        <p:txBody>
          <a:bodyPr wrap="none" lIns="0" rIns="0" tIns="0" bIns="0" anchor="t">
            <a:spAutoFit/>
          </a:bodyPr>
          <a:lstStyle/>
          <a:p>
            <a:pPr algn="l">
              <a:lnSpc>
                <a:spcPct val="100000"/>
              </a:lnSpc>
              <a:spcBef>
                <a:spcPts val="0"/>
              </a:spcBef>
              <a:spcAft>
                <a:spcPts val="0"/>
              </a:spcAft>
            </a:pPr>
            <a:r>
              <a:rPr sz="1670" b="0" i="1" lang="en-US" spc="0">
                <a:solidFill>
                  <a:srgbClr val="000000"/>
                </a:solidFill>
                <a:latin typeface="Liberation Serif"/>
                <a:ea typeface="Liberation Serif"/>
                <a:effectLst/>
              </a:rPr>
              <a:t>c</a:t>
            </a:r>
          </a:p>
        </p:txBody>
      </p:sp>
      <p:sp>
        <p:nvSpPr>
          <p:cNvPr id="232" name="*"/>
          <p:cNvSpPr txBox="1"/>
          <p:nvPr/>
        </p:nvSpPr>
        <p:spPr>
          <a:xfrm>
            <a:off x="3927212" y="6738479"/>
            <a:ext cx="156358" cy="182875"/>
          </a:xfrm>
          <a:prstGeom prst="rect">
            <a:avLst/>
          </a:prstGeom>
          <a:noFill/>
          <a:effectLst/>
        </p:spPr>
        <p:txBody>
          <a:bodyPr wrap="none" lIns="0" rIns="0" tIns="0" bIns="0" anchor="t">
            <a:spAutoFit/>
          </a:bodyPr>
          <a:lstStyle/>
          <a:p>
            <a:pPr algn="l">
              <a:lnSpc>
                <a:spcPct val="100000"/>
              </a:lnSpc>
              <a:spcBef>
                <a:spcPts val="0"/>
              </a:spcBef>
              <a:spcAft>
                <a:spcPts val="0"/>
              </a:spcAft>
            </a:pPr>
            <a:r>
              <a:rPr sz="1085" b="0" i="0" lang="en-US" spc="0">
                <a:solidFill>
                  <a:srgbClr val="000000"/>
                </a:solidFill>
                <a:latin typeface="Liberation Serif"/>
                <a:ea typeface="Liberation Serif"/>
                <a:effectLst/>
              </a:rPr>
              <a:t>*</a:t>
            </a:r>
          </a:p>
        </p:txBody>
      </p:sp>
      <p:sp>
        <p:nvSpPr>
          <p:cNvPr id="233" name=" / ΔFULL"/>
          <p:cNvSpPr txBox="1"/>
          <p:nvPr/>
        </p:nvSpPr>
        <p:spPr>
          <a:xfrm>
            <a:off x="4003105" y="6781125"/>
            <a:ext cx="907832" cy="266998"/>
          </a:xfrm>
          <a:prstGeom prst="rect">
            <a:avLst/>
          </a:prstGeom>
          <a:noFill/>
          <a:effectLst/>
        </p:spPr>
        <p:txBody>
          <a:bodyPr wrap="none" lIns="0" rIns="0" tIns="0" bIns="0" anchor="t">
            <a:spAutoFit/>
          </a:bodyPr>
          <a:lstStyle/>
          <a:p>
            <a:pPr algn="l">
              <a:lnSpc>
                <a:spcPct val="100000"/>
              </a:lnSpc>
              <a:spcBef>
                <a:spcPts val="0"/>
              </a:spcBef>
              <a:spcAft>
                <a:spcPts val="0"/>
              </a:spcAft>
            </a:pPr>
            <a:r>
              <a:rPr sz="1670" b="0" i="0" lang="en-US" spc="0">
                <a:solidFill>
                  <a:srgbClr val="000000"/>
                </a:solidFill>
                <a:latin typeface="Liberation Serif"/>
                <a:ea typeface="Liberation Serif"/>
                <a:effectLst/>
              </a:rPr>
              <a:t> / ΔFULL</a:t>
            </a:r>
          </a:p>
        </p:txBody>
      </p:sp>
      <p:sp>
        <p:nvSpPr>
          <p:cNvPr id="234" name="polygon 233"/>
          <p:cNvSpPr/>
          <p:nvPr/>
        </p:nvSpPr>
        <p:spPr>
          <a:xfrm>
            <a:off x="5420415" y="6693225"/>
            <a:ext cx="1097250" cy="416955"/>
          </a:xfrm>
          <a:custGeom>
            <a:avLst/>
            <a:gdLst/>
            <a:ahLst/>
            <a:cxnLst/>
            <a:rect l="l" t="t" r="r" b="b"/>
            <a:pathLst>
              <a:path w="150" h="57">
                <a:moveTo>
                  <a:pt x="75" y="0"/>
                </a:moveTo>
                <a:lnTo>
                  <a:pt x="150" y="28"/>
                </a:lnTo>
                <a:lnTo>
                  <a:pt x="75" y="57"/>
                </a:lnTo>
                <a:lnTo>
                  <a:pt x="0" y="28"/>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5" name="τ"/>
          <p:cNvSpPr txBox="1"/>
          <p:nvPr/>
        </p:nvSpPr>
        <p:spPr>
          <a:xfrm>
            <a:off x="5743232" y="6781125"/>
            <a:ext cx="163702" cy="266998"/>
          </a:xfrm>
          <a:prstGeom prst="rect">
            <a:avLst/>
          </a:prstGeom>
          <a:noFill/>
          <a:effectLst/>
        </p:spPr>
        <p:txBody>
          <a:bodyPr wrap="none" lIns="0" rIns="0" tIns="0" bIns="0" anchor="t">
            <a:spAutoFit/>
          </a:bodyPr>
          <a:lstStyle/>
          <a:p>
            <a:pPr algn="l">
              <a:lnSpc>
                <a:spcPct val="100000"/>
              </a:lnSpc>
              <a:spcBef>
                <a:spcPts val="0"/>
              </a:spcBef>
              <a:spcAft>
                <a:spcPts val="0"/>
              </a:spcAft>
            </a:pPr>
            <a:r>
              <a:rPr sz="1670" b="0" i="1" lang="en-US" spc="0">
                <a:solidFill>
                  <a:srgbClr val="000000"/>
                </a:solidFill>
                <a:latin typeface="Liberation Serif"/>
                <a:ea typeface="Liberation Serif"/>
                <a:effectLst/>
              </a:rPr>
              <a:t>τ</a:t>
            </a:r>
          </a:p>
        </p:txBody>
      </p:sp>
      <p:sp>
        <p:nvSpPr>
          <p:cNvPr id="236" name=" ≤ "/>
          <p:cNvSpPr txBox="1"/>
          <p:nvPr/>
        </p:nvSpPr>
        <p:spPr>
          <a:xfrm>
            <a:off x="5819154" y="6781125"/>
            <a:ext cx="310287" cy="266998"/>
          </a:xfrm>
          <a:prstGeom prst="rect">
            <a:avLst/>
          </a:prstGeom>
          <a:noFill/>
          <a:effectLst/>
        </p:spPr>
        <p:txBody>
          <a:bodyPr wrap="none" lIns="0" rIns="0" tIns="0" bIns="0" anchor="t">
            <a:spAutoFit/>
          </a:bodyPr>
          <a:lstStyle/>
          <a:p>
            <a:pPr algn="l">
              <a:lnSpc>
                <a:spcPct val="100000"/>
              </a:lnSpc>
              <a:spcBef>
                <a:spcPts val="0"/>
              </a:spcBef>
              <a:spcAft>
                <a:spcPts val="0"/>
              </a:spcAft>
            </a:pPr>
            <a:r>
              <a:rPr sz="1670" b="0" i="0" lang="en-US" spc="0">
                <a:solidFill>
                  <a:srgbClr val="000000"/>
                </a:solidFill>
                <a:latin typeface="Liberation Serif"/>
                <a:ea typeface="Liberation Serif"/>
                <a:effectLst/>
              </a:rPr>
              <a:t> ≤ </a:t>
            </a:r>
          </a:p>
        </p:txBody>
      </p:sp>
      <p:sp>
        <p:nvSpPr>
          <p:cNvPr id="237" name="H"/>
          <p:cNvSpPr txBox="1"/>
          <p:nvPr/>
        </p:nvSpPr>
        <p:spPr>
          <a:xfrm>
            <a:off x="6041661" y="6781125"/>
            <a:ext cx="240966" cy="266998"/>
          </a:xfrm>
          <a:prstGeom prst="rect">
            <a:avLst/>
          </a:prstGeom>
          <a:noFill/>
          <a:effectLst/>
        </p:spPr>
        <p:txBody>
          <a:bodyPr wrap="none" lIns="0" rIns="0" tIns="0" bIns="0" anchor="t">
            <a:spAutoFit/>
          </a:bodyPr>
          <a:lstStyle/>
          <a:p>
            <a:pPr algn="l">
              <a:lnSpc>
                <a:spcPct val="100000"/>
              </a:lnSpc>
              <a:spcBef>
                <a:spcPts val="0"/>
              </a:spcBef>
              <a:spcAft>
                <a:spcPts val="0"/>
              </a:spcAft>
            </a:pPr>
            <a:r>
              <a:rPr sz="1670" b="0" i="1" lang="en-US" spc="0">
                <a:solidFill>
                  <a:srgbClr val="000000"/>
                </a:solidFill>
                <a:latin typeface="Liberation Serif"/>
                <a:ea typeface="Liberation Serif"/>
                <a:effectLst/>
              </a:rPr>
              <a:t>H</a:t>
            </a:r>
          </a:p>
        </p:txBody>
      </p:sp>
      <p:sp>
        <p:nvSpPr>
          <p:cNvPr id="238" name="PREPARE"/>
          <p:cNvSpPr txBox="1"/>
          <p:nvPr/>
        </p:nvSpPr>
        <p:spPr>
          <a:xfrm>
            <a:off x="3825745" y="7194422"/>
            <a:ext cx="901174" cy="217621"/>
          </a:xfrm>
          <a:prstGeom prst="rect">
            <a:avLst/>
          </a:prstGeom>
          <a:noFill/>
          <a:effectLst/>
        </p:spPr>
        <p:txBody>
          <a:bodyPr wrap="none" lIns="0" rIns="0" tIns="0" bIns="0" anchor="t">
            <a:spAutoFit/>
          </a:bodyPr>
          <a:lstStyle/>
          <a:p>
            <a:pPr algn="l">
              <a:lnSpc>
                <a:spcPct val="100000"/>
              </a:lnSpc>
              <a:spcBef>
                <a:spcPts val="0"/>
              </a:spcBef>
              <a:spcAft>
                <a:spcPts val="0"/>
              </a:spcAft>
            </a:pPr>
            <a:r>
              <a:rPr sz="1267" b="1" i="0" lang="en-US" spc="0">
                <a:solidFill>
                  <a:srgbClr val="000000"/>
                </a:solidFill>
                <a:latin typeface="DejaVu Sans"/>
                <a:ea typeface="DejaVu Sans"/>
                <a:effectLst/>
              </a:rPr>
              <a:t>PREPARE</a:t>
            </a:r>
          </a:p>
        </p:txBody>
      </p:sp>
      <p:sp>
        <p:nvSpPr>
          <p:cNvPr id="239" name="PREFETCH"/>
          <p:cNvSpPr txBox="1"/>
          <p:nvPr/>
        </p:nvSpPr>
        <p:spPr>
          <a:xfrm>
            <a:off x="5361895" y="7194422"/>
            <a:ext cx="1022014" cy="217621"/>
          </a:xfrm>
          <a:prstGeom prst="rect">
            <a:avLst/>
          </a:prstGeom>
          <a:noFill/>
          <a:effectLst/>
        </p:spPr>
        <p:txBody>
          <a:bodyPr wrap="none" lIns="0" rIns="0" tIns="0" bIns="0" anchor="t">
            <a:spAutoFit/>
          </a:bodyPr>
          <a:lstStyle/>
          <a:p>
            <a:pPr algn="l">
              <a:lnSpc>
                <a:spcPct val="100000"/>
              </a:lnSpc>
              <a:spcBef>
                <a:spcPts val="0"/>
              </a:spcBef>
              <a:spcAft>
                <a:spcPts val="0"/>
              </a:spcAft>
            </a:pPr>
            <a:r>
              <a:rPr sz="1267" b="1" i="0" lang="en-US" spc="0">
                <a:solidFill>
                  <a:srgbClr val="000000"/>
                </a:solidFill>
                <a:latin typeface="DejaVu Sans"/>
                <a:ea typeface="DejaVu Sans"/>
                <a:effectLst/>
              </a:rPr>
              <a:t>PREFETCH</a:t>
            </a:r>
          </a:p>
        </p:txBody>
      </p:sp>
      <p:sp>
        <p:nvSpPr>
          <p:cNvPr id="240" name="rect 239"/>
          <p:cNvSpPr/>
          <p:nvPr/>
        </p:nvSpPr>
        <p:spPr>
          <a:xfrm>
            <a:off x="3847690" y="7571145"/>
            <a:ext cx="285285" cy="256025"/>
          </a:xfrm>
          <a:prstGeom prst="roundRect">
            <a:avLst>
              <a:gd name="adj" fmla="val 5714"/>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1" name="rect 240"/>
          <p:cNvSpPr/>
          <p:nvPr/>
        </p:nvSpPr>
        <p:spPr>
          <a:xfrm>
            <a:off x="3862320" y="7585775"/>
            <a:ext cx="256025"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2" name="polygon 241"/>
          <p:cNvSpPr/>
          <p:nvPr/>
        </p:nvSpPr>
        <p:spPr>
          <a:xfrm>
            <a:off x="4228070" y="7592970"/>
            <a:ext cx="395010" cy="204820"/>
          </a:xfrm>
          <a:custGeom>
            <a:avLst/>
            <a:gdLst/>
            <a:ahLst/>
            <a:cxnLst/>
            <a:rect l="l" t="t" r="r" b="b"/>
            <a:pathLst>
              <a:path w="54" h="28">
                <a:moveTo>
                  <a:pt x="0" y="7"/>
                </a:moveTo>
                <a:lnTo>
                  <a:pt x="35" y="7"/>
                </a:lnTo>
                <a:lnTo>
                  <a:pt x="35" y="0"/>
                </a:lnTo>
                <a:lnTo>
                  <a:pt x="54" y="14"/>
                </a:lnTo>
                <a:lnTo>
                  <a:pt x="35" y="28"/>
                </a:lnTo>
                <a:lnTo>
                  <a:pt x="35" y="21"/>
                </a:lnTo>
                <a:lnTo>
                  <a:pt x="0" y="21"/>
                </a:lnTo>
                <a:close/>
              </a:path>
            </a:pathLst>
          </a:custGeom>
          <a:solidFill>
            <a:srgbClr val="F2AA84"/>
          </a:solidFill>
          <a:ln w="10241">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3" name="rect 242"/>
          <p:cNvSpPr/>
          <p:nvPr/>
        </p:nvSpPr>
        <p:spPr>
          <a:xfrm>
            <a:off x="4718175" y="7571145"/>
            <a:ext cx="285285" cy="256025"/>
          </a:xfrm>
          <a:prstGeom prst="roundRect">
            <a:avLst>
              <a:gd name="adj" fmla="val 5714"/>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rect 243"/>
          <p:cNvSpPr/>
          <p:nvPr/>
        </p:nvSpPr>
        <p:spPr>
          <a:xfrm>
            <a:off x="4732805" y="7585775"/>
            <a:ext cx="256025"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5" name="rect 244"/>
          <p:cNvSpPr/>
          <p:nvPr/>
        </p:nvSpPr>
        <p:spPr>
          <a:xfrm>
            <a:off x="5383840" y="7571145"/>
            <a:ext cx="285285" cy="256025"/>
          </a:xfrm>
          <a:prstGeom prst="roundRect">
            <a:avLst>
              <a:gd name="adj" fmla="val 5714"/>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6" name="rect 245"/>
          <p:cNvSpPr/>
          <p:nvPr/>
        </p:nvSpPr>
        <p:spPr>
          <a:xfrm>
            <a:off x="5398470" y="7585775"/>
            <a:ext cx="256025"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polygon 246"/>
          <p:cNvSpPr/>
          <p:nvPr/>
        </p:nvSpPr>
        <p:spPr>
          <a:xfrm>
            <a:off x="5764220" y="7592970"/>
            <a:ext cx="395010" cy="204820"/>
          </a:xfrm>
          <a:custGeom>
            <a:avLst/>
            <a:gdLst/>
            <a:ahLst/>
            <a:cxnLst/>
            <a:rect l="l" t="t" r="r" b="b"/>
            <a:pathLst>
              <a:path w="54" h="28">
                <a:moveTo>
                  <a:pt x="0" y="7"/>
                </a:moveTo>
                <a:lnTo>
                  <a:pt x="35" y="7"/>
                </a:lnTo>
                <a:lnTo>
                  <a:pt x="35" y="0"/>
                </a:lnTo>
                <a:lnTo>
                  <a:pt x="54" y="14"/>
                </a:lnTo>
                <a:lnTo>
                  <a:pt x="35" y="28"/>
                </a:lnTo>
                <a:lnTo>
                  <a:pt x="35" y="21"/>
                </a:lnTo>
                <a:lnTo>
                  <a:pt x="0" y="21"/>
                </a:lnTo>
                <a:close/>
              </a:path>
            </a:pathLst>
          </a:custGeom>
          <a:solidFill>
            <a:srgbClr val="F2AA84"/>
          </a:solidFill>
          <a:ln w="10241">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rect 247"/>
          <p:cNvSpPr/>
          <p:nvPr/>
        </p:nvSpPr>
        <p:spPr>
          <a:xfrm>
            <a:off x="6254325" y="7571145"/>
            <a:ext cx="285285" cy="256025"/>
          </a:xfrm>
          <a:prstGeom prst="roundRect">
            <a:avLst>
              <a:gd name="adj" fmla="val 5714"/>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rect 248"/>
          <p:cNvSpPr/>
          <p:nvPr/>
        </p:nvSpPr>
        <p:spPr>
          <a:xfrm>
            <a:off x="6268955" y="7585775"/>
            <a:ext cx="256025"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0" name="path 249"/>
          <p:cNvCxnSpPr/>
          <p:nvPr/>
        </p:nvCxnSpPr>
        <p:spPr>
          <a:xfrm>
            <a:off x="1806805" y="4710980"/>
            <a:ext cx="0" cy="168245"/>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51" name="path 250"/>
          <p:cNvCxnSpPr/>
          <p:nvPr/>
        </p:nvCxnSpPr>
        <p:spPr>
          <a:xfrm>
            <a:off x="1806805" y="4710980"/>
            <a:ext cx="0" cy="168245"/>
          </a:xfrm>
          <a:prstGeom prst="line">
            <a:avLst/>
          </a:prstGeom>
          <a:ln w="3511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252" name="arrowhead 251"/>
          <p:cNvSpPr/>
          <p:nvPr/>
        </p:nvSpPr>
        <p:spPr>
          <a:xfrm>
            <a:off x="1762915" y="4791325"/>
            <a:ext cx="87780" cy="87780"/>
          </a:xfrm>
          <a:custGeom>
            <a:avLst/>
            <a:gdLst/>
            <a:ahLst/>
            <a:cxnLst/>
            <a:rect l="l" t="t" r="r" b="b"/>
            <a:pathLst>
              <a:path w="12" h="12">
                <a:moveTo>
                  <a:pt x="0" y="0"/>
                </a:moveTo>
                <a:lnTo>
                  <a:pt x="6" y="12"/>
                </a:lnTo>
                <a:lnTo>
                  <a:pt x="12" y="0"/>
                </a:lnTo>
              </a:path>
            </a:pathLst>
          </a:custGeom>
          <a:noFill/>
          <a:ln w="137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3" name="path 252"/>
          <p:cNvCxnSpPr/>
          <p:nvPr/>
        </p:nvCxnSpPr>
        <p:spPr>
          <a:xfrm>
            <a:off x="5164390" y="4710980"/>
            <a:ext cx="0" cy="168245"/>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54" name="path 253"/>
          <p:cNvCxnSpPr/>
          <p:nvPr/>
        </p:nvCxnSpPr>
        <p:spPr>
          <a:xfrm>
            <a:off x="5164390" y="4710980"/>
            <a:ext cx="0" cy="168245"/>
          </a:xfrm>
          <a:prstGeom prst="line">
            <a:avLst/>
          </a:prstGeom>
          <a:ln w="3511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255" name="arrowhead 254"/>
          <p:cNvSpPr/>
          <p:nvPr/>
        </p:nvSpPr>
        <p:spPr>
          <a:xfrm>
            <a:off x="5120500" y="4791325"/>
            <a:ext cx="87780" cy="87780"/>
          </a:xfrm>
          <a:custGeom>
            <a:avLst/>
            <a:gdLst/>
            <a:ahLst/>
            <a:cxnLst/>
            <a:rect l="l" t="t" r="r" b="b"/>
            <a:pathLst>
              <a:path w="12" h="12">
                <a:moveTo>
                  <a:pt x="0" y="0"/>
                </a:moveTo>
                <a:lnTo>
                  <a:pt x="6" y="12"/>
                </a:lnTo>
                <a:lnTo>
                  <a:pt x="12" y="0"/>
                </a:lnTo>
              </a:path>
            </a:pathLst>
          </a:custGeom>
          <a:noFill/>
          <a:ln w="137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6" name="path 255"/>
          <p:cNvCxnSpPr/>
          <p:nvPr/>
        </p:nvCxnSpPr>
        <p:spPr>
          <a:xfrm>
            <a:off x="3518515" y="6861590"/>
            <a:ext cx="10241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257" name="path 256"/>
          <p:cNvCxnSpPr/>
          <p:nvPr/>
        </p:nvCxnSpPr>
        <p:spPr>
          <a:xfrm>
            <a:off x="3518515" y="6861590"/>
            <a:ext cx="102410" cy="0"/>
          </a:xfrm>
          <a:prstGeom prst="line">
            <a:avLst/>
          </a:prstGeom>
          <a:ln w="3511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258" name="arrowhead 257"/>
          <p:cNvSpPr/>
          <p:nvPr/>
        </p:nvSpPr>
        <p:spPr>
          <a:xfrm>
            <a:off x="3533145" y="6817580"/>
            <a:ext cx="87780" cy="87780"/>
          </a:xfrm>
          <a:custGeom>
            <a:avLst/>
            <a:gdLst/>
            <a:ahLst/>
            <a:cxnLst/>
            <a:rect l="l" t="t" r="r" b="b"/>
            <a:pathLst>
              <a:path w="12" h="12">
                <a:moveTo>
                  <a:pt x="12" y="6"/>
                </a:moveTo>
                <a:lnTo>
                  <a:pt x="0" y="12"/>
                </a:lnTo>
                <a:lnTo>
                  <a:pt x="3" y="6"/>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9" name="rect 258"/>
          <p:cNvSpPr/>
          <p:nvPr/>
        </p:nvSpPr>
        <p:spPr>
          <a:xfrm>
            <a:off x="7212590" y="2560370"/>
            <a:ext cx="5588660" cy="1463000"/>
          </a:xfrm>
          <a:prstGeom prst="roundRect">
            <a:avLst>
              <a:gd name="adj" fmla="val 4000"/>
            </a:avLst>
          </a:prstGeom>
          <a:solidFill>
            <a:srgbClr val="F2F2F2"/>
          </a:solidFill>
          <a:ln w="1609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0" name="rect 259"/>
          <p:cNvSpPr/>
          <p:nvPr/>
        </p:nvSpPr>
        <p:spPr>
          <a:xfrm>
            <a:off x="7219905" y="2567685"/>
            <a:ext cx="5574030" cy="270655"/>
          </a:xfrm>
          <a:prstGeom prst="roundRect">
            <a:avLst>
              <a:gd name="adj" fmla="val 18918"/>
            </a:avLst>
          </a:prstGeom>
          <a:solidFill>
            <a:srgbClr val="D7A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rect 260"/>
          <p:cNvSpPr/>
          <p:nvPr/>
        </p:nvSpPr>
        <p:spPr>
          <a:xfrm>
            <a:off x="7219905" y="2706670"/>
            <a:ext cx="5574030" cy="131670"/>
          </a:xfrm>
          <a:prstGeom prst="rect">
            <a:avLst/>
          </a:prstGeom>
          <a:solidFill>
            <a:srgbClr val="D7A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2" name="line 261"/>
          <p:cNvCxnSpPr/>
          <p:nvPr/>
        </p:nvCxnSpPr>
        <p:spPr>
          <a:xfrm>
            <a:off x="7219905" y="2838340"/>
            <a:ext cx="5574030" cy="0"/>
          </a:xfrm>
          <a:prstGeom prst="line">
            <a:avLst/>
          </a:prstGeom>
          <a:ln w="8778">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263" name="HBM pool"/>
          <p:cNvSpPr txBox="1"/>
          <p:nvPr/>
        </p:nvSpPr>
        <p:spPr>
          <a:xfrm>
            <a:off x="7329630" y="2580486"/>
            <a:ext cx="1149369" cy="261511"/>
          </a:xfrm>
          <a:prstGeom prst="rect">
            <a:avLst/>
          </a:prstGeom>
          <a:noFill/>
          <a:effectLst/>
        </p:spPr>
        <p:txBody>
          <a:bodyPr wrap="none" lIns="0" rIns="0" tIns="0" bIns="0" anchor="t">
            <a:spAutoFit/>
          </a:bodyPr>
          <a:lstStyle/>
          <a:p>
            <a:pPr algn="l">
              <a:lnSpc>
                <a:spcPct val="100000"/>
              </a:lnSpc>
              <a:spcBef>
                <a:spcPts val="0"/>
              </a:spcBef>
              <a:spcAft>
                <a:spcPts val="0"/>
              </a:spcAft>
            </a:pPr>
            <a:r>
              <a:rPr sz="1555" b="1" i="0" lang="en-US" spc="0">
                <a:solidFill>
                  <a:srgbClr val="000000"/>
                </a:solidFill>
                <a:latin typeface="DejaVu Sans"/>
                <a:ea typeface="DejaVu Sans"/>
                <a:effectLst/>
              </a:rPr>
              <a:t>HBM pool</a:t>
            </a:r>
          </a:p>
        </p:txBody>
      </p:sp>
      <p:sp>
        <p:nvSpPr>
          <p:cNvPr id="264" name="FULL"/>
          <p:cNvSpPr txBox="1"/>
          <p:nvPr/>
        </p:nvSpPr>
        <p:spPr>
          <a:xfrm>
            <a:off x="7351575" y="3068762"/>
            <a:ext cx="573999" cy="235909"/>
          </a:xfrm>
          <a:prstGeom prst="rect">
            <a:avLst/>
          </a:prstGeom>
          <a:noFill/>
          <a:effectLst/>
        </p:spPr>
        <p:txBody>
          <a:bodyPr wrap="none" lIns="0" rIns="0" tIns="0" bIns="0" anchor="t">
            <a:spAutoFit/>
          </a:bodyPr>
          <a:lstStyle/>
          <a:p>
            <a:pPr algn="l">
              <a:lnSpc>
                <a:spcPct val="100000"/>
              </a:lnSpc>
              <a:spcBef>
                <a:spcPts val="0"/>
              </a:spcBef>
              <a:spcAft>
                <a:spcPts val="0"/>
              </a:spcAft>
            </a:pPr>
            <a:r>
              <a:rPr sz="1382" b="1" i="0" lang="en-US" spc="0">
                <a:solidFill>
                  <a:srgbClr val="000000"/>
                </a:solidFill>
                <a:latin typeface="DejaVu Sans"/>
                <a:ea typeface="DejaVu Sans"/>
                <a:effectLst/>
              </a:rPr>
              <a:t>FULL</a:t>
            </a:r>
          </a:p>
        </p:txBody>
      </p:sp>
      <p:sp>
        <p:nvSpPr>
          <p:cNvPr id="265" name="rect 264"/>
          <p:cNvSpPr/>
          <p:nvPr/>
        </p:nvSpPr>
        <p:spPr>
          <a:xfrm>
            <a:off x="8229375" y="3035845"/>
            <a:ext cx="380380" cy="285285"/>
          </a:xfrm>
          <a:prstGeom prst="roundRect">
            <a:avLst>
              <a:gd name="adj" fmla="val 5128"/>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rect 265"/>
          <p:cNvSpPr/>
          <p:nvPr/>
        </p:nvSpPr>
        <p:spPr>
          <a:xfrm>
            <a:off x="8244005" y="3050475"/>
            <a:ext cx="351120" cy="36575"/>
          </a:xfrm>
          <a:prstGeom prst="roundRect">
            <a:avLst>
              <a:gd name="adj" fmla="val 20000"/>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7" name="rect 266"/>
          <p:cNvSpPr/>
          <p:nvPr/>
        </p:nvSpPr>
        <p:spPr>
          <a:xfrm>
            <a:off x="8660960" y="3035845"/>
            <a:ext cx="380380" cy="285285"/>
          </a:xfrm>
          <a:prstGeom prst="roundRect">
            <a:avLst>
              <a:gd name="adj" fmla="val 5128"/>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rect 267"/>
          <p:cNvSpPr/>
          <p:nvPr/>
        </p:nvSpPr>
        <p:spPr>
          <a:xfrm>
            <a:off x="8675590" y="30504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rect 268"/>
          <p:cNvSpPr/>
          <p:nvPr/>
        </p:nvSpPr>
        <p:spPr>
          <a:xfrm>
            <a:off x="9092545" y="3035845"/>
            <a:ext cx="380380" cy="285285"/>
          </a:xfrm>
          <a:prstGeom prst="roundRect">
            <a:avLst>
              <a:gd name="adj" fmla="val 5128"/>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rect 269"/>
          <p:cNvSpPr/>
          <p:nvPr/>
        </p:nvSpPr>
        <p:spPr>
          <a:xfrm>
            <a:off x="9107175" y="30504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rect 270"/>
          <p:cNvSpPr/>
          <p:nvPr/>
        </p:nvSpPr>
        <p:spPr>
          <a:xfrm>
            <a:off x="9524130" y="3035845"/>
            <a:ext cx="380380" cy="285285"/>
          </a:xfrm>
          <a:prstGeom prst="roundRect">
            <a:avLst>
              <a:gd name="adj" fmla="val 5128"/>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rect 271"/>
          <p:cNvSpPr/>
          <p:nvPr/>
        </p:nvSpPr>
        <p:spPr>
          <a:xfrm>
            <a:off x="9538760" y="30504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rect 272"/>
          <p:cNvSpPr/>
          <p:nvPr/>
        </p:nvSpPr>
        <p:spPr>
          <a:xfrm>
            <a:off x="9955715" y="3035845"/>
            <a:ext cx="380380" cy="285285"/>
          </a:xfrm>
          <a:prstGeom prst="roundRect">
            <a:avLst>
              <a:gd name="adj" fmla="val 5128"/>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4" name="rect 273"/>
          <p:cNvSpPr/>
          <p:nvPr/>
        </p:nvSpPr>
        <p:spPr>
          <a:xfrm>
            <a:off x="9970345" y="3050475"/>
            <a:ext cx="351120" cy="36575"/>
          </a:xfrm>
          <a:prstGeom prst="roundRect">
            <a:avLst>
              <a:gd name="adj" fmla="val 20000"/>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5" name="rect 274"/>
          <p:cNvSpPr/>
          <p:nvPr/>
        </p:nvSpPr>
        <p:spPr>
          <a:xfrm>
            <a:off x="10387300" y="3035845"/>
            <a:ext cx="380380" cy="285285"/>
          </a:xfrm>
          <a:prstGeom prst="roundRect">
            <a:avLst>
              <a:gd name="adj" fmla="val 5128"/>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rect 275"/>
          <p:cNvSpPr/>
          <p:nvPr/>
        </p:nvSpPr>
        <p:spPr>
          <a:xfrm>
            <a:off x="10401930" y="3050475"/>
            <a:ext cx="351120" cy="36575"/>
          </a:xfrm>
          <a:prstGeom prst="roundRect">
            <a:avLst>
              <a:gd name="adj" fmla="val 20000"/>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rect 276"/>
          <p:cNvSpPr/>
          <p:nvPr/>
        </p:nvSpPr>
        <p:spPr>
          <a:xfrm>
            <a:off x="10818885" y="3035845"/>
            <a:ext cx="380380" cy="285285"/>
          </a:xfrm>
          <a:prstGeom prst="roundRect">
            <a:avLst>
              <a:gd name="adj" fmla="val 5128"/>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rect 277"/>
          <p:cNvSpPr/>
          <p:nvPr/>
        </p:nvSpPr>
        <p:spPr>
          <a:xfrm>
            <a:off x="10833515" y="3050475"/>
            <a:ext cx="351120" cy="36575"/>
          </a:xfrm>
          <a:prstGeom prst="roundRect">
            <a:avLst>
              <a:gd name="adj" fmla="val 20000"/>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rect 278"/>
          <p:cNvSpPr/>
          <p:nvPr/>
        </p:nvSpPr>
        <p:spPr>
          <a:xfrm>
            <a:off x="11250470" y="3035845"/>
            <a:ext cx="380380" cy="285285"/>
          </a:xfrm>
          <a:prstGeom prst="roundRect">
            <a:avLst>
              <a:gd name="adj" fmla="val 2564"/>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rect 279"/>
          <p:cNvSpPr/>
          <p:nvPr/>
        </p:nvSpPr>
        <p:spPr>
          <a:xfrm>
            <a:off x="11682055" y="3035845"/>
            <a:ext cx="380380" cy="285285"/>
          </a:xfrm>
          <a:prstGeom prst="roundRect">
            <a:avLst>
              <a:gd name="adj" fmla="val 2564"/>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rect 280"/>
          <p:cNvSpPr/>
          <p:nvPr/>
        </p:nvSpPr>
        <p:spPr>
          <a:xfrm>
            <a:off x="12113640" y="3035845"/>
            <a:ext cx="380380" cy="285285"/>
          </a:xfrm>
          <a:prstGeom prst="roundRect">
            <a:avLst>
              <a:gd name="adj" fmla="val 2564"/>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Mamba"/>
          <p:cNvSpPr txBox="1"/>
          <p:nvPr/>
        </p:nvSpPr>
        <p:spPr>
          <a:xfrm>
            <a:off x="7351575" y="3602757"/>
            <a:ext cx="777990"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1" i="0" lang="en-US" spc="0">
                <a:solidFill>
                  <a:srgbClr val="000000"/>
                </a:solidFill>
                <a:latin typeface="DejaVu Sans"/>
                <a:ea typeface="DejaVu Sans"/>
                <a:effectLst/>
              </a:rPr>
              <a:t>Mamba</a:t>
            </a:r>
          </a:p>
        </p:txBody>
      </p:sp>
      <p:sp>
        <p:nvSpPr>
          <p:cNvPr id="283" name="polygon 282"/>
          <p:cNvSpPr/>
          <p:nvPr/>
        </p:nvSpPr>
        <p:spPr>
          <a:xfrm>
            <a:off x="8251320" y="35112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D7AE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S"/>
          <p:cNvSpPr txBox="1"/>
          <p:nvPr/>
        </p:nvSpPr>
        <p:spPr>
          <a:xfrm>
            <a:off x="8328776" y="3551552"/>
            <a:ext cx="191819"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S</a:t>
            </a:r>
          </a:p>
        </p:txBody>
      </p:sp>
      <p:sp>
        <p:nvSpPr>
          <p:cNvPr id="285" name="rect 284"/>
          <p:cNvSpPr/>
          <p:nvPr/>
        </p:nvSpPr>
        <p:spPr>
          <a:xfrm>
            <a:off x="8312766" y="3542043"/>
            <a:ext cx="223839" cy="21945"/>
          </a:xfrm>
          <a:prstGeom prst="roundRect">
            <a:avLst>
              <a:gd name="adj" fmla="val 3333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P"/>
          <p:cNvSpPr txBox="1"/>
          <p:nvPr/>
        </p:nvSpPr>
        <p:spPr>
          <a:xfrm>
            <a:off x="8697535" y="3551552"/>
            <a:ext cx="189247"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0" i="0" lang="en-US" spc="0">
                <a:solidFill>
                  <a:srgbClr val="000000"/>
                </a:solidFill>
                <a:latin typeface="DejaVu Sans"/>
                <a:ea typeface="DejaVu Sans"/>
                <a:effectLst/>
              </a:rPr>
              <a:t>P</a:t>
            </a:r>
          </a:p>
        </p:txBody>
      </p:sp>
      <p:sp>
        <p:nvSpPr>
          <p:cNvPr id="287" name="polygon 286"/>
          <p:cNvSpPr/>
          <p:nvPr/>
        </p:nvSpPr>
        <p:spPr>
          <a:xfrm>
            <a:off x="9377830" y="35112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8" name="∅"/>
          <p:cNvSpPr txBox="1"/>
          <p:nvPr/>
        </p:nvSpPr>
        <p:spPr>
          <a:xfrm>
            <a:off x="9445442" y="3551552"/>
            <a:ext cx="211506"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a:t>
            </a:r>
          </a:p>
        </p:txBody>
      </p:sp>
      <p:sp>
        <p:nvSpPr>
          <p:cNvPr id="289" name="C1"/>
          <p:cNvSpPr txBox="1"/>
          <p:nvPr/>
        </p:nvSpPr>
        <p:spPr>
          <a:xfrm>
            <a:off x="9824045" y="3551552"/>
            <a:ext cx="312288"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0" i="0" lang="en-US" spc="0">
                <a:solidFill>
                  <a:srgbClr val="000000"/>
                </a:solidFill>
                <a:latin typeface="DejaVu Sans"/>
                <a:ea typeface="DejaVu Sans"/>
                <a:effectLst/>
              </a:rPr>
              <a:t>C1</a:t>
            </a:r>
          </a:p>
        </p:txBody>
      </p:sp>
      <p:sp>
        <p:nvSpPr>
          <p:cNvPr id="290" name="polygon 289"/>
          <p:cNvSpPr/>
          <p:nvPr/>
        </p:nvSpPr>
        <p:spPr>
          <a:xfrm>
            <a:off x="10504340" y="35112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D7AE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1" name="S"/>
          <p:cNvSpPr txBox="1"/>
          <p:nvPr/>
        </p:nvSpPr>
        <p:spPr>
          <a:xfrm>
            <a:off x="10581796" y="3551552"/>
            <a:ext cx="191819"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S</a:t>
            </a:r>
          </a:p>
        </p:txBody>
      </p:sp>
      <p:sp>
        <p:nvSpPr>
          <p:cNvPr id="292" name="rect 291"/>
          <p:cNvSpPr/>
          <p:nvPr/>
        </p:nvSpPr>
        <p:spPr>
          <a:xfrm>
            <a:off x="10565786" y="3542043"/>
            <a:ext cx="223839" cy="21945"/>
          </a:xfrm>
          <a:prstGeom prst="roundRect">
            <a:avLst>
              <a:gd name="adj" fmla="val 33333"/>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C2"/>
          <p:cNvSpPr txBox="1"/>
          <p:nvPr/>
        </p:nvSpPr>
        <p:spPr>
          <a:xfrm>
            <a:off x="10950555" y="3551552"/>
            <a:ext cx="312288"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0" i="0" lang="en-US" spc="0">
                <a:solidFill>
                  <a:srgbClr val="000000"/>
                </a:solidFill>
                <a:latin typeface="DejaVu Sans"/>
                <a:ea typeface="DejaVu Sans"/>
                <a:effectLst/>
              </a:rPr>
              <a:t>C2</a:t>
            </a:r>
          </a:p>
        </p:txBody>
      </p:sp>
      <p:sp>
        <p:nvSpPr>
          <p:cNvPr id="294" name="polygon 293"/>
          <p:cNvSpPr/>
          <p:nvPr/>
        </p:nvSpPr>
        <p:spPr>
          <a:xfrm>
            <a:off x="11630850" y="35112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
          <p:cNvSpPr txBox="1"/>
          <p:nvPr/>
        </p:nvSpPr>
        <p:spPr>
          <a:xfrm>
            <a:off x="11698462" y="3551552"/>
            <a:ext cx="211506"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a:t>
            </a:r>
          </a:p>
        </p:txBody>
      </p:sp>
      <p:sp>
        <p:nvSpPr>
          <p:cNvPr id="296" name="rect 295"/>
          <p:cNvSpPr/>
          <p:nvPr/>
        </p:nvSpPr>
        <p:spPr>
          <a:xfrm>
            <a:off x="7212590" y="5340070"/>
            <a:ext cx="5588660" cy="1463000"/>
          </a:xfrm>
          <a:prstGeom prst="roundRect">
            <a:avLst>
              <a:gd name="adj" fmla="val 4000"/>
            </a:avLst>
          </a:prstGeom>
          <a:solidFill>
            <a:srgbClr val="FBE3D6"/>
          </a:solidFill>
          <a:ln w="1609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rect 296"/>
          <p:cNvSpPr/>
          <p:nvPr/>
        </p:nvSpPr>
        <p:spPr>
          <a:xfrm>
            <a:off x="7219905" y="5347385"/>
            <a:ext cx="5574030" cy="270655"/>
          </a:xfrm>
          <a:prstGeom prst="roundRect">
            <a:avLst>
              <a:gd name="adj" fmla="val 18918"/>
            </a:avLst>
          </a:prstGeom>
          <a:solidFill>
            <a:srgbClr val="FFD5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rect 297"/>
          <p:cNvSpPr/>
          <p:nvPr/>
        </p:nvSpPr>
        <p:spPr>
          <a:xfrm>
            <a:off x="7219905" y="5486370"/>
            <a:ext cx="5574030" cy="131670"/>
          </a:xfrm>
          <a:prstGeom prst="rect">
            <a:avLst/>
          </a:prstGeom>
          <a:solidFill>
            <a:srgbClr val="FFD5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99" name="line 298"/>
          <p:cNvCxnSpPr/>
          <p:nvPr/>
        </p:nvCxnSpPr>
        <p:spPr>
          <a:xfrm>
            <a:off x="7219905" y="5618040"/>
            <a:ext cx="5574030" cy="0"/>
          </a:xfrm>
          <a:prstGeom prst="line">
            <a:avLst/>
          </a:prstGeom>
          <a:ln w="8778">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300" name="Host pool"/>
          <p:cNvSpPr txBox="1"/>
          <p:nvPr/>
        </p:nvSpPr>
        <p:spPr>
          <a:xfrm>
            <a:off x="7329630" y="5360186"/>
            <a:ext cx="1149969" cy="261511"/>
          </a:xfrm>
          <a:prstGeom prst="rect">
            <a:avLst/>
          </a:prstGeom>
          <a:noFill/>
          <a:effectLst/>
        </p:spPr>
        <p:txBody>
          <a:bodyPr wrap="none" lIns="0" rIns="0" tIns="0" bIns="0" anchor="t">
            <a:spAutoFit/>
          </a:bodyPr>
          <a:lstStyle/>
          <a:p>
            <a:pPr algn="l">
              <a:lnSpc>
                <a:spcPct val="100000"/>
              </a:lnSpc>
              <a:spcBef>
                <a:spcPts val="0"/>
              </a:spcBef>
              <a:spcAft>
                <a:spcPts val="0"/>
              </a:spcAft>
            </a:pPr>
            <a:r>
              <a:rPr sz="1555" b="1" i="0" lang="en-US" spc="0">
                <a:solidFill>
                  <a:srgbClr val="000000"/>
                </a:solidFill>
                <a:latin typeface="DejaVu Sans"/>
                <a:ea typeface="DejaVu Sans"/>
                <a:effectLst/>
              </a:rPr>
              <a:t>Host pool</a:t>
            </a:r>
          </a:p>
        </p:txBody>
      </p:sp>
      <p:sp>
        <p:nvSpPr>
          <p:cNvPr id="301" name="FULL"/>
          <p:cNvSpPr txBox="1"/>
          <p:nvPr/>
        </p:nvSpPr>
        <p:spPr>
          <a:xfrm>
            <a:off x="7351575" y="5848462"/>
            <a:ext cx="573999" cy="235909"/>
          </a:xfrm>
          <a:prstGeom prst="rect">
            <a:avLst/>
          </a:prstGeom>
          <a:noFill/>
          <a:effectLst/>
        </p:spPr>
        <p:txBody>
          <a:bodyPr wrap="none" lIns="0" rIns="0" tIns="0" bIns="0" anchor="t">
            <a:spAutoFit/>
          </a:bodyPr>
          <a:lstStyle/>
          <a:p>
            <a:pPr algn="l">
              <a:lnSpc>
                <a:spcPct val="100000"/>
              </a:lnSpc>
              <a:spcBef>
                <a:spcPts val="0"/>
              </a:spcBef>
              <a:spcAft>
                <a:spcPts val="0"/>
              </a:spcAft>
            </a:pPr>
            <a:r>
              <a:rPr sz="1382" b="1" i="0" lang="en-US" spc="0">
                <a:solidFill>
                  <a:srgbClr val="000000"/>
                </a:solidFill>
                <a:latin typeface="DejaVu Sans"/>
                <a:ea typeface="DejaVu Sans"/>
                <a:effectLst/>
              </a:rPr>
              <a:t>FULL</a:t>
            </a:r>
          </a:p>
        </p:txBody>
      </p:sp>
      <p:sp>
        <p:nvSpPr>
          <p:cNvPr id="302" name="rect 301"/>
          <p:cNvSpPr/>
          <p:nvPr/>
        </p:nvSpPr>
        <p:spPr>
          <a:xfrm>
            <a:off x="8229375"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3" name="rect 302"/>
          <p:cNvSpPr/>
          <p:nvPr/>
        </p:nvSpPr>
        <p:spPr>
          <a:xfrm>
            <a:off x="8244005" y="5830175"/>
            <a:ext cx="351120" cy="36575"/>
          </a:xfrm>
          <a:prstGeom prst="roundRect">
            <a:avLst>
              <a:gd name="adj" fmla="val 20000"/>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rect 303"/>
          <p:cNvSpPr/>
          <p:nvPr/>
        </p:nvSpPr>
        <p:spPr>
          <a:xfrm>
            <a:off x="8660960"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rect 304"/>
          <p:cNvSpPr/>
          <p:nvPr/>
        </p:nvSpPr>
        <p:spPr>
          <a:xfrm>
            <a:off x="8675590" y="58301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rect 305"/>
          <p:cNvSpPr/>
          <p:nvPr/>
        </p:nvSpPr>
        <p:spPr>
          <a:xfrm>
            <a:off x="9092545"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rect 306"/>
          <p:cNvSpPr/>
          <p:nvPr/>
        </p:nvSpPr>
        <p:spPr>
          <a:xfrm>
            <a:off x="9107175" y="58301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rect 307"/>
          <p:cNvSpPr/>
          <p:nvPr/>
        </p:nvSpPr>
        <p:spPr>
          <a:xfrm>
            <a:off x="9524130"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rect 308"/>
          <p:cNvSpPr/>
          <p:nvPr/>
        </p:nvSpPr>
        <p:spPr>
          <a:xfrm>
            <a:off x="9538760" y="58301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rect 309"/>
          <p:cNvSpPr/>
          <p:nvPr/>
        </p:nvSpPr>
        <p:spPr>
          <a:xfrm>
            <a:off x="9955715"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rect 310"/>
          <p:cNvSpPr/>
          <p:nvPr/>
        </p:nvSpPr>
        <p:spPr>
          <a:xfrm>
            <a:off x="9970345" y="58301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rect 311"/>
          <p:cNvSpPr/>
          <p:nvPr/>
        </p:nvSpPr>
        <p:spPr>
          <a:xfrm>
            <a:off x="10387300"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rect 312"/>
          <p:cNvSpPr/>
          <p:nvPr/>
        </p:nvSpPr>
        <p:spPr>
          <a:xfrm>
            <a:off x="10401930" y="5830175"/>
            <a:ext cx="351120" cy="3657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rect 313"/>
          <p:cNvSpPr/>
          <p:nvPr/>
        </p:nvSpPr>
        <p:spPr>
          <a:xfrm>
            <a:off x="10818885"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rect 314"/>
          <p:cNvSpPr/>
          <p:nvPr/>
        </p:nvSpPr>
        <p:spPr>
          <a:xfrm>
            <a:off x="10833515" y="5830175"/>
            <a:ext cx="351120" cy="36575"/>
          </a:xfrm>
          <a:prstGeom prst="roundRect">
            <a:avLst>
              <a:gd name="adj" fmla="val 20000"/>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rect 315"/>
          <p:cNvSpPr/>
          <p:nvPr/>
        </p:nvSpPr>
        <p:spPr>
          <a:xfrm>
            <a:off x="11250470" y="5815545"/>
            <a:ext cx="380380" cy="285285"/>
          </a:xfrm>
          <a:prstGeom prst="roundRect">
            <a:avLst>
              <a:gd name="adj" fmla="val 5128"/>
            </a:avLst>
          </a:prstGeom>
          <a:solidFill>
            <a:srgbClr val="FFD579"/>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rect 316"/>
          <p:cNvSpPr/>
          <p:nvPr/>
        </p:nvSpPr>
        <p:spPr>
          <a:xfrm>
            <a:off x="11265100" y="5830175"/>
            <a:ext cx="351120" cy="36575"/>
          </a:xfrm>
          <a:prstGeom prst="roundRect">
            <a:avLst>
              <a:gd name="adj" fmla="val 20000"/>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rect 317"/>
          <p:cNvSpPr/>
          <p:nvPr/>
        </p:nvSpPr>
        <p:spPr>
          <a:xfrm>
            <a:off x="11682055" y="5815545"/>
            <a:ext cx="380380" cy="285285"/>
          </a:xfrm>
          <a:prstGeom prst="roundRect">
            <a:avLst>
              <a:gd name="adj" fmla="val 2564"/>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rect 318"/>
          <p:cNvSpPr/>
          <p:nvPr/>
        </p:nvSpPr>
        <p:spPr>
          <a:xfrm>
            <a:off x="12113640" y="5815545"/>
            <a:ext cx="380380" cy="285285"/>
          </a:xfrm>
          <a:prstGeom prst="roundRect">
            <a:avLst>
              <a:gd name="adj" fmla="val 2564"/>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Mamba"/>
          <p:cNvSpPr txBox="1"/>
          <p:nvPr/>
        </p:nvSpPr>
        <p:spPr>
          <a:xfrm>
            <a:off x="7351575" y="6382458"/>
            <a:ext cx="777990"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1" i="0" lang="en-US" spc="0">
                <a:solidFill>
                  <a:srgbClr val="000000"/>
                </a:solidFill>
                <a:latin typeface="DejaVu Sans"/>
                <a:ea typeface="DejaVu Sans"/>
                <a:effectLst/>
              </a:rPr>
              <a:t>Mamba</a:t>
            </a:r>
          </a:p>
        </p:txBody>
      </p:sp>
      <p:sp>
        <p:nvSpPr>
          <p:cNvPr id="321" name="polygon 320"/>
          <p:cNvSpPr/>
          <p:nvPr/>
        </p:nvSpPr>
        <p:spPr>
          <a:xfrm>
            <a:off x="8251320" y="62909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FFD579"/>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S"/>
          <p:cNvSpPr txBox="1"/>
          <p:nvPr/>
        </p:nvSpPr>
        <p:spPr>
          <a:xfrm>
            <a:off x="8328776" y="6331252"/>
            <a:ext cx="191819"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S</a:t>
            </a:r>
          </a:p>
        </p:txBody>
      </p:sp>
      <p:sp>
        <p:nvSpPr>
          <p:cNvPr id="323" name="rect 322"/>
          <p:cNvSpPr/>
          <p:nvPr/>
        </p:nvSpPr>
        <p:spPr>
          <a:xfrm>
            <a:off x="8312766" y="6321743"/>
            <a:ext cx="223839" cy="21945"/>
          </a:xfrm>
          <a:prstGeom prst="roundRect">
            <a:avLst>
              <a:gd name="adj" fmla="val 3333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P"/>
          <p:cNvSpPr txBox="1"/>
          <p:nvPr/>
        </p:nvSpPr>
        <p:spPr>
          <a:xfrm>
            <a:off x="8697535" y="6331252"/>
            <a:ext cx="189247"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0" i="0" lang="en-US" spc="0">
                <a:solidFill>
                  <a:srgbClr val="000000"/>
                </a:solidFill>
                <a:latin typeface="DejaVu Sans"/>
                <a:ea typeface="DejaVu Sans"/>
                <a:effectLst/>
              </a:rPr>
              <a:t>P</a:t>
            </a:r>
          </a:p>
        </p:txBody>
      </p:sp>
      <p:sp>
        <p:nvSpPr>
          <p:cNvPr id="325" name="polygon 324"/>
          <p:cNvSpPr/>
          <p:nvPr/>
        </p:nvSpPr>
        <p:spPr>
          <a:xfrm>
            <a:off x="9377830" y="62909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
          <p:cNvSpPr txBox="1"/>
          <p:nvPr/>
        </p:nvSpPr>
        <p:spPr>
          <a:xfrm>
            <a:off x="9445442" y="6331252"/>
            <a:ext cx="211506"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a:t>
            </a:r>
          </a:p>
        </p:txBody>
      </p:sp>
      <p:sp>
        <p:nvSpPr>
          <p:cNvPr id="327" name="C1"/>
          <p:cNvSpPr txBox="1"/>
          <p:nvPr/>
        </p:nvSpPr>
        <p:spPr>
          <a:xfrm>
            <a:off x="9824045" y="6331252"/>
            <a:ext cx="312288"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0" i="0" lang="en-US" spc="0">
                <a:solidFill>
                  <a:srgbClr val="000000"/>
                </a:solidFill>
                <a:latin typeface="DejaVu Sans"/>
                <a:ea typeface="DejaVu Sans"/>
                <a:effectLst/>
              </a:rPr>
              <a:t>C1</a:t>
            </a:r>
          </a:p>
        </p:txBody>
      </p:sp>
      <p:sp>
        <p:nvSpPr>
          <p:cNvPr id="328" name="polygon 327"/>
          <p:cNvSpPr/>
          <p:nvPr/>
        </p:nvSpPr>
        <p:spPr>
          <a:xfrm>
            <a:off x="10504340" y="62909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FFD579"/>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S"/>
          <p:cNvSpPr txBox="1"/>
          <p:nvPr/>
        </p:nvSpPr>
        <p:spPr>
          <a:xfrm>
            <a:off x="10581796" y="6331252"/>
            <a:ext cx="191819"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S</a:t>
            </a:r>
          </a:p>
        </p:txBody>
      </p:sp>
      <p:sp>
        <p:nvSpPr>
          <p:cNvPr id="330" name="rect 329"/>
          <p:cNvSpPr/>
          <p:nvPr/>
        </p:nvSpPr>
        <p:spPr>
          <a:xfrm>
            <a:off x="10565786" y="6321743"/>
            <a:ext cx="223839" cy="21945"/>
          </a:xfrm>
          <a:prstGeom prst="roundRect">
            <a:avLst>
              <a:gd name="adj" fmla="val 33333"/>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C2"/>
          <p:cNvSpPr txBox="1"/>
          <p:nvPr/>
        </p:nvSpPr>
        <p:spPr>
          <a:xfrm>
            <a:off x="10950555" y="6331252"/>
            <a:ext cx="312288" cy="226765"/>
          </a:xfrm>
          <a:prstGeom prst="rect">
            <a:avLst/>
          </a:prstGeom>
          <a:noFill/>
          <a:effectLst/>
        </p:spPr>
        <p:txBody>
          <a:bodyPr wrap="none" lIns="0" rIns="0" tIns="0" bIns="0" anchor="t">
            <a:spAutoFit/>
          </a:bodyPr>
          <a:lstStyle/>
          <a:p>
            <a:pPr algn="l">
              <a:lnSpc>
                <a:spcPct val="100000"/>
              </a:lnSpc>
              <a:spcBef>
                <a:spcPts val="0"/>
              </a:spcBef>
              <a:spcAft>
                <a:spcPts val="0"/>
              </a:spcAft>
            </a:pPr>
            <a:r>
              <a:rPr sz="1324" b="0" i="0" lang="en-US" spc="0">
                <a:solidFill>
                  <a:srgbClr val="000000"/>
                </a:solidFill>
                <a:latin typeface="DejaVu Sans"/>
                <a:ea typeface="DejaVu Sans"/>
                <a:effectLst/>
              </a:rPr>
              <a:t>C2</a:t>
            </a:r>
          </a:p>
        </p:txBody>
      </p:sp>
      <p:sp>
        <p:nvSpPr>
          <p:cNvPr id="332" name="polygon 331"/>
          <p:cNvSpPr/>
          <p:nvPr/>
        </p:nvSpPr>
        <p:spPr>
          <a:xfrm>
            <a:off x="11630850" y="6290900"/>
            <a:ext cx="343805" cy="256025"/>
          </a:xfrm>
          <a:custGeom>
            <a:avLst/>
            <a:gdLst/>
            <a:ahLst/>
            <a:cxnLst/>
            <a:rect l="l" t="t" r="r" b="b"/>
            <a:pathLst>
              <a:path w="47" h="35">
                <a:moveTo>
                  <a:pt x="7" y="0"/>
                </a:moveTo>
                <a:lnTo>
                  <a:pt x="40" y="0"/>
                </a:lnTo>
                <a:lnTo>
                  <a:pt x="47" y="18"/>
                </a:lnTo>
                <a:lnTo>
                  <a:pt x="40" y="35"/>
                </a:lnTo>
                <a:lnTo>
                  <a:pt x="7" y="35"/>
                </a:lnTo>
                <a:lnTo>
                  <a:pt x="0" y="18"/>
                </a:lnTo>
                <a:close/>
              </a:path>
            </a:pathLst>
          </a:custGeom>
          <a:solidFill>
            <a:srgbClr val="FFFFFF"/>
          </a:solidFill>
          <a:ln w="1097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
          <p:cNvSpPr txBox="1"/>
          <p:nvPr/>
        </p:nvSpPr>
        <p:spPr>
          <a:xfrm>
            <a:off x="11698462" y="6331252"/>
            <a:ext cx="211506" cy="199334"/>
          </a:xfrm>
          <a:prstGeom prst="rect">
            <a:avLst/>
          </a:prstGeom>
          <a:noFill/>
          <a:effectLst/>
        </p:spPr>
        <p:txBody>
          <a:bodyPr wrap="none" lIns="0" rIns="0" tIns="0" bIns="0" anchor="t">
            <a:spAutoFit/>
          </a:bodyPr>
          <a:lstStyle/>
          <a:p>
            <a:pPr algn="ctr">
              <a:lnSpc>
                <a:spcPct val="100000"/>
              </a:lnSpc>
              <a:spcBef>
                <a:spcPts val="0"/>
              </a:spcBef>
              <a:spcAft>
                <a:spcPts val="0"/>
              </a:spcAft>
            </a:pPr>
            <a:r>
              <a:rPr sz="1140" b="1" i="0" lang="en-US" spc="0">
                <a:solidFill>
                  <a:srgbClr val="000000"/>
                </a:solidFill>
                <a:latin typeface="DejaVu Sans"/>
                <a:ea typeface="DejaVu Sans"/>
                <a:effectLst/>
              </a:rPr>
              <a:t>∅</a:t>
            </a:r>
          </a:p>
        </p:txBody>
      </p:sp>
      <p:sp>
        <p:nvSpPr>
          <p:cNvPr id="334" name="rect 333"/>
          <p:cNvSpPr/>
          <p:nvPr/>
        </p:nvSpPr>
        <p:spPr>
          <a:xfrm>
            <a:off x="7212590" y="4125780"/>
            <a:ext cx="2413950" cy="1067990"/>
          </a:xfrm>
          <a:prstGeom prst="roundRect">
            <a:avLst>
              <a:gd name="adj" fmla="val 5479"/>
            </a:avLst>
          </a:prstGeom>
          <a:solidFill>
            <a:srgbClr val="F2F2F2"/>
          </a:solidFill>
          <a:ln w="14630">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ct 334"/>
          <p:cNvSpPr/>
          <p:nvPr/>
        </p:nvSpPr>
        <p:spPr>
          <a:xfrm>
            <a:off x="7219905" y="4133095"/>
            <a:ext cx="2399320" cy="226765"/>
          </a:xfrm>
          <a:prstGeom prst="roundRect">
            <a:avLst>
              <a:gd name="adj" fmla="val 2258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rect 335"/>
          <p:cNvSpPr/>
          <p:nvPr/>
        </p:nvSpPr>
        <p:spPr>
          <a:xfrm>
            <a:off x="7219905" y="4242820"/>
            <a:ext cx="2399320" cy="11704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37" name="line 336"/>
          <p:cNvCxnSpPr/>
          <p:nvPr/>
        </p:nvCxnSpPr>
        <p:spPr>
          <a:xfrm>
            <a:off x="7219905" y="4359860"/>
            <a:ext cx="2399320" cy="0"/>
          </a:xfrm>
          <a:prstGeom prst="line">
            <a:avLst/>
          </a:prstGeom>
          <a:ln w="8778">
            <a:solidFill>
              <a:srgbClr val="A6A6A6"/>
            </a:solidFill>
          </a:ln>
          <a:effectLst/>
        </p:spPr>
        <p:style>
          <a:lnRef idx="2">
            <a:schemeClr val="accent1"/>
          </a:lnRef>
          <a:fillRef idx="0">
            <a:schemeClr val="accent1"/>
          </a:fillRef>
          <a:effectRef idx="0">
            <a:schemeClr val="accent1"/>
          </a:effectRef>
          <a:fontRef idx="minor">
            <a:schemeClr val="tx1"/>
          </a:fontRef>
        </p:style>
      </p:cxnSp>
      <p:sp>
        <p:nvSpPr>
          <p:cNvPr id="338" name="Prefix index"/>
          <p:cNvSpPr txBox="1"/>
          <p:nvPr/>
        </p:nvSpPr>
        <p:spPr>
          <a:xfrm>
            <a:off x="7315000" y="4129730"/>
            <a:ext cx="1269724" cy="235909"/>
          </a:xfrm>
          <a:prstGeom prst="rect">
            <a:avLst/>
          </a:prstGeom>
          <a:noFill/>
          <a:effectLst/>
        </p:spPr>
        <p:txBody>
          <a:bodyPr wrap="none" lIns="0" rIns="0" tIns="0" bIns="0" anchor="t">
            <a:spAutoFit/>
          </a:bodyPr>
          <a:lstStyle/>
          <a:p>
            <a:pPr algn="l">
              <a:lnSpc>
                <a:spcPct val="100000"/>
              </a:lnSpc>
              <a:spcBef>
                <a:spcPts val="0"/>
              </a:spcBef>
              <a:spcAft>
                <a:spcPts val="0"/>
              </a:spcAft>
            </a:pPr>
            <a:r>
              <a:rPr sz="1382" b="1" i="0" lang="en-US" spc="0">
                <a:solidFill>
                  <a:srgbClr val="000000"/>
                </a:solidFill>
                <a:latin typeface="DejaVu Sans"/>
                <a:ea typeface="DejaVu Sans"/>
                <a:effectLst/>
              </a:rPr>
              <a:t>Prefix index</a:t>
            </a:r>
          </a:p>
        </p:txBody>
      </p:sp>
      <p:sp>
        <p:nvSpPr>
          <p:cNvPr id="339" name="rect 338"/>
          <p:cNvSpPr/>
          <p:nvPr/>
        </p:nvSpPr>
        <p:spPr>
          <a:xfrm>
            <a:off x="7358890" y="4740240"/>
            <a:ext cx="395010" cy="234080"/>
          </a:xfrm>
          <a:prstGeom prst="roundRect">
            <a:avLst>
              <a:gd name="adj" fmla="val 3125"/>
            </a:avLst>
          </a:prstGeom>
          <a:solidFill>
            <a:srgbClr val="D9D9D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0" name="p0"/>
          <p:cNvSpPr txBox="1"/>
          <p:nvPr/>
        </p:nvSpPr>
        <p:spPr>
          <a:xfrm>
            <a:off x="7398908" y="4762039"/>
            <a:ext cx="314974"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p0</a:t>
            </a:r>
          </a:p>
        </p:txBody>
      </p:sp>
      <p:sp>
        <p:nvSpPr>
          <p:cNvPr id="341" name="rect 340"/>
          <p:cNvSpPr/>
          <p:nvPr/>
        </p:nvSpPr>
        <p:spPr>
          <a:xfrm>
            <a:off x="8148910" y="4484215"/>
            <a:ext cx="395010" cy="234080"/>
          </a:xfrm>
          <a:prstGeom prst="roundRect">
            <a:avLst>
              <a:gd name="adj" fmla="val 3125"/>
            </a:avLst>
          </a:prstGeom>
          <a:solidFill>
            <a:srgbClr val="A6CAEC"/>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P"/>
          <p:cNvSpPr txBox="1"/>
          <p:nvPr/>
        </p:nvSpPr>
        <p:spPr>
          <a:xfrm>
            <a:off x="8243548" y="4506014"/>
            <a:ext cx="205734"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P</a:t>
            </a:r>
          </a:p>
        </p:txBody>
      </p:sp>
      <p:sp>
        <p:nvSpPr>
          <p:cNvPr id="343" name="rect 342"/>
          <p:cNvSpPr/>
          <p:nvPr/>
        </p:nvSpPr>
        <p:spPr>
          <a:xfrm>
            <a:off x="8148910" y="4930430"/>
            <a:ext cx="395010" cy="234080"/>
          </a:xfrm>
          <a:prstGeom prst="roundRect">
            <a:avLst>
              <a:gd name="adj" fmla="val 3125"/>
            </a:avLst>
          </a:prstGeom>
          <a:solidFill>
            <a:srgbClr val="F6C6AD"/>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C2"/>
          <p:cNvSpPr txBox="1"/>
          <p:nvPr/>
        </p:nvSpPr>
        <p:spPr>
          <a:xfrm>
            <a:off x="8187485" y="4952229"/>
            <a:ext cx="317860"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C2</a:t>
            </a:r>
          </a:p>
        </p:txBody>
      </p:sp>
      <p:sp>
        <p:nvSpPr>
          <p:cNvPr id="345" name="rect 344"/>
          <p:cNvSpPr/>
          <p:nvPr/>
        </p:nvSpPr>
        <p:spPr>
          <a:xfrm>
            <a:off x="8975505" y="4484215"/>
            <a:ext cx="395010" cy="234080"/>
          </a:xfrm>
          <a:prstGeom prst="roundRect">
            <a:avLst>
              <a:gd name="adj" fmla="val 3125"/>
            </a:avLst>
          </a:prstGeom>
          <a:solidFill>
            <a:srgbClr val="A6CAEC"/>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c*"/>
          <p:cNvSpPr txBox="1"/>
          <p:nvPr/>
        </p:nvSpPr>
        <p:spPr>
          <a:xfrm>
            <a:off x="9039340" y="4506014"/>
            <a:ext cx="267340" cy="217621"/>
          </a:xfrm>
          <a:prstGeom prst="rect">
            <a:avLst/>
          </a:prstGeom>
          <a:noFill/>
          <a:effectLst/>
        </p:spPr>
        <p:txBody>
          <a:bodyPr wrap="none" lIns="0" rIns="0" tIns="0" bIns="0" anchor="t">
            <a:spAutoFit/>
          </a:bodyPr>
          <a:lstStyle/>
          <a:p>
            <a:pPr algn="ctr">
              <a:lnSpc>
                <a:spcPct val="100000"/>
              </a:lnSpc>
              <a:spcBef>
                <a:spcPts val="0"/>
              </a:spcBef>
              <a:spcAft>
                <a:spcPts val="0"/>
              </a:spcAft>
            </a:pPr>
            <a:r>
              <a:rPr sz="1267" b="1" i="0" lang="en-US" spc="0">
                <a:solidFill>
                  <a:srgbClr val="000000"/>
                </a:solidFill>
                <a:latin typeface="DejaVu Sans"/>
                <a:ea typeface="DejaVu Sans"/>
                <a:effectLst/>
              </a:rPr>
              <a:t>c*</a:t>
            </a:r>
          </a:p>
        </p:txBody>
      </p:sp>
      <p:cxnSp>
        <p:nvCxnSpPr>
          <p:cNvPr id="347" name="line 346"/>
          <p:cNvCxnSpPr/>
          <p:nvPr/>
        </p:nvCxnSpPr>
        <p:spPr>
          <a:xfrm flipV="1">
            <a:off x="7775845" y="4601255"/>
            <a:ext cx="343805" cy="234080"/>
          </a:xfrm>
          <a:prstGeom prst="line">
            <a:avLst/>
          </a:prstGeom>
          <a:ln w="1243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48" name="line 347"/>
          <p:cNvCxnSpPr/>
          <p:nvPr/>
        </p:nvCxnSpPr>
        <p:spPr>
          <a:xfrm>
            <a:off x="7775845" y="4908485"/>
            <a:ext cx="343805" cy="138985"/>
          </a:xfrm>
          <a:prstGeom prst="line">
            <a:avLst/>
          </a:prstGeom>
          <a:ln w="12435">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349" name="path 348"/>
          <p:cNvCxnSpPr/>
          <p:nvPr/>
        </p:nvCxnSpPr>
        <p:spPr>
          <a:xfrm>
            <a:off x="8580495" y="4601255"/>
            <a:ext cx="36575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350" name="path 349"/>
          <p:cNvCxnSpPr/>
          <p:nvPr/>
        </p:nvCxnSpPr>
        <p:spPr>
          <a:xfrm>
            <a:off x="8580495" y="4601255"/>
            <a:ext cx="365750" cy="0"/>
          </a:xfrm>
          <a:prstGeom prst="line">
            <a:avLst/>
          </a:prstGeom>
          <a:ln w="3511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351" name="arrowhead 350"/>
          <p:cNvSpPr/>
          <p:nvPr/>
        </p:nvSpPr>
        <p:spPr>
          <a:xfrm>
            <a:off x="8814575" y="4535300"/>
            <a:ext cx="131670" cy="131670"/>
          </a:xfrm>
          <a:custGeom>
            <a:avLst/>
            <a:gdLst/>
            <a:ahLst/>
            <a:cxnLst/>
            <a:rect l="l" t="t" r="r" b="b"/>
            <a:pathLst>
              <a:path w="18" h="18">
                <a:moveTo>
                  <a:pt x="18" y="9"/>
                </a:moveTo>
                <a:lnTo>
                  <a:pt x="0" y="18"/>
                </a:lnTo>
                <a:lnTo>
                  <a:pt x="5" y="9"/>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HiCache"/>
          <p:cNvSpPr txBox="1"/>
          <p:nvPr/>
        </p:nvSpPr>
        <p:spPr>
          <a:xfrm>
            <a:off x="10799040" y="4145896"/>
            <a:ext cx="990640" cy="261511"/>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HiCache</a:t>
            </a:r>
          </a:p>
        </p:txBody>
      </p:sp>
      <p:sp>
        <p:nvSpPr>
          <p:cNvPr id="353" name="polygon 352"/>
          <p:cNvSpPr/>
          <p:nvPr/>
        </p:nvSpPr>
        <p:spPr>
          <a:xfrm>
            <a:off x="10782310" y="4579190"/>
            <a:ext cx="1024100" cy="482790"/>
          </a:xfrm>
          <a:custGeom>
            <a:avLst/>
            <a:gdLst/>
            <a:ahLst/>
            <a:cxnLst/>
            <a:rect l="l" t="t" r="r" b="b"/>
            <a:pathLst>
              <a:path w="140" h="66">
                <a:moveTo>
                  <a:pt x="12" y="0"/>
                </a:moveTo>
                <a:lnTo>
                  <a:pt x="128" y="0"/>
                </a:lnTo>
                <a:lnTo>
                  <a:pt x="140" y="12"/>
                </a:lnTo>
                <a:lnTo>
                  <a:pt x="140" y="54"/>
                </a:lnTo>
                <a:lnTo>
                  <a:pt x="128" y="66"/>
                </a:lnTo>
                <a:lnTo>
                  <a:pt x="12" y="66"/>
                </a:lnTo>
                <a:lnTo>
                  <a:pt x="0" y="54"/>
                </a:lnTo>
                <a:lnTo>
                  <a:pt x="0" y="12"/>
                </a:lnTo>
                <a:close/>
              </a:path>
            </a:pathLst>
          </a:custGeom>
          <a:solidFill>
            <a:srgbClr val="D9D9D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4" name="DMA"/>
          <p:cNvSpPr txBox="1"/>
          <p:nvPr/>
        </p:nvSpPr>
        <p:spPr>
          <a:xfrm>
            <a:off x="11003303" y="4614056"/>
            <a:ext cx="582114" cy="252368"/>
          </a:xfrm>
          <a:prstGeom prst="rect">
            <a:avLst/>
          </a:prstGeom>
          <a:noFill/>
          <a:effectLst/>
        </p:spPr>
        <p:txBody>
          <a:bodyPr wrap="none" lIns="0" rIns="0" tIns="0" bIns="0" anchor="t">
            <a:spAutoFit/>
          </a:bodyPr>
          <a:lstStyle/>
          <a:p>
            <a:pPr algn="ctr">
              <a:lnSpc>
                <a:spcPct val="100000"/>
              </a:lnSpc>
              <a:spcBef>
                <a:spcPts val="0"/>
              </a:spcBef>
              <a:spcAft>
                <a:spcPts val="0"/>
              </a:spcAft>
            </a:pPr>
            <a:r>
              <a:rPr sz="1497" b="1" i="0" lang="en-US" spc="0">
                <a:solidFill>
                  <a:srgbClr val="000000"/>
                </a:solidFill>
                <a:latin typeface="DejaVu Sans"/>
                <a:ea typeface="DejaVu Sans"/>
                <a:effectLst/>
              </a:rPr>
              <a:t>DMA</a:t>
            </a:r>
          </a:p>
        </p:txBody>
      </p:sp>
      <p:cxnSp>
        <p:nvCxnSpPr>
          <p:cNvPr id="355" name="line 354"/>
          <p:cNvCxnSpPr/>
          <p:nvPr/>
        </p:nvCxnSpPr>
        <p:spPr>
          <a:xfrm>
            <a:off x="10723790" y="4844844"/>
            <a:ext cx="109725" cy="0"/>
          </a:xfrm>
          <a:prstGeom prst="line">
            <a:avLst/>
          </a:prstGeom>
          <a:ln w="14630">
            <a:solidFill>
              <a:srgbClr val="156082"/>
            </a:solidFill>
          </a:ln>
          <a:effectLst/>
        </p:spPr>
        <p:style>
          <a:lnRef idx="2">
            <a:schemeClr val="accent1"/>
          </a:lnRef>
          <a:fillRef idx="0">
            <a:schemeClr val="accent1"/>
          </a:fillRef>
          <a:effectRef idx="0">
            <a:schemeClr val="accent1"/>
          </a:effectRef>
          <a:fontRef idx="minor">
            <a:schemeClr val="tx1"/>
          </a:fontRef>
        </p:style>
      </p:cxnSp>
      <p:cxnSp>
        <p:nvCxnSpPr>
          <p:cNvPr id="356" name="line 355"/>
          <p:cNvCxnSpPr/>
          <p:nvPr/>
        </p:nvCxnSpPr>
        <p:spPr>
          <a:xfrm>
            <a:off x="11755205" y="4844844"/>
            <a:ext cx="109725" cy="0"/>
          </a:xfrm>
          <a:prstGeom prst="line">
            <a:avLst/>
          </a:prstGeom>
          <a:ln w="14630">
            <a:solidFill>
              <a:srgbClr val="156082"/>
            </a:solidFill>
          </a:ln>
          <a:effectLst/>
        </p:spPr>
        <p:style>
          <a:lnRef idx="2">
            <a:schemeClr val="accent1"/>
          </a:lnRef>
          <a:fillRef idx="0">
            <a:schemeClr val="accent1"/>
          </a:fillRef>
          <a:effectRef idx="0">
            <a:schemeClr val="accent1"/>
          </a:effectRef>
          <a:fontRef idx="minor">
            <a:schemeClr val="tx1"/>
          </a:fontRef>
        </p:style>
      </p:cxnSp>
      <p:cxnSp>
        <p:nvCxnSpPr>
          <p:cNvPr id="357" name="line 356"/>
          <p:cNvCxnSpPr/>
          <p:nvPr/>
        </p:nvCxnSpPr>
        <p:spPr>
          <a:xfrm>
            <a:off x="10723790" y="4896049"/>
            <a:ext cx="109725" cy="0"/>
          </a:xfrm>
          <a:prstGeom prst="line">
            <a:avLst/>
          </a:prstGeom>
          <a:ln w="14630">
            <a:solidFill>
              <a:srgbClr val="156082"/>
            </a:solidFill>
          </a:ln>
          <a:effectLst/>
        </p:spPr>
        <p:style>
          <a:lnRef idx="2">
            <a:schemeClr val="accent1"/>
          </a:lnRef>
          <a:fillRef idx="0">
            <a:schemeClr val="accent1"/>
          </a:fillRef>
          <a:effectRef idx="0">
            <a:schemeClr val="accent1"/>
          </a:effectRef>
          <a:fontRef idx="minor">
            <a:schemeClr val="tx1"/>
          </a:fontRef>
        </p:style>
      </p:cxnSp>
      <p:cxnSp>
        <p:nvCxnSpPr>
          <p:cNvPr id="358" name="line 357"/>
          <p:cNvCxnSpPr/>
          <p:nvPr/>
        </p:nvCxnSpPr>
        <p:spPr>
          <a:xfrm>
            <a:off x="11755205" y="4896049"/>
            <a:ext cx="109725" cy="0"/>
          </a:xfrm>
          <a:prstGeom prst="line">
            <a:avLst/>
          </a:prstGeom>
          <a:ln w="14630">
            <a:solidFill>
              <a:srgbClr val="156082"/>
            </a:solidFill>
          </a:ln>
          <a:effectLst/>
        </p:spPr>
        <p:style>
          <a:lnRef idx="2">
            <a:schemeClr val="accent1"/>
          </a:lnRef>
          <a:fillRef idx="0">
            <a:schemeClr val="accent1"/>
          </a:fillRef>
          <a:effectRef idx="0">
            <a:schemeClr val="accent1"/>
          </a:effectRef>
          <a:fontRef idx="minor">
            <a:schemeClr val="tx1"/>
          </a:fontRef>
        </p:style>
      </p:cxnSp>
      <p:cxnSp>
        <p:nvCxnSpPr>
          <p:cNvPr id="359" name="line 358"/>
          <p:cNvCxnSpPr/>
          <p:nvPr/>
        </p:nvCxnSpPr>
        <p:spPr>
          <a:xfrm>
            <a:off x="10723790" y="4947254"/>
            <a:ext cx="109725" cy="0"/>
          </a:xfrm>
          <a:prstGeom prst="line">
            <a:avLst/>
          </a:prstGeom>
          <a:ln w="14630">
            <a:solidFill>
              <a:srgbClr val="156082"/>
            </a:solidFill>
          </a:ln>
          <a:effectLst/>
        </p:spPr>
        <p:style>
          <a:lnRef idx="2">
            <a:schemeClr val="accent1"/>
          </a:lnRef>
          <a:fillRef idx="0">
            <a:schemeClr val="accent1"/>
          </a:fillRef>
          <a:effectRef idx="0">
            <a:schemeClr val="accent1"/>
          </a:effectRef>
          <a:fontRef idx="minor">
            <a:schemeClr val="tx1"/>
          </a:fontRef>
        </p:style>
      </p:cxnSp>
      <p:cxnSp>
        <p:nvCxnSpPr>
          <p:cNvPr id="360" name="line 359"/>
          <p:cNvCxnSpPr/>
          <p:nvPr/>
        </p:nvCxnSpPr>
        <p:spPr>
          <a:xfrm>
            <a:off x="11755205" y="4947254"/>
            <a:ext cx="109725" cy="0"/>
          </a:xfrm>
          <a:prstGeom prst="line">
            <a:avLst/>
          </a:prstGeom>
          <a:ln w="14630">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361" name="curve 360"/>
          <p:cNvSpPr/>
          <p:nvPr/>
        </p:nvSpPr>
        <p:spPr>
          <a:xfrm>
            <a:off x="9787470" y="3993990"/>
            <a:ext cx="460845" cy="1331330"/>
          </a:xfrm>
          <a:custGeom>
            <a:avLst/>
            <a:gdLst/>
            <a:ahLst/>
            <a:cxnLst/>
            <a:rect l="l" t="t" r="r" b="b"/>
            <a:pathLst>
              <a:path w="63" h="182">
                <a:moveTo>
                  <a:pt x="51" y="0"/>
                </a:moveTo>
                <a:cubicBezTo>
                  <a:pt x="0" y="58"/>
                  <a:pt x="7" y="138"/>
                  <a:pt x="32" y="167"/>
                </a:cubicBezTo>
                <a:lnTo>
                  <a:pt x="26" y="172"/>
                </a:lnTo>
                <a:lnTo>
                  <a:pt x="57" y="182"/>
                </a:lnTo>
                <a:lnTo>
                  <a:pt x="51" y="150"/>
                </a:lnTo>
                <a:lnTo>
                  <a:pt x="45" y="155"/>
                </a:lnTo>
                <a:cubicBezTo>
                  <a:pt x="20" y="127"/>
                  <a:pt x="12" y="70"/>
                  <a:pt x="63" y="12"/>
                </a:cubicBezTo>
                <a:close/>
              </a:path>
            </a:pathLst>
          </a:custGeom>
          <a:solidFill>
            <a:srgbClr val="F2AA84"/>
          </a:solidFill>
          <a:ln w="1097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curve 361"/>
          <p:cNvSpPr/>
          <p:nvPr/>
        </p:nvSpPr>
        <p:spPr>
          <a:xfrm>
            <a:off x="12340405" y="4037880"/>
            <a:ext cx="446215" cy="1324015"/>
          </a:xfrm>
          <a:custGeom>
            <a:avLst/>
            <a:gdLst/>
            <a:ahLst/>
            <a:cxnLst/>
            <a:rect l="l" t="t" r="r" b="b"/>
            <a:pathLst>
              <a:path w="61" h="181">
                <a:moveTo>
                  <a:pt x="14" y="181"/>
                </a:moveTo>
                <a:cubicBezTo>
                  <a:pt x="61" y="123"/>
                  <a:pt x="55" y="46"/>
                  <a:pt x="31" y="16"/>
                </a:cubicBezTo>
                <a:lnTo>
                  <a:pt x="38" y="11"/>
                </a:lnTo>
                <a:lnTo>
                  <a:pt x="7" y="0"/>
                </a:lnTo>
                <a:lnTo>
                  <a:pt x="11" y="32"/>
                </a:lnTo>
                <a:lnTo>
                  <a:pt x="18" y="27"/>
                </a:lnTo>
                <a:cubicBezTo>
                  <a:pt x="42" y="57"/>
                  <a:pt x="47" y="113"/>
                  <a:pt x="0" y="171"/>
                </a:cubicBezTo>
                <a:close/>
              </a:path>
            </a:pathLst>
          </a:custGeom>
          <a:solidFill>
            <a:srgbClr val="F2AA84"/>
          </a:solidFill>
          <a:ln w="1097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D2H"/>
          <p:cNvSpPr txBox="1"/>
          <p:nvPr/>
        </p:nvSpPr>
        <p:spPr>
          <a:xfrm>
            <a:off x="10127360" y="4240991"/>
            <a:ext cx="519879" cy="243224"/>
          </a:xfrm>
          <a:prstGeom prst="rect">
            <a:avLst/>
          </a:prstGeom>
          <a:noFill/>
          <a:effectLst/>
        </p:spPr>
        <p:txBody>
          <a:bodyPr wrap="none" lIns="0" rIns="0" tIns="0" bIns="0" anchor="t">
            <a:spAutoFit/>
          </a:bodyPr>
          <a:lstStyle/>
          <a:p>
            <a:pPr algn="ctr">
              <a:lnSpc>
                <a:spcPct val="100000"/>
              </a:lnSpc>
              <a:spcBef>
                <a:spcPts val="0"/>
              </a:spcBef>
              <a:spcAft>
                <a:spcPts val="0"/>
              </a:spcAft>
            </a:pPr>
            <a:r>
              <a:rPr sz="1439" b="1" i="0" lang="en-US" spc="0">
                <a:solidFill>
                  <a:srgbClr val="000000"/>
                </a:solidFill>
                <a:latin typeface="DejaVu Sans"/>
                <a:ea typeface="DejaVu Sans"/>
                <a:effectLst/>
              </a:rPr>
              <a:t>D2H</a:t>
            </a:r>
          </a:p>
        </p:txBody>
      </p:sp>
      <p:sp>
        <p:nvSpPr>
          <p:cNvPr id="364" name="H2D"/>
          <p:cNvSpPr txBox="1"/>
          <p:nvPr/>
        </p:nvSpPr>
        <p:spPr>
          <a:xfrm>
            <a:off x="11853700" y="4240991"/>
            <a:ext cx="519879" cy="243224"/>
          </a:xfrm>
          <a:prstGeom prst="rect">
            <a:avLst/>
          </a:prstGeom>
          <a:noFill/>
          <a:effectLst/>
        </p:spPr>
        <p:txBody>
          <a:bodyPr wrap="none" lIns="0" rIns="0" tIns="0" bIns="0" anchor="t">
            <a:spAutoFit/>
          </a:bodyPr>
          <a:lstStyle/>
          <a:p>
            <a:pPr algn="ctr">
              <a:lnSpc>
                <a:spcPct val="100000"/>
              </a:lnSpc>
              <a:spcBef>
                <a:spcPts val="0"/>
              </a:spcBef>
              <a:spcAft>
                <a:spcPts val="0"/>
              </a:spcAft>
            </a:pPr>
            <a:r>
              <a:rPr sz="1439" b="1" i="0" lang="en-US" spc="0">
                <a:solidFill>
                  <a:srgbClr val="000000"/>
                </a:solidFill>
                <a:latin typeface="DejaVu Sans"/>
                <a:ea typeface="DejaVu Sans"/>
                <a:effectLst/>
              </a:rPr>
              <a:t>H2D</a:t>
            </a:r>
          </a:p>
        </p:txBody>
      </p:sp>
      <p:sp>
        <p:nvSpPr>
          <p:cNvPr id="365" name="curve 364"/>
          <p:cNvSpPr/>
          <p:nvPr/>
        </p:nvSpPr>
        <p:spPr>
          <a:xfrm>
            <a:off x="9399775" y="4601135"/>
            <a:ext cx="1287440" cy="204820"/>
          </a:xfrm>
          <a:custGeom>
            <a:avLst/>
            <a:gdLst/>
            <a:ahLst/>
            <a:cxnLst/>
            <a:rect l="l" t="t" r="r" b="b"/>
            <a:pathLst>
              <a:path w="176" h="28">
                <a:moveTo>
                  <a:pt x="0" y="0"/>
                </a:moveTo>
                <a:lnTo>
                  <a:pt x="32" y="0"/>
                </a:lnTo>
                <a:cubicBezTo>
                  <a:pt x="37" y="0"/>
                  <a:pt x="41" y="4"/>
                  <a:pt x="41" y="9"/>
                </a:cubicBezTo>
                <a:lnTo>
                  <a:pt x="41" y="19"/>
                </a:lnTo>
                <a:cubicBezTo>
                  <a:pt x="41" y="24"/>
                  <a:pt x="45" y="28"/>
                  <a:pt x="50" y="28"/>
                </a:cubicBezTo>
                <a:lnTo>
                  <a:pt x="176" y="28"/>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curve 365"/>
          <p:cNvSpPr/>
          <p:nvPr/>
        </p:nvSpPr>
        <p:spPr>
          <a:xfrm>
            <a:off x="9399775" y="4601135"/>
            <a:ext cx="1287440" cy="204820"/>
          </a:xfrm>
          <a:custGeom>
            <a:avLst/>
            <a:gdLst/>
            <a:ahLst/>
            <a:cxnLst/>
            <a:rect l="l" t="t" r="r" b="b"/>
            <a:pathLst>
              <a:path w="176" h="28">
                <a:moveTo>
                  <a:pt x="0" y="0"/>
                </a:moveTo>
                <a:lnTo>
                  <a:pt x="32" y="0"/>
                </a:lnTo>
                <a:cubicBezTo>
                  <a:pt x="37" y="0"/>
                  <a:pt x="41" y="4"/>
                  <a:pt x="41" y="9"/>
                </a:cubicBezTo>
                <a:lnTo>
                  <a:pt x="41" y="19"/>
                </a:lnTo>
                <a:cubicBezTo>
                  <a:pt x="41" y="24"/>
                  <a:pt x="45" y="28"/>
                  <a:pt x="50" y="28"/>
                </a:cubicBezTo>
                <a:lnTo>
                  <a:pt x="176" y="28"/>
                </a:lnTo>
              </a:path>
            </a:pathLst>
          </a:custGeom>
          <a:noFill/>
          <a:ln w="3511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arrowhead 366"/>
          <p:cNvSpPr/>
          <p:nvPr/>
        </p:nvSpPr>
        <p:spPr>
          <a:xfrm>
            <a:off x="10511655" y="4718175"/>
            <a:ext cx="175560" cy="175560"/>
          </a:xfrm>
          <a:custGeom>
            <a:avLst/>
            <a:gdLst/>
            <a:ahLst/>
            <a:cxnLst/>
            <a:rect l="l" t="t" r="r" b="b"/>
            <a:pathLst>
              <a:path w="24" h="24">
                <a:moveTo>
                  <a:pt x="24" y="12"/>
                </a:moveTo>
                <a:lnTo>
                  <a:pt x="0" y="24"/>
                </a:lnTo>
                <a:lnTo>
                  <a:pt x="6" y="12"/>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curve 367"/>
          <p:cNvSpPr/>
          <p:nvPr/>
        </p:nvSpPr>
        <p:spPr>
          <a:xfrm>
            <a:off x="6802950" y="5105870"/>
            <a:ext cx="4491410" cy="2392005"/>
          </a:xfrm>
          <a:custGeom>
            <a:avLst/>
            <a:gdLst/>
            <a:ahLst/>
            <a:cxnLst/>
            <a:rect l="l" t="t" r="r" b="b"/>
            <a:pathLst>
              <a:path w="614" h="327">
                <a:moveTo>
                  <a:pt x="0" y="327"/>
                </a:moveTo>
                <a:lnTo>
                  <a:pt x="16" y="327"/>
                </a:lnTo>
                <a:cubicBezTo>
                  <a:pt x="20" y="327"/>
                  <a:pt x="24" y="323"/>
                  <a:pt x="24" y="319"/>
                </a:cubicBezTo>
                <a:lnTo>
                  <a:pt x="24" y="42"/>
                </a:lnTo>
                <a:cubicBezTo>
                  <a:pt x="24" y="32"/>
                  <a:pt x="32" y="24"/>
                  <a:pt x="42" y="24"/>
                </a:cubicBezTo>
                <a:lnTo>
                  <a:pt x="606" y="24"/>
                </a:lnTo>
                <a:cubicBezTo>
                  <a:pt x="610" y="24"/>
                  <a:pt x="614" y="20"/>
                  <a:pt x="614" y="16"/>
                </a:cubicBezTo>
                <a:lnTo>
                  <a:pt x="614" y="0"/>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curve 368"/>
          <p:cNvSpPr/>
          <p:nvPr/>
        </p:nvSpPr>
        <p:spPr>
          <a:xfrm>
            <a:off x="6802950" y="5105870"/>
            <a:ext cx="4491410" cy="2392005"/>
          </a:xfrm>
          <a:custGeom>
            <a:avLst/>
            <a:gdLst/>
            <a:ahLst/>
            <a:cxnLst/>
            <a:rect l="l" t="t" r="r" b="b"/>
            <a:pathLst>
              <a:path w="614" h="327">
                <a:moveTo>
                  <a:pt x="0" y="327"/>
                </a:moveTo>
                <a:lnTo>
                  <a:pt x="16" y="327"/>
                </a:lnTo>
                <a:cubicBezTo>
                  <a:pt x="20" y="327"/>
                  <a:pt x="24" y="323"/>
                  <a:pt x="24" y="319"/>
                </a:cubicBezTo>
                <a:lnTo>
                  <a:pt x="24" y="42"/>
                </a:lnTo>
                <a:cubicBezTo>
                  <a:pt x="24" y="32"/>
                  <a:pt x="32" y="24"/>
                  <a:pt x="42" y="24"/>
                </a:cubicBezTo>
                <a:lnTo>
                  <a:pt x="606" y="24"/>
                </a:lnTo>
                <a:cubicBezTo>
                  <a:pt x="610" y="24"/>
                  <a:pt x="614" y="20"/>
                  <a:pt x="614" y="16"/>
                </a:cubicBezTo>
                <a:lnTo>
                  <a:pt x="614" y="0"/>
                </a:lnTo>
              </a:path>
            </a:pathLst>
          </a:custGeom>
          <a:noFill/>
          <a:ln w="3511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arrowhead 369"/>
          <p:cNvSpPr/>
          <p:nvPr/>
        </p:nvSpPr>
        <p:spPr>
          <a:xfrm>
            <a:off x="11250470" y="5105870"/>
            <a:ext cx="87780" cy="87780"/>
          </a:xfrm>
          <a:custGeom>
            <a:avLst/>
            <a:gdLst/>
            <a:ahLst/>
            <a:cxnLst/>
            <a:rect l="l" t="t" r="r" b="b"/>
            <a:pathLst>
              <a:path w="12" h="12">
                <a:moveTo>
                  <a:pt x="6" y="0"/>
                </a:moveTo>
                <a:lnTo>
                  <a:pt x="12" y="12"/>
                </a:lnTo>
                <a:lnTo>
                  <a:pt x="6" y="9"/>
                </a:lnTo>
                <a:lnTo>
                  <a:pt x="0" y="12"/>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rect 370"/>
          <p:cNvSpPr/>
          <p:nvPr/>
        </p:nvSpPr>
        <p:spPr>
          <a:xfrm>
            <a:off x="7212590" y="6920110"/>
            <a:ext cx="5588660" cy="1082620"/>
          </a:xfrm>
          <a:prstGeom prst="roundRect">
            <a:avLst>
              <a:gd name="adj" fmla="val 5405"/>
            </a:avLst>
          </a:prstGeom>
          <a:solidFill>
            <a:srgbClr val="FFFFFF"/>
          </a:solidFill>
          <a:ln w="14630">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rect 371"/>
          <p:cNvSpPr/>
          <p:nvPr/>
        </p:nvSpPr>
        <p:spPr>
          <a:xfrm>
            <a:off x="7219905" y="6927425"/>
            <a:ext cx="5574030" cy="263340"/>
          </a:xfrm>
          <a:prstGeom prst="roundRect">
            <a:avLst>
              <a:gd name="adj" fmla="val 19444"/>
            </a:avLst>
          </a:prstGeom>
          <a:solidFill>
            <a:srgbClr val="D9F2D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rect 372"/>
          <p:cNvSpPr/>
          <p:nvPr/>
        </p:nvSpPr>
        <p:spPr>
          <a:xfrm>
            <a:off x="7219905" y="7055438"/>
            <a:ext cx="5574030" cy="135328"/>
          </a:xfrm>
          <a:prstGeom prst="rect">
            <a:avLst/>
          </a:prstGeom>
          <a:solidFill>
            <a:srgbClr val="D9F2D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74" name="line 373"/>
          <p:cNvCxnSpPr/>
          <p:nvPr/>
        </p:nvCxnSpPr>
        <p:spPr>
          <a:xfrm>
            <a:off x="7219905" y="7190765"/>
            <a:ext cx="5574030" cy="0"/>
          </a:xfrm>
          <a:prstGeom prst="line">
            <a:avLst/>
          </a:prstGeom>
          <a:ln w="8778">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375" name="Native admission"/>
          <p:cNvSpPr txBox="1"/>
          <p:nvPr/>
        </p:nvSpPr>
        <p:spPr>
          <a:xfrm>
            <a:off x="7315000" y="6937593"/>
            <a:ext cx="1936246" cy="252368"/>
          </a:xfrm>
          <a:prstGeom prst="rect">
            <a:avLst/>
          </a:prstGeom>
          <a:noFill/>
          <a:effectLst/>
        </p:spPr>
        <p:txBody>
          <a:bodyPr wrap="none" lIns="0" rIns="0" tIns="0" bIns="0" anchor="t">
            <a:spAutoFit/>
          </a:bodyPr>
          <a:lstStyle/>
          <a:p>
            <a:pPr algn="l">
              <a:lnSpc>
                <a:spcPct val="100000"/>
              </a:lnSpc>
              <a:spcBef>
                <a:spcPts val="0"/>
              </a:spcBef>
              <a:spcAft>
                <a:spcPts val="0"/>
              </a:spcAft>
            </a:pPr>
            <a:r>
              <a:rPr sz="1497" b="1" i="0" lang="en-US" spc="0">
                <a:solidFill>
                  <a:srgbClr val="000000"/>
                </a:solidFill>
                <a:latin typeface="DejaVu Sans"/>
                <a:ea typeface="DejaVu Sans"/>
                <a:effectLst/>
              </a:rPr>
              <a:t>Native admission</a:t>
            </a:r>
          </a:p>
        </p:txBody>
      </p:sp>
      <p:sp>
        <p:nvSpPr>
          <p:cNvPr id="376" name="rect 375"/>
          <p:cNvSpPr/>
          <p:nvPr/>
        </p:nvSpPr>
        <p:spPr>
          <a:xfrm>
            <a:off x="7336945" y="7307805"/>
            <a:ext cx="1521520" cy="182875"/>
          </a:xfrm>
          <a:prstGeom prst="roundRect">
            <a:avLst>
              <a:gd name="adj" fmla="val 8000"/>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rect 376"/>
          <p:cNvSpPr/>
          <p:nvPr/>
        </p:nvSpPr>
        <p:spPr>
          <a:xfrm>
            <a:off x="7344260" y="7315120"/>
            <a:ext cx="73150" cy="168245"/>
          </a:xfrm>
          <a:prstGeom prst="rect">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P"/>
          <p:cNvSpPr txBox="1"/>
          <p:nvPr/>
        </p:nvSpPr>
        <p:spPr>
          <a:xfrm>
            <a:off x="7593241" y="7316656"/>
            <a:ext cx="189647" cy="192019"/>
          </a:xfrm>
          <a:prstGeom prst="rect">
            <a:avLst/>
          </a:prstGeom>
          <a:noFill/>
          <a:effectLst/>
        </p:spPr>
        <p:txBody>
          <a:bodyPr wrap="none" lIns="0" rIns="0" tIns="0" bIns="0" anchor="t">
            <a:spAutoFit/>
          </a:bodyPr>
          <a:lstStyle/>
          <a:p>
            <a:pPr algn="ctr">
              <a:lnSpc>
                <a:spcPct val="100000"/>
              </a:lnSpc>
              <a:spcBef>
                <a:spcPts val="0"/>
              </a:spcBef>
              <a:spcAft>
                <a:spcPts val="0"/>
              </a:spcAft>
            </a:pPr>
            <a:r>
              <a:rPr sz="1094" b="1" i="0" lang="en-US" spc="0">
                <a:solidFill>
                  <a:srgbClr val="000000"/>
                </a:solidFill>
                <a:latin typeface="DejaVu Sans"/>
                <a:ea typeface="DejaVu Sans"/>
                <a:effectLst/>
              </a:rPr>
              <a:t>P</a:t>
            </a:r>
          </a:p>
        </p:txBody>
      </p:sp>
      <p:sp>
        <p:nvSpPr>
          <p:cNvPr id="379" name="rect 378"/>
          <p:cNvSpPr/>
          <p:nvPr/>
        </p:nvSpPr>
        <p:spPr>
          <a:xfrm>
            <a:off x="8309840" y="7337065"/>
            <a:ext cx="109725" cy="124355"/>
          </a:xfrm>
          <a:prstGeom prst="roundRect">
            <a:avLst>
              <a:gd name="adj" fmla="val 13333"/>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rect 379"/>
          <p:cNvSpPr/>
          <p:nvPr/>
        </p:nvSpPr>
        <p:spPr>
          <a:xfrm>
            <a:off x="8324470" y="7351695"/>
            <a:ext cx="80465" cy="18653"/>
          </a:xfrm>
          <a:prstGeom prst="roundRect">
            <a:avLst>
              <a:gd name="adj" fmla="val 3921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rect 380"/>
          <p:cNvSpPr/>
          <p:nvPr/>
        </p:nvSpPr>
        <p:spPr>
          <a:xfrm>
            <a:off x="8456140" y="7337065"/>
            <a:ext cx="109725" cy="124355"/>
          </a:xfrm>
          <a:prstGeom prst="roundRect">
            <a:avLst>
              <a:gd name="adj" fmla="val 13333"/>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rect 381"/>
          <p:cNvSpPr/>
          <p:nvPr/>
        </p:nvSpPr>
        <p:spPr>
          <a:xfrm>
            <a:off x="8470770" y="7351695"/>
            <a:ext cx="80465" cy="18653"/>
          </a:xfrm>
          <a:prstGeom prst="roundRect">
            <a:avLst>
              <a:gd name="adj" fmla="val 3921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rect 382"/>
          <p:cNvSpPr/>
          <p:nvPr/>
        </p:nvSpPr>
        <p:spPr>
          <a:xfrm>
            <a:off x="8602440" y="7337065"/>
            <a:ext cx="109725" cy="124355"/>
          </a:xfrm>
          <a:prstGeom prst="roundRect">
            <a:avLst>
              <a:gd name="adj" fmla="val 13333"/>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rect 383"/>
          <p:cNvSpPr/>
          <p:nvPr/>
        </p:nvSpPr>
        <p:spPr>
          <a:xfrm>
            <a:off x="8617070" y="7351695"/>
            <a:ext cx="80465" cy="18653"/>
          </a:xfrm>
          <a:prstGeom prst="roundRect">
            <a:avLst>
              <a:gd name="adj" fmla="val 39215"/>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rect 384"/>
          <p:cNvSpPr/>
          <p:nvPr/>
        </p:nvSpPr>
        <p:spPr>
          <a:xfrm>
            <a:off x="7336945" y="7541885"/>
            <a:ext cx="1521520" cy="182875"/>
          </a:xfrm>
          <a:prstGeom prst="roundRect">
            <a:avLst>
              <a:gd name="adj" fmla="val 8000"/>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rect 385"/>
          <p:cNvSpPr/>
          <p:nvPr/>
        </p:nvSpPr>
        <p:spPr>
          <a:xfrm>
            <a:off x="7344260" y="7549200"/>
            <a:ext cx="73150" cy="168245"/>
          </a:xfrm>
          <a:prstGeom prst="rect">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hit"/>
          <p:cNvSpPr txBox="1"/>
          <p:nvPr/>
        </p:nvSpPr>
        <p:spPr>
          <a:xfrm>
            <a:off x="7537665" y="7550736"/>
            <a:ext cx="300801" cy="192019"/>
          </a:xfrm>
          <a:prstGeom prst="rect">
            <a:avLst/>
          </a:prstGeom>
          <a:noFill/>
          <a:effectLst/>
        </p:spPr>
        <p:txBody>
          <a:bodyPr wrap="none" lIns="0" rIns="0" tIns="0" bIns="0" anchor="t">
            <a:spAutoFit/>
          </a:bodyPr>
          <a:lstStyle/>
          <a:p>
            <a:pPr algn="ctr">
              <a:lnSpc>
                <a:spcPct val="100000"/>
              </a:lnSpc>
              <a:spcBef>
                <a:spcPts val="0"/>
              </a:spcBef>
              <a:spcAft>
                <a:spcPts val="0"/>
              </a:spcAft>
            </a:pPr>
            <a:r>
              <a:rPr sz="1094" b="1" i="0" lang="en-US" spc="0">
                <a:solidFill>
                  <a:srgbClr val="000000"/>
                </a:solidFill>
                <a:latin typeface="DejaVu Sans"/>
                <a:ea typeface="DejaVu Sans"/>
                <a:effectLst/>
              </a:rPr>
              <a:t>hit</a:t>
            </a:r>
          </a:p>
        </p:txBody>
      </p:sp>
      <p:sp>
        <p:nvSpPr>
          <p:cNvPr id="388" name="rect 387"/>
          <p:cNvSpPr/>
          <p:nvPr/>
        </p:nvSpPr>
        <p:spPr>
          <a:xfrm>
            <a:off x="8309840" y="7571145"/>
            <a:ext cx="109725" cy="124355"/>
          </a:xfrm>
          <a:prstGeom prst="roundRect">
            <a:avLst>
              <a:gd name="adj" fmla="val 13333"/>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9" name="rect 388"/>
          <p:cNvSpPr/>
          <p:nvPr/>
        </p:nvSpPr>
        <p:spPr>
          <a:xfrm>
            <a:off x="8324470" y="7585775"/>
            <a:ext cx="80465" cy="18653"/>
          </a:xfrm>
          <a:prstGeom prst="roundRect">
            <a:avLst>
              <a:gd name="adj" fmla="val 39215"/>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0" name="rect 389"/>
          <p:cNvSpPr/>
          <p:nvPr/>
        </p:nvSpPr>
        <p:spPr>
          <a:xfrm>
            <a:off x="8456140" y="7571145"/>
            <a:ext cx="109725" cy="124355"/>
          </a:xfrm>
          <a:prstGeom prst="roundRect">
            <a:avLst>
              <a:gd name="adj" fmla="val 13333"/>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rect 390"/>
          <p:cNvSpPr/>
          <p:nvPr/>
        </p:nvSpPr>
        <p:spPr>
          <a:xfrm>
            <a:off x="8470770" y="7585775"/>
            <a:ext cx="80465" cy="18653"/>
          </a:xfrm>
          <a:prstGeom prst="roundRect">
            <a:avLst>
              <a:gd name="adj" fmla="val 39215"/>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rect 391"/>
          <p:cNvSpPr/>
          <p:nvPr/>
        </p:nvSpPr>
        <p:spPr>
          <a:xfrm>
            <a:off x="8602440" y="7571145"/>
            <a:ext cx="109725" cy="124355"/>
          </a:xfrm>
          <a:prstGeom prst="roundRect">
            <a:avLst>
              <a:gd name="adj" fmla="val 13333"/>
            </a:avLst>
          </a:prstGeom>
          <a:solidFill>
            <a:srgbClr val="D7AEFF"/>
          </a:solidFill>
          <a:ln w="1170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rect 392"/>
          <p:cNvSpPr/>
          <p:nvPr/>
        </p:nvSpPr>
        <p:spPr>
          <a:xfrm>
            <a:off x="8617070" y="7585775"/>
            <a:ext cx="80465" cy="18653"/>
          </a:xfrm>
          <a:prstGeom prst="roundRect">
            <a:avLst>
              <a:gd name="adj" fmla="val 39215"/>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rect 393"/>
          <p:cNvSpPr/>
          <p:nvPr/>
        </p:nvSpPr>
        <p:spPr>
          <a:xfrm>
            <a:off x="7336945" y="7775965"/>
            <a:ext cx="1521520" cy="182875"/>
          </a:xfrm>
          <a:prstGeom prst="roundRect">
            <a:avLst>
              <a:gd name="adj" fmla="val 8000"/>
            </a:avLst>
          </a:prstGeom>
          <a:solidFill>
            <a:srgbClr val="FFFF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rect 394"/>
          <p:cNvSpPr/>
          <p:nvPr/>
        </p:nvSpPr>
        <p:spPr>
          <a:xfrm>
            <a:off x="7344260" y="7783280"/>
            <a:ext cx="73150" cy="168245"/>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old"/>
          <p:cNvSpPr txBox="1"/>
          <p:nvPr/>
        </p:nvSpPr>
        <p:spPr>
          <a:xfrm>
            <a:off x="7522863" y="7784816"/>
            <a:ext cx="330404" cy="192019"/>
          </a:xfrm>
          <a:prstGeom prst="rect">
            <a:avLst/>
          </a:prstGeom>
          <a:noFill/>
          <a:effectLst/>
        </p:spPr>
        <p:txBody>
          <a:bodyPr wrap="none" lIns="0" rIns="0" tIns="0" bIns="0" anchor="t">
            <a:spAutoFit/>
          </a:bodyPr>
          <a:lstStyle/>
          <a:p>
            <a:pPr algn="ctr">
              <a:lnSpc>
                <a:spcPct val="100000"/>
              </a:lnSpc>
              <a:spcBef>
                <a:spcPts val="0"/>
              </a:spcBef>
              <a:spcAft>
                <a:spcPts val="0"/>
              </a:spcAft>
            </a:pPr>
            <a:r>
              <a:rPr sz="1094" b="1" i="0" lang="en-US" spc="0">
                <a:solidFill>
                  <a:srgbClr val="000000"/>
                </a:solidFill>
                <a:latin typeface="DejaVu Sans"/>
                <a:ea typeface="DejaVu Sans"/>
                <a:effectLst/>
              </a:rPr>
              <a:t>old</a:t>
            </a:r>
          </a:p>
        </p:txBody>
      </p:sp>
      <p:sp>
        <p:nvSpPr>
          <p:cNvPr id="397" name="rect 396"/>
          <p:cNvSpPr/>
          <p:nvPr/>
        </p:nvSpPr>
        <p:spPr>
          <a:xfrm>
            <a:off x="8309840" y="7805225"/>
            <a:ext cx="109725" cy="124355"/>
          </a:xfrm>
          <a:prstGeom prst="roundRect">
            <a:avLst>
              <a:gd name="adj" fmla="val 13333"/>
            </a:avLst>
          </a:prstGeom>
          <a:solidFill>
            <a:srgbClr val="FFFFFF"/>
          </a:solidFill>
          <a:ln w="11704">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rect 397"/>
          <p:cNvSpPr/>
          <p:nvPr/>
        </p:nvSpPr>
        <p:spPr>
          <a:xfrm>
            <a:off x="8324470" y="7819855"/>
            <a:ext cx="80465" cy="18653"/>
          </a:xfrm>
          <a:prstGeom prst="roundRect">
            <a:avLst>
              <a:gd name="adj" fmla="val 39215"/>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rect 398"/>
          <p:cNvSpPr/>
          <p:nvPr/>
        </p:nvSpPr>
        <p:spPr>
          <a:xfrm>
            <a:off x="8456140" y="7805225"/>
            <a:ext cx="109725" cy="124355"/>
          </a:xfrm>
          <a:prstGeom prst="roundRect">
            <a:avLst>
              <a:gd name="adj" fmla="val 13333"/>
            </a:avLst>
          </a:prstGeom>
          <a:solidFill>
            <a:srgbClr val="FFFFFF"/>
          </a:solidFill>
          <a:ln w="11704">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rect 399"/>
          <p:cNvSpPr/>
          <p:nvPr/>
        </p:nvSpPr>
        <p:spPr>
          <a:xfrm>
            <a:off x="8470770" y="7819855"/>
            <a:ext cx="80465" cy="18653"/>
          </a:xfrm>
          <a:prstGeom prst="roundRect">
            <a:avLst>
              <a:gd name="adj" fmla="val 39215"/>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rect 400"/>
          <p:cNvSpPr/>
          <p:nvPr/>
        </p:nvSpPr>
        <p:spPr>
          <a:xfrm>
            <a:off x="8602440" y="7805225"/>
            <a:ext cx="109725" cy="124355"/>
          </a:xfrm>
          <a:prstGeom prst="roundRect">
            <a:avLst>
              <a:gd name="adj" fmla="val 13333"/>
            </a:avLst>
          </a:prstGeom>
          <a:solidFill>
            <a:srgbClr val="FFFFFF"/>
          </a:solidFill>
          <a:ln w="11704">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rect 401"/>
          <p:cNvSpPr/>
          <p:nvPr/>
        </p:nvSpPr>
        <p:spPr>
          <a:xfrm>
            <a:off x="8617070" y="7819855"/>
            <a:ext cx="80465" cy="18653"/>
          </a:xfrm>
          <a:prstGeom prst="roundRect">
            <a:avLst>
              <a:gd name="adj" fmla="val 39215"/>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curve 402"/>
          <p:cNvSpPr/>
          <p:nvPr/>
        </p:nvSpPr>
        <p:spPr>
          <a:xfrm>
            <a:off x="8902355" y="7402780"/>
            <a:ext cx="563255" cy="226765"/>
          </a:xfrm>
          <a:custGeom>
            <a:avLst/>
            <a:gdLst/>
            <a:ahLst/>
            <a:cxnLst/>
            <a:rect l="l" t="t" r="r" b="b"/>
            <a:pathLst>
              <a:path w="77" h="31">
                <a:moveTo>
                  <a:pt x="0" y="0"/>
                </a:moveTo>
                <a:lnTo>
                  <a:pt x="23" y="0"/>
                </a:lnTo>
                <a:cubicBezTo>
                  <a:pt x="28" y="0"/>
                  <a:pt x="33" y="5"/>
                  <a:pt x="33" y="10"/>
                </a:cubicBezTo>
                <a:lnTo>
                  <a:pt x="33" y="21"/>
                </a:lnTo>
                <a:cubicBezTo>
                  <a:pt x="33" y="26"/>
                  <a:pt x="38" y="31"/>
                  <a:pt x="43" y="31"/>
                </a:cubicBezTo>
                <a:lnTo>
                  <a:pt x="77" y="31"/>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4" name="curve 403"/>
          <p:cNvSpPr/>
          <p:nvPr/>
        </p:nvSpPr>
        <p:spPr>
          <a:xfrm>
            <a:off x="8902355" y="7402780"/>
            <a:ext cx="563255" cy="226765"/>
          </a:xfrm>
          <a:custGeom>
            <a:avLst/>
            <a:gdLst/>
            <a:ahLst/>
            <a:cxnLst/>
            <a:rect l="l" t="t" r="r" b="b"/>
            <a:pathLst>
              <a:path w="77" h="31">
                <a:moveTo>
                  <a:pt x="0" y="0"/>
                </a:moveTo>
                <a:lnTo>
                  <a:pt x="23" y="0"/>
                </a:lnTo>
                <a:cubicBezTo>
                  <a:pt x="28" y="0"/>
                  <a:pt x="33" y="5"/>
                  <a:pt x="33" y="10"/>
                </a:cubicBezTo>
                <a:lnTo>
                  <a:pt x="33" y="21"/>
                </a:lnTo>
                <a:cubicBezTo>
                  <a:pt x="33" y="26"/>
                  <a:pt x="38" y="31"/>
                  <a:pt x="43" y="31"/>
                </a:cubicBezTo>
                <a:lnTo>
                  <a:pt x="77" y="31"/>
                </a:lnTo>
              </a:path>
            </a:pathLst>
          </a:custGeom>
          <a:noFill/>
          <a:ln w="3511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5" name="arrowhead 404"/>
          <p:cNvSpPr/>
          <p:nvPr/>
        </p:nvSpPr>
        <p:spPr>
          <a:xfrm>
            <a:off x="9333940" y="7563710"/>
            <a:ext cx="131670" cy="131670"/>
          </a:xfrm>
          <a:custGeom>
            <a:avLst/>
            <a:gdLst/>
            <a:ahLst/>
            <a:cxnLst/>
            <a:rect l="l" t="t" r="r" b="b"/>
            <a:pathLst>
              <a:path w="18" h="18">
                <a:moveTo>
                  <a:pt x="18" y="9"/>
                </a:moveTo>
                <a:lnTo>
                  <a:pt x="0" y="18"/>
                </a:lnTo>
                <a:lnTo>
                  <a:pt x="4" y="9"/>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06" name="path 405"/>
          <p:cNvCxnSpPr/>
          <p:nvPr/>
        </p:nvCxnSpPr>
        <p:spPr>
          <a:xfrm>
            <a:off x="8902355" y="7629665"/>
            <a:ext cx="563255"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07" name="path 406"/>
          <p:cNvCxnSpPr/>
          <p:nvPr/>
        </p:nvCxnSpPr>
        <p:spPr>
          <a:xfrm>
            <a:off x="8902355" y="7629665"/>
            <a:ext cx="563255" cy="0"/>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408" name="arrowhead 407"/>
          <p:cNvSpPr/>
          <p:nvPr/>
        </p:nvSpPr>
        <p:spPr>
          <a:xfrm>
            <a:off x="9333940" y="7563710"/>
            <a:ext cx="131670" cy="131670"/>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curve 408"/>
          <p:cNvSpPr/>
          <p:nvPr/>
        </p:nvSpPr>
        <p:spPr>
          <a:xfrm>
            <a:off x="8902355" y="7717325"/>
            <a:ext cx="563255" cy="153615"/>
          </a:xfrm>
          <a:custGeom>
            <a:avLst/>
            <a:gdLst/>
            <a:ahLst/>
            <a:cxnLst/>
            <a:rect l="l" t="t" r="r" b="b"/>
            <a:pathLst>
              <a:path w="77" h="21">
                <a:moveTo>
                  <a:pt x="0" y="21"/>
                </a:moveTo>
                <a:lnTo>
                  <a:pt x="26" y="21"/>
                </a:lnTo>
                <a:cubicBezTo>
                  <a:pt x="30" y="21"/>
                  <a:pt x="33" y="18"/>
                  <a:pt x="33" y="14"/>
                </a:cubicBezTo>
                <a:lnTo>
                  <a:pt x="33" y="7"/>
                </a:lnTo>
                <a:cubicBezTo>
                  <a:pt x="33" y="3"/>
                  <a:pt x="36" y="0"/>
                  <a:pt x="40" y="0"/>
                </a:cubicBezTo>
                <a:lnTo>
                  <a:pt x="77" y="0"/>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curve 409"/>
          <p:cNvSpPr/>
          <p:nvPr/>
        </p:nvSpPr>
        <p:spPr>
          <a:xfrm>
            <a:off x="8902355" y="7717325"/>
            <a:ext cx="563255" cy="153615"/>
          </a:xfrm>
          <a:custGeom>
            <a:avLst/>
            <a:gdLst/>
            <a:ahLst/>
            <a:cxnLst/>
            <a:rect l="l" t="t" r="r" b="b"/>
            <a:pathLst>
              <a:path w="77" h="21">
                <a:moveTo>
                  <a:pt x="0" y="21"/>
                </a:moveTo>
                <a:lnTo>
                  <a:pt x="26" y="21"/>
                </a:lnTo>
                <a:cubicBezTo>
                  <a:pt x="30" y="21"/>
                  <a:pt x="33" y="18"/>
                  <a:pt x="33" y="14"/>
                </a:cubicBezTo>
                <a:lnTo>
                  <a:pt x="33" y="7"/>
                </a:lnTo>
                <a:cubicBezTo>
                  <a:pt x="33" y="3"/>
                  <a:pt x="36" y="0"/>
                  <a:pt x="40" y="0"/>
                </a:cubicBezTo>
                <a:lnTo>
                  <a:pt x="77" y="0"/>
                </a:lnTo>
              </a:path>
            </a:pathLst>
          </a:custGeom>
          <a:noFill/>
          <a:ln w="3511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arrowhead 410"/>
          <p:cNvSpPr/>
          <p:nvPr/>
        </p:nvSpPr>
        <p:spPr>
          <a:xfrm>
            <a:off x="9333940" y="7651490"/>
            <a:ext cx="131670" cy="131670"/>
          </a:xfrm>
          <a:custGeom>
            <a:avLst/>
            <a:gdLst/>
            <a:ahLst/>
            <a:cxnLst/>
            <a:rect l="l" t="t" r="r" b="b"/>
            <a:pathLst>
              <a:path w="18" h="18">
                <a:moveTo>
                  <a:pt x="0" y="18"/>
                </a:moveTo>
                <a:lnTo>
                  <a:pt x="18" y="9"/>
                </a:lnTo>
                <a:lnTo>
                  <a:pt x="0" y="0"/>
                </a:lnTo>
              </a:path>
            </a:pathLst>
          </a:custGeom>
          <a:noFill/>
          <a:ln w="20574">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KV ∧ slot"/>
          <p:cNvSpPr txBox="1"/>
          <p:nvPr/>
        </p:nvSpPr>
        <p:spPr>
          <a:xfrm>
            <a:off x="9546075" y="7505310"/>
            <a:ext cx="1182458" cy="277970"/>
          </a:xfrm>
          <a:prstGeom prst="rect">
            <a:avLst/>
          </a:prstGeom>
          <a:noFill/>
          <a:effectLst/>
        </p:spPr>
        <p:txBody>
          <a:bodyPr wrap="none" lIns="0" rIns="0" tIns="0" bIns="0" anchor="t">
            <a:spAutoFit/>
          </a:bodyPr>
          <a:lstStyle/>
          <a:p>
            <a:pPr algn="l">
              <a:lnSpc>
                <a:spcPct val="100000"/>
              </a:lnSpc>
              <a:spcBef>
                <a:spcPts val="0"/>
              </a:spcBef>
              <a:spcAft>
                <a:spcPts val="0"/>
              </a:spcAft>
            </a:pPr>
            <a:r>
              <a:rPr sz="1670" b="1" i="0" lang="en-US" spc="0">
                <a:solidFill>
                  <a:srgbClr val="000000"/>
                </a:solidFill>
                <a:latin typeface="DejaVu Sans"/>
                <a:ea typeface="DejaVu Sans"/>
                <a:effectLst/>
              </a:rPr>
              <a:t>KV ∧ slot</a:t>
            </a:r>
          </a:p>
        </p:txBody>
      </p:sp>
      <p:cxnSp>
        <p:nvCxnSpPr>
          <p:cNvPr id="413" name="path 412"/>
          <p:cNvCxnSpPr/>
          <p:nvPr/>
        </p:nvCxnSpPr>
        <p:spPr>
          <a:xfrm>
            <a:off x="10723790" y="7629665"/>
            <a:ext cx="70224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14" name="path 413"/>
          <p:cNvCxnSpPr/>
          <p:nvPr/>
        </p:nvCxnSpPr>
        <p:spPr>
          <a:xfrm>
            <a:off x="10723790" y="7629665"/>
            <a:ext cx="702240" cy="0"/>
          </a:xfrm>
          <a:prstGeom prst="line">
            <a:avLst/>
          </a:prstGeom>
          <a:ln w="3511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415" name="arrowhead 414"/>
          <p:cNvSpPr/>
          <p:nvPr/>
        </p:nvSpPr>
        <p:spPr>
          <a:xfrm>
            <a:off x="11294360" y="7563710"/>
            <a:ext cx="131670" cy="131670"/>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16" name="line 415"/>
          <p:cNvCxnSpPr/>
          <p:nvPr/>
        </p:nvCxnSpPr>
        <p:spPr>
          <a:xfrm>
            <a:off x="11660110" y="7241970"/>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17" name="line 416"/>
          <p:cNvCxnSpPr/>
          <p:nvPr/>
        </p:nvCxnSpPr>
        <p:spPr>
          <a:xfrm>
            <a:off x="11660110" y="7951525"/>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18" name="line 417"/>
          <p:cNvCxnSpPr/>
          <p:nvPr/>
        </p:nvCxnSpPr>
        <p:spPr>
          <a:xfrm>
            <a:off x="11806410" y="7241970"/>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19" name="line 418"/>
          <p:cNvCxnSpPr/>
          <p:nvPr/>
        </p:nvCxnSpPr>
        <p:spPr>
          <a:xfrm>
            <a:off x="11806410" y="7951525"/>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0" name="line 419"/>
          <p:cNvCxnSpPr/>
          <p:nvPr/>
        </p:nvCxnSpPr>
        <p:spPr>
          <a:xfrm>
            <a:off x="11952710" y="7241970"/>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1" name="line 420"/>
          <p:cNvCxnSpPr/>
          <p:nvPr/>
        </p:nvCxnSpPr>
        <p:spPr>
          <a:xfrm>
            <a:off x="11952710" y="7951525"/>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2" name="line 421"/>
          <p:cNvCxnSpPr/>
          <p:nvPr/>
        </p:nvCxnSpPr>
        <p:spPr>
          <a:xfrm>
            <a:off x="12099010" y="7241970"/>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3" name="line 422"/>
          <p:cNvCxnSpPr/>
          <p:nvPr/>
        </p:nvCxnSpPr>
        <p:spPr>
          <a:xfrm>
            <a:off x="12099010" y="7951525"/>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4" name="line 423"/>
          <p:cNvCxnSpPr/>
          <p:nvPr/>
        </p:nvCxnSpPr>
        <p:spPr>
          <a:xfrm>
            <a:off x="12245310" y="7241970"/>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5" name="line 424"/>
          <p:cNvCxnSpPr/>
          <p:nvPr/>
        </p:nvCxnSpPr>
        <p:spPr>
          <a:xfrm>
            <a:off x="12245310" y="7951525"/>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6" name="line 425"/>
          <p:cNvCxnSpPr/>
          <p:nvPr/>
        </p:nvCxnSpPr>
        <p:spPr>
          <a:xfrm>
            <a:off x="12391610" y="7241970"/>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7" name="line 426"/>
          <p:cNvCxnSpPr/>
          <p:nvPr/>
        </p:nvCxnSpPr>
        <p:spPr>
          <a:xfrm>
            <a:off x="12391610" y="7951525"/>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8" name="line 427"/>
          <p:cNvCxnSpPr/>
          <p:nvPr/>
        </p:nvCxnSpPr>
        <p:spPr>
          <a:xfrm>
            <a:off x="12537910" y="7241970"/>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29" name="line 428"/>
          <p:cNvCxnSpPr/>
          <p:nvPr/>
        </p:nvCxnSpPr>
        <p:spPr>
          <a:xfrm>
            <a:off x="12537910" y="7951525"/>
            <a:ext cx="0" cy="7315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0" name="line 429"/>
          <p:cNvCxnSpPr/>
          <p:nvPr/>
        </p:nvCxnSpPr>
        <p:spPr>
          <a:xfrm>
            <a:off x="11484550" y="74248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1" name="line 430"/>
          <p:cNvCxnSpPr/>
          <p:nvPr/>
        </p:nvCxnSpPr>
        <p:spPr>
          <a:xfrm>
            <a:off x="12625690" y="74248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2" name="line 431"/>
          <p:cNvCxnSpPr/>
          <p:nvPr/>
        </p:nvCxnSpPr>
        <p:spPr>
          <a:xfrm>
            <a:off x="11484550" y="75711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3" name="line 432"/>
          <p:cNvCxnSpPr/>
          <p:nvPr/>
        </p:nvCxnSpPr>
        <p:spPr>
          <a:xfrm>
            <a:off x="12625690" y="75711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4" name="line 433"/>
          <p:cNvCxnSpPr/>
          <p:nvPr/>
        </p:nvCxnSpPr>
        <p:spPr>
          <a:xfrm>
            <a:off x="11484550" y="77174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5" name="line 434"/>
          <p:cNvCxnSpPr/>
          <p:nvPr/>
        </p:nvCxnSpPr>
        <p:spPr>
          <a:xfrm>
            <a:off x="12625690" y="77174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6" name="line 435"/>
          <p:cNvCxnSpPr/>
          <p:nvPr/>
        </p:nvCxnSpPr>
        <p:spPr>
          <a:xfrm>
            <a:off x="11484550" y="78637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437" name="line 436"/>
          <p:cNvCxnSpPr/>
          <p:nvPr/>
        </p:nvCxnSpPr>
        <p:spPr>
          <a:xfrm>
            <a:off x="12625690" y="7863745"/>
            <a:ext cx="73150" cy="0"/>
          </a:xfrm>
          <a:prstGeom prst="line">
            <a:avLst/>
          </a:prstGeom>
          <a:ln w="14630">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438" name="rect 437"/>
          <p:cNvSpPr/>
          <p:nvPr/>
        </p:nvSpPr>
        <p:spPr>
          <a:xfrm>
            <a:off x="11557700" y="7315120"/>
            <a:ext cx="1067990" cy="636405"/>
          </a:xfrm>
          <a:prstGeom prst="roundRect">
            <a:avLst>
              <a:gd name="adj" fmla="val 2298"/>
            </a:avLst>
          </a:prstGeom>
          <a:solidFill>
            <a:srgbClr val="A6CAEC"/>
          </a:solidFill>
          <a:ln w="14630">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GPU"/>
          <p:cNvSpPr txBox="1"/>
          <p:nvPr/>
        </p:nvSpPr>
        <p:spPr>
          <a:xfrm>
            <a:off x="11840142" y="7362668"/>
            <a:ext cx="503106" cy="235909"/>
          </a:xfrm>
          <a:prstGeom prst="rect">
            <a:avLst/>
          </a:prstGeom>
          <a:noFill/>
          <a:effectLst/>
        </p:spPr>
        <p:txBody>
          <a:bodyPr wrap="none" lIns="0" rIns="0" tIns="0" bIns="0" anchor="t">
            <a:spAutoFit/>
          </a:bodyPr>
          <a:lstStyle/>
          <a:p>
            <a:pPr algn="ctr">
              <a:lnSpc>
                <a:spcPct val="100000"/>
              </a:lnSpc>
              <a:spcBef>
                <a:spcPts val="0"/>
              </a:spcBef>
              <a:spcAft>
                <a:spcPts val="0"/>
              </a:spcAft>
            </a:pPr>
            <a:r>
              <a:rPr sz="1382" b="1" i="0" lang="en-US" spc="0">
                <a:solidFill>
                  <a:srgbClr val="000000"/>
                </a:solidFill>
                <a:latin typeface="DejaVu Sans"/>
                <a:ea typeface="DejaVu Sans"/>
                <a:effectLst/>
              </a:rPr>
              <a:t>GPU</a:t>
            </a:r>
          </a:p>
        </p:txBody>
      </p:sp>
      <p:sp>
        <p:nvSpPr>
          <p:cNvPr id="440" name="rect 439"/>
          <p:cNvSpPr/>
          <p:nvPr/>
        </p:nvSpPr>
        <p:spPr>
          <a:xfrm>
            <a:off x="11652795" y="7622350"/>
            <a:ext cx="270655" cy="76808"/>
          </a:xfrm>
          <a:prstGeom prst="roundRect">
            <a:avLst>
              <a:gd name="adj" fmla="val 9523"/>
            </a:avLst>
          </a:prstGeom>
          <a:solidFill>
            <a:srgbClr val="A6CAEC"/>
          </a:solidFill>
          <a:ln w="804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rect 440"/>
          <p:cNvSpPr/>
          <p:nvPr/>
        </p:nvSpPr>
        <p:spPr>
          <a:xfrm>
            <a:off x="11955148" y="7622350"/>
            <a:ext cx="270655" cy="76808"/>
          </a:xfrm>
          <a:prstGeom prst="roundRect">
            <a:avLst>
              <a:gd name="adj" fmla="val 9523"/>
            </a:avLst>
          </a:prstGeom>
          <a:solidFill>
            <a:srgbClr val="84E291"/>
          </a:solidFill>
          <a:ln w="804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rect 441"/>
          <p:cNvSpPr/>
          <p:nvPr/>
        </p:nvSpPr>
        <p:spPr>
          <a:xfrm>
            <a:off x="12257502" y="7622350"/>
            <a:ext cx="270655" cy="76808"/>
          </a:xfrm>
          <a:prstGeom prst="roundRect">
            <a:avLst>
              <a:gd name="adj" fmla="val 9523"/>
            </a:avLst>
          </a:prstGeom>
          <a:solidFill>
            <a:srgbClr val="F6C6AD"/>
          </a:solidFill>
          <a:ln w="804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rect 442"/>
          <p:cNvSpPr/>
          <p:nvPr/>
        </p:nvSpPr>
        <p:spPr>
          <a:xfrm>
            <a:off x="11652795" y="7746705"/>
            <a:ext cx="270655" cy="76808"/>
          </a:xfrm>
          <a:prstGeom prst="roundRect">
            <a:avLst>
              <a:gd name="adj" fmla="val 9523"/>
            </a:avLst>
          </a:prstGeom>
          <a:solidFill>
            <a:srgbClr val="A6CAEC"/>
          </a:solidFill>
          <a:ln w="804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rect 443"/>
          <p:cNvSpPr/>
          <p:nvPr/>
        </p:nvSpPr>
        <p:spPr>
          <a:xfrm>
            <a:off x="11955148" y="7746705"/>
            <a:ext cx="270655" cy="76808"/>
          </a:xfrm>
          <a:prstGeom prst="roundRect">
            <a:avLst>
              <a:gd name="adj" fmla="val 9523"/>
            </a:avLst>
          </a:prstGeom>
          <a:solidFill>
            <a:srgbClr val="FFFFFF"/>
          </a:solidFill>
          <a:ln w="804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rect 444"/>
          <p:cNvSpPr/>
          <p:nvPr/>
        </p:nvSpPr>
        <p:spPr>
          <a:xfrm>
            <a:off x="12257502" y="7746705"/>
            <a:ext cx="270655" cy="76808"/>
          </a:xfrm>
          <a:prstGeom prst="roundRect">
            <a:avLst>
              <a:gd name="adj" fmla="val 9523"/>
            </a:avLst>
          </a:prstGeom>
          <a:solidFill>
            <a:srgbClr val="FFFFFF"/>
          </a:solidFill>
          <a:ln w="804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6" name="path 445"/>
          <p:cNvCxnSpPr/>
          <p:nvPr/>
        </p:nvCxnSpPr>
        <p:spPr>
          <a:xfrm>
            <a:off x="6802950" y="7871060"/>
            <a:ext cx="380380"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47" name="path 446"/>
          <p:cNvCxnSpPr/>
          <p:nvPr/>
        </p:nvCxnSpPr>
        <p:spPr>
          <a:xfrm>
            <a:off x="6802950" y="7871060"/>
            <a:ext cx="380380" cy="0"/>
          </a:xfrm>
          <a:prstGeom prst="line">
            <a:avLst/>
          </a:prstGeom>
          <a:ln w="3511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448" name="arrowhead 447"/>
          <p:cNvSpPr/>
          <p:nvPr/>
        </p:nvSpPr>
        <p:spPr>
          <a:xfrm>
            <a:off x="7051660" y="7805105"/>
            <a:ext cx="131670" cy="131670"/>
          </a:xfrm>
          <a:custGeom>
            <a:avLst/>
            <a:gdLst/>
            <a:ahLst/>
            <a:cxnLst/>
            <a:rect l="l" t="t" r="r" b="b"/>
            <a:pathLst>
              <a:path w="18" h="18">
                <a:moveTo>
                  <a:pt x="18" y="9"/>
                </a:moveTo>
                <a:lnTo>
                  <a:pt x="0" y="18"/>
                </a:lnTo>
                <a:lnTo>
                  <a:pt x="4" y="9"/>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9" name="line 448"/>
          <p:cNvCxnSpPr/>
          <p:nvPr/>
        </p:nvCxnSpPr>
        <p:spPr>
          <a:xfrm>
            <a:off x="292600" y="8178290"/>
            <a:ext cx="12581800" cy="0"/>
          </a:xfrm>
          <a:prstGeom prst="line">
            <a:avLst/>
          </a:prstGeom>
          <a:ln w="8778">
            <a:solidFill>
              <a:srgbClr val="A6A6A6"/>
            </a:solidFill>
          </a:ln>
          <a:effectLst/>
        </p:spPr>
        <p:style>
          <a:lnRef idx="2">
            <a:schemeClr val="accent1"/>
          </a:lnRef>
          <a:fillRef idx="0">
            <a:schemeClr val="accent1"/>
          </a:fillRef>
          <a:effectRef idx="0">
            <a:schemeClr val="accent1"/>
          </a:effectRef>
          <a:fontRef idx="minor">
            <a:schemeClr val="tx1"/>
          </a:fontRef>
        </p:style>
      </p:cxnSp>
      <p:sp>
        <p:nvSpPr>
          <p:cNvPr id="450" name="circle 449"/>
          <p:cNvSpPr/>
          <p:nvPr/>
        </p:nvSpPr>
        <p:spPr>
          <a:xfrm>
            <a:off x="314545" y="8295330"/>
            <a:ext cx="307230" cy="307230"/>
          </a:xfrm>
          <a:prstGeom prst="ellipse">
            <a:avLst/>
          </a:prstGeom>
          <a:solidFill>
            <a:srgbClr val="000000"/>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D1"/>
          <p:cNvSpPr txBox="1"/>
          <p:nvPr/>
        </p:nvSpPr>
        <p:spPr>
          <a:xfrm>
            <a:off x="307059" y="8357508"/>
            <a:ext cx="322203" cy="208478"/>
          </a:xfrm>
          <a:prstGeom prst="rect">
            <a:avLst/>
          </a:prstGeom>
          <a:noFill/>
          <a:effectLst/>
        </p:spPr>
        <p:txBody>
          <a:bodyPr wrap="none" lIns="0" rIns="0" tIns="0" bIns="0" anchor="t">
            <a:spAutoFit/>
          </a:bodyPr>
          <a:lstStyle/>
          <a:p>
            <a:pPr algn="ctr">
              <a:lnSpc>
                <a:spcPct val="100000"/>
              </a:lnSpc>
              <a:spcBef>
                <a:spcPts val="0"/>
              </a:spcBef>
              <a:spcAft>
                <a:spcPts val="0"/>
              </a:spcAft>
            </a:pPr>
            <a:r>
              <a:rPr sz="1209" b="1" i="0" lang="en-US" spc="0">
                <a:solidFill>
                  <a:srgbClr val="FFFFFF"/>
                </a:solidFill>
                <a:latin typeface="DejaVu Sans"/>
                <a:ea typeface="DejaVu Sans"/>
                <a:effectLst/>
              </a:rPr>
              <a:t>D1</a:t>
            </a:r>
          </a:p>
        </p:txBody>
      </p:sp>
      <p:sp>
        <p:nvSpPr>
          <p:cNvPr id="452" name="Demand forecast"/>
          <p:cNvSpPr txBox="1"/>
          <p:nvPr/>
        </p:nvSpPr>
        <p:spPr>
          <a:xfrm>
            <a:off x="702240" y="8357508"/>
            <a:ext cx="1638474" cy="217621"/>
          </a:xfrm>
          <a:prstGeom prst="rect">
            <a:avLst/>
          </a:prstGeom>
          <a:noFill/>
          <a:effectLst/>
        </p:spPr>
        <p:txBody>
          <a:bodyPr wrap="none" lIns="0" rIns="0" tIns="0" bIns="0" anchor="t">
            <a:spAutoFit/>
          </a:bodyPr>
          <a:lstStyle/>
          <a:p>
            <a:pPr algn="l">
              <a:lnSpc>
                <a:spcPct val="100000"/>
              </a:lnSpc>
              <a:spcBef>
                <a:spcPts val="0"/>
              </a:spcBef>
              <a:spcAft>
                <a:spcPts val="0"/>
              </a:spcAft>
            </a:pPr>
            <a:r>
              <a:rPr sz="1267" b="1" i="0" lang="en-US" spc="0">
                <a:solidFill>
                  <a:srgbClr val="000000"/>
                </a:solidFill>
                <a:latin typeface="DejaVu Sans"/>
                <a:ea typeface="DejaVu Sans"/>
                <a:effectLst/>
              </a:rPr>
              <a:t>Demand forecast</a:t>
            </a:r>
          </a:p>
        </p:txBody>
      </p:sp>
      <p:sp>
        <p:nvSpPr>
          <p:cNvPr id="453" name="circle 452"/>
          <p:cNvSpPr/>
          <p:nvPr/>
        </p:nvSpPr>
        <p:spPr>
          <a:xfrm>
            <a:off x="5515510" y="8295330"/>
            <a:ext cx="307230" cy="307230"/>
          </a:xfrm>
          <a:prstGeom prst="ellipse">
            <a:avLst/>
          </a:prstGeom>
          <a:solidFill>
            <a:srgbClr val="000000"/>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D3"/>
          <p:cNvSpPr txBox="1"/>
          <p:nvPr/>
        </p:nvSpPr>
        <p:spPr>
          <a:xfrm>
            <a:off x="5508024" y="8357508"/>
            <a:ext cx="322203" cy="208478"/>
          </a:xfrm>
          <a:prstGeom prst="rect">
            <a:avLst/>
          </a:prstGeom>
          <a:noFill/>
          <a:effectLst/>
        </p:spPr>
        <p:txBody>
          <a:bodyPr wrap="none" lIns="0" rIns="0" tIns="0" bIns="0" anchor="t">
            <a:spAutoFit/>
          </a:bodyPr>
          <a:lstStyle/>
          <a:p>
            <a:pPr algn="ctr">
              <a:lnSpc>
                <a:spcPct val="100000"/>
              </a:lnSpc>
              <a:spcBef>
                <a:spcPts val="0"/>
              </a:spcBef>
              <a:spcAft>
                <a:spcPts val="0"/>
              </a:spcAft>
            </a:pPr>
            <a:r>
              <a:rPr sz="1209" b="1" i="0" lang="en-US" spc="0">
                <a:solidFill>
                  <a:srgbClr val="FFFFFF"/>
                </a:solidFill>
                <a:latin typeface="DejaVu Sans"/>
                <a:ea typeface="DejaVu Sans"/>
                <a:effectLst/>
              </a:rPr>
              <a:t>D3</a:t>
            </a:r>
          </a:p>
        </p:txBody>
      </p:sp>
      <p:sp>
        <p:nvSpPr>
          <p:cNvPr id="455" name="Prefetch + admission"/>
          <p:cNvSpPr txBox="1"/>
          <p:nvPr/>
        </p:nvSpPr>
        <p:spPr>
          <a:xfrm>
            <a:off x="5903205" y="8357508"/>
            <a:ext cx="2025826" cy="217621"/>
          </a:xfrm>
          <a:prstGeom prst="rect">
            <a:avLst/>
          </a:prstGeom>
          <a:noFill/>
          <a:effectLst/>
        </p:spPr>
        <p:txBody>
          <a:bodyPr wrap="none" lIns="0" rIns="0" tIns="0" bIns="0" anchor="t">
            <a:spAutoFit/>
          </a:bodyPr>
          <a:lstStyle/>
          <a:p>
            <a:pPr algn="l">
              <a:lnSpc>
                <a:spcPct val="100000"/>
              </a:lnSpc>
              <a:spcBef>
                <a:spcPts val="0"/>
              </a:spcBef>
              <a:spcAft>
                <a:spcPts val="0"/>
              </a:spcAft>
            </a:pPr>
            <a:r>
              <a:rPr sz="1267" b="1" i="0" lang="en-US" spc="0">
                <a:solidFill>
                  <a:srgbClr val="000000"/>
                </a:solidFill>
                <a:latin typeface="DejaVu Sans"/>
                <a:ea typeface="DejaVu Sans"/>
                <a:effectLst/>
              </a:rPr>
              <a:t>Prefetch + admission</a:t>
            </a:r>
          </a:p>
        </p:txBody>
      </p:sp>
      <p:sp>
        <p:nvSpPr>
          <p:cNvPr id="456" name="circle 455"/>
          <p:cNvSpPr/>
          <p:nvPr/>
        </p:nvSpPr>
        <p:spPr>
          <a:xfrm>
            <a:off x="10336095" y="8295330"/>
            <a:ext cx="307230" cy="307230"/>
          </a:xfrm>
          <a:prstGeom prst="ellipse">
            <a:avLst/>
          </a:prstGeom>
          <a:solidFill>
            <a:srgbClr val="000000"/>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D2"/>
          <p:cNvSpPr txBox="1"/>
          <p:nvPr/>
        </p:nvSpPr>
        <p:spPr>
          <a:xfrm>
            <a:off x="10328609" y="8357508"/>
            <a:ext cx="322203" cy="208478"/>
          </a:xfrm>
          <a:prstGeom prst="rect">
            <a:avLst/>
          </a:prstGeom>
          <a:noFill/>
          <a:effectLst/>
        </p:spPr>
        <p:txBody>
          <a:bodyPr wrap="none" lIns="0" rIns="0" tIns="0" bIns="0" anchor="t">
            <a:spAutoFit/>
          </a:bodyPr>
          <a:lstStyle/>
          <a:p>
            <a:pPr algn="ctr">
              <a:lnSpc>
                <a:spcPct val="100000"/>
              </a:lnSpc>
              <a:spcBef>
                <a:spcPts val="0"/>
              </a:spcBef>
              <a:spcAft>
                <a:spcPts val="0"/>
              </a:spcAft>
            </a:pPr>
            <a:r>
              <a:rPr sz="1209" b="1" i="0" lang="en-US" spc="0">
                <a:solidFill>
                  <a:srgbClr val="FFFFFF"/>
                </a:solidFill>
                <a:latin typeface="DejaVu Sans"/>
                <a:ea typeface="DejaVu Sans"/>
                <a:effectLst/>
              </a:rPr>
              <a:t>D2</a:t>
            </a:r>
          </a:p>
        </p:txBody>
      </p:sp>
      <p:sp>
        <p:nvSpPr>
          <p:cNvPr id="458" name="KV lifecycle"/>
          <p:cNvSpPr txBox="1"/>
          <p:nvPr/>
        </p:nvSpPr>
        <p:spPr>
          <a:xfrm>
            <a:off x="10723790" y="8357508"/>
            <a:ext cx="1142626" cy="217621"/>
          </a:xfrm>
          <a:prstGeom prst="rect">
            <a:avLst/>
          </a:prstGeom>
          <a:noFill/>
          <a:effectLst/>
        </p:spPr>
        <p:txBody>
          <a:bodyPr wrap="none" lIns="0" rIns="0" tIns="0" bIns="0" anchor="t">
            <a:spAutoFit/>
          </a:bodyPr>
          <a:lstStyle/>
          <a:p>
            <a:pPr algn="l">
              <a:lnSpc>
                <a:spcPct val="100000"/>
              </a:lnSpc>
              <a:spcBef>
                <a:spcPts val="0"/>
              </a:spcBef>
              <a:spcAft>
                <a:spcPts val="0"/>
              </a:spcAft>
            </a:pPr>
            <a:r>
              <a:rPr sz="1267" b="1" i="0" lang="en-US" spc="0">
                <a:solidFill>
                  <a:srgbClr val="000000"/>
                </a:solidFill>
                <a:latin typeface="DejaVu Sans"/>
                <a:ea typeface="DejaVu Sans"/>
                <a:effectLst/>
              </a:rPr>
              <a:t>KV lifecycle</a:t>
            </a:r>
          </a:p>
        </p:txBody>
      </p:sp>
      <p:cxnSp>
        <p:nvCxnSpPr>
          <p:cNvPr id="459" name="path 458"/>
          <p:cNvCxnSpPr/>
          <p:nvPr/>
        </p:nvCxnSpPr>
        <p:spPr>
          <a:xfrm>
            <a:off x="2501730" y="8448945"/>
            <a:ext cx="2947945"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60" name="path 459"/>
          <p:cNvCxnSpPr/>
          <p:nvPr/>
        </p:nvCxnSpPr>
        <p:spPr>
          <a:xfrm>
            <a:off x="2501730" y="8448945"/>
            <a:ext cx="2947945" cy="0"/>
          </a:xfrm>
          <a:prstGeom prst="line">
            <a:avLst/>
          </a:prstGeom>
          <a:ln w="3511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461" name="arrowhead 460"/>
          <p:cNvSpPr/>
          <p:nvPr/>
        </p:nvSpPr>
        <p:spPr>
          <a:xfrm>
            <a:off x="5318005" y="8382990"/>
            <a:ext cx="131670" cy="131670"/>
          </a:xfrm>
          <a:custGeom>
            <a:avLst/>
            <a:gdLst/>
            <a:ahLst/>
            <a:cxnLst/>
            <a:rect l="l" t="t" r="r" b="b"/>
            <a:pathLst>
              <a:path w="18" h="18">
                <a:moveTo>
                  <a:pt x="0" y="18"/>
                </a:moveTo>
                <a:lnTo>
                  <a:pt x="18" y="9"/>
                </a:lnTo>
                <a:lnTo>
                  <a:pt x="0" y="0"/>
                </a:lnTo>
              </a:path>
            </a:pathLst>
          </a:custGeom>
          <a:noFill/>
          <a:ln w="20574">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agent + timing"/>
          <p:cNvSpPr txBox="1"/>
          <p:nvPr/>
        </p:nvSpPr>
        <p:spPr>
          <a:xfrm>
            <a:off x="3436607" y="8222180"/>
            <a:ext cx="1026986" cy="177389"/>
          </a:xfrm>
          <a:prstGeom prst="rect">
            <a:avLst/>
          </a:prstGeom>
          <a:noFill/>
          <a:effectLst/>
        </p:spPr>
        <p:txBody>
          <a:bodyPr wrap="none" lIns="0" rIns="0" tIns="0" bIns="0" anchor="t">
            <a:spAutoFit/>
          </a:bodyPr>
          <a:lstStyle/>
          <a:p>
            <a:pPr algn="ctr">
              <a:lnSpc>
                <a:spcPct val="100000"/>
              </a:lnSpc>
              <a:spcBef>
                <a:spcPts val="0"/>
              </a:spcBef>
              <a:spcAft>
                <a:spcPts val="0"/>
              </a:spcAft>
            </a:pPr>
            <a:r>
              <a:rPr sz="979" b="0" i="0" lang="en-US" spc="0">
                <a:solidFill>
                  <a:srgbClr val="000000"/>
                </a:solidFill>
                <a:latin typeface="DejaVu Sans"/>
                <a:ea typeface="DejaVu Sans"/>
                <a:effectLst/>
              </a:rPr>
              <a:t>agent + timing</a:t>
            </a:r>
          </a:p>
        </p:txBody>
      </p:sp>
      <p:cxnSp>
        <p:nvCxnSpPr>
          <p:cNvPr id="463" name="path 462"/>
          <p:cNvCxnSpPr/>
          <p:nvPr/>
        </p:nvCxnSpPr>
        <p:spPr>
          <a:xfrm flipH="1">
            <a:off x="8156225" y="8448945"/>
            <a:ext cx="2114035" cy="0"/>
          </a:xfrm>
          <a:prstGeom prst="line">
            <a:avLst/>
          </a:prstGeom>
          <a:ln w="49743">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64" name="path 463"/>
          <p:cNvCxnSpPr/>
          <p:nvPr/>
        </p:nvCxnSpPr>
        <p:spPr>
          <a:xfrm flipH="1">
            <a:off x="8156225" y="8448945"/>
            <a:ext cx="2114035" cy="0"/>
          </a:xfrm>
          <a:prstGeom prst="line">
            <a:avLst/>
          </a:prstGeom>
          <a:ln w="3511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465" name="arrowhead 464"/>
          <p:cNvSpPr/>
          <p:nvPr/>
        </p:nvSpPr>
        <p:spPr>
          <a:xfrm>
            <a:off x="8156225" y="8361045"/>
            <a:ext cx="175560" cy="175560"/>
          </a:xfrm>
          <a:custGeom>
            <a:avLst/>
            <a:gdLst/>
            <a:ahLst/>
            <a:cxnLst/>
            <a:rect l="l" t="t" r="r" b="b"/>
            <a:pathLst>
              <a:path w="24" h="24">
                <a:moveTo>
                  <a:pt x="0" y="12"/>
                </a:moveTo>
                <a:lnTo>
                  <a:pt x="24" y="0"/>
                </a:lnTo>
                <a:lnTo>
                  <a:pt x="18" y="12"/>
                </a:lnTo>
                <a:lnTo>
                  <a:pt x="24" y="24"/>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checkpoint / pages / capacity"/>
          <p:cNvSpPr txBox="1"/>
          <p:nvPr/>
        </p:nvSpPr>
        <p:spPr>
          <a:xfrm>
            <a:off x="8314898" y="8229495"/>
            <a:ext cx="1804005" cy="168245"/>
          </a:xfrm>
          <a:prstGeom prst="rect">
            <a:avLst/>
          </a:prstGeom>
          <a:noFill/>
          <a:effectLst/>
        </p:spPr>
        <p:txBody>
          <a:bodyPr wrap="none" lIns="0" rIns="0" tIns="0" bIns="0" anchor="t">
            <a:spAutoFit/>
          </a:bodyPr>
          <a:lstStyle/>
          <a:p>
            <a:pPr algn="ctr">
              <a:lnSpc>
                <a:spcPct val="100000"/>
              </a:lnSpc>
              <a:spcBef>
                <a:spcPts val="0"/>
              </a:spcBef>
              <a:spcAft>
                <a:spcPts val="0"/>
              </a:spcAft>
            </a:pPr>
            <a:r>
              <a:rPr sz="921" b="0" i="0" lang="en-US" spc="0">
                <a:solidFill>
                  <a:srgbClr val="000000"/>
                </a:solidFill>
                <a:latin typeface="DejaVu Sans"/>
                <a:ea typeface="DejaVu Sans"/>
                <a:effectLst/>
              </a:rPr>
              <a:t>checkpoint / pages / capacity</a:t>
            </a:r>
          </a:p>
        </p:txBody>
      </p:sp>
      <p:sp>
        <p:nvSpPr>
          <p:cNvPr id="467" name="curve 466"/>
          <p:cNvSpPr/>
          <p:nvPr/>
        </p:nvSpPr>
        <p:spPr>
          <a:xfrm>
            <a:off x="8156225" y="8587810"/>
            <a:ext cx="2172555" cy="138985"/>
          </a:xfrm>
          <a:custGeom>
            <a:avLst/>
            <a:gdLst/>
            <a:ahLst/>
            <a:cxnLst/>
            <a:rect l="l" t="t" r="r" b="b"/>
            <a:pathLst>
              <a:path w="297" h="19">
                <a:moveTo>
                  <a:pt x="0" y="7"/>
                </a:moveTo>
                <a:cubicBezTo>
                  <a:pt x="105" y="19"/>
                  <a:pt x="260" y="19"/>
                  <a:pt x="297" y="0"/>
                </a:cubicBezTo>
              </a:path>
            </a:pathLst>
          </a:custGeom>
          <a:noFill/>
          <a:ln w="5486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curve 467"/>
          <p:cNvSpPr/>
          <p:nvPr/>
        </p:nvSpPr>
        <p:spPr>
          <a:xfrm>
            <a:off x="8156225" y="8587810"/>
            <a:ext cx="2172555" cy="138985"/>
          </a:xfrm>
          <a:custGeom>
            <a:avLst/>
            <a:gdLst/>
            <a:ahLst/>
            <a:cxnLst/>
            <a:rect l="l" t="t" r="r" b="b"/>
            <a:pathLst>
              <a:path w="297" h="19">
                <a:moveTo>
                  <a:pt x="0" y="7"/>
                </a:moveTo>
                <a:cubicBezTo>
                  <a:pt x="105" y="19"/>
                  <a:pt x="260" y="19"/>
                  <a:pt x="297" y="0"/>
                </a:cubicBezTo>
              </a:path>
            </a:pathLst>
          </a:custGeom>
          <a:noFill/>
          <a:ln w="40233">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arrowhead 468"/>
          <p:cNvSpPr/>
          <p:nvPr/>
        </p:nvSpPr>
        <p:spPr>
          <a:xfrm>
            <a:off x="10182480" y="8587810"/>
            <a:ext cx="146300" cy="117040"/>
          </a:xfrm>
          <a:custGeom>
            <a:avLst/>
            <a:gdLst/>
            <a:ahLst/>
            <a:cxnLst/>
            <a:rect l="l" t="t" r="r" b="b"/>
            <a:pathLst>
              <a:path w="20" h="16">
                <a:moveTo>
                  <a:pt x="20" y="0"/>
                </a:moveTo>
                <a:lnTo>
                  <a:pt x="8" y="16"/>
                </a:lnTo>
                <a:lnTo>
                  <a:pt x="8" y="6"/>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0" name="physical actions"/>
          <p:cNvSpPr txBox="1"/>
          <p:nvPr/>
        </p:nvSpPr>
        <p:spPr>
          <a:xfrm>
            <a:off x="8703878" y="8522095"/>
            <a:ext cx="1026043" cy="168245"/>
          </a:xfrm>
          <a:prstGeom prst="rect">
            <a:avLst/>
          </a:prstGeom>
          <a:noFill/>
          <a:effectLst/>
        </p:spPr>
        <p:txBody>
          <a:bodyPr wrap="none" lIns="0" rIns="0" tIns="0" bIns="0" anchor="t">
            <a:spAutoFit/>
          </a:bodyPr>
          <a:lstStyle/>
          <a:p>
            <a:pPr algn="ctr">
              <a:lnSpc>
                <a:spcPct val="100000"/>
              </a:lnSpc>
              <a:spcBef>
                <a:spcPts val="0"/>
              </a:spcBef>
              <a:spcAft>
                <a:spcPts val="0"/>
              </a:spcAft>
            </a:pPr>
            <a:r>
              <a:rPr sz="921" b="0" i="0" lang="en-US" spc="0">
                <a:solidFill>
                  <a:srgbClr val="000000"/>
                </a:solidFill>
                <a:latin typeface="DejaVu Sans"/>
                <a:ea typeface="DejaVu Sans"/>
                <a:effectLst/>
              </a:rPr>
              <a:t>physical actions</a:t>
            </a:r>
          </a:p>
        </p:txBody>
      </p:sp>
      <p:sp>
        <p:nvSpPr>
          <p:cNvPr id="471" name="curve 470"/>
          <p:cNvSpPr/>
          <p:nvPr/>
        </p:nvSpPr>
        <p:spPr>
          <a:xfrm>
            <a:off x="468160" y="8624385"/>
            <a:ext cx="5200965" cy="109725"/>
          </a:xfrm>
          <a:custGeom>
            <a:avLst/>
            <a:gdLst/>
            <a:ahLst/>
            <a:cxnLst/>
            <a:rect l="l" t="t" r="r" b="b"/>
            <a:pathLst>
              <a:path w="711" h="15">
                <a:moveTo>
                  <a:pt x="711" y="0"/>
                </a:moveTo>
                <a:lnTo>
                  <a:pt x="711" y="10"/>
                </a:lnTo>
                <a:cubicBezTo>
                  <a:pt x="711" y="13"/>
                  <a:pt x="709" y="15"/>
                  <a:pt x="706" y="15"/>
                </a:cubicBezTo>
                <a:lnTo>
                  <a:pt x="5" y="15"/>
                </a:lnTo>
                <a:cubicBezTo>
                  <a:pt x="2" y="15"/>
                  <a:pt x="0" y="13"/>
                  <a:pt x="0" y="10"/>
                </a:cubicBezTo>
                <a:lnTo>
                  <a:pt x="0" y="0"/>
                </a:lnTo>
              </a:path>
            </a:pathLst>
          </a:custGeom>
          <a:noFill/>
          <a:ln w="49743">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curve 471"/>
          <p:cNvSpPr/>
          <p:nvPr/>
        </p:nvSpPr>
        <p:spPr>
          <a:xfrm>
            <a:off x="468160" y="8624385"/>
            <a:ext cx="5200965" cy="109725"/>
          </a:xfrm>
          <a:custGeom>
            <a:avLst/>
            <a:gdLst/>
            <a:ahLst/>
            <a:cxnLst/>
            <a:rect l="l" t="t" r="r" b="b"/>
            <a:pathLst>
              <a:path w="711" h="15">
                <a:moveTo>
                  <a:pt x="711" y="0"/>
                </a:moveTo>
                <a:lnTo>
                  <a:pt x="711" y="10"/>
                </a:lnTo>
                <a:cubicBezTo>
                  <a:pt x="711" y="13"/>
                  <a:pt x="709" y="15"/>
                  <a:pt x="706" y="15"/>
                </a:cubicBezTo>
                <a:lnTo>
                  <a:pt x="5" y="15"/>
                </a:lnTo>
                <a:cubicBezTo>
                  <a:pt x="2" y="15"/>
                  <a:pt x="0" y="13"/>
                  <a:pt x="0" y="10"/>
                </a:cubicBezTo>
                <a:lnTo>
                  <a:pt x="0" y="0"/>
                </a:lnTo>
              </a:path>
            </a:pathLst>
          </a:custGeom>
          <a:noFill/>
          <a:ln w="3511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3" name="arrowhead 472"/>
          <p:cNvSpPr/>
          <p:nvPr/>
        </p:nvSpPr>
        <p:spPr>
          <a:xfrm>
            <a:off x="424270" y="8624385"/>
            <a:ext cx="87780" cy="87780"/>
          </a:xfrm>
          <a:custGeom>
            <a:avLst/>
            <a:gdLst/>
            <a:ahLst/>
            <a:cxnLst/>
            <a:rect l="l" t="t" r="r" b="b"/>
            <a:pathLst>
              <a:path w="12" h="12">
                <a:moveTo>
                  <a:pt x="12" y="12"/>
                </a:moveTo>
                <a:lnTo>
                  <a:pt x="6" y="0"/>
                </a:lnTo>
                <a:lnTo>
                  <a:pt x="0" y="12"/>
                </a:lnTo>
              </a:path>
            </a:pathLst>
          </a:custGeom>
          <a:noFill/>
          <a:ln w="1371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4" name="service / progress / completion"/>
          <p:cNvSpPr txBox="1"/>
          <p:nvPr/>
        </p:nvSpPr>
        <p:spPr>
          <a:xfrm>
            <a:off x="2081946" y="8558670"/>
            <a:ext cx="1892928" cy="168245"/>
          </a:xfrm>
          <a:prstGeom prst="rect">
            <a:avLst/>
          </a:prstGeom>
          <a:noFill/>
          <a:effectLst/>
        </p:spPr>
        <p:txBody>
          <a:bodyPr wrap="none" lIns="0" rIns="0" tIns="0" bIns="0" anchor="t">
            <a:spAutoFit/>
          </a:bodyPr>
          <a:lstStyle/>
          <a:p>
            <a:pPr algn="ctr">
              <a:lnSpc>
                <a:spcPct val="100000"/>
              </a:lnSpc>
              <a:spcBef>
                <a:spcPts val="0"/>
              </a:spcBef>
              <a:spcAft>
                <a:spcPts val="0"/>
              </a:spcAft>
            </a:pPr>
            <a:r>
              <a:rPr sz="921" b="0" i="0" lang="en-US" spc="0">
                <a:solidFill>
                  <a:srgbClr val="000000"/>
                </a:solidFill>
                <a:latin typeface="DejaVu Sans"/>
                <a:ea typeface="DejaVu Sans"/>
                <a:effectLst/>
              </a:rPr>
              <a:t>service / progress / completion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1"/>
          <p:cNvSpPr txBox="1"/>
          <p:nvPr/>
        </p:nvSpPr>
        <p:spPr>
          <a:xfrm>
            <a:off x="263328" y="1788756"/>
            <a:ext cx="488018"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D1</a:t>
            </a:r>
          </a:p>
        </p:txBody>
      </p:sp>
      <p:sp>
        <p:nvSpPr>
          <p:cNvPr id="3" name="Infer the next agent from completion signals"/>
          <p:cNvSpPr txBox="1"/>
          <p:nvPr/>
        </p:nvSpPr>
        <p:spPr>
          <a:xfrm>
            <a:off x="888732" y="1788756"/>
            <a:ext cx="6561374"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Infer the next agent from completion signals</a:t>
            </a:r>
          </a:p>
        </p:txBody>
      </p:sp>
      <p:sp>
        <p:nvSpPr>
          <p:cNvPr id="4" name="rect 3"/>
          <p:cNvSpPr/>
          <p:nvPr/>
        </p:nvSpPr>
        <p:spPr>
          <a:xfrm>
            <a:off x="5406453" y="3121854"/>
            <a:ext cx="1892670" cy="2427555"/>
          </a:xfrm>
          <a:prstGeom prst="roundRect">
            <a:avLst>
              <a:gd name="adj" fmla="val 3478"/>
            </a:avLst>
          </a:prstGeom>
          <a:solidFill>
            <a:srgbClr val="DCEAF7"/>
          </a:solidFill>
          <a:ln w="13167">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circle 4"/>
          <p:cNvSpPr/>
          <p:nvPr/>
        </p:nvSpPr>
        <p:spPr>
          <a:xfrm>
            <a:off x="320931" y="3261747"/>
            <a:ext cx="411450" cy="411450"/>
          </a:xfrm>
          <a:prstGeom prst="ellipse">
            <a:avLst/>
          </a:prstGeom>
          <a:solidFill>
            <a:srgbClr val="A6CAEC"/>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
          <p:cNvSpPr txBox="1"/>
          <p:nvPr/>
        </p:nvSpPr>
        <p:spPr>
          <a:xfrm>
            <a:off x="401887" y="3346094"/>
            <a:ext cx="249538"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P</a:t>
            </a:r>
          </a:p>
        </p:txBody>
      </p:sp>
      <p:sp>
        <p:nvSpPr>
          <p:cNvPr id="7" name="circle 6"/>
          <p:cNvSpPr/>
          <p:nvPr/>
        </p:nvSpPr>
        <p:spPr>
          <a:xfrm>
            <a:off x="1250808" y="2611656"/>
            <a:ext cx="411450" cy="411450"/>
          </a:xfrm>
          <a:prstGeom prst="ellipse">
            <a:avLst/>
          </a:prstGeom>
          <a:solidFill>
            <a:srgbClr val="84E291"/>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1"/>
          <p:cNvSpPr txBox="1"/>
          <p:nvPr/>
        </p:nvSpPr>
        <p:spPr>
          <a:xfrm>
            <a:off x="1260098" y="2696003"/>
            <a:ext cx="392870"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C1</a:t>
            </a:r>
          </a:p>
        </p:txBody>
      </p:sp>
      <p:sp>
        <p:nvSpPr>
          <p:cNvPr id="9" name="circle 8"/>
          <p:cNvSpPr/>
          <p:nvPr/>
        </p:nvSpPr>
        <p:spPr>
          <a:xfrm>
            <a:off x="1250808" y="3928296"/>
            <a:ext cx="411450" cy="411450"/>
          </a:xfrm>
          <a:prstGeom prst="ellipse">
            <a:avLst/>
          </a:prstGeom>
          <a:solidFill>
            <a:srgbClr val="F6C6AD"/>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C2"/>
          <p:cNvSpPr txBox="1"/>
          <p:nvPr/>
        </p:nvSpPr>
        <p:spPr>
          <a:xfrm>
            <a:off x="1260098" y="4012643"/>
            <a:ext cx="392870"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C2</a:t>
            </a:r>
          </a:p>
        </p:txBody>
      </p:sp>
      <p:sp>
        <p:nvSpPr>
          <p:cNvPr id="11" name="path 10"/>
          <p:cNvSpPr/>
          <p:nvPr/>
        </p:nvSpPr>
        <p:spPr>
          <a:xfrm>
            <a:off x="1703403" y="2575677"/>
            <a:ext cx="156351" cy="156351"/>
          </a:xfrm>
          <a:custGeom>
            <a:avLst/>
            <a:gdLst/>
            <a:ahLst/>
            <a:cxnLst/>
            <a:rect l="l" t="t" r="r" b="b"/>
            <a:pathLst>
              <a:path w="19" h="19">
                <a:moveTo>
                  <a:pt x="0" y="10"/>
                </a:moveTo>
                <a:lnTo>
                  <a:pt x="7" y="19"/>
                </a:lnTo>
                <a:lnTo>
                  <a:pt x="19" y="0"/>
                </a:lnTo>
              </a:path>
            </a:pathLst>
          </a:custGeom>
          <a:noFill/>
          <a:ln w="2304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olygon 11"/>
          <p:cNvSpPr/>
          <p:nvPr/>
        </p:nvSpPr>
        <p:spPr>
          <a:xfrm>
            <a:off x="2106624" y="3184623"/>
            <a:ext cx="707694" cy="567801"/>
          </a:xfrm>
          <a:custGeom>
            <a:avLst/>
            <a:gdLst/>
            <a:ahLst/>
            <a:cxnLst/>
            <a:rect l="l" t="t" r="r" b="b"/>
            <a:pathLst>
              <a:path w="86" h="69">
                <a:moveTo>
                  <a:pt x="43" y="0"/>
                </a:moveTo>
                <a:lnTo>
                  <a:pt x="86" y="34"/>
                </a:lnTo>
                <a:lnTo>
                  <a:pt x="43" y="69"/>
                </a:lnTo>
                <a:lnTo>
                  <a:pt x="0" y="34"/>
                </a:lnTo>
                <a:close/>
              </a:path>
            </a:pathLst>
          </a:custGeom>
          <a:solidFill>
            <a:srgbClr val="FFFFFF"/>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ALL"/>
          <p:cNvSpPr txBox="1"/>
          <p:nvPr/>
        </p:nvSpPr>
        <p:spPr>
          <a:xfrm>
            <a:off x="2200406" y="3350209"/>
            <a:ext cx="520131"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ALL</a:t>
            </a:r>
          </a:p>
        </p:txBody>
      </p:sp>
      <p:cxnSp>
        <p:nvCxnSpPr>
          <p:cNvPr id="14" name="path 13"/>
          <p:cNvCxnSpPr/>
          <p:nvPr/>
        </p:nvCxnSpPr>
        <p:spPr>
          <a:xfrm flipV="1">
            <a:off x="748839" y="2965503"/>
            <a:ext cx="477282" cy="353847"/>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5" name="path 14"/>
          <p:cNvCxnSpPr/>
          <p:nvPr/>
        </p:nvCxnSpPr>
        <p:spPr>
          <a:xfrm flipV="1">
            <a:off x="748839" y="2965503"/>
            <a:ext cx="477282" cy="353847"/>
          </a:xfrm>
          <a:prstGeom prst="line">
            <a:avLst/>
          </a:prstGeom>
          <a:ln w="3950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6" name="arrowhead 15"/>
          <p:cNvSpPr/>
          <p:nvPr/>
        </p:nvSpPr>
        <p:spPr>
          <a:xfrm>
            <a:off x="1061541" y="2962440"/>
            <a:ext cx="164580" cy="148122"/>
          </a:xfrm>
          <a:custGeom>
            <a:avLst/>
            <a:gdLst/>
            <a:ahLst/>
            <a:cxnLst/>
            <a:rect l="l" t="t" r="r" b="b"/>
            <a:pathLst>
              <a:path w="20" h="18">
                <a:moveTo>
                  <a:pt x="20" y="0"/>
                </a:moveTo>
                <a:lnTo>
                  <a:pt x="11" y="18"/>
                </a:lnTo>
                <a:lnTo>
                  <a:pt x="0" y="4"/>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path 16"/>
          <p:cNvCxnSpPr/>
          <p:nvPr/>
        </p:nvCxnSpPr>
        <p:spPr>
          <a:xfrm>
            <a:off x="748839" y="3623823"/>
            <a:ext cx="477282" cy="370305"/>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8" name="path 17"/>
          <p:cNvCxnSpPr/>
          <p:nvPr/>
        </p:nvCxnSpPr>
        <p:spPr>
          <a:xfrm>
            <a:off x="748839" y="3623823"/>
            <a:ext cx="477282" cy="370305"/>
          </a:xfrm>
          <a:prstGeom prst="line">
            <a:avLst/>
          </a:prstGeom>
          <a:ln w="3950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9" name="arrowhead 18"/>
          <p:cNvSpPr/>
          <p:nvPr/>
        </p:nvSpPr>
        <p:spPr>
          <a:xfrm>
            <a:off x="1061541" y="3842943"/>
            <a:ext cx="164580" cy="148122"/>
          </a:xfrm>
          <a:custGeom>
            <a:avLst/>
            <a:gdLst/>
            <a:ahLst/>
            <a:cxnLst/>
            <a:rect l="l" t="t" r="r" b="b"/>
            <a:pathLst>
              <a:path w="20" h="18">
                <a:moveTo>
                  <a:pt x="20" y="18"/>
                </a:moveTo>
                <a:lnTo>
                  <a:pt x="0" y="14"/>
                </a:lnTo>
                <a:lnTo>
                  <a:pt x="11"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curve 19"/>
          <p:cNvSpPr/>
          <p:nvPr/>
        </p:nvSpPr>
        <p:spPr>
          <a:xfrm>
            <a:off x="1686945" y="2814318"/>
            <a:ext cx="427908" cy="485511"/>
          </a:xfrm>
          <a:custGeom>
            <a:avLst/>
            <a:gdLst/>
            <a:ahLst/>
            <a:cxnLst/>
            <a:rect l="l" t="t" r="r" b="b"/>
            <a:pathLst>
              <a:path w="52" h="59">
                <a:moveTo>
                  <a:pt x="0" y="0"/>
                </a:moveTo>
                <a:cubicBezTo>
                  <a:pt x="39" y="0"/>
                  <a:pt x="36" y="42"/>
                  <a:pt x="52" y="59"/>
                </a:cubicBezTo>
              </a:path>
            </a:pathLst>
          </a:custGeom>
          <a:noFill/>
          <a:ln w="61722">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urve 20"/>
          <p:cNvSpPr/>
          <p:nvPr/>
        </p:nvSpPr>
        <p:spPr>
          <a:xfrm>
            <a:off x="1686945" y="2814318"/>
            <a:ext cx="427908" cy="485511"/>
          </a:xfrm>
          <a:custGeom>
            <a:avLst/>
            <a:gdLst/>
            <a:ahLst/>
            <a:cxnLst/>
            <a:rect l="l" t="t" r="r" b="b"/>
            <a:pathLst>
              <a:path w="52" h="59">
                <a:moveTo>
                  <a:pt x="0" y="0"/>
                </a:moveTo>
                <a:cubicBezTo>
                  <a:pt x="39" y="0"/>
                  <a:pt x="36" y="42"/>
                  <a:pt x="52" y="59"/>
                </a:cubicBezTo>
              </a:path>
            </a:pathLst>
          </a:custGeom>
          <a:noFill/>
          <a:ln w="45262">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arrowhead 21"/>
          <p:cNvSpPr/>
          <p:nvPr/>
        </p:nvSpPr>
        <p:spPr>
          <a:xfrm>
            <a:off x="2007876" y="3201081"/>
            <a:ext cx="106977" cy="98748"/>
          </a:xfrm>
          <a:custGeom>
            <a:avLst/>
            <a:gdLst/>
            <a:ahLst/>
            <a:cxnLst/>
            <a:rect l="l" t="t" r="r" b="b"/>
            <a:pathLst>
              <a:path w="13" h="12">
                <a:moveTo>
                  <a:pt x="0" y="8"/>
                </a:moveTo>
                <a:lnTo>
                  <a:pt x="13" y="12"/>
                </a:lnTo>
                <a:lnTo>
                  <a:pt x="9" y="0"/>
                </a:lnTo>
              </a:path>
            </a:pathLst>
          </a:custGeom>
          <a:noFill/>
          <a:ln w="15430">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urve 22"/>
          <p:cNvSpPr/>
          <p:nvPr/>
        </p:nvSpPr>
        <p:spPr>
          <a:xfrm>
            <a:off x="1686945" y="3628989"/>
            <a:ext cx="427908" cy="501969"/>
          </a:xfrm>
          <a:custGeom>
            <a:avLst/>
            <a:gdLst/>
            <a:ahLst/>
            <a:cxnLst/>
            <a:rect l="l" t="t" r="r" b="b"/>
            <a:pathLst>
              <a:path w="52" h="61">
                <a:moveTo>
                  <a:pt x="0" y="61"/>
                </a:moveTo>
                <a:cubicBezTo>
                  <a:pt x="39" y="61"/>
                  <a:pt x="36" y="16"/>
                  <a:pt x="52" y="0"/>
                </a:cubicBezTo>
              </a:path>
            </a:pathLst>
          </a:custGeom>
          <a:noFill/>
          <a:ln w="61722">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urve 23"/>
          <p:cNvSpPr/>
          <p:nvPr/>
        </p:nvSpPr>
        <p:spPr>
          <a:xfrm>
            <a:off x="1686945" y="3628989"/>
            <a:ext cx="427908" cy="501969"/>
          </a:xfrm>
          <a:custGeom>
            <a:avLst/>
            <a:gdLst/>
            <a:ahLst/>
            <a:cxnLst/>
            <a:rect l="l" t="t" r="r" b="b"/>
            <a:pathLst>
              <a:path w="52" h="61">
                <a:moveTo>
                  <a:pt x="0" y="61"/>
                </a:moveTo>
                <a:cubicBezTo>
                  <a:pt x="39" y="61"/>
                  <a:pt x="36" y="16"/>
                  <a:pt x="52" y="0"/>
                </a:cubicBezTo>
              </a:path>
            </a:pathLst>
          </a:custGeom>
          <a:noFill/>
          <a:ln w="4526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arrowhead 24"/>
          <p:cNvSpPr/>
          <p:nvPr/>
        </p:nvSpPr>
        <p:spPr>
          <a:xfrm>
            <a:off x="2007876" y="3628989"/>
            <a:ext cx="106977" cy="106977"/>
          </a:xfrm>
          <a:custGeom>
            <a:avLst/>
            <a:gdLst/>
            <a:ahLst/>
            <a:cxnLst/>
            <a:rect l="l" t="t" r="r" b="b"/>
            <a:pathLst>
              <a:path w="13" h="13">
                <a:moveTo>
                  <a:pt x="9" y="13"/>
                </a:moveTo>
                <a:lnTo>
                  <a:pt x="13" y="0"/>
                </a:lnTo>
                <a:lnTo>
                  <a:pt x="0" y="5"/>
                </a:lnTo>
              </a:path>
            </a:pathLst>
          </a:custGeom>
          <a:noFill/>
          <a:ln w="15430">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pending = {C2}"/>
          <p:cNvSpPr txBox="1"/>
          <p:nvPr/>
        </p:nvSpPr>
        <p:spPr>
          <a:xfrm>
            <a:off x="353847" y="4566044"/>
            <a:ext cx="1798422" cy="255099"/>
          </a:xfrm>
          <a:prstGeom prst="rect">
            <a:avLst/>
          </a:prstGeom>
          <a:noFill/>
          <a:effectLst/>
        </p:spPr>
        <p:txBody>
          <a:bodyPr wrap="none" lIns="0" rIns="0" tIns="0" bIns="0" anchor="t">
            <a:spAutoFit/>
          </a:bodyPr>
          <a:lstStyle/>
          <a:p>
            <a:pPr algn="l">
              <a:lnSpc>
                <a:spcPct val="100000"/>
              </a:lnSpc>
              <a:spcBef>
                <a:spcPts val="0"/>
              </a:spcBef>
              <a:spcAft>
                <a:spcPts val="0"/>
              </a:spcAft>
            </a:pPr>
            <a:r>
              <a:rPr sz="1490" b="1" i="0" lang="en-US" spc="0">
                <a:solidFill>
                  <a:srgbClr val="000000"/>
                </a:solidFill>
                <a:latin typeface="DejaVu Sans"/>
                <a:ea typeface="DejaVu Sans"/>
                <a:effectLst/>
              </a:rPr>
              <a:t>pending = {C2}</a:t>
            </a:r>
          </a:p>
        </p:txBody>
      </p:sp>
      <p:sp>
        <p:nvSpPr>
          <p:cNvPr id="27" name="curve 26"/>
          <p:cNvSpPr/>
          <p:nvPr/>
        </p:nvSpPr>
        <p:spPr>
          <a:xfrm>
            <a:off x="2839005" y="2509845"/>
            <a:ext cx="8640450" cy="954564"/>
          </a:xfrm>
          <a:custGeom>
            <a:avLst/>
            <a:gdLst/>
            <a:ahLst/>
            <a:cxnLst/>
            <a:rect l="l" t="t" r="r" b="b"/>
            <a:pathLst>
              <a:path w="1050" h="116">
                <a:moveTo>
                  <a:pt x="0" y="116"/>
                </a:moveTo>
                <a:lnTo>
                  <a:pt x="8" y="116"/>
                </a:lnTo>
                <a:cubicBezTo>
                  <a:pt x="10" y="116"/>
                  <a:pt x="12" y="115"/>
                  <a:pt x="12" y="112"/>
                </a:cubicBezTo>
                <a:lnTo>
                  <a:pt x="12" y="18"/>
                </a:lnTo>
                <a:cubicBezTo>
                  <a:pt x="12" y="8"/>
                  <a:pt x="20" y="0"/>
                  <a:pt x="30" y="0"/>
                </a:cubicBezTo>
                <a:lnTo>
                  <a:pt x="1032" y="0"/>
                </a:lnTo>
                <a:cubicBezTo>
                  <a:pt x="1042" y="0"/>
                  <a:pt x="1050" y="8"/>
                  <a:pt x="1050" y="18"/>
                </a:cubicBezTo>
                <a:lnTo>
                  <a:pt x="1050" y="62"/>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curve 27"/>
          <p:cNvSpPr/>
          <p:nvPr/>
        </p:nvSpPr>
        <p:spPr>
          <a:xfrm>
            <a:off x="2839005" y="2509845"/>
            <a:ext cx="8640450" cy="954564"/>
          </a:xfrm>
          <a:custGeom>
            <a:avLst/>
            <a:gdLst/>
            <a:ahLst/>
            <a:cxnLst/>
            <a:rect l="l" t="t" r="r" b="b"/>
            <a:pathLst>
              <a:path w="1050" h="116">
                <a:moveTo>
                  <a:pt x="0" y="116"/>
                </a:moveTo>
                <a:lnTo>
                  <a:pt x="8" y="116"/>
                </a:lnTo>
                <a:cubicBezTo>
                  <a:pt x="10" y="116"/>
                  <a:pt x="12" y="115"/>
                  <a:pt x="12" y="112"/>
                </a:cubicBezTo>
                <a:lnTo>
                  <a:pt x="12" y="18"/>
                </a:lnTo>
                <a:cubicBezTo>
                  <a:pt x="12" y="8"/>
                  <a:pt x="20" y="0"/>
                  <a:pt x="30" y="0"/>
                </a:cubicBezTo>
                <a:lnTo>
                  <a:pt x="1032" y="0"/>
                </a:lnTo>
                <a:cubicBezTo>
                  <a:pt x="1042" y="0"/>
                  <a:pt x="1050" y="8"/>
                  <a:pt x="1050" y="18"/>
                </a:cubicBezTo>
                <a:lnTo>
                  <a:pt x="1050" y="62"/>
                </a:lnTo>
              </a:path>
            </a:pathLst>
          </a:custGeom>
          <a:noFill/>
          <a:ln w="3950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arrowhead 28"/>
          <p:cNvSpPr/>
          <p:nvPr/>
        </p:nvSpPr>
        <p:spPr>
          <a:xfrm>
            <a:off x="11405394" y="2871921"/>
            <a:ext cx="148122" cy="148122"/>
          </a:xfrm>
          <a:custGeom>
            <a:avLst/>
            <a:gdLst/>
            <a:ahLst/>
            <a:cxnLst/>
            <a:rect l="l" t="t" r="r" b="b"/>
            <a:pathLst>
              <a:path w="18" h="18">
                <a:moveTo>
                  <a:pt x="0" y="0"/>
                </a:moveTo>
                <a:lnTo>
                  <a:pt x="9" y="18"/>
                </a:lnTo>
                <a:lnTo>
                  <a:pt x="18" y="0"/>
                </a:lnTo>
              </a:path>
            </a:pathLst>
          </a:custGeom>
          <a:noFill/>
          <a:ln w="2314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ircle 29"/>
          <p:cNvSpPr/>
          <p:nvPr/>
        </p:nvSpPr>
        <p:spPr>
          <a:xfrm>
            <a:off x="5686239" y="2356557"/>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1"/>
          <p:cNvSpPr txBox="1"/>
          <p:nvPr/>
        </p:nvSpPr>
        <p:spPr>
          <a:xfrm>
            <a:off x="5727368" y="2397702"/>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1</a:t>
            </a:r>
          </a:p>
        </p:txBody>
      </p:sp>
      <p:sp>
        <p:nvSpPr>
          <p:cNvPr id="32" name="bind the waiter"/>
          <p:cNvSpPr txBox="1"/>
          <p:nvPr/>
        </p:nvSpPr>
        <p:spPr>
          <a:xfrm>
            <a:off x="6803438" y="2245466"/>
            <a:ext cx="153448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0" i="0" lang="en-US" spc="0">
                <a:solidFill>
                  <a:srgbClr val="000000"/>
                </a:solidFill>
                <a:latin typeface="DejaVu Sans"/>
                <a:ea typeface="DejaVu Sans"/>
                <a:effectLst/>
              </a:rPr>
              <a:t>bind the waiter</a:t>
            </a:r>
          </a:p>
        </p:txBody>
      </p:sp>
      <p:sp>
        <p:nvSpPr>
          <p:cNvPr id="33" name="circle 32"/>
          <p:cNvSpPr/>
          <p:nvPr/>
        </p:nvSpPr>
        <p:spPr>
          <a:xfrm>
            <a:off x="11249043" y="3056022"/>
            <a:ext cx="460824" cy="460824"/>
          </a:xfrm>
          <a:prstGeom prst="ellipse">
            <a:avLst/>
          </a:prstGeom>
          <a:solidFill>
            <a:srgbClr val="A6CAEC"/>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P"/>
          <p:cNvSpPr txBox="1"/>
          <p:nvPr/>
        </p:nvSpPr>
        <p:spPr>
          <a:xfrm>
            <a:off x="11354686" y="3165056"/>
            <a:ext cx="249538"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P</a:t>
            </a:r>
          </a:p>
        </p:txBody>
      </p:sp>
      <p:sp>
        <p:nvSpPr>
          <p:cNvPr id="35" name="rect 34"/>
          <p:cNvSpPr/>
          <p:nvPr/>
        </p:nvSpPr>
        <p:spPr>
          <a:xfrm>
            <a:off x="3168165" y="3697884"/>
            <a:ext cx="1094457" cy="979251"/>
          </a:xfrm>
          <a:prstGeom prst="roundRect">
            <a:avLst>
              <a:gd name="adj" fmla="val 1680"/>
            </a:avLst>
          </a:prstGeom>
          <a:solidFill>
            <a:srgbClr val="FFFFFF"/>
          </a:solidFill>
          <a:ln w="1563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polygon 35"/>
          <p:cNvSpPr/>
          <p:nvPr/>
        </p:nvSpPr>
        <p:spPr>
          <a:xfrm>
            <a:off x="4065126" y="3694821"/>
            <a:ext cx="197496" cy="197496"/>
          </a:xfrm>
          <a:custGeom>
            <a:avLst/>
            <a:gdLst/>
            <a:ahLst/>
            <a:cxnLst/>
            <a:rect l="l" t="t" r="r" b="b"/>
            <a:pathLst>
              <a:path w="24" h="24">
                <a:moveTo>
                  <a:pt x="0" y="0"/>
                </a:moveTo>
                <a:lnTo>
                  <a:pt x="24" y="24"/>
                </a:lnTo>
                <a:lnTo>
                  <a:pt x="0" y="24"/>
                </a:lnTo>
                <a:close/>
              </a:path>
            </a:pathLst>
          </a:cu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 evidence"/>
          <p:cNvSpPr txBox="1"/>
          <p:nvPr/>
        </p:nvSpPr>
        <p:spPr>
          <a:xfrm>
            <a:off x="3250455" y="3839834"/>
            <a:ext cx="965525"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163" b="0" i="0" lang="en-US" spc="0">
                <a:solidFill>
                  <a:srgbClr val="000000"/>
                </a:solidFill>
                <a:latin typeface="DejaVu Sans"/>
                <a:ea typeface="DejaVu Sans"/>
                <a:effectLst/>
              </a:rPr>
              <a:t>… evidence</a:t>
            </a:r>
          </a:p>
        </p:txBody>
      </p:sp>
      <p:sp>
        <p:nvSpPr>
          <p:cNvPr id="38" name="… checks"/>
          <p:cNvSpPr txBox="1"/>
          <p:nvPr/>
        </p:nvSpPr>
        <p:spPr>
          <a:xfrm>
            <a:off x="3250455" y="3996185"/>
            <a:ext cx="804867"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163" b="0" i="0" lang="en-US" spc="0">
                <a:solidFill>
                  <a:srgbClr val="000000"/>
                </a:solidFill>
                <a:latin typeface="DejaVu Sans"/>
                <a:ea typeface="DejaVu Sans"/>
                <a:effectLst/>
              </a:rPr>
              <a:t>… checks</a:t>
            </a:r>
          </a:p>
        </p:txBody>
      </p:sp>
      <p:sp>
        <p:nvSpPr>
          <p:cNvPr id="39" name="… summary"/>
          <p:cNvSpPr txBox="1"/>
          <p:nvPr/>
        </p:nvSpPr>
        <p:spPr>
          <a:xfrm>
            <a:off x="3250455" y="4152536"/>
            <a:ext cx="992977"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163" b="0" i="0" lang="en-US" spc="0">
                <a:solidFill>
                  <a:srgbClr val="000000"/>
                </a:solidFill>
                <a:latin typeface="DejaVu Sans"/>
                <a:ea typeface="DejaVu Sans"/>
                <a:effectLst/>
              </a:rPr>
              <a:t>… summary</a:t>
            </a:r>
          </a:p>
        </p:txBody>
      </p:sp>
      <p:sp>
        <p:nvSpPr>
          <p:cNvPr id="40" name="rect 39"/>
          <p:cNvSpPr/>
          <p:nvPr/>
        </p:nvSpPr>
        <p:spPr>
          <a:xfrm>
            <a:off x="3266913" y="4364433"/>
            <a:ext cx="684324" cy="82290"/>
          </a:xfrm>
          <a:prstGeom prst="rect">
            <a:avLst/>
          </a:prstGeom>
          <a:solidFill>
            <a:srgbClr val="F6C6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1" name="path 40"/>
          <p:cNvCxnSpPr/>
          <p:nvPr/>
        </p:nvCxnSpPr>
        <p:spPr>
          <a:xfrm>
            <a:off x="1686945" y="4134021"/>
            <a:ext cx="1431846" cy="0"/>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2" name="path 41"/>
          <p:cNvCxnSpPr/>
          <p:nvPr/>
        </p:nvCxnSpPr>
        <p:spPr>
          <a:xfrm>
            <a:off x="1686945" y="4134021"/>
            <a:ext cx="1431846" cy="0"/>
          </a:xfrm>
          <a:prstGeom prst="line">
            <a:avLst/>
          </a:prstGeom>
          <a:ln w="3950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43" name="arrowhead 42"/>
          <p:cNvSpPr/>
          <p:nvPr/>
        </p:nvSpPr>
        <p:spPr>
          <a:xfrm>
            <a:off x="2970669" y="4056897"/>
            <a:ext cx="148122" cy="148122"/>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polygon 43"/>
          <p:cNvSpPr/>
          <p:nvPr/>
        </p:nvSpPr>
        <p:spPr>
          <a:xfrm>
            <a:off x="3176394" y="4937400"/>
            <a:ext cx="1069770" cy="411450"/>
          </a:xfrm>
          <a:custGeom>
            <a:avLst/>
            <a:gdLst/>
            <a:ahLst/>
            <a:cxnLst/>
            <a:rect l="l" t="t" r="r" b="b"/>
            <a:pathLst>
              <a:path w="130" h="50">
                <a:moveTo>
                  <a:pt x="0" y="0"/>
                </a:moveTo>
                <a:lnTo>
                  <a:pt x="130" y="0"/>
                </a:lnTo>
                <a:lnTo>
                  <a:pt x="130" y="37"/>
                </a:lnTo>
                <a:lnTo>
                  <a:pt x="67" y="37"/>
                </a:lnTo>
                <a:lnTo>
                  <a:pt x="51" y="50"/>
                </a:lnTo>
                <a:lnTo>
                  <a:pt x="51" y="37"/>
                </a:lnTo>
                <a:lnTo>
                  <a:pt x="0" y="37"/>
                </a:lnTo>
                <a:close/>
              </a:path>
            </a:pathLst>
          </a:custGeom>
          <a:solidFill>
            <a:srgbClr val="F6C6AD"/>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NOTICE"/>
          <p:cNvSpPr txBox="1"/>
          <p:nvPr/>
        </p:nvSpPr>
        <p:spPr>
          <a:xfrm>
            <a:off x="3302642" y="5002180"/>
            <a:ext cx="817275" cy="234526"/>
          </a:xfrm>
          <a:prstGeom prst="rect">
            <a:avLst/>
          </a:prstGeom>
          <a:noFill/>
          <a:effectLst/>
        </p:spPr>
        <p:txBody>
          <a:bodyPr wrap="none" lIns="0" rIns="0" tIns="0" bIns="0" anchor="t">
            <a:spAutoFit/>
          </a:bodyPr>
          <a:lstStyle/>
          <a:p>
            <a:pPr algn="ctr">
              <a:lnSpc>
                <a:spcPct val="100000"/>
              </a:lnSpc>
              <a:spcBef>
                <a:spcPts val="0"/>
              </a:spcBef>
              <a:spcAft>
                <a:spcPts val="0"/>
              </a:spcAft>
            </a:pPr>
            <a:r>
              <a:rPr sz="1360" b="1" i="0" lang="en-US" spc="0">
                <a:solidFill>
                  <a:srgbClr val="000000"/>
                </a:solidFill>
                <a:latin typeface="DejaVu Sans"/>
                <a:ea typeface="DejaVu Sans"/>
                <a:effectLst/>
              </a:rPr>
              <a:t>NOTICE</a:t>
            </a:r>
          </a:p>
        </p:txBody>
      </p:sp>
      <p:sp>
        <p:nvSpPr>
          <p:cNvPr id="46" name="curve 45"/>
          <p:cNvSpPr/>
          <p:nvPr/>
        </p:nvSpPr>
        <p:spPr>
          <a:xfrm>
            <a:off x="4287309" y="3735966"/>
            <a:ext cx="1152060" cy="427908"/>
          </a:xfrm>
          <a:custGeom>
            <a:avLst/>
            <a:gdLst/>
            <a:ahLst/>
            <a:cxnLst/>
            <a:rect l="l" t="t" r="r" b="b"/>
            <a:pathLst>
              <a:path w="140" h="52">
                <a:moveTo>
                  <a:pt x="0" y="52"/>
                </a:moveTo>
                <a:lnTo>
                  <a:pt x="56" y="52"/>
                </a:lnTo>
                <a:cubicBezTo>
                  <a:pt x="65" y="52"/>
                  <a:pt x="73" y="45"/>
                  <a:pt x="73" y="35"/>
                </a:cubicBezTo>
                <a:lnTo>
                  <a:pt x="73" y="18"/>
                </a:lnTo>
                <a:cubicBezTo>
                  <a:pt x="73" y="8"/>
                  <a:pt x="81" y="0"/>
                  <a:pt x="90" y="0"/>
                </a:cubicBezTo>
                <a:lnTo>
                  <a:pt x="140"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curve 46"/>
          <p:cNvSpPr/>
          <p:nvPr/>
        </p:nvSpPr>
        <p:spPr>
          <a:xfrm>
            <a:off x="4287309" y="3735966"/>
            <a:ext cx="1152060" cy="427908"/>
          </a:xfrm>
          <a:custGeom>
            <a:avLst/>
            <a:gdLst/>
            <a:ahLst/>
            <a:cxnLst/>
            <a:rect l="l" t="t" r="r" b="b"/>
            <a:pathLst>
              <a:path w="140" h="52">
                <a:moveTo>
                  <a:pt x="0" y="52"/>
                </a:moveTo>
                <a:lnTo>
                  <a:pt x="56" y="52"/>
                </a:lnTo>
                <a:cubicBezTo>
                  <a:pt x="65" y="52"/>
                  <a:pt x="73" y="45"/>
                  <a:pt x="73" y="35"/>
                </a:cubicBezTo>
                <a:lnTo>
                  <a:pt x="73" y="18"/>
                </a:lnTo>
                <a:cubicBezTo>
                  <a:pt x="73" y="8"/>
                  <a:pt x="81" y="0"/>
                  <a:pt x="90" y="0"/>
                </a:cubicBezTo>
                <a:lnTo>
                  <a:pt x="140" y="0"/>
                </a:lnTo>
              </a:path>
            </a:pathLst>
          </a:custGeom>
          <a:noFill/>
          <a:ln w="39502">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arrowhead 47"/>
          <p:cNvSpPr/>
          <p:nvPr/>
        </p:nvSpPr>
        <p:spPr>
          <a:xfrm>
            <a:off x="5291247" y="3661905"/>
            <a:ext cx="148122" cy="148122"/>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urve 48"/>
          <p:cNvSpPr/>
          <p:nvPr/>
        </p:nvSpPr>
        <p:spPr>
          <a:xfrm>
            <a:off x="4888026" y="4163874"/>
            <a:ext cx="551343" cy="510198"/>
          </a:xfrm>
          <a:custGeom>
            <a:avLst/>
            <a:gdLst/>
            <a:ahLst/>
            <a:cxnLst/>
            <a:rect l="l" t="t" r="r" b="b"/>
            <a:pathLst>
              <a:path w="67" h="62">
                <a:moveTo>
                  <a:pt x="0" y="0"/>
                </a:moveTo>
                <a:lnTo>
                  <a:pt x="0" y="44"/>
                </a:lnTo>
                <a:cubicBezTo>
                  <a:pt x="0" y="54"/>
                  <a:pt x="8" y="62"/>
                  <a:pt x="18" y="62"/>
                </a:cubicBezTo>
                <a:lnTo>
                  <a:pt x="67" y="62"/>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urve 49"/>
          <p:cNvSpPr/>
          <p:nvPr/>
        </p:nvSpPr>
        <p:spPr>
          <a:xfrm>
            <a:off x="4888026" y="4163874"/>
            <a:ext cx="551343" cy="510198"/>
          </a:xfrm>
          <a:custGeom>
            <a:avLst/>
            <a:gdLst/>
            <a:ahLst/>
            <a:cxnLst/>
            <a:rect l="l" t="t" r="r" b="b"/>
            <a:pathLst>
              <a:path w="67" h="62">
                <a:moveTo>
                  <a:pt x="0" y="0"/>
                </a:moveTo>
                <a:lnTo>
                  <a:pt x="0" y="44"/>
                </a:lnTo>
                <a:cubicBezTo>
                  <a:pt x="0" y="54"/>
                  <a:pt x="8" y="62"/>
                  <a:pt x="18" y="62"/>
                </a:cubicBezTo>
                <a:lnTo>
                  <a:pt x="67" y="62"/>
                </a:lnTo>
              </a:path>
            </a:pathLst>
          </a:custGeom>
          <a:noFill/>
          <a:ln w="39502">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arrowhead 50"/>
          <p:cNvSpPr/>
          <p:nvPr/>
        </p:nvSpPr>
        <p:spPr>
          <a:xfrm>
            <a:off x="5291247" y="4600011"/>
            <a:ext cx="148122" cy="148122"/>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curve 51"/>
          <p:cNvSpPr/>
          <p:nvPr/>
        </p:nvSpPr>
        <p:spPr>
          <a:xfrm>
            <a:off x="4279080" y="4163874"/>
            <a:ext cx="452595" cy="913419"/>
          </a:xfrm>
          <a:custGeom>
            <a:avLst/>
            <a:gdLst/>
            <a:ahLst/>
            <a:cxnLst/>
            <a:rect l="l" t="t" r="r" b="b"/>
            <a:pathLst>
              <a:path w="55" h="111">
                <a:moveTo>
                  <a:pt x="0" y="111"/>
                </a:moveTo>
                <a:lnTo>
                  <a:pt x="23" y="111"/>
                </a:lnTo>
                <a:cubicBezTo>
                  <a:pt x="29" y="111"/>
                  <a:pt x="34" y="106"/>
                  <a:pt x="34" y="100"/>
                </a:cubicBezTo>
                <a:lnTo>
                  <a:pt x="34" y="7"/>
                </a:lnTo>
                <a:cubicBezTo>
                  <a:pt x="34" y="4"/>
                  <a:pt x="37" y="0"/>
                  <a:pt x="41" y="0"/>
                </a:cubicBezTo>
                <a:lnTo>
                  <a:pt x="55"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curve 52"/>
          <p:cNvSpPr/>
          <p:nvPr/>
        </p:nvSpPr>
        <p:spPr>
          <a:xfrm>
            <a:off x="4279080" y="4163874"/>
            <a:ext cx="452595" cy="913419"/>
          </a:xfrm>
          <a:custGeom>
            <a:avLst/>
            <a:gdLst/>
            <a:ahLst/>
            <a:cxnLst/>
            <a:rect l="l" t="t" r="r" b="b"/>
            <a:pathLst>
              <a:path w="55" h="111">
                <a:moveTo>
                  <a:pt x="0" y="111"/>
                </a:moveTo>
                <a:lnTo>
                  <a:pt x="23" y="111"/>
                </a:lnTo>
                <a:cubicBezTo>
                  <a:pt x="29" y="111"/>
                  <a:pt x="34" y="106"/>
                  <a:pt x="34" y="100"/>
                </a:cubicBezTo>
                <a:lnTo>
                  <a:pt x="34" y="7"/>
                </a:lnTo>
                <a:cubicBezTo>
                  <a:pt x="34" y="4"/>
                  <a:pt x="37" y="0"/>
                  <a:pt x="41" y="0"/>
                </a:cubicBezTo>
                <a:lnTo>
                  <a:pt x="55" y="0"/>
                </a:lnTo>
              </a:path>
            </a:pathLst>
          </a:custGeom>
          <a:noFill/>
          <a:ln w="39502">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arrowhead 53"/>
          <p:cNvSpPr/>
          <p:nvPr/>
        </p:nvSpPr>
        <p:spPr>
          <a:xfrm>
            <a:off x="4632927" y="4114500"/>
            <a:ext cx="98748" cy="98748"/>
          </a:xfrm>
          <a:custGeom>
            <a:avLst/>
            <a:gdLst/>
            <a:ahLst/>
            <a:cxnLst/>
            <a:rect l="l" t="t" r="r" b="b"/>
            <a:pathLst>
              <a:path w="12" h="12">
                <a:moveTo>
                  <a:pt x="12" y="6"/>
                </a:moveTo>
                <a:lnTo>
                  <a:pt x="0" y="12"/>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circle 54"/>
          <p:cNvSpPr/>
          <p:nvPr/>
        </p:nvSpPr>
        <p:spPr>
          <a:xfrm>
            <a:off x="4567095" y="4010586"/>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2"/>
          <p:cNvSpPr txBox="1"/>
          <p:nvPr/>
        </p:nvSpPr>
        <p:spPr>
          <a:xfrm>
            <a:off x="4608224" y="4051731"/>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2</a:t>
            </a:r>
          </a:p>
        </p:txBody>
      </p:sp>
      <p:sp>
        <p:nvSpPr>
          <p:cNvPr id="57" name="infer"/>
          <p:cNvSpPr txBox="1"/>
          <p:nvPr/>
        </p:nvSpPr>
        <p:spPr>
          <a:xfrm>
            <a:off x="4394832" y="3216488"/>
            <a:ext cx="624311"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infer</a:t>
            </a:r>
          </a:p>
        </p:txBody>
      </p:sp>
      <p:sp>
        <p:nvSpPr>
          <p:cNvPr id="58" name="p"/>
          <p:cNvSpPr txBox="1"/>
          <p:nvPr/>
        </p:nvSpPr>
        <p:spPr>
          <a:xfrm>
            <a:off x="6078740" y="3239117"/>
            <a:ext cx="226298" cy="316816"/>
          </a:xfrm>
          <a:prstGeom prst="rect">
            <a:avLst/>
          </a:prstGeom>
          <a:noFill/>
          <a:effectLst/>
        </p:spPr>
        <p:txBody>
          <a:bodyPr wrap="none" lIns="0" rIns="0" tIns="0" bIns="0" anchor="t">
            <a:spAutoFit/>
          </a:bodyPr>
          <a:lstStyle/>
          <a:p>
            <a:pPr algn="l">
              <a:lnSpc>
                <a:spcPct val="100000"/>
              </a:lnSpc>
              <a:spcBef>
                <a:spcPts val="0"/>
              </a:spcBef>
              <a:spcAft>
                <a:spcPts val="0"/>
              </a:spcAft>
            </a:pPr>
            <a:r>
              <a:rPr sz="2008" b="0" i="1" lang="en-US" spc="0">
                <a:solidFill>
                  <a:srgbClr val="000000"/>
                </a:solidFill>
                <a:latin typeface="Liberation Serif"/>
                <a:ea typeface="Liberation Serif"/>
                <a:effectLst/>
              </a:rPr>
              <a:t>p</a:t>
            </a:r>
          </a:p>
        </p:txBody>
      </p:sp>
      <p:sp>
        <p:nvSpPr>
          <p:cNvPr id="59" name="final"/>
          <p:cNvSpPr txBox="1"/>
          <p:nvPr/>
        </p:nvSpPr>
        <p:spPr>
          <a:xfrm>
            <a:off x="6214518" y="3381068"/>
            <a:ext cx="404089" cy="220126"/>
          </a:xfrm>
          <a:prstGeom prst="rect">
            <a:avLst/>
          </a:prstGeom>
          <a:noFill/>
          <a:effectLst/>
        </p:spPr>
        <p:txBody>
          <a:bodyPr wrap="none" lIns="0" rIns="0" tIns="0" bIns="0" anchor="t">
            <a:spAutoFit/>
          </a:bodyPr>
          <a:lstStyle/>
          <a:p>
            <a:pPr algn="l">
              <a:lnSpc>
                <a:spcPct val="100000"/>
              </a:lnSpc>
              <a:spcBef>
                <a:spcPts val="0"/>
              </a:spcBef>
              <a:spcAft>
                <a:spcPts val="0"/>
              </a:spcAft>
            </a:pPr>
            <a:r>
              <a:rPr sz="1305" b="0" i="0" lang="en-US" spc="0">
                <a:solidFill>
                  <a:srgbClr val="000000"/>
                </a:solidFill>
                <a:latin typeface="Liberation Serif"/>
                <a:ea typeface="Liberation Serif"/>
                <a:effectLst/>
              </a:rPr>
              <a:t>final</a:t>
            </a:r>
          </a:p>
        </p:txBody>
      </p:sp>
      <p:sp>
        <p:nvSpPr>
          <p:cNvPr id="60" name="rect 59"/>
          <p:cNvSpPr/>
          <p:nvPr/>
        </p:nvSpPr>
        <p:spPr>
          <a:xfrm>
            <a:off x="5595720" y="3623823"/>
            <a:ext cx="1440075" cy="213954"/>
          </a:xfrm>
          <a:prstGeom prst="rect">
            <a:avLst/>
          </a:prstGeom>
          <a:solidFill>
            <a:srgbClr val="FFFFFF"/>
          </a:solidFill>
          <a:ln w="9875">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ect 60"/>
          <p:cNvSpPr/>
          <p:nvPr/>
        </p:nvSpPr>
        <p:spPr>
          <a:xfrm>
            <a:off x="5595720" y="3623823"/>
            <a:ext cx="1028625" cy="213954"/>
          </a:xfrm>
          <a:prstGeom prst="rect">
            <a:avLst/>
          </a:prstGeom>
          <a:solidFill>
            <a:srgbClr val="A6CAEC"/>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 name="line 61"/>
          <p:cNvCxnSpPr/>
          <p:nvPr/>
        </p:nvCxnSpPr>
        <p:spPr>
          <a:xfrm>
            <a:off x="5595720" y="4677135"/>
            <a:ext cx="1440075" cy="0"/>
          </a:xfrm>
          <a:prstGeom prst="line">
            <a:avLst/>
          </a:prstGeom>
          <a:ln w="20574">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3" name="line 62"/>
          <p:cNvCxnSpPr/>
          <p:nvPr/>
        </p:nvCxnSpPr>
        <p:spPr>
          <a:xfrm>
            <a:off x="5595720" y="4603074"/>
            <a:ext cx="0" cy="148122"/>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64" name="line 63"/>
          <p:cNvCxnSpPr/>
          <p:nvPr/>
        </p:nvCxnSpPr>
        <p:spPr>
          <a:xfrm>
            <a:off x="7035795" y="4603074"/>
            <a:ext cx="0" cy="148122"/>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65" name="circle 64"/>
          <p:cNvSpPr/>
          <p:nvPr/>
        </p:nvSpPr>
        <p:spPr>
          <a:xfrm>
            <a:off x="6344559" y="4635990"/>
            <a:ext cx="82290" cy="82290"/>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W"/>
          <p:cNvSpPr txBox="1"/>
          <p:nvPr/>
        </p:nvSpPr>
        <p:spPr>
          <a:xfrm>
            <a:off x="5805624" y="4825257"/>
            <a:ext cx="297530"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1" lang="en-US" spc="0">
                <a:solidFill>
                  <a:srgbClr val="000000"/>
                </a:solidFill>
                <a:latin typeface="Liberation Serif"/>
                <a:ea typeface="Liberation Serif"/>
                <a:effectLst/>
              </a:rPr>
              <a:t>W</a:t>
            </a:r>
          </a:p>
        </p:txBody>
      </p:sp>
      <p:sp>
        <p:nvSpPr>
          <p:cNvPr id="67" name="lo"/>
          <p:cNvSpPr txBox="1"/>
          <p:nvPr/>
        </p:nvSpPr>
        <p:spPr>
          <a:xfrm>
            <a:off x="6012635" y="4961036"/>
            <a:ext cx="218776"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221" b="0" i="0" lang="en-US" spc="0">
                <a:solidFill>
                  <a:srgbClr val="000000"/>
                </a:solidFill>
                <a:latin typeface="Liberation Serif"/>
                <a:ea typeface="Liberation Serif"/>
                <a:effectLst/>
              </a:rPr>
              <a:t>lo</a:t>
            </a:r>
          </a:p>
        </p:txBody>
      </p:sp>
      <p:sp>
        <p:nvSpPr>
          <p:cNvPr id="68" name=" … "/>
          <p:cNvSpPr txBox="1"/>
          <p:nvPr/>
        </p:nvSpPr>
        <p:spPr>
          <a:xfrm>
            <a:off x="6140891" y="4825257"/>
            <a:ext cx="456710"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0" lang="en-US" spc="0">
                <a:solidFill>
                  <a:srgbClr val="000000"/>
                </a:solidFill>
                <a:latin typeface="Liberation Serif"/>
                <a:ea typeface="Liberation Serif"/>
                <a:effectLst/>
              </a:rPr>
              <a:t> … </a:t>
            </a:r>
          </a:p>
        </p:txBody>
      </p:sp>
      <p:sp>
        <p:nvSpPr>
          <p:cNvPr id="69" name="W"/>
          <p:cNvSpPr txBox="1"/>
          <p:nvPr/>
        </p:nvSpPr>
        <p:spPr>
          <a:xfrm>
            <a:off x="6498853" y="4825257"/>
            <a:ext cx="297530"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1" lang="en-US" spc="0">
                <a:solidFill>
                  <a:srgbClr val="000000"/>
                </a:solidFill>
                <a:latin typeface="Liberation Serif"/>
                <a:ea typeface="Liberation Serif"/>
                <a:effectLst/>
              </a:rPr>
              <a:t>W</a:t>
            </a:r>
          </a:p>
        </p:txBody>
      </p:sp>
      <p:sp>
        <p:nvSpPr>
          <p:cNvPr id="70" name="hi"/>
          <p:cNvSpPr txBox="1"/>
          <p:nvPr/>
        </p:nvSpPr>
        <p:spPr>
          <a:xfrm>
            <a:off x="6705864" y="4961036"/>
            <a:ext cx="218776"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221" b="0" i="0" lang="en-US" spc="0">
                <a:solidFill>
                  <a:srgbClr val="000000"/>
                </a:solidFill>
                <a:latin typeface="Liberation Serif"/>
                <a:ea typeface="Liberation Serif"/>
                <a:effectLst/>
              </a:rPr>
              <a:t>hi</a:t>
            </a:r>
          </a:p>
        </p:txBody>
      </p:sp>
      <p:sp>
        <p:nvSpPr>
          <p:cNvPr id="71" name="tokens left if final"/>
          <p:cNvSpPr txBox="1"/>
          <p:nvPr/>
        </p:nvSpPr>
        <p:spPr>
          <a:xfrm>
            <a:off x="5449495" y="5199676"/>
            <a:ext cx="1740755"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0" i="0" lang="en-US" spc="0">
                <a:solidFill>
                  <a:srgbClr val="000000"/>
                </a:solidFill>
                <a:latin typeface="DejaVu Sans"/>
                <a:ea typeface="DejaVu Sans"/>
                <a:effectLst/>
              </a:rPr>
              <a:t>tokens left if final</a:t>
            </a:r>
          </a:p>
        </p:txBody>
      </p:sp>
      <p:sp>
        <p:nvSpPr>
          <p:cNvPr id="72" name="curve 71"/>
          <p:cNvSpPr/>
          <p:nvPr/>
        </p:nvSpPr>
        <p:spPr>
          <a:xfrm>
            <a:off x="7101627" y="3727737"/>
            <a:ext cx="551343" cy="584259"/>
          </a:xfrm>
          <a:custGeom>
            <a:avLst/>
            <a:gdLst/>
            <a:ahLst/>
            <a:cxnLst/>
            <a:rect l="l" t="t" r="r" b="b"/>
            <a:pathLst>
              <a:path w="67" h="71">
                <a:moveTo>
                  <a:pt x="0" y="0"/>
                </a:moveTo>
                <a:lnTo>
                  <a:pt x="49" y="0"/>
                </a:lnTo>
                <a:cubicBezTo>
                  <a:pt x="59" y="0"/>
                  <a:pt x="67" y="8"/>
                  <a:pt x="67" y="18"/>
                </a:cubicBezTo>
                <a:lnTo>
                  <a:pt x="67" y="71"/>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urve 72"/>
          <p:cNvSpPr/>
          <p:nvPr/>
        </p:nvSpPr>
        <p:spPr>
          <a:xfrm>
            <a:off x="7101627" y="3727737"/>
            <a:ext cx="551343" cy="584259"/>
          </a:xfrm>
          <a:custGeom>
            <a:avLst/>
            <a:gdLst/>
            <a:ahLst/>
            <a:cxnLst/>
            <a:rect l="l" t="t" r="r" b="b"/>
            <a:pathLst>
              <a:path w="67" h="71">
                <a:moveTo>
                  <a:pt x="0" y="0"/>
                </a:moveTo>
                <a:lnTo>
                  <a:pt x="49" y="0"/>
                </a:lnTo>
                <a:cubicBezTo>
                  <a:pt x="59" y="0"/>
                  <a:pt x="67" y="8"/>
                  <a:pt x="67" y="18"/>
                </a:cubicBezTo>
                <a:lnTo>
                  <a:pt x="67" y="71"/>
                </a:lnTo>
              </a:path>
            </a:pathLst>
          </a:custGeom>
          <a:noFill/>
          <a:ln w="3950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arrowhead 73"/>
          <p:cNvSpPr/>
          <p:nvPr/>
        </p:nvSpPr>
        <p:spPr>
          <a:xfrm>
            <a:off x="7578909" y="4163874"/>
            <a:ext cx="148122" cy="148122"/>
          </a:xfrm>
          <a:custGeom>
            <a:avLst/>
            <a:gdLst/>
            <a:ahLst/>
            <a:cxnLst/>
            <a:rect l="l" t="t" r="r" b="b"/>
            <a:pathLst>
              <a:path w="18" h="18">
                <a:moveTo>
                  <a:pt x="9" y="18"/>
                </a:moveTo>
                <a:lnTo>
                  <a:pt x="0" y="0"/>
                </a:lnTo>
                <a:lnTo>
                  <a:pt x="9" y="5"/>
                </a:lnTo>
                <a:lnTo>
                  <a:pt x="18"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curve 74"/>
          <p:cNvSpPr/>
          <p:nvPr/>
        </p:nvSpPr>
        <p:spPr>
          <a:xfrm>
            <a:off x="7109856" y="4163874"/>
            <a:ext cx="1398930" cy="510198"/>
          </a:xfrm>
          <a:custGeom>
            <a:avLst/>
            <a:gdLst/>
            <a:ahLst/>
            <a:cxnLst/>
            <a:rect l="l" t="t" r="r" b="b"/>
            <a:pathLst>
              <a:path w="170" h="62">
                <a:moveTo>
                  <a:pt x="0" y="62"/>
                </a:moveTo>
                <a:lnTo>
                  <a:pt x="48" y="62"/>
                </a:lnTo>
                <a:cubicBezTo>
                  <a:pt x="58" y="62"/>
                  <a:pt x="66" y="54"/>
                  <a:pt x="66" y="44"/>
                </a:cubicBezTo>
                <a:lnTo>
                  <a:pt x="66" y="18"/>
                </a:lnTo>
                <a:cubicBezTo>
                  <a:pt x="66" y="8"/>
                  <a:pt x="74" y="0"/>
                  <a:pt x="84" y="0"/>
                </a:cubicBezTo>
                <a:lnTo>
                  <a:pt x="170"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curve 75"/>
          <p:cNvSpPr/>
          <p:nvPr/>
        </p:nvSpPr>
        <p:spPr>
          <a:xfrm>
            <a:off x="7109856" y="4163874"/>
            <a:ext cx="1398930" cy="510198"/>
          </a:xfrm>
          <a:custGeom>
            <a:avLst/>
            <a:gdLst/>
            <a:ahLst/>
            <a:cxnLst/>
            <a:rect l="l" t="t" r="r" b="b"/>
            <a:pathLst>
              <a:path w="170" h="62">
                <a:moveTo>
                  <a:pt x="0" y="62"/>
                </a:moveTo>
                <a:lnTo>
                  <a:pt x="48" y="62"/>
                </a:lnTo>
                <a:cubicBezTo>
                  <a:pt x="58" y="62"/>
                  <a:pt x="66" y="54"/>
                  <a:pt x="66" y="44"/>
                </a:cubicBezTo>
                <a:lnTo>
                  <a:pt x="66" y="18"/>
                </a:lnTo>
                <a:cubicBezTo>
                  <a:pt x="66" y="8"/>
                  <a:pt x="74" y="0"/>
                  <a:pt x="84" y="0"/>
                </a:cubicBezTo>
                <a:lnTo>
                  <a:pt x="170" y="0"/>
                </a:lnTo>
              </a:path>
            </a:pathLst>
          </a:custGeom>
          <a:noFill/>
          <a:ln w="3950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arrowhead 76"/>
          <p:cNvSpPr/>
          <p:nvPr/>
        </p:nvSpPr>
        <p:spPr>
          <a:xfrm>
            <a:off x="8311290" y="4065126"/>
            <a:ext cx="197496" cy="197496"/>
          </a:xfrm>
          <a:custGeom>
            <a:avLst/>
            <a:gdLst/>
            <a:ahLst/>
            <a:cxnLst/>
            <a:rect l="l" t="t" r="r" b="b"/>
            <a:pathLst>
              <a:path w="24" h="24">
                <a:moveTo>
                  <a:pt x="24" y="12"/>
                </a:moveTo>
                <a:lnTo>
                  <a:pt x="0" y="24"/>
                </a:lnTo>
                <a:lnTo>
                  <a:pt x="6" y="12"/>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circle 77"/>
          <p:cNvSpPr/>
          <p:nvPr/>
        </p:nvSpPr>
        <p:spPr>
          <a:xfrm>
            <a:off x="7924527" y="4010586"/>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3"/>
          <p:cNvSpPr txBox="1"/>
          <p:nvPr/>
        </p:nvSpPr>
        <p:spPr>
          <a:xfrm>
            <a:off x="7965656" y="4051731"/>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3</a:t>
            </a:r>
          </a:p>
        </p:txBody>
      </p:sp>
      <p:sp>
        <p:nvSpPr>
          <p:cNvPr id="80" name="roll forward"/>
          <p:cNvSpPr txBox="1"/>
          <p:nvPr/>
        </p:nvSpPr>
        <p:spPr>
          <a:xfrm>
            <a:off x="7647698" y="3348152"/>
            <a:ext cx="1409473"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roll forward</a:t>
            </a:r>
          </a:p>
        </p:txBody>
      </p:sp>
      <p:sp>
        <p:nvSpPr>
          <p:cNvPr id="81" name="circle 80"/>
          <p:cNvSpPr/>
          <p:nvPr/>
        </p:nvSpPr>
        <p:spPr>
          <a:xfrm>
            <a:off x="8566389" y="3969441"/>
            <a:ext cx="394992" cy="394992"/>
          </a:xfrm>
          <a:prstGeom prst="ellipse">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path 81"/>
          <p:cNvSpPr/>
          <p:nvPr/>
        </p:nvSpPr>
        <p:spPr>
          <a:xfrm>
            <a:off x="8763885" y="4040439"/>
            <a:ext cx="106977" cy="172809"/>
          </a:xfrm>
          <a:custGeom>
            <a:avLst/>
            <a:gdLst/>
            <a:ahLst/>
            <a:cxnLst/>
            <a:rect l="l" t="t" r="r" b="b"/>
            <a:pathLst>
              <a:path w="13" h="21">
                <a:moveTo>
                  <a:pt x="0" y="0"/>
                </a:moveTo>
                <a:lnTo>
                  <a:pt x="0" y="15"/>
                </a:lnTo>
                <a:lnTo>
                  <a:pt x="13" y="21"/>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3" name="path 82"/>
          <p:cNvCxnSpPr/>
          <p:nvPr/>
        </p:nvCxnSpPr>
        <p:spPr>
          <a:xfrm>
            <a:off x="9010755" y="4166937"/>
            <a:ext cx="1654029" cy="0"/>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84" name="path 83"/>
          <p:cNvCxnSpPr/>
          <p:nvPr/>
        </p:nvCxnSpPr>
        <p:spPr>
          <a:xfrm>
            <a:off x="9010755" y="4166937"/>
            <a:ext cx="1654029" cy="0"/>
          </a:xfrm>
          <a:prstGeom prst="line">
            <a:avLst/>
          </a:prstGeom>
          <a:ln w="3950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85" name="arrowhead 84"/>
          <p:cNvSpPr/>
          <p:nvPr/>
        </p:nvSpPr>
        <p:spPr>
          <a:xfrm>
            <a:off x="10516662" y="4089813"/>
            <a:ext cx="148122" cy="148122"/>
          </a:xfrm>
          <a:custGeom>
            <a:avLst/>
            <a:gdLst/>
            <a:ahLst/>
            <a:cxnLst/>
            <a:rect l="l" t="t" r="r" b="b"/>
            <a:pathLst>
              <a:path w="18" h="18">
                <a:moveTo>
                  <a:pt x="0" y="18"/>
                </a:moveTo>
                <a:lnTo>
                  <a:pt x="18" y="9"/>
                </a:lnTo>
                <a:lnTo>
                  <a:pt x="0" y="0"/>
                </a:lnTo>
              </a:path>
            </a:pathLst>
          </a:custGeom>
          <a:noFill/>
          <a:ln w="2314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τ"/>
          <p:cNvSpPr txBox="1"/>
          <p:nvPr/>
        </p:nvSpPr>
        <p:spPr>
          <a:xfrm>
            <a:off x="10922262" y="4728566"/>
            <a:ext cx="192996" cy="327103"/>
          </a:xfrm>
          <a:prstGeom prst="rect">
            <a:avLst/>
          </a:prstGeom>
          <a:noFill/>
          <a:effectLst/>
        </p:spPr>
        <p:txBody>
          <a:bodyPr wrap="none" lIns="0" rIns="0" tIns="0" bIns="0" anchor="t">
            <a:spAutoFit/>
          </a:bodyPr>
          <a:lstStyle/>
          <a:p>
            <a:pPr algn="l">
              <a:lnSpc>
                <a:spcPct val="100000"/>
              </a:lnSpc>
              <a:spcBef>
                <a:spcPts val="0"/>
              </a:spcBef>
              <a:spcAft>
                <a:spcPts val="0"/>
              </a:spcAft>
            </a:pPr>
            <a:r>
              <a:rPr sz="2073" b="0" i="1" lang="en-US" spc="0">
                <a:solidFill>
                  <a:srgbClr val="000000"/>
                </a:solidFill>
                <a:latin typeface="Liberation Serif"/>
                <a:ea typeface="Liberation Serif"/>
                <a:effectLst/>
              </a:rPr>
              <a:t>τ</a:t>
            </a:r>
          </a:p>
        </p:txBody>
      </p:sp>
      <p:sp>
        <p:nvSpPr>
          <p:cNvPr id="87" name=" ≈ "/>
          <p:cNvSpPr txBox="1"/>
          <p:nvPr/>
        </p:nvSpPr>
        <p:spPr>
          <a:xfrm>
            <a:off x="11016509" y="4728566"/>
            <a:ext cx="374934" cy="327103"/>
          </a:xfrm>
          <a:prstGeom prst="rect">
            <a:avLst/>
          </a:prstGeom>
          <a:noFill/>
          <a:effectLst/>
        </p:spPr>
        <p:txBody>
          <a:bodyPr wrap="none" lIns="0" rIns="0" tIns="0" bIns="0" anchor="t">
            <a:spAutoFit/>
          </a:bodyPr>
          <a:lstStyle/>
          <a:p>
            <a:pPr algn="l">
              <a:lnSpc>
                <a:spcPct val="100000"/>
              </a:lnSpc>
              <a:spcBef>
                <a:spcPts val="0"/>
              </a:spcBef>
              <a:spcAft>
                <a:spcPts val="0"/>
              </a:spcAft>
            </a:pPr>
            <a:r>
              <a:rPr sz="2073" b="0" i="0" lang="en-US" spc="0">
                <a:solidFill>
                  <a:srgbClr val="000000"/>
                </a:solidFill>
                <a:latin typeface="Liberation Serif"/>
                <a:ea typeface="Liberation Serif"/>
                <a:effectLst/>
              </a:rPr>
              <a:t> ≈ </a:t>
            </a:r>
          </a:p>
        </p:txBody>
      </p:sp>
      <p:sp>
        <p:nvSpPr>
          <p:cNvPr id="88" name="W"/>
          <p:cNvSpPr txBox="1"/>
          <p:nvPr/>
        </p:nvSpPr>
        <p:spPr>
          <a:xfrm>
            <a:off x="11292695" y="4728566"/>
            <a:ext cx="318102" cy="327103"/>
          </a:xfrm>
          <a:prstGeom prst="rect">
            <a:avLst/>
          </a:prstGeom>
          <a:noFill/>
          <a:effectLst/>
        </p:spPr>
        <p:txBody>
          <a:bodyPr wrap="none" lIns="0" rIns="0" tIns="0" bIns="0" anchor="t">
            <a:spAutoFit/>
          </a:bodyPr>
          <a:lstStyle/>
          <a:p>
            <a:pPr algn="l">
              <a:lnSpc>
                <a:spcPct val="100000"/>
              </a:lnSpc>
              <a:spcBef>
                <a:spcPts val="0"/>
              </a:spcBef>
              <a:spcAft>
                <a:spcPts val="0"/>
              </a:spcAft>
            </a:pPr>
            <a:r>
              <a:rPr sz="2073" b="0" i="1" lang="en-US" spc="0">
                <a:solidFill>
                  <a:srgbClr val="000000"/>
                </a:solidFill>
                <a:latin typeface="Liberation Serif"/>
                <a:ea typeface="Liberation Serif"/>
                <a:effectLst/>
              </a:rPr>
              <a:t>W</a:t>
            </a:r>
          </a:p>
        </p:txBody>
      </p:sp>
      <p:sp>
        <p:nvSpPr>
          <p:cNvPr id="89" name=" / "/>
          <p:cNvSpPr txBox="1"/>
          <p:nvPr/>
        </p:nvSpPr>
        <p:spPr>
          <a:xfrm>
            <a:off x="11512050" y="4728566"/>
            <a:ext cx="303573" cy="327103"/>
          </a:xfrm>
          <a:prstGeom prst="rect">
            <a:avLst/>
          </a:prstGeom>
          <a:noFill/>
          <a:effectLst/>
        </p:spPr>
        <p:txBody>
          <a:bodyPr wrap="none" lIns="0" rIns="0" tIns="0" bIns="0" anchor="t">
            <a:spAutoFit/>
          </a:bodyPr>
          <a:lstStyle/>
          <a:p>
            <a:pPr algn="l">
              <a:lnSpc>
                <a:spcPct val="100000"/>
              </a:lnSpc>
              <a:spcBef>
                <a:spcPts val="0"/>
              </a:spcBef>
              <a:spcAft>
                <a:spcPts val="0"/>
              </a:spcAft>
            </a:pPr>
            <a:r>
              <a:rPr sz="2073" b="0" i="0" lang="en-US" spc="0">
                <a:solidFill>
                  <a:srgbClr val="000000"/>
                </a:solidFill>
                <a:latin typeface="Liberation Serif"/>
                <a:ea typeface="Liberation Serif"/>
                <a:effectLst/>
              </a:rPr>
              <a:t> / </a:t>
            </a:r>
          </a:p>
        </p:txBody>
      </p:sp>
      <p:sp>
        <p:nvSpPr>
          <p:cNvPr id="90" name="v"/>
          <p:cNvSpPr txBox="1"/>
          <p:nvPr/>
        </p:nvSpPr>
        <p:spPr>
          <a:xfrm>
            <a:off x="11716875" y="4728566"/>
            <a:ext cx="215626" cy="327103"/>
          </a:xfrm>
          <a:prstGeom prst="rect">
            <a:avLst/>
          </a:prstGeom>
          <a:noFill/>
          <a:effectLst/>
        </p:spPr>
        <p:txBody>
          <a:bodyPr wrap="none" lIns="0" rIns="0" tIns="0" bIns="0" anchor="t">
            <a:spAutoFit/>
          </a:bodyPr>
          <a:lstStyle/>
          <a:p>
            <a:pPr algn="l">
              <a:lnSpc>
                <a:spcPct val="100000"/>
              </a:lnSpc>
              <a:spcBef>
                <a:spcPts val="0"/>
              </a:spcBef>
              <a:spcAft>
                <a:spcPts val="0"/>
              </a:spcAft>
            </a:pPr>
            <a:r>
              <a:rPr sz="2073" b="0" i="1" lang="en-US" spc="0">
                <a:solidFill>
                  <a:srgbClr val="000000"/>
                </a:solidFill>
                <a:latin typeface="Liberation Serif"/>
                <a:ea typeface="Liberation Serif"/>
                <a:effectLst/>
              </a:rPr>
              <a:t>v</a:t>
            </a:r>
          </a:p>
        </p:txBody>
      </p:sp>
      <p:sp>
        <p:nvSpPr>
          <p:cNvPr id="91" name="eff"/>
          <p:cNvSpPr txBox="1"/>
          <p:nvPr/>
        </p:nvSpPr>
        <p:spPr>
          <a:xfrm>
            <a:off x="11841981" y="4878746"/>
            <a:ext cx="285186" cy="222183"/>
          </a:xfrm>
          <a:prstGeom prst="rect">
            <a:avLst/>
          </a:prstGeom>
          <a:noFill/>
          <a:effectLst/>
        </p:spPr>
        <p:txBody>
          <a:bodyPr wrap="none" lIns="0" rIns="0" tIns="0" bIns="0" anchor="t">
            <a:spAutoFit/>
          </a:bodyPr>
          <a:lstStyle/>
          <a:p>
            <a:pPr algn="l">
              <a:lnSpc>
                <a:spcPct val="100000"/>
              </a:lnSpc>
              <a:spcBef>
                <a:spcPts val="0"/>
              </a:spcBef>
              <a:spcAft>
                <a:spcPts val="0"/>
              </a:spcAft>
            </a:pPr>
            <a:r>
              <a:rPr sz="1347" b="0" i="0" lang="en-US" spc="0">
                <a:solidFill>
                  <a:srgbClr val="000000"/>
                </a:solidFill>
                <a:latin typeface="Liberation Serif"/>
                <a:ea typeface="Liberation Serif"/>
                <a:effectLst/>
              </a:rPr>
              <a:t>eff</a:t>
            </a:r>
          </a:p>
        </p:txBody>
      </p:sp>
      <p:sp>
        <p:nvSpPr>
          <p:cNvPr id="92" name="rect 91"/>
          <p:cNvSpPr/>
          <p:nvPr/>
        </p:nvSpPr>
        <p:spPr>
          <a:xfrm>
            <a:off x="8327748" y="5129730"/>
            <a:ext cx="205725" cy="123435"/>
          </a:xfrm>
          <a:prstGeom prst="rect">
            <a:avLst/>
          </a:prstGeom>
          <a:solidFill>
            <a:srgbClr val="A6CAEC"/>
          </a:solidFill>
          <a:ln w="740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 92"/>
          <p:cNvSpPr/>
          <p:nvPr/>
        </p:nvSpPr>
        <p:spPr>
          <a:xfrm>
            <a:off x="8969610" y="5129730"/>
            <a:ext cx="320931" cy="123435"/>
          </a:xfrm>
          <a:prstGeom prst="rect">
            <a:avLst/>
          </a:prstGeom>
          <a:solidFill>
            <a:srgbClr val="A6CAEC"/>
          </a:solidFill>
          <a:ln w="740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ect 93"/>
          <p:cNvSpPr/>
          <p:nvPr/>
        </p:nvSpPr>
        <p:spPr>
          <a:xfrm>
            <a:off x="9611472" y="5129730"/>
            <a:ext cx="477282" cy="123435"/>
          </a:xfrm>
          <a:prstGeom prst="rect">
            <a:avLst/>
          </a:prstGeom>
          <a:solidFill>
            <a:srgbClr val="A6CAEC"/>
          </a:solidFill>
          <a:ln w="7406">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observed service"/>
          <p:cNvSpPr txBox="1"/>
          <p:nvPr/>
        </p:nvSpPr>
        <p:spPr>
          <a:xfrm>
            <a:off x="8542570" y="5463004"/>
            <a:ext cx="1644064" cy="244813"/>
          </a:xfrm>
          <a:prstGeom prst="rect">
            <a:avLst/>
          </a:prstGeom>
          <a:noFill/>
          <a:effectLst/>
        </p:spPr>
        <p:txBody>
          <a:bodyPr wrap="none" lIns="0" rIns="0" tIns="0" bIns="0" anchor="t">
            <a:spAutoFit/>
          </a:bodyPr>
          <a:lstStyle/>
          <a:p>
            <a:pPr algn="ctr">
              <a:lnSpc>
                <a:spcPct val="100000"/>
              </a:lnSpc>
              <a:spcBef>
                <a:spcPts val="0"/>
              </a:spcBef>
              <a:spcAft>
                <a:spcPts val="0"/>
              </a:spcAft>
            </a:pPr>
            <a:r>
              <a:rPr sz="1425" b="0" i="0" lang="en-US" spc="0">
                <a:solidFill>
                  <a:srgbClr val="000000"/>
                </a:solidFill>
                <a:latin typeface="DejaVu Sans"/>
                <a:ea typeface="DejaVu Sans"/>
                <a:effectLst/>
              </a:rPr>
              <a:t>observed service</a:t>
            </a:r>
          </a:p>
        </p:txBody>
      </p:sp>
      <p:cxnSp>
        <p:nvCxnSpPr>
          <p:cNvPr id="96" name="path 95"/>
          <p:cNvCxnSpPr/>
          <p:nvPr/>
        </p:nvCxnSpPr>
        <p:spPr>
          <a:xfrm flipV="1">
            <a:off x="8763885" y="4430265"/>
            <a:ext cx="0" cy="641862"/>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97" name="path 96"/>
          <p:cNvCxnSpPr/>
          <p:nvPr/>
        </p:nvCxnSpPr>
        <p:spPr>
          <a:xfrm flipV="1">
            <a:off x="8763885" y="4430265"/>
            <a:ext cx="0" cy="641862"/>
          </a:xfrm>
          <a:prstGeom prst="line">
            <a:avLst/>
          </a:prstGeom>
          <a:ln w="3950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98" name="arrowhead 97"/>
          <p:cNvSpPr/>
          <p:nvPr/>
        </p:nvSpPr>
        <p:spPr>
          <a:xfrm>
            <a:off x="8689824" y="4427202"/>
            <a:ext cx="148122" cy="148122"/>
          </a:xfrm>
          <a:custGeom>
            <a:avLst/>
            <a:gdLst/>
            <a:ahLst/>
            <a:cxnLst/>
            <a:rect l="l" t="t" r="r" b="b"/>
            <a:pathLst>
              <a:path w="18" h="18">
                <a:moveTo>
                  <a:pt x="18" y="18"/>
                </a:moveTo>
                <a:lnTo>
                  <a:pt x="9" y="0"/>
                </a:lnTo>
                <a:lnTo>
                  <a:pt x="0" y="18"/>
                </a:lnTo>
              </a:path>
            </a:pathLst>
          </a:custGeom>
          <a:noFill/>
          <a:ln w="2314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9" name="line 98"/>
          <p:cNvCxnSpPr/>
          <p:nvPr/>
        </p:nvCxnSpPr>
        <p:spPr>
          <a:xfrm>
            <a:off x="10779990" y="4166937"/>
            <a:ext cx="1398930" cy="0"/>
          </a:xfrm>
          <a:prstGeom prst="line">
            <a:avLst/>
          </a:prstGeom>
          <a:ln w="20574">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00" name="line 99"/>
          <p:cNvCxnSpPr/>
          <p:nvPr/>
        </p:nvCxnSpPr>
        <p:spPr>
          <a:xfrm>
            <a:off x="10779990" y="4092876"/>
            <a:ext cx="0" cy="148122"/>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01" name="line 100"/>
          <p:cNvCxnSpPr/>
          <p:nvPr/>
        </p:nvCxnSpPr>
        <p:spPr>
          <a:xfrm>
            <a:off x="12178920" y="4092876"/>
            <a:ext cx="0" cy="148122"/>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02" name="circle 101"/>
          <p:cNvSpPr/>
          <p:nvPr/>
        </p:nvSpPr>
        <p:spPr>
          <a:xfrm>
            <a:off x="11520600" y="4125792"/>
            <a:ext cx="82290" cy="82290"/>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3" name="line 102"/>
          <p:cNvCxnSpPr/>
          <p:nvPr/>
        </p:nvCxnSpPr>
        <p:spPr>
          <a:xfrm>
            <a:off x="11479455" y="3541533"/>
            <a:ext cx="0" cy="543114"/>
          </a:xfrm>
          <a:prstGeom prst="line">
            <a:avLst/>
          </a:prstGeom>
          <a:ln w="12344">
            <a:solidFill>
              <a:srgbClr val="A6A6A6"/>
            </a:solidFill>
            <a:prstDash val="dash"/>
          </a:ln>
          <a:effectLst/>
        </p:spPr>
        <p:style>
          <a:lnRef idx="2">
            <a:schemeClr val="accent1"/>
          </a:lnRef>
          <a:fillRef idx="0">
            <a:schemeClr val="accent1"/>
          </a:fillRef>
          <a:effectRef idx="0">
            <a:schemeClr val="accent1"/>
          </a:effectRef>
          <a:fontRef idx="minor">
            <a:schemeClr val="tx1"/>
          </a:fontRef>
        </p:style>
      </p:cxnSp>
      <p:sp>
        <p:nvSpPr>
          <p:cNvPr id="104" name="RETURN"/>
          <p:cNvSpPr txBox="1"/>
          <p:nvPr/>
        </p:nvSpPr>
        <p:spPr>
          <a:xfrm>
            <a:off x="10779990" y="4360318"/>
            <a:ext cx="843215" cy="244813"/>
          </a:xfrm>
          <a:prstGeom prst="rect">
            <a:avLst/>
          </a:prstGeom>
          <a:noFill/>
          <a:effectLst/>
        </p:spPr>
        <p:txBody>
          <a:bodyPr wrap="none" lIns="0" rIns="0" tIns="0" bIns="0" anchor="t">
            <a:spAutoFit/>
          </a:bodyPr>
          <a:lstStyle/>
          <a:p>
            <a:pPr algn="l">
              <a:lnSpc>
                <a:spcPct val="100000"/>
              </a:lnSpc>
              <a:spcBef>
                <a:spcPts val="0"/>
              </a:spcBef>
              <a:spcAft>
                <a:spcPts val="0"/>
              </a:spcAft>
            </a:pPr>
            <a:r>
              <a:rPr sz="1425" b="0" i="0" lang="en-US" spc="0">
                <a:solidFill>
                  <a:srgbClr val="000000"/>
                </a:solidFill>
                <a:latin typeface="DejaVu Sans"/>
                <a:ea typeface="DejaVu Sans"/>
                <a:effectLst/>
              </a:rPr>
              <a:t>RETURN</a:t>
            </a:r>
          </a:p>
        </p:txBody>
      </p:sp>
      <p:sp>
        <p:nvSpPr>
          <p:cNvPr id="105" name="rect 104"/>
          <p:cNvSpPr/>
          <p:nvPr/>
        </p:nvSpPr>
        <p:spPr>
          <a:xfrm>
            <a:off x="427908" y="5952630"/>
            <a:ext cx="724152" cy="510198"/>
          </a:xfrm>
          <a:prstGeom prst="roundRect">
            <a:avLst>
              <a:gd name="adj" fmla="val 4838"/>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6" name="line 105"/>
          <p:cNvCxnSpPr/>
          <p:nvPr/>
        </p:nvCxnSpPr>
        <p:spPr>
          <a:xfrm>
            <a:off x="436137" y="6059772"/>
            <a:ext cx="707694" cy="0"/>
          </a:xfrm>
          <a:prstGeom prst="line">
            <a:avLst/>
          </a:prstGeom>
          <a:ln w="8229">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07" name="path 106"/>
          <p:cNvSpPr/>
          <p:nvPr/>
        </p:nvSpPr>
        <p:spPr>
          <a:xfrm>
            <a:off x="559572" y="6171750"/>
            <a:ext cx="90519" cy="181038"/>
          </a:xfrm>
          <a:custGeom>
            <a:avLst/>
            <a:gdLst/>
            <a:ahLst/>
            <a:cxnLst/>
            <a:rect l="l" t="t" r="r" b="b"/>
            <a:pathLst>
              <a:path w="11" h="22">
                <a:moveTo>
                  <a:pt x="0" y="0"/>
                </a:moveTo>
                <a:lnTo>
                  <a:pt x="11" y="11"/>
                </a:lnTo>
                <a:lnTo>
                  <a:pt x="0" y="22"/>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8" name="line 107"/>
          <p:cNvCxnSpPr/>
          <p:nvPr/>
        </p:nvCxnSpPr>
        <p:spPr>
          <a:xfrm>
            <a:off x="740610" y="6350584"/>
            <a:ext cx="296244"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09" name="circle 108"/>
          <p:cNvSpPr/>
          <p:nvPr/>
        </p:nvSpPr>
        <p:spPr>
          <a:xfrm>
            <a:off x="1357785" y="5993775"/>
            <a:ext cx="411450" cy="411450"/>
          </a:xfrm>
          <a:prstGeom prst="ellipse">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path 109"/>
          <p:cNvSpPr/>
          <p:nvPr/>
        </p:nvSpPr>
        <p:spPr>
          <a:xfrm>
            <a:off x="1563510" y="6064773"/>
            <a:ext cx="115206" cy="189267"/>
          </a:xfrm>
          <a:custGeom>
            <a:avLst/>
            <a:gdLst/>
            <a:ahLst/>
            <a:cxnLst/>
            <a:rect l="l" t="t" r="r" b="b"/>
            <a:pathLst>
              <a:path w="14" h="23">
                <a:moveTo>
                  <a:pt x="0" y="0"/>
                </a:moveTo>
                <a:lnTo>
                  <a:pt x="0" y="16"/>
                </a:lnTo>
                <a:lnTo>
                  <a:pt x="14" y="23"/>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tool + elapsed"/>
          <p:cNvSpPr txBox="1"/>
          <p:nvPr/>
        </p:nvSpPr>
        <p:spPr>
          <a:xfrm>
            <a:off x="334544" y="6623294"/>
            <a:ext cx="1536284"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0" i="0" lang="en-US" spc="0">
                <a:solidFill>
                  <a:srgbClr val="000000"/>
                </a:solidFill>
                <a:latin typeface="DejaVu Sans"/>
                <a:ea typeface="DejaVu Sans"/>
                <a:effectLst/>
              </a:rPr>
              <a:t>tool + elapsed</a:t>
            </a:r>
          </a:p>
        </p:txBody>
      </p:sp>
      <p:cxnSp>
        <p:nvCxnSpPr>
          <p:cNvPr id="112" name="path 111"/>
          <p:cNvCxnSpPr/>
          <p:nvPr/>
        </p:nvCxnSpPr>
        <p:spPr>
          <a:xfrm>
            <a:off x="1818609" y="6199500"/>
            <a:ext cx="510198" cy="0"/>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13" name="path 112"/>
          <p:cNvCxnSpPr/>
          <p:nvPr/>
        </p:nvCxnSpPr>
        <p:spPr>
          <a:xfrm>
            <a:off x="1818609" y="6199500"/>
            <a:ext cx="510198" cy="0"/>
          </a:xfrm>
          <a:prstGeom prst="line">
            <a:avLst/>
          </a:prstGeom>
          <a:ln w="3950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14" name="arrowhead 113"/>
          <p:cNvSpPr/>
          <p:nvPr/>
        </p:nvSpPr>
        <p:spPr>
          <a:xfrm>
            <a:off x="2180685" y="6122376"/>
            <a:ext cx="148122" cy="148122"/>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rect 114"/>
          <p:cNvSpPr/>
          <p:nvPr/>
        </p:nvSpPr>
        <p:spPr>
          <a:xfrm>
            <a:off x="3291600" y="5820966"/>
            <a:ext cx="1003938" cy="683007"/>
          </a:xfrm>
          <a:prstGeom prst="rect">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path 115"/>
          <p:cNvSpPr/>
          <p:nvPr/>
        </p:nvSpPr>
        <p:spPr>
          <a:xfrm>
            <a:off x="2411097" y="5875506"/>
            <a:ext cx="1884441" cy="617175"/>
          </a:xfrm>
          <a:custGeom>
            <a:avLst/>
            <a:gdLst/>
            <a:ahLst/>
            <a:cxnLst/>
            <a:rect l="l" t="t" r="r" b="b"/>
            <a:pathLst>
              <a:path w="229" h="75">
                <a:moveTo>
                  <a:pt x="0" y="75"/>
                </a:moveTo>
                <a:lnTo>
                  <a:pt x="49" y="75"/>
                </a:lnTo>
                <a:lnTo>
                  <a:pt x="49" y="58"/>
                </a:lnTo>
                <a:lnTo>
                  <a:pt x="107" y="58"/>
                </a:lnTo>
                <a:lnTo>
                  <a:pt x="107" y="28"/>
                </a:lnTo>
                <a:lnTo>
                  <a:pt x="164" y="28"/>
                </a:lnTo>
                <a:lnTo>
                  <a:pt x="164" y="0"/>
                </a:lnTo>
                <a:lnTo>
                  <a:pt x="229" y="0"/>
                </a:lnTo>
              </a:path>
            </a:pathLst>
          </a:custGeom>
          <a:noFill/>
          <a:ln w="2057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7" name="line 116"/>
          <p:cNvCxnSpPr/>
          <p:nvPr/>
        </p:nvCxnSpPr>
        <p:spPr>
          <a:xfrm>
            <a:off x="3291600" y="5804508"/>
            <a:ext cx="0" cy="724152"/>
          </a:xfrm>
          <a:prstGeom prst="line">
            <a:avLst/>
          </a:prstGeom>
          <a:ln w="12344">
            <a:solidFill>
              <a:srgbClr val="275317"/>
            </a:solidFill>
            <a:prstDash val="dash"/>
          </a:ln>
          <a:effectLst/>
        </p:spPr>
        <p:style>
          <a:lnRef idx="2">
            <a:schemeClr val="accent1"/>
          </a:lnRef>
          <a:fillRef idx="0">
            <a:schemeClr val="accent1"/>
          </a:fillRef>
          <a:effectRef idx="0">
            <a:schemeClr val="accent1"/>
          </a:effectRef>
          <a:fontRef idx="minor">
            <a:schemeClr val="tx1"/>
          </a:fontRef>
        </p:style>
      </p:cxnSp>
      <p:sp>
        <p:nvSpPr>
          <p:cNvPr id="118" name="history | still running"/>
          <p:cNvSpPr txBox="1"/>
          <p:nvPr/>
        </p:nvSpPr>
        <p:spPr>
          <a:xfrm>
            <a:off x="2346342" y="6631522"/>
            <a:ext cx="2055096"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0" i="0" lang="en-US" spc="0">
                <a:solidFill>
                  <a:srgbClr val="000000"/>
                </a:solidFill>
                <a:latin typeface="DejaVu Sans"/>
                <a:ea typeface="DejaVu Sans"/>
                <a:effectLst/>
              </a:rPr>
              <a:t>history | still running</a:t>
            </a:r>
          </a:p>
        </p:txBody>
      </p:sp>
      <p:cxnSp>
        <p:nvCxnSpPr>
          <p:cNvPr id="119" name="path 118"/>
          <p:cNvCxnSpPr/>
          <p:nvPr/>
        </p:nvCxnSpPr>
        <p:spPr>
          <a:xfrm>
            <a:off x="4402515" y="6199500"/>
            <a:ext cx="1645800" cy="0"/>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20" name="path 119"/>
          <p:cNvCxnSpPr/>
          <p:nvPr/>
        </p:nvCxnSpPr>
        <p:spPr>
          <a:xfrm>
            <a:off x="4402515" y="6199500"/>
            <a:ext cx="1645800" cy="0"/>
          </a:xfrm>
          <a:prstGeom prst="line">
            <a:avLst/>
          </a:prstGeom>
          <a:ln w="3950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121" name="arrowhead 120"/>
          <p:cNvSpPr/>
          <p:nvPr/>
        </p:nvSpPr>
        <p:spPr>
          <a:xfrm>
            <a:off x="5850819" y="6097689"/>
            <a:ext cx="197496" cy="197496"/>
          </a:xfrm>
          <a:custGeom>
            <a:avLst/>
            <a:gdLst/>
            <a:ahLst/>
            <a:cxnLst/>
            <a:rect l="l" t="t" r="r" b="b"/>
            <a:pathLst>
              <a:path w="24" h="24">
                <a:moveTo>
                  <a:pt x="24" y="12"/>
                </a:moveTo>
                <a:lnTo>
                  <a:pt x="0" y="24"/>
                </a:lnTo>
                <a:lnTo>
                  <a:pt x="6" y="12"/>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circle 121"/>
          <p:cNvSpPr/>
          <p:nvPr/>
        </p:nvSpPr>
        <p:spPr>
          <a:xfrm>
            <a:off x="6138834" y="6002004"/>
            <a:ext cx="394992" cy="394992"/>
          </a:xfrm>
          <a:prstGeom prst="ellipse">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path 122"/>
          <p:cNvSpPr/>
          <p:nvPr/>
        </p:nvSpPr>
        <p:spPr>
          <a:xfrm>
            <a:off x="6336330" y="6073002"/>
            <a:ext cx="106977" cy="172809"/>
          </a:xfrm>
          <a:custGeom>
            <a:avLst/>
            <a:gdLst/>
            <a:ahLst/>
            <a:cxnLst/>
            <a:rect l="l" t="t" r="r" b="b"/>
            <a:pathLst>
              <a:path w="13" h="21">
                <a:moveTo>
                  <a:pt x="0" y="0"/>
                </a:moveTo>
                <a:lnTo>
                  <a:pt x="0" y="15"/>
                </a:lnTo>
                <a:lnTo>
                  <a:pt x="13" y="21"/>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τ"/>
          <p:cNvSpPr txBox="1"/>
          <p:nvPr/>
        </p:nvSpPr>
        <p:spPr>
          <a:xfrm>
            <a:off x="6152849" y="6423740"/>
            <a:ext cx="190038" cy="316816"/>
          </a:xfrm>
          <a:prstGeom prst="rect">
            <a:avLst/>
          </a:prstGeom>
          <a:noFill/>
          <a:effectLst/>
        </p:spPr>
        <p:txBody>
          <a:bodyPr wrap="none" lIns="0" rIns="0" tIns="0" bIns="0" anchor="t">
            <a:spAutoFit/>
          </a:bodyPr>
          <a:lstStyle/>
          <a:p>
            <a:pPr algn="l">
              <a:lnSpc>
                <a:spcPct val="100000"/>
              </a:lnSpc>
              <a:spcBef>
                <a:spcPts val="0"/>
              </a:spcBef>
              <a:spcAft>
                <a:spcPts val="0"/>
              </a:spcAft>
            </a:pPr>
            <a:r>
              <a:rPr sz="2008" b="0" i="1" lang="en-US" spc="0">
                <a:solidFill>
                  <a:srgbClr val="000000"/>
                </a:solidFill>
                <a:latin typeface="Liberation Serif"/>
                <a:ea typeface="Liberation Serif"/>
                <a:effectLst/>
              </a:rPr>
              <a:t>τ</a:t>
            </a:r>
          </a:p>
        </p:txBody>
      </p:sp>
      <p:sp>
        <p:nvSpPr>
          <p:cNvPr id="125" name="tool"/>
          <p:cNvSpPr txBox="1"/>
          <p:nvPr/>
        </p:nvSpPr>
        <p:spPr>
          <a:xfrm>
            <a:off x="6252368" y="6565690"/>
            <a:ext cx="357962" cy="220126"/>
          </a:xfrm>
          <a:prstGeom prst="rect">
            <a:avLst/>
          </a:prstGeom>
          <a:noFill/>
          <a:effectLst/>
        </p:spPr>
        <p:txBody>
          <a:bodyPr wrap="none" lIns="0" rIns="0" tIns="0" bIns="0" anchor="t">
            <a:spAutoFit/>
          </a:bodyPr>
          <a:lstStyle/>
          <a:p>
            <a:pPr algn="l">
              <a:lnSpc>
                <a:spcPct val="100000"/>
              </a:lnSpc>
              <a:spcBef>
                <a:spcPts val="0"/>
              </a:spcBef>
              <a:spcAft>
                <a:spcPts val="0"/>
              </a:spcAft>
            </a:pPr>
            <a:r>
              <a:rPr sz="1305" b="0" i="0" lang="en-US" spc="0">
                <a:solidFill>
                  <a:srgbClr val="000000"/>
                </a:solidFill>
                <a:latin typeface="Liberation Serif"/>
                <a:ea typeface="Liberation Serif"/>
                <a:effectLst/>
              </a:rPr>
              <a:t>tool</a:t>
            </a:r>
          </a:p>
        </p:txBody>
      </p:sp>
      <p:cxnSp>
        <p:nvCxnSpPr>
          <p:cNvPr id="126" name="path 125"/>
          <p:cNvCxnSpPr/>
          <p:nvPr/>
        </p:nvCxnSpPr>
        <p:spPr>
          <a:xfrm>
            <a:off x="6583200" y="6199500"/>
            <a:ext cx="4081584" cy="0"/>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27" name="path 126"/>
          <p:cNvCxnSpPr/>
          <p:nvPr/>
        </p:nvCxnSpPr>
        <p:spPr>
          <a:xfrm>
            <a:off x="6583200" y="6199500"/>
            <a:ext cx="4081584" cy="0"/>
          </a:xfrm>
          <a:prstGeom prst="line">
            <a:avLst/>
          </a:prstGeom>
          <a:ln w="39502">
            <a:solidFill>
              <a:srgbClr val="215F9A"/>
            </a:solidFill>
            <a:prstDash val="dash"/>
          </a:ln>
          <a:effectLst/>
        </p:spPr>
        <p:style>
          <a:lnRef idx="2">
            <a:schemeClr val="accent1"/>
          </a:lnRef>
          <a:fillRef idx="0">
            <a:schemeClr val="accent1"/>
          </a:fillRef>
          <a:effectRef idx="0">
            <a:schemeClr val="accent1"/>
          </a:effectRef>
          <a:fontRef idx="minor">
            <a:schemeClr val="tx1"/>
          </a:fontRef>
        </p:style>
      </p:cxnSp>
      <p:sp>
        <p:nvSpPr>
          <p:cNvPr id="128" name="arrowhead 127"/>
          <p:cNvSpPr/>
          <p:nvPr/>
        </p:nvSpPr>
        <p:spPr>
          <a:xfrm>
            <a:off x="10516662" y="6122376"/>
            <a:ext cx="148122" cy="148122"/>
          </a:xfrm>
          <a:custGeom>
            <a:avLst/>
            <a:gdLst/>
            <a:ahLst/>
            <a:cxnLst/>
            <a:rect l="l" t="t" r="r" b="b"/>
            <a:pathLst>
              <a:path w="18" h="18">
                <a:moveTo>
                  <a:pt x="0" y="18"/>
                </a:moveTo>
                <a:lnTo>
                  <a:pt x="18" y="9"/>
                </a:lnTo>
                <a:lnTo>
                  <a:pt x="0" y="0"/>
                </a:lnTo>
              </a:path>
            </a:pathLst>
          </a:custGeom>
          <a:noFill/>
          <a:ln w="2314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circle 128"/>
          <p:cNvSpPr/>
          <p:nvPr/>
        </p:nvSpPr>
        <p:spPr>
          <a:xfrm>
            <a:off x="11257272" y="5409516"/>
            <a:ext cx="444366" cy="444366"/>
          </a:xfrm>
          <a:prstGeom prst="ellipse">
            <a:avLst/>
          </a:prstGeom>
          <a:solidFill>
            <a:srgbClr val="84E291"/>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A"/>
          <p:cNvSpPr txBox="1"/>
          <p:nvPr/>
        </p:nvSpPr>
        <p:spPr>
          <a:xfrm>
            <a:off x="11350475" y="5510321"/>
            <a:ext cx="257960"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A</a:t>
            </a:r>
          </a:p>
        </p:txBody>
      </p:sp>
      <p:cxnSp>
        <p:nvCxnSpPr>
          <p:cNvPr id="131" name="line 130"/>
          <p:cNvCxnSpPr/>
          <p:nvPr/>
        </p:nvCxnSpPr>
        <p:spPr>
          <a:xfrm>
            <a:off x="11479455" y="5878569"/>
            <a:ext cx="0" cy="238641"/>
          </a:xfrm>
          <a:prstGeom prst="line">
            <a:avLst/>
          </a:prstGeom>
          <a:ln w="12344">
            <a:solidFill>
              <a:srgbClr val="A6A6A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132" name="line 131"/>
          <p:cNvCxnSpPr/>
          <p:nvPr/>
        </p:nvCxnSpPr>
        <p:spPr>
          <a:xfrm>
            <a:off x="10779990" y="6199500"/>
            <a:ext cx="1398930" cy="0"/>
          </a:xfrm>
          <a:prstGeom prst="line">
            <a:avLst/>
          </a:prstGeom>
          <a:ln w="20574">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3" name="line 132"/>
          <p:cNvCxnSpPr/>
          <p:nvPr/>
        </p:nvCxnSpPr>
        <p:spPr>
          <a:xfrm>
            <a:off x="10779990" y="6125439"/>
            <a:ext cx="0" cy="148122"/>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4" name="line 133"/>
          <p:cNvCxnSpPr/>
          <p:nvPr/>
        </p:nvCxnSpPr>
        <p:spPr>
          <a:xfrm>
            <a:off x="12178920" y="6125439"/>
            <a:ext cx="0" cy="148122"/>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35" name="circle 134"/>
          <p:cNvSpPr/>
          <p:nvPr/>
        </p:nvSpPr>
        <p:spPr>
          <a:xfrm>
            <a:off x="11520600" y="6158355"/>
            <a:ext cx="82290" cy="82290"/>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OOL_END"/>
          <p:cNvSpPr txBox="1"/>
          <p:nvPr/>
        </p:nvSpPr>
        <p:spPr>
          <a:xfrm>
            <a:off x="10941982" y="6565690"/>
            <a:ext cx="1074945" cy="244813"/>
          </a:xfrm>
          <a:prstGeom prst="rect">
            <a:avLst/>
          </a:prstGeom>
          <a:noFill/>
          <a:effectLst/>
        </p:spPr>
        <p:txBody>
          <a:bodyPr wrap="none" lIns="0" rIns="0" tIns="0" bIns="0" anchor="t">
            <a:spAutoFit/>
          </a:bodyPr>
          <a:lstStyle/>
          <a:p>
            <a:pPr algn="ctr">
              <a:lnSpc>
                <a:spcPct val="100000"/>
              </a:lnSpc>
              <a:spcBef>
                <a:spcPts val="0"/>
              </a:spcBef>
              <a:spcAft>
                <a:spcPts val="0"/>
              </a:spcAft>
            </a:pPr>
            <a:r>
              <a:rPr sz="1425" b="0" i="0" lang="en-US" spc="0">
                <a:solidFill>
                  <a:srgbClr val="000000"/>
                </a:solidFill>
                <a:latin typeface="DejaVu Sans"/>
                <a:ea typeface="DejaVu Sans"/>
                <a:effectLst/>
              </a:rPr>
              <a:t>TOOL_END</a:t>
            </a:r>
          </a:p>
        </p:txBody>
      </p:sp>
      <p:sp>
        <p:nvSpPr>
          <p:cNvPr id="137" name="curve 136"/>
          <p:cNvSpPr/>
          <p:nvPr/>
        </p:nvSpPr>
        <p:spPr>
          <a:xfrm>
            <a:off x="12294126" y="4163874"/>
            <a:ext cx="394992" cy="1028625"/>
          </a:xfrm>
          <a:custGeom>
            <a:avLst/>
            <a:gdLst/>
            <a:ahLst/>
            <a:cxnLst/>
            <a:rect l="l" t="t" r="r" b="b"/>
            <a:pathLst>
              <a:path w="48" h="125">
                <a:moveTo>
                  <a:pt x="0" y="0"/>
                </a:moveTo>
                <a:lnTo>
                  <a:pt x="17" y="0"/>
                </a:lnTo>
                <a:cubicBezTo>
                  <a:pt x="22" y="0"/>
                  <a:pt x="26" y="4"/>
                  <a:pt x="26" y="9"/>
                </a:cubicBezTo>
                <a:lnTo>
                  <a:pt x="26" y="118"/>
                </a:lnTo>
                <a:cubicBezTo>
                  <a:pt x="26" y="122"/>
                  <a:pt x="29" y="125"/>
                  <a:pt x="33" y="125"/>
                </a:cubicBezTo>
                <a:lnTo>
                  <a:pt x="48" y="125"/>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curve 137"/>
          <p:cNvSpPr/>
          <p:nvPr/>
        </p:nvSpPr>
        <p:spPr>
          <a:xfrm>
            <a:off x="12294126" y="4163874"/>
            <a:ext cx="394992" cy="1028625"/>
          </a:xfrm>
          <a:custGeom>
            <a:avLst/>
            <a:gdLst/>
            <a:ahLst/>
            <a:cxnLst/>
            <a:rect l="l" t="t" r="r" b="b"/>
            <a:pathLst>
              <a:path w="48" h="125">
                <a:moveTo>
                  <a:pt x="0" y="0"/>
                </a:moveTo>
                <a:lnTo>
                  <a:pt x="17" y="0"/>
                </a:lnTo>
                <a:cubicBezTo>
                  <a:pt x="22" y="0"/>
                  <a:pt x="26" y="4"/>
                  <a:pt x="26" y="9"/>
                </a:cubicBezTo>
                <a:lnTo>
                  <a:pt x="26" y="118"/>
                </a:lnTo>
                <a:cubicBezTo>
                  <a:pt x="26" y="122"/>
                  <a:pt x="29" y="125"/>
                  <a:pt x="33" y="125"/>
                </a:cubicBezTo>
                <a:lnTo>
                  <a:pt x="48" y="125"/>
                </a:lnTo>
              </a:path>
            </a:pathLst>
          </a:custGeom>
          <a:noFill/>
          <a:ln w="3950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arrowhead 138"/>
          <p:cNvSpPr/>
          <p:nvPr/>
        </p:nvSpPr>
        <p:spPr>
          <a:xfrm>
            <a:off x="12590370" y="5143125"/>
            <a:ext cx="98748" cy="98748"/>
          </a:xfrm>
          <a:custGeom>
            <a:avLst/>
            <a:gdLst/>
            <a:ahLst/>
            <a:cxnLst/>
            <a:rect l="l" t="t" r="r" b="b"/>
            <a:pathLst>
              <a:path w="12" h="12">
                <a:moveTo>
                  <a:pt x="0" y="12"/>
                </a:moveTo>
                <a:lnTo>
                  <a:pt x="12" y="6"/>
                </a:lnTo>
                <a:lnTo>
                  <a:pt x="0" y="0"/>
                </a:lnTo>
              </a:path>
            </a:pathLst>
          </a:custGeom>
          <a:noFill/>
          <a:ln w="15430">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curve 139"/>
          <p:cNvSpPr/>
          <p:nvPr/>
        </p:nvSpPr>
        <p:spPr>
          <a:xfrm>
            <a:off x="12294126" y="5192499"/>
            <a:ext cx="394992" cy="1003938"/>
          </a:xfrm>
          <a:custGeom>
            <a:avLst/>
            <a:gdLst/>
            <a:ahLst/>
            <a:cxnLst/>
            <a:rect l="l" t="t" r="r" b="b"/>
            <a:pathLst>
              <a:path w="48" h="122">
                <a:moveTo>
                  <a:pt x="0" y="122"/>
                </a:moveTo>
                <a:lnTo>
                  <a:pt x="17" y="122"/>
                </a:lnTo>
                <a:cubicBezTo>
                  <a:pt x="22" y="122"/>
                  <a:pt x="26" y="118"/>
                  <a:pt x="26" y="114"/>
                </a:cubicBezTo>
                <a:lnTo>
                  <a:pt x="26" y="8"/>
                </a:lnTo>
                <a:cubicBezTo>
                  <a:pt x="26" y="4"/>
                  <a:pt x="29" y="0"/>
                  <a:pt x="33" y="0"/>
                </a:cubicBezTo>
                <a:lnTo>
                  <a:pt x="48"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curve 140"/>
          <p:cNvSpPr/>
          <p:nvPr/>
        </p:nvSpPr>
        <p:spPr>
          <a:xfrm>
            <a:off x="12294126" y="5192499"/>
            <a:ext cx="394992" cy="1003938"/>
          </a:xfrm>
          <a:custGeom>
            <a:avLst/>
            <a:gdLst/>
            <a:ahLst/>
            <a:cxnLst/>
            <a:rect l="l" t="t" r="r" b="b"/>
            <a:pathLst>
              <a:path w="48" h="122">
                <a:moveTo>
                  <a:pt x="0" y="122"/>
                </a:moveTo>
                <a:lnTo>
                  <a:pt x="17" y="122"/>
                </a:lnTo>
                <a:cubicBezTo>
                  <a:pt x="22" y="122"/>
                  <a:pt x="26" y="118"/>
                  <a:pt x="26" y="114"/>
                </a:cubicBezTo>
                <a:lnTo>
                  <a:pt x="26" y="8"/>
                </a:lnTo>
                <a:cubicBezTo>
                  <a:pt x="26" y="4"/>
                  <a:pt x="29" y="0"/>
                  <a:pt x="33" y="0"/>
                </a:cubicBezTo>
                <a:lnTo>
                  <a:pt x="48" y="0"/>
                </a:lnTo>
              </a:path>
            </a:pathLst>
          </a:custGeom>
          <a:noFill/>
          <a:ln w="3950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arrowhead 141"/>
          <p:cNvSpPr/>
          <p:nvPr/>
        </p:nvSpPr>
        <p:spPr>
          <a:xfrm>
            <a:off x="12590370" y="5143125"/>
            <a:ext cx="98748" cy="98748"/>
          </a:xfrm>
          <a:custGeom>
            <a:avLst/>
            <a:gdLst/>
            <a:ahLst/>
            <a:cxnLst/>
            <a:rect l="l" t="t" r="r" b="b"/>
            <a:pathLst>
              <a:path w="12" h="12">
                <a:moveTo>
                  <a:pt x="0" y="12"/>
                </a:moveTo>
                <a:lnTo>
                  <a:pt x="12" y="6"/>
                </a:lnTo>
                <a:lnTo>
                  <a:pt x="0" y="0"/>
                </a:lnTo>
              </a:path>
            </a:pathLst>
          </a:custGeom>
          <a:noFill/>
          <a:ln w="15430">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circle 142"/>
          <p:cNvSpPr/>
          <p:nvPr/>
        </p:nvSpPr>
        <p:spPr>
          <a:xfrm>
            <a:off x="12705576" y="4981608"/>
            <a:ext cx="427908" cy="427908"/>
          </a:xfrm>
          <a:prstGeom prst="ellipse">
            <a:avLst/>
          </a:prstGeom>
          <a:solidFill>
            <a:srgbClr val="D9D9D9"/>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D3"/>
          <p:cNvSpPr txBox="1"/>
          <p:nvPr/>
        </p:nvSpPr>
        <p:spPr>
          <a:xfrm>
            <a:off x="12738299" y="5084470"/>
            <a:ext cx="362462" cy="234526"/>
          </a:xfrm>
          <a:prstGeom prst="rect">
            <a:avLst/>
          </a:prstGeom>
          <a:noFill/>
          <a:effectLst/>
        </p:spPr>
        <p:txBody>
          <a:bodyPr wrap="none" lIns="0" rIns="0" tIns="0" bIns="0" anchor="t">
            <a:spAutoFit/>
          </a:bodyPr>
          <a:lstStyle/>
          <a:p>
            <a:pPr algn="ctr">
              <a:lnSpc>
                <a:spcPct val="100000"/>
              </a:lnSpc>
              <a:spcBef>
                <a:spcPts val="0"/>
              </a:spcBef>
              <a:spcAft>
                <a:spcPts val="0"/>
              </a:spcAft>
            </a:pPr>
            <a:r>
              <a:rPr sz="1360" b="1" i="0" lang="en-US" spc="0">
                <a:solidFill>
                  <a:srgbClr val="000000"/>
                </a:solidFill>
                <a:latin typeface="DejaVu Sans"/>
                <a:ea typeface="DejaVu Sans"/>
                <a:effectLst/>
              </a:rPr>
              <a:t>D3</a:t>
            </a:r>
          </a:p>
        </p:txBody>
      </p:sp>
      <p:sp>
        <p:nvSpPr>
          <p:cNvPr id="145" name="circle 144"/>
          <p:cNvSpPr/>
          <p:nvPr/>
        </p:nvSpPr>
        <p:spPr>
          <a:xfrm>
            <a:off x="12351729" y="5039211"/>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4"/>
          <p:cNvSpPr txBox="1"/>
          <p:nvPr/>
        </p:nvSpPr>
        <p:spPr>
          <a:xfrm>
            <a:off x="12392858" y="5080356"/>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2"/>
          <p:cNvSpPr txBox="1"/>
          <p:nvPr/>
        </p:nvSpPr>
        <p:spPr>
          <a:xfrm>
            <a:off x="263328" y="1871046"/>
            <a:ext cx="488018"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D2</a:t>
            </a:r>
          </a:p>
        </p:txBody>
      </p:sp>
      <p:sp>
        <p:nvSpPr>
          <p:cNvPr id="3" name="Back up stable KV; reclaim by workflow state"/>
          <p:cNvSpPr txBox="1"/>
          <p:nvPr/>
        </p:nvSpPr>
        <p:spPr>
          <a:xfrm>
            <a:off x="888732" y="1871046"/>
            <a:ext cx="6605862"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Back up stable KV; reclaim by workflow state</a:t>
            </a:r>
          </a:p>
        </p:txBody>
      </p:sp>
      <p:sp>
        <p:nvSpPr>
          <p:cNvPr id="4" name="rect 3"/>
          <p:cNvSpPr/>
          <p:nvPr/>
        </p:nvSpPr>
        <p:spPr>
          <a:xfrm>
            <a:off x="1728090" y="2611656"/>
            <a:ext cx="7241520" cy="806442"/>
          </a:xfrm>
          <a:prstGeom prst="roundRect">
            <a:avLst>
              <a:gd name="adj" fmla="val 8163"/>
            </a:avLst>
          </a:prstGeom>
          <a:solidFill>
            <a:srgbClr val="F2F2F2"/>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 4"/>
          <p:cNvSpPr/>
          <p:nvPr/>
        </p:nvSpPr>
        <p:spPr>
          <a:xfrm>
            <a:off x="1728090" y="4208082"/>
            <a:ext cx="7241520" cy="806442"/>
          </a:xfrm>
          <a:prstGeom prst="roundRect">
            <a:avLst>
              <a:gd name="adj" fmla="val 8163"/>
            </a:avLst>
          </a:prstGeom>
          <a:solidFill>
            <a:srgbClr val="FBE3D6"/>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 5"/>
          <p:cNvSpPr/>
          <p:nvPr/>
        </p:nvSpPr>
        <p:spPr>
          <a:xfrm>
            <a:off x="2633280" y="5458890"/>
            <a:ext cx="6336330" cy="814671"/>
          </a:xfrm>
          <a:prstGeom prst="roundRect">
            <a:avLst>
              <a:gd name="adj" fmla="val 8080"/>
            </a:avLst>
          </a:prstGeom>
          <a:solidFill>
            <a:srgbClr val="F2F2F2"/>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 6"/>
          <p:cNvSpPr/>
          <p:nvPr/>
        </p:nvSpPr>
        <p:spPr>
          <a:xfrm>
            <a:off x="9792510" y="2611656"/>
            <a:ext cx="1793922" cy="3925233"/>
          </a:xfrm>
          <a:prstGeom prst="roundRect">
            <a:avLst>
              <a:gd name="adj" fmla="val 3669"/>
            </a:avLst>
          </a:prstGeom>
          <a:solidFill>
            <a:srgbClr val="F2F2F2"/>
          </a:solidFill>
          <a:ln w="13990">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ircle 7"/>
          <p:cNvSpPr/>
          <p:nvPr/>
        </p:nvSpPr>
        <p:spPr>
          <a:xfrm>
            <a:off x="469053" y="3335808"/>
            <a:ext cx="460824" cy="460824"/>
          </a:xfrm>
          <a:prstGeom prst="ellipse">
            <a:avLst/>
          </a:prstGeom>
          <a:solidFill>
            <a:srgbClr val="A6CAEC"/>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
          <p:cNvSpPr txBox="1"/>
          <p:nvPr/>
        </p:nvSpPr>
        <p:spPr>
          <a:xfrm>
            <a:off x="574696" y="3444842"/>
            <a:ext cx="249538"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P</a:t>
            </a:r>
          </a:p>
        </p:txBody>
      </p:sp>
      <p:sp>
        <p:nvSpPr>
          <p:cNvPr id="10" name="waiting"/>
          <p:cNvSpPr txBox="1"/>
          <p:nvPr/>
        </p:nvSpPr>
        <p:spPr>
          <a:xfrm>
            <a:off x="274964" y="3860407"/>
            <a:ext cx="849001"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0" i="0" lang="en-US" spc="0">
                <a:solidFill>
                  <a:srgbClr val="000000"/>
                </a:solidFill>
                <a:latin typeface="DejaVu Sans"/>
                <a:ea typeface="DejaVu Sans"/>
                <a:effectLst/>
              </a:rPr>
              <a:t>waiting</a:t>
            </a:r>
          </a:p>
        </p:txBody>
      </p:sp>
      <p:sp>
        <p:nvSpPr>
          <p:cNvPr id="11" name="HBM"/>
          <p:cNvSpPr txBox="1"/>
          <p:nvPr/>
        </p:nvSpPr>
        <p:spPr>
          <a:xfrm>
            <a:off x="1793922" y="2864698"/>
            <a:ext cx="675132" cy="294187"/>
          </a:xfrm>
          <a:prstGeom prst="rect">
            <a:avLst/>
          </a:prstGeom>
          <a:noFill/>
          <a:effectLst/>
        </p:spPr>
        <p:txBody>
          <a:bodyPr wrap="none" lIns="0" rIns="0" tIns="0" bIns="0" anchor="t">
            <a:spAutoFit/>
          </a:bodyPr>
          <a:lstStyle/>
          <a:p>
            <a:pPr algn="l">
              <a:lnSpc>
                <a:spcPct val="100000"/>
              </a:lnSpc>
              <a:spcBef>
                <a:spcPts val="0"/>
              </a:spcBef>
              <a:spcAft>
                <a:spcPts val="0"/>
              </a:spcAft>
            </a:pPr>
            <a:r>
              <a:rPr sz="1749" b="1" i="0" lang="en-US" spc="0">
                <a:solidFill>
                  <a:srgbClr val="000000"/>
                </a:solidFill>
                <a:latin typeface="DejaVu Sans"/>
                <a:ea typeface="DejaVu Sans"/>
                <a:effectLst/>
              </a:rPr>
              <a:t>HBM</a:t>
            </a:r>
          </a:p>
        </p:txBody>
      </p:sp>
      <p:sp>
        <p:nvSpPr>
          <p:cNvPr id="12" name="Host"/>
          <p:cNvSpPr txBox="1"/>
          <p:nvPr/>
        </p:nvSpPr>
        <p:spPr>
          <a:xfrm>
            <a:off x="1793922" y="4387063"/>
            <a:ext cx="675807" cy="294187"/>
          </a:xfrm>
          <a:prstGeom prst="rect">
            <a:avLst/>
          </a:prstGeom>
          <a:noFill/>
          <a:effectLst/>
        </p:spPr>
        <p:txBody>
          <a:bodyPr wrap="none" lIns="0" rIns="0" tIns="0" bIns="0" anchor="t">
            <a:spAutoFit/>
          </a:bodyPr>
          <a:lstStyle/>
          <a:p>
            <a:pPr algn="l">
              <a:lnSpc>
                <a:spcPct val="100000"/>
              </a:lnSpc>
              <a:spcBef>
                <a:spcPts val="0"/>
              </a:spcBef>
              <a:spcAft>
                <a:spcPts val="0"/>
              </a:spcAft>
            </a:pPr>
            <a:r>
              <a:rPr sz="1749" b="1" i="0" lang="en-US" spc="0">
                <a:solidFill>
                  <a:srgbClr val="000000"/>
                </a:solidFill>
                <a:latin typeface="DejaVu Sans"/>
                <a:ea typeface="DejaVu Sans"/>
                <a:effectLst/>
              </a:rPr>
              <a:t>Host</a:t>
            </a:r>
          </a:p>
        </p:txBody>
      </p:sp>
      <p:sp>
        <p:nvSpPr>
          <p:cNvPr id="13" name="rect 12"/>
          <p:cNvSpPr/>
          <p:nvPr/>
        </p:nvSpPr>
        <p:spPr>
          <a:xfrm>
            <a:off x="2921295" y="2809152"/>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 13"/>
          <p:cNvSpPr/>
          <p:nvPr/>
        </p:nvSpPr>
        <p:spPr>
          <a:xfrm>
            <a:off x="2937753" y="2825610"/>
            <a:ext cx="493740" cy="41145"/>
          </a:xfrm>
          <a:prstGeom prst="roundRect">
            <a:avLst>
              <a:gd name="adj" fmla="val 20000"/>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0"/>
          <p:cNvSpPr txBox="1"/>
          <p:nvPr/>
        </p:nvSpPr>
        <p:spPr>
          <a:xfrm>
            <a:off x="2995854" y="2892265"/>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p0</a:t>
            </a:r>
          </a:p>
        </p:txBody>
      </p:sp>
      <p:sp>
        <p:nvSpPr>
          <p:cNvPr id="16" name="rect 15"/>
          <p:cNvSpPr/>
          <p:nvPr/>
        </p:nvSpPr>
        <p:spPr>
          <a:xfrm>
            <a:off x="2921295" y="4331517"/>
            <a:ext cx="526656"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 16"/>
          <p:cNvSpPr/>
          <p:nvPr/>
        </p:nvSpPr>
        <p:spPr>
          <a:xfrm>
            <a:off x="2937753" y="4347975"/>
            <a:ext cx="493740" cy="41145"/>
          </a:xfrm>
          <a:prstGeom prst="roundRect">
            <a:avLst>
              <a:gd name="adj" fmla="val 20000"/>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0"/>
          <p:cNvSpPr txBox="1"/>
          <p:nvPr/>
        </p:nvSpPr>
        <p:spPr>
          <a:xfrm>
            <a:off x="2995854" y="4414630"/>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p0</a:t>
            </a:r>
          </a:p>
        </p:txBody>
      </p:sp>
      <p:sp>
        <p:nvSpPr>
          <p:cNvPr id="19" name="rect 18"/>
          <p:cNvSpPr/>
          <p:nvPr/>
        </p:nvSpPr>
        <p:spPr>
          <a:xfrm>
            <a:off x="3645447" y="2809152"/>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 19"/>
          <p:cNvSpPr/>
          <p:nvPr/>
        </p:nvSpPr>
        <p:spPr>
          <a:xfrm>
            <a:off x="3661905" y="2825610"/>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1"/>
          <p:cNvSpPr txBox="1"/>
          <p:nvPr/>
        </p:nvSpPr>
        <p:spPr>
          <a:xfrm>
            <a:off x="3720006" y="2892265"/>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p1</a:t>
            </a:r>
          </a:p>
        </p:txBody>
      </p:sp>
      <p:sp>
        <p:nvSpPr>
          <p:cNvPr id="22" name="rect 21"/>
          <p:cNvSpPr/>
          <p:nvPr/>
        </p:nvSpPr>
        <p:spPr>
          <a:xfrm>
            <a:off x="3645447" y="4331517"/>
            <a:ext cx="526656"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 22"/>
          <p:cNvSpPr/>
          <p:nvPr/>
        </p:nvSpPr>
        <p:spPr>
          <a:xfrm>
            <a:off x="3661905" y="4347975"/>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p1"/>
          <p:cNvSpPr txBox="1"/>
          <p:nvPr/>
        </p:nvSpPr>
        <p:spPr>
          <a:xfrm>
            <a:off x="3720006" y="4414630"/>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p1</a:t>
            </a:r>
          </a:p>
        </p:txBody>
      </p:sp>
      <p:sp>
        <p:nvSpPr>
          <p:cNvPr id="25" name="rect 24"/>
          <p:cNvSpPr/>
          <p:nvPr/>
        </p:nvSpPr>
        <p:spPr>
          <a:xfrm>
            <a:off x="4369599" y="2809152"/>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 25"/>
          <p:cNvSpPr/>
          <p:nvPr/>
        </p:nvSpPr>
        <p:spPr>
          <a:xfrm>
            <a:off x="4386057" y="2825610"/>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2"/>
          <p:cNvSpPr txBox="1"/>
          <p:nvPr/>
        </p:nvSpPr>
        <p:spPr>
          <a:xfrm>
            <a:off x="4444158" y="2892265"/>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p2</a:t>
            </a:r>
          </a:p>
        </p:txBody>
      </p:sp>
      <p:sp>
        <p:nvSpPr>
          <p:cNvPr id="28" name="rect 27"/>
          <p:cNvSpPr/>
          <p:nvPr/>
        </p:nvSpPr>
        <p:spPr>
          <a:xfrm>
            <a:off x="4369599" y="4331517"/>
            <a:ext cx="526656"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 28"/>
          <p:cNvSpPr/>
          <p:nvPr/>
        </p:nvSpPr>
        <p:spPr>
          <a:xfrm>
            <a:off x="4386057" y="4347975"/>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p2"/>
          <p:cNvSpPr txBox="1"/>
          <p:nvPr/>
        </p:nvSpPr>
        <p:spPr>
          <a:xfrm>
            <a:off x="4444158" y="4414630"/>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p2</a:t>
            </a:r>
          </a:p>
        </p:txBody>
      </p:sp>
      <p:sp>
        <p:nvSpPr>
          <p:cNvPr id="31" name="rect 30"/>
          <p:cNvSpPr/>
          <p:nvPr/>
        </p:nvSpPr>
        <p:spPr>
          <a:xfrm>
            <a:off x="5093751" y="2809152"/>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 31"/>
          <p:cNvSpPr/>
          <p:nvPr/>
        </p:nvSpPr>
        <p:spPr>
          <a:xfrm>
            <a:off x="5110209" y="2825610"/>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p3"/>
          <p:cNvSpPr txBox="1"/>
          <p:nvPr/>
        </p:nvSpPr>
        <p:spPr>
          <a:xfrm>
            <a:off x="5168310" y="2892265"/>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p3</a:t>
            </a:r>
          </a:p>
        </p:txBody>
      </p:sp>
      <p:sp>
        <p:nvSpPr>
          <p:cNvPr id="34" name="rect 33"/>
          <p:cNvSpPr/>
          <p:nvPr/>
        </p:nvSpPr>
        <p:spPr>
          <a:xfrm>
            <a:off x="5093751" y="4331517"/>
            <a:ext cx="526656"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 34"/>
          <p:cNvSpPr/>
          <p:nvPr/>
        </p:nvSpPr>
        <p:spPr>
          <a:xfrm>
            <a:off x="5110209" y="4347975"/>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p3"/>
          <p:cNvSpPr txBox="1"/>
          <p:nvPr/>
        </p:nvSpPr>
        <p:spPr>
          <a:xfrm>
            <a:off x="5168310" y="4414630"/>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p3</a:t>
            </a:r>
          </a:p>
        </p:txBody>
      </p:sp>
      <p:sp>
        <p:nvSpPr>
          <p:cNvPr id="37" name="rect 36"/>
          <p:cNvSpPr/>
          <p:nvPr/>
        </p:nvSpPr>
        <p:spPr>
          <a:xfrm>
            <a:off x="5817903" y="2809152"/>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 37"/>
          <p:cNvSpPr/>
          <p:nvPr/>
        </p:nvSpPr>
        <p:spPr>
          <a:xfrm>
            <a:off x="5834361" y="2825610"/>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p4"/>
          <p:cNvSpPr txBox="1"/>
          <p:nvPr/>
        </p:nvSpPr>
        <p:spPr>
          <a:xfrm>
            <a:off x="5892462" y="2892265"/>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p4</a:t>
            </a:r>
          </a:p>
        </p:txBody>
      </p:sp>
      <p:sp>
        <p:nvSpPr>
          <p:cNvPr id="40" name="rect 39"/>
          <p:cNvSpPr/>
          <p:nvPr/>
        </p:nvSpPr>
        <p:spPr>
          <a:xfrm>
            <a:off x="5817903" y="4331517"/>
            <a:ext cx="526656" cy="378534"/>
          </a:xfrm>
          <a:prstGeom prst="roundRect">
            <a:avLst>
              <a:gd name="adj" fmla="val 4347"/>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 40"/>
          <p:cNvSpPr/>
          <p:nvPr/>
        </p:nvSpPr>
        <p:spPr>
          <a:xfrm>
            <a:off x="5834361" y="4347975"/>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p4"/>
          <p:cNvSpPr txBox="1"/>
          <p:nvPr/>
        </p:nvSpPr>
        <p:spPr>
          <a:xfrm>
            <a:off x="5892462" y="4414630"/>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p4</a:t>
            </a:r>
          </a:p>
        </p:txBody>
      </p:sp>
      <p:cxnSp>
        <p:nvCxnSpPr>
          <p:cNvPr id="43" name="path 42"/>
          <p:cNvCxnSpPr/>
          <p:nvPr/>
        </p:nvCxnSpPr>
        <p:spPr>
          <a:xfrm>
            <a:off x="6081231" y="3237060"/>
            <a:ext cx="0" cy="1036854"/>
          </a:xfrm>
          <a:prstGeom prst="line">
            <a:avLst/>
          </a:prstGeom>
          <a:ln w="8641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44" name="path 43"/>
          <p:cNvCxnSpPr/>
          <p:nvPr/>
        </p:nvCxnSpPr>
        <p:spPr>
          <a:xfrm>
            <a:off x="6081231" y="3237060"/>
            <a:ext cx="0" cy="1036854"/>
          </a:xfrm>
          <a:prstGeom prst="line">
            <a:avLst/>
          </a:prstGeom>
          <a:ln w="69951">
            <a:solidFill>
              <a:srgbClr val="35505D"/>
            </a:solidFill>
          </a:ln>
          <a:effectLst/>
        </p:spPr>
        <p:style>
          <a:lnRef idx="2">
            <a:schemeClr val="accent1"/>
          </a:lnRef>
          <a:fillRef idx="0">
            <a:schemeClr val="accent1"/>
          </a:fillRef>
          <a:effectRef idx="0">
            <a:schemeClr val="accent1"/>
          </a:effectRef>
          <a:fontRef idx="minor">
            <a:schemeClr val="tx1"/>
          </a:fontRef>
        </p:style>
      </p:cxnSp>
      <p:sp>
        <p:nvSpPr>
          <p:cNvPr id="45" name="arrowhead 44"/>
          <p:cNvSpPr/>
          <p:nvPr/>
        </p:nvSpPr>
        <p:spPr>
          <a:xfrm>
            <a:off x="5949567" y="4007523"/>
            <a:ext cx="263328" cy="263328"/>
          </a:xfrm>
          <a:custGeom>
            <a:avLst/>
            <a:gdLst/>
            <a:ahLst/>
            <a:cxnLst/>
            <a:rect l="l" t="t" r="r" b="b"/>
            <a:pathLst>
              <a:path w="32" h="32">
                <a:moveTo>
                  <a:pt x="16" y="32"/>
                </a:moveTo>
                <a:lnTo>
                  <a:pt x="0" y="0"/>
                </a:lnTo>
                <a:lnTo>
                  <a:pt x="32" y="0"/>
                </a:lnTo>
                <a:close/>
              </a:path>
            </a:pathLst>
          </a:custGeom>
          <a:solidFill>
            <a:srgbClr val="3550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 45"/>
          <p:cNvSpPr/>
          <p:nvPr/>
        </p:nvSpPr>
        <p:spPr>
          <a:xfrm>
            <a:off x="6542055" y="2809152"/>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ect 46"/>
          <p:cNvSpPr/>
          <p:nvPr/>
        </p:nvSpPr>
        <p:spPr>
          <a:xfrm>
            <a:off x="6558513" y="2825610"/>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p5"/>
          <p:cNvSpPr txBox="1"/>
          <p:nvPr/>
        </p:nvSpPr>
        <p:spPr>
          <a:xfrm>
            <a:off x="6616614" y="2892265"/>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p5</a:t>
            </a:r>
          </a:p>
        </p:txBody>
      </p:sp>
      <p:sp>
        <p:nvSpPr>
          <p:cNvPr id="49" name="rect 48"/>
          <p:cNvSpPr/>
          <p:nvPr/>
        </p:nvSpPr>
        <p:spPr>
          <a:xfrm>
            <a:off x="6542055" y="4331517"/>
            <a:ext cx="526656" cy="378534"/>
          </a:xfrm>
          <a:prstGeom prst="roundRect">
            <a:avLst>
              <a:gd name="adj" fmla="val 4347"/>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ct 49"/>
          <p:cNvSpPr/>
          <p:nvPr/>
        </p:nvSpPr>
        <p:spPr>
          <a:xfrm>
            <a:off x="6558513" y="4347975"/>
            <a:ext cx="493740"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p5"/>
          <p:cNvSpPr txBox="1"/>
          <p:nvPr/>
        </p:nvSpPr>
        <p:spPr>
          <a:xfrm>
            <a:off x="6616614" y="4414630"/>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p5</a:t>
            </a:r>
          </a:p>
        </p:txBody>
      </p:sp>
      <p:cxnSp>
        <p:nvCxnSpPr>
          <p:cNvPr id="52" name="path 51"/>
          <p:cNvCxnSpPr/>
          <p:nvPr/>
        </p:nvCxnSpPr>
        <p:spPr>
          <a:xfrm>
            <a:off x="6805383" y="3237060"/>
            <a:ext cx="0" cy="1036854"/>
          </a:xfrm>
          <a:prstGeom prst="line">
            <a:avLst/>
          </a:prstGeom>
          <a:ln w="8641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53" name="path 52"/>
          <p:cNvCxnSpPr/>
          <p:nvPr/>
        </p:nvCxnSpPr>
        <p:spPr>
          <a:xfrm>
            <a:off x="6805383" y="3237060"/>
            <a:ext cx="0" cy="1036854"/>
          </a:xfrm>
          <a:prstGeom prst="line">
            <a:avLst/>
          </a:prstGeom>
          <a:ln w="69951">
            <a:solidFill>
              <a:srgbClr val="35505D"/>
            </a:solidFill>
          </a:ln>
          <a:effectLst/>
        </p:spPr>
        <p:style>
          <a:lnRef idx="2">
            <a:schemeClr val="accent1"/>
          </a:lnRef>
          <a:fillRef idx="0">
            <a:schemeClr val="accent1"/>
          </a:fillRef>
          <a:effectRef idx="0">
            <a:schemeClr val="accent1"/>
          </a:effectRef>
          <a:fontRef idx="minor">
            <a:schemeClr val="tx1"/>
          </a:fontRef>
        </p:style>
      </p:cxnSp>
      <p:sp>
        <p:nvSpPr>
          <p:cNvPr id="54" name="arrowhead 53"/>
          <p:cNvSpPr/>
          <p:nvPr/>
        </p:nvSpPr>
        <p:spPr>
          <a:xfrm>
            <a:off x="6673719" y="4007523"/>
            <a:ext cx="263328" cy="263328"/>
          </a:xfrm>
          <a:custGeom>
            <a:avLst/>
            <a:gdLst/>
            <a:ahLst/>
            <a:cxnLst/>
            <a:rect l="l" t="t" r="r" b="b"/>
            <a:pathLst>
              <a:path w="32" h="32">
                <a:moveTo>
                  <a:pt x="16" y="32"/>
                </a:moveTo>
                <a:lnTo>
                  <a:pt x="0" y="0"/>
                </a:lnTo>
                <a:lnTo>
                  <a:pt x="32" y="0"/>
                </a:lnTo>
                <a:close/>
              </a:path>
            </a:pathLst>
          </a:custGeom>
          <a:solidFill>
            <a:srgbClr val="3550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path 54"/>
          <p:cNvSpPr/>
          <p:nvPr/>
        </p:nvSpPr>
        <p:spPr>
          <a:xfrm>
            <a:off x="3044730" y="3275142"/>
            <a:ext cx="65832" cy="49374"/>
          </a:xfrm>
          <a:custGeom>
            <a:avLst/>
            <a:gdLst/>
            <a:ahLst/>
            <a:cxnLst/>
            <a:rect l="l" t="t" r="r" b="b"/>
            <a:pathLst>
              <a:path w="8" h="6">
                <a:moveTo>
                  <a:pt x="0" y="6"/>
                </a:moveTo>
                <a:lnTo>
                  <a:pt x="0" y="0"/>
                </a:lnTo>
                <a:lnTo>
                  <a:pt x="8" y="0"/>
                </a:lnTo>
                <a:lnTo>
                  <a:pt x="8" y="6"/>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ect 55"/>
          <p:cNvSpPr/>
          <p:nvPr/>
        </p:nvSpPr>
        <p:spPr>
          <a:xfrm>
            <a:off x="3020043" y="3325933"/>
            <a:ext cx="118498" cy="98748"/>
          </a:xfrm>
          <a:prstGeom prst="roundRect">
            <a:avLst>
              <a:gd name="adj" fmla="val 16666"/>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circle 56"/>
          <p:cNvSpPr/>
          <p:nvPr/>
        </p:nvSpPr>
        <p:spPr>
          <a:xfrm>
            <a:off x="3069417" y="3355558"/>
            <a:ext cx="19750" cy="19750"/>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shared: keep"/>
          <p:cNvSpPr txBox="1"/>
          <p:nvPr/>
        </p:nvSpPr>
        <p:spPr>
          <a:xfrm>
            <a:off x="2863692" y="3529190"/>
            <a:ext cx="1270127" cy="244813"/>
          </a:xfrm>
          <a:prstGeom prst="rect">
            <a:avLst/>
          </a:prstGeom>
          <a:noFill/>
          <a:effectLst/>
        </p:spPr>
        <p:txBody>
          <a:bodyPr wrap="none" lIns="0" rIns="0" tIns="0" bIns="0" anchor="t">
            <a:spAutoFit/>
          </a:bodyPr>
          <a:lstStyle/>
          <a:p>
            <a:pPr algn="l">
              <a:lnSpc>
                <a:spcPct val="100000"/>
              </a:lnSpc>
              <a:spcBef>
                <a:spcPts val="0"/>
              </a:spcBef>
              <a:spcAft>
                <a:spcPts val="0"/>
              </a:spcAft>
            </a:pPr>
            <a:r>
              <a:rPr sz="1425" b="0" i="0" lang="en-US" spc="0">
                <a:solidFill>
                  <a:srgbClr val="000000"/>
                </a:solidFill>
                <a:latin typeface="DejaVu Sans"/>
                <a:ea typeface="DejaVu Sans"/>
                <a:effectLst/>
              </a:rPr>
              <a:t>shared: keep</a:t>
            </a:r>
          </a:p>
        </p:txBody>
      </p:sp>
      <p:sp>
        <p:nvSpPr>
          <p:cNvPr id="59" name="path 58"/>
          <p:cNvSpPr/>
          <p:nvPr/>
        </p:nvSpPr>
        <p:spPr>
          <a:xfrm>
            <a:off x="4369599" y="2674425"/>
            <a:ext cx="1250808" cy="57603"/>
          </a:xfrm>
          <a:custGeom>
            <a:avLst/>
            <a:gdLst/>
            <a:ahLst/>
            <a:cxnLst/>
            <a:rect l="l" t="t" r="r" b="b"/>
            <a:pathLst>
              <a:path w="152" h="7">
                <a:moveTo>
                  <a:pt x="0" y="7"/>
                </a:moveTo>
                <a:lnTo>
                  <a:pt x="0" y="0"/>
                </a:lnTo>
                <a:lnTo>
                  <a:pt x="152" y="0"/>
                </a:lnTo>
                <a:lnTo>
                  <a:pt x="152" y="7"/>
                </a:lnTo>
              </a:path>
            </a:pathLst>
          </a:custGeom>
          <a:noFill/>
          <a:ln w="1316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curve 59"/>
          <p:cNvSpPr/>
          <p:nvPr/>
        </p:nvSpPr>
        <p:spPr>
          <a:xfrm>
            <a:off x="4995003" y="2666196"/>
            <a:ext cx="5003232" cy="320931"/>
          </a:xfrm>
          <a:custGeom>
            <a:avLst/>
            <a:gdLst/>
            <a:ahLst/>
            <a:cxnLst/>
            <a:rect l="l" t="t" r="r" b="b"/>
            <a:pathLst>
              <a:path w="608" h="39">
                <a:moveTo>
                  <a:pt x="0" y="0"/>
                </a:moveTo>
                <a:cubicBezTo>
                  <a:pt x="243" y="0"/>
                  <a:pt x="483" y="39"/>
                  <a:pt x="608" y="39"/>
                </a:cubicBezTo>
              </a:path>
            </a:pathLst>
          </a:custGeom>
          <a:noFill/>
          <a:ln w="65836">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curve 60"/>
          <p:cNvSpPr/>
          <p:nvPr/>
        </p:nvSpPr>
        <p:spPr>
          <a:xfrm>
            <a:off x="4995003" y="2666196"/>
            <a:ext cx="5003232" cy="320931"/>
          </a:xfrm>
          <a:custGeom>
            <a:avLst/>
            <a:gdLst/>
            <a:ahLst/>
            <a:cxnLst/>
            <a:rect l="l" t="t" r="r" b="b"/>
            <a:pathLst>
              <a:path w="608" h="39">
                <a:moveTo>
                  <a:pt x="0" y="0"/>
                </a:moveTo>
                <a:cubicBezTo>
                  <a:pt x="243" y="0"/>
                  <a:pt x="483" y="39"/>
                  <a:pt x="608" y="39"/>
                </a:cubicBezTo>
              </a:path>
            </a:pathLst>
          </a:custGeom>
          <a:noFill/>
          <a:ln w="4937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arrowhead 61"/>
          <p:cNvSpPr/>
          <p:nvPr/>
        </p:nvSpPr>
        <p:spPr>
          <a:xfrm>
            <a:off x="9800739" y="2888379"/>
            <a:ext cx="197496" cy="197496"/>
          </a:xfrm>
          <a:custGeom>
            <a:avLst/>
            <a:gdLst/>
            <a:ahLst/>
            <a:cxnLst/>
            <a:rect l="l" t="t" r="r" b="b"/>
            <a:pathLst>
              <a:path w="24" h="24">
                <a:moveTo>
                  <a:pt x="24" y="12"/>
                </a:moveTo>
                <a:lnTo>
                  <a:pt x="0" y="24"/>
                </a:lnTo>
                <a:lnTo>
                  <a:pt x="6" y="12"/>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circle 62"/>
          <p:cNvSpPr/>
          <p:nvPr/>
        </p:nvSpPr>
        <p:spPr>
          <a:xfrm>
            <a:off x="7784634" y="2693946"/>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2"/>
          <p:cNvSpPr txBox="1"/>
          <p:nvPr/>
        </p:nvSpPr>
        <p:spPr>
          <a:xfrm>
            <a:off x="7825763" y="2735091"/>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2</a:t>
            </a:r>
          </a:p>
        </p:txBody>
      </p:sp>
      <p:sp>
        <p:nvSpPr>
          <p:cNvPr id="65" name="cold + backed"/>
          <p:cNvSpPr txBox="1"/>
          <p:nvPr/>
        </p:nvSpPr>
        <p:spPr>
          <a:xfrm>
            <a:off x="8058955" y="2303068"/>
            <a:ext cx="1508607"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0" i="0" lang="en-US" spc="0">
                <a:solidFill>
                  <a:srgbClr val="000000"/>
                </a:solidFill>
                <a:latin typeface="DejaVu Sans"/>
                <a:ea typeface="DejaVu Sans"/>
                <a:effectLst/>
              </a:rPr>
              <a:t>cold + backed</a:t>
            </a:r>
          </a:p>
        </p:txBody>
      </p:sp>
      <p:sp>
        <p:nvSpPr>
          <p:cNvPr id="66" name="rect 65"/>
          <p:cNvSpPr/>
          <p:nvPr/>
        </p:nvSpPr>
        <p:spPr>
          <a:xfrm>
            <a:off x="10129899" y="2809152"/>
            <a:ext cx="370305" cy="378534"/>
          </a:xfrm>
          <a:prstGeom prst="roundRect">
            <a:avLst>
              <a:gd name="adj" fmla="val 2222"/>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 66"/>
          <p:cNvSpPr/>
          <p:nvPr/>
        </p:nvSpPr>
        <p:spPr>
          <a:xfrm>
            <a:off x="10640097" y="2809152"/>
            <a:ext cx="370305" cy="378534"/>
          </a:xfrm>
          <a:prstGeom prst="roundRect">
            <a:avLst>
              <a:gd name="adj" fmla="val 2222"/>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 capacity"/>
          <p:cNvSpPr txBox="1"/>
          <p:nvPr/>
        </p:nvSpPr>
        <p:spPr>
          <a:xfrm>
            <a:off x="10059711" y="3339922"/>
            <a:ext cx="1160771"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0" i="0" lang="en-US" spc="0">
                <a:solidFill>
                  <a:srgbClr val="000000"/>
                </a:solidFill>
                <a:latin typeface="DejaVu Sans"/>
                <a:ea typeface="DejaVu Sans"/>
                <a:effectLst/>
              </a:rPr>
              <a:t>+ capacity</a:t>
            </a:r>
          </a:p>
        </p:txBody>
      </p:sp>
      <p:sp>
        <p:nvSpPr>
          <p:cNvPr id="69" name="increment only"/>
          <p:cNvSpPr txBox="1"/>
          <p:nvPr/>
        </p:nvSpPr>
        <p:spPr>
          <a:xfrm>
            <a:off x="3997896" y="3710228"/>
            <a:ext cx="1582765"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0" i="0" lang="en-US" spc="0">
                <a:solidFill>
                  <a:srgbClr val="000000"/>
                </a:solidFill>
                <a:latin typeface="DejaVu Sans"/>
                <a:ea typeface="DejaVu Sans"/>
                <a:effectLst/>
              </a:rPr>
              <a:t>increment only</a:t>
            </a:r>
          </a:p>
        </p:txBody>
      </p:sp>
      <p:sp>
        <p:nvSpPr>
          <p:cNvPr id="70" name="D2H"/>
          <p:cNvSpPr txBox="1"/>
          <p:nvPr/>
        </p:nvSpPr>
        <p:spPr>
          <a:xfrm>
            <a:off x="4505088" y="3992071"/>
            <a:ext cx="584838"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D2H</a:t>
            </a:r>
          </a:p>
        </p:txBody>
      </p:sp>
      <p:sp>
        <p:nvSpPr>
          <p:cNvPr id="71" name="circle 70"/>
          <p:cNvSpPr/>
          <p:nvPr/>
        </p:nvSpPr>
        <p:spPr>
          <a:xfrm>
            <a:off x="6649032" y="3656739"/>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1"/>
          <p:cNvSpPr txBox="1"/>
          <p:nvPr/>
        </p:nvSpPr>
        <p:spPr>
          <a:xfrm>
            <a:off x="6690161" y="3697884"/>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1</a:t>
            </a:r>
          </a:p>
        </p:txBody>
      </p:sp>
      <p:sp>
        <p:nvSpPr>
          <p:cNvPr id="73" name="path 72"/>
          <p:cNvSpPr/>
          <p:nvPr/>
        </p:nvSpPr>
        <p:spPr>
          <a:xfrm>
            <a:off x="2921295" y="4904484"/>
            <a:ext cx="4147416" cy="57603"/>
          </a:xfrm>
          <a:custGeom>
            <a:avLst/>
            <a:gdLst/>
            <a:ahLst/>
            <a:cxnLst/>
            <a:rect l="l" t="t" r="r" b="b"/>
            <a:pathLst>
              <a:path w="504" h="7">
                <a:moveTo>
                  <a:pt x="0" y="7"/>
                </a:moveTo>
                <a:lnTo>
                  <a:pt x="0" y="0"/>
                </a:lnTo>
                <a:lnTo>
                  <a:pt x="504" y="0"/>
                </a:lnTo>
                <a:lnTo>
                  <a:pt x="504" y="7"/>
                </a:lnTo>
              </a:path>
            </a:pathLst>
          </a:custGeom>
          <a:noFill/>
          <a:ln w="1316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c"/>
          <p:cNvSpPr txBox="1"/>
          <p:nvPr/>
        </p:nvSpPr>
        <p:spPr>
          <a:xfrm>
            <a:off x="4428584" y="5121501"/>
            <a:ext cx="201032"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1" lang="en-US" spc="0">
                <a:solidFill>
                  <a:srgbClr val="000000"/>
                </a:solidFill>
                <a:latin typeface="Liberation Serif"/>
                <a:ea typeface="Liberation Serif"/>
                <a:effectLst/>
              </a:rPr>
              <a:t>c</a:t>
            </a:r>
          </a:p>
        </p:txBody>
      </p:sp>
      <p:sp>
        <p:nvSpPr>
          <p:cNvPr id="75" name="*"/>
          <p:cNvSpPr txBox="1"/>
          <p:nvPr/>
        </p:nvSpPr>
        <p:spPr>
          <a:xfrm>
            <a:off x="4539097" y="5071633"/>
            <a:ext cx="173838" cy="201610"/>
          </a:xfrm>
          <a:prstGeom prst="rect">
            <a:avLst/>
          </a:prstGeom>
          <a:noFill/>
          <a:effectLst/>
        </p:spPr>
        <p:txBody>
          <a:bodyPr wrap="none" lIns="0" rIns="0" tIns="0" bIns="0" anchor="t">
            <a:spAutoFit/>
          </a:bodyPr>
          <a:lstStyle/>
          <a:p>
            <a:pPr algn="l">
              <a:lnSpc>
                <a:spcPct val="100000"/>
              </a:lnSpc>
              <a:spcBef>
                <a:spcPts val="0"/>
              </a:spcBef>
              <a:spcAft>
                <a:spcPts val="0"/>
              </a:spcAft>
            </a:pPr>
            <a:r>
              <a:rPr sz="1179" b="0" i="0" lang="en-US" spc="0">
                <a:solidFill>
                  <a:srgbClr val="000000"/>
                </a:solidFill>
                <a:latin typeface="Liberation Serif"/>
                <a:ea typeface="Liberation Serif"/>
                <a:effectLst/>
              </a:rPr>
              <a:t>*</a:t>
            </a:r>
          </a:p>
        </p:txBody>
      </p:sp>
      <p:sp>
        <p:nvSpPr>
          <p:cNvPr id="76" name=" : stable FULL"/>
          <p:cNvSpPr txBox="1"/>
          <p:nvPr/>
        </p:nvSpPr>
        <p:spPr>
          <a:xfrm>
            <a:off x="4622416" y="5121501"/>
            <a:ext cx="1449204"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0" lang="en-US" spc="0">
                <a:solidFill>
                  <a:srgbClr val="000000"/>
                </a:solidFill>
                <a:latin typeface="Liberation Serif"/>
                <a:ea typeface="Liberation Serif"/>
                <a:effectLst/>
              </a:rPr>
              <a:t> : stable FULL</a:t>
            </a:r>
          </a:p>
        </p:txBody>
      </p:sp>
      <p:sp>
        <p:nvSpPr>
          <p:cNvPr id="77" name="polygon 76"/>
          <p:cNvSpPr/>
          <p:nvPr/>
        </p:nvSpPr>
        <p:spPr>
          <a:xfrm>
            <a:off x="7751718" y="4320225"/>
            <a:ext cx="485511" cy="370305"/>
          </a:xfrm>
          <a:custGeom>
            <a:avLst/>
            <a:gdLst/>
            <a:ahLst/>
            <a:cxnLst/>
            <a:rect l="l" t="t" r="r" b="b"/>
            <a:pathLst>
              <a:path w="59" h="45">
                <a:moveTo>
                  <a:pt x="9" y="0"/>
                </a:moveTo>
                <a:lnTo>
                  <a:pt x="50" y="0"/>
                </a:lnTo>
                <a:lnTo>
                  <a:pt x="59" y="22"/>
                </a:lnTo>
                <a:lnTo>
                  <a:pt x="50" y="45"/>
                </a:lnTo>
                <a:lnTo>
                  <a:pt x="9" y="45"/>
                </a:lnTo>
                <a:lnTo>
                  <a:pt x="0" y="22"/>
                </a:lnTo>
                <a:close/>
              </a:path>
            </a:pathLst>
          </a:custGeom>
          <a:solidFill>
            <a:srgbClr val="FFD579"/>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S"/>
          <p:cNvSpPr txBox="1"/>
          <p:nvPr/>
        </p:nvSpPr>
        <p:spPr>
          <a:xfrm>
            <a:off x="7872790" y="4380891"/>
            <a:ext cx="245423" cy="271557"/>
          </a:xfrm>
          <a:prstGeom prst="rect">
            <a:avLst/>
          </a:prstGeom>
          <a:noFill/>
          <a:effectLst/>
        </p:spPr>
        <p:txBody>
          <a:bodyPr wrap="none" lIns="0" rIns="0" tIns="0" bIns="0" anchor="t">
            <a:spAutoFit/>
          </a:bodyPr>
          <a:lstStyle/>
          <a:p>
            <a:pPr algn="ctr">
              <a:lnSpc>
                <a:spcPct val="100000"/>
              </a:lnSpc>
              <a:spcBef>
                <a:spcPts val="0"/>
              </a:spcBef>
              <a:spcAft>
                <a:spcPts val="0"/>
              </a:spcAft>
            </a:pPr>
            <a:r>
              <a:rPr sz="1603" b="1" i="0" lang="en-US" spc="0">
                <a:solidFill>
                  <a:srgbClr val="000000"/>
                </a:solidFill>
                <a:latin typeface="DejaVu Sans"/>
                <a:ea typeface="DejaVu Sans"/>
                <a:effectLst/>
              </a:rPr>
              <a:t>S</a:t>
            </a:r>
          </a:p>
        </p:txBody>
      </p:sp>
      <p:sp>
        <p:nvSpPr>
          <p:cNvPr id="79" name="rect 78"/>
          <p:cNvSpPr/>
          <p:nvPr/>
        </p:nvSpPr>
        <p:spPr>
          <a:xfrm>
            <a:off x="7838122" y="4366490"/>
            <a:ext cx="314759" cy="30859"/>
          </a:xfrm>
          <a:prstGeom prst="roundRect">
            <a:avLst>
              <a:gd name="adj" fmla="val 26666"/>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s"/>
          <p:cNvSpPr txBox="1"/>
          <p:nvPr/>
        </p:nvSpPr>
        <p:spPr>
          <a:xfrm>
            <a:off x="7838765" y="5113272"/>
            <a:ext cx="191614"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1" lang="en-US" spc="0">
                <a:solidFill>
                  <a:srgbClr val="000000"/>
                </a:solidFill>
                <a:latin typeface="Liberation Serif"/>
                <a:ea typeface="Liberation Serif"/>
                <a:effectLst/>
              </a:rPr>
              <a:t>s</a:t>
            </a:r>
          </a:p>
        </p:txBody>
      </p:sp>
      <p:sp>
        <p:nvSpPr>
          <p:cNvPr id="81" name="("/>
          <p:cNvSpPr txBox="1"/>
          <p:nvPr/>
        </p:nvSpPr>
        <p:spPr>
          <a:xfrm>
            <a:off x="7931631" y="5113272"/>
            <a:ext cx="178209"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0" lang="en-US" spc="0">
                <a:solidFill>
                  <a:srgbClr val="000000"/>
                </a:solidFill>
                <a:latin typeface="Liberation Serif"/>
                <a:ea typeface="Liberation Serif"/>
                <a:effectLst/>
              </a:rPr>
              <a:t>(</a:t>
            </a:r>
          </a:p>
        </p:txBody>
      </p:sp>
      <p:sp>
        <p:nvSpPr>
          <p:cNvPr id="82" name="c"/>
          <p:cNvSpPr txBox="1"/>
          <p:nvPr/>
        </p:nvSpPr>
        <p:spPr>
          <a:xfrm>
            <a:off x="8011092" y="5113272"/>
            <a:ext cx="204664"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1" lang="en-US" spc="0">
                <a:solidFill>
                  <a:srgbClr val="000000"/>
                </a:solidFill>
                <a:latin typeface="Liberation Serif"/>
                <a:ea typeface="Liberation Serif"/>
                <a:effectLst/>
              </a:rPr>
              <a:t>c</a:t>
            </a:r>
          </a:p>
        </p:txBody>
      </p:sp>
      <p:sp>
        <p:nvSpPr>
          <p:cNvPr id="83" name="*"/>
          <p:cNvSpPr txBox="1"/>
          <p:nvPr/>
        </p:nvSpPr>
        <p:spPr>
          <a:xfrm>
            <a:off x="8125237" y="5065297"/>
            <a:ext cx="175895"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221" b="0" i="0" lang="en-US" spc="0">
                <a:solidFill>
                  <a:srgbClr val="000000"/>
                </a:solidFill>
                <a:latin typeface="Liberation Serif"/>
                <a:ea typeface="Liberation Serif"/>
                <a:effectLst/>
              </a:rPr>
              <a:t>*</a:t>
            </a:r>
          </a:p>
        </p:txBody>
      </p:sp>
      <p:sp>
        <p:nvSpPr>
          <p:cNvPr id="84" name=")"/>
          <p:cNvSpPr txBox="1"/>
          <p:nvPr/>
        </p:nvSpPr>
        <p:spPr>
          <a:xfrm>
            <a:off x="8210613" y="5113272"/>
            <a:ext cx="178209"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0" lang="en-US" spc="0">
                <a:solidFill>
                  <a:srgbClr val="000000"/>
                </a:solidFill>
                <a:latin typeface="Liberation Serif"/>
                <a:ea typeface="Liberation Serif"/>
                <a:effectLst/>
              </a:rPr>
              <a:t>)</a:t>
            </a:r>
          </a:p>
        </p:txBody>
      </p:sp>
      <p:sp>
        <p:nvSpPr>
          <p:cNvPr id="85" name="match if needed"/>
          <p:cNvSpPr txBox="1"/>
          <p:nvPr/>
        </p:nvSpPr>
        <p:spPr>
          <a:xfrm>
            <a:off x="7685886" y="3841892"/>
            <a:ext cx="1646571" cy="255099"/>
          </a:xfrm>
          <a:prstGeom prst="rect">
            <a:avLst/>
          </a:prstGeom>
          <a:noFill/>
          <a:effectLst/>
        </p:spPr>
        <p:txBody>
          <a:bodyPr wrap="none" lIns="0" rIns="0" tIns="0" bIns="0" anchor="t">
            <a:spAutoFit/>
          </a:bodyPr>
          <a:lstStyle/>
          <a:p>
            <a:pPr algn="l">
              <a:lnSpc>
                <a:spcPct val="100000"/>
              </a:lnSpc>
              <a:spcBef>
                <a:spcPts val="0"/>
              </a:spcBef>
              <a:spcAft>
                <a:spcPts val="0"/>
              </a:spcAft>
            </a:pPr>
            <a:r>
              <a:rPr sz="1490" b="0" i="0" lang="en-US" spc="0">
                <a:solidFill>
                  <a:srgbClr val="000000"/>
                </a:solidFill>
                <a:latin typeface="DejaVu Sans"/>
                <a:ea typeface="DejaVu Sans"/>
                <a:effectLst/>
              </a:rPr>
              <a:t>match if needed</a:t>
            </a:r>
          </a:p>
        </p:txBody>
      </p:sp>
      <p:sp>
        <p:nvSpPr>
          <p:cNvPr id="86" name="circle 85"/>
          <p:cNvSpPr/>
          <p:nvPr/>
        </p:nvSpPr>
        <p:spPr>
          <a:xfrm>
            <a:off x="485511" y="5623470"/>
            <a:ext cx="444366" cy="444366"/>
          </a:xfrm>
          <a:prstGeom prst="ellipse">
            <a:avLst/>
          </a:prstGeom>
          <a:solidFill>
            <a:srgbClr val="84E291"/>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C1"/>
          <p:cNvSpPr txBox="1"/>
          <p:nvPr/>
        </p:nvSpPr>
        <p:spPr>
          <a:xfrm>
            <a:off x="511259" y="5724275"/>
            <a:ext cx="392870"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C1</a:t>
            </a:r>
          </a:p>
        </p:txBody>
      </p:sp>
      <p:sp>
        <p:nvSpPr>
          <p:cNvPr id="88" name="path 87"/>
          <p:cNvSpPr/>
          <p:nvPr/>
        </p:nvSpPr>
        <p:spPr>
          <a:xfrm>
            <a:off x="979251" y="5571033"/>
            <a:ext cx="156351" cy="156351"/>
          </a:xfrm>
          <a:custGeom>
            <a:avLst/>
            <a:gdLst/>
            <a:ahLst/>
            <a:cxnLst/>
            <a:rect l="l" t="t" r="r" b="b"/>
            <a:pathLst>
              <a:path w="19" h="19">
                <a:moveTo>
                  <a:pt x="0" y="10"/>
                </a:moveTo>
                <a:lnTo>
                  <a:pt x="7" y="19"/>
                </a:lnTo>
                <a:lnTo>
                  <a:pt x="19" y="0"/>
                </a:lnTo>
              </a:path>
            </a:pathLst>
          </a:custGeom>
          <a:noFill/>
          <a:ln w="2304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TURN"/>
          <p:cNvSpPr txBox="1"/>
          <p:nvPr/>
        </p:nvSpPr>
        <p:spPr>
          <a:xfrm>
            <a:off x="1110915" y="5728390"/>
            <a:ext cx="1035665"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1" i="0" lang="en-US" spc="0">
                <a:solidFill>
                  <a:srgbClr val="000000"/>
                </a:solidFill>
                <a:latin typeface="DejaVu Sans"/>
                <a:ea typeface="DejaVu Sans"/>
                <a:effectLst/>
              </a:rPr>
              <a:t>RETURN</a:t>
            </a:r>
          </a:p>
        </p:txBody>
      </p:sp>
      <p:cxnSp>
        <p:nvCxnSpPr>
          <p:cNvPr id="90" name="path 89"/>
          <p:cNvCxnSpPr/>
          <p:nvPr/>
        </p:nvCxnSpPr>
        <p:spPr>
          <a:xfrm>
            <a:off x="2139540" y="5845653"/>
            <a:ext cx="658320" cy="0"/>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91" name="path 90"/>
          <p:cNvCxnSpPr/>
          <p:nvPr/>
        </p:nvCxnSpPr>
        <p:spPr>
          <a:xfrm>
            <a:off x="2139540" y="5845653"/>
            <a:ext cx="658320" cy="0"/>
          </a:xfrm>
          <a:prstGeom prst="line">
            <a:avLst/>
          </a:prstGeom>
          <a:ln w="39502">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92" name="arrowhead 91"/>
          <p:cNvSpPr/>
          <p:nvPr/>
        </p:nvSpPr>
        <p:spPr>
          <a:xfrm>
            <a:off x="2649738" y="5768529"/>
            <a:ext cx="148122" cy="148122"/>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 92"/>
          <p:cNvSpPr/>
          <p:nvPr/>
        </p:nvSpPr>
        <p:spPr>
          <a:xfrm>
            <a:off x="2921295" y="5656386"/>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ect 93"/>
          <p:cNvSpPr/>
          <p:nvPr/>
        </p:nvSpPr>
        <p:spPr>
          <a:xfrm>
            <a:off x="2937753" y="5672844"/>
            <a:ext cx="493740" cy="41145"/>
          </a:xfrm>
          <a:prstGeom prst="roundRect">
            <a:avLst>
              <a:gd name="adj" fmla="val 20000"/>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p0"/>
          <p:cNvSpPr txBox="1"/>
          <p:nvPr/>
        </p:nvSpPr>
        <p:spPr>
          <a:xfrm>
            <a:off x="2995854" y="5739499"/>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p0</a:t>
            </a:r>
          </a:p>
        </p:txBody>
      </p:sp>
      <p:sp>
        <p:nvSpPr>
          <p:cNvPr id="96" name="rect 95"/>
          <p:cNvSpPr/>
          <p:nvPr/>
        </p:nvSpPr>
        <p:spPr>
          <a:xfrm>
            <a:off x="3645447" y="5656386"/>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 96"/>
          <p:cNvSpPr/>
          <p:nvPr/>
        </p:nvSpPr>
        <p:spPr>
          <a:xfrm>
            <a:off x="3661905" y="5672844"/>
            <a:ext cx="493740" cy="41145"/>
          </a:xfrm>
          <a:prstGeom prst="roundRect">
            <a:avLst>
              <a:gd name="adj" fmla="val 20000"/>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p1"/>
          <p:cNvSpPr txBox="1"/>
          <p:nvPr/>
        </p:nvSpPr>
        <p:spPr>
          <a:xfrm>
            <a:off x="3720006" y="5739499"/>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p1</a:t>
            </a:r>
          </a:p>
        </p:txBody>
      </p:sp>
      <p:sp>
        <p:nvSpPr>
          <p:cNvPr id="99" name="rect 98"/>
          <p:cNvSpPr/>
          <p:nvPr/>
        </p:nvSpPr>
        <p:spPr>
          <a:xfrm>
            <a:off x="4369599" y="5656386"/>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 99"/>
          <p:cNvSpPr/>
          <p:nvPr/>
        </p:nvSpPr>
        <p:spPr>
          <a:xfrm>
            <a:off x="4386057" y="5672844"/>
            <a:ext cx="493740" cy="41145"/>
          </a:xfrm>
          <a:prstGeom prst="roundRect">
            <a:avLst>
              <a:gd name="adj" fmla="val 20000"/>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p2"/>
          <p:cNvSpPr txBox="1"/>
          <p:nvPr/>
        </p:nvSpPr>
        <p:spPr>
          <a:xfrm>
            <a:off x="4444158" y="5739499"/>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p2</a:t>
            </a:r>
          </a:p>
        </p:txBody>
      </p:sp>
      <p:sp>
        <p:nvSpPr>
          <p:cNvPr id="102" name="rect 101"/>
          <p:cNvSpPr/>
          <p:nvPr/>
        </p:nvSpPr>
        <p:spPr>
          <a:xfrm>
            <a:off x="5093751" y="5656386"/>
            <a:ext cx="526656" cy="378534"/>
          </a:xfrm>
          <a:prstGeom prst="roundRect">
            <a:avLst>
              <a:gd name="adj" fmla="val 4347"/>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 102"/>
          <p:cNvSpPr/>
          <p:nvPr/>
        </p:nvSpPr>
        <p:spPr>
          <a:xfrm>
            <a:off x="5110209" y="5672844"/>
            <a:ext cx="493740" cy="41145"/>
          </a:xfrm>
          <a:prstGeom prst="roundRect">
            <a:avLst>
              <a:gd name="adj" fmla="val 20000"/>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p3"/>
          <p:cNvSpPr txBox="1"/>
          <p:nvPr/>
        </p:nvSpPr>
        <p:spPr>
          <a:xfrm>
            <a:off x="5168310" y="5739499"/>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p3</a:t>
            </a:r>
          </a:p>
        </p:txBody>
      </p:sp>
      <p:sp>
        <p:nvSpPr>
          <p:cNvPr id="105" name="path 104"/>
          <p:cNvSpPr/>
          <p:nvPr/>
        </p:nvSpPr>
        <p:spPr>
          <a:xfrm>
            <a:off x="3094104" y="6130605"/>
            <a:ext cx="65832" cy="49374"/>
          </a:xfrm>
          <a:custGeom>
            <a:avLst/>
            <a:gdLst/>
            <a:ahLst/>
            <a:cxnLst/>
            <a:rect l="l" t="t" r="r" b="b"/>
            <a:pathLst>
              <a:path w="8" h="6">
                <a:moveTo>
                  <a:pt x="0" y="6"/>
                </a:moveTo>
                <a:lnTo>
                  <a:pt x="0" y="0"/>
                </a:lnTo>
                <a:lnTo>
                  <a:pt x="8" y="0"/>
                </a:lnTo>
                <a:lnTo>
                  <a:pt x="8" y="6"/>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rect 105"/>
          <p:cNvSpPr/>
          <p:nvPr/>
        </p:nvSpPr>
        <p:spPr>
          <a:xfrm>
            <a:off x="3069417" y="6181396"/>
            <a:ext cx="118498" cy="98748"/>
          </a:xfrm>
          <a:prstGeom prst="roundRect">
            <a:avLst>
              <a:gd name="adj" fmla="val 16666"/>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circle 106"/>
          <p:cNvSpPr/>
          <p:nvPr/>
        </p:nvSpPr>
        <p:spPr>
          <a:xfrm>
            <a:off x="3118791" y="6211021"/>
            <a:ext cx="19750" cy="19750"/>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path 107"/>
          <p:cNvSpPr/>
          <p:nvPr/>
        </p:nvSpPr>
        <p:spPr>
          <a:xfrm>
            <a:off x="3645447" y="6171750"/>
            <a:ext cx="1974960" cy="57603"/>
          </a:xfrm>
          <a:custGeom>
            <a:avLst/>
            <a:gdLst/>
            <a:ahLst/>
            <a:cxnLst/>
            <a:rect l="l" t="t" r="r" b="b"/>
            <a:pathLst>
              <a:path w="240" h="7">
                <a:moveTo>
                  <a:pt x="0" y="7"/>
                </a:moveTo>
                <a:lnTo>
                  <a:pt x="0" y="0"/>
                </a:lnTo>
                <a:lnTo>
                  <a:pt x="240" y="0"/>
                </a:lnTo>
                <a:lnTo>
                  <a:pt x="240" y="7"/>
                </a:lnTo>
              </a:path>
            </a:pathLst>
          </a:custGeom>
          <a:noFill/>
          <a:ln w="1316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unused private suffix"/>
          <p:cNvSpPr txBox="1"/>
          <p:nvPr/>
        </p:nvSpPr>
        <p:spPr>
          <a:xfrm>
            <a:off x="3565745" y="6294134"/>
            <a:ext cx="2183739"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0" i="0" lang="en-US" spc="0">
                <a:solidFill>
                  <a:srgbClr val="000000"/>
                </a:solidFill>
                <a:latin typeface="DejaVu Sans"/>
                <a:ea typeface="DejaVu Sans"/>
                <a:effectLst/>
              </a:rPr>
              <a:t>unused private suffix</a:t>
            </a:r>
          </a:p>
        </p:txBody>
      </p:sp>
      <p:cxnSp>
        <p:nvCxnSpPr>
          <p:cNvPr id="110" name="path 109"/>
          <p:cNvCxnSpPr/>
          <p:nvPr/>
        </p:nvCxnSpPr>
        <p:spPr>
          <a:xfrm>
            <a:off x="5760300" y="5845653"/>
            <a:ext cx="4180332" cy="0"/>
          </a:xfrm>
          <a:prstGeom prst="line">
            <a:avLst/>
          </a:prstGeom>
          <a:ln w="65836">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11" name="path 110"/>
          <p:cNvCxnSpPr/>
          <p:nvPr/>
        </p:nvCxnSpPr>
        <p:spPr>
          <a:xfrm>
            <a:off x="5760300" y="5845653"/>
            <a:ext cx="4180332" cy="0"/>
          </a:xfrm>
          <a:prstGeom prst="line">
            <a:avLst/>
          </a:prstGeom>
          <a:ln w="49377">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112" name="arrowhead 111"/>
          <p:cNvSpPr/>
          <p:nvPr/>
        </p:nvSpPr>
        <p:spPr>
          <a:xfrm>
            <a:off x="9743136" y="5743842"/>
            <a:ext cx="197496" cy="197496"/>
          </a:xfrm>
          <a:custGeom>
            <a:avLst/>
            <a:gdLst/>
            <a:ahLst/>
            <a:cxnLst/>
            <a:rect l="l" t="t" r="r" b="b"/>
            <a:pathLst>
              <a:path w="24" h="24">
                <a:moveTo>
                  <a:pt x="24" y="12"/>
                </a:moveTo>
                <a:lnTo>
                  <a:pt x="0" y="24"/>
                </a:lnTo>
                <a:lnTo>
                  <a:pt x="6" y="12"/>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circle 112"/>
          <p:cNvSpPr/>
          <p:nvPr/>
        </p:nvSpPr>
        <p:spPr>
          <a:xfrm>
            <a:off x="7784634" y="5689302"/>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3"/>
          <p:cNvSpPr txBox="1"/>
          <p:nvPr/>
        </p:nvSpPr>
        <p:spPr>
          <a:xfrm>
            <a:off x="7825763" y="5730447"/>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3</a:t>
            </a:r>
          </a:p>
        </p:txBody>
      </p:sp>
      <p:sp>
        <p:nvSpPr>
          <p:cNvPr id="115" name="retire, no D2H"/>
          <p:cNvSpPr txBox="1"/>
          <p:nvPr/>
        </p:nvSpPr>
        <p:spPr>
          <a:xfrm>
            <a:off x="7056914" y="5932058"/>
            <a:ext cx="1488356"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0" i="0" lang="en-US" spc="0">
                <a:solidFill>
                  <a:srgbClr val="000000"/>
                </a:solidFill>
                <a:latin typeface="DejaVu Sans"/>
                <a:ea typeface="DejaVu Sans"/>
                <a:effectLst/>
              </a:rPr>
              <a:t>retire, no D2H</a:t>
            </a:r>
          </a:p>
        </p:txBody>
      </p:sp>
      <p:sp>
        <p:nvSpPr>
          <p:cNvPr id="116" name="rect 115"/>
          <p:cNvSpPr/>
          <p:nvPr/>
        </p:nvSpPr>
        <p:spPr>
          <a:xfrm>
            <a:off x="10129899" y="5656386"/>
            <a:ext cx="337389" cy="378534"/>
          </a:xfrm>
          <a:prstGeom prst="roundRect">
            <a:avLst>
              <a:gd name="adj" fmla="val 2439"/>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rect 116"/>
          <p:cNvSpPr/>
          <p:nvPr/>
        </p:nvSpPr>
        <p:spPr>
          <a:xfrm>
            <a:off x="10582494" y="5656386"/>
            <a:ext cx="337389" cy="378534"/>
          </a:xfrm>
          <a:prstGeom prst="roundRect">
            <a:avLst>
              <a:gd name="adj" fmla="val 2439"/>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rect 117"/>
          <p:cNvSpPr/>
          <p:nvPr/>
        </p:nvSpPr>
        <p:spPr>
          <a:xfrm>
            <a:off x="11035089" y="5656386"/>
            <a:ext cx="337389" cy="378534"/>
          </a:xfrm>
          <a:prstGeom prst="roundRect">
            <a:avLst>
              <a:gd name="adj" fmla="val 2439"/>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 capacity"/>
          <p:cNvSpPr txBox="1"/>
          <p:nvPr/>
        </p:nvSpPr>
        <p:spPr>
          <a:xfrm>
            <a:off x="10150230" y="6170698"/>
            <a:ext cx="1160771"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0" i="0" lang="en-US" spc="0">
                <a:solidFill>
                  <a:srgbClr val="000000"/>
                </a:solidFill>
                <a:latin typeface="DejaVu Sans"/>
                <a:ea typeface="DejaVu Sans"/>
                <a:effectLst/>
              </a:rPr>
              <a:t>+ capacity</a:t>
            </a:r>
          </a:p>
        </p:txBody>
      </p:sp>
      <p:sp>
        <p:nvSpPr>
          <p:cNvPr id="120" name="circle 119"/>
          <p:cNvSpPr/>
          <p:nvPr/>
        </p:nvSpPr>
        <p:spPr>
          <a:xfrm>
            <a:off x="501969" y="6462828"/>
            <a:ext cx="411450" cy="411450"/>
          </a:xfrm>
          <a:prstGeom prst="ellipse">
            <a:avLst/>
          </a:prstGeom>
          <a:solidFill>
            <a:srgbClr val="F6C6AD"/>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C2"/>
          <p:cNvSpPr txBox="1"/>
          <p:nvPr/>
        </p:nvSpPr>
        <p:spPr>
          <a:xfrm>
            <a:off x="511259" y="6547175"/>
            <a:ext cx="392870"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C2</a:t>
            </a:r>
          </a:p>
        </p:txBody>
      </p:sp>
      <p:sp>
        <p:nvSpPr>
          <p:cNvPr id="122" name="path 121"/>
          <p:cNvSpPr/>
          <p:nvPr/>
        </p:nvSpPr>
        <p:spPr>
          <a:xfrm>
            <a:off x="1119144" y="6533826"/>
            <a:ext cx="82290" cy="57603"/>
          </a:xfrm>
          <a:custGeom>
            <a:avLst/>
            <a:gdLst/>
            <a:ahLst/>
            <a:cxnLst/>
            <a:rect l="l" t="t" r="r" b="b"/>
            <a:pathLst>
              <a:path w="10" h="7">
                <a:moveTo>
                  <a:pt x="0" y="7"/>
                </a:moveTo>
                <a:lnTo>
                  <a:pt x="0" y="0"/>
                </a:lnTo>
                <a:lnTo>
                  <a:pt x="10" y="0"/>
                </a:lnTo>
                <a:lnTo>
                  <a:pt x="10" y="7"/>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rect 122"/>
          <p:cNvSpPr/>
          <p:nvPr/>
        </p:nvSpPr>
        <p:spPr>
          <a:xfrm>
            <a:off x="1094457" y="6595315"/>
            <a:ext cx="138247" cy="115206"/>
          </a:xfrm>
          <a:prstGeom prst="roundRect">
            <a:avLst>
              <a:gd name="adj" fmla="val 14285"/>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circle 123"/>
          <p:cNvSpPr/>
          <p:nvPr/>
        </p:nvSpPr>
        <p:spPr>
          <a:xfrm>
            <a:off x="1152060" y="6629877"/>
            <a:ext cx="23041" cy="23041"/>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running: keep live KV"/>
          <p:cNvSpPr txBox="1"/>
          <p:nvPr/>
        </p:nvSpPr>
        <p:spPr>
          <a:xfrm>
            <a:off x="1481220" y="6551290"/>
            <a:ext cx="2291905"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0" i="0" lang="en-US" spc="0">
                <a:solidFill>
                  <a:srgbClr val="000000"/>
                </a:solidFill>
                <a:latin typeface="DejaVu Sans"/>
                <a:ea typeface="DejaVu Sans"/>
                <a:effectLst/>
              </a:rPr>
              <a:t>running: keep live KV</a:t>
            </a:r>
          </a:p>
        </p:txBody>
      </p:sp>
      <p:sp>
        <p:nvSpPr>
          <p:cNvPr id="126" name="path 125"/>
          <p:cNvSpPr/>
          <p:nvPr/>
        </p:nvSpPr>
        <p:spPr>
          <a:xfrm>
            <a:off x="7068711" y="4525950"/>
            <a:ext cx="1448304" cy="378534"/>
          </a:xfrm>
          <a:custGeom>
            <a:avLst/>
            <a:gdLst/>
            <a:ahLst/>
            <a:cxnLst/>
            <a:rect l="l" t="t" r="r" b="b"/>
            <a:pathLst>
              <a:path w="176" h="46">
                <a:moveTo>
                  <a:pt x="0" y="46"/>
                </a:moveTo>
                <a:lnTo>
                  <a:pt x="176" y="46"/>
                </a:lnTo>
                <a:lnTo>
                  <a:pt x="176" y="0"/>
                </a:lnTo>
              </a:path>
            </a:pathLst>
          </a:custGeom>
          <a:noFill/>
          <a:ln w="3950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7" name="path 126"/>
          <p:cNvCxnSpPr/>
          <p:nvPr/>
        </p:nvCxnSpPr>
        <p:spPr>
          <a:xfrm>
            <a:off x="8286603" y="4529013"/>
            <a:ext cx="3612531" cy="0"/>
          </a:xfrm>
          <a:prstGeom prst="line">
            <a:avLst/>
          </a:prstGeom>
          <a:ln w="3950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128" name="path 127"/>
          <p:cNvSpPr/>
          <p:nvPr/>
        </p:nvSpPr>
        <p:spPr>
          <a:xfrm>
            <a:off x="11183211" y="2987127"/>
            <a:ext cx="608946" cy="1538823"/>
          </a:xfrm>
          <a:custGeom>
            <a:avLst/>
            <a:gdLst/>
            <a:ahLst/>
            <a:cxnLst/>
            <a:rect l="l" t="t" r="r" b="b"/>
            <a:pathLst>
              <a:path w="74" h="187">
                <a:moveTo>
                  <a:pt x="0" y="0"/>
                </a:moveTo>
                <a:lnTo>
                  <a:pt x="74" y="0"/>
                </a:lnTo>
                <a:lnTo>
                  <a:pt x="74" y="187"/>
                </a:lnTo>
              </a:path>
            </a:pathLst>
          </a:custGeom>
          <a:noFill/>
          <a:ln w="3950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path 128"/>
          <p:cNvSpPr/>
          <p:nvPr/>
        </p:nvSpPr>
        <p:spPr>
          <a:xfrm>
            <a:off x="11462997" y="4525950"/>
            <a:ext cx="329160" cy="1316640"/>
          </a:xfrm>
          <a:custGeom>
            <a:avLst/>
            <a:gdLst/>
            <a:ahLst/>
            <a:cxnLst/>
            <a:rect l="l" t="t" r="r" b="b"/>
            <a:pathLst>
              <a:path w="40" h="160">
                <a:moveTo>
                  <a:pt x="0" y="160"/>
                </a:moveTo>
                <a:lnTo>
                  <a:pt x="40" y="160"/>
                </a:lnTo>
                <a:lnTo>
                  <a:pt x="40" y="0"/>
                </a:lnTo>
              </a:path>
            </a:pathLst>
          </a:custGeom>
          <a:noFill/>
          <a:ln w="3950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0" name="path 129"/>
          <p:cNvCxnSpPr/>
          <p:nvPr/>
        </p:nvCxnSpPr>
        <p:spPr>
          <a:xfrm>
            <a:off x="11899134" y="4529013"/>
            <a:ext cx="526656" cy="0"/>
          </a:xfrm>
          <a:prstGeom prst="line">
            <a:avLst/>
          </a:prstGeom>
          <a:ln w="55961">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31" name="path 130"/>
          <p:cNvCxnSpPr/>
          <p:nvPr/>
        </p:nvCxnSpPr>
        <p:spPr>
          <a:xfrm>
            <a:off x="11899134" y="4529013"/>
            <a:ext cx="526656" cy="0"/>
          </a:xfrm>
          <a:prstGeom prst="line">
            <a:avLst/>
          </a:prstGeom>
          <a:ln w="39502">
            <a:solidFill>
              <a:srgbClr val="275317"/>
            </a:solidFill>
          </a:ln>
          <a:effectLst/>
        </p:spPr>
        <p:style>
          <a:lnRef idx="2">
            <a:schemeClr val="accent1"/>
          </a:lnRef>
          <a:fillRef idx="0">
            <a:schemeClr val="accent1"/>
          </a:fillRef>
          <a:effectRef idx="0">
            <a:schemeClr val="accent1"/>
          </a:effectRef>
          <a:fontRef idx="minor">
            <a:schemeClr val="tx1"/>
          </a:fontRef>
        </p:style>
      </p:cxnSp>
      <p:sp>
        <p:nvSpPr>
          <p:cNvPr id="132" name="arrowhead 131"/>
          <p:cNvSpPr/>
          <p:nvPr/>
        </p:nvSpPr>
        <p:spPr>
          <a:xfrm>
            <a:off x="12277668" y="4451889"/>
            <a:ext cx="148122" cy="148122"/>
          </a:xfrm>
          <a:custGeom>
            <a:avLst/>
            <a:gdLst/>
            <a:ahLst/>
            <a:cxnLst/>
            <a:rect l="l" t="t" r="r" b="b"/>
            <a:pathLst>
              <a:path w="18" h="18">
                <a:moveTo>
                  <a:pt x="18" y="9"/>
                </a:moveTo>
                <a:lnTo>
                  <a:pt x="0" y="18"/>
                </a:lnTo>
                <a:lnTo>
                  <a:pt x="4" y="9"/>
                </a:lnTo>
                <a:lnTo>
                  <a:pt x="0" y="0"/>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circle 132"/>
          <p:cNvSpPr/>
          <p:nvPr/>
        </p:nvSpPr>
        <p:spPr>
          <a:xfrm>
            <a:off x="11742783" y="4372662"/>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4"/>
          <p:cNvSpPr txBox="1"/>
          <p:nvPr/>
        </p:nvSpPr>
        <p:spPr>
          <a:xfrm>
            <a:off x="11783912" y="4413807"/>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4</a:t>
            </a:r>
          </a:p>
        </p:txBody>
      </p:sp>
      <p:sp>
        <p:nvSpPr>
          <p:cNvPr id="135" name="restore view"/>
          <p:cNvSpPr txBox="1"/>
          <p:nvPr/>
        </p:nvSpPr>
        <p:spPr>
          <a:xfrm>
            <a:off x="9273263" y="4082590"/>
            <a:ext cx="1548691"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restore view</a:t>
            </a:r>
          </a:p>
        </p:txBody>
      </p:sp>
      <p:sp>
        <p:nvSpPr>
          <p:cNvPr id="136" name="circle 135"/>
          <p:cNvSpPr/>
          <p:nvPr/>
        </p:nvSpPr>
        <p:spPr>
          <a:xfrm>
            <a:off x="12499851" y="4298601"/>
            <a:ext cx="460824" cy="460824"/>
          </a:xfrm>
          <a:prstGeom prst="ellipse">
            <a:avLst/>
          </a:prstGeom>
          <a:solidFill>
            <a:srgbClr val="D9D9D9"/>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D3"/>
          <p:cNvSpPr txBox="1"/>
          <p:nvPr/>
        </p:nvSpPr>
        <p:spPr>
          <a:xfrm>
            <a:off x="12549032" y="4417922"/>
            <a:ext cx="362462" cy="234526"/>
          </a:xfrm>
          <a:prstGeom prst="rect">
            <a:avLst/>
          </a:prstGeom>
          <a:noFill/>
          <a:effectLst/>
        </p:spPr>
        <p:txBody>
          <a:bodyPr wrap="none" lIns="0" rIns="0" tIns="0" bIns="0" anchor="t">
            <a:spAutoFit/>
          </a:bodyPr>
          <a:lstStyle/>
          <a:p>
            <a:pPr algn="ctr">
              <a:lnSpc>
                <a:spcPct val="100000"/>
              </a:lnSpc>
              <a:spcBef>
                <a:spcPts val="0"/>
              </a:spcBef>
              <a:spcAft>
                <a:spcPts val="0"/>
              </a:spcAft>
            </a:pPr>
            <a:r>
              <a:rPr sz="1360" b="1" i="0" lang="en-US" spc="0">
                <a:solidFill>
                  <a:srgbClr val="000000"/>
                </a:solidFill>
                <a:latin typeface="DejaVu Sans"/>
                <a:ea typeface="DejaVu Sans"/>
                <a:effectLst/>
              </a:rPr>
              <a:t>D3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3"/>
          <p:cNvSpPr txBox="1"/>
          <p:nvPr/>
        </p:nvSpPr>
        <p:spPr>
          <a:xfrm>
            <a:off x="263328" y="1953336"/>
            <a:ext cx="488018"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D3</a:t>
            </a:r>
          </a:p>
        </p:txBody>
      </p:sp>
      <p:sp>
        <p:nvSpPr>
          <p:cNvPr id="3" name="Restore early, then admit for first use"/>
          <p:cNvSpPr txBox="1"/>
          <p:nvPr/>
        </p:nvSpPr>
        <p:spPr>
          <a:xfrm>
            <a:off x="888732" y="1953336"/>
            <a:ext cx="5546089" cy="333274"/>
          </a:xfrm>
          <a:prstGeom prst="rect">
            <a:avLst/>
          </a:prstGeom>
          <a:noFill/>
          <a:effectLst/>
        </p:spPr>
        <p:txBody>
          <a:bodyPr wrap="none" lIns="0" rIns="0" tIns="0" bIns="0" anchor="t">
            <a:spAutoFit/>
          </a:bodyPr>
          <a:lstStyle/>
          <a:p>
            <a:pPr algn="l">
              <a:lnSpc>
                <a:spcPct val="100000"/>
              </a:lnSpc>
              <a:spcBef>
                <a:spcPts val="0"/>
              </a:spcBef>
              <a:spcAft>
                <a:spcPts val="0"/>
              </a:spcAft>
            </a:pPr>
            <a:r>
              <a:rPr sz="2008" b="1" i="0" lang="en-US" spc="0">
                <a:solidFill>
                  <a:srgbClr val="000000"/>
                </a:solidFill>
                <a:latin typeface="DejaVu Sans"/>
                <a:ea typeface="DejaVu Sans"/>
                <a:effectLst/>
              </a:rPr>
              <a:t>Restore early, then admit for first use</a:t>
            </a:r>
          </a:p>
        </p:txBody>
      </p:sp>
      <p:sp>
        <p:nvSpPr>
          <p:cNvPr id="4" name="rect 3"/>
          <p:cNvSpPr/>
          <p:nvPr/>
        </p:nvSpPr>
        <p:spPr>
          <a:xfrm>
            <a:off x="1086228" y="3664968"/>
            <a:ext cx="3637218" cy="1110915"/>
          </a:xfrm>
          <a:prstGeom prst="roundRect">
            <a:avLst>
              <a:gd name="adj" fmla="val 5925"/>
            </a:avLst>
          </a:prstGeom>
          <a:solidFill>
            <a:srgbClr val="FBE3D6"/>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 4"/>
          <p:cNvSpPr/>
          <p:nvPr/>
        </p:nvSpPr>
        <p:spPr>
          <a:xfrm>
            <a:off x="9027213" y="3664968"/>
            <a:ext cx="3933462" cy="1110915"/>
          </a:xfrm>
          <a:prstGeom prst="roundRect">
            <a:avLst>
              <a:gd name="adj" fmla="val 5925"/>
            </a:avLst>
          </a:prstGeom>
          <a:solidFill>
            <a:srgbClr val="F2F2F2"/>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 5"/>
          <p:cNvSpPr/>
          <p:nvPr/>
        </p:nvSpPr>
        <p:spPr>
          <a:xfrm>
            <a:off x="5859048" y="3319350"/>
            <a:ext cx="2304120" cy="534885"/>
          </a:xfrm>
          <a:prstGeom prst="roundRect">
            <a:avLst>
              <a:gd name="adj" fmla="val 12307"/>
            </a:avLst>
          </a:prstGeom>
          <a:solidFill>
            <a:srgbClr val="DCEAF7"/>
          </a:solidFill>
          <a:ln w="13167">
            <a:solidFill>
              <a:srgbClr val="15608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 6"/>
          <p:cNvSpPr/>
          <p:nvPr/>
        </p:nvSpPr>
        <p:spPr>
          <a:xfrm>
            <a:off x="1086228" y="5318997"/>
            <a:ext cx="3637218" cy="1193205"/>
          </a:xfrm>
          <a:prstGeom prst="roundRect">
            <a:avLst>
              <a:gd name="adj" fmla="val 5517"/>
            </a:avLst>
          </a:prstGeom>
          <a:solidFill>
            <a:srgbClr val="F2F2F2"/>
          </a:solidFill>
          <a:ln w="13167">
            <a:solidFill>
              <a:srgbClr val="A6A6A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 7"/>
          <p:cNvSpPr/>
          <p:nvPr/>
        </p:nvSpPr>
        <p:spPr>
          <a:xfrm>
            <a:off x="9027213" y="4998066"/>
            <a:ext cx="3933462" cy="1662258"/>
          </a:xfrm>
          <a:prstGeom prst="roundRect">
            <a:avLst>
              <a:gd name="adj" fmla="val 3960"/>
            </a:avLst>
          </a:prstGeom>
          <a:solidFill>
            <a:srgbClr val="D9F2D0"/>
          </a:solidFill>
          <a:ln w="14813">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ircle 8"/>
          <p:cNvSpPr/>
          <p:nvPr/>
        </p:nvSpPr>
        <p:spPr>
          <a:xfrm>
            <a:off x="362076" y="2702175"/>
            <a:ext cx="460824" cy="460824"/>
          </a:xfrm>
          <a:prstGeom prst="ellipse">
            <a:avLst/>
          </a:prstGeom>
          <a:solidFill>
            <a:srgbClr val="F6C6AD"/>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C2"/>
          <p:cNvSpPr txBox="1"/>
          <p:nvPr/>
        </p:nvSpPr>
        <p:spPr>
          <a:xfrm>
            <a:off x="396053" y="2811209"/>
            <a:ext cx="392870"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C2</a:t>
            </a:r>
          </a:p>
        </p:txBody>
      </p:sp>
      <p:cxnSp>
        <p:nvCxnSpPr>
          <p:cNvPr id="11" name="line 10"/>
          <p:cNvCxnSpPr/>
          <p:nvPr/>
        </p:nvCxnSpPr>
        <p:spPr>
          <a:xfrm>
            <a:off x="962793" y="2932587"/>
            <a:ext cx="7266207" cy="0"/>
          </a:xfrm>
          <a:prstGeom prst="line">
            <a:avLst/>
          </a:prstGeom>
          <a:ln w="10698">
            <a:solidFill>
              <a:srgbClr val="A6A6A6"/>
            </a:solidFill>
          </a:ln>
          <a:effectLst/>
        </p:spPr>
        <p:style>
          <a:lnRef idx="2">
            <a:schemeClr val="accent1"/>
          </a:lnRef>
          <a:fillRef idx="0">
            <a:schemeClr val="accent1"/>
          </a:fillRef>
          <a:effectRef idx="0">
            <a:schemeClr val="accent1"/>
          </a:effectRef>
          <a:fontRef idx="minor">
            <a:schemeClr val="tx1"/>
          </a:fontRef>
        </p:style>
      </p:cxnSp>
      <p:sp>
        <p:nvSpPr>
          <p:cNvPr id="12" name="rect 11"/>
          <p:cNvSpPr/>
          <p:nvPr/>
        </p:nvSpPr>
        <p:spPr>
          <a:xfrm>
            <a:off x="4048668" y="2768007"/>
            <a:ext cx="4180332" cy="329160"/>
          </a:xfrm>
          <a:prstGeom prst="rect">
            <a:avLst/>
          </a:prstGeom>
          <a:solidFill>
            <a:srgbClr val="F6C6AD"/>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inal report"/>
          <p:cNvSpPr txBox="1"/>
          <p:nvPr/>
        </p:nvSpPr>
        <p:spPr>
          <a:xfrm>
            <a:off x="5498226" y="2798866"/>
            <a:ext cx="1281217" cy="283900"/>
          </a:xfrm>
          <a:prstGeom prst="rect">
            <a:avLst/>
          </a:prstGeom>
          <a:noFill/>
          <a:effectLst/>
        </p:spPr>
        <p:txBody>
          <a:bodyPr wrap="none" lIns="0" rIns="0" tIns="0" bIns="0" anchor="t">
            <a:spAutoFit/>
          </a:bodyPr>
          <a:lstStyle/>
          <a:p>
            <a:pPr algn="ctr">
              <a:lnSpc>
                <a:spcPct val="100000"/>
              </a:lnSpc>
              <a:spcBef>
                <a:spcPts val="0"/>
              </a:spcBef>
              <a:spcAft>
                <a:spcPts val="0"/>
              </a:spcAft>
            </a:pPr>
            <a:r>
              <a:rPr sz="1684" b="0" i="0" lang="en-US" spc="0">
                <a:solidFill>
                  <a:srgbClr val="000000"/>
                </a:solidFill>
                <a:latin typeface="DejaVu Sans"/>
                <a:ea typeface="DejaVu Sans"/>
                <a:effectLst/>
              </a:rPr>
              <a:t>final report</a:t>
            </a:r>
          </a:p>
        </p:txBody>
      </p:sp>
      <p:sp>
        <p:nvSpPr>
          <p:cNvPr id="14" name="circle 13"/>
          <p:cNvSpPr/>
          <p:nvPr/>
        </p:nvSpPr>
        <p:spPr>
          <a:xfrm>
            <a:off x="3398577" y="2874984"/>
            <a:ext cx="115206" cy="115206"/>
          </a:xfrm>
          <a:prstGeom prst="ellipse">
            <a:avLst/>
          </a:prstGeom>
          <a:solidFill>
            <a:srgbClr val="215F9A"/>
          </a:solidFill>
          <a:ln w="11521">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NOTICE"/>
          <p:cNvSpPr txBox="1"/>
          <p:nvPr/>
        </p:nvSpPr>
        <p:spPr>
          <a:xfrm>
            <a:off x="3110562" y="2459420"/>
            <a:ext cx="919976" cy="265385"/>
          </a:xfrm>
          <a:prstGeom prst="rect">
            <a:avLst/>
          </a:prstGeom>
          <a:noFill/>
          <a:effectLst/>
        </p:spPr>
        <p:txBody>
          <a:bodyPr wrap="none" lIns="0" rIns="0" tIns="0" bIns="0" anchor="t">
            <a:spAutoFit/>
          </a:bodyPr>
          <a:lstStyle/>
          <a:p>
            <a:pPr algn="l">
              <a:lnSpc>
                <a:spcPct val="100000"/>
              </a:lnSpc>
              <a:spcBef>
                <a:spcPts val="0"/>
              </a:spcBef>
              <a:spcAft>
                <a:spcPts val="0"/>
              </a:spcAft>
            </a:pPr>
            <a:r>
              <a:rPr sz="1555" b="1" i="0" lang="en-US" spc="0">
                <a:solidFill>
                  <a:srgbClr val="000000"/>
                </a:solidFill>
                <a:latin typeface="DejaVu Sans"/>
                <a:ea typeface="DejaVu Sans"/>
                <a:effectLst/>
              </a:rPr>
              <a:t>NOTICE</a:t>
            </a:r>
          </a:p>
        </p:txBody>
      </p:sp>
      <p:cxnSp>
        <p:nvCxnSpPr>
          <p:cNvPr id="16" name="line 15"/>
          <p:cNvCxnSpPr/>
          <p:nvPr/>
        </p:nvCxnSpPr>
        <p:spPr>
          <a:xfrm>
            <a:off x="8229000" y="2595198"/>
            <a:ext cx="0" cy="3917004"/>
          </a:xfrm>
          <a:prstGeom prst="line">
            <a:avLst/>
          </a:prstGeom>
          <a:ln w="13990">
            <a:solidFill>
              <a:srgbClr val="A6A6A6"/>
            </a:solidFill>
            <a:prstDash val="dash"/>
          </a:ln>
          <a:effectLst/>
        </p:spPr>
        <p:style>
          <a:lnRef idx="2">
            <a:schemeClr val="accent1"/>
          </a:lnRef>
          <a:fillRef idx="0">
            <a:schemeClr val="accent1"/>
          </a:fillRef>
          <a:effectRef idx="0">
            <a:schemeClr val="accent1"/>
          </a:effectRef>
          <a:fontRef idx="minor">
            <a:schemeClr val="tx1"/>
          </a:fontRef>
        </p:style>
      </p:cxnSp>
      <p:sp>
        <p:nvSpPr>
          <p:cNvPr id="17" name="RETURN / JOIN"/>
          <p:cNvSpPr txBox="1"/>
          <p:nvPr/>
        </p:nvSpPr>
        <p:spPr>
          <a:xfrm>
            <a:off x="8401809" y="2790637"/>
            <a:ext cx="1754191"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1" i="0" lang="en-US" spc="0">
                <a:solidFill>
                  <a:srgbClr val="000000"/>
                </a:solidFill>
                <a:latin typeface="DejaVu Sans"/>
                <a:ea typeface="DejaVu Sans"/>
                <a:effectLst/>
              </a:rPr>
              <a:t>RETURN / JOIN</a:t>
            </a:r>
          </a:p>
        </p:txBody>
      </p:sp>
      <p:sp>
        <p:nvSpPr>
          <p:cNvPr id="18" name="circle 17"/>
          <p:cNvSpPr/>
          <p:nvPr/>
        </p:nvSpPr>
        <p:spPr>
          <a:xfrm>
            <a:off x="2806089" y="3212373"/>
            <a:ext cx="378534" cy="378534"/>
          </a:xfrm>
          <a:prstGeom prst="ellipse">
            <a:avLst/>
          </a:prstGeom>
          <a:solidFill>
            <a:srgbClr val="A6CAEC"/>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D1"/>
          <p:cNvSpPr txBox="1"/>
          <p:nvPr/>
        </p:nvSpPr>
        <p:spPr>
          <a:xfrm>
            <a:off x="2814125" y="3290548"/>
            <a:ext cx="362462" cy="234526"/>
          </a:xfrm>
          <a:prstGeom prst="rect">
            <a:avLst/>
          </a:prstGeom>
          <a:noFill/>
          <a:effectLst/>
        </p:spPr>
        <p:txBody>
          <a:bodyPr wrap="none" lIns="0" rIns="0" tIns="0" bIns="0" anchor="t">
            <a:spAutoFit/>
          </a:bodyPr>
          <a:lstStyle/>
          <a:p>
            <a:pPr algn="ctr">
              <a:lnSpc>
                <a:spcPct val="100000"/>
              </a:lnSpc>
              <a:spcBef>
                <a:spcPts val="0"/>
              </a:spcBef>
              <a:spcAft>
                <a:spcPts val="0"/>
              </a:spcAft>
            </a:pPr>
            <a:r>
              <a:rPr sz="1360" b="1" i="0" lang="en-US" spc="0">
                <a:solidFill>
                  <a:srgbClr val="000000"/>
                </a:solidFill>
                <a:latin typeface="DejaVu Sans"/>
                <a:ea typeface="DejaVu Sans"/>
                <a:effectLst/>
              </a:rPr>
              <a:t>D1</a:t>
            </a:r>
          </a:p>
        </p:txBody>
      </p:sp>
      <p:sp>
        <p:nvSpPr>
          <p:cNvPr id="20" name="curve 19"/>
          <p:cNvSpPr/>
          <p:nvPr/>
        </p:nvSpPr>
        <p:spPr>
          <a:xfrm>
            <a:off x="3456180" y="3127020"/>
            <a:ext cx="2575677" cy="979251"/>
          </a:xfrm>
          <a:custGeom>
            <a:avLst/>
            <a:gdLst/>
            <a:ahLst/>
            <a:cxnLst/>
            <a:rect l="l" t="t" r="r" b="b"/>
            <a:pathLst>
              <a:path w="313" h="119">
                <a:moveTo>
                  <a:pt x="0" y="0"/>
                </a:moveTo>
                <a:lnTo>
                  <a:pt x="0" y="6"/>
                </a:lnTo>
                <a:cubicBezTo>
                  <a:pt x="0" y="8"/>
                  <a:pt x="1" y="9"/>
                  <a:pt x="3" y="9"/>
                </a:cubicBezTo>
                <a:lnTo>
                  <a:pt x="295" y="9"/>
                </a:lnTo>
                <a:cubicBezTo>
                  <a:pt x="305" y="9"/>
                  <a:pt x="313" y="17"/>
                  <a:pt x="313" y="27"/>
                </a:cubicBezTo>
                <a:lnTo>
                  <a:pt x="313" y="119"/>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urve 20"/>
          <p:cNvSpPr/>
          <p:nvPr/>
        </p:nvSpPr>
        <p:spPr>
          <a:xfrm>
            <a:off x="3456180" y="3127020"/>
            <a:ext cx="2575677" cy="979251"/>
          </a:xfrm>
          <a:custGeom>
            <a:avLst/>
            <a:gdLst/>
            <a:ahLst/>
            <a:cxnLst/>
            <a:rect l="l" t="t" r="r" b="b"/>
            <a:pathLst>
              <a:path w="313" h="119">
                <a:moveTo>
                  <a:pt x="0" y="0"/>
                </a:moveTo>
                <a:lnTo>
                  <a:pt x="0" y="6"/>
                </a:lnTo>
                <a:cubicBezTo>
                  <a:pt x="0" y="8"/>
                  <a:pt x="1" y="9"/>
                  <a:pt x="3" y="9"/>
                </a:cubicBezTo>
                <a:lnTo>
                  <a:pt x="295" y="9"/>
                </a:lnTo>
                <a:cubicBezTo>
                  <a:pt x="305" y="9"/>
                  <a:pt x="313" y="17"/>
                  <a:pt x="313" y="27"/>
                </a:cubicBezTo>
                <a:lnTo>
                  <a:pt x="313" y="119"/>
                </a:lnTo>
              </a:path>
            </a:pathLst>
          </a:custGeom>
          <a:noFill/>
          <a:ln w="3950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arrowhead 21"/>
          <p:cNvSpPr/>
          <p:nvPr/>
        </p:nvSpPr>
        <p:spPr>
          <a:xfrm>
            <a:off x="5957796" y="3958149"/>
            <a:ext cx="148122" cy="148122"/>
          </a:xfrm>
          <a:custGeom>
            <a:avLst/>
            <a:gdLst/>
            <a:ahLst/>
            <a:cxnLst/>
            <a:rect l="l" t="t" r="r" b="b"/>
            <a:pathLst>
              <a:path w="18" h="18">
                <a:moveTo>
                  <a:pt x="0" y="0"/>
                </a:moveTo>
                <a:lnTo>
                  <a:pt x="9" y="18"/>
                </a:lnTo>
                <a:lnTo>
                  <a:pt x="18" y="0"/>
                </a:lnTo>
              </a:path>
            </a:pathLst>
          </a:custGeom>
          <a:noFill/>
          <a:ln w="23145">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ircle 22"/>
          <p:cNvSpPr/>
          <p:nvPr/>
        </p:nvSpPr>
        <p:spPr>
          <a:xfrm>
            <a:off x="4583553" y="3047793"/>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1"/>
          <p:cNvSpPr txBox="1"/>
          <p:nvPr/>
        </p:nvSpPr>
        <p:spPr>
          <a:xfrm>
            <a:off x="4624682" y="3088938"/>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1</a:t>
            </a:r>
          </a:p>
        </p:txBody>
      </p:sp>
      <p:sp>
        <p:nvSpPr>
          <p:cNvPr id="25" name="time restore"/>
          <p:cNvSpPr txBox="1"/>
          <p:nvPr/>
        </p:nvSpPr>
        <p:spPr>
          <a:xfrm>
            <a:off x="6410391" y="3465415"/>
            <a:ext cx="1355856"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0" i="0" lang="en-US" spc="0">
                <a:solidFill>
                  <a:srgbClr val="000000"/>
                </a:solidFill>
                <a:latin typeface="DejaVu Sans"/>
                <a:ea typeface="DejaVu Sans"/>
                <a:effectLst/>
              </a:rPr>
              <a:t>time restore</a:t>
            </a:r>
          </a:p>
        </p:txBody>
      </p:sp>
      <p:sp>
        <p:nvSpPr>
          <p:cNvPr id="26" name="circle 25"/>
          <p:cNvSpPr/>
          <p:nvPr/>
        </p:nvSpPr>
        <p:spPr>
          <a:xfrm>
            <a:off x="7776405" y="3442785"/>
            <a:ext cx="296244" cy="296244"/>
          </a:xfrm>
          <a:prstGeom prst="ellipse">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ath 26"/>
          <p:cNvSpPr/>
          <p:nvPr/>
        </p:nvSpPr>
        <p:spPr>
          <a:xfrm>
            <a:off x="7924527" y="3497325"/>
            <a:ext cx="82290" cy="131664"/>
          </a:xfrm>
          <a:custGeom>
            <a:avLst/>
            <a:gdLst/>
            <a:ahLst/>
            <a:cxnLst/>
            <a:rect l="l" t="t" r="r" b="b"/>
            <a:pathLst>
              <a:path w="10" h="16">
                <a:moveTo>
                  <a:pt x="0" y="0"/>
                </a:moveTo>
                <a:lnTo>
                  <a:pt x="0" y="11"/>
                </a:lnTo>
                <a:lnTo>
                  <a:pt x="10" y="16"/>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circle 27"/>
          <p:cNvSpPr/>
          <p:nvPr/>
        </p:nvSpPr>
        <p:spPr>
          <a:xfrm>
            <a:off x="362076" y="4076418"/>
            <a:ext cx="460824" cy="460824"/>
          </a:xfrm>
          <a:prstGeom prst="ellipse">
            <a:avLst/>
          </a:prstGeom>
          <a:solidFill>
            <a:srgbClr val="A6CAEC"/>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
          <p:cNvSpPr txBox="1"/>
          <p:nvPr/>
        </p:nvSpPr>
        <p:spPr>
          <a:xfrm>
            <a:off x="467719" y="4185452"/>
            <a:ext cx="249538" cy="273614"/>
          </a:xfrm>
          <a:prstGeom prst="rect">
            <a:avLst/>
          </a:prstGeom>
          <a:noFill/>
          <a:effectLst/>
        </p:spPr>
        <p:txBody>
          <a:bodyPr wrap="none" lIns="0" rIns="0" tIns="0" bIns="0" anchor="t">
            <a:spAutoFit/>
          </a:bodyPr>
          <a:lstStyle/>
          <a:p>
            <a:pPr algn="ctr">
              <a:lnSpc>
                <a:spcPct val="100000"/>
              </a:lnSpc>
              <a:spcBef>
                <a:spcPts val="0"/>
              </a:spcBef>
              <a:spcAft>
                <a:spcPts val="0"/>
              </a:spcAft>
            </a:pPr>
            <a:r>
              <a:rPr sz="1620" b="1" i="0" lang="en-US" spc="0">
                <a:solidFill>
                  <a:srgbClr val="000000"/>
                </a:solidFill>
                <a:latin typeface="DejaVu Sans"/>
                <a:ea typeface="DejaVu Sans"/>
                <a:effectLst/>
              </a:rPr>
              <a:t>P</a:t>
            </a:r>
          </a:p>
        </p:txBody>
      </p:sp>
      <p:sp>
        <p:nvSpPr>
          <p:cNvPr id="30" name="Host"/>
          <p:cNvSpPr txBox="1"/>
          <p:nvPr/>
        </p:nvSpPr>
        <p:spPr>
          <a:xfrm>
            <a:off x="1217892" y="3712285"/>
            <a:ext cx="675807" cy="294187"/>
          </a:xfrm>
          <a:prstGeom prst="rect">
            <a:avLst/>
          </a:prstGeom>
          <a:noFill/>
          <a:effectLst/>
        </p:spPr>
        <p:txBody>
          <a:bodyPr wrap="none" lIns="0" rIns="0" tIns="0" bIns="0" anchor="t">
            <a:spAutoFit/>
          </a:bodyPr>
          <a:lstStyle/>
          <a:p>
            <a:pPr algn="l">
              <a:lnSpc>
                <a:spcPct val="100000"/>
              </a:lnSpc>
              <a:spcBef>
                <a:spcPts val="0"/>
              </a:spcBef>
              <a:spcAft>
                <a:spcPts val="0"/>
              </a:spcAft>
            </a:pPr>
            <a:r>
              <a:rPr sz="1749" b="1" i="0" lang="en-US" spc="0">
                <a:solidFill>
                  <a:srgbClr val="000000"/>
                </a:solidFill>
                <a:latin typeface="DejaVu Sans"/>
                <a:ea typeface="DejaVu Sans"/>
                <a:effectLst/>
              </a:rPr>
              <a:t>Host</a:t>
            </a:r>
          </a:p>
        </p:txBody>
      </p:sp>
      <p:sp>
        <p:nvSpPr>
          <p:cNvPr id="31" name="rect 30"/>
          <p:cNvSpPr/>
          <p:nvPr/>
        </p:nvSpPr>
        <p:spPr>
          <a:xfrm>
            <a:off x="2131311" y="4117563"/>
            <a:ext cx="534885"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 31"/>
          <p:cNvSpPr/>
          <p:nvPr/>
        </p:nvSpPr>
        <p:spPr>
          <a:xfrm>
            <a:off x="2147769" y="4134021"/>
            <a:ext cx="501969"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p2"/>
          <p:cNvSpPr txBox="1"/>
          <p:nvPr/>
        </p:nvSpPr>
        <p:spPr>
          <a:xfrm>
            <a:off x="2209985" y="4200676"/>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p2</a:t>
            </a:r>
          </a:p>
        </p:txBody>
      </p:sp>
      <p:sp>
        <p:nvSpPr>
          <p:cNvPr id="34" name="rect 33"/>
          <p:cNvSpPr/>
          <p:nvPr/>
        </p:nvSpPr>
        <p:spPr>
          <a:xfrm>
            <a:off x="2839005" y="4117563"/>
            <a:ext cx="534885" cy="378534"/>
          </a:xfrm>
          <a:prstGeom prst="roundRect">
            <a:avLst>
              <a:gd name="adj" fmla="val 4347"/>
            </a:avLst>
          </a:prstGeom>
          <a:solidFill>
            <a:srgbClr val="FFD579"/>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 34"/>
          <p:cNvSpPr/>
          <p:nvPr/>
        </p:nvSpPr>
        <p:spPr>
          <a:xfrm>
            <a:off x="2855463" y="4134021"/>
            <a:ext cx="501969"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p3"/>
          <p:cNvSpPr txBox="1"/>
          <p:nvPr/>
        </p:nvSpPr>
        <p:spPr>
          <a:xfrm>
            <a:off x="2917679" y="4200676"/>
            <a:ext cx="377538"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p3</a:t>
            </a:r>
          </a:p>
        </p:txBody>
      </p:sp>
      <p:sp>
        <p:nvSpPr>
          <p:cNvPr id="37" name="path 36"/>
          <p:cNvSpPr/>
          <p:nvPr/>
        </p:nvSpPr>
        <p:spPr>
          <a:xfrm>
            <a:off x="2131311" y="4665843"/>
            <a:ext cx="1242579" cy="57603"/>
          </a:xfrm>
          <a:custGeom>
            <a:avLst/>
            <a:gdLst/>
            <a:ahLst/>
            <a:cxnLst/>
            <a:rect l="l" t="t" r="r" b="b"/>
            <a:pathLst>
              <a:path w="151" h="7">
                <a:moveTo>
                  <a:pt x="0" y="7"/>
                </a:moveTo>
                <a:lnTo>
                  <a:pt x="0" y="0"/>
                </a:lnTo>
                <a:lnTo>
                  <a:pt x="151" y="0"/>
                </a:lnTo>
                <a:lnTo>
                  <a:pt x="151" y="7"/>
                </a:lnTo>
              </a:path>
            </a:pathLst>
          </a:custGeom>
          <a:noFill/>
          <a:ln w="1316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ΔFULL"/>
          <p:cNvSpPr txBox="1"/>
          <p:nvPr/>
        </p:nvSpPr>
        <p:spPr>
          <a:xfrm>
            <a:off x="2373456" y="4817028"/>
            <a:ext cx="848808"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0" lang="en-US" spc="0">
                <a:solidFill>
                  <a:srgbClr val="000000"/>
                </a:solidFill>
                <a:latin typeface="Liberation Serif"/>
                <a:ea typeface="Liberation Serif"/>
                <a:effectLst/>
              </a:rPr>
              <a:t>ΔFULL</a:t>
            </a:r>
          </a:p>
        </p:txBody>
      </p:sp>
      <p:sp>
        <p:nvSpPr>
          <p:cNvPr id="39" name="polygon 38"/>
          <p:cNvSpPr/>
          <p:nvPr/>
        </p:nvSpPr>
        <p:spPr>
          <a:xfrm>
            <a:off x="3810027" y="4122729"/>
            <a:ext cx="485511" cy="370305"/>
          </a:xfrm>
          <a:custGeom>
            <a:avLst/>
            <a:gdLst/>
            <a:ahLst/>
            <a:cxnLst/>
            <a:rect l="l" t="t" r="r" b="b"/>
            <a:pathLst>
              <a:path w="59" h="45">
                <a:moveTo>
                  <a:pt x="9" y="0"/>
                </a:moveTo>
                <a:lnTo>
                  <a:pt x="50" y="0"/>
                </a:lnTo>
                <a:lnTo>
                  <a:pt x="59" y="22"/>
                </a:lnTo>
                <a:lnTo>
                  <a:pt x="50" y="45"/>
                </a:lnTo>
                <a:lnTo>
                  <a:pt x="9" y="45"/>
                </a:lnTo>
                <a:lnTo>
                  <a:pt x="0" y="22"/>
                </a:lnTo>
                <a:close/>
              </a:path>
            </a:pathLst>
          </a:custGeom>
          <a:solidFill>
            <a:srgbClr val="FFD579"/>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
          <p:cNvSpPr txBox="1"/>
          <p:nvPr/>
        </p:nvSpPr>
        <p:spPr>
          <a:xfrm>
            <a:off x="3931099" y="4183395"/>
            <a:ext cx="245423" cy="271557"/>
          </a:xfrm>
          <a:prstGeom prst="rect">
            <a:avLst/>
          </a:prstGeom>
          <a:noFill/>
          <a:effectLst/>
        </p:spPr>
        <p:txBody>
          <a:bodyPr wrap="none" lIns="0" rIns="0" tIns="0" bIns="0" anchor="t">
            <a:spAutoFit/>
          </a:bodyPr>
          <a:lstStyle/>
          <a:p>
            <a:pPr algn="ctr">
              <a:lnSpc>
                <a:spcPct val="100000"/>
              </a:lnSpc>
              <a:spcBef>
                <a:spcPts val="0"/>
              </a:spcBef>
              <a:spcAft>
                <a:spcPts val="0"/>
              </a:spcAft>
            </a:pPr>
            <a:r>
              <a:rPr sz="1603" b="1" i="0" lang="en-US" spc="0">
                <a:solidFill>
                  <a:srgbClr val="000000"/>
                </a:solidFill>
                <a:latin typeface="DejaVu Sans"/>
                <a:ea typeface="DejaVu Sans"/>
                <a:effectLst/>
              </a:rPr>
              <a:t>S</a:t>
            </a:r>
          </a:p>
        </p:txBody>
      </p:sp>
      <p:sp>
        <p:nvSpPr>
          <p:cNvPr id="41" name="rect 40"/>
          <p:cNvSpPr/>
          <p:nvPr/>
        </p:nvSpPr>
        <p:spPr>
          <a:xfrm>
            <a:off x="3896432" y="4168994"/>
            <a:ext cx="314759" cy="30859"/>
          </a:xfrm>
          <a:prstGeom prst="roundRect">
            <a:avLst>
              <a:gd name="adj" fmla="val 26666"/>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s"/>
          <p:cNvSpPr txBox="1"/>
          <p:nvPr/>
        </p:nvSpPr>
        <p:spPr>
          <a:xfrm>
            <a:off x="3838411" y="4808799"/>
            <a:ext cx="188431"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1" lang="en-US" spc="0">
                <a:solidFill>
                  <a:srgbClr val="000000"/>
                </a:solidFill>
                <a:latin typeface="Liberation Serif"/>
                <a:ea typeface="Liberation Serif"/>
                <a:effectLst/>
              </a:rPr>
              <a:t>s</a:t>
            </a:r>
          </a:p>
        </p:txBody>
      </p:sp>
      <p:sp>
        <p:nvSpPr>
          <p:cNvPr id="43" name="("/>
          <p:cNvSpPr txBox="1"/>
          <p:nvPr/>
        </p:nvSpPr>
        <p:spPr>
          <a:xfrm>
            <a:off x="3928094" y="4808799"/>
            <a:ext cx="175477"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0" lang="en-US" spc="0">
                <a:solidFill>
                  <a:srgbClr val="000000"/>
                </a:solidFill>
                <a:latin typeface="Liberation Serif"/>
                <a:ea typeface="Liberation Serif"/>
                <a:effectLst/>
              </a:rPr>
              <a:t>(</a:t>
            </a:r>
          </a:p>
        </p:txBody>
      </p:sp>
      <p:sp>
        <p:nvSpPr>
          <p:cNvPr id="44" name="c"/>
          <p:cNvSpPr txBox="1"/>
          <p:nvPr/>
        </p:nvSpPr>
        <p:spPr>
          <a:xfrm>
            <a:off x="4004823" y="4808799"/>
            <a:ext cx="201032"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1" lang="en-US" spc="0">
                <a:solidFill>
                  <a:srgbClr val="000000"/>
                </a:solidFill>
                <a:latin typeface="Liberation Serif"/>
                <a:ea typeface="Liberation Serif"/>
                <a:effectLst/>
              </a:rPr>
              <a:t>c</a:t>
            </a:r>
          </a:p>
        </p:txBody>
      </p:sp>
      <p:sp>
        <p:nvSpPr>
          <p:cNvPr id="45" name="*"/>
          <p:cNvSpPr txBox="1"/>
          <p:nvPr/>
        </p:nvSpPr>
        <p:spPr>
          <a:xfrm>
            <a:off x="4115336" y="4758931"/>
            <a:ext cx="173838" cy="201610"/>
          </a:xfrm>
          <a:prstGeom prst="rect">
            <a:avLst/>
          </a:prstGeom>
          <a:noFill/>
          <a:effectLst/>
        </p:spPr>
        <p:txBody>
          <a:bodyPr wrap="none" lIns="0" rIns="0" tIns="0" bIns="0" anchor="t">
            <a:spAutoFit/>
          </a:bodyPr>
          <a:lstStyle/>
          <a:p>
            <a:pPr algn="l">
              <a:lnSpc>
                <a:spcPct val="100000"/>
              </a:lnSpc>
              <a:spcBef>
                <a:spcPts val="0"/>
              </a:spcBef>
              <a:spcAft>
                <a:spcPts val="0"/>
              </a:spcAft>
            </a:pPr>
            <a:r>
              <a:rPr sz="1179" b="0" i="0" lang="en-US" spc="0">
                <a:solidFill>
                  <a:srgbClr val="000000"/>
                </a:solidFill>
                <a:latin typeface="Liberation Serif"/>
                <a:ea typeface="Liberation Serif"/>
                <a:effectLst/>
              </a:rPr>
              <a:t>*</a:t>
            </a:r>
          </a:p>
        </p:txBody>
      </p:sp>
      <p:sp>
        <p:nvSpPr>
          <p:cNvPr id="46" name=")"/>
          <p:cNvSpPr txBox="1"/>
          <p:nvPr/>
        </p:nvSpPr>
        <p:spPr>
          <a:xfrm>
            <a:off x="4198654" y="4808799"/>
            <a:ext cx="175477" cy="290072"/>
          </a:xfrm>
          <a:prstGeom prst="rect">
            <a:avLst/>
          </a:prstGeom>
          <a:noFill/>
          <a:effectLst/>
        </p:spPr>
        <p:txBody>
          <a:bodyPr wrap="none" lIns="0" rIns="0" tIns="0" bIns="0" anchor="t">
            <a:spAutoFit/>
          </a:bodyPr>
          <a:lstStyle/>
          <a:p>
            <a:pPr algn="l">
              <a:lnSpc>
                <a:spcPct val="100000"/>
              </a:lnSpc>
              <a:spcBef>
                <a:spcPts val="0"/>
              </a:spcBef>
              <a:spcAft>
                <a:spcPts val="0"/>
              </a:spcAft>
            </a:pPr>
            <a:r>
              <a:rPr sz="1814" b="0" i="0" lang="en-US" spc="0">
                <a:solidFill>
                  <a:srgbClr val="000000"/>
                </a:solidFill>
                <a:latin typeface="Liberation Serif"/>
                <a:ea typeface="Liberation Serif"/>
                <a:effectLst/>
              </a:rPr>
              <a:t>)</a:t>
            </a:r>
          </a:p>
        </p:txBody>
      </p:sp>
      <p:sp>
        <p:nvSpPr>
          <p:cNvPr id="47" name="if needed"/>
          <p:cNvSpPr txBox="1"/>
          <p:nvPr/>
        </p:nvSpPr>
        <p:spPr>
          <a:xfrm>
            <a:off x="3549447" y="3808976"/>
            <a:ext cx="949067" cy="244813"/>
          </a:xfrm>
          <a:prstGeom prst="rect">
            <a:avLst/>
          </a:prstGeom>
          <a:noFill/>
          <a:effectLst/>
        </p:spPr>
        <p:txBody>
          <a:bodyPr wrap="none" lIns="0" rIns="0" tIns="0" bIns="0" anchor="t">
            <a:spAutoFit/>
          </a:bodyPr>
          <a:lstStyle/>
          <a:p>
            <a:pPr algn="ctr">
              <a:lnSpc>
                <a:spcPct val="100000"/>
              </a:lnSpc>
              <a:spcBef>
                <a:spcPts val="0"/>
              </a:spcBef>
              <a:spcAft>
                <a:spcPts val="0"/>
              </a:spcAft>
            </a:pPr>
            <a:r>
              <a:rPr sz="1425" b="0" i="0" lang="en-US" spc="0">
                <a:solidFill>
                  <a:srgbClr val="000000"/>
                </a:solidFill>
                <a:latin typeface="DejaVu Sans"/>
                <a:ea typeface="DejaVu Sans"/>
                <a:effectLst/>
              </a:rPr>
              <a:t>if needed</a:t>
            </a:r>
          </a:p>
        </p:txBody>
      </p:sp>
      <p:sp>
        <p:nvSpPr>
          <p:cNvPr id="48" name="path 47"/>
          <p:cNvSpPr/>
          <p:nvPr/>
        </p:nvSpPr>
        <p:spPr>
          <a:xfrm>
            <a:off x="3373890" y="4303767"/>
            <a:ext cx="1152060" cy="362076"/>
          </a:xfrm>
          <a:custGeom>
            <a:avLst/>
            <a:gdLst/>
            <a:ahLst/>
            <a:cxnLst/>
            <a:rect l="l" t="t" r="r" b="b"/>
            <a:pathLst>
              <a:path w="140" h="44">
                <a:moveTo>
                  <a:pt x="0" y="44"/>
                </a:moveTo>
                <a:lnTo>
                  <a:pt x="140" y="44"/>
                </a:lnTo>
                <a:lnTo>
                  <a:pt x="140" y="0"/>
                </a:lnTo>
              </a:path>
            </a:pathLst>
          </a:custGeom>
          <a:noFill/>
          <a:ln w="41148">
            <a:solidFill>
              <a:srgbClr val="35505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path 48"/>
          <p:cNvCxnSpPr/>
          <p:nvPr/>
        </p:nvCxnSpPr>
        <p:spPr>
          <a:xfrm>
            <a:off x="4361370" y="4306830"/>
            <a:ext cx="1160289" cy="0"/>
          </a:xfrm>
          <a:prstGeom prst="line">
            <a:avLst/>
          </a:prstGeom>
          <a:ln w="86410">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50" name="path 49"/>
          <p:cNvCxnSpPr/>
          <p:nvPr/>
        </p:nvCxnSpPr>
        <p:spPr>
          <a:xfrm>
            <a:off x="4361370" y="4306830"/>
            <a:ext cx="1160289" cy="0"/>
          </a:xfrm>
          <a:prstGeom prst="line">
            <a:avLst/>
          </a:prstGeom>
          <a:ln w="69951">
            <a:solidFill>
              <a:srgbClr val="35505D"/>
            </a:solidFill>
          </a:ln>
          <a:effectLst/>
        </p:spPr>
        <p:style>
          <a:lnRef idx="2">
            <a:schemeClr val="accent1"/>
          </a:lnRef>
          <a:fillRef idx="0">
            <a:schemeClr val="accent1"/>
          </a:fillRef>
          <a:effectRef idx="0">
            <a:schemeClr val="accent1"/>
          </a:effectRef>
          <a:fontRef idx="minor">
            <a:schemeClr val="tx1"/>
          </a:fontRef>
        </p:style>
      </p:cxnSp>
      <p:sp>
        <p:nvSpPr>
          <p:cNvPr id="51" name="arrowhead 50"/>
          <p:cNvSpPr/>
          <p:nvPr/>
        </p:nvSpPr>
        <p:spPr>
          <a:xfrm>
            <a:off x="5258331" y="4172103"/>
            <a:ext cx="263328" cy="263328"/>
          </a:xfrm>
          <a:custGeom>
            <a:avLst/>
            <a:gdLst/>
            <a:ahLst/>
            <a:cxnLst/>
            <a:rect l="l" t="t" r="r" b="b"/>
            <a:pathLst>
              <a:path w="32" h="32">
                <a:moveTo>
                  <a:pt x="32" y="16"/>
                </a:moveTo>
                <a:lnTo>
                  <a:pt x="0" y="32"/>
                </a:lnTo>
                <a:lnTo>
                  <a:pt x="0" y="0"/>
                </a:lnTo>
                <a:close/>
              </a:path>
            </a:pathLst>
          </a:custGeom>
          <a:solidFill>
            <a:srgbClr val="3550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polygon 51"/>
          <p:cNvSpPr/>
          <p:nvPr/>
        </p:nvSpPr>
        <p:spPr>
          <a:xfrm>
            <a:off x="5587491" y="4139187"/>
            <a:ext cx="3225768" cy="329160"/>
          </a:xfrm>
          <a:custGeom>
            <a:avLst/>
            <a:gdLst/>
            <a:ahLst/>
            <a:cxnLst/>
            <a:rect l="l" t="t" r="r" b="b"/>
            <a:pathLst>
              <a:path w="392" h="40">
                <a:moveTo>
                  <a:pt x="0" y="0"/>
                </a:moveTo>
                <a:lnTo>
                  <a:pt x="375" y="0"/>
                </a:lnTo>
                <a:lnTo>
                  <a:pt x="392" y="20"/>
                </a:lnTo>
                <a:lnTo>
                  <a:pt x="375" y="40"/>
                </a:lnTo>
                <a:lnTo>
                  <a:pt x="0" y="40"/>
                </a:lnTo>
                <a:close/>
              </a:path>
            </a:pathLst>
          </a:custGeom>
          <a:solidFill>
            <a:srgbClr val="F2AA84"/>
          </a:solidFill>
          <a:ln w="9875">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H2D"/>
          <p:cNvSpPr txBox="1"/>
          <p:nvPr/>
        </p:nvSpPr>
        <p:spPr>
          <a:xfrm>
            <a:off x="7282006" y="4166937"/>
            <a:ext cx="643180" cy="302416"/>
          </a:xfrm>
          <a:prstGeom prst="rect">
            <a:avLst/>
          </a:prstGeom>
          <a:noFill/>
          <a:effectLst/>
        </p:spPr>
        <p:txBody>
          <a:bodyPr wrap="none" lIns="0" rIns="0" tIns="0" bIns="0" anchor="t">
            <a:spAutoFit/>
          </a:bodyPr>
          <a:lstStyle/>
          <a:p>
            <a:pPr algn="ctr">
              <a:lnSpc>
                <a:spcPct val="100000"/>
              </a:lnSpc>
              <a:spcBef>
                <a:spcPts val="0"/>
              </a:spcBef>
              <a:spcAft>
                <a:spcPts val="0"/>
              </a:spcAft>
            </a:pPr>
            <a:r>
              <a:rPr sz="1814" b="1" i="0" lang="en-US" spc="0">
                <a:solidFill>
                  <a:srgbClr val="000000"/>
                </a:solidFill>
                <a:latin typeface="DejaVu Sans"/>
                <a:ea typeface="DejaVu Sans"/>
                <a:effectLst/>
              </a:rPr>
              <a:t>H2D</a:t>
            </a:r>
          </a:p>
        </p:txBody>
      </p:sp>
      <p:sp>
        <p:nvSpPr>
          <p:cNvPr id="54" name="circle 53"/>
          <p:cNvSpPr/>
          <p:nvPr/>
        </p:nvSpPr>
        <p:spPr>
          <a:xfrm>
            <a:off x="6632574" y="4150479"/>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3"/>
          <p:cNvSpPr txBox="1"/>
          <p:nvPr/>
        </p:nvSpPr>
        <p:spPr>
          <a:xfrm>
            <a:off x="6673703" y="4191624"/>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3</a:t>
            </a:r>
          </a:p>
        </p:txBody>
      </p:sp>
      <p:sp>
        <p:nvSpPr>
          <p:cNvPr id="56" name="HBM"/>
          <p:cNvSpPr txBox="1"/>
          <p:nvPr/>
        </p:nvSpPr>
        <p:spPr>
          <a:xfrm>
            <a:off x="9142419" y="3712285"/>
            <a:ext cx="675132" cy="294187"/>
          </a:xfrm>
          <a:prstGeom prst="rect">
            <a:avLst/>
          </a:prstGeom>
          <a:noFill/>
          <a:effectLst/>
        </p:spPr>
        <p:txBody>
          <a:bodyPr wrap="none" lIns="0" rIns="0" tIns="0" bIns="0" anchor="t">
            <a:spAutoFit/>
          </a:bodyPr>
          <a:lstStyle/>
          <a:p>
            <a:pPr algn="l">
              <a:lnSpc>
                <a:spcPct val="100000"/>
              </a:lnSpc>
              <a:spcBef>
                <a:spcPts val="0"/>
              </a:spcBef>
              <a:spcAft>
                <a:spcPts val="0"/>
              </a:spcAft>
            </a:pPr>
            <a:r>
              <a:rPr sz="1749" b="1" i="0" lang="en-US" spc="0">
                <a:solidFill>
                  <a:srgbClr val="000000"/>
                </a:solidFill>
                <a:latin typeface="DejaVu Sans"/>
                <a:ea typeface="DejaVu Sans"/>
                <a:effectLst/>
              </a:rPr>
              <a:t>HBM</a:t>
            </a:r>
          </a:p>
        </p:txBody>
      </p:sp>
      <p:sp>
        <p:nvSpPr>
          <p:cNvPr id="57" name="rect 56"/>
          <p:cNvSpPr/>
          <p:nvPr/>
        </p:nvSpPr>
        <p:spPr>
          <a:xfrm>
            <a:off x="9150648" y="4125792"/>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 57"/>
          <p:cNvSpPr/>
          <p:nvPr/>
        </p:nvSpPr>
        <p:spPr>
          <a:xfrm>
            <a:off x="9167106" y="4142250"/>
            <a:ext cx="427908" cy="41145"/>
          </a:xfrm>
          <a:prstGeom prst="roundRect">
            <a:avLst>
              <a:gd name="adj" fmla="val 20000"/>
            </a:avLst>
          </a:prstGeom>
          <a:solidFill>
            <a:srgbClr val="A6A6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p0"/>
          <p:cNvSpPr txBox="1"/>
          <p:nvPr/>
        </p:nvSpPr>
        <p:spPr>
          <a:xfrm>
            <a:off x="9198093" y="4209728"/>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p0</a:t>
            </a:r>
          </a:p>
        </p:txBody>
      </p:sp>
      <p:sp>
        <p:nvSpPr>
          <p:cNvPr id="60" name="rect 59"/>
          <p:cNvSpPr/>
          <p:nvPr/>
        </p:nvSpPr>
        <p:spPr>
          <a:xfrm>
            <a:off x="9743136" y="4125792"/>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ect 60"/>
          <p:cNvSpPr/>
          <p:nvPr/>
        </p:nvSpPr>
        <p:spPr>
          <a:xfrm>
            <a:off x="9759594" y="4142250"/>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p1"/>
          <p:cNvSpPr txBox="1"/>
          <p:nvPr/>
        </p:nvSpPr>
        <p:spPr>
          <a:xfrm>
            <a:off x="9790581" y="4209728"/>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p1</a:t>
            </a:r>
          </a:p>
        </p:txBody>
      </p:sp>
      <p:sp>
        <p:nvSpPr>
          <p:cNvPr id="63" name="rect 62"/>
          <p:cNvSpPr/>
          <p:nvPr/>
        </p:nvSpPr>
        <p:spPr>
          <a:xfrm>
            <a:off x="10335624" y="4125792"/>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ect 63"/>
          <p:cNvSpPr/>
          <p:nvPr/>
        </p:nvSpPr>
        <p:spPr>
          <a:xfrm>
            <a:off x="10352082" y="4142250"/>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p2"/>
          <p:cNvSpPr txBox="1"/>
          <p:nvPr/>
        </p:nvSpPr>
        <p:spPr>
          <a:xfrm>
            <a:off x="10383069" y="4209728"/>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p2</a:t>
            </a:r>
          </a:p>
        </p:txBody>
      </p:sp>
      <p:sp>
        <p:nvSpPr>
          <p:cNvPr id="66" name="rect 65"/>
          <p:cNvSpPr/>
          <p:nvPr/>
        </p:nvSpPr>
        <p:spPr>
          <a:xfrm>
            <a:off x="10928112" y="4125792"/>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 66"/>
          <p:cNvSpPr/>
          <p:nvPr/>
        </p:nvSpPr>
        <p:spPr>
          <a:xfrm>
            <a:off x="10944570" y="4142250"/>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3"/>
          <p:cNvSpPr txBox="1"/>
          <p:nvPr/>
        </p:nvSpPr>
        <p:spPr>
          <a:xfrm>
            <a:off x="10975557" y="4209728"/>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p3</a:t>
            </a:r>
          </a:p>
        </p:txBody>
      </p:sp>
      <p:sp>
        <p:nvSpPr>
          <p:cNvPr id="69" name="rect 68"/>
          <p:cNvSpPr/>
          <p:nvPr/>
        </p:nvSpPr>
        <p:spPr>
          <a:xfrm>
            <a:off x="11520600" y="4125792"/>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 69"/>
          <p:cNvSpPr/>
          <p:nvPr/>
        </p:nvSpPr>
        <p:spPr>
          <a:xfrm>
            <a:off x="11537058" y="4142250"/>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4"/>
          <p:cNvSpPr txBox="1"/>
          <p:nvPr/>
        </p:nvSpPr>
        <p:spPr>
          <a:xfrm>
            <a:off x="11568045" y="4209728"/>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p4</a:t>
            </a:r>
          </a:p>
        </p:txBody>
      </p:sp>
      <p:sp>
        <p:nvSpPr>
          <p:cNvPr id="72" name="rect 71"/>
          <p:cNvSpPr/>
          <p:nvPr/>
        </p:nvSpPr>
        <p:spPr>
          <a:xfrm>
            <a:off x="12113088" y="4125792"/>
            <a:ext cx="460824" cy="370305"/>
          </a:xfrm>
          <a:prstGeom prst="roundRect">
            <a:avLst>
              <a:gd name="adj" fmla="val 4444"/>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ect 72"/>
          <p:cNvSpPr/>
          <p:nvPr/>
        </p:nvSpPr>
        <p:spPr>
          <a:xfrm>
            <a:off x="12129546" y="4142250"/>
            <a:ext cx="427908" cy="41145"/>
          </a:xfrm>
          <a:prstGeom prst="roundRect">
            <a:avLst>
              <a:gd name="adj" fmla="val 20000"/>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p5"/>
          <p:cNvSpPr txBox="1"/>
          <p:nvPr/>
        </p:nvSpPr>
        <p:spPr>
          <a:xfrm>
            <a:off x="12160533" y="4209728"/>
            <a:ext cx="365933"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000000"/>
                </a:solidFill>
                <a:latin typeface="DejaVu Sans"/>
                <a:ea typeface="DejaVu Sans"/>
                <a:effectLst/>
              </a:rPr>
              <a:t>p5</a:t>
            </a:r>
          </a:p>
        </p:txBody>
      </p:sp>
      <p:sp>
        <p:nvSpPr>
          <p:cNvPr id="75" name="path 74"/>
          <p:cNvSpPr/>
          <p:nvPr/>
        </p:nvSpPr>
        <p:spPr>
          <a:xfrm>
            <a:off x="10335624" y="4032210"/>
            <a:ext cx="1053312" cy="57603"/>
          </a:xfrm>
          <a:custGeom>
            <a:avLst/>
            <a:gdLst/>
            <a:ahLst/>
            <a:cxnLst/>
            <a:rect l="l" t="t" r="r" b="b"/>
            <a:pathLst>
              <a:path w="128" h="7">
                <a:moveTo>
                  <a:pt x="0" y="7"/>
                </a:moveTo>
                <a:lnTo>
                  <a:pt x="0" y="0"/>
                </a:lnTo>
                <a:lnTo>
                  <a:pt x="128" y="0"/>
                </a:lnTo>
                <a:lnTo>
                  <a:pt x="128" y="7"/>
                </a:lnTo>
              </a:path>
            </a:pathLst>
          </a:custGeom>
          <a:noFill/>
          <a:ln w="13167">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polygon 75"/>
          <p:cNvSpPr/>
          <p:nvPr/>
        </p:nvSpPr>
        <p:spPr>
          <a:xfrm>
            <a:off x="11882676" y="3735966"/>
            <a:ext cx="386763" cy="296244"/>
          </a:xfrm>
          <a:custGeom>
            <a:avLst/>
            <a:gdLst/>
            <a:ahLst/>
            <a:cxnLst/>
            <a:rect l="l" t="t" r="r" b="b"/>
            <a:pathLst>
              <a:path w="47" h="36">
                <a:moveTo>
                  <a:pt x="7" y="0"/>
                </a:moveTo>
                <a:lnTo>
                  <a:pt x="40" y="0"/>
                </a:lnTo>
                <a:lnTo>
                  <a:pt x="47" y="18"/>
                </a:lnTo>
                <a:lnTo>
                  <a:pt x="40" y="36"/>
                </a:lnTo>
                <a:lnTo>
                  <a:pt x="7" y="36"/>
                </a:lnTo>
                <a:lnTo>
                  <a:pt x="0" y="18"/>
                </a:lnTo>
                <a:close/>
              </a:path>
            </a:pathLst>
          </a:custGeom>
          <a:solidFill>
            <a:srgbClr val="D7AEFF"/>
          </a:solidFill>
          <a:ln w="12344">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S"/>
          <p:cNvSpPr txBox="1"/>
          <p:nvPr/>
        </p:nvSpPr>
        <p:spPr>
          <a:xfrm>
            <a:off x="11969810" y="3784288"/>
            <a:ext cx="215786" cy="224240"/>
          </a:xfrm>
          <a:prstGeom prst="rect">
            <a:avLst/>
          </a:prstGeom>
          <a:noFill/>
          <a:effectLst/>
        </p:spPr>
        <p:txBody>
          <a:bodyPr wrap="none" lIns="0" rIns="0" tIns="0" bIns="0" anchor="t">
            <a:spAutoFit/>
          </a:bodyPr>
          <a:lstStyle/>
          <a:p>
            <a:pPr algn="ctr">
              <a:lnSpc>
                <a:spcPct val="100000"/>
              </a:lnSpc>
              <a:spcBef>
                <a:spcPts val="0"/>
              </a:spcBef>
              <a:spcAft>
                <a:spcPts val="0"/>
              </a:spcAft>
            </a:pPr>
            <a:r>
              <a:rPr sz="1283" b="1" i="0" lang="en-US" spc="0">
                <a:solidFill>
                  <a:srgbClr val="000000"/>
                </a:solidFill>
                <a:latin typeface="DejaVu Sans"/>
                <a:ea typeface="DejaVu Sans"/>
                <a:effectLst/>
              </a:rPr>
              <a:t>S</a:t>
            </a:r>
          </a:p>
        </p:txBody>
      </p:sp>
      <p:sp>
        <p:nvSpPr>
          <p:cNvPr id="78" name="rect 77"/>
          <p:cNvSpPr/>
          <p:nvPr/>
        </p:nvSpPr>
        <p:spPr>
          <a:xfrm>
            <a:off x="11951800" y="3773591"/>
            <a:ext cx="251807" cy="24687"/>
          </a:xfrm>
          <a:prstGeom prst="roundRect">
            <a:avLst>
              <a:gd name="adj" fmla="val 3333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c"/>
          <p:cNvSpPr txBox="1"/>
          <p:nvPr/>
        </p:nvSpPr>
        <p:spPr>
          <a:xfrm>
            <a:off x="12572899" y="3747258"/>
            <a:ext cx="204664" cy="300358"/>
          </a:xfrm>
          <a:prstGeom prst="rect">
            <a:avLst/>
          </a:prstGeom>
          <a:noFill/>
          <a:effectLst/>
        </p:spPr>
        <p:txBody>
          <a:bodyPr wrap="none" lIns="0" rIns="0" tIns="0" bIns="0" anchor="t">
            <a:spAutoFit/>
          </a:bodyPr>
          <a:lstStyle/>
          <a:p>
            <a:pPr algn="l">
              <a:lnSpc>
                <a:spcPct val="100000"/>
              </a:lnSpc>
              <a:spcBef>
                <a:spcPts val="0"/>
              </a:spcBef>
              <a:spcAft>
                <a:spcPts val="0"/>
              </a:spcAft>
            </a:pPr>
            <a:r>
              <a:rPr sz="1879" b="0" i="1" lang="en-US" spc="0">
                <a:solidFill>
                  <a:srgbClr val="000000"/>
                </a:solidFill>
                <a:latin typeface="Liberation Serif"/>
                <a:ea typeface="Liberation Serif"/>
                <a:effectLst/>
              </a:rPr>
              <a:t>c</a:t>
            </a:r>
          </a:p>
        </p:txBody>
      </p:sp>
      <p:sp>
        <p:nvSpPr>
          <p:cNvPr id="80" name="*"/>
          <p:cNvSpPr txBox="1"/>
          <p:nvPr/>
        </p:nvSpPr>
        <p:spPr>
          <a:xfrm>
            <a:off x="12687045" y="3699283"/>
            <a:ext cx="175895" cy="205725"/>
          </a:xfrm>
          <a:prstGeom prst="rect">
            <a:avLst/>
          </a:prstGeom>
          <a:noFill/>
          <a:effectLst/>
        </p:spPr>
        <p:txBody>
          <a:bodyPr wrap="none" lIns="0" rIns="0" tIns="0" bIns="0" anchor="t">
            <a:spAutoFit/>
          </a:bodyPr>
          <a:lstStyle/>
          <a:p>
            <a:pPr algn="l">
              <a:lnSpc>
                <a:spcPct val="100000"/>
              </a:lnSpc>
              <a:spcBef>
                <a:spcPts val="0"/>
              </a:spcBef>
              <a:spcAft>
                <a:spcPts val="0"/>
              </a:spcAft>
            </a:pPr>
            <a:r>
              <a:rPr sz="1221" b="0" i="0" lang="en-US" spc="0">
                <a:solidFill>
                  <a:srgbClr val="000000"/>
                </a:solidFill>
                <a:latin typeface="Liberation Serif"/>
                <a:ea typeface="Liberation Serif"/>
                <a:effectLst/>
              </a:rPr>
              <a:t>*</a:t>
            </a:r>
          </a:p>
        </p:txBody>
      </p:sp>
      <p:sp>
        <p:nvSpPr>
          <p:cNvPr id="81" name="path 80"/>
          <p:cNvSpPr/>
          <p:nvPr/>
        </p:nvSpPr>
        <p:spPr>
          <a:xfrm>
            <a:off x="11306646" y="4550637"/>
            <a:ext cx="74061" cy="57603"/>
          </a:xfrm>
          <a:custGeom>
            <a:avLst/>
            <a:gdLst/>
            <a:ahLst/>
            <a:cxnLst/>
            <a:rect l="l" t="t" r="r" b="b"/>
            <a:pathLst>
              <a:path w="9" h="7">
                <a:moveTo>
                  <a:pt x="0" y="7"/>
                </a:moveTo>
                <a:lnTo>
                  <a:pt x="0" y="0"/>
                </a:lnTo>
                <a:lnTo>
                  <a:pt x="9" y="0"/>
                </a:lnTo>
                <a:lnTo>
                  <a:pt x="9" y="7"/>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 81"/>
          <p:cNvSpPr/>
          <p:nvPr/>
        </p:nvSpPr>
        <p:spPr>
          <a:xfrm>
            <a:off x="11281959" y="4606777"/>
            <a:ext cx="128372" cy="106977"/>
          </a:xfrm>
          <a:prstGeom prst="roundRect">
            <a:avLst>
              <a:gd name="adj" fmla="val 15384"/>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circle 82"/>
          <p:cNvSpPr/>
          <p:nvPr/>
        </p:nvSpPr>
        <p:spPr>
          <a:xfrm>
            <a:off x="11335448" y="4638870"/>
            <a:ext cx="21395" cy="21395"/>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bounded"/>
          <p:cNvSpPr txBox="1"/>
          <p:nvPr/>
        </p:nvSpPr>
        <p:spPr>
          <a:xfrm>
            <a:off x="11602890" y="4549586"/>
            <a:ext cx="895161" cy="244813"/>
          </a:xfrm>
          <a:prstGeom prst="rect">
            <a:avLst/>
          </a:prstGeom>
          <a:noFill/>
          <a:effectLst/>
        </p:spPr>
        <p:txBody>
          <a:bodyPr wrap="none" lIns="0" rIns="0" tIns="0" bIns="0" anchor="t">
            <a:spAutoFit/>
          </a:bodyPr>
          <a:lstStyle/>
          <a:p>
            <a:pPr algn="l">
              <a:lnSpc>
                <a:spcPct val="100000"/>
              </a:lnSpc>
              <a:spcBef>
                <a:spcPts val="0"/>
              </a:spcBef>
              <a:spcAft>
                <a:spcPts val="0"/>
              </a:spcAft>
            </a:pPr>
            <a:r>
              <a:rPr sz="1425" b="0" i="0" lang="en-US" spc="0">
                <a:solidFill>
                  <a:srgbClr val="000000"/>
                </a:solidFill>
                <a:latin typeface="DejaVu Sans"/>
                <a:ea typeface="DejaVu Sans"/>
                <a:effectLst/>
              </a:rPr>
              <a:t>bounded</a:t>
            </a:r>
          </a:p>
        </p:txBody>
      </p:sp>
      <p:sp>
        <p:nvSpPr>
          <p:cNvPr id="85" name="circle 84"/>
          <p:cNvSpPr/>
          <p:nvPr/>
        </p:nvSpPr>
        <p:spPr>
          <a:xfrm>
            <a:off x="411450" y="5450661"/>
            <a:ext cx="378534" cy="378534"/>
          </a:xfrm>
          <a:prstGeom prst="ellipse">
            <a:avLst/>
          </a:prstGeom>
          <a:solidFill>
            <a:srgbClr val="84E291"/>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D2"/>
          <p:cNvSpPr txBox="1"/>
          <p:nvPr/>
        </p:nvSpPr>
        <p:spPr>
          <a:xfrm>
            <a:off x="419486" y="5528836"/>
            <a:ext cx="362462" cy="234526"/>
          </a:xfrm>
          <a:prstGeom prst="rect">
            <a:avLst/>
          </a:prstGeom>
          <a:noFill/>
          <a:effectLst/>
        </p:spPr>
        <p:txBody>
          <a:bodyPr wrap="none" lIns="0" rIns="0" tIns="0" bIns="0" anchor="t">
            <a:spAutoFit/>
          </a:bodyPr>
          <a:lstStyle/>
          <a:p>
            <a:pPr algn="ctr">
              <a:lnSpc>
                <a:spcPct val="100000"/>
              </a:lnSpc>
              <a:spcBef>
                <a:spcPts val="0"/>
              </a:spcBef>
              <a:spcAft>
                <a:spcPts val="0"/>
              </a:spcAft>
            </a:pPr>
            <a:r>
              <a:rPr sz="1360" b="1" i="0" lang="en-US" spc="0">
                <a:solidFill>
                  <a:srgbClr val="000000"/>
                </a:solidFill>
                <a:latin typeface="DejaVu Sans"/>
                <a:ea typeface="DejaVu Sans"/>
                <a:effectLst/>
              </a:rPr>
              <a:t>D2</a:t>
            </a:r>
          </a:p>
        </p:txBody>
      </p:sp>
      <p:sp>
        <p:nvSpPr>
          <p:cNvPr id="87" name="rect 86"/>
          <p:cNvSpPr/>
          <p:nvPr/>
        </p:nvSpPr>
        <p:spPr>
          <a:xfrm>
            <a:off x="1168518" y="5467119"/>
            <a:ext cx="403221" cy="329160"/>
          </a:xfrm>
          <a:prstGeom prst="roundRect">
            <a:avLst>
              <a:gd name="adj" fmla="val 250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 87"/>
          <p:cNvSpPr/>
          <p:nvPr/>
        </p:nvSpPr>
        <p:spPr>
          <a:xfrm>
            <a:off x="1670487" y="5467119"/>
            <a:ext cx="403221" cy="329160"/>
          </a:xfrm>
          <a:prstGeom prst="roundRect">
            <a:avLst>
              <a:gd name="adj" fmla="val 250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 88"/>
          <p:cNvSpPr/>
          <p:nvPr/>
        </p:nvSpPr>
        <p:spPr>
          <a:xfrm>
            <a:off x="2172456" y="5467119"/>
            <a:ext cx="403221" cy="329160"/>
          </a:xfrm>
          <a:prstGeom prst="roundRect">
            <a:avLst>
              <a:gd name="adj" fmla="val 2500"/>
            </a:avLst>
          </a:prstGeom>
          <a:solidFill>
            <a:srgbClr val="84E291"/>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 89"/>
          <p:cNvSpPr/>
          <p:nvPr/>
        </p:nvSpPr>
        <p:spPr>
          <a:xfrm>
            <a:off x="2674425" y="5467119"/>
            <a:ext cx="403221" cy="329160"/>
          </a:xfrm>
          <a:prstGeom prst="roundRect">
            <a:avLst>
              <a:gd name="adj" fmla="val 2500"/>
            </a:avLst>
          </a:prstGeom>
          <a:solidFill>
            <a:srgbClr val="D9D9D9"/>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path 90"/>
          <p:cNvSpPr/>
          <p:nvPr/>
        </p:nvSpPr>
        <p:spPr>
          <a:xfrm>
            <a:off x="2732028" y="5250102"/>
            <a:ext cx="65832" cy="49374"/>
          </a:xfrm>
          <a:custGeom>
            <a:avLst/>
            <a:gdLst/>
            <a:ahLst/>
            <a:cxnLst/>
            <a:rect l="l" t="t" r="r" b="b"/>
            <a:pathLst>
              <a:path w="8" h="6">
                <a:moveTo>
                  <a:pt x="0" y="6"/>
                </a:moveTo>
                <a:lnTo>
                  <a:pt x="0" y="0"/>
                </a:lnTo>
                <a:lnTo>
                  <a:pt x="8" y="0"/>
                </a:lnTo>
                <a:lnTo>
                  <a:pt x="8" y="6"/>
                </a:lnTo>
              </a:path>
            </a:pathLst>
          </a:custGeom>
          <a:no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 91"/>
          <p:cNvSpPr/>
          <p:nvPr/>
        </p:nvSpPr>
        <p:spPr>
          <a:xfrm>
            <a:off x="2707341" y="5300893"/>
            <a:ext cx="118498" cy="98748"/>
          </a:xfrm>
          <a:prstGeom prst="roundRect">
            <a:avLst>
              <a:gd name="adj" fmla="val 16666"/>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circle 92"/>
          <p:cNvSpPr/>
          <p:nvPr/>
        </p:nvSpPr>
        <p:spPr>
          <a:xfrm>
            <a:off x="2756715" y="5330518"/>
            <a:ext cx="19750" cy="19750"/>
          </a:xfrm>
          <a:prstGeom prst="ellipse">
            <a:avLst/>
          </a:prstGeom>
          <a:solidFill>
            <a:srgbClr val="000000"/>
          </a:solidFill>
          <a:ln w="822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free / reclaimable / growth"/>
          <p:cNvSpPr txBox="1"/>
          <p:nvPr/>
        </p:nvSpPr>
        <p:spPr>
          <a:xfrm>
            <a:off x="1217892" y="6006118"/>
            <a:ext cx="2712388" cy="265385"/>
          </a:xfrm>
          <a:prstGeom prst="rect">
            <a:avLst/>
          </a:prstGeom>
          <a:noFill/>
          <a:effectLst/>
        </p:spPr>
        <p:txBody>
          <a:bodyPr wrap="none" lIns="0" rIns="0" tIns="0" bIns="0" anchor="t">
            <a:spAutoFit/>
          </a:bodyPr>
          <a:lstStyle/>
          <a:p>
            <a:pPr algn="l">
              <a:lnSpc>
                <a:spcPct val="100000"/>
              </a:lnSpc>
              <a:spcBef>
                <a:spcPts val="0"/>
              </a:spcBef>
              <a:spcAft>
                <a:spcPts val="0"/>
              </a:spcAft>
            </a:pPr>
            <a:r>
              <a:rPr sz="1555" b="0" i="0" lang="en-US" spc="0">
                <a:solidFill>
                  <a:srgbClr val="000000"/>
                </a:solidFill>
                <a:latin typeface="DejaVu Sans"/>
                <a:ea typeface="DejaVu Sans"/>
                <a:effectLst/>
              </a:rPr>
              <a:t>free / reclaimable / growth</a:t>
            </a:r>
          </a:p>
        </p:txBody>
      </p:sp>
      <p:sp>
        <p:nvSpPr>
          <p:cNvPr id="95" name="curve 94"/>
          <p:cNvSpPr/>
          <p:nvPr/>
        </p:nvSpPr>
        <p:spPr>
          <a:xfrm>
            <a:off x="3225768" y="4501263"/>
            <a:ext cx="2468700" cy="1119144"/>
          </a:xfrm>
          <a:custGeom>
            <a:avLst/>
            <a:gdLst/>
            <a:ahLst/>
            <a:cxnLst/>
            <a:rect l="l" t="t" r="r" b="b"/>
            <a:pathLst>
              <a:path w="300" h="136">
                <a:moveTo>
                  <a:pt x="0" y="136"/>
                </a:moveTo>
                <a:lnTo>
                  <a:pt x="190" y="136"/>
                </a:lnTo>
                <a:cubicBezTo>
                  <a:pt x="200" y="136"/>
                  <a:pt x="208" y="128"/>
                  <a:pt x="208" y="118"/>
                </a:cubicBezTo>
                <a:lnTo>
                  <a:pt x="208" y="34"/>
                </a:lnTo>
                <a:cubicBezTo>
                  <a:pt x="208" y="24"/>
                  <a:pt x="216" y="16"/>
                  <a:pt x="226" y="16"/>
                </a:cubicBezTo>
                <a:lnTo>
                  <a:pt x="295" y="16"/>
                </a:lnTo>
                <a:cubicBezTo>
                  <a:pt x="298" y="16"/>
                  <a:pt x="300" y="14"/>
                  <a:pt x="300" y="11"/>
                </a:cubicBezTo>
                <a:lnTo>
                  <a:pt x="300"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curve 95"/>
          <p:cNvSpPr/>
          <p:nvPr/>
        </p:nvSpPr>
        <p:spPr>
          <a:xfrm>
            <a:off x="3225768" y="4501263"/>
            <a:ext cx="2468700" cy="1119144"/>
          </a:xfrm>
          <a:custGeom>
            <a:avLst/>
            <a:gdLst/>
            <a:ahLst/>
            <a:cxnLst/>
            <a:rect l="l" t="t" r="r" b="b"/>
            <a:pathLst>
              <a:path w="300" h="136">
                <a:moveTo>
                  <a:pt x="0" y="136"/>
                </a:moveTo>
                <a:lnTo>
                  <a:pt x="190" y="136"/>
                </a:lnTo>
                <a:cubicBezTo>
                  <a:pt x="200" y="136"/>
                  <a:pt x="208" y="128"/>
                  <a:pt x="208" y="118"/>
                </a:cubicBezTo>
                <a:lnTo>
                  <a:pt x="208" y="34"/>
                </a:lnTo>
                <a:cubicBezTo>
                  <a:pt x="208" y="24"/>
                  <a:pt x="216" y="16"/>
                  <a:pt x="226" y="16"/>
                </a:cubicBezTo>
                <a:lnTo>
                  <a:pt x="295" y="16"/>
                </a:lnTo>
                <a:cubicBezTo>
                  <a:pt x="298" y="16"/>
                  <a:pt x="300" y="14"/>
                  <a:pt x="300" y="11"/>
                </a:cubicBezTo>
                <a:lnTo>
                  <a:pt x="300" y="0"/>
                </a:lnTo>
              </a:path>
            </a:pathLst>
          </a:custGeom>
          <a:noFill/>
          <a:ln w="39502">
            <a:solidFill>
              <a:srgbClr val="27531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arrowhead 96"/>
          <p:cNvSpPr/>
          <p:nvPr/>
        </p:nvSpPr>
        <p:spPr>
          <a:xfrm>
            <a:off x="5645094" y="4501263"/>
            <a:ext cx="98748" cy="98748"/>
          </a:xfrm>
          <a:custGeom>
            <a:avLst/>
            <a:gdLst/>
            <a:ahLst/>
            <a:cxnLst/>
            <a:rect l="l" t="t" r="r" b="b"/>
            <a:pathLst>
              <a:path w="12" h="12">
                <a:moveTo>
                  <a:pt x="6" y="0"/>
                </a:moveTo>
                <a:lnTo>
                  <a:pt x="12" y="12"/>
                </a:lnTo>
                <a:lnTo>
                  <a:pt x="6" y="9"/>
                </a:lnTo>
                <a:lnTo>
                  <a:pt x="0" y="12"/>
                </a:lnTo>
                <a:close/>
              </a:path>
            </a:pathLst>
          </a:custGeom>
          <a:solidFill>
            <a:srgbClr val="27531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circle 97"/>
          <p:cNvSpPr/>
          <p:nvPr/>
        </p:nvSpPr>
        <p:spPr>
          <a:xfrm>
            <a:off x="4781049" y="5014524"/>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2"/>
          <p:cNvSpPr txBox="1"/>
          <p:nvPr/>
        </p:nvSpPr>
        <p:spPr>
          <a:xfrm>
            <a:off x="4822178" y="5055669"/>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2</a:t>
            </a:r>
          </a:p>
        </p:txBody>
      </p:sp>
      <p:sp>
        <p:nvSpPr>
          <p:cNvPr id="100" name="select within budget"/>
          <p:cNvSpPr txBox="1"/>
          <p:nvPr/>
        </p:nvSpPr>
        <p:spPr>
          <a:xfrm>
            <a:off x="5603949" y="5341627"/>
            <a:ext cx="2194154"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0" i="0" lang="en-US" spc="0">
                <a:solidFill>
                  <a:srgbClr val="000000"/>
                </a:solidFill>
                <a:latin typeface="DejaVu Sans"/>
                <a:ea typeface="DejaVu Sans"/>
                <a:effectLst/>
              </a:rPr>
              <a:t>select within budget</a:t>
            </a:r>
          </a:p>
        </p:txBody>
      </p:sp>
      <p:sp>
        <p:nvSpPr>
          <p:cNvPr id="101" name="native queue"/>
          <p:cNvSpPr txBox="1"/>
          <p:nvPr/>
        </p:nvSpPr>
        <p:spPr>
          <a:xfrm>
            <a:off x="9142419" y="5053612"/>
            <a:ext cx="1617384" cy="273614"/>
          </a:xfrm>
          <a:prstGeom prst="rect">
            <a:avLst/>
          </a:prstGeom>
          <a:noFill/>
          <a:effectLst/>
        </p:spPr>
        <p:txBody>
          <a:bodyPr wrap="none" lIns="0" rIns="0" tIns="0" bIns="0" anchor="t">
            <a:spAutoFit/>
          </a:bodyPr>
          <a:lstStyle/>
          <a:p>
            <a:pPr algn="l">
              <a:lnSpc>
                <a:spcPct val="100000"/>
              </a:lnSpc>
              <a:spcBef>
                <a:spcPts val="0"/>
              </a:spcBef>
              <a:spcAft>
                <a:spcPts val="0"/>
              </a:spcAft>
            </a:pPr>
            <a:r>
              <a:rPr sz="1620" b="1" i="0" lang="en-US" spc="0">
                <a:solidFill>
                  <a:srgbClr val="000000"/>
                </a:solidFill>
                <a:latin typeface="DejaVu Sans"/>
                <a:ea typeface="DejaVu Sans"/>
                <a:effectLst/>
              </a:rPr>
              <a:t>native queue</a:t>
            </a:r>
          </a:p>
        </p:txBody>
      </p:sp>
      <p:sp>
        <p:nvSpPr>
          <p:cNvPr id="102" name="rect 101"/>
          <p:cNvSpPr/>
          <p:nvPr/>
        </p:nvSpPr>
        <p:spPr>
          <a:xfrm>
            <a:off x="9150648" y="5351913"/>
            <a:ext cx="1785693" cy="263328"/>
          </a:xfrm>
          <a:prstGeom prst="roundRect">
            <a:avLst>
              <a:gd name="adj" fmla="val 625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 102"/>
          <p:cNvSpPr/>
          <p:nvPr/>
        </p:nvSpPr>
        <p:spPr>
          <a:xfrm>
            <a:off x="9158877" y="5360142"/>
            <a:ext cx="82290" cy="246870"/>
          </a:xfrm>
          <a:prstGeom prst="rect">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P"/>
          <p:cNvSpPr txBox="1"/>
          <p:nvPr/>
        </p:nvSpPr>
        <p:spPr>
          <a:xfrm>
            <a:off x="9438968" y="5390672"/>
            <a:ext cx="213343" cy="216011"/>
          </a:xfrm>
          <a:prstGeom prst="rect">
            <a:avLst/>
          </a:prstGeom>
          <a:noFill/>
          <a:effectLst/>
        </p:spPr>
        <p:txBody>
          <a:bodyPr wrap="none" lIns="0" rIns="0" tIns="0" bIns="0" anchor="t">
            <a:spAutoFit/>
          </a:bodyPr>
          <a:lstStyle/>
          <a:p>
            <a:pPr algn="ctr">
              <a:lnSpc>
                <a:spcPct val="100000"/>
              </a:lnSpc>
              <a:spcBef>
                <a:spcPts val="0"/>
              </a:spcBef>
              <a:spcAft>
                <a:spcPts val="0"/>
              </a:spcAft>
            </a:pPr>
            <a:r>
              <a:rPr sz="1231" b="1" i="0" lang="en-US" spc="0">
                <a:solidFill>
                  <a:srgbClr val="000000"/>
                </a:solidFill>
                <a:latin typeface="DejaVu Sans"/>
                <a:ea typeface="DejaVu Sans"/>
                <a:effectLst/>
              </a:rPr>
              <a:t>P</a:t>
            </a:r>
          </a:p>
        </p:txBody>
      </p:sp>
      <p:sp>
        <p:nvSpPr>
          <p:cNvPr id="105" name="rect 104"/>
          <p:cNvSpPr/>
          <p:nvPr/>
        </p:nvSpPr>
        <p:spPr>
          <a:xfrm>
            <a:off x="10319166" y="5393058"/>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rect 105"/>
          <p:cNvSpPr/>
          <p:nvPr/>
        </p:nvSpPr>
        <p:spPr>
          <a:xfrm>
            <a:off x="10335624" y="5409516"/>
            <a:ext cx="90519" cy="27156"/>
          </a:xfrm>
          <a:prstGeom prst="roundRect">
            <a:avLst>
              <a:gd name="adj" fmla="val 3030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 106"/>
          <p:cNvSpPr/>
          <p:nvPr/>
        </p:nvSpPr>
        <p:spPr>
          <a:xfrm>
            <a:off x="10483746" y="5393058"/>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rect 107"/>
          <p:cNvSpPr/>
          <p:nvPr/>
        </p:nvSpPr>
        <p:spPr>
          <a:xfrm>
            <a:off x="10500204" y="5409516"/>
            <a:ext cx="90519" cy="27156"/>
          </a:xfrm>
          <a:prstGeom prst="roundRect">
            <a:avLst>
              <a:gd name="adj" fmla="val 3030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rect 108"/>
          <p:cNvSpPr/>
          <p:nvPr/>
        </p:nvSpPr>
        <p:spPr>
          <a:xfrm>
            <a:off x="10648326" y="5393058"/>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rect 109"/>
          <p:cNvSpPr/>
          <p:nvPr/>
        </p:nvSpPr>
        <p:spPr>
          <a:xfrm>
            <a:off x="10664784" y="5409516"/>
            <a:ext cx="90519" cy="27156"/>
          </a:xfrm>
          <a:prstGeom prst="roundRect">
            <a:avLst>
              <a:gd name="adj" fmla="val 30303"/>
            </a:avLst>
          </a:prstGeom>
          <a:solidFill>
            <a:srgbClr val="A6C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rect 110"/>
          <p:cNvSpPr/>
          <p:nvPr/>
        </p:nvSpPr>
        <p:spPr>
          <a:xfrm>
            <a:off x="9150648" y="5713989"/>
            <a:ext cx="1785693" cy="263328"/>
          </a:xfrm>
          <a:prstGeom prst="roundRect">
            <a:avLst>
              <a:gd name="adj" fmla="val 625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rect 111"/>
          <p:cNvSpPr/>
          <p:nvPr/>
        </p:nvSpPr>
        <p:spPr>
          <a:xfrm>
            <a:off x="9158877" y="5722218"/>
            <a:ext cx="82290" cy="246870"/>
          </a:xfrm>
          <a:prstGeom prst="rect">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hit"/>
          <p:cNvSpPr txBox="1"/>
          <p:nvPr/>
        </p:nvSpPr>
        <p:spPr>
          <a:xfrm>
            <a:off x="9376447" y="5752748"/>
            <a:ext cx="338385" cy="216011"/>
          </a:xfrm>
          <a:prstGeom prst="rect">
            <a:avLst/>
          </a:prstGeom>
          <a:noFill/>
          <a:effectLst/>
        </p:spPr>
        <p:txBody>
          <a:bodyPr wrap="none" lIns="0" rIns="0" tIns="0" bIns="0" anchor="t">
            <a:spAutoFit/>
          </a:bodyPr>
          <a:lstStyle/>
          <a:p>
            <a:pPr algn="ctr">
              <a:lnSpc>
                <a:spcPct val="100000"/>
              </a:lnSpc>
              <a:spcBef>
                <a:spcPts val="0"/>
              </a:spcBef>
              <a:spcAft>
                <a:spcPts val="0"/>
              </a:spcAft>
            </a:pPr>
            <a:r>
              <a:rPr sz="1231" b="1" i="0" lang="en-US" spc="0">
                <a:solidFill>
                  <a:srgbClr val="000000"/>
                </a:solidFill>
                <a:latin typeface="DejaVu Sans"/>
                <a:ea typeface="DejaVu Sans"/>
                <a:effectLst/>
              </a:rPr>
              <a:t>hit</a:t>
            </a:r>
          </a:p>
        </p:txBody>
      </p:sp>
      <p:sp>
        <p:nvSpPr>
          <p:cNvPr id="114" name="rect 113"/>
          <p:cNvSpPr/>
          <p:nvPr/>
        </p:nvSpPr>
        <p:spPr>
          <a:xfrm>
            <a:off x="10319166" y="5755134"/>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rect 114"/>
          <p:cNvSpPr/>
          <p:nvPr/>
        </p:nvSpPr>
        <p:spPr>
          <a:xfrm>
            <a:off x="10335624" y="5771592"/>
            <a:ext cx="90519" cy="27156"/>
          </a:xfrm>
          <a:prstGeom prst="roundRect">
            <a:avLst>
              <a:gd name="adj" fmla="val 30303"/>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rect 115"/>
          <p:cNvSpPr/>
          <p:nvPr/>
        </p:nvSpPr>
        <p:spPr>
          <a:xfrm>
            <a:off x="10483746" y="5755134"/>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rect 116"/>
          <p:cNvSpPr/>
          <p:nvPr/>
        </p:nvSpPr>
        <p:spPr>
          <a:xfrm>
            <a:off x="10500204" y="5771592"/>
            <a:ext cx="90519" cy="27156"/>
          </a:xfrm>
          <a:prstGeom prst="roundRect">
            <a:avLst>
              <a:gd name="adj" fmla="val 30303"/>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rect 117"/>
          <p:cNvSpPr/>
          <p:nvPr/>
        </p:nvSpPr>
        <p:spPr>
          <a:xfrm>
            <a:off x="10648326" y="5755134"/>
            <a:ext cx="123435" cy="181038"/>
          </a:xfrm>
          <a:prstGeom prst="roundRect">
            <a:avLst>
              <a:gd name="adj" fmla="val 13333"/>
            </a:avLst>
          </a:prstGeom>
          <a:solidFill>
            <a:srgbClr val="D7AEFF"/>
          </a:solidFill>
          <a:ln w="13167">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rect 118"/>
          <p:cNvSpPr/>
          <p:nvPr/>
        </p:nvSpPr>
        <p:spPr>
          <a:xfrm>
            <a:off x="10664784" y="5771592"/>
            <a:ext cx="90519" cy="27156"/>
          </a:xfrm>
          <a:prstGeom prst="roundRect">
            <a:avLst>
              <a:gd name="adj" fmla="val 30303"/>
            </a:avLst>
          </a:prstGeom>
          <a:solidFill>
            <a:srgbClr val="84E2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rect 119"/>
          <p:cNvSpPr/>
          <p:nvPr/>
        </p:nvSpPr>
        <p:spPr>
          <a:xfrm>
            <a:off x="9150648" y="6076065"/>
            <a:ext cx="1785693" cy="263328"/>
          </a:xfrm>
          <a:prstGeom prst="roundRect">
            <a:avLst>
              <a:gd name="adj" fmla="val 6250"/>
            </a:avLst>
          </a:prstGeom>
          <a:solidFill>
            <a:srgbClr val="FFFFFF"/>
          </a:solidFill>
          <a:ln w="14813">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rect 120"/>
          <p:cNvSpPr/>
          <p:nvPr/>
        </p:nvSpPr>
        <p:spPr>
          <a:xfrm>
            <a:off x="9158877" y="6084294"/>
            <a:ext cx="82290" cy="24687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old"/>
          <p:cNvSpPr txBox="1"/>
          <p:nvPr/>
        </p:nvSpPr>
        <p:spPr>
          <a:xfrm>
            <a:off x="9359796" y="6114824"/>
            <a:ext cx="371687" cy="216011"/>
          </a:xfrm>
          <a:prstGeom prst="rect">
            <a:avLst/>
          </a:prstGeom>
          <a:noFill/>
          <a:effectLst/>
        </p:spPr>
        <p:txBody>
          <a:bodyPr wrap="none" lIns="0" rIns="0" tIns="0" bIns="0" anchor="t">
            <a:spAutoFit/>
          </a:bodyPr>
          <a:lstStyle/>
          <a:p>
            <a:pPr algn="ctr">
              <a:lnSpc>
                <a:spcPct val="100000"/>
              </a:lnSpc>
              <a:spcBef>
                <a:spcPts val="0"/>
              </a:spcBef>
              <a:spcAft>
                <a:spcPts val="0"/>
              </a:spcAft>
            </a:pPr>
            <a:r>
              <a:rPr sz="1231" b="1" i="0" lang="en-US" spc="0">
                <a:solidFill>
                  <a:srgbClr val="000000"/>
                </a:solidFill>
                <a:latin typeface="DejaVu Sans"/>
                <a:ea typeface="DejaVu Sans"/>
                <a:effectLst/>
              </a:rPr>
              <a:t>old</a:t>
            </a:r>
          </a:p>
        </p:txBody>
      </p:sp>
      <p:sp>
        <p:nvSpPr>
          <p:cNvPr id="123" name="rect 122"/>
          <p:cNvSpPr/>
          <p:nvPr/>
        </p:nvSpPr>
        <p:spPr>
          <a:xfrm>
            <a:off x="10319166" y="6117210"/>
            <a:ext cx="123435" cy="181038"/>
          </a:xfrm>
          <a:prstGeom prst="roundRect">
            <a:avLst>
              <a:gd name="adj" fmla="val 13333"/>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rect 123"/>
          <p:cNvSpPr/>
          <p:nvPr/>
        </p:nvSpPr>
        <p:spPr>
          <a:xfrm>
            <a:off x="10335624" y="6133668"/>
            <a:ext cx="90519" cy="27156"/>
          </a:xfrm>
          <a:prstGeom prst="roundRect">
            <a:avLst>
              <a:gd name="adj" fmla="val 30303"/>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rect 124"/>
          <p:cNvSpPr/>
          <p:nvPr/>
        </p:nvSpPr>
        <p:spPr>
          <a:xfrm>
            <a:off x="10483746" y="6117210"/>
            <a:ext cx="123435" cy="181038"/>
          </a:xfrm>
          <a:prstGeom prst="roundRect">
            <a:avLst>
              <a:gd name="adj" fmla="val 13333"/>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rect 125"/>
          <p:cNvSpPr/>
          <p:nvPr/>
        </p:nvSpPr>
        <p:spPr>
          <a:xfrm>
            <a:off x="10500204" y="6133668"/>
            <a:ext cx="90519" cy="27156"/>
          </a:xfrm>
          <a:prstGeom prst="roundRect">
            <a:avLst>
              <a:gd name="adj" fmla="val 30303"/>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7" name="rect 126"/>
          <p:cNvSpPr/>
          <p:nvPr/>
        </p:nvSpPr>
        <p:spPr>
          <a:xfrm>
            <a:off x="10648326" y="6117210"/>
            <a:ext cx="123435" cy="181038"/>
          </a:xfrm>
          <a:prstGeom prst="roundRect">
            <a:avLst>
              <a:gd name="adj" fmla="val 13333"/>
            </a:avLst>
          </a:prstGeom>
          <a:solidFill>
            <a:srgbClr val="FFFFFF"/>
          </a:solidFill>
          <a:ln w="13167">
            <a:solidFill>
              <a:srgbClr val="00000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rect 127"/>
          <p:cNvSpPr/>
          <p:nvPr/>
        </p:nvSpPr>
        <p:spPr>
          <a:xfrm>
            <a:off x="10664784" y="6133668"/>
            <a:ext cx="90519" cy="27156"/>
          </a:xfrm>
          <a:prstGeom prst="roundRect">
            <a:avLst>
              <a:gd name="adj" fmla="val 30303"/>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curve 128"/>
          <p:cNvSpPr/>
          <p:nvPr/>
        </p:nvSpPr>
        <p:spPr>
          <a:xfrm>
            <a:off x="8475870" y="5480514"/>
            <a:ext cx="641862" cy="724152"/>
          </a:xfrm>
          <a:custGeom>
            <a:avLst/>
            <a:gdLst/>
            <a:ahLst/>
            <a:cxnLst/>
            <a:rect l="l" t="t" r="r" b="b"/>
            <a:pathLst>
              <a:path w="78" h="88">
                <a:moveTo>
                  <a:pt x="0" y="88"/>
                </a:moveTo>
                <a:lnTo>
                  <a:pt x="27" y="88"/>
                </a:lnTo>
                <a:cubicBezTo>
                  <a:pt x="34" y="88"/>
                  <a:pt x="40" y="82"/>
                  <a:pt x="40" y="75"/>
                </a:cubicBezTo>
                <a:lnTo>
                  <a:pt x="40" y="13"/>
                </a:lnTo>
                <a:cubicBezTo>
                  <a:pt x="40" y="6"/>
                  <a:pt x="46" y="0"/>
                  <a:pt x="53" y="0"/>
                </a:cubicBezTo>
                <a:lnTo>
                  <a:pt x="78" y="0"/>
                </a:lnTo>
              </a:path>
            </a:pathLst>
          </a:custGeom>
          <a:noFill/>
          <a:ln w="55961">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curve 129"/>
          <p:cNvSpPr/>
          <p:nvPr/>
        </p:nvSpPr>
        <p:spPr>
          <a:xfrm>
            <a:off x="8475870" y="5480514"/>
            <a:ext cx="641862" cy="724152"/>
          </a:xfrm>
          <a:custGeom>
            <a:avLst/>
            <a:gdLst/>
            <a:ahLst/>
            <a:cxnLst/>
            <a:rect l="l" t="t" r="r" b="b"/>
            <a:pathLst>
              <a:path w="78" h="88">
                <a:moveTo>
                  <a:pt x="0" y="88"/>
                </a:moveTo>
                <a:lnTo>
                  <a:pt x="27" y="88"/>
                </a:lnTo>
                <a:cubicBezTo>
                  <a:pt x="34" y="88"/>
                  <a:pt x="40" y="82"/>
                  <a:pt x="40" y="75"/>
                </a:cubicBezTo>
                <a:lnTo>
                  <a:pt x="40" y="13"/>
                </a:lnTo>
                <a:cubicBezTo>
                  <a:pt x="40" y="6"/>
                  <a:pt x="46" y="0"/>
                  <a:pt x="53" y="0"/>
                </a:cubicBezTo>
                <a:lnTo>
                  <a:pt x="78" y="0"/>
                </a:lnTo>
              </a:path>
            </a:pathLst>
          </a:custGeom>
          <a:noFill/>
          <a:ln w="39502">
            <a:solidFill>
              <a:srgbClr val="215F9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arrowhead 130"/>
          <p:cNvSpPr/>
          <p:nvPr/>
        </p:nvSpPr>
        <p:spPr>
          <a:xfrm>
            <a:off x="9018984" y="5431140"/>
            <a:ext cx="98748" cy="98748"/>
          </a:xfrm>
          <a:custGeom>
            <a:avLst/>
            <a:gdLst/>
            <a:ahLst/>
            <a:cxnLst/>
            <a:rect l="l" t="t" r="r" b="b"/>
            <a:pathLst>
              <a:path w="12" h="12">
                <a:moveTo>
                  <a:pt x="0" y="12"/>
                </a:moveTo>
                <a:lnTo>
                  <a:pt x="12" y="6"/>
                </a:lnTo>
                <a:lnTo>
                  <a:pt x="0" y="0"/>
                </a:lnTo>
              </a:path>
            </a:pathLst>
          </a:custGeom>
          <a:noFill/>
          <a:ln w="15430">
            <a:solidFill>
              <a:srgbClr val="215F9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JOIN + request"/>
          <p:cNvSpPr txBox="1"/>
          <p:nvPr/>
        </p:nvSpPr>
        <p:spPr>
          <a:xfrm>
            <a:off x="7339352" y="6598606"/>
            <a:ext cx="1499510"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0" i="0" lang="en-US" spc="0">
                <a:solidFill>
                  <a:srgbClr val="000000"/>
                </a:solidFill>
                <a:latin typeface="DejaVu Sans"/>
                <a:ea typeface="DejaVu Sans"/>
                <a:effectLst/>
              </a:rPr>
              <a:t>JOIN + request</a:t>
            </a:r>
          </a:p>
        </p:txBody>
      </p:sp>
      <p:cxnSp>
        <p:nvCxnSpPr>
          <p:cNvPr id="133" name="line 132"/>
          <p:cNvCxnSpPr/>
          <p:nvPr/>
        </p:nvCxnSpPr>
        <p:spPr>
          <a:xfrm>
            <a:off x="11989653" y="5212020"/>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4" name="line 133"/>
          <p:cNvCxnSpPr/>
          <p:nvPr/>
        </p:nvCxnSpPr>
        <p:spPr>
          <a:xfrm>
            <a:off x="11989653" y="6108981"/>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5" name="line 134"/>
          <p:cNvCxnSpPr/>
          <p:nvPr/>
        </p:nvCxnSpPr>
        <p:spPr>
          <a:xfrm>
            <a:off x="12154233" y="5212020"/>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6" name="line 135"/>
          <p:cNvCxnSpPr/>
          <p:nvPr/>
        </p:nvCxnSpPr>
        <p:spPr>
          <a:xfrm>
            <a:off x="12154233" y="6108981"/>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7" name="line 136"/>
          <p:cNvCxnSpPr/>
          <p:nvPr/>
        </p:nvCxnSpPr>
        <p:spPr>
          <a:xfrm>
            <a:off x="12318813" y="5212020"/>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8" name="line 137"/>
          <p:cNvCxnSpPr/>
          <p:nvPr/>
        </p:nvCxnSpPr>
        <p:spPr>
          <a:xfrm>
            <a:off x="12318813" y="6108981"/>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39" name="line 138"/>
          <p:cNvCxnSpPr/>
          <p:nvPr/>
        </p:nvCxnSpPr>
        <p:spPr>
          <a:xfrm>
            <a:off x="12483393" y="5212020"/>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0" name="line 139"/>
          <p:cNvCxnSpPr/>
          <p:nvPr/>
        </p:nvCxnSpPr>
        <p:spPr>
          <a:xfrm>
            <a:off x="12483393" y="6108981"/>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1" name="line 140"/>
          <p:cNvCxnSpPr/>
          <p:nvPr/>
        </p:nvCxnSpPr>
        <p:spPr>
          <a:xfrm>
            <a:off x="12647973" y="5212020"/>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2" name="line 141"/>
          <p:cNvCxnSpPr/>
          <p:nvPr/>
        </p:nvCxnSpPr>
        <p:spPr>
          <a:xfrm>
            <a:off x="12647973" y="6108981"/>
            <a:ext cx="0" cy="8229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3" name="line 142"/>
          <p:cNvCxnSpPr/>
          <p:nvPr/>
        </p:nvCxnSpPr>
        <p:spPr>
          <a:xfrm>
            <a:off x="11792157" y="541774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4" name="line 143"/>
          <p:cNvCxnSpPr/>
          <p:nvPr/>
        </p:nvCxnSpPr>
        <p:spPr>
          <a:xfrm>
            <a:off x="12829011" y="541774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5" name="line 144"/>
          <p:cNvCxnSpPr/>
          <p:nvPr/>
        </p:nvCxnSpPr>
        <p:spPr>
          <a:xfrm>
            <a:off x="11792157" y="558232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6" name="line 145"/>
          <p:cNvCxnSpPr/>
          <p:nvPr/>
        </p:nvCxnSpPr>
        <p:spPr>
          <a:xfrm>
            <a:off x="12829011" y="558232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7" name="line 146"/>
          <p:cNvCxnSpPr/>
          <p:nvPr/>
        </p:nvCxnSpPr>
        <p:spPr>
          <a:xfrm>
            <a:off x="11792157" y="574690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8" name="line 147"/>
          <p:cNvCxnSpPr/>
          <p:nvPr/>
        </p:nvCxnSpPr>
        <p:spPr>
          <a:xfrm>
            <a:off x="12829011" y="574690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49" name="line 148"/>
          <p:cNvCxnSpPr/>
          <p:nvPr/>
        </p:nvCxnSpPr>
        <p:spPr>
          <a:xfrm>
            <a:off x="11792157" y="591148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cxnSp>
        <p:nvCxnSpPr>
          <p:cNvPr id="150" name="line 149"/>
          <p:cNvCxnSpPr/>
          <p:nvPr/>
        </p:nvCxnSpPr>
        <p:spPr>
          <a:xfrm>
            <a:off x="12829011" y="5911485"/>
            <a:ext cx="82290" cy="0"/>
          </a:xfrm>
          <a:prstGeom prst="line">
            <a:avLst/>
          </a:prstGeom>
          <a:ln w="16459">
            <a:solidFill>
              <a:srgbClr val="000000"/>
            </a:solidFill>
          </a:ln>
          <a:effectLst/>
        </p:spPr>
        <p:style>
          <a:lnRef idx="2">
            <a:schemeClr val="accent1"/>
          </a:lnRef>
          <a:fillRef idx="0">
            <a:schemeClr val="accent1"/>
          </a:fillRef>
          <a:effectRef idx="0">
            <a:schemeClr val="accent1"/>
          </a:effectRef>
          <a:fontRef idx="minor">
            <a:schemeClr val="tx1"/>
          </a:fontRef>
        </p:style>
      </p:cxnSp>
      <p:sp>
        <p:nvSpPr>
          <p:cNvPr id="151" name="rect 150"/>
          <p:cNvSpPr/>
          <p:nvPr/>
        </p:nvSpPr>
        <p:spPr>
          <a:xfrm>
            <a:off x="11874447" y="5294310"/>
            <a:ext cx="954564" cy="814671"/>
          </a:xfrm>
          <a:prstGeom prst="roundRect">
            <a:avLst>
              <a:gd name="adj" fmla="val 2020"/>
            </a:avLst>
          </a:prstGeom>
          <a:solidFill>
            <a:srgbClr val="A6CAEC"/>
          </a:solidFill>
          <a:ln w="16459">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GPU"/>
          <p:cNvSpPr txBox="1"/>
          <p:nvPr/>
        </p:nvSpPr>
        <p:spPr>
          <a:xfrm>
            <a:off x="12068745" y="5347798"/>
            <a:ext cx="565969" cy="265385"/>
          </a:xfrm>
          <a:prstGeom prst="rect">
            <a:avLst/>
          </a:prstGeom>
          <a:noFill/>
          <a:effectLst/>
        </p:spPr>
        <p:txBody>
          <a:bodyPr wrap="none" lIns="0" rIns="0" tIns="0" bIns="0" anchor="t">
            <a:spAutoFit/>
          </a:bodyPr>
          <a:lstStyle/>
          <a:p>
            <a:pPr algn="ctr">
              <a:lnSpc>
                <a:spcPct val="100000"/>
              </a:lnSpc>
              <a:spcBef>
                <a:spcPts val="0"/>
              </a:spcBef>
              <a:spcAft>
                <a:spcPts val="0"/>
              </a:spcAft>
            </a:pPr>
            <a:r>
              <a:rPr sz="1555" b="1" i="0" lang="en-US" spc="0">
                <a:solidFill>
                  <a:srgbClr val="000000"/>
                </a:solidFill>
                <a:latin typeface="DejaVu Sans"/>
                <a:ea typeface="DejaVu Sans"/>
                <a:effectLst/>
              </a:rPr>
              <a:t>GPU</a:t>
            </a:r>
          </a:p>
        </p:txBody>
      </p:sp>
      <p:sp>
        <p:nvSpPr>
          <p:cNvPr id="153" name="rect 152"/>
          <p:cNvSpPr/>
          <p:nvPr/>
        </p:nvSpPr>
        <p:spPr>
          <a:xfrm>
            <a:off x="11981424" y="5639928"/>
            <a:ext cx="222183" cy="135778"/>
          </a:xfrm>
          <a:prstGeom prst="roundRect">
            <a:avLst>
              <a:gd name="adj" fmla="val 6060"/>
            </a:avLst>
          </a:prstGeom>
          <a:solidFill>
            <a:srgbClr val="A6CAEC"/>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rect 153"/>
          <p:cNvSpPr/>
          <p:nvPr/>
        </p:nvSpPr>
        <p:spPr>
          <a:xfrm>
            <a:off x="12239266" y="5639928"/>
            <a:ext cx="222183" cy="135778"/>
          </a:xfrm>
          <a:prstGeom prst="roundRect">
            <a:avLst>
              <a:gd name="adj" fmla="val 6060"/>
            </a:avLst>
          </a:prstGeom>
          <a:solidFill>
            <a:srgbClr val="84E291"/>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rect 154"/>
          <p:cNvSpPr/>
          <p:nvPr/>
        </p:nvSpPr>
        <p:spPr>
          <a:xfrm>
            <a:off x="12497108" y="5639928"/>
            <a:ext cx="222183" cy="135778"/>
          </a:xfrm>
          <a:prstGeom prst="roundRect">
            <a:avLst>
              <a:gd name="adj" fmla="val 6060"/>
            </a:avLst>
          </a:prstGeom>
          <a:solidFill>
            <a:srgbClr val="A6CAEC"/>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rect 155"/>
          <p:cNvSpPr/>
          <p:nvPr/>
        </p:nvSpPr>
        <p:spPr>
          <a:xfrm>
            <a:off x="11981424" y="5829195"/>
            <a:ext cx="222183" cy="135778"/>
          </a:xfrm>
          <a:prstGeom prst="roundRect">
            <a:avLst>
              <a:gd name="adj" fmla="val 6060"/>
            </a:avLst>
          </a:prstGeom>
          <a:solidFill>
            <a:srgbClr val="FFFFFF"/>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rect 156"/>
          <p:cNvSpPr/>
          <p:nvPr/>
        </p:nvSpPr>
        <p:spPr>
          <a:xfrm>
            <a:off x="12239266" y="5829195"/>
            <a:ext cx="222183" cy="135778"/>
          </a:xfrm>
          <a:prstGeom prst="roundRect">
            <a:avLst>
              <a:gd name="adj" fmla="val 6060"/>
            </a:avLst>
          </a:prstGeom>
          <a:solidFill>
            <a:srgbClr val="FFFFFF"/>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rect 157"/>
          <p:cNvSpPr/>
          <p:nvPr/>
        </p:nvSpPr>
        <p:spPr>
          <a:xfrm>
            <a:off x="12497108" y="5829195"/>
            <a:ext cx="222183" cy="135778"/>
          </a:xfrm>
          <a:prstGeom prst="roundRect">
            <a:avLst>
              <a:gd name="adj" fmla="val 6060"/>
            </a:avLst>
          </a:prstGeom>
          <a:solidFill>
            <a:srgbClr val="FFFFFF"/>
          </a:solidFill>
          <a:ln w="9052">
            <a:solidFill>
              <a:srgbClr val="0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9" name="path 158"/>
          <p:cNvCxnSpPr/>
          <p:nvPr/>
        </p:nvCxnSpPr>
        <p:spPr>
          <a:xfrm>
            <a:off x="10993944" y="5483577"/>
            <a:ext cx="773526" cy="0"/>
          </a:xfrm>
          <a:prstGeom prst="line">
            <a:avLst/>
          </a:prstGeom>
          <a:ln w="65836">
            <a:solidFill>
              <a:srgbClr val="FFFFFF"/>
            </a:solidFill>
          </a:ln>
          <a:effectLst/>
        </p:spPr>
        <p:style>
          <a:lnRef idx="2">
            <a:schemeClr val="accent1"/>
          </a:lnRef>
          <a:fillRef idx="0">
            <a:schemeClr val="accent1"/>
          </a:fillRef>
          <a:effectRef idx="0">
            <a:schemeClr val="accent1"/>
          </a:effectRef>
          <a:fontRef idx="minor">
            <a:schemeClr val="tx1"/>
          </a:fontRef>
        </p:style>
      </p:cxnSp>
      <p:cxnSp>
        <p:nvCxnSpPr>
          <p:cNvPr id="160" name="path 159"/>
          <p:cNvCxnSpPr/>
          <p:nvPr/>
        </p:nvCxnSpPr>
        <p:spPr>
          <a:xfrm>
            <a:off x="10993944" y="5483577"/>
            <a:ext cx="773526" cy="0"/>
          </a:xfrm>
          <a:prstGeom prst="line">
            <a:avLst/>
          </a:prstGeom>
          <a:ln w="49377">
            <a:solidFill>
              <a:srgbClr val="156082"/>
            </a:solidFill>
          </a:ln>
          <a:effectLst/>
        </p:spPr>
        <p:style>
          <a:lnRef idx="2">
            <a:schemeClr val="accent1"/>
          </a:lnRef>
          <a:fillRef idx="0">
            <a:schemeClr val="accent1"/>
          </a:fillRef>
          <a:effectRef idx="0">
            <a:schemeClr val="accent1"/>
          </a:effectRef>
          <a:fontRef idx="minor">
            <a:schemeClr val="tx1"/>
          </a:fontRef>
        </p:style>
      </p:cxnSp>
      <p:sp>
        <p:nvSpPr>
          <p:cNvPr id="161" name="arrowhead 160"/>
          <p:cNvSpPr/>
          <p:nvPr/>
        </p:nvSpPr>
        <p:spPr>
          <a:xfrm>
            <a:off x="11619348" y="5406453"/>
            <a:ext cx="148122" cy="148122"/>
          </a:xfrm>
          <a:custGeom>
            <a:avLst/>
            <a:gdLst/>
            <a:ahLst/>
            <a:cxnLst/>
            <a:rect l="l" t="t" r="r" b="b"/>
            <a:pathLst>
              <a:path w="18" h="18">
                <a:moveTo>
                  <a:pt x="18" y="9"/>
                </a:moveTo>
                <a:lnTo>
                  <a:pt x="0" y="18"/>
                </a:lnTo>
                <a:lnTo>
                  <a:pt x="0" y="0"/>
                </a:lnTo>
                <a:close/>
              </a:path>
            </a:pathLst>
          </a:custGeom>
          <a:solidFill>
            <a:srgbClr val="1560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circle 161"/>
          <p:cNvSpPr/>
          <p:nvPr/>
        </p:nvSpPr>
        <p:spPr>
          <a:xfrm>
            <a:off x="11224356" y="5327226"/>
            <a:ext cx="312702" cy="312702"/>
          </a:xfrm>
          <a:prstGeom prst="ellipse">
            <a:avLst/>
          </a:prstGeom>
          <a:solidFill>
            <a:srgbClr val="000000"/>
          </a:solidFill>
          <a:ln w="24688">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4"/>
          <p:cNvSpPr txBox="1"/>
          <p:nvPr/>
        </p:nvSpPr>
        <p:spPr>
          <a:xfrm>
            <a:off x="11265485" y="5368371"/>
            <a:ext cx="230444" cy="255099"/>
          </a:xfrm>
          <a:prstGeom prst="rect">
            <a:avLst/>
          </a:prstGeom>
          <a:noFill/>
          <a:effectLst/>
        </p:spPr>
        <p:txBody>
          <a:bodyPr wrap="none" lIns="0" rIns="0" tIns="0" bIns="0" anchor="t">
            <a:spAutoFit/>
          </a:bodyPr>
          <a:lstStyle/>
          <a:p>
            <a:pPr algn="ctr">
              <a:lnSpc>
                <a:spcPct val="100000"/>
              </a:lnSpc>
              <a:spcBef>
                <a:spcPts val="0"/>
              </a:spcBef>
              <a:spcAft>
                <a:spcPts val="0"/>
              </a:spcAft>
            </a:pPr>
            <a:r>
              <a:rPr sz="1490" b="1" i="0" lang="en-US" spc="0">
                <a:solidFill>
                  <a:srgbClr val="FFFFFF"/>
                </a:solidFill>
                <a:latin typeface="DejaVu Sans"/>
                <a:ea typeface="DejaVu Sans"/>
                <a:effectLst/>
              </a:rPr>
              <a:t>4</a:t>
            </a:r>
          </a:p>
        </p:txBody>
      </p:sp>
      <p:sp>
        <p:nvSpPr>
          <p:cNvPr id="164" name="data + slot"/>
          <p:cNvSpPr txBox="1"/>
          <p:nvPr/>
        </p:nvSpPr>
        <p:spPr>
          <a:xfrm>
            <a:off x="11339562" y="6351736"/>
            <a:ext cx="1145245" cy="255099"/>
          </a:xfrm>
          <a:prstGeom prst="rect">
            <a:avLst/>
          </a:prstGeom>
          <a:noFill/>
          <a:effectLst/>
        </p:spPr>
        <p:txBody>
          <a:bodyPr wrap="none" lIns="0" rIns="0" tIns="0" bIns="0" anchor="t">
            <a:spAutoFit/>
          </a:bodyPr>
          <a:lstStyle/>
          <a:p>
            <a:pPr algn="l">
              <a:lnSpc>
                <a:spcPct val="100000"/>
              </a:lnSpc>
              <a:spcBef>
                <a:spcPts val="0"/>
              </a:spcBef>
              <a:spcAft>
                <a:spcPts val="0"/>
              </a:spcAft>
            </a:pPr>
            <a:r>
              <a:rPr sz="1490" b="0" i="0" lang="en-US" spc="0">
                <a:solidFill>
                  <a:srgbClr val="000000"/>
                </a:solidFill>
                <a:latin typeface="DejaVu Sans"/>
                <a:ea typeface="DejaVu Sans"/>
                <a:effectLst/>
              </a:rPr>
              <a:t>data + slot</a:t>
            </a:r>
          </a:p>
        </p:txBody>
      </p:sp>
      <p:sp>
        <p:nvSpPr>
          <p:cNvPr id="165" name="bounded + aging"/>
          <p:cNvSpPr txBox="1"/>
          <p:nvPr/>
        </p:nvSpPr>
        <p:spPr>
          <a:xfrm>
            <a:off x="9142419" y="6351736"/>
            <a:ext cx="1739180" cy="255099"/>
          </a:xfrm>
          <a:prstGeom prst="rect">
            <a:avLst/>
          </a:prstGeom>
          <a:noFill/>
          <a:effectLst/>
        </p:spPr>
        <p:txBody>
          <a:bodyPr wrap="none" lIns="0" rIns="0" tIns="0" bIns="0" anchor="t">
            <a:spAutoFit/>
          </a:bodyPr>
          <a:lstStyle/>
          <a:p>
            <a:pPr algn="l">
              <a:lnSpc>
                <a:spcPct val="100000"/>
              </a:lnSpc>
              <a:spcBef>
                <a:spcPts val="0"/>
              </a:spcBef>
              <a:spcAft>
                <a:spcPts val="0"/>
              </a:spcAft>
            </a:pPr>
            <a:r>
              <a:rPr sz="1490" b="0" i="0" lang="en-US" spc="0">
                <a:solidFill>
                  <a:srgbClr val="000000"/>
                </a:solidFill>
                <a:latin typeface="DejaVu Sans"/>
                <a:ea typeface="DejaVu Sans"/>
                <a:effectLst/>
              </a:rPr>
              <a:t>bounded + aging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0">
          <a:schemeClr val="accent1"/>
        </a:effectRef>
        <a:fontRef idx="minor">
          <a:schemeClr val="lt1"/>
        </a:fontRef>
      </a:style>
    </a:spDef>
    <a:lnDef>
      <a:spPr/>
      <a:bodyPr/>
      <a:lstStyle/>
      <a:style>
        <a:lnRef idx="2">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0">
          <a:schemeClr val="accent1"/>
        </a:effectRef>
        <a:fontRef idx="minor">
          <a:schemeClr val="lt1"/>
        </a:fontRef>
      </a:style>
    </a:spDef>
    <a:lnDef>
      <a:spPr/>
      <a:bodyPr/>
      <a:lstStyle/>
      <a:style>
        <a:lnRef idx="2">
          <a:schemeClr val="accent1"/>
        </a:lnRef>
        <a:fillRef idx="0">
          <a:schemeClr val="accent1"/>
        </a:fillRef>
        <a:effectRef idx="0">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BeliefKV Architecture Figures</dc:title>
  <dc:subject>Current development architecture as of 2026-10-15</dc:subject>
  <dc:creator>BeliefKV</dc:creator>
  <cp:keywords>BeliefKV, dynamic agent workflows, KV cache, native editable diagrams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