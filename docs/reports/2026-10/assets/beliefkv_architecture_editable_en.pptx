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3167360" cy="877824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baseline: 2026-10-14 development implementation, not the frozen code of every running experiment. RCCG receives runtime events; GraphDelta updates affected wait groups. Text/phase/work inference runs in an independent CPU process. Tool history supplies separate conditional timing. NativeAdmissionRuntime combines causal identity, checkpoint, timing, capacity and next-batch observations. Waiting migrations can run after forward dispatch under the supported overlap configuration. The native waiting queue, PrefillAdder, allocation and data dependencies remain authoritative. Dashed arrows show feedback, not a claim that all control work is asynchronous. Explicit completion notices are harness protocol and must be identical across comparison arms. Sources: causal_graph.py; semantic_report_worker.py; sglang_v0520_runtime.py (scheduler_step, dispatch_after_forward, plan_native_prefill); staging patch.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 model uses frozen pooled text features plus event/progress features; the conditional work head can be fitted independently. Work bounds are calibrated bounds, not a calibrated joint JOIN interval. The current content-driven JOIN_ALL path targets the single pending child; earlier notices can be retained and rebound after sibling RETURN. A latest forecast can move its work endpoint in either direction before enqueue. The center-overrun path uses a still-valid upper endpoint. R/rate estimates generation time, not future queueing or a guaranteed wall-clock RETURN. No-tool EOS is separate evidence. Tool CDFs are conditioned on survival and use completed-call history with fallbacks; the current live tool-transfer path requires at most one active call. H follows transfer_start_window: min(lead allowance, ACK P90 + enqueue P90 + observation spacing + early margin). Cost uses current direction/shape/size history. A smaller same-checkpoint payload can retain the measured cost of its larger supported selection when its own direct estimate is unavailable. The timeline is schematic and allows partial overlap. Sources: child_semantic_work.py; conditional_work.py; native_transfer_policy.py; native_transfer_service.py; _roll_final_stage / _roll_tool_prefetch / _wait_prefetch_timing_valid / _h2d_start_window in sglang_v0520_runtime.py.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Stable FULL extents are backed incrementally under actual pressure; PREPARE_HOST neither releases HBM nor speculatively backs Mamba. Native pressure reclaim can demote backed cold FULL while preserving needed Mamba. Choose a reusable safe-input checkpoint; restore ancestors root-first and only the required missing state, rather than every historical Mamba state. Native allocators decide byte, FULL and Mamba capacity. A page-aligned partial FULL prefix may load while state or tail remains deferred. FULL pipeline admission follows native layer dependencies; missing Mamba or legacy state loads still defer admission as required. ACK manages transaction/residency lifecycle, not a universal execution barrier. Bounded locks, restored/resident-first ordering and ordinary-request aging support consumption but do not guarantee it. Terminal child session retirement reclaims only unused private suffixes, retries blocked references and keeps shared ancestors. Released capacity is neither exclusive to the parent nor a reuse of the same physical page IDs. Earlier siblings may enable pre-RETURN H2D; the last child's own released capacity supports demand restoration. Sources: sglang_v0520_physical.py (plan_prefetch_gpu_steps); native_transfer_policy.py (native_residency_budget); sglang_v0520_runtime.py (_apply_terminal_child_reclaim, _wait_prefetch_opportunity, defer_prefill_for_prefetch, plan_native_prefill); staging patch (retire_beliefkv_child_session, prefetch_gpu_session_nodes).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eliefKV: Coordinating Dynamic Agent Execution and KV"/>
          <p:cNvSpPr txBox="1"/>
          <p:nvPr/>
        </p:nvSpPr>
        <p:spPr>
          <a:xfrm>
            <a:off x="292600" y="128012"/>
            <a:ext cx="8492172" cy="336490"/>
          </a:xfrm>
          <a:prstGeom prst="rect">
            <a:avLst/>
          </a:prstGeom>
          <a:noFill/>
        </p:spPr>
        <p:txBody>
          <a:bodyPr wrap="none" lIns="0" rIns="0" tIns="0" bIns="0" anchor="t">
            <a:spAutoFit/>
          </a:bodyPr>
          <a:lstStyle/>
          <a:p>
            <a:pPr algn="l">
              <a:lnSpc>
                <a:spcPct val="100000"/>
              </a:lnSpc>
              <a:spcBef>
                <a:spcPts val="0"/>
              </a:spcBef>
              <a:spcAft>
                <a:spcPts val="0"/>
              </a:spcAft>
            </a:pPr>
            <a:r>
              <a:rPr sz="2073" b="1" lang="en-US" spc="0">
                <a:solidFill>
                  <a:srgbClr val="263746"/>
                </a:solidFill>
                <a:latin typeface="DejaVu Sans"/>
                <a:ea typeface="DejaVu Sans"/>
              </a:rPr>
              <a:t>BeliefKV: Coordinating Dynamic Agent Execution and KV</a:t>
            </a:r>
          </a:p>
        </p:txBody>
      </p:sp>
      <p:sp>
        <p:nvSpPr>
          <p:cNvPr id="3" name="Observed dependencies → near-future demand → KV lifecycle → native admission"/>
          <p:cNvSpPr txBox="1"/>
          <p:nvPr/>
        </p:nvSpPr>
        <p:spPr>
          <a:xfrm>
            <a:off x="292600" y="473646"/>
            <a:ext cx="7551395"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Observed dependencies → near-future demand → KV lifecycle → native admission</a:t>
            </a:r>
          </a:p>
        </p:txBody>
      </p:sp>
      <p:cxnSp>
        <p:nvCxnSpPr>
          <p:cNvPr id="4" name="line 3"/>
          <p:cNvCxnSpPr/>
          <p:nvPr/>
        </p:nvCxnSpPr>
        <p:spPr>
          <a:xfrm>
            <a:off x="292600" y="768075"/>
            <a:ext cx="12581800" cy="0"/>
          </a:xfrm>
          <a:prstGeom prst="line">
            <a:avLst/>
          </a:prstGeom>
          <a:ln w="9509">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5" name="rect 4"/>
          <p:cNvSpPr/>
          <p:nvPr/>
        </p:nvSpPr>
        <p:spPr>
          <a:xfrm>
            <a:off x="292600" y="929005"/>
            <a:ext cx="12581800" cy="1609300"/>
          </a:xfrm>
          <a:prstGeom prst="roundRect">
            <a:avLst>
              <a:gd name="adj" fmla="val 1363"/>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 name="line 5"/>
          <p:cNvCxnSpPr/>
          <p:nvPr/>
        </p:nvCxnSpPr>
        <p:spPr>
          <a:xfrm>
            <a:off x="299915" y="936320"/>
            <a:ext cx="12567170" cy="0"/>
          </a:xfrm>
          <a:prstGeom prst="line">
            <a:avLst/>
          </a:prstGeom>
          <a:ln w="21945">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7" name="(a) Runtime workflow"/>
          <p:cNvSpPr txBox="1"/>
          <p:nvPr/>
        </p:nvSpPr>
        <p:spPr>
          <a:xfrm>
            <a:off x="453530" y="1031415"/>
            <a:ext cx="2574623"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D6F9F"/>
                </a:solidFill>
                <a:latin typeface="DejaVu Sans"/>
                <a:ea typeface="DejaVu Sans"/>
              </a:rPr>
              <a:t>(a) Runtime workflow</a:t>
            </a:r>
          </a:p>
        </p:txBody>
      </p:sp>
      <p:sp>
        <p:nvSpPr>
          <p:cNvPr id="8" name="circle 7"/>
          <p:cNvSpPr/>
          <p:nvPr/>
        </p:nvSpPr>
        <p:spPr>
          <a:xfrm>
            <a:off x="570570" y="1594670"/>
            <a:ext cx="424270" cy="424270"/>
          </a:xfrm>
          <a:prstGeom prst="ellipse">
            <a:avLst/>
          </a:prstGeom>
          <a:solidFill>
            <a:srgbClr val="EDF3F8"/>
          </a:solidFill>
          <a:ln w="1024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P"/>
          <p:cNvSpPr txBox="1"/>
          <p:nvPr/>
        </p:nvSpPr>
        <p:spPr>
          <a:xfrm>
            <a:off x="666437" y="1691228"/>
            <a:ext cx="232537"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P</a:t>
            </a:r>
          </a:p>
        </p:txBody>
      </p:sp>
      <p:sp>
        <p:nvSpPr>
          <p:cNvPr id="10" name="circle 9"/>
          <p:cNvSpPr/>
          <p:nvPr/>
        </p:nvSpPr>
        <p:spPr>
          <a:xfrm>
            <a:off x="1953105" y="1338645"/>
            <a:ext cx="409640" cy="409640"/>
          </a:xfrm>
          <a:prstGeom prst="ellipse">
            <a:avLst/>
          </a:prstGeom>
          <a:solidFill>
            <a:srgbClr val="FFFFFF"/>
          </a:solidFill>
          <a:ln w="10241">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C1"/>
          <p:cNvSpPr txBox="1"/>
          <p:nvPr/>
        </p:nvSpPr>
        <p:spPr>
          <a:xfrm>
            <a:off x="1978079" y="1432643"/>
            <a:ext cx="359692"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C1</a:t>
            </a:r>
          </a:p>
        </p:txBody>
      </p:sp>
      <p:sp>
        <p:nvSpPr>
          <p:cNvPr id="12" name="circle 11"/>
          <p:cNvSpPr/>
          <p:nvPr/>
        </p:nvSpPr>
        <p:spPr>
          <a:xfrm>
            <a:off x="1953105" y="1975050"/>
            <a:ext cx="409640" cy="409640"/>
          </a:xfrm>
          <a:prstGeom prst="ellipse">
            <a:avLst/>
          </a:prstGeom>
          <a:solidFill>
            <a:srgbClr val="FFFFFF"/>
          </a:solidFill>
          <a:ln w="10241">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C2"/>
          <p:cNvSpPr txBox="1"/>
          <p:nvPr/>
        </p:nvSpPr>
        <p:spPr>
          <a:xfrm>
            <a:off x="1978079" y="2069048"/>
            <a:ext cx="359692"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C2</a:t>
            </a:r>
          </a:p>
        </p:txBody>
      </p:sp>
      <p:sp>
        <p:nvSpPr>
          <p:cNvPr id="14" name="rect 13"/>
          <p:cNvSpPr/>
          <p:nvPr/>
        </p:nvSpPr>
        <p:spPr>
          <a:xfrm>
            <a:off x="3123505" y="1353275"/>
            <a:ext cx="965580" cy="387695"/>
          </a:xfrm>
          <a:prstGeom prst="roundRect">
            <a:avLst>
              <a:gd name="adj" fmla="val 3773"/>
            </a:avLst>
          </a:prstGeom>
          <a:solidFill>
            <a:srgbClr val="FBF2E3"/>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ool"/>
          <p:cNvSpPr txBox="1"/>
          <p:nvPr/>
        </p:nvSpPr>
        <p:spPr>
          <a:xfrm>
            <a:off x="3355185" y="1439226"/>
            <a:ext cx="502220"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Tool</a:t>
            </a:r>
          </a:p>
        </p:txBody>
      </p:sp>
      <p:sp>
        <p:nvSpPr>
          <p:cNvPr id="16" name="polygon 15"/>
          <p:cNvSpPr/>
          <p:nvPr/>
        </p:nvSpPr>
        <p:spPr>
          <a:xfrm>
            <a:off x="4652340" y="1514205"/>
            <a:ext cx="921690" cy="643720"/>
          </a:xfrm>
          <a:custGeom>
            <a:avLst/>
            <a:gdLst/>
            <a:ahLst/>
            <a:cxnLst/>
            <a:rect l="l" t="t" r="r" b="b"/>
            <a:pathLst>
              <a:path w="126" h="88">
                <a:moveTo>
                  <a:pt x="63" y="0"/>
                </a:moveTo>
                <a:lnTo>
                  <a:pt x="126" y="44"/>
                </a:lnTo>
                <a:lnTo>
                  <a:pt x="63" y="88"/>
                </a:lnTo>
                <a:lnTo>
                  <a:pt x="0" y="44"/>
                </a:lnTo>
                <a:close/>
              </a:path>
            </a:pathLst>
          </a:custGeom>
          <a:solidFill>
            <a:srgbClr val="FBF2E3"/>
          </a:solidFill>
          <a:ln w="10972">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JOIN"/>
          <p:cNvSpPr txBox="1"/>
          <p:nvPr/>
        </p:nvSpPr>
        <p:spPr>
          <a:xfrm>
            <a:off x="4838087" y="1717196"/>
            <a:ext cx="550197"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JOIN</a:t>
            </a:r>
          </a:p>
        </p:txBody>
      </p:sp>
      <p:sp>
        <p:nvSpPr>
          <p:cNvPr id="18" name="circle 17"/>
          <p:cNvSpPr/>
          <p:nvPr/>
        </p:nvSpPr>
        <p:spPr>
          <a:xfrm>
            <a:off x="6078765" y="1623930"/>
            <a:ext cx="424270" cy="424270"/>
          </a:xfrm>
          <a:prstGeom prst="ellipse">
            <a:avLst/>
          </a:prstGeom>
          <a:solidFill>
            <a:srgbClr val="EDF3F8"/>
          </a:solidFill>
          <a:ln w="1024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P"/>
          <p:cNvSpPr txBox="1"/>
          <p:nvPr/>
        </p:nvSpPr>
        <p:spPr>
          <a:xfrm>
            <a:off x="6174632" y="1720488"/>
            <a:ext cx="232537"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P</a:t>
            </a:r>
          </a:p>
        </p:txBody>
      </p:sp>
      <p:cxnSp>
        <p:nvCxnSpPr>
          <p:cNvPr id="20" name="path 19"/>
          <p:cNvCxnSpPr/>
          <p:nvPr/>
        </p:nvCxnSpPr>
        <p:spPr>
          <a:xfrm flipV="1">
            <a:off x="1009470" y="1565410"/>
            <a:ext cx="921690" cy="15361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1" name="path 20"/>
          <p:cNvCxnSpPr/>
          <p:nvPr/>
        </p:nvCxnSpPr>
        <p:spPr>
          <a:xfrm>
            <a:off x="1009470" y="1894585"/>
            <a:ext cx="921690" cy="25602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2" name="path 21"/>
          <p:cNvCxnSpPr/>
          <p:nvPr/>
        </p:nvCxnSpPr>
        <p:spPr>
          <a:xfrm>
            <a:off x="2377375" y="1543465"/>
            <a:ext cx="738815" cy="0"/>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3" name="path 22"/>
          <p:cNvSpPr/>
          <p:nvPr/>
        </p:nvSpPr>
        <p:spPr>
          <a:xfrm>
            <a:off x="4096400" y="1543465"/>
            <a:ext cx="585200" cy="190190"/>
          </a:xfrm>
          <a:custGeom>
            <a:avLst/>
            <a:gdLst/>
            <a:ahLst/>
            <a:cxnLst/>
            <a:rect l="l" t="t" r="r" b="b"/>
            <a:pathLst>
              <a:path w="80" h="26">
                <a:moveTo>
                  <a:pt x="0" y="0"/>
                </a:moveTo>
                <a:lnTo>
                  <a:pt x="30" y="0"/>
                </a:lnTo>
                <a:lnTo>
                  <a:pt x="80" y="26"/>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path 23"/>
          <p:cNvSpPr/>
          <p:nvPr/>
        </p:nvSpPr>
        <p:spPr>
          <a:xfrm>
            <a:off x="2377375" y="1945790"/>
            <a:ext cx="2333485" cy="234080"/>
          </a:xfrm>
          <a:custGeom>
            <a:avLst/>
            <a:gdLst/>
            <a:ahLst/>
            <a:cxnLst/>
            <a:rect l="l" t="t" r="r" b="b"/>
            <a:pathLst>
              <a:path w="319" h="32">
                <a:moveTo>
                  <a:pt x="0" y="32"/>
                </a:moveTo>
                <a:lnTo>
                  <a:pt x="269" y="32"/>
                </a:lnTo>
                <a:lnTo>
                  <a:pt x="319" y="0"/>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 name="path 24"/>
          <p:cNvCxnSpPr/>
          <p:nvPr/>
        </p:nvCxnSpPr>
        <p:spPr>
          <a:xfrm>
            <a:off x="5581345" y="1836065"/>
            <a:ext cx="482790"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6" name="SPAWN"/>
          <p:cNvSpPr txBox="1"/>
          <p:nvPr/>
        </p:nvSpPr>
        <p:spPr>
          <a:xfrm>
            <a:off x="1097250" y="1276468"/>
            <a:ext cx="709269"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3D6F9F"/>
                </a:solidFill>
                <a:latin typeface="DejaVu Sans"/>
                <a:ea typeface="DejaVu Sans"/>
              </a:rPr>
              <a:t>SPAWN</a:t>
            </a:r>
          </a:p>
        </p:txBody>
      </p:sp>
      <p:sp>
        <p:nvSpPr>
          <p:cNvPr id="27" name="RETURN"/>
          <p:cNvSpPr txBox="1"/>
          <p:nvPr/>
        </p:nvSpPr>
        <p:spPr>
          <a:xfrm>
            <a:off x="3891580" y="2242048"/>
            <a:ext cx="809736"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357B73"/>
                </a:solidFill>
                <a:latin typeface="DejaVu Sans"/>
                <a:ea typeface="DejaVu Sans"/>
              </a:rPr>
              <a:t>RETURN</a:t>
            </a:r>
          </a:p>
        </p:txBody>
      </p:sp>
      <p:sp>
        <p:nvSpPr>
          <p:cNvPr id="28" name="path 27"/>
          <p:cNvSpPr/>
          <p:nvPr/>
        </p:nvSpPr>
        <p:spPr>
          <a:xfrm>
            <a:off x="6298215" y="1836065"/>
            <a:ext cx="621775" cy="519365"/>
          </a:xfrm>
          <a:custGeom>
            <a:avLst/>
            <a:gdLst/>
            <a:ahLst/>
            <a:cxnLst/>
            <a:rect l="l" t="t" r="r" b="b"/>
            <a:pathLst>
              <a:path w="85" h="71">
                <a:moveTo>
                  <a:pt x="0" y="30"/>
                </a:moveTo>
                <a:lnTo>
                  <a:pt x="0" y="71"/>
                </a:lnTo>
                <a:lnTo>
                  <a:pt x="85" y="71"/>
                </a:lnTo>
                <a:lnTo>
                  <a:pt x="85" y="0"/>
                </a:lnTo>
              </a:path>
            </a:pathLst>
          </a:custGeom>
          <a:noFill/>
          <a:ln w="17556">
            <a:solidFill>
              <a:srgbClr val="3D6F9F"/>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Next round"/>
          <p:cNvSpPr txBox="1"/>
          <p:nvPr/>
        </p:nvSpPr>
        <p:spPr>
          <a:xfrm>
            <a:off x="6583500" y="1459342"/>
            <a:ext cx="1062275"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687680"/>
                </a:solidFill>
                <a:latin typeface="DejaVu Sans"/>
                <a:ea typeface="DejaVu Sans"/>
              </a:rPr>
              <a:t>Next round</a:t>
            </a:r>
          </a:p>
        </p:txBody>
      </p:sp>
      <p:cxnSp>
        <p:nvCxnSpPr>
          <p:cNvPr id="30" name="line 29"/>
          <p:cNvCxnSpPr/>
          <p:nvPr/>
        </p:nvCxnSpPr>
        <p:spPr>
          <a:xfrm>
            <a:off x="7541765" y="1345960"/>
            <a:ext cx="0" cy="1038730"/>
          </a:xfrm>
          <a:prstGeom prst="line">
            <a:avLst/>
          </a:prstGeom>
          <a:ln w="10241">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31" name="rect 30"/>
          <p:cNvSpPr/>
          <p:nvPr/>
        </p:nvSpPr>
        <p:spPr>
          <a:xfrm>
            <a:off x="7914830" y="1404480"/>
            <a:ext cx="1550780" cy="351120"/>
          </a:xfrm>
          <a:prstGeom prst="roundRect">
            <a:avLst>
              <a:gd name="adj" fmla="val 4166"/>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Events"/>
          <p:cNvSpPr txBox="1"/>
          <p:nvPr/>
        </p:nvSpPr>
        <p:spPr>
          <a:xfrm>
            <a:off x="8285109" y="1467316"/>
            <a:ext cx="810222"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Events</a:t>
            </a:r>
          </a:p>
        </p:txBody>
      </p:sp>
      <p:sp>
        <p:nvSpPr>
          <p:cNvPr id="33" name="rect 32"/>
          <p:cNvSpPr/>
          <p:nvPr/>
        </p:nvSpPr>
        <p:spPr>
          <a:xfrm>
            <a:off x="9897195" y="1404480"/>
            <a:ext cx="2589510" cy="351120"/>
          </a:xfrm>
          <a:prstGeom prst="roundRect">
            <a:avLst>
              <a:gd name="adj" fmla="val 4166"/>
            </a:avLst>
          </a:prstGeom>
          <a:solidFill>
            <a:srgbClr val="FBF2E3"/>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Notice + text + decode"/>
          <p:cNvSpPr txBox="1"/>
          <p:nvPr/>
        </p:nvSpPr>
        <p:spPr>
          <a:xfrm>
            <a:off x="9956501" y="1472144"/>
            <a:ext cx="2470898"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Notice + text + decode</a:t>
            </a:r>
          </a:p>
        </p:txBody>
      </p:sp>
      <p:cxnSp>
        <p:nvCxnSpPr>
          <p:cNvPr id="35" name="path 34"/>
          <p:cNvCxnSpPr/>
          <p:nvPr/>
        </p:nvCxnSpPr>
        <p:spPr>
          <a:xfrm>
            <a:off x="8697535" y="1770230"/>
            <a:ext cx="0" cy="31454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36" name="path 35"/>
          <p:cNvCxnSpPr/>
          <p:nvPr/>
        </p:nvCxnSpPr>
        <p:spPr>
          <a:xfrm>
            <a:off x="11191950" y="1770230"/>
            <a:ext cx="0" cy="314545"/>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7" name="rect 36"/>
          <p:cNvSpPr/>
          <p:nvPr/>
        </p:nvSpPr>
        <p:spPr>
          <a:xfrm>
            <a:off x="7914830" y="2099405"/>
            <a:ext cx="1550780" cy="292600"/>
          </a:xfrm>
          <a:prstGeom prst="roundRect">
            <a:avLst>
              <a:gd name="adj" fmla="val 5000"/>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RCCG"/>
          <p:cNvSpPr txBox="1"/>
          <p:nvPr/>
        </p:nvSpPr>
        <p:spPr>
          <a:xfrm>
            <a:off x="8366660" y="2137809"/>
            <a:ext cx="647120"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RCCG</a:t>
            </a:r>
          </a:p>
        </p:txBody>
      </p:sp>
      <p:sp>
        <p:nvSpPr>
          <p:cNvPr id="39" name="rect 38"/>
          <p:cNvSpPr/>
          <p:nvPr/>
        </p:nvSpPr>
        <p:spPr>
          <a:xfrm>
            <a:off x="9897195" y="2099405"/>
            <a:ext cx="2589510" cy="292600"/>
          </a:xfrm>
          <a:prstGeom prst="roundRect">
            <a:avLst>
              <a:gd name="adj" fmla="val 5000"/>
            </a:avLst>
          </a:prstGeom>
          <a:solidFill>
            <a:srgbClr val="FFFFFF"/>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bserved progress"/>
          <p:cNvSpPr txBox="1"/>
          <p:nvPr/>
        </p:nvSpPr>
        <p:spPr>
          <a:xfrm>
            <a:off x="10169679" y="2137809"/>
            <a:ext cx="2044542"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Observed progress</a:t>
            </a:r>
          </a:p>
        </p:txBody>
      </p:sp>
      <p:sp>
        <p:nvSpPr>
          <p:cNvPr id="41" name="rect 40"/>
          <p:cNvSpPr/>
          <p:nvPr/>
        </p:nvSpPr>
        <p:spPr>
          <a:xfrm>
            <a:off x="292600" y="3013780"/>
            <a:ext cx="3876950" cy="3694075"/>
          </a:xfrm>
          <a:prstGeom prst="roundRect">
            <a:avLst>
              <a:gd name="adj" fmla="val 594"/>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2" name="line 41"/>
          <p:cNvCxnSpPr/>
          <p:nvPr/>
        </p:nvCxnSpPr>
        <p:spPr>
          <a:xfrm>
            <a:off x="299915" y="3021095"/>
            <a:ext cx="3862320" cy="0"/>
          </a:xfrm>
          <a:prstGeom prst="line">
            <a:avLst/>
          </a:prstGeom>
          <a:ln w="21945">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43" name="(1) Execution demand"/>
          <p:cNvSpPr txBox="1"/>
          <p:nvPr/>
        </p:nvSpPr>
        <p:spPr>
          <a:xfrm>
            <a:off x="453530" y="3116190"/>
            <a:ext cx="2622656"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D6F9F"/>
                </a:solidFill>
                <a:latin typeface="DejaVu Sans"/>
                <a:ea typeface="DejaVu Sans"/>
              </a:rPr>
              <a:t>(1) Execution demand</a:t>
            </a:r>
          </a:p>
        </p:txBody>
      </p:sp>
      <p:sp>
        <p:nvSpPr>
          <p:cNvPr id="44" name="rect 43"/>
          <p:cNvSpPr/>
          <p:nvPr/>
        </p:nvSpPr>
        <p:spPr>
          <a:xfrm>
            <a:off x="4645025" y="3013780"/>
            <a:ext cx="3876950" cy="3694075"/>
          </a:xfrm>
          <a:prstGeom prst="roundRect">
            <a:avLst>
              <a:gd name="adj" fmla="val 594"/>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5" name="line 44"/>
          <p:cNvCxnSpPr/>
          <p:nvPr/>
        </p:nvCxnSpPr>
        <p:spPr>
          <a:xfrm>
            <a:off x="4652340" y="3021095"/>
            <a:ext cx="3862320" cy="0"/>
          </a:xfrm>
          <a:prstGeom prst="line">
            <a:avLst/>
          </a:prstGeom>
          <a:ln w="21945">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46" name="(2) KV lifecycle"/>
          <p:cNvSpPr txBox="1"/>
          <p:nvPr/>
        </p:nvSpPr>
        <p:spPr>
          <a:xfrm>
            <a:off x="4805955" y="3116190"/>
            <a:ext cx="1831379"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57B73"/>
                </a:solidFill>
                <a:latin typeface="DejaVu Sans"/>
                <a:ea typeface="DejaVu Sans"/>
              </a:rPr>
              <a:t>(2) KV lifecycle</a:t>
            </a:r>
          </a:p>
        </p:txBody>
      </p:sp>
      <p:sp>
        <p:nvSpPr>
          <p:cNvPr id="47" name="rect 46"/>
          <p:cNvSpPr/>
          <p:nvPr/>
        </p:nvSpPr>
        <p:spPr>
          <a:xfrm>
            <a:off x="8997450" y="3013780"/>
            <a:ext cx="3876950" cy="3694075"/>
          </a:xfrm>
          <a:prstGeom prst="roundRect">
            <a:avLst>
              <a:gd name="adj" fmla="val 594"/>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8" name="line 47"/>
          <p:cNvCxnSpPr/>
          <p:nvPr/>
        </p:nvCxnSpPr>
        <p:spPr>
          <a:xfrm>
            <a:off x="9004765" y="3021095"/>
            <a:ext cx="3862320" cy="0"/>
          </a:xfrm>
          <a:prstGeom prst="line">
            <a:avLst/>
          </a:prstGeom>
          <a:ln w="21945">
            <a:solidFill>
              <a:srgbClr val="A96F1F"/>
            </a:solidFill>
          </a:ln>
          <a:effectLst/>
        </p:spPr>
        <p:style>
          <a:lnRef idx="2">
            <a:schemeClr val="accent1"/>
          </a:lnRef>
          <a:fillRef idx="0">
            <a:schemeClr val="accent1"/>
          </a:fillRef>
          <a:effectRef idx="0">
            <a:schemeClr val="accent1"/>
          </a:effectRef>
          <a:fontRef idx="minor">
            <a:schemeClr val="tx1"/>
          </a:fontRef>
        </p:style>
      </p:cxnSp>
      <p:sp>
        <p:nvSpPr>
          <p:cNvPr id="49" name="(3) Admission + prefetch"/>
          <p:cNvSpPr txBox="1"/>
          <p:nvPr/>
        </p:nvSpPr>
        <p:spPr>
          <a:xfrm>
            <a:off x="9158380" y="3116190"/>
            <a:ext cx="2972233"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A96F1F"/>
                </a:solidFill>
                <a:latin typeface="DejaVu Sans"/>
                <a:ea typeface="DejaVu Sans"/>
              </a:rPr>
              <a:t>(3) Admission + prefetch</a:t>
            </a:r>
          </a:p>
        </p:txBody>
      </p:sp>
      <p:cxnSp>
        <p:nvCxnSpPr>
          <p:cNvPr id="50" name="path 49"/>
          <p:cNvCxnSpPr/>
          <p:nvPr/>
        </p:nvCxnSpPr>
        <p:spPr>
          <a:xfrm>
            <a:off x="2245705" y="2538305"/>
            <a:ext cx="0" cy="46816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51" name="path 50"/>
          <p:cNvSpPr/>
          <p:nvPr/>
        </p:nvSpPr>
        <p:spPr>
          <a:xfrm>
            <a:off x="6583500" y="2538305"/>
            <a:ext cx="2106720" cy="468160"/>
          </a:xfrm>
          <a:custGeom>
            <a:avLst/>
            <a:gdLst/>
            <a:ahLst/>
            <a:cxnLst/>
            <a:rect l="l" t="t" r="r" b="b"/>
            <a:pathLst>
              <a:path w="288" h="64">
                <a:moveTo>
                  <a:pt x="288" y="0"/>
                </a:moveTo>
                <a:lnTo>
                  <a:pt x="288" y="31"/>
                </a:lnTo>
                <a:lnTo>
                  <a:pt x="0" y="31"/>
                </a:lnTo>
                <a:lnTo>
                  <a:pt x="0" y="64"/>
                </a:lnTo>
              </a:path>
            </a:pathLst>
          </a:custGeom>
          <a:noFill/>
          <a:ln w="17556">
            <a:solidFill>
              <a:srgbClr val="3D6F9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path 51"/>
          <p:cNvSpPr/>
          <p:nvPr/>
        </p:nvSpPr>
        <p:spPr>
          <a:xfrm>
            <a:off x="4169550" y="2538305"/>
            <a:ext cx="7022400" cy="1338645"/>
          </a:xfrm>
          <a:custGeom>
            <a:avLst/>
            <a:gdLst/>
            <a:ahLst/>
            <a:cxnLst/>
            <a:rect l="l" t="t" r="r" b="b"/>
            <a:pathLst>
              <a:path w="960" h="183">
                <a:moveTo>
                  <a:pt x="960" y="0"/>
                </a:moveTo>
                <a:lnTo>
                  <a:pt x="960" y="36"/>
                </a:lnTo>
                <a:lnTo>
                  <a:pt x="24" y="36"/>
                </a:lnTo>
                <a:lnTo>
                  <a:pt x="24" y="183"/>
                </a:lnTo>
                <a:lnTo>
                  <a:pt x="0" y="183"/>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rect 52"/>
          <p:cNvSpPr/>
          <p:nvPr/>
        </p:nvSpPr>
        <p:spPr>
          <a:xfrm>
            <a:off x="468160" y="3606295"/>
            <a:ext cx="1302070" cy="395010"/>
          </a:xfrm>
          <a:prstGeom prst="roundRect">
            <a:avLst>
              <a:gd name="adj" fmla="val 3703"/>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RCCG"/>
          <p:cNvSpPr txBox="1"/>
          <p:nvPr/>
        </p:nvSpPr>
        <p:spPr>
          <a:xfrm>
            <a:off x="762046" y="3683249"/>
            <a:ext cx="714298" cy="268826"/>
          </a:xfrm>
          <a:prstGeom prst="rect">
            <a:avLst/>
          </a:prstGeom>
          <a:noFill/>
        </p:spPr>
        <p:txBody>
          <a:bodyPr wrap="none" lIns="0" rIns="0" tIns="0" bIns="0" anchor="t">
            <a:spAutoFit/>
          </a:bodyPr>
          <a:lstStyle/>
          <a:p>
            <a:pPr algn="ctr">
              <a:lnSpc>
                <a:spcPct val="100000"/>
              </a:lnSpc>
              <a:spcBef>
                <a:spcPts val="0"/>
              </a:spcBef>
              <a:spcAft>
                <a:spcPts val="0"/>
              </a:spcAft>
            </a:pPr>
            <a:r>
              <a:rPr sz="1612" b="1" lang="en-US" spc="0">
                <a:solidFill>
                  <a:srgbClr val="263746"/>
                </a:solidFill>
                <a:latin typeface="DejaVu Sans"/>
                <a:ea typeface="DejaVu Sans"/>
              </a:rPr>
              <a:t>RCCG</a:t>
            </a:r>
          </a:p>
        </p:txBody>
      </p:sp>
      <p:sp>
        <p:nvSpPr>
          <p:cNvPr id="55" name="rect 54"/>
          <p:cNvSpPr/>
          <p:nvPr/>
        </p:nvSpPr>
        <p:spPr>
          <a:xfrm>
            <a:off x="2194500" y="3606295"/>
            <a:ext cx="1799490" cy="395010"/>
          </a:xfrm>
          <a:prstGeom prst="roundRect">
            <a:avLst>
              <a:gd name="adj" fmla="val 3703"/>
            </a:avLst>
          </a:prstGeom>
          <a:solidFill>
            <a:srgbClr val="FBF2E3"/>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CPU predictor"/>
          <p:cNvSpPr txBox="1"/>
          <p:nvPr/>
        </p:nvSpPr>
        <p:spPr>
          <a:xfrm>
            <a:off x="2306311" y="3691076"/>
            <a:ext cx="1575868"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CPU predictor</a:t>
            </a:r>
          </a:p>
        </p:txBody>
      </p:sp>
      <p:cxnSp>
        <p:nvCxnSpPr>
          <p:cNvPr id="57" name="path 56"/>
          <p:cNvCxnSpPr/>
          <p:nvPr/>
        </p:nvCxnSpPr>
        <p:spPr>
          <a:xfrm>
            <a:off x="1777545" y="3803800"/>
            <a:ext cx="409640"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58" name="GraphDelta"/>
          <p:cNvSpPr txBox="1"/>
          <p:nvPr/>
        </p:nvSpPr>
        <p:spPr>
          <a:xfrm>
            <a:off x="475475" y="4109201"/>
            <a:ext cx="1136625"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3D6F9F"/>
                </a:solidFill>
                <a:latin typeface="DejaVu Sans"/>
                <a:ea typeface="DejaVu Sans"/>
              </a:rPr>
              <a:t>GraphDelta</a:t>
            </a:r>
          </a:p>
        </p:txBody>
      </p:sp>
      <p:sp>
        <p:nvSpPr>
          <p:cNvPr id="59" name="circle 58"/>
          <p:cNvSpPr/>
          <p:nvPr/>
        </p:nvSpPr>
        <p:spPr>
          <a:xfrm>
            <a:off x="724185" y="4571875"/>
            <a:ext cx="395010" cy="395010"/>
          </a:xfrm>
          <a:prstGeom prst="ellipse">
            <a:avLst/>
          </a:prstGeom>
          <a:solidFill>
            <a:srgbClr val="EDF3F8"/>
          </a:solidFill>
          <a:ln w="1024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P"/>
          <p:cNvSpPr txBox="1"/>
          <p:nvPr/>
        </p:nvSpPr>
        <p:spPr>
          <a:xfrm>
            <a:off x="810779" y="4663312"/>
            <a:ext cx="221822"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P</a:t>
            </a:r>
          </a:p>
        </p:txBody>
      </p:sp>
      <p:sp>
        <p:nvSpPr>
          <p:cNvPr id="61" name="circle 60"/>
          <p:cNvSpPr/>
          <p:nvPr/>
        </p:nvSpPr>
        <p:spPr>
          <a:xfrm>
            <a:off x="1623930" y="4337795"/>
            <a:ext cx="365750" cy="365750"/>
          </a:xfrm>
          <a:prstGeom prst="ellipse">
            <a:avLst/>
          </a:prstGeom>
          <a:solidFill>
            <a:srgbClr val="EAF3F1"/>
          </a:solidFill>
          <a:ln w="10241">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C1"/>
          <p:cNvSpPr txBox="1"/>
          <p:nvPr/>
        </p:nvSpPr>
        <p:spPr>
          <a:xfrm>
            <a:off x="1647875" y="4427038"/>
            <a:ext cx="317860" cy="217621"/>
          </a:xfrm>
          <a:prstGeom prst="rect">
            <a:avLst/>
          </a:prstGeom>
          <a:noFill/>
        </p:spPr>
        <p:txBody>
          <a:bodyPr wrap="none" lIns="0" rIns="0" tIns="0" bIns="0" anchor="t">
            <a:spAutoFit/>
          </a:bodyPr>
          <a:lstStyle/>
          <a:p>
            <a:pPr algn="ctr">
              <a:lnSpc>
                <a:spcPct val="100000"/>
              </a:lnSpc>
              <a:spcBef>
                <a:spcPts val="0"/>
              </a:spcBef>
              <a:spcAft>
                <a:spcPts val="0"/>
              </a:spcAft>
            </a:pPr>
            <a:r>
              <a:rPr sz="1267" b="1" lang="en-US" spc="0">
                <a:solidFill>
                  <a:srgbClr val="263746"/>
                </a:solidFill>
                <a:latin typeface="DejaVu Sans"/>
                <a:ea typeface="DejaVu Sans"/>
              </a:rPr>
              <a:t>C1</a:t>
            </a:r>
          </a:p>
        </p:txBody>
      </p:sp>
      <p:sp>
        <p:nvSpPr>
          <p:cNvPr id="63" name="circle 62"/>
          <p:cNvSpPr/>
          <p:nvPr/>
        </p:nvSpPr>
        <p:spPr>
          <a:xfrm>
            <a:off x="1623930" y="4930310"/>
            <a:ext cx="365750" cy="365750"/>
          </a:xfrm>
          <a:prstGeom prst="ellipse">
            <a:avLst/>
          </a:prstGeom>
          <a:solidFill>
            <a:srgbClr val="FBF2E3"/>
          </a:solidFill>
          <a:ln w="10241">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C2"/>
          <p:cNvSpPr txBox="1"/>
          <p:nvPr/>
        </p:nvSpPr>
        <p:spPr>
          <a:xfrm>
            <a:off x="1647875" y="5019553"/>
            <a:ext cx="317860" cy="217621"/>
          </a:xfrm>
          <a:prstGeom prst="rect">
            <a:avLst/>
          </a:prstGeom>
          <a:noFill/>
        </p:spPr>
        <p:txBody>
          <a:bodyPr wrap="none" lIns="0" rIns="0" tIns="0" bIns="0" anchor="t">
            <a:spAutoFit/>
          </a:bodyPr>
          <a:lstStyle/>
          <a:p>
            <a:pPr algn="ctr">
              <a:lnSpc>
                <a:spcPct val="100000"/>
              </a:lnSpc>
              <a:spcBef>
                <a:spcPts val="0"/>
              </a:spcBef>
              <a:spcAft>
                <a:spcPts val="0"/>
              </a:spcAft>
            </a:pPr>
            <a:r>
              <a:rPr sz="1267" b="1" lang="en-US" spc="0">
                <a:solidFill>
                  <a:srgbClr val="263746"/>
                </a:solidFill>
                <a:latin typeface="DejaVu Sans"/>
                <a:ea typeface="DejaVu Sans"/>
              </a:rPr>
              <a:t>C2</a:t>
            </a:r>
          </a:p>
        </p:txBody>
      </p:sp>
      <p:cxnSp>
        <p:nvCxnSpPr>
          <p:cNvPr id="65" name="path 64"/>
          <p:cNvCxnSpPr/>
          <p:nvPr/>
        </p:nvCxnSpPr>
        <p:spPr>
          <a:xfrm flipV="1">
            <a:off x="1126510" y="4564560"/>
            <a:ext cx="468160" cy="14630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66" name="path 65"/>
          <p:cNvCxnSpPr/>
          <p:nvPr/>
        </p:nvCxnSpPr>
        <p:spPr>
          <a:xfrm>
            <a:off x="1126510" y="4849845"/>
            <a:ext cx="468160" cy="20482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67" name="DONE"/>
          <p:cNvSpPr txBox="1"/>
          <p:nvPr/>
        </p:nvSpPr>
        <p:spPr>
          <a:xfrm>
            <a:off x="2033570" y="4421918"/>
            <a:ext cx="581943"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57B73"/>
                </a:solidFill>
                <a:latin typeface="DejaVu Sans"/>
                <a:ea typeface="DejaVu Sans"/>
              </a:rPr>
              <a:t>DONE</a:t>
            </a:r>
          </a:p>
        </p:txBody>
      </p:sp>
      <p:sp>
        <p:nvSpPr>
          <p:cNvPr id="68" name="RUN"/>
          <p:cNvSpPr txBox="1"/>
          <p:nvPr/>
        </p:nvSpPr>
        <p:spPr>
          <a:xfrm>
            <a:off x="2033570" y="5014432"/>
            <a:ext cx="453701"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A96F1F"/>
                </a:solidFill>
                <a:latin typeface="DejaVu Sans"/>
                <a:ea typeface="DejaVu Sans"/>
              </a:rPr>
              <a:t>RUN</a:t>
            </a:r>
          </a:p>
        </p:txBody>
      </p:sp>
      <p:sp>
        <p:nvSpPr>
          <p:cNvPr id="69" name="rect 68"/>
          <p:cNvSpPr/>
          <p:nvPr/>
        </p:nvSpPr>
        <p:spPr>
          <a:xfrm>
            <a:off x="2728495" y="4396315"/>
            <a:ext cx="1265495" cy="329175"/>
          </a:xfrm>
          <a:prstGeom prst="roundRect">
            <a:avLst>
              <a:gd name="adj" fmla="val 4444"/>
            </a:avLst>
          </a:prstGeom>
          <a:solidFill>
            <a:srgbClr val="FFFFFF"/>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p(final)"/>
          <p:cNvSpPr txBox="1"/>
          <p:nvPr/>
        </p:nvSpPr>
        <p:spPr>
          <a:xfrm>
            <a:off x="2942402" y="4453006"/>
            <a:ext cx="837682"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p(final)</a:t>
            </a:r>
          </a:p>
        </p:txBody>
      </p:sp>
      <p:sp>
        <p:nvSpPr>
          <p:cNvPr id="71" name="rect 70"/>
          <p:cNvSpPr/>
          <p:nvPr/>
        </p:nvSpPr>
        <p:spPr>
          <a:xfrm>
            <a:off x="2728495" y="4922995"/>
            <a:ext cx="1265495" cy="329175"/>
          </a:xfrm>
          <a:prstGeom prst="roundRect">
            <a:avLst>
              <a:gd name="adj" fmla="val 4444"/>
            </a:avLst>
          </a:prstGeom>
          <a:solidFill>
            <a:srgbClr val="FFFFFF"/>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Rlo, Rhi]"/>
          <p:cNvSpPr txBox="1"/>
          <p:nvPr/>
        </p:nvSpPr>
        <p:spPr>
          <a:xfrm>
            <a:off x="2835791" y="4979686"/>
            <a:ext cx="1050903"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[Rlo, Rhi]</a:t>
            </a:r>
          </a:p>
        </p:txBody>
      </p:sp>
      <p:sp>
        <p:nvSpPr>
          <p:cNvPr id="73" name="path 72"/>
          <p:cNvSpPr/>
          <p:nvPr/>
        </p:nvSpPr>
        <p:spPr>
          <a:xfrm>
            <a:off x="2552935" y="4001305"/>
            <a:ext cx="541310" cy="555940"/>
          </a:xfrm>
          <a:custGeom>
            <a:avLst/>
            <a:gdLst/>
            <a:ahLst/>
            <a:cxnLst/>
            <a:rect l="l" t="t" r="r" b="b"/>
            <a:pathLst>
              <a:path w="74" h="76">
                <a:moveTo>
                  <a:pt x="74" y="0"/>
                </a:moveTo>
                <a:lnTo>
                  <a:pt x="74" y="20"/>
                </a:lnTo>
                <a:lnTo>
                  <a:pt x="0" y="20"/>
                </a:lnTo>
                <a:lnTo>
                  <a:pt x="0" y="76"/>
                </a:lnTo>
                <a:lnTo>
                  <a:pt x="23" y="76"/>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path 73"/>
          <p:cNvSpPr/>
          <p:nvPr/>
        </p:nvSpPr>
        <p:spPr>
          <a:xfrm>
            <a:off x="2552935" y="4147605"/>
            <a:ext cx="168245" cy="936320"/>
          </a:xfrm>
          <a:custGeom>
            <a:avLst/>
            <a:gdLst/>
            <a:ahLst/>
            <a:cxnLst/>
            <a:rect l="l" t="t" r="r" b="b"/>
            <a:pathLst>
              <a:path w="23" h="128">
                <a:moveTo>
                  <a:pt x="0" y="0"/>
                </a:moveTo>
                <a:lnTo>
                  <a:pt x="0" y="128"/>
                </a:lnTo>
                <a:lnTo>
                  <a:pt x="23" y="128"/>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path 74"/>
          <p:cNvSpPr/>
          <p:nvPr/>
        </p:nvSpPr>
        <p:spPr>
          <a:xfrm>
            <a:off x="3050355" y="4557245"/>
            <a:ext cx="1024100" cy="1060675"/>
          </a:xfrm>
          <a:custGeom>
            <a:avLst/>
            <a:gdLst/>
            <a:ahLst/>
            <a:cxnLst/>
            <a:rect l="l" t="t" r="r" b="b"/>
            <a:pathLst>
              <a:path w="140" h="145">
                <a:moveTo>
                  <a:pt x="131" y="0"/>
                </a:moveTo>
                <a:lnTo>
                  <a:pt x="140" y="0"/>
                </a:lnTo>
                <a:lnTo>
                  <a:pt x="140" y="121"/>
                </a:lnTo>
                <a:lnTo>
                  <a:pt x="0" y="121"/>
                </a:lnTo>
                <a:lnTo>
                  <a:pt x="0" y="145"/>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6" name="path 75"/>
          <p:cNvCxnSpPr/>
          <p:nvPr/>
        </p:nvCxnSpPr>
        <p:spPr>
          <a:xfrm>
            <a:off x="1806805" y="5310690"/>
            <a:ext cx="0" cy="29991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77" name="path 76"/>
          <p:cNvSpPr/>
          <p:nvPr/>
        </p:nvSpPr>
        <p:spPr>
          <a:xfrm>
            <a:off x="3050355" y="5259485"/>
            <a:ext cx="314545" cy="351120"/>
          </a:xfrm>
          <a:custGeom>
            <a:avLst/>
            <a:gdLst/>
            <a:ahLst/>
            <a:cxnLst/>
            <a:rect l="l" t="t" r="r" b="b"/>
            <a:pathLst>
              <a:path w="43" h="48">
                <a:moveTo>
                  <a:pt x="43" y="0"/>
                </a:moveTo>
                <a:lnTo>
                  <a:pt x="43" y="34"/>
                </a:lnTo>
                <a:lnTo>
                  <a:pt x="0" y="34"/>
                </a:lnTo>
                <a:lnTo>
                  <a:pt x="0" y="48"/>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rect 77"/>
          <p:cNvSpPr/>
          <p:nvPr/>
        </p:nvSpPr>
        <p:spPr>
          <a:xfrm>
            <a:off x="468160" y="5625235"/>
            <a:ext cx="3525830" cy="475475"/>
          </a:xfrm>
          <a:prstGeom prst="roundRect">
            <a:avLst>
              <a:gd name="adj" fmla="val 3076"/>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Next: parent / tool agent"/>
          <p:cNvSpPr txBox="1"/>
          <p:nvPr/>
        </p:nvSpPr>
        <p:spPr>
          <a:xfrm>
            <a:off x="906946" y="5755076"/>
            <a:ext cx="2648259"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Next: parent / tool agent</a:t>
            </a:r>
          </a:p>
        </p:txBody>
      </p:sp>
      <p:sp>
        <p:nvSpPr>
          <p:cNvPr id="80" name="context / epoch / session"/>
          <p:cNvSpPr txBox="1"/>
          <p:nvPr/>
        </p:nvSpPr>
        <p:spPr>
          <a:xfrm>
            <a:off x="475475" y="6311016"/>
            <a:ext cx="2366660"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context / epoch / session</a:t>
            </a:r>
          </a:p>
        </p:txBody>
      </p:sp>
      <p:cxnSp>
        <p:nvCxnSpPr>
          <p:cNvPr id="81" name="path 80"/>
          <p:cNvCxnSpPr/>
          <p:nvPr/>
        </p:nvCxnSpPr>
        <p:spPr>
          <a:xfrm>
            <a:off x="4169550" y="5866630"/>
            <a:ext cx="468160"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82" name="rect 81"/>
          <p:cNvSpPr/>
          <p:nvPr/>
        </p:nvSpPr>
        <p:spPr>
          <a:xfrm>
            <a:off x="4842530" y="3591665"/>
            <a:ext cx="1302070" cy="387695"/>
          </a:xfrm>
          <a:prstGeom prst="roundRect">
            <a:avLst>
              <a:gd name="adj" fmla="val 3773"/>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HBM"/>
          <p:cNvSpPr txBox="1"/>
          <p:nvPr/>
        </p:nvSpPr>
        <p:spPr>
          <a:xfrm>
            <a:off x="5183992" y="3664961"/>
            <a:ext cx="619146" cy="268826"/>
          </a:xfrm>
          <a:prstGeom prst="rect">
            <a:avLst/>
          </a:prstGeom>
          <a:noFill/>
        </p:spPr>
        <p:txBody>
          <a:bodyPr wrap="none" lIns="0" rIns="0" tIns="0" bIns="0" anchor="t">
            <a:spAutoFit/>
          </a:bodyPr>
          <a:lstStyle/>
          <a:p>
            <a:pPr algn="ctr">
              <a:lnSpc>
                <a:spcPct val="100000"/>
              </a:lnSpc>
              <a:spcBef>
                <a:spcPts val="0"/>
              </a:spcBef>
              <a:spcAft>
                <a:spcPts val="0"/>
              </a:spcAft>
            </a:pPr>
            <a:r>
              <a:rPr sz="1612" b="1" lang="en-US" spc="0">
                <a:solidFill>
                  <a:srgbClr val="263746"/>
                </a:solidFill>
                <a:latin typeface="DejaVu Sans"/>
                <a:ea typeface="DejaVu Sans"/>
              </a:rPr>
              <a:t>HBM</a:t>
            </a:r>
          </a:p>
        </p:txBody>
      </p:sp>
      <p:sp>
        <p:nvSpPr>
          <p:cNvPr id="84" name="rect 83"/>
          <p:cNvSpPr/>
          <p:nvPr/>
        </p:nvSpPr>
        <p:spPr>
          <a:xfrm>
            <a:off x="4893735" y="4067140"/>
            <a:ext cx="329175" cy="226765"/>
          </a:xfrm>
          <a:prstGeom prst="roundRect">
            <a:avLst>
              <a:gd name="adj" fmla="val 6451"/>
            </a:avLst>
          </a:prstGeom>
          <a:solidFill>
            <a:srgbClr val="EDF3F8"/>
          </a:solidFill>
          <a:ln w="11704">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rect 84"/>
          <p:cNvSpPr/>
          <p:nvPr/>
        </p:nvSpPr>
        <p:spPr>
          <a:xfrm>
            <a:off x="5281430" y="4067140"/>
            <a:ext cx="329175" cy="226765"/>
          </a:xfrm>
          <a:prstGeom prst="roundRect">
            <a:avLst>
              <a:gd name="adj" fmla="val 6451"/>
            </a:avLst>
          </a:prstGeom>
          <a:solidFill>
            <a:srgbClr val="EDF3F8"/>
          </a:solidFill>
          <a:ln w="11704">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rect 85"/>
          <p:cNvSpPr/>
          <p:nvPr/>
        </p:nvSpPr>
        <p:spPr>
          <a:xfrm>
            <a:off x="5669125" y="4067140"/>
            <a:ext cx="329175" cy="226765"/>
          </a:xfrm>
          <a:prstGeom prst="roundRect">
            <a:avLst>
              <a:gd name="adj" fmla="val 6451"/>
            </a:avLst>
          </a:prstGeom>
          <a:solidFill>
            <a:srgbClr val="EDF3F8"/>
          </a:solidFill>
          <a:ln w="11704">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rect 86"/>
          <p:cNvSpPr/>
          <p:nvPr/>
        </p:nvSpPr>
        <p:spPr>
          <a:xfrm>
            <a:off x="7029715" y="3591665"/>
            <a:ext cx="1302070" cy="387695"/>
          </a:xfrm>
          <a:prstGeom prst="roundRect">
            <a:avLst>
              <a:gd name="adj" fmla="val 3773"/>
            </a:avLst>
          </a:prstGeom>
          <a:solidFill>
            <a:srgbClr val="EAF3F1"/>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Host"/>
          <p:cNvSpPr txBox="1"/>
          <p:nvPr/>
        </p:nvSpPr>
        <p:spPr>
          <a:xfrm>
            <a:off x="7370863" y="3664961"/>
            <a:ext cx="619775" cy="268826"/>
          </a:xfrm>
          <a:prstGeom prst="rect">
            <a:avLst/>
          </a:prstGeom>
          <a:noFill/>
        </p:spPr>
        <p:txBody>
          <a:bodyPr wrap="none" lIns="0" rIns="0" tIns="0" bIns="0" anchor="t">
            <a:spAutoFit/>
          </a:bodyPr>
          <a:lstStyle/>
          <a:p>
            <a:pPr algn="ctr">
              <a:lnSpc>
                <a:spcPct val="100000"/>
              </a:lnSpc>
              <a:spcBef>
                <a:spcPts val="0"/>
              </a:spcBef>
              <a:spcAft>
                <a:spcPts val="0"/>
              </a:spcAft>
            </a:pPr>
            <a:r>
              <a:rPr sz="1612" b="1" lang="en-US" spc="0">
                <a:solidFill>
                  <a:srgbClr val="263746"/>
                </a:solidFill>
                <a:latin typeface="DejaVu Sans"/>
                <a:ea typeface="DejaVu Sans"/>
              </a:rPr>
              <a:t>Host</a:t>
            </a:r>
          </a:p>
        </p:txBody>
      </p:sp>
      <p:sp>
        <p:nvSpPr>
          <p:cNvPr id="89" name="rect 88"/>
          <p:cNvSpPr/>
          <p:nvPr/>
        </p:nvSpPr>
        <p:spPr>
          <a:xfrm>
            <a:off x="7080920" y="4067140"/>
            <a:ext cx="329175" cy="226765"/>
          </a:xfrm>
          <a:prstGeom prst="roundRect">
            <a:avLst>
              <a:gd name="adj" fmla="val 6451"/>
            </a:avLst>
          </a:prstGeom>
          <a:solidFill>
            <a:srgbClr val="EAF3F1"/>
          </a:solidFill>
          <a:ln w="11704">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rect 89"/>
          <p:cNvSpPr/>
          <p:nvPr/>
        </p:nvSpPr>
        <p:spPr>
          <a:xfrm>
            <a:off x="7468615" y="4067140"/>
            <a:ext cx="329175" cy="226765"/>
          </a:xfrm>
          <a:prstGeom prst="roundRect">
            <a:avLst>
              <a:gd name="adj" fmla="val 6451"/>
            </a:avLst>
          </a:prstGeom>
          <a:solidFill>
            <a:srgbClr val="EAF3F1"/>
          </a:solidFill>
          <a:ln w="11704">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rect 90"/>
          <p:cNvSpPr/>
          <p:nvPr/>
        </p:nvSpPr>
        <p:spPr>
          <a:xfrm>
            <a:off x="7856310" y="4067140"/>
            <a:ext cx="329175" cy="226765"/>
          </a:xfrm>
          <a:prstGeom prst="roundRect">
            <a:avLst>
              <a:gd name="adj" fmla="val 6451"/>
            </a:avLst>
          </a:prstGeom>
          <a:solidFill>
            <a:srgbClr val="EAF3F1"/>
          </a:solidFill>
          <a:ln w="11704">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2" name="path 91"/>
          <p:cNvCxnSpPr/>
          <p:nvPr/>
        </p:nvCxnSpPr>
        <p:spPr>
          <a:xfrm>
            <a:off x="6151915" y="3701390"/>
            <a:ext cx="870485"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93" name="D2H"/>
          <p:cNvSpPr txBox="1"/>
          <p:nvPr/>
        </p:nvSpPr>
        <p:spPr>
          <a:xfrm>
            <a:off x="6217750" y="3449022"/>
            <a:ext cx="450901"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57B73"/>
                </a:solidFill>
                <a:latin typeface="DejaVu Sans"/>
                <a:ea typeface="DejaVu Sans"/>
              </a:rPr>
              <a:t>D2H</a:t>
            </a:r>
          </a:p>
        </p:txBody>
      </p:sp>
      <p:cxnSp>
        <p:nvCxnSpPr>
          <p:cNvPr id="94" name="path 93"/>
          <p:cNvCxnSpPr/>
          <p:nvPr/>
        </p:nvCxnSpPr>
        <p:spPr>
          <a:xfrm flipH="1">
            <a:off x="6159230" y="4220755"/>
            <a:ext cx="870485" cy="0"/>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95" name="H2D"/>
          <p:cNvSpPr txBox="1"/>
          <p:nvPr/>
        </p:nvSpPr>
        <p:spPr>
          <a:xfrm>
            <a:off x="6225065" y="4326822"/>
            <a:ext cx="450901"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A96F1F"/>
                </a:solidFill>
                <a:latin typeface="DejaVu Sans"/>
                <a:ea typeface="DejaVu Sans"/>
              </a:rPr>
              <a:t>H2D</a:t>
            </a:r>
          </a:p>
        </p:txBody>
      </p:sp>
      <p:sp>
        <p:nvSpPr>
          <p:cNvPr id="96" name="rect 95"/>
          <p:cNvSpPr/>
          <p:nvPr/>
        </p:nvSpPr>
        <p:spPr>
          <a:xfrm>
            <a:off x="4842530" y="4762065"/>
            <a:ext cx="950950" cy="358435"/>
          </a:xfrm>
          <a:prstGeom prst="roundRect">
            <a:avLst>
              <a:gd name="adj" fmla="val 4081"/>
            </a:avLst>
          </a:prstGeom>
          <a:solidFill>
            <a:srgbClr val="FFFFFF"/>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HBM"/>
          <p:cNvSpPr txBox="1"/>
          <p:nvPr/>
        </p:nvSpPr>
        <p:spPr>
          <a:xfrm>
            <a:off x="5065352" y="4846041"/>
            <a:ext cx="505306" cy="217621"/>
          </a:xfrm>
          <a:prstGeom prst="rect">
            <a:avLst/>
          </a:prstGeom>
          <a:noFill/>
        </p:spPr>
        <p:txBody>
          <a:bodyPr wrap="none" lIns="0" rIns="0" tIns="0" bIns="0" anchor="t">
            <a:spAutoFit/>
          </a:bodyPr>
          <a:lstStyle/>
          <a:p>
            <a:pPr algn="ctr">
              <a:lnSpc>
                <a:spcPct val="100000"/>
              </a:lnSpc>
              <a:spcBef>
                <a:spcPts val="0"/>
              </a:spcBef>
              <a:spcAft>
                <a:spcPts val="0"/>
              </a:spcAft>
            </a:pPr>
            <a:r>
              <a:rPr sz="1267" b="1" lang="en-US" spc="0">
                <a:solidFill>
                  <a:srgbClr val="263746"/>
                </a:solidFill>
                <a:latin typeface="DejaVu Sans"/>
                <a:ea typeface="DejaVu Sans"/>
              </a:rPr>
              <a:t>HBM</a:t>
            </a:r>
          </a:p>
        </p:txBody>
      </p:sp>
      <p:sp>
        <p:nvSpPr>
          <p:cNvPr id="98" name="rect 97"/>
          <p:cNvSpPr/>
          <p:nvPr/>
        </p:nvSpPr>
        <p:spPr>
          <a:xfrm>
            <a:off x="6144600" y="4762065"/>
            <a:ext cx="950950" cy="358435"/>
          </a:xfrm>
          <a:prstGeom prst="roundRect">
            <a:avLst>
              <a:gd name="adj" fmla="val 4081"/>
            </a:avLst>
          </a:prstGeom>
          <a:solidFill>
            <a:srgbClr val="FFFFFF"/>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H+Host"/>
          <p:cNvSpPr txBox="1"/>
          <p:nvPr/>
        </p:nvSpPr>
        <p:spPr>
          <a:xfrm>
            <a:off x="6232437" y="4846041"/>
            <a:ext cx="775276" cy="217621"/>
          </a:xfrm>
          <a:prstGeom prst="rect">
            <a:avLst/>
          </a:prstGeom>
          <a:noFill/>
        </p:spPr>
        <p:txBody>
          <a:bodyPr wrap="none" lIns="0" rIns="0" tIns="0" bIns="0" anchor="t">
            <a:spAutoFit/>
          </a:bodyPr>
          <a:lstStyle/>
          <a:p>
            <a:pPr algn="ctr">
              <a:lnSpc>
                <a:spcPct val="100000"/>
              </a:lnSpc>
              <a:spcBef>
                <a:spcPts val="0"/>
              </a:spcBef>
              <a:spcAft>
                <a:spcPts val="0"/>
              </a:spcAft>
            </a:pPr>
            <a:r>
              <a:rPr sz="1267" b="1" lang="en-US" spc="0">
                <a:solidFill>
                  <a:srgbClr val="263746"/>
                </a:solidFill>
                <a:latin typeface="DejaVu Sans"/>
                <a:ea typeface="DejaVu Sans"/>
              </a:rPr>
              <a:t>H+Host</a:t>
            </a:r>
          </a:p>
        </p:txBody>
      </p:sp>
      <p:sp>
        <p:nvSpPr>
          <p:cNvPr id="100" name="rect 99"/>
          <p:cNvSpPr/>
          <p:nvPr/>
        </p:nvSpPr>
        <p:spPr>
          <a:xfrm>
            <a:off x="7373520" y="4762065"/>
            <a:ext cx="950950" cy="358435"/>
          </a:xfrm>
          <a:prstGeom prst="roundRect">
            <a:avLst>
              <a:gd name="adj" fmla="val 4081"/>
            </a:avLst>
          </a:prstGeom>
          <a:solidFill>
            <a:srgbClr val="FFFFFF"/>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Host-only"/>
          <p:cNvSpPr txBox="1"/>
          <p:nvPr/>
        </p:nvSpPr>
        <p:spPr>
          <a:xfrm>
            <a:off x="7370120" y="4846041"/>
            <a:ext cx="957751" cy="217621"/>
          </a:xfrm>
          <a:prstGeom prst="rect">
            <a:avLst/>
          </a:prstGeom>
          <a:noFill/>
        </p:spPr>
        <p:txBody>
          <a:bodyPr wrap="none" lIns="0" rIns="0" tIns="0" bIns="0" anchor="t">
            <a:spAutoFit/>
          </a:bodyPr>
          <a:lstStyle/>
          <a:p>
            <a:pPr algn="ctr">
              <a:lnSpc>
                <a:spcPct val="100000"/>
              </a:lnSpc>
              <a:spcBef>
                <a:spcPts val="0"/>
              </a:spcBef>
              <a:spcAft>
                <a:spcPts val="0"/>
              </a:spcAft>
            </a:pPr>
            <a:r>
              <a:rPr sz="1267" b="1" lang="en-US" spc="0">
                <a:solidFill>
                  <a:srgbClr val="263746"/>
                </a:solidFill>
                <a:latin typeface="DejaVu Sans"/>
                <a:ea typeface="DejaVu Sans"/>
              </a:rPr>
              <a:t>Host-only</a:t>
            </a:r>
          </a:p>
        </p:txBody>
      </p:sp>
      <p:cxnSp>
        <p:nvCxnSpPr>
          <p:cNvPr id="102" name="path 101"/>
          <p:cNvCxnSpPr/>
          <p:nvPr/>
        </p:nvCxnSpPr>
        <p:spPr>
          <a:xfrm>
            <a:off x="5800795" y="4944940"/>
            <a:ext cx="329175"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03" name="path 102"/>
          <p:cNvCxnSpPr/>
          <p:nvPr/>
        </p:nvCxnSpPr>
        <p:spPr>
          <a:xfrm>
            <a:off x="7102865" y="4944940"/>
            <a:ext cx="256025"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04" name="prepare"/>
          <p:cNvSpPr txBox="1"/>
          <p:nvPr/>
        </p:nvSpPr>
        <p:spPr>
          <a:xfrm>
            <a:off x="5698385" y="4538958"/>
            <a:ext cx="713984" cy="217621"/>
          </a:xfrm>
          <a:prstGeom prst="rect">
            <a:avLst/>
          </a:prstGeom>
          <a:noFill/>
        </p:spPr>
        <p:txBody>
          <a:bodyPr wrap="none" lIns="0" rIns="0" tIns="0" bIns="0" anchor="t">
            <a:spAutoFit/>
          </a:bodyPr>
          <a:lstStyle/>
          <a:p>
            <a:pPr algn="l">
              <a:lnSpc>
                <a:spcPct val="100000"/>
              </a:lnSpc>
              <a:spcBef>
                <a:spcPts val="0"/>
              </a:spcBef>
              <a:spcAft>
                <a:spcPts val="0"/>
              </a:spcAft>
            </a:pPr>
            <a:r>
              <a:rPr sz="1267" b="0" lang="en-US" spc="0">
                <a:solidFill>
                  <a:srgbClr val="357B73"/>
                </a:solidFill>
                <a:latin typeface="DejaVu Sans"/>
                <a:ea typeface="DejaVu Sans"/>
              </a:rPr>
              <a:t>prepare</a:t>
            </a:r>
          </a:p>
        </p:txBody>
      </p:sp>
      <p:sp>
        <p:nvSpPr>
          <p:cNvPr id="105" name="pressure"/>
          <p:cNvSpPr txBox="1"/>
          <p:nvPr/>
        </p:nvSpPr>
        <p:spPr>
          <a:xfrm>
            <a:off x="7073605" y="5270458"/>
            <a:ext cx="814594"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57B73"/>
                </a:solidFill>
                <a:latin typeface="DejaVu Sans"/>
                <a:ea typeface="DejaVu Sans"/>
              </a:rPr>
              <a:t>pressure</a:t>
            </a:r>
          </a:p>
        </p:txBody>
      </p:sp>
      <p:sp>
        <p:nvSpPr>
          <p:cNvPr id="106" name="rect 105"/>
          <p:cNvSpPr/>
          <p:nvPr/>
        </p:nvSpPr>
        <p:spPr>
          <a:xfrm>
            <a:off x="4842530" y="5654495"/>
            <a:ext cx="1294755" cy="424270"/>
          </a:xfrm>
          <a:prstGeom prst="roundRect">
            <a:avLst>
              <a:gd name="adj" fmla="val 3448"/>
            </a:avLst>
          </a:prstGeom>
          <a:solidFill>
            <a:srgbClr val="EAF3F1"/>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ΔFULL"/>
          <p:cNvSpPr txBox="1"/>
          <p:nvPr/>
        </p:nvSpPr>
        <p:spPr>
          <a:xfrm>
            <a:off x="5070167" y="5741251"/>
            <a:ext cx="839482" cy="277970"/>
          </a:xfrm>
          <a:prstGeom prst="rect">
            <a:avLst/>
          </a:prstGeom>
          <a:noFill/>
        </p:spPr>
        <p:txBody>
          <a:bodyPr wrap="none" lIns="0" rIns="0" tIns="0" bIns="0" anchor="t">
            <a:spAutoFit/>
          </a:bodyPr>
          <a:lstStyle/>
          <a:p>
            <a:pPr algn="ctr">
              <a:lnSpc>
                <a:spcPct val="100000"/>
              </a:lnSpc>
              <a:spcBef>
                <a:spcPts val="0"/>
              </a:spcBef>
              <a:spcAft>
                <a:spcPts val="0"/>
              </a:spcAft>
            </a:pPr>
            <a:r>
              <a:rPr sz="1670" b="1" lang="en-US" spc="0">
                <a:solidFill>
                  <a:srgbClr val="263746"/>
                </a:solidFill>
                <a:latin typeface="DejaVu Sans"/>
                <a:ea typeface="DejaVu Sans"/>
              </a:rPr>
              <a:t>ΔFULL</a:t>
            </a:r>
          </a:p>
        </p:txBody>
      </p:sp>
      <p:sp>
        <p:nvSpPr>
          <p:cNvPr id="108" name="rect 107"/>
          <p:cNvSpPr/>
          <p:nvPr/>
        </p:nvSpPr>
        <p:spPr>
          <a:xfrm>
            <a:off x="7029715" y="5654495"/>
            <a:ext cx="1302070" cy="424270"/>
          </a:xfrm>
          <a:prstGeom prst="roundRect">
            <a:avLst>
              <a:gd name="adj" fmla="val 3448"/>
            </a:avLst>
          </a:prstGeom>
          <a:solidFill>
            <a:srgbClr val="FBF2E3"/>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s*"/>
          <p:cNvSpPr txBox="1"/>
          <p:nvPr/>
        </p:nvSpPr>
        <p:spPr>
          <a:xfrm>
            <a:off x="7510076" y="5731595"/>
            <a:ext cx="341348" cy="296258"/>
          </a:xfrm>
          <a:prstGeom prst="rect">
            <a:avLst/>
          </a:prstGeom>
          <a:noFill/>
        </p:spPr>
        <p:txBody>
          <a:bodyPr wrap="none" lIns="0" rIns="0" tIns="0" bIns="0" anchor="t">
            <a:spAutoFit/>
          </a:bodyPr>
          <a:lstStyle/>
          <a:p>
            <a:pPr algn="ctr">
              <a:lnSpc>
                <a:spcPct val="100000"/>
              </a:lnSpc>
              <a:spcBef>
                <a:spcPts val="0"/>
              </a:spcBef>
              <a:spcAft>
                <a:spcPts val="0"/>
              </a:spcAft>
            </a:pPr>
            <a:r>
              <a:rPr sz="1785" b="1" lang="en-US" spc="0">
                <a:solidFill>
                  <a:srgbClr val="263746"/>
                </a:solidFill>
                <a:latin typeface="DejaVu Sans"/>
                <a:ea typeface="DejaVu Sans"/>
              </a:rPr>
              <a:t>s*</a:t>
            </a:r>
          </a:p>
        </p:txBody>
      </p:sp>
      <p:sp>
        <p:nvSpPr>
          <p:cNvPr id="110" name="circle 109"/>
          <p:cNvSpPr/>
          <p:nvPr/>
        </p:nvSpPr>
        <p:spPr>
          <a:xfrm>
            <a:off x="6422570" y="5705700"/>
            <a:ext cx="321860" cy="321860"/>
          </a:xfrm>
          <a:prstGeom prst="ellipse">
            <a:avLst/>
          </a:prstGeom>
          <a:solidFill>
            <a:srgbClr val="FFFFFF"/>
          </a:solidFill>
          <a:ln w="13167">
            <a:solidFill>
              <a:srgbClr val="26374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
          <p:cNvSpPr txBox="1"/>
          <p:nvPr/>
        </p:nvSpPr>
        <p:spPr>
          <a:xfrm>
            <a:off x="6444601" y="5720330"/>
            <a:ext cx="277799" cy="296258"/>
          </a:xfrm>
          <a:prstGeom prst="rect">
            <a:avLst/>
          </a:prstGeom>
          <a:noFill/>
        </p:spPr>
        <p:txBody>
          <a:bodyPr wrap="none" lIns="0" rIns="0" tIns="0" bIns="0" anchor="t">
            <a:spAutoFit/>
          </a:bodyPr>
          <a:lstStyle/>
          <a:p>
            <a:pPr algn="ctr">
              <a:lnSpc>
                <a:spcPct val="100000"/>
              </a:lnSpc>
              <a:spcBef>
                <a:spcPts val="0"/>
              </a:spcBef>
              <a:spcAft>
                <a:spcPts val="0"/>
              </a:spcAft>
            </a:pPr>
            <a:r>
              <a:rPr sz="1785" b="1" lang="en-US" spc="0">
                <a:solidFill>
                  <a:srgbClr val="263746"/>
                </a:solidFill>
                <a:latin typeface="DejaVu Sans"/>
                <a:ea typeface="DejaVu Sans"/>
              </a:rPr>
              <a:t>+</a:t>
            </a:r>
          </a:p>
        </p:txBody>
      </p:sp>
      <p:cxnSp>
        <p:nvCxnSpPr>
          <p:cNvPr id="112" name="path 111"/>
          <p:cNvCxnSpPr/>
          <p:nvPr/>
        </p:nvCxnSpPr>
        <p:spPr>
          <a:xfrm>
            <a:off x="6144600" y="5866630"/>
            <a:ext cx="256025"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13" name="path 112"/>
          <p:cNvCxnSpPr/>
          <p:nvPr/>
        </p:nvCxnSpPr>
        <p:spPr>
          <a:xfrm flipH="1">
            <a:off x="6766375" y="5866630"/>
            <a:ext cx="256025" cy="0"/>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14" name="path 113"/>
          <p:cNvCxnSpPr/>
          <p:nvPr/>
        </p:nvCxnSpPr>
        <p:spPr>
          <a:xfrm>
            <a:off x="6583500" y="6034875"/>
            <a:ext cx="0" cy="241395"/>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15" name="rect 114"/>
          <p:cNvSpPr/>
          <p:nvPr/>
        </p:nvSpPr>
        <p:spPr>
          <a:xfrm>
            <a:off x="5954410" y="6290900"/>
            <a:ext cx="1353275" cy="285285"/>
          </a:xfrm>
          <a:prstGeom prst="roundRect">
            <a:avLst>
              <a:gd name="adj" fmla="val 5128"/>
            </a:avLst>
          </a:prstGeom>
          <a:solidFill>
            <a:srgbClr val="EAF3F1"/>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Restore"/>
          <p:cNvSpPr txBox="1"/>
          <p:nvPr/>
        </p:nvSpPr>
        <p:spPr>
          <a:xfrm>
            <a:off x="6202691" y="6328645"/>
            <a:ext cx="856712"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lang="en-US" spc="0">
                <a:solidFill>
                  <a:srgbClr val="263746"/>
                </a:solidFill>
                <a:latin typeface="DejaVu Sans"/>
                <a:ea typeface="DejaVu Sans"/>
              </a:rPr>
              <a:t>Restore</a:t>
            </a:r>
          </a:p>
        </p:txBody>
      </p:sp>
      <p:sp>
        <p:nvSpPr>
          <p:cNvPr id="117" name="FULL"/>
          <p:cNvSpPr txBox="1"/>
          <p:nvPr/>
        </p:nvSpPr>
        <p:spPr>
          <a:xfrm>
            <a:off x="4871790" y="6215921"/>
            <a:ext cx="530595"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357B73"/>
                </a:solidFill>
                <a:latin typeface="DejaVu Sans"/>
                <a:ea typeface="DejaVu Sans"/>
              </a:rPr>
              <a:t>FULL</a:t>
            </a:r>
          </a:p>
        </p:txBody>
      </p:sp>
      <p:sp>
        <p:nvSpPr>
          <p:cNvPr id="118" name="Mamba"/>
          <p:cNvSpPr txBox="1"/>
          <p:nvPr/>
        </p:nvSpPr>
        <p:spPr>
          <a:xfrm>
            <a:off x="7578340" y="6215921"/>
            <a:ext cx="763932"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A96F1F"/>
                </a:solidFill>
                <a:latin typeface="DejaVu Sans"/>
                <a:ea typeface="DejaVu Sans"/>
              </a:rPr>
              <a:t>Mamba</a:t>
            </a:r>
          </a:p>
        </p:txBody>
      </p:sp>
      <p:sp>
        <p:nvSpPr>
          <p:cNvPr id="119" name="path 118"/>
          <p:cNvSpPr/>
          <p:nvPr/>
        </p:nvSpPr>
        <p:spPr>
          <a:xfrm>
            <a:off x="7315000" y="5881260"/>
            <a:ext cx="1843380" cy="548625"/>
          </a:xfrm>
          <a:custGeom>
            <a:avLst/>
            <a:gdLst/>
            <a:ahLst/>
            <a:cxnLst/>
            <a:rect l="l" t="t" r="r" b="b"/>
            <a:pathLst>
              <a:path w="252" h="75">
                <a:moveTo>
                  <a:pt x="0" y="75"/>
                </a:moveTo>
                <a:lnTo>
                  <a:pt x="175" y="75"/>
                </a:lnTo>
                <a:lnTo>
                  <a:pt x="175" y="0"/>
                </a:lnTo>
                <a:lnTo>
                  <a:pt x="252" y="0"/>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Native waiting queue"/>
          <p:cNvSpPr txBox="1"/>
          <p:nvPr/>
        </p:nvSpPr>
        <p:spPr>
          <a:xfrm>
            <a:off x="9173010" y="3458166"/>
            <a:ext cx="2036027"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Native waiting queue</a:t>
            </a:r>
          </a:p>
        </p:txBody>
      </p:sp>
      <p:sp>
        <p:nvSpPr>
          <p:cNvPr id="121" name="rect 120"/>
          <p:cNvSpPr/>
          <p:nvPr/>
        </p:nvSpPr>
        <p:spPr>
          <a:xfrm>
            <a:off x="9173010" y="3781855"/>
            <a:ext cx="1016785" cy="380380"/>
          </a:xfrm>
          <a:prstGeom prst="roundRect">
            <a:avLst>
              <a:gd name="adj" fmla="val 3846"/>
            </a:avLst>
          </a:prstGeom>
          <a:solidFill>
            <a:srgbClr val="FFFFFF"/>
          </a:solidFill>
          <a:ln w="9509">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r1"/>
          <p:cNvSpPr txBox="1"/>
          <p:nvPr/>
        </p:nvSpPr>
        <p:spPr>
          <a:xfrm>
            <a:off x="9515743" y="3851494"/>
            <a:ext cx="331318" cy="268826"/>
          </a:xfrm>
          <a:prstGeom prst="rect">
            <a:avLst/>
          </a:prstGeom>
          <a:noFill/>
        </p:spPr>
        <p:txBody>
          <a:bodyPr wrap="none" lIns="0" rIns="0" tIns="0" bIns="0" anchor="t">
            <a:spAutoFit/>
          </a:bodyPr>
          <a:lstStyle/>
          <a:p>
            <a:pPr algn="ctr">
              <a:lnSpc>
                <a:spcPct val="100000"/>
              </a:lnSpc>
              <a:spcBef>
                <a:spcPts val="0"/>
              </a:spcBef>
              <a:spcAft>
                <a:spcPts val="0"/>
              </a:spcAft>
            </a:pPr>
            <a:r>
              <a:rPr sz="1612" b="1" lang="en-US" spc="0">
                <a:solidFill>
                  <a:srgbClr val="263746"/>
                </a:solidFill>
                <a:latin typeface="DejaVu Sans"/>
                <a:ea typeface="DejaVu Sans"/>
              </a:rPr>
              <a:t>r1</a:t>
            </a:r>
          </a:p>
        </p:txBody>
      </p:sp>
      <p:sp>
        <p:nvSpPr>
          <p:cNvPr id="123" name="rect 122"/>
          <p:cNvSpPr/>
          <p:nvPr/>
        </p:nvSpPr>
        <p:spPr>
          <a:xfrm>
            <a:off x="10328780" y="3781855"/>
            <a:ext cx="1016785" cy="380380"/>
          </a:xfrm>
          <a:prstGeom prst="roundRect">
            <a:avLst>
              <a:gd name="adj" fmla="val 3846"/>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r2"/>
          <p:cNvSpPr txBox="1"/>
          <p:nvPr/>
        </p:nvSpPr>
        <p:spPr>
          <a:xfrm>
            <a:off x="10671513" y="3851494"/>
            <a:ext cx="331318" cy="268826"/>
          </a:xfrm>
          <a:prstGeom prst="rect">
            <a:avLst/>
          </a:prstGeom>
          <a:noFill/>
        </p:spPr>
        <p:txBody>
          <a:bodyPr wrap="none" lIns="0" rIns="0" tIns="0" bIns="0" anchor="t">
            <a:spAutoFit/>
          </a:bodyPr>
          <a:lstStyle/>
          <a:p>
            <a:pPr algn="ctr">
              <a:lnSpc>
                <a:spcPct val="100000"/>
              </a:lnSpc>
              <a:spcBef>
                <a:spcPts val="0"/>
              </a:spcBef>
              <a:spcAft>
                <a:spcPts val="0"/>
              </a:spcAft>
            </a:pPr>
            <a:r>
              <a:rPr sz="1612" b="1" lang="en-US" spc="0">
                <a:solidFill>
                  <a:srgbClr val="263746"/>
                </a:solidFill>
                <a:latin typeface="DejaVu Sans"/>
                <a:ea typeface="DejaVu Sans"/>
              </a:rPr>
              <a:t>r2</a:t>
            </a:r>
          </a:p>
        </p:txBody>
      </p:sp>
      <p:sp>
        <p:nvSpPr>
          <p:cNvPr id="125" name="rect 124"/>
          <p:cNvSpPr/>
          <p:nvPr/>
        </p:nvSpPr>
        <p:spPr>
          <a:xfrm>
            <a:off x="11484550" y="3781855"/>
            <a:ext cx="1016785" cy="380380"/>
          </a:xfrm>
          <a:prstGeom prst="roundRect">
            <a:avLst>
              <a:gd name="adj" fmla="val 3846"/>
            </a:avLst>
          </a:prstGeom>
          <a:solidFill>
            <a:srgbClr val="FFFFFF"/>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r3"/>
          <p:cNvSpPr txBox="1"/>
          <p:nvPr/>
        </p:nvSpPr>
        <p:spPr>
          <a:xfrm>
            <a:off x="11827283" y="3851494"/>
            <a:ext cx="331318" cy="268826"/>
          </a:xfrm>
          <a:prstGeom prst="rect">
            <a:avLst/>
          </a:prstGeom>
          <a:noFill/>
        </p:spPr>
        <p:txBody>
          <a:bodyPr wrap="none" lIns="0" rIns="0" tIns="0" bIns="0" anchor="t">
            <a:spAutoFit/>
          </a:bodyPr>
          <a:lstStyle/>
          <a:p>
            <a:pPr algn="ctr">
              <a:lnSpc>
                <a:spcPct val="100000"/>
              </a:lnSpc>
              <a:spcBef>
                <a:spcPts val="0"/>
              </a:spcBef>
              <a:spcAft>
                <a:spcPts val="0"/>
              </a:spcAft>
            </a:pPr>
            <a:r>
              <a:rPr sz="1612" b="1" lang="en-US" spc="0">
                <a:solidFill>
                  <a:srgbClr val="263746"/>
                </a:solidFill>
                <a:latin typeface="DejaVu Sans"/>
                <a:ea typeface="DejaVu Sans"/>
              </a:rPr>
              <a:t>r3</a:t>
            </a:r>
          </a:p>
        </p:txBody>
      </p:sp>
      <p:sp>
        <p:nvSpPr>
          <p:cNvPr id="127" name="aging"/>
          <p:cNvSpPr txBox="1"/>
          <p:nvPr/>
        </p:nvSpPr>
        <p:spPr>
          <a:xfrm>
            <a:off x="9173010" y="4268302"/>
            <a:ext cx="557883"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89959D"/>
                </a:solidFill>
                <a:latin typeface="DejaVu Sans"/>
                <a:ea typeface="DejaVu Sans"/>
              </a:rPr>
              <a:t>aging</a:t>
            </a:r>
          </a:p>
        </p:txBody>
      </p:sp>
      <p:sp>
        <p:nvSpPr>
          <p:cNvPr id="128" name="HBM hit"/>
          <p:cNvSpPr txBox="1"/>
          <p:nvPr/>
        </p:nvSpPr>
        <p:spPr>
          <a:xfrm>
            <a:off x="10328780" y="4268302"/>
            <a:ext cx="747730"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D6F9F"/>
                </a:solidFill>
                <a:latin typeface="DejaVu Sans"/>
                <a:ea typeface="DejaVu Sans"/>
              </a:rPr>
              <a:t>HBM hit</a:t>
            </a:r>
          </a:p>
        </p:txBody>
      </p:sp>
      <p:sp>
        <p:nvSpPr>
          <p:cNvPr id="129" name="restored"/>
          <p:cNvSpPr txBox="1"/>
          <p:nvPr/>
        </p:nvSpPr>
        <p:spPr>
          <a:xfrm>
            <a:off x="11484550" y="4268302"/>
            <a:ext cx="789191"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57B73"/>
                </a:solidFill>
                <a:latin typeface="DejaVu Sans"/>
                <a:ea typeface="DejaVu Sans"/>
              </a:rPr>
              <a:t>restored</a:t>
            </a:r>
          </a:p>
        </p:txBody>
      </p:sp>
      <p:cxnSp>
        <p:nvCxnSpPr>
          <p:cNvPr id="130" name="line 129"/>
          <p:cNvCxnSpPr/>
          <p:nvPr/>
        </p:nvCxnSpPr>
        <p:spPr>
          <a:xfrm>
            <a:off x="9677745" y="4169550"/>
            <a:ext cx="0" cy="51205"/>
          </a:xfrm>
          <a:prstGeom prst="line">
            <a:avLst/>
          </a:prstGeom>
          <a:ln w="14630">
            <a:solidFill>
              <a:srgbClr val="89959D"/>
            </a:solidFill>
          </a:ln>
          <a:effectLst/>
        </p:spPr>
        <p:style>
          <a:lnRef idx="2">
            <a:schemeClr val="accent1"/>
          </a:lnRef>
          <a:fillRef idx="0">
            <a:schemeClr val="accent1"/>
          </a:fillRef>
          <a:effectRef idx="0">
            <a:schemeClr val="accent1"/>
          </a:effectRef>
          <a:fontRef idx="minor">
            <a:schemeClr val="tx1"/>
          </a:fontRef>
        </p:style>
      </p:cxnSp>
      <p:cxnSp>
        <p:nvCxnSpPr>
          <p:cNvPr id="131" name="line 130"/>
          <p:cNvCxnSpPr/>
          <p:nvPr/>
        </p:nvCxnSpPr>
        <p:spPr>
          <a:xfrm>
            <a:off x="10833515" y="4169550"/>
            <a:ext cx="0" cy="51205"/>
          </a:xfrm>
          <a:prstGeom prst="line">
            <a:avLst/>
          </a:prstGeom>
          <a:ln w="14630">
            <a:solidFill>
              <a:srgbClr val="3D6F9F"/>
            </a:solidFill>
          </a:ln>
          <a:effectLst/>
        </p:spPr>
        <p:style>
          <a:lnRef idx="2">
            <a:schemeClr val="accent1"/>
          </a:lnRef>
          <a:fillRef idx="0">
            <a:schemeClr val="accent1"/>
          </a:fillRef>
          <a:effectRef idx="0">
            <a:schemeClr val="accent1"/>
          </a:effectRef>
          <a:fontRef idx="minor">
            <a:schemeClr val="tx1"/>
          </a:fontRef>
        </p:style>
      </p:cxnSp>
      <p:cxnSp>
        <p:nvCxnSpPr>
          <p:cNvPr id="132" name="line 131"/>
          <p:cNvCxnSpPr/>
          <p:nvPr/>
        </p:nvCxnSpPr>
        <p:spPr>
          <a:xfrm>
            <a:off x="11989285" y="4169550"/>
            <a:ext cx="0" cy="51205"/>
          </a:xfrm>
          <a:prstGeom prst="line">
            <a:avLst/>
          </a:prstGeom>
          <a:ln w="14630">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133" name="path 132"/>
          <p:cNvSpPr/>
          <p:nvPr/>
        </p:nvSpPr>
        <p:spPr>
          <a:xfrm>
            <a:off x="11213895" y="4520670"/>
            <a:ext cx="775390" cy="285285"/>
          </a:xfrm>
          <a:custGeom>
            <a:avLst/>
            <a:gdLst/>
            <a:ahLst/>
            <a:cxnLst/>
            <a:rect l="l" t="t" r="r" b="b"/>
            <a:pathLst>
              <a:path w="106" h="39">
                <a:moveTo>
                  <a:pt x="106" y="0"/>
                </a:moveTo>
                <a:lnTo>
                  <a:pt x="106" y="39"/>
                </a:lnTo>
                <a:lnTo>
                  <a:pt x="0" y="39"/>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34" name="path 133"/>
          <p:cNvCxnSpPr/>
          <p:nvPr/>
        </p:nvCxnSpPr>
        <p:spPr>
          <a:xfrm>
            <a:off x="10833515" y="4520670"/>
            <a:ext cx="0" cy="17556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35" name="path 134"/>
          <p:cNvSpPr/>
          <p:nvPr/>
        </p:nvSpPr>
        <p:spPr>
          <a:xfrm>
            <a:off x="9677745" y="4520670"/>
            <a:ext cx="768075" cy="285285"/>
          </a:xfrm>
          <a:custGeom>
            <a:avLst/>
            <a:gdLst/>
            <a:ahLst/>
            <a:cxnLst/>
            <a:rect l="l" t="t" r="r" b="b"/>
            <a:pathLst>
              <a:path w="105" h="39">
                <a:moveTo>
                  <a:pt x="0" y="0"/>
                </a:moveTo>
                <a:lnTo>
                  <a:pt x="0" y="39"/>
                </a:lnTo>
                <a:lnTo>
                  <a:pt x="105" y="39"/>
                </a:lnTo>
              </a:path>
            </a:pathLst>
          </a:custGeom>
          <a:noFill/>
          <a:ln w="17556">
            <a:solidFill>
              <a:srgbClr val="89959D"/>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polygon 135"/>
          <p:cNvSpPr/>
          <p:nvPr/>
        </p:nvSpPr>
        <p:spPr>
          <a:xfrm>
            <a:off x="10270260" y="4710860"/>
            <a:ext cx="1126510" cy="629090"/>
          </a:xfrm>
          <a:custGeom>
            <a:avLst/>
            <a:gdLst/>
            <a:ahLst/>
            <a:cxnLst/>
            <a:rect l="l" t="t" r="r" b="b"/>
            <a:pathLst>
              <a:path w="154" h="86">
                <a:moveTo>
                  <a:pt x="77" y="0"/>
                </a:moveTo>
                <a:lnTo>
                  <a:pt x="154" y="43"/>
                </a:lnTo>
                <a:lnTo>
                  <a:pt x="77" y="86"/>
                </a:lnTo>
                <a:lnTo>
                  <a:pt x="0" y="43"/>
                </a:lnTo>
                <a:close/>
              </a:path>
            </a:pathLst>
          </a:cu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rank"/>
          <p:cNvSpPr txBox="1"/>
          <p:nvPr/>
        </p:nvSpPr>
        <p:spPr>
          <a:xfrm>
            <a:off x="10538300" y="4906536"/>
            <a:ext cx="590429"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357B73"/>
                </a:solidFill>
                <a:latin typeface="DejaVu Sans"/>
                <a:ea typeface="DejaVu Sans"/>
              </a:rPr>
              <a:t>rank</a:t>
            </a:r>
          </a:p>
        </p:txBody>
      </p:sp>
      <p:sp>
        <p:nvSpPr>
          <p:cNvPr id="138" name="path 137"/>
          <p:cNvSpPr/>
          <p:nvPr/>
        </p:nvSpPr>
        <p:spPr>
          <a:xfrm>
            <a:off x="10833515" y="5347265"/>
            <a:ext cx="80465" cy="343805"/>
          </a:xfrm>
          <a:custGeom>
            <a:avLst/>
            <a:gdLst/>
            <a:ahLst/>
            <a:cxnLst/>
            <a:rect l="l" t="t" r="r" b="b"/>
            <a:pathLst>
              <a:path w="11" h="47">
                <a:moveTo>
                  <a:pt x="0" y="0"/>
                </a:moveTo>
                <a:lnTo>
                  <a:pt x="0" y="26"/>
                </a:lnTo>
                <a:lnTo>
                  <a:pt x="11" y="26"/>
                </a:lnTo>
                <a:lnTo>
                  <a:pt x="11" y="47"/>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rect 138"/>
          <p:cNvSpPr/>
          <p:nvPr/>
        </p:nvSpPr>
        <p:spPr>
          <a:xfrm>
            <a:off x="9173010" y="5654495"/>
            <a:ext cx="1470315" cy="424270"/>
          </a:xfrm>
          <a:prstGeom prst="roundRect">
            <a:avLst>
              <a:gd name="adj" fmla="val 3448"/>
            </a:avLst>
          </a:prstGeom>
          <a:solidFill>
            <a:srgbClr val="EAF3F1"/>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KV ready"/>
          <p:cNvSpPr txBox="1"/>
          <p:nvPr/>
        </p:nvSpPr>
        <p:spPr>
          <a:xfrm>
            <a:off x="9396960" y="5758734"/>
            <a:ext cx="1022414"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KV ready</a:t>
            </a:r>
          </a:p>
        </p:txBody>
      </p:sp>
      <p:sp>
        <p:nvSpPr>
          <p:cNvPr id="141" name="rect 140"/>
          <p:cNvSpPr/>
          <p:nvPr/>
        </p:nvSpPr>
        <p:spPr>
          <a:xfrm>
            <a:off x="11221210" y="5654495"/>
            <a:ext cx="1470315" cy="424270"/>
          </a:xfrm>
          <a:prstGeom prst="roundRect">
            <a:avLst>
              <a:gd name="adj" fmla="val 3448"/>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2" name="slot"/>
          <p:cNvSpPr txBox="1"/>
          <p:nvPr/>
        </p:nvSpPr>
        <p:spPr>
          <a:xfrm>
            <a:off x="11720187" y="5758734"/>
            <a:ext cx="472360"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slot</a:t>
            </a:r>
          </a:p>
        </p:txBody>
      </p:sp>
      <p:cxnSp>
        <p:nvCxnSpPr>
          <p:cNvPr id="143" name="path 142"/>
          <p:cNvCxnSpPr/>
          <p:nvPr/>
        </p:nvCxnSpPr>
        <p:spPr>
          <a:xfrm>
            <a:off x="10650640" y="5866630"/>
            <a:ext cx="102410"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44" name="path 143"/>
          <p:cNvCxnSpPr/>
          <p:nvPr/>
        </p:nvCxnSpPr>
        <p:spPr>
          <a:xfrm flipH="1">
            <a:off x="11060280" y="5866630"/>
            <a:ext cx="160930"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45" name="circle 144"/>
          <p:cNvSpPr/>
          <p:nvPr/>
        </p:nvSpPr>
        <p:spPr>
          <a:xfrm>
            <a:off x="10753050" y="5705700"/>
            <a:ext cx="321860" cy="321860"/>
          </a:xfrm>
          <a:prstGeom prst="ellipse">
            <a:avLst/>
          </a:prstGeom>
          <a:solidFill>
            <a:srgbClr val="FFFFFF"/>
          </a:solidFill>
          <a:ln w="13167">
            <a:solidFill>
              <a:srgbClr val="26374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amp;"/>
          <p:cNvSpPr txBox="1"/>
          <p:nvPr/>
        </p:nvSpPr>
        <p:spPr>
          <a:xfrm>
            <a:off x="10777595" y="5734960"/>
            <a:ext cx="272769" cy="277970"/>
          </a:xfrm>
          <a:prstGeom prst="rect">
            <a:avLst/>
          </a:prstGeom>
          <a:noFill/>
        </p:spPr>
        <p:txBody>
          <a:bodyPr wrap="none" lIns="0" rIns="0" tIns="0" bIns="0" anchor="t">
            <a:spAutoFit/>
          </a:bodyPr>
          <a:lstStyle/>
          <a:p>
            <a:pPr algn="ctr">
              <a:lnSpc>
                <a:spcPct val="100000"/>
              </a:lnSpc>
              <a:spcBef>
                <a:spcPts val="0"/>
              </a:spcBef>
              <a:spcAft>
                <a:spcPts val="0"/>
              </a:spcAft>
            </a:pPr>
            <a:r>
              <a:rPr sz="1670" b="1" lang="en-US" spc="0">
                <a:solidFill>
                  <a:srgbClr val="263746"/>
                </a:solidFill>
                <a:latin typeface="DejaVu Sans"/>
                <a:ea typeface="DejaVu Sans"/>
              </a:rPr>
              <a:t>&amp;</a:t>
            </a:r>
          </a:p>
        </p:txBody>
      </p:sp>
      <p:cxnSp>
        <p:nvCxnSpPr>
          <p:cNvPr id="147" name="path 146"/>
          <p:cNvCxnSpPr/>
          <p:nvPr/>
        </p:nvCxnSpPr>
        <p:spPr>
          <a:xfrm>
            <a:off x="10913980" y="6034875"/>
            <a:ext cx="0" cy="24139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48" name="rect 147"/>
          <p:cNvSpPr/>
          <p:nvPr/>
        </p:nvSpPr>
        <p:spPr>
          <a:xfrm>
            <a:off x="9955715" y="6290900"/>
            <a:ext cx="1916530" cy="285285"/>
          </a:xfrm>
          <a:prstGeom prst="roundRect">
            <a:avLst>
              <a:gd name="adj" fmla="val 5128"/>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Native admission"/>
          <p:cNvSpPr txBox="1"/>
          <p:nvPr/>
        </p:nvSpPr>
        <p:spPr>
          <a:xfrm>
            <a:off x="10017021" y="6328645"/>
            <a:ext cx="1793918"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lang="en-US" spc="0">
                <a:solidFill>
                  <a:srgbClr val="263746"/>
                </a:solidFill>
                <a:latin typeface="DejaVu Sans"/>
                <a:ea typeface="DejaVu Sans"/>
              </a:rPr>
              <a:t>Native admission</a:t>
            </a:r>
          </a:p>
        </p:txBody>
      </p:sp>
      <p:sp>
        <p:nvSpPr>
          <p:cNvPr id="150" name="rect 149"/>
          <p:cNvSpPr/>
          <p:nvPr/>
        </p:nvSpPr>
        <p:spPr>
          <a:xfrm>
            <a:off x="292600" y="7190645"/>
            <a:ext cx="12581800" cy="1104565"/>
          </a:xfrm>
          <a:prstGeom prst="roundRect">
            <a:avLst>
              <a:gd name="adj" fmla="val 1986"/>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1" name="line 150"/>
          <p:cNvCxnSpPr/>
          <p:nvPr/>
        </p:nvCxnSpPr>
        <p:spPr>
          <a:xfrm>
            <a:off x="299915" y="7197960"/>
            <a:ext cx="12567170" cy="0"/>
          </a:xfrm>
          <a:prstGeom prst="line">
            <a:avLst/>
          </a:prstGeom>
          <a:ln w="21945">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152" name="(b) Native SGLang"/>
          <p:cNvSpPr txBox="1"/>
          <p:nvPr/>
        </p:nvSpPr>
        <p:spPr>
          <a:xfrm>
            <a:off x="453530" y="7293055"/>
            <a:ext cx="2191300"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D6F9F"/>
                </a:solidFill>
                <a:latin typeface="DejaVu Sans"/>
                <a:ea typeface="DejaVu Sans"/>
              </a:rPr>
              <a:t>(b) Native SGLang</a:t>
            </a:r>
          </a:p>
        </p:txBody>
      </p:sp>
      <p:sp>
        <p:nvSpPr>
          <p:cNvPr id="153" name="rect 152"/>
          <p:cNvSpPr/>
          <p:nvPr/>
        </p:nvSpPr>
        <p:spPr>
          <a:xfrm>
            <a:off x="468160" y="7680750"/>
            <a:ext cx="2194500" cy="424270"/>
          </a:xfrm>
          <a:prstGeom prst="roundRect">
            <a:avLst>
              <a:gd name="adj" fmla="val 3448"/>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4" name="UnifiedRadixCache"/>
          <p:cNvSpPr txBox="1"/>
          <p:nvPr/>
        </p:nvSpPr>
        <p:spPr>
          <a:xfrm>
            <a:off x="518965" y="7780161"/>
            <a:ext cx="2092890"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UnifiedRadixCache</a:t>
            </a:r>
          </a:p>
        </p:txBody>
      </p:sp>
      <p:sp>
        <p:nvSpPr>
          <p:cNvPr id="155" name="rect 154"/>
          <p:cNvSpPr/>
          <p:nvPr/>
        </p:nvSpPr>
        <p:spPr>
          <a:xfrm>
            <a:off x="3138135" y="7680750"/>
            <a:ext cx="1843380" cy="424270"/>
          </a:xfrm>
          <a:prstGeom prst="roundRect">
            <a:avLst>
              <a:gd name="adj" fmla="val 3448"/>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6" name="HiCache / DMA"/>
          <p:cNvSpPr txBox="1"/>
          <p:nvPr/>
        </p:nvSpPr>
        <p:spPr>
          <a:xfrm>
            <a:off x="3233087" y="7780161"/>
            <a:ext cx="1653476"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HiCache / DMA</a:t>
            </a:r>
          </a:p>
        </p:txBody>
      </p:sp>
      <p:sp>
        <p:nvSpPr>
          <p:cNvPr id="157" name="rect 156"/>
          <p:cNvSpPr/>
          <p:nvPr/>
        </p:nvSpPr>
        <p:spPr>
          <a:xfrm>
            <a:off x="5456990" y="7680750"/>
            <a:ext cx="2187185" cy="424270"/>
          </a:xfrm>
          <a:prstGeom prst="roundRect">
            <a:avLst>
              <a:gd name="adj" fmla="val 3448"/>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8" name="FULL / Mamba"/>
          <p:cNvSpPr txBox="1"/>
          <p:nvPr/>
        </p:nvSpPr>
        <p:spPr>
          <a:xfrm>
            <a:off x="5752219" y="7780161"/>
            <a:ext cx="1596727"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FULL / Mamba</a:t>
            </a:r>
          </a:p>
        </p:txBody>
      </p:sp>
      <p:sp>
        <p:nvSpPr>
          <p:cNvPr id="159" name="rect 158"/>
          <p:cNvSpPr/>
          <p:nvPr/>
        </p:nvSpPr>
        <p:spPr>
          <a:xfrm>
            <a:off x="8119650" y="7680750"/>
            <a:ext cx="2011625" cy="424270"/>
          </a:xfrm>
          <a:prstGeom prst="roundRect">
            <a:avLst>
              <a:gd name="adj" fmla="val 3448"/>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PrefillAdder"/>
          <p:cNvSpPr txBox="1"/>
          <p:nvPr/>
        </p:nvSpPr>
        <p:spPr>
          <a:xfrm>
            <a:off x="8443639" y="7780161"/>
            <a:ext cx="1363647"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PrefillAdder</a:t>
            </a:r>
          </a:p>
        </p:txBody>
      </p:sp>
      <p:sp>
        <p:nvSpPr>
          <p:cNvPr id="161" name="rect 160"/>
          <p:cNvSpPr/>
          <p:nvPr/>
        </p:nvSpPr>
        <p:spPr>
          <a:xfrm>
            <a:off x="10606750" y="7680750"/>
            <a:ext cx="2084775" cy="424270"/>
          </a:xfrm>
          <a:prstGeom prst="roundRect">
            <a:avLst>
              <a:gd name="adj" fmla="val 3448"/>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GPU batch"/>
          <p:cNvSpPr txBox="1"/>
          <p:nvPr/>
        </p:nvSpPr>
        <p:spPr>
          <a:xfrm>
            <a:off x="11045379" y="7780161"/>
            <a:ext cx="1207518"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GPU batch</a:t>
            </a:r>
          </a:p>
        </p:txBody>
      </p:sp>
      <p:cxnSp>
        <p:nvCxnSpPr>
          <p:cNvPr id="163" name="path 162"/>
          <p:cNvCxnSpPr/>
          <p:nvPr/>
        </p:nvCxnSpPr>
        <p:spPr>
          <a:xfrm>
            <a:off x="2669975" y="7892885"/>
            <a:ext cx="460845"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64" name="path 163"/>
          <p:cNvCxnSpPr/>
          <p:nvPr/>
        </p:nvCxnSpPr>
        <p:spPr>
          <a:xfrm>
            <a:off x="4988830" y="7892885"/>
            <a:ext cx="460845"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65" name="path 164"/>
          <p:cNvCxnSpPr/>
          <p:nvPr/>
        </p:nvCxnSpPr>
        <p:spPr>
          <a:xfrm>
            <a:off x="7651490" y="7892885"/>
            <a:ext cx="460845"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66" name="path 165"/>
          <p:cNvCxnSpPr/>
          <p:nvPr/>
        </p:nvCxnSpPr>
        <p:spPr>
          <a:xfrm>
            <a:off x="10138590" y="7892885"/>
            <a:ext cx="460845"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67" name="path 166"/>
          <p:cNvCxnSpPr/>
          <p:nvPr/>
        </p:nvCxnSpPr>
        <p:spPr>
          <a:xfrm>
            <a:off x="6583500" y="6707855"/>
            <a:ext cx="0" cy="475475"/>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68" name="path 167"/>
          <p:cNvCxnSpPr/>
          <p:nvPr/>
        </p:nvCxnSpPr>
        <p:spPr>
          <a:xfrm>
            <a:off x="10913980" y="6707855"/>
            <a:ext cx="0" cy="475475"/>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69" name="path 168"/>
          <p:cNvSpPr/>
          <p:nvPr/>
        </p:nvSpPr>
        <p:spPr>
          <a:xfrm>
            <a:off x="146300" y="5164390"/>
            <a:ext cx="11499180" cy="3299065"/>
          </a:xfrm>
          <a:custGeom>
            <a:avLst/>
            <a:gdLst/>
            <a:ahLst/>
            <a:cxnLst/>
            <a:rect l="l" t="t" r="r" b="b"/>
            <a:pathLst>
              <a:path w="1572" h="451">
                <a:moveTo>
                  <a:pt x="1572" y="428"/>
                </a:moveTo>
                <a:lnTo>
                  <a:pt x="1572" y="451"/>
                </a:lnTo>
                <a:lnTo>
                  <a:pt x="0" y="451"/>
                </a:lnTo>
                <a:lnTo>
                  <a:pt x="0" y="0"/>
                </a:lnTo>
                <a:lnTo>
                  <a:pt x="19" y="0"/>
                </a:lnTo>
              </a:path>
            </a:pathLst>
          </a:custGeom>
          <a:noFill/>
          <a:ln w="17556">
            <a:solidFill>
              <a:srgbClr val="3D6F9F"/>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0" name="ACK / service progress / first reuse"/>
          <p:cNvSpPr txBox="1"/>
          <p:nvPr/>
        </p:nvSpPr>
        <p:spPr>
          <a:xfrm>
            <a:off x="4535300" y="8525632"/>
            <a:ext cx="3112504"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3D6F9F"/>
                </a:solidFill>
                <a:latin typeface="DejaVu Sans"/>
                <a:ea typeface="DejaVu Sans"/>
              </a:rPr>
              <a:t>ACK / service progress / first reuse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redicting the Next Execution Demand"/>
          <p:cNvSpPr txBox="1"/>
          <p:nvPr/>
        </p:nvSpPr>
        <p:spPr>
          <a:xfrm>
            <a:off x="292600" y="128012"/>
            <a:ext cx="5851686" cy="336490"/>
          </a:xfrm>
          <a:prstGeom prst="rect">
            <a:avLst/>
          </a:prstGeom>
          <a:noFill/>
        </p:spPr>
        <p:txBody>
          <a:bodyPr wrap="none" lIns="0" rIns="0" tIns="0" bIns="0" anchor="t">
            <a:spAutoFit/>
          </a:bodyPr>
          <a:lstStyle/>
          <a:p>
            <a:pPr algn="l">
              <a:lnSpc>
                <a:spcPct val="100000"/>
              </a:lnSpc>
              <a:spcBef>
                <a:spcPts val="0"/>
              </a:spcBef>
              <a:spcAft>
                <a:spcPts val="0"/>
              </a:spcAft>
            </a:pPr>
            <a:r>
              <a:rPr sz="2073" b="1" lang="en-US" spc="0">
                <a:solidFill>
                  <a:srgbClr val="263746"/>
                </a:solidFill>
                <a:latin typeface="DejaVu Sans"/>
                <a:ea typeface="DejaVu Sans"/>
              </a:rPr>
              <a:t>Predicting the Next Execution Demand</a:t>
            </a:r>
          </a:p>
        </p:txBody>
      </p:sp>
      <p:sp>
        <p:nvSpPr>
          <p:cNvPr id="3" name="Text + events + progress → stage / work → JOIN or tool reentry"/>
          <p:cNvSpPr txBox="1"/>
          <p:nvPr/>
        </p:nvSpPr>
        <p:spPr>
          <a:xfrm>
            <a:off x="292600" y="473646"/>
            <a:ext cx="5832827"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Text + events + progress → stage / work → JOIN or tool reentry</a:t>
            </a:r>
          </a:p>
        </p:txBody>
      </p:sp>
      <p:cxnSp>
        <p:nvCxnSpPr>
          <p:cNvPr id="4" name="line 3"/>
          <p:cNvCxnSpPr/>
          <p:nvPr/>
        </p:nvCxnSpPr>
        <p:spPr>
          <a:xfrm>
            <a:off x="292600" y="768075"/>
            <a:ext cx="12581800" cy="0"/>
          </a:xfrm>
          <a:prstGeom prst="line">
            <a:avLst/>
          </a:prstGeom>
          <a:ln w="9509">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5" name="rect 4"/>
          <p:cNvSpPr/>
          <p:nvPr/>
        </p:nvSpPr>
        <p:spPr>
          <a:xfrm>
            <a:off x="292600" y="965580"/>
            <a:ext cx="8339100" cy="2999150"/>
          </a:xfrm>
          <a:prstGeom prst="roundRect">
            <a:avLst>
              <a:gd name="adj" fmla="val 731"/>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 name="line 5"/>
          <p:cNvCxnSpPr/>
          <p:nvPr/>
        </p:nvCxnSpPr>
        <p:spPr>
          <a:xfrm>
            <a:off x="299915" y="972895"/>
            <a:ext cx="8324470" cy="0"/>
          </a:xfrm>
          <a:prstGeom prst="line">
            <a:avLst/>
          </a:prstGeom>
          <a:ln w="21945">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7" name="(a) Async child model"/>
          <p:cNvSpPr txBox="1"/>
          <p:nvPr/>
        </p:nvSpPr>
        <p:spPr>
          <a:xfrm>
            <a:off x="453530" y="1067990"/>
            <a:ext cx="2572537"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D6F9F"/>
                </a:solidFill>
                <a:latin typeface="DejaVu Sans"/>
                <a:ea typeface="DejaVu Sans"/>
              </a:rPr>
              <a:t>(a) Async child model</a:t>
            </a:r>
          </a:p>
        </p:txBody>
      </p:sp>
      <p:sp>
        <p:nvSpPr>
          <p:cNvPr id="8" name="text[−k:]"/>
          <p:cNvSpPr txBox="1"/>
          <p:nvPr/>
        </p:nvSpPr>
        <p:spPr>
          <a:xfrm>
            <a:off x="482790" y="1336816"/>
            <a:ext cx="1094307" cy="261511"/>
          </a:xfrm>
          <a:prstGeom prst="rect">
            <a:avLst/>
          </a:prstGeom>
          <a:noFill/>
        </p:spPr>
        <p:txBody>
          <a:bodyPr wrap="none" lIns="0" rIns="0" tIns="0" bIns="0" anchor="t">
            <a:spAutoFit/>
          </a:bodyPr>
          <a:lstStyle/>
          <a:p>
            <a:pPr algn="l">
              <a:lnSpc>
                <a:spcPct val="100000"/>
              </a:lnSpc>
              <a:spcBef>
                <a:spcPts val="0"/>
              </a:spcBef>
              <a:spcAft>
                <a:spcPts val="0"/>
              </a:spcAft>
            </a:pPr>
            <a:r>
              <a:rPr sz="1555" b="1" lang="en-US" spc="0">
                <a:solidFill>
                  <a:srgbClr val="3D6F9F"/>
                </a:solidFill>
                <a:latin typeface="DejaVu Sans"/>
                <a:ea typeface="DejaVu Sans"/>
              </a:rPr>
              <a:t>text[−k:]</a:t>
            </a:r>
          </a:p>
        </p:txBody>
      </p:sp>
      <p:sp>
        <p:nvSpPr>
          <p:cNvPr id="9" name="rect 8"/>
          <p:cNvSpPr/>
          <p:nvPr/>
        </p:nvSpPr>
        <p:spPr>
          <a:xfrm>
            <a:off x="482790" y="1689765"/>
            <a:ext cx="1192345" cy="709555"/>
          </a:xfrm>
          <a:prstGeom prst="roundRect">
            <a:avLst>
              <a:gd name="adj" fmla="val 2061"/>
            </a:avLst>
          </a:prstGeom>
          <a:solidFill>
            <a:srgbClr val="FFFFFF"/>
          </a:solidFill>
          <a:ln w="12435">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0" name="line 9"/>
          <p:cNvCxnSpPr/>
          <p:nvPr/>
        </p:nvCxnSpPr>
        <p:spPr>
          <a:xfrm>
            <a:off x="577885" y="1843380"/>
            <a:ext cx="958265" cy="0"/>
          </a:xfrm>
          <a:prstGeom prst="line">
            <a:avLst/>
          </a:prstGeom>
          <a:ln w="14630">
            <a:solidFill>
              <a:srgbClr val="3D6F9F"/>
            </a:solidFill>
          </a:ln>
          <a:effectLst/>
        </p:spPr>
        <p:style>
          <a:lnRef idx="2">
            <a:schemeClr val="accent1"/>
          </a:lnRef>
          <a:fillRef idx="0">
            <a:schemeClr val="accent1"/>
          </a:fillRef>
          <a:effectRef idx="0">
            <a:schemeClr val="accent1"/>
          </a:effectRef>
          <a:fontRef idx="minor">
            <a:schemeClr val="tx1"/>
          </a:fontRef>
        </p:style>
      </p:cxnSp>
      <p:cxnSp>
        <p:nvCxnSpPr>
          <p:cNvPr id="11" name="line 10"/>
          <p:cNvCxnSpPr/>
          <p:nvPr/>
        </p:nvCxnSpPr>
        <p:spPr>
          <a:xfrm>
            <a:off x="577885" y="1967735"/>
            <a:ext cx="833910" cy="0"/>
          </a:xfrm>
          <a:prstGeom prst="line">
            <a:avLst/>
          </a:prstGeom>
          <a:ln w="14630">
            <a:solidFill>
              <a:srgbClr val="3D6F9F"/>
            </a:solidFill>
          </a:ln>
          <a:effectLst/>
        </p:spPr>
        <p:style>
          <a:lnRef idx="2">
            <a:schemeClr val="accent1"/>
          </a:lnRef>
          <a:fillRef idx="0">
            <a:schemeClr val="accent1"/>
          </a:fillRef>
          <a:effectRef idx="0">
            <a:schemeClr val="accent1"/>
          </a:effectRef>
          <a:fontRef idx="minor">
            <a:schemeClr val="tx1"/>
          </a:fontRef>
        </p:style>
      </p:cxnSp>
      <p:cxnSp>
        <p:nvCxnSpPr>
          <p:cNvPr id="12" name="line 11"/>
          <p:cNvCxnSpPr/>
          <p:nvPr/>
        </p:nvCxnSpPr>
        <p:spPr>
          <a:xfrm>
            <a:off x="577885" y="2092090"/>
            <a:ext cx="1009470" cy="0"/>
          </a:xfrm>
          <a:prstGeom prst="line">
            <a:avLst/>
          </a:prstGeom>
          <a:ln w="14630">
            <a:solidFill>
              <a:srgbClr val="3D6F9F"/>
            </a:solidFill>
          </a:ln>
          <a:effectLst/>
        </p:spPr>
        <p:style>
          <a:lnRef idx="2">
            <a:schemeClr val="accent1"/>
          </a:lnRef>
          <a:fillRef idx="0">
            <a:schemeClr val="accent1"/>
          </a:fillRef>
          <a:effectRef idx="0">
            <a:schemeClr val="accent1"/>
          </a:effectRef>
          <a:fontRef idx="minor">
            <a:schemeClr val="tx1"/>
          </a:fontRef>
        </p:style>
      </p:cxnSp>
      <p:cxnSp>
        <p:nvCxnSpPr>
          <p:cNvPr id="13" name="line 12"/>
          <p:cNvCxnSpPr/>
          <p:nvPr/>
        </p:nvCxnSpPr>
        <p:spPr>
          <a:xfrm>
            <a:off x="577885" y="2216445"/>
            <a:ext cx="651035" cy="0"/>
          </a:xfrm>
          <a:prstGeom prst="line">
            <a:avLst/>
          </a:prstGeom>
          <a:ln w="14630">
            <a:solidFill>
              <a:srgbClr val="3D6F9F"/>
            </a:solidFill>
          </a:ln>
          <a:effectLst/>
        </p:spPr>
        <p:style>
          <a:lnRef idx="2">
            <a:schemeClr val="accent1"/>
          </a:lnRef>
          <a:fillRef idx="0">
            <a:schemeClr val="accent1"/>
          </a:fillRef>
          <a:effectRef idx="0">
            <a:schemeClr val="accent1"/>
          </a:effectRef>
          <a:fontRef idx="minor">
            <a:schemeClr val="tx1"/>
          </a:fontRef>
        </p:style>
      </p:cxnSp>
      <p:cxnSp>
        <p:nvCxnSpPr>
          <p:cNvPr id="14" name="path 13"/>
          <p:cNvCxnSpPr/>
          <p:nvPr/>
        </p:nvCxnSpPr>
        <p:spPr>
          <a:xfrm>
            <a:off x="1682450" y="2033570"/>
            <a:ext cx="365750"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5" name="rect 14"/>
          <p:cNvSpPr/>
          <p:nvPr/>
        </p:nvSpPr>
        <p:spPr>
          <a:xfrm>
            <a:off x="2062830" y="1784860"/>
            <a:ext cx="1689765" cy="490105"/>
          </a:xfrm>
          <a:prstGeom prst="roundRect">
            <a:avLst>
              <a:gd name="adj" fmla="val 2985"/>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 encoder"/>
          <p:cNvSpPr txBox="1"/>
          <p:nvPr/>
        </p:nvSpPr>
        <p:spPr>
          <a:xfrm>
            <a:off x="2147281" y="1912360"/>
            <a:ext cx="1520863"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Text encoder</a:t>
            </a:r>
          </a:p>
        </p:txBody>
      </p:sp>
      <p:sp>
        <p:nvSpPr>
          <p:cNvPr id="17" name="path 16"/>
          <p:cNvSpPr/>
          <p:nvPr/>
        </p:nvSpPr>
        <p:spPr>
          <a:xfrm>
            <a:off x="3452680" y="1433740"/>
            <a:ext cx="87780" cy="65835"/>
          </a:xfrm>
          <a:custGeom>
            <a:avLst/>
            <a:gdLst/>
            <a:ahLst/>
            <a:cxnLst/>
            <a:rect l="l" t="t" r="r" b="b"/>
            <a:pathLst>
              <a:path w="12" h="9">
                <a:moveTo>
                  <a:pt x="0" y="9"/>
                </a:moveTo>
                <a:lnTo>
                  <a:pt x="0" y="0"/>
                </a:lnTo>
                <a:lnTo>
                  <a:pt x="12" y="0"/>
                </a:lnTo>
                <a:lnTo>
                  <a:pt x="12" y="9"/>
                </a:lnTo>
              </a:path>
            </a:pathLst>
          </a:custGeom>
          <a:noFill/>
          <a:ln w="14630">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 17"/>
          <p:cNvSpPr/>
          <p:nvPr/>
        </p:nvSpPr>
        <p:spPr>
          <a:xfrm>
            <a:off x="3423420" y="1499941"/>
            <a:ext cx="149226" cy="124355"/>
          </a:xfrm>
          <a:prstGeom prst="roundRect">
            <a:avLst>
              <a:gd name="adj" fmla="val 11764"/>
            </a:avLst>
          </a:prstGeom>
          <a:solidFill>
            <a:srgbClr val="FFFFFF"/>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circle 18"/>
          <p:cNvSpPr/>
          <p:nvPr/>
        </p:nvSpPr>
        <p:spPr>
          <a:xfrm>
            <a:off x="3485598" y="1537247"/>
            <a:ext cx="24871" cy="24871"/>
          </a:xfrm>
          <a:prstGeom prst="ellipse">
            <a:avLst/>
          </a:prstGeom>
          <a:solidFill>
            <a:srgbClr val="3D6F9F"/>
          </a:solidFill>
          <a:ln w="7315">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0" name="path 19"/>
          <p:cNvCxnSpPr/>
          <p:nvPr/>
        </p:nvCxnSpPr>
        <p:spPr>
          <a:xfrm>
            <a:off x="3759910" y="2033570"/>
            <a:ext cx="314545"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1" name="rect 20"/>
          <p:cNvSpPr/>
          <p:nvPr/>
        </p:nvSpPr>
        <p:spPr>
          <a:xfrm>
            <a:off x="4125660" y="1923845"/>
            <a:ext cx="73150" cy="314545"/>
          </a:xfrm>
          <a:prstGeom prst="rect">
            <a:avLst/>
          </a:prstGeom>
          <a:solidFill>
            <a:srgbClr val="FBF2E3"/>
          </a:solidFill>
          <a:ln w="10241">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 21"/>
          <p:cNvSpPr/>
          <p:nvPr/>
        </p:nvSpPr>
        <p:spPr>
          <a:xfrm>
            <a:off x="4235385" y="1748285"/>
            <a:ext cx="73150" cy="490105"/>
          </a:xfrm>
          <a:prstGeom prst="rect">
            <a:avLst/>
          </a:prstGeom>
          <a:solidFill>
            <a:srgbClr val="FBF2E3"/>
          </a:solidFill>
          <a:ln w="10241">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 22"/>
          <p:cNvSpPr/>
          <p:nvPr/>
        </p:nvSpPr>
        <p:spPr>
          <a:xfrm>
            <a:off x="4345110" y="2004310"/>
            <a:ext cx="73150" cy="234080"/>
          </a:xfrm>
          <a:prstGeom prst="rect">
            <a:avLst/>
          </a:prstGeom>
          <a:solidFill>
            <a:srgbClr val="FBF2E3"/>
          </a:solidFill>
          <a:ln w="10241">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 23"/>
          <p:cNvSpPr/>
          <p:nvPr/>
        </p:nvSpPr>
        <p:spPr>
          <a:xfrm>
            <a:off x="4454835" y="1850695"/>
            <a:ext cx="73150" cy="387695"/>
          </a:xfrm>
          <a:prstGeom prst="rect">
            <a:avLst/>
          </a:prstGeom>
          <a:solidFill>
            <a:srgbClr val="FBF2E3"/>
          </a:solidFill>
          <a:ln w="10241">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ect 24"/>
          <p:cNvSpPr/>
          <p:nvPr/>
        </p:nvSpPr>
        <p:spPr>
          <a:xfrm>
            <a:off x="4564560" y="1697080"/>
            <a:ext cx="73150" cy="541310"/>
          </a:xfrm>
          <a:prstGeom prst="rect">
            <a:avLst/>
          </a:prstGeom>
          <a:solidFill>
            <a:srgbClr val="FBF2E3"/>
          </a:solidFill>
          <a:ln w="10241">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z(t)"/>
          <p:cNvSpPr txBox="1"/>
          <p:nvPr/>
        </p:nvSpPr>
        <p:spPr>
          <a:xfrm>
            <a:off x="4184809" y="2353601"/>
            <a:ext cx="423013" cy="261511"/>
          </a:xfrm>
          <a:prstGeom prst="rect">
            <a:avLst/>
          </a:prstGeom>
          <a:noFill/>
        </p:spPr>
        <p:txBody>
          <a:bodyPr wrap="none" lIns="0" rIns="0" tIns="0" bIns="0" anchor="t">
            <a:spAutoFit/>
          </a:bodyPr>
          <a:lstStyle/>
          <a:p>
            <a:pPr algn="ctr">
              <a:lnSpc>
                <a:spcPct val="100000"/>
              </a:lnSpc>
              <a:spcBef>
                <a:spcPts val="0"/>
              </a:spcBef>
              <a:spcAft>
                <a:spcPts val="0"/>
              </a:spcAft>
            </a:pPr>
            <a:r>
              <a:rPr sz="1555" b="0" lang="en-US" spc="0">
                <a:solidFill>
                  <a:srgbClr val="A96F1F"/>
                </a:solidFill>
                <a:latin typeface="DejaVu Sans"/>
                <a:ea typeface="DejaVu Sans"/>
              </a:rPr>
              <a:t>z(t)</a:t>
            </a:r>
          </a:p>
        </p:txBody>
      </p:sp>
      <p:sp>
        <p:nvSpPr>
          <p:cNvPr id="27" name="rect 26"/>
          <p:cNvSpPr/>
          <p:nvPr/>
        </p:nvSpPr>
        <p:spPr>
          <a:xfrm>
            <a:off x="482790" y="2926000"/>
            <a:ext cx="1404480" cy="409640"/>
          </a:xfrm>
          <a:prstGeom prst="roundRect">
            <a:avLst>
              <a:gd name="adj" fmla="val 3571"/>
            </a:avLst>
          </a:prstGeom>
          <a:solidFill>
            <a:srgbClr val="FBF2E3"/>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Notice"/>
          <p:cNvSpPr txBox="1"/>
          <p:nvPr/>
        </p:nvSpPr>
        <p:spPr>
          <a:xfrm>
            <a:off x="784077" y="3013268"/>
            <a:ext cx="801907"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Notice</a:t>
            </a:r>
          </a:p>
        </p:txBody>
      </p:sp>
      <p:sp>
        <p:nvSpPr>
          <p:cNvPr id="29" name="rect 28"/>
          <p:cNvSpPr/>
          <p:nvPr/>
        </p:nvSpPr>
        <p:spPr>
          <a:xfrm>
            <a:off x="2143295" y="2926000"/>
            <a:ext cx="1653190" cy="409640"/>
          </a:xfrm>
          <a:prstGeom prst="roundRect">
            <a:avLst>
              <a:gd name="adj" fmla="val 3571"/>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N(t), structure"/>
          <p:cNvSpPr txBox="1"/>
          <p:nvPr/>
        </p:nvSpPr>
        <p:spPr>
          <a:xfrm>
            <a:off x="2177213" y="3022924"/>
            <a:ext cx="1585355"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N(t), structure</a:t>
            </a:r>
          </a:p>
        </p:txBody>
      </p:sp>
      <p:sp>
        <p:nvSpPr>
          <p:cNvPr id="31" name="circle 30"/>
          <p:cNvSpPr/>
          <p:nvPr/>
        </p:nvSpPr>
        <p:spPr>
          <a:xfrm>
            <a:off x="4798640" y="2040885"/>
            <a:ext cx="351120" cy="351120"/>
          </a:xfrm>
          <a:prstGeom prst="ellipse">
            <a:avLst/>
          </a:prstGeom>
          <a:solidFill>
            <a:srgbClr val="FFFFFF"/>
          </a:solidFill>
          <a:ln w="13167">
            <a:solidFill>
              <a:srgbClr val="26374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
          <p:cNvSpPr txBox="1"/>
          <p:nvPr/>
        </p:nvSpPr>
        <p:spPr>
          <a:xfrm>
            <a:off x="4832243" y="2071974"/>
            <a:ext cx="283913" cy="303572"/>
          </a:xfrm>
          <a:prstGeom prst="rect">
            <a:avLst/>
          </a:prstGeom>
          <a:noFill/>
        </p:spPr>
        <p:txBody>
          <a:bodyPr wrap="none" lIns="0" rIns="0" tIns="0" bIns="0" anchor="t">
            <a:spAutoFit/>
          </a:bodyPr>
          <a:lstStyle/>
          <a:p>
            <a:pPr algn="ctr">
              <a:lnSpc>
                <a:spcPct val="100000"/>
              </a:lnSpc>
              <a:spcBef>
                <a:spcPts val="0"/>
              </a:spcBef>
              <a:spcAft>
                <a:spcPts val="0"/>
              </a:spcAft>
            </a:pPr>
            <a:r>
              <a:rPr sz="1843" b="1" lang="en-US" spc="0">
                <a:solidFill>
                  <a:srgbClr val="263746"/>
                </a:solidFill>
                <a:latin typeface="DejaVu Sans"/>
                <a:ea typeface="DejaVu Sans"/>
              </a:rPr>
              <a:t>+</a:t>
            </a:r>
          </a:p>
        </p:txBody>
      </p:sp>
      <p:sp>
        <p:nvSpPr>
          <p:cNvPr id="33" name="path 32"/>
          <p:cNvSpPr/>
          <p:nvPr/>
        </p:nvSpPr>
        <p:spPr>
          <a:xfrm>
            <a:off x="4681600" y="2033570"/>
            <a:ext cx="182875" cy="51205"/>
          </a:xfrm>
          <a:custGeom>
            <a:avLst/>
            <a:gdLst/>
            <a:ahLst/>
            <a:cxnLst/>
            <a:rect l="l" t="t" r="r" b="b"/>
            <a:pathLst>
              <a:path w="25" h="7">
                <a:moveTo>
                  <a:pt x="0" y="0"/>
                </a:moveTo>
                <a:lnTo>
                  <a:pt x="14" y="0"/>
                </a:lnTo>
                <a:lnTo>
                  <a:pt x="25" y="7"/>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path 33"/>
          <p:cNvCxnSpPr/>
          <p:nvPr/>
        </p:nvCxnSpPr>
        <p:spPr>
          <a:xfrm>
            <a:off x="1901900" y="3130820"/>
            <a:ext cx="146300" cy="0"/>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5" name="path 34"/>
          <p:cNvSpPr/>
          <p:nvPr/>
        </p:nvSpPr>
        <p:spPr>
          <a:xfrm>
            <a:off x="3803800" y="2413950"/>
            <a:ext cx="1170400" cy="716870"/>
          </a:xfrm>
          <a:custGeom>
            <a:avLst/>
            <a:gdLst/>
            <a:ahLst/>
            <a:cxnLst/>
            <a:rect l="l" t="t" r="r" b="b"/>
            <a:pathLst>
              <a:path w="160" h="98">
                <a:moveTo>
                  <a:pt x="0" y="98"/>
                </a:moveTo>
                <a:lnTo>
                  <a:pt x="160" y="98"/>
                </a:lnTo>
                <a:lnTo>
                  <a:pt x="160" y="0"/>
                </a:lnTo>
              </a:path>
            </a:pathLst>
          </a:custGeom>
          <a:noFill/>
          <a:ln w="17556">
            <a:solidFill>
              <a:srgbClr val="3D6F9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path 35"/>
          <p:cNvSpPr/>
          <p:nvPr/>
        </p:nvSpPr>
        <p:spPr>
          <a:xfrm>
            <a:off x="5171705" y="1762915"/>
            <a:ext cx="292600" cy="453530"/>
          </a:xfrm>
          <a:custGeom>
            <a:avLst/>
            <a:gdLst/>
            <a:ahLst/>
            <a:cxnLst/>
            <a:rect l="l" t="t" r="r" b="b"/>
            <a:pathLst>
              <a:path w="40" h="62">
                <a:moveTo>
                  <a:pt x="0" y="62"/>
                </a:moveTo>
                <a:lnTo>
                  <a:pt x="18" y="62"/>
                </a:lnTo>
                <a:lnTo>
                  <a:pt x="18" y="0"/>
                </a:lnTo>
                <a:lnTo>
                  <a:pt x="40" y="0"/>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path 36"/>
          <p:cNvSpPr/>
          <p:nvPr/>
        </p:nvSpPr>
        <p:spPr>
          <a:xfrm>
            <a:off x="5303375" y="2216445"/>
            <a:ext cx="160930" cy="665665"/>
          </a:xfrm>
          <a:custGeom>
            <a:avLst/>
            <a:gdLst/>
            <a:ahLst/>
            <a:cxnLst/>
            <a:rect l="l" t="t" r="r" b="b"/>
            <a:pathLst>
              <a:path w="22" h="91">
                <a:moveTo>
                  <a:pt x="0" y="0"/>
                </a:moveTo>
                <a:lnTo>
                  <a:pt x="0" y="91"/>
                </a:lnTo>
                <a:lnTo>
                  <a:pt x="22" y="91"/>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rect 37"/>
          <p:cNvSpPr/>
          <p:nvPr/>
        </p:nvSpPr>
        <p:spPr>
          <a:xfrm>
            <a:off x="5478935" y="1550780"/>
            <a:ext cx="1397165" cy="431585"/>
          </a:xfrm>
          <a:prstGeom prst="roundRect">
            <a:avLst>
              <a:gd name="adj" fmla="val 3389"/>
            </a:avLst>
          </a:prstGeom>
          <a:solidFill>
            <a:srgbClr val="FBF2E3"/>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Phase"/>
          <p:cNvSpPr txBox="1"/>
          <p:nvPr/>
        </p:nvSpPr>
        <p:spPr>
          <a:xfrm>
            <a:off x="5773735" y="1641193"/>
            <a:ext cx="807565" cy="277970"/>
          </a:xfrm>
          <a:prstGeom prst="rect">
            <a:avLst/>
          </a:prstGeom>
          <a:noFill/>
        </p:spPr>
        <p:txBody>
          <a:bodyPr wrap="none" lIns="0" rIns="0" tIns="0" bIns="0" anchor="t">
            <a:spAutoFit/>
          </a:bodyPr>
          <a:lstStyle/>
          <a:p>
            <a:pPr algn="ctr">
              <a:lnSpc>
                <a:spcPct val="100000"/>
              </a:lnSpc>
              <a:spcBef>
                <a:spcPts val="0"/>
              </a:spcBef>
              <a:spcAft>
                <a:spcPts val="0"/>
              </a:spcAft>
            </a:pPr>
            <a:r>
              <a:rPr sz="1670" b="1" lang="en-US" spc="0">
                <a:solidFill>
                  <a:srgbClr val="263746"/>
                </a:solidFill>
                <a:latin typeface="DejaVu Sans"/>
                <a:ea typeface="DejaVu Sans"/>
              </a:rPr>
              <a:t>Phase</a:t>
            </a:r>
          </a:p>
        </p:txBody>
      </p:sp>
      <p:sp>
        <p:nvSpPr>
          <p:cNvPr id="40" name="rect 39"/>
          <p:cNvSpPr/>
          <p:nvPr/>
        </p:nvSpPr>
        <p:spPr>
          <a:xfrm>
            <a:off x="5478935" y="2669975"/>
            <a:ext cx="1397165" cy="431585"/>
          </a:xfrm>
          <a:prstGeom prst="roundRect">
            <a:avLst>
              <a:gd name="adj" fmla="val 3389"/>
            </a:avLst>
          </a:prstGeom>
          <a:solidFill>
            <a:srgbClr val="FBF2E3"/>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Work"/>
          <p:cNvSpPr txBox="1"/>
          <p:nvPr/>
        </p:nvSpPr>
        <p:spPr>
          <a:xfrm>
            <a:off x="5824712" y="2760388"/>
            <a:ext cx="705612" cy="277970"/>
          </a:xfrm>
          <a:prstGeom prst="rect">
            <a:avLst/>
          </a:prstGeom>
          <a:noFill/>
        </p:spPr>
        <p:txBody>
          <a:bodyPr wrap="none" lIns="0" rIns="0" tIns="0" bIns="0" anchor="t">
            <a:spAutoFit/>
          </a:bodyPr>
          <a:lstStyle/>
          <a:p>
            <a:pPr algn="ctr">
              <a:lnSpc>
                <a:spcPct val="100000"/>
              </a:lnSpc>
              <a:spcBef>
                <a:spcPts val="0"/>
              </a:spcBef>
              <a:spcAft>
                <a:spcPts val="0"/>
              </a:spcAft>
            </a:pPr>
            <a:r>
              <a:rPr sz="1670" b="1" lang="en-US" spc="0">
                <a:solidFill>
                  <a:srgbClr val="263746"/>
                </a:solidFill>
                <a:latin typeface="DejaVu Sans"/>
                <a:ea typeface="DejaVu Sans"/>
              </a:rPr>
              <a:t>Work</a:t>
            </a:r>
          </a:p>
        </p:txBody>
      </p:sp>
      <p:cxnSp>
        <p:nvCxnSpPr>
          <p:cNvPr id="42" name="path 41"/>
          <p:cNvCxnSpPr/>
          <p:nvPr/>
        </p:nvCxnSpPr>
        <p:spPr>
          <a:xfrm>
            <a:off x="6883415" y="1762915"/>
            <a:ext cx="263340" cy="0"/>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43" name="path 42"/>
          <p:cNvCxnSpPr/>
          <p:nvPr/>
        </p:nvCxnSpPr>
        <p:spPr>
          <a:xfrm>
            <a:off x="6883415" y="2882110"/>
            <a:ext cx="263340" cy="0"/>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44" name="rect 43"/>
          <p:cNvSpPr/>
          <p:nvPr/>
        </p:nvSpPr>
        <p:spPr>
          <a:xfrm>
            <a:off x="7271110" y="1982365"/>
            <a:ext cx="234080" cy="160930"/>
          </a:xfrm>
          <a:prstGeom prst="rect">
            <a:avLst/>
          </a:prstGeom>
          <a:solidFill>
            <a:srgbClr val="F2F4F5"/>
          </a:solidFill>
          <a:ln w="10972">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W"/>
          <p:cNvSpPr txBox="1"/>
          <p:nvPr/>
        </p:nvSpPr>
        <p:spPr>
          <a:xfrm>
            <a:off x="7275553" y="2218274"/>
            <a:ext cx="225193" cy="192019"/>
          </a:xfrm>
          <a:prstGeom prst="rect">
            <a:avLst/>
          </a:prstGeom>
          <a:noFill/>
        </p:spPr>
        <p:txBody>
          <a:bodyPr wrap="none" lIns="0" rIns="0" tIns="0" bIns="0" anchor="t">
            <a:spAutoFit/>
          </a:bodyPr>
          <a:lstStyle/>
          <a:p>
            <a:pPr algn="ctr">
              <a:lnSpc>
                <a:spcPct val="100000"/>
              </a:lnSpc>
              <a:spcBef>
                <a:spcPts val="0"/>
              </a:spcBef>
              <a:spcAft>
                <a:spcPts val="0"/>
              </a:spcAft>
            </a:pPr>
            <a:r>
              <a:rPr sz="1094" b="0" lang="en-US" spc="0">
                <a:solidFill>
                  <a:srgbClr val="89959D"/>
                </a:solidFill>
                <a:latin typeface="DejaVu Sans"/>
                <a:ea typeface="DejaVu Sans"/>
              </a:rPr>
              <a:t>W</a:t>
            </a:r>
          </a:p>
        </p:txBody>
      </p:sp>
      <p:sp>
        <p:nvSpPr>
          <p:cNvPr id="46" name="rect 45"/>
          <p:cNvSpPr/>
          <p:nvPr/>
        </p:nvSpPr>
        <p:spPr>
          <a:xfrm>
            <a:off x="7666120" y="1879955"/>
            <a:ext cx="234080" cy="263340"/>
          </a:xfrm>
          <a:prstGeom prst="rect">
            <a:avLst/>
          </a:prstGeom>
          <a:solidFill>
            <a:srgbClr val="FBF2E3"/>
          </a:solidFill>
          <a:ln w="10972">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N"/>
          <p:cNvSpPr txBox="1"/>
          <p:nvPr/>
        </p:nvSpPr>
        <p:spPr>
          <a:xfrm>
            <a:off x="7687279" y="2218274"/>
            <a:ext cx="191762" cy="192019"/>
          </a:xfrm>
          <a:prstGeom prst="rect">
            <a:avLst/>
          </a:prstGeom>
          <a:noFill/>
        </p:spPr>
        <p:txBody>
          <a:bodyPr wrap="none" lIns="0" rIns="0" tIns="0" bIns="0" anchor="t">
            <a:spAutoFit/>
          </a:bodyPr>
          <a:lstStyle/>
          <a:p>
            <a:pPr algn="ctr">
              <a:lnSpc>
                <a:spcPct val="100000"/>
              </a:lnSpc>
              <a:spcBef>
                <a:spcPts val="0"/>
              </a:spcBef>
              <a:spcAft>
                <a:spcPts val="0"/>
              </a:spcAft>
            </a:pPr>
            <a:r>
              <a:rPr sz="1094" b="0" lang="en-US" spc="0">
                <a:solidFill>
                  <a:srgbClr val="A96F1F"/>
                </a:solidFill>
                <a:latin typeface="DejaVu Sans"/>
                <a:ea typeface="DejaVu Sans"/>
              </a:rPr>
              <a:t>N</a:t>
            </a:r>
          </a:p>
        </p:txBody>
      </p:sp>
      <p:sp>
        <p:nvSpPr>
          <p:cNvPr id="48" name="rect 47"/>
          <p:cNvSpPr/>
          <p:nvPr/>
        </p:nvSpPr>
        <p:spPr>
          <a:xfrm>
            <a:off x="8061130" y="1609300"/>
            <a:ext cx="234080" cy="533995"/>
          </a:xfrm>
          <a:prstGeom prst="rect">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F"/>
          <p:cNvSpPr txBox="1"/>
          <p:nvPr/>
        </p:nvSpPr>
        <p:spPr>
          <a:xfrm>
            <a:off x="8094305" y="2218274"/>
            <a:ext cx="167731" cy="192019"/>
          </a:xfrm>
          <a:prstGeom prst="rect">
            <a:avLst/>
          </a:prstGeom>
          <a:noFill/>
        </p:spPr>
        <p:txBody>
          <a:bodyPr wrap="none" lIns="0" rIns="0" tIns="0" bIns="0" anchor="t">
            <a:spAutoFit/>
          </a:bodyPr>
          <a:lstStyle/>
          <a:p>
            <a:pPr algn="ctr">
              <a:lnSpc>
                <a:spcPct val="100000"/>
              </a:lnSpc>
              <a:spcBef>
                <a:spcPts val="0"/>
              </a:spcBef>
              <a:spcAft>
                <a:spcPts val="0"/>
              </a:spcAft>
            </a:pPr>
            <a:r>
              <a:rPr sz="1094" b="0" lang="en-US" spc="0">
                <a:solidFill>
                  <a:srgbClr val="357B73"/>
                </a:solidFill>
                <a:latin typeface="DejaVu Sans"/>
                <a:ea typeface="DejaVu Sans"/>
              </a:rPr>
              <a:t>F</a:t>
            </a:r>
          </a:p>
        </p:txBody>
      </p:sp>
      <p:sp>
        <p:nvSpPr>
          <p:cNvPr id="50" name="p(phase)"/>
          <p:cNvSpPr txBox="1"/>
          <p:nvPr/>
        </p:nvSpPr>
        <p:spPr>
          <a:xfrm>
            <a:off x="7333945" y="1256351"/>
            <a:ext cx="898431" cy="243224"/>
          </a:xfrm>
          <a:prstGeom prst="rect">
            <a:avLst/>
          </a:prstGeom>
          <a:noFill/>
        </p:spPr>
        <p:txBody>
          <a:bodyPr wrap="none" lIns="0" rIns="0" tIns="0" bIns="0" anchor="t">
            <a:spAutoFit/>
          </a:bodyPr>
          <a:lstStyle/>
          <a:p>
            <a:pPr algn="ctr">
              <a:lnSpc>
                <a:spcPct val="100000"/>
              </a:lnSpc>
              <a:spcBef>
                <a:spcPts val="0"/>
              </a:spcBef>
              <a:spcAft>
                <a:spcPts val="0"/>
              </a:spcAft>
            </a:pPr>
            <a:r>
              <a:rPr sz="1439" b="0" lang="en-US" spc="0">
                <a:solidFill>
                  <a:srgbClr val="A96F1F"/>
                </a:solidFill>
                <a:latin typeface="DejaVu Sans"/>
                <a:ea typeface="DejaVu Sans"/>
              </a:rPr>
              <a:t>p(phase)</a:t>
            </a:r>
          </a:p>
        </p:txBody>
      </p:sp>
      <p:cxnSp>
        <p:nvCxnSpPr>
          <p:cNvPr id="51" name="line 50"/>
          <p:cNvCxnSpPr/>
          <p:nvPr/>
        </p:nvCxnSpPr>
        <p:spPr>
          <a:xfrm>
            <a:off x="7241850" y="2882110"/>
            <a:ext cx="1119195" cy="0"/>
          </a:xfrm>
          <a:prstGeom prst="line">
            <a:avLst/>
          </a:prstGeom>
          <a:ln w="18288">
            <a:solidFill>
              <a:srgbClr val="357B73"/>
            </a:solidFill>
          </a:ln>
          <a:effectLst/>
        </p:spPr>
        <p:style>
          <a:lnRef idx="2">
            <a:schemeClr val="accent1"/>
          </a:lnRef>
          <a:fillRef idx="0">
            <a:schemeClr val="accent1"/>
          </a:fillRef>
          <a:effectRef idx="0">
            <a:schemeClr val="accent1"/>
          </a:effectRef>
          <a:fontRef idx="minor">
            <a:schemeClr val="tx1"/>
          </a:fontRef>
        </p:style>
      </p:cxnSp>
      <p:cxnSp>
        <p:nvCxnSpPr>
          <p:cNvPr id="52" name="line 51"/>
          <p:cNvCxnSpPr/>
          <p:nvPr/>
        </p:nvCxnSpPr>
        <p:spPr>
          <a:xfrm>
            <a:off x="7241850" y="2816275"/>
            <a:ext cx="0" cy="131670"/>
          </a:xfrm>
          <a:prstGeom prst="line">
            <a:avLst/>
          </a:prstGeom>
          <a:ln w="14630">
            <a:solidFill>
              <a:srgbClr val="357B73"/>
            </a:solidFill>
          </a:ln>
          <a:effectLst/>
        </p:spPr>
        <p:style>
          <a:lnRef idx="2">
            <a:schemeClr val="accent1"/>
          </a:lnRef>
          <a:fillRef idx="0">
            <a:schemeClr val="accent1"/>
          </a:fillRef>
          <a:effectRef idx="0">
            <a:schemeClr val="accent1"/>
          </a:effectRef>
          <a:fontRef idx="minor">
            <a:schemeClr val="tx1"/>
          </a:fontRef>
        </p:style>
      </p:cxnSp>
      <p:cxnSp>
        <p:nvCxnSpPr>
          <p:cNvPr id="53" name="line 52"/>
          <p:cNvCxnSpPr/>
          <p:nvPr/>
        </p:nvCxnSpPr>
        <p:spPr>
          <a:xfrm>
            <a:off x="8361045" y="2816275"/>
            <a:ext cx="0" cy="131670"/>
          </a:xfrm>
          <a:prstGeom prst="line">
            <a:avLst/>
          </a:prstGeom>
          <a:ln w="14630">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54" name="circle 53"/>
          <p:cNvSpPr/>
          <p:nvPr/>
        </p:nvSpPr>
        <p:spPr>
          <a:xfrm>
            <a:off x="7746585" y="2845535"/>
            <a:ext cx="73150" cy="73150"/>
          </a:xfrm>
          <a:prstGeom prst="ellipse">
            <a:avLst/>
          </a:prstGeom>
          <a:solidFill>
            <a:srgbClr val="357B73"/>
          </a:solidFill>
          <a:ln w="7315">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Wlo, Wc, Whi]"/>
          <p:cNvSpPr txBox="1"/>
          <p:nvPr/>
        </p:nvSpPr>
        <p:spPr>
          <a:xfrm>
            <a:off x="7107037" y="3017438"/>
            <a:ext cx="1381506" cy="235909"/>
          </a:xfrm>
          <a:prstGeom prst="rect">
            <a:avLst/>
          </a:prstGeom>
          <a:noFill/>
        </p:spPr>
        <p:txBody>
          <a:bodyPr wrap="none" lIns="0" rIns="0" tIns="0" bIns="0" anchor="t">
            <a:spAutoFit/>
          </a:bodyPr>
          <a:lstStyle/>
          <a:p>
            <a:pPr algn="ctr">
              <a:lnSpc>
                <a:spcPct val="100000"/>
              </a:lnSpc>
              <a:spcBef>
                <a:spcPts val="0"/>
              </a:spcBef>
              <a:spcAft>
                <a:spcPts val="0"/>
              </a:spcAft>
            </a:pPr>
            <a:r>
              <a:rPr sz="1382" b="0" lang="en-US" spc="0">
                <a:solidFill>
                  <a:srgbClr val="357B73"/>
                </a:solidFill>
                <a:latin typeface="DejaVu Sans"/>
                <a:ea typeface="DejaVu Sans"/>
              </a:rPr>
              <a:t>[Wlo, Wc, Whi]</a:t>
            </a:r>
          </a:p>
        </p:txBody>
      </p:sp>
      <p:sp>
        <p:nvSpPr>
          <p:cNvPr id="56" name="request / context / epoch"/>
          <p:cNvSpPr txBox="1"/>
          <p:nvPr/>
        </p:nvSpPr>
        <p:spPr>
          <a:xfrm>
            <a:off x="482790" y="3531316"/>
            <a:ext cx="2384890"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request / context / epoch</a:t>
            </a:r>
          </a:p>
        </p:txBody>
      </p:sp>
      <p:sp>
        <p:nvSpPr>
          <p:cNvPr id="57" name="path 56"/>
          <p:cNvSpPr/>
          <p:nvPr/>
        </p:nvSpPr>
        <p:spPr>
          <a:xfrm>
            <a:off x="3657500" y="3262490"/>
            <a:ext cx="1097250" cy="314545"/>
          </a:xfrm>
          <a:custGeom>
            <a:avLst/>
            <a:gdLst/>
            <a:ahLst/>
            <a:cxnLst/>
            <a:rect l="l" t="t" r="r" b="b"/>
            <a:pathLst>
              <a:path w="150" h="43">
                <a:moveTo>
                  <a:pt x="0" y="43"/>
                </a:moveTo>
                <a:lnTo>
                  <a:pt x="150" y="43"/>
                </a:lnTo>
                <a:lnTo>
                  <a:pt x="150" y="0"/>
                </a:lnTo>
                <a:lnTo>
                  <a:pt x="20" y="0"/>
                </a:lnTo>
              </a:path>
            </a:pathLst>
          </a:custGeom>
          <a:noFill/>
          <a:ln w="17556">
            <a:solidFill>
              <a:srgbClr val="A96F1F"/>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 → t + Δt"/>
          <p:cNvSpPr txBox="1"/>
          <p:nvPr/>
        </p:nvSpPr>
        <p:spPr>
          <a:xfrm>
            <a:off x="5610605" y="3531316"/>
            <a:ext cx="966923"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A96F1F"/>
                </a:solidFill>
                <a:latin typeface="DejaVu Sans"/>
                <a:ea typeface="DejaVu Sans"/>
              </a:rPr>
              <a:t>t → t + Δt</a:t>
            </a:r>
          </a:p>
        </p:txBody>
      </p:sp>
      <p:sp>
        <p:nvSpPr>
          <p:cNvPr id="59" name="rect 58"/>
          <p:cNvSpPr/>
          <p:nvPr/>
        </p:nvSpPr>
        <p:spPr>
          <a:xfrm>
            <a:off x="8960875" y="965580"/>
            <a:ext cx="3913525" cy="2999150"/>
          </a:xfrm>
          <a:prstGeom prst="roundRect">
            <a:avLst>
              <a:gd name="adj" fmla="val 731"/>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0" name="line 59"/>
          <p:cNvCxnSpPr/>
          <p:nvPr/>
        </p:nvCxnSpPr>
        <p:spPr>
          <a:xfrm>
            <a:off x="8968190" y="972895"/>
            <a:ext cx="3898895" cy="0"/>
          </a:xfrm>
          <a:prstGeom prst="line">
            <a:avLst/>
          </a:prstGeom>
          <a:ln w="21945">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61" name="(b) JOIN projection"/>
          <p:cNvSpPr txBox="1"/>
          <p:nvPr/>
        </p:nvSpPr>
        <p:spPr>
          <a:xfrm>
            <a:off x="9121805" y="1067990"/>
            <a:ext cx="2235790"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57B73"/>
                </a:solidFill>
                <a:latin typeface="DejaVu Sans"/>
                <a:ea typeface="DejaVu Sans"/>
              </a:rPr>
              <a:t>(b) JOIN projection</a:t>
            </a:r>
          </a:p>
        </p:txBody>
      </p:sp>
      <p:sp>
        <p:nvSpPr>
          <p:cNvPr id="62" name="circle 61"/>
          <p:cNvSpPr/>
          <p:nvPr/>
        </p:nvSpPr>
        <p:spPr>
          <a:xfrm>
            <a:off x="9238845" y="1945790"/>
            <a:ext cx="395010" cy="395010"/>
          </a:xfrm>
          <a:prstGeom prst="ellipse">
            <a:avLst/>
          </a:prstGeom>
          <a:solidFill>
            <a:srgbClr val="EDF3F8"/>
          </a:solidFill>
          <a:ln w="1024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P"/>
          <p:cNvSpPr txBox="1"/>
          <p:nvPr/>
        </p:nvSpPr>
        <p:spPr>
          <a:xfrm>
            <a:off x="9325439" y="2037228"/>
            <a:ext cx="221822"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P</a:t>
            </a:r>
          </a:p>
        </p:txBody>
      </p:sp>
      <p:sp>
        <p:nvSpPr>
          <p:cNvPr id="64" name="circle 63"/>
          <p:cNvSpPr/>
          <p:nvPr/>
        </p:nvSpPr>
        <p:spPr>
          <a:xfrm>
            <a:off x="10284890" y="1521520"/>
            <a:ext cx="395010" cy="395010"/>
          </a:xfrm>
          <a:prstGeom prst="ellipse">
            <a:avLst/>
          </a:prstGeom>
          <a:solidFill>
            <a:srgbClr val="EAF3F1"/>
          </a:solidFill>
          <a:ln w="10241">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C1"/>
          <p:cNvSpPr txBox="1"/>
          <p:nvPr/>
        </p:nvSpPr>
        <p:spPr>
          <a:xfrm>
            <a:off x="10313007" y="1615884"/>
            <a:ext cx="338776"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lang="en-US" spc="0">
                <a:solidFill>
                  <a:srgbClr val="263746"/>
                </a:solidFill>
                <a:latin typeface="DejaVu Sans"/>
                <a:ea typeface="DejaVu Sans"/>
              </a:rPr>
              <a:t>C1</a:t>
            </a:r>
          </a:p>
        </p:txBody>
      </p:sp>
      <p:sp>
        <p:nvSpPr>
          <p:cNvPr id="66" name="circle 65"/>
          <p:cNvSpPr/>
          <p:nvPr/>
        </p:nvSpPr>
        <p:spPr>
          <a:xfrm>
            <a:off x="10284890" y="2399320"/>
            <a:ext cx="395010" cy="395010"/>
          </a:xfrm>
          <a:prstGeom prst="ellipse">
            <a:avLst/>
          </a:prstGeom>
          <a:solidFill>
            <a:srgbClr val="FBF2E3"/>
          </a:solidFill>
          <a:ln w="10241">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C2"/>
          <p:cNvSpPr txBox="1"/>
          <p:nvPr/>
        </p:nvSpPr>
        <p:spPr>
          <a:xfrm>
            <a:off x="10313007" y="2493684"/>
            <a:ext cx="338776"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lang="en-US" spc="0">
                <a:solidFill>
                  <a:srgbClr val="263746"/>
                </a:solidFill>
                <a:latin typeface="DejaVu Sans"/>
                <a:ea typeface="DejaVu Sans"/>
              </a:rPr>
              <a:t>C2</a:t>
            </a:r>
          </a:p>
        </p:txBody>
      </p:sp>
      <p:sp>
        <p:nvSpPr>
          <p:cNvPr id="68" name="path 67"/>
          <p:cNvSpPr/>
          <p:nvPr/>
        </p:nvSpPr>
        <p:spPr>
          <a:xfrm>
            <a:off x="10767680" y="1543465"/>
            <a:ext cx="146300" cy="146300"/>
          </a:xfrm>
          <a:custGeom>
            <a:avLst/>
            <a:gdLst/>
            <a:ahLst/>
            <a:cxnLst/>
            <a:rect l="l" t="t" r="r" b="b"/>
            <a:pathLst>
              <a:path w="20" h="20">
                <a:moveTo>
                  <a:pt x="0" y="10"/>
                </a:moveTo>
                <a:lnTo>
                  <a:pt x="7" y="20"/>
                </a:lnTo>
                <a:lnTo>
                  <a:pt x="20" y="0"/>
                </a:lnTo>
              </a:path>
            </a:pathLst>
          </a:custGeom>
          <a:noFill/>
          <a:ln w="2048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polygon 68"/>
          <p:cNvSpPr/>
          <p:nvPr/>
        </p:nvSpPr>
        <p:spPr>
          <a:xfrm>
            <a:off x="11345565" y="1858010"/>
            <a:ext cx="833910" cy="570570"/>
          </a:xfrm>
          <a:custGeom>
            <a:avLst/>
            <a:gdLst/>
            <a:ahLst/>
            <a:cxnLst/>
            <a:rect l="l" t="t" r="r" b="b"/>
            <a:pathLst>
              <a:path w="114" h="78">
                <a:moveTo>
                  <a:pt x="57" y="0"/>
                </a:moveTo>
                <a:lnTo>
                  <a:pt x="114" y="39"/>
                </a:lnTo>
                <a:lnTo>
                  <a:pt x="57" y="78"/>
                </a:lnTo>
                <a:lnTo>
                  <a:pt x="0" y="39"/>
                </a:lnTo>
                <a:close/>
              </a:path>
            </a:pathLst>
          </a:cu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ALL"/>
          <p:cNvSpPr txBox="1"/>
          <p:nvPr/>
        </p:nvSpPr>
        <p:spPr>
          <a:xfrm>
            <a:off x="11531340" y="2031741"/>
            <a:ext cx="462359"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357B73"/>
                </a:solidFill>
                <a:latin typeface="DejaVu Sans"/>
                <a:ea typeface="DejaVu Sans"/>
              </a:rPr>
              <a:t>ALL</a:t>
            </a:r>
          </a:p>
        </p:txBody>
      </p:sp>
      <p:sp>
        <p:nvSpPr>
          <p:cNvPr id="71" name="circle 70"/>
          <p:cNvSpPr/>
          <p:nvPr/>
        </p:nvSpPr>
        <p:spPr>
          <a:xfrm>
            <a:off x="12303830" y="1960420"/>
            <a:ext cx="365750" cy="365750"/>
          </a:xfrm>
          <a:prstGeom prst="ellipse">
            <a:avLst/>
          </a:prstGeom>
          <a:solidFill>
            <a:srgbClr val="EDF3F8"/>
          </a:solidFill>
          <a:ln w="1024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P"/>
          <p:cNvSpPr txBox="1"/>
          <p:nvPr/>
        </p:nvSpPr>
        <p:spPr>
          <a:xfrm>
            <a:off x="12378480" y="2040153"/>
            <a:ext cx="216450"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lang="en-US" spc="0">
                <a:solidFill>
                  <a:srgbClr val="263746"/>
                </a:solidFill>
                <a:latin typeface="DejaVu Sans"/>
                <a:ea typeface="DejaVu Sans"/>
              </a:rPr>
              <a:t>P</a:t>
            </a:r>
          </a:p>
        </p:txBody>
      </p:sp>
      <p:cxnSp>
        <p:nvCxnSpPr>
          <p:cNvPr id="73" name="path 72"/>
          <p:cNvCxnSpPr/>
          <p:nvPr/>
        </p:nvCxnSpPr>
        <p:spPr>
          <a:xfrm flipV="1">
            <a:off x="9648485" y="1799490"/>
            <a:ext cx="621775" cy="27065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74" name="path 73"/>
          <p:cNvCxnSpPr/>
          <p:nvPr/>
        </p:nvCxnSpPr>
        <p:spPr>
          <a:xfrm>
            <a:off x="9648485" y="2245705"/>
            <a:ext cx="621775" cy="27065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75" name="path 74"/>
          <p:cNvSpPr/>
          <p:nvPr/>
        </p:nvSpPr>
        <p:spPr>
          <a:xfrm>
            <a:off x="10701845" y="1719025"/>
            <a:ext cx="687610" cy="314545"/>
          </a:xfrm>
          <a:custGeom>
            <a:avLst/>
            <a:gdLst/>
            <a:ahLst/>
            <a:cxnLst/>
            <a:rect l="l" t="t" r="r" b="b"/>
            <a:pathLst>
              <a:path w="94" h="43">
                <a:moveTo>
                  <a:pt x="0" y="0"/>
                </a:moveTo>
                <a:lnTo>
                  <a:pt x="43" y="0"/>
                </a:lnTo>
                <a:lnTo>
                  <a:pt x="94" y="43"/>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path 75"/>
          <p:cNvSpPr/>
          <p:nvPr/>
        </p:nvSpPr>
        <p:spPr>
          <a:xfrm>
            <a:off x="10701845" y="2245705"/>
            <a:ext cx="687610" cy="351120"/>
          </a:xfrm>
          <a:custGeom>
            <a:avLst/>
            <a:gdLst/>
            <a:ahLst/>
            <a:cxnLst/>
            <a:rect l="l" t="t" r="r" b="b"/>
            <a:pathLst>
              <a:path w="94" h="48">
                <a:moveTo>
                  <a:pt x="0" y="48"/>
                </a:moveTo>
                <a:lnTo>
                  <a:pt x="43" y="48"/>
                </a:lnTo>
                <a:lnTo>
                  <a:pt x="94" y="0"/>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7" name="path 76"/>
          <p:cNvCxnSpPr/>
          <p:nvPr/>
        </p:nvCxnSpPr>
        <p:spPr>
          <a:xfrm>
            <a:off x="12186790" y="2143295"/>
            <a:ext cx="95095"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78" name="pending = {C2}"/>
          <p:cNvSpPr txBox="1"/>
          <p:nvPr/>
        </p:nvSpPr>
        <p:spPr>
          <a:xfrm>
            <a:off x="9216900" y="2902226"/>
            <a:ext cx="1861410" cy="261511"/>
          </a:xfrm>
          <a:prstGeom prst="rect">
            <a:avLst/>
          </a:prstGeom>
          <a:noFill/>
        </p:spPr>
        <p:txBody>
          <a:bodyPr wrap="none" lIns="0" rIns="0" tIns="0" bIns="0" anchor="t">
            <a:spAutoFit/>
          </a:bodyPr>
          <a:lstStyle/>
          <a:p>
            <a:pPr algn="l">
              <a:lnSpc>
                <a:spcPct val="100000"/>
              </a:lnSpc>
              <a:spcBef>
                <a:spcPts val="0"/>
              </a:spcBef>
              <a:spcAft>
                <a:spcPts val="0"/>
              </a:spcAft>
            </a:pPr>
            <a:r>
              <a:rPr sz="1555" b="1" lang="en-US" spc="0">
                <a:solidFill>
                  <a:srgbClr val="357B73"/>
                </a:solidFill>
                <a:latin typeface="DejaVu Sans"/>
                <a:ea typeface="DejaVu Sans"/>
              </a:rPr>
              <a:t>pending = {C2}</a:t>
            </a:r>
          </a:p>
        </p:txBody>
      </p:sp>
      <p:sp>
        <p:nvSpPr>
          <p:cNvPr id="79" name="rect 78"/>
          <p:cNvSpPr/>
          <p:nvPr/>
        </p:nvSpPr>
        <p:spPr>
          <a:xfrm>
            <a:off x="9151065" y="3189340"/>
            <a:ext cx="3525830" cy="424270"/>
          </a:xfrm>
          <a:prstGeom prst="roundRect">
            <a:avLst>
              <a:gd name="adj" fmla="val 3448"/>
            </a:avLst>
          </a:prstGeom>
          <a:solidFill>
            <a:srgbClr val="FFFFFF"/>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τjoin = max(0, W − ΔN) / v(t)"/>
          <p:cNvSpPr txBox="1"/>
          <p:nvPr/>
        </p:nvSpPr>
        <p:spPr>
          <a:xfrm>
            <a:off x="9319053" y="3288751"/>
            <a:ext cx="3189854"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τjoin = max(0, W − ΔN) / v(t)</a:t>
            </a:r>
          </a:p>
        </p:txBody>
      </p:sp>
      <p:sp>
        <p:nvSpPr>
          <p:cNvPr id="81" name="path 80"/>
          <p:cNvSpPr/>
          <p:nvPr/>
        </p:nvSpPr>
        <p:spPr>
          <a:xfrm>
            <a:off x="8631700" y="2882110"/>
            <a:ext cx="512050" cy="519365"/>
          </a:xfrm>
          <a:custGeom>
            <a:avLst/>
            <a:gdLst/>
            <a:ahLst/>
            <a:cxnLst/>
            <a:rect l="l" t="t" r="r" b="b"/>
            <a:pathLst>
              <a:path w="70" h="71">
                <a:moveTo>
                  <a:pt x="0" y="0"/>
                </a:moveTo>
                <a:lnTo>
                  <a:pt x="22" y="0"/>
                </a:lnTo>
                <a:lnTo>
                  <a:pt x="22" y="71"/>
                </a:lnTo>
                <a:lnTo>
                  <a:pt x="70" y="71"/>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path 81"/>
          <p:cNvSpPr/>
          <p:nvPr/>
        </p:nvSpPr>
        <p:spPr>
          <a:xfrm>
            <a:off x="10482395" y="2801645"/>
            <a:ext cx="1133825" cy="380380"/>
          </a:xfrm>
          <a:custGeom>
            <a:avLst/>
            <a:gdLst/>
            <a:ahLst/>
            <a:cxnLst/>
            <a:rect l="l" t="t" r="r" b="b"/>
            <a:pathLst>
              <a:path w="155" h="52">
                <a:moveTo>
                  <a:pt x="0" y="0"/>
                </a:moveTo>
                <a:lnTo>
                  <a:pt x="0" y="6"/>
                </a:lnTo>
                <a:lnTo>
                  <a:pt x="155" y="6"/>
                </a:lnTo>
                <a:lnTo>
                  <a:pt x="155" y="52"/>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path 82"/>
          <p:cNvSpPr/>
          <p:nvPr/>
        </p:nvSpPr>
        <p:spPr>
          <a:xfrm>
            <a:off x="8873095" y="3964730"/>
            <a:ext cx="4154920" cy="2523675"/>
          </a:xfrm>
          <a:custGeom>
            <a:avLst/>
            <a:gdLst/>
            <a:ahLst/>
            <a:cxnLst/>
            <a:rect l="l" t="t" r="r" b="b"/>
            <a:pathLst>
              <a:path w="568" h="345">
                <a:moveTo>
                  <a:pt x="280" y="0"/>
                </a:moveTo>
                <a:lnTo>
                  <a:pt x="280" y="21"/>
                </a:lnTo>
                <a:lnTo>
                  <a:pt x="568" y="21"/>
                </a:lnTo>
                <a:lnTo>
                  <a:pt x="568" y="273"/>
                </a:lnTo>
                <a:lnTo>
                  <a:pt x="0" y="273"/>
                </a:lnTo>
                <a:lnTo>
                  <a:pt x="0" y="345"/>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rect 83"/>
          <p:cNvSpPr/>
          <p:nvPr/>
        </p:nvSpPr>
        <p:spPr>
          <a:xfrm>
            <a:off x="292600" y="4330480"/>
            <a:ext cx="12581800" cy="1353275"/>
          </a:xfrm>
          <a:prstGeom prst="roundRect">
            <a:avLst>
              <a:gd name="adj" fmla="val 1621"/>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85" name="line 84"/>
          <p:cNvCxnSpPr/>
          <p:nvPr/>
        </p:nvCxnSpPr>
        <p:spPr>
          <a:xfrm>
            <a:off x="299915" y="4337795"/>
            <a:ext cx="12567170" cy="0"/>
          </a:xfrm>
          <a:prstGeom prst="line">
            <a:avLst/>
          </a:prstGeom>
          <a:ln w="21945">
            <a:solidFill>
              <a:srgbClr val="A96F1F"/>
            </a:solidFill>
          </a:ln>
          <a:effectLst/>
        </p:spPr>
        <p:style>
          <a:lnRef idx="2">
            <a:schemeClr val="accent1"/>
          </a:lnRef>
          <a:fillRef idx="0">
            <a:schemeClr val="accent1"/>
          </a:fillRef>
          <a:effectRef idx="0">
            <a:schemeClr val="accent1"/>
          </a:effectRef>
          <a:fontRef idx="minor">
            <a:schemeClr val="tx1"/>
          </a:fontRef>
        </p:style>
      </p:cxnSp>
      <p:sp>
        <p:nvSpPr>
          <p:cNvPr id="86" name="(c) Conditional tool timing"/>
          <p:cNvSpPr txBox="1"/>
          <p:nvPr/>
        </p:nvSpPr>
        <p:spPr>
          <a:xfrm>
            <a:off x="453530" y="4432890"/>
            <a:ext cx="3120933"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A96F1F"/>
                </a:solidFill>
                <a:latin typeface="DejaVu Sans"/>
                <a:ea typeface="DejaVu Sans"/>
              </a:rPr>
              <a:t>(c) Conditional tool timing</a:t>
            </a:r>
          </a:p>
        </p:txBody>
      </p:sp>
      <p:sp>
        <p:nvSpPr>
          <p:cNvPr id="87" name="circle 86"/>
          <p:cNvSpPr/>
          <p:nvPr/>
        </p:nvSpPr>
        <p:spPr>
          <a:xfrm>
            <a:off x="621775" y="4791325"/>
            <a:ext cx="395010" cy="395010"/>
          </a:xfrm>
          <a:prstGeom prst="ellipse">
            <a:avLst/>
          </a:prstGeom>
          <a:solidFill>
            <a:srgbClr val="FFFFFF"/>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path 87"/>
          <p:cNvSpPr/>
          <p:nvPr/>
        </p:nvSpPr>
        <p:spPr>
          <a:xfrm>
            <a:off x="819280" y="4805955"/>
            <a:ext cx="131670" cy="270655"/>
          </a:xfrm>
          <a:custGeom>
            <a:avLst/>
            <a:gdLst/>
            <a:ahLst/>
            <a:cxnLst/>
            <a:rect l="l" t="t" r="r" b="b"/>
            <a:pathLst>
              <a:path w="18" h="37">
                <a:moveTo>
                  <a:pt x="0" y="0"/>
                </a:moveTo>
                <a:lnTo>
                  <a:pt x="0" y="25"/>
                </a:lnTo>
                <a:lnTo>
                  <a:pt x="18" y="37"/>
                </a:lnTo>
              </a:path>
            </a:pathLst>
          </a:custGeom>
          <a:noFill/>
          <a:ln w="17556">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a(t)"/>
          <p:cNvSpPr txBox="1"/>
          <p:nvPr/>
        </p:nvSpPr>
        <p:spPr>
          <a:xfrm>
            <a:off x="490105" y="5221081"/>
            <a:ext cx="427327" cy="252368"/>
          </a:xfrm>
          <a:prstGeom prst="rect">
            <a:avLst/>
          </a:prstGeom>
          <a:noFill/>
        </p:spPr>
        <p:txBody>
          <a:bodyPr wrap="none" lIns="0" rIns="0" tIns="0" bIns="0" anchor="t">
            <a:spAutoFit/>
          </a:bodyPr>
          <a:lstStyle/>
          <a:p>
            <a:pPr algn="l">
              <a:lnSpc>
                <a:spcPct val="100000"/>
              </a:lnSpc>
              <a:spcBef>
                <a:spcPts val="0"/>
              </a:spcBef>
              <a:spcAft>
                <a:spcPts val="0"/>
              </a:spcAft>
            </a:pPr>
            <a:r>
              <a:rPr sz="1497" b="0" lang="en-US" spc="0">
                <a:solidFill>
                  <a:srgbClr val="3D6F9F"/>
                </a:solidFill>
                <a:latin typeface="DejaVu Sans"/>
                <a:ea typeface="DejaVu Sans"/>
              </a:rPr>
              <a:t>a(t)</a:t>
            </a:r>
          </a:p>
        </p:txBody>
      </p:sp>
      <p:cxnSp>
        <p:nvCxnSpPr>
          <p:cNvPr id="90" name="path 89"/>
          <p:cNvCxnSpPr/>
          <p:nvPr/>
        </p:nvCxnSpPr>
        <p:spPr>
          <a:xfrm>
            <a:off x="1024100" y="4988830"/>
            <a:ext cx="270655"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91" name="rect 90"/>
          <p:cNvSpPr/>
          <p:nvPr/>
        </p:nvSpPr>
        <p:spPr>
          <a:xfrm>
            <a:off x="1309385" y="4776695"/>
            <a:ext cx="1623930" cy="424270"/>
          </a:xfrm>
          <a:prstGeom prst="roundRect">
            <a:avLst>
              <a:gd name="adj" fmla="val 3448"/>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cmd / project"/>
          <p:cNvSpPr txBox="1"/>
          <p:nvPr/>
        </p:nvSpPr>
        <p:spPr>
          <a:xfrm>
            <a:off x="1400822" y="4880934"/>
            <a:ext cx="1441055"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cmd / project</a:t>
            </a:r>
          </a:p>
        </p:txBody>
      </p:sp>
      <p:cxnSp>
        <p:nvCxnSpPr>
          <p:cNvPr id="93" name="path 92"/>
          <p:cNvCxnSpPr/>
          <p:nvPr/>
        </p:nvCxnSpPr>
        <p:spPr>
          <a:xfrm>
            <a:off x="2940630" y="4988830"/>
            <a:ext cx="336490"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94" name="rect 93"/>
          <p:cNvSpPr/>
          <p:nvPr/>
        </p:nvSpPr>
        <p:spPr>
          <a:xfrm>
            <a:off x="3430735" y="4666970"/>
            <a:ext cx="1243550" cy="416955"/>
          </a:xfrm>
          <a:prstGeom prst="roundRect">
            <a:avLst>
              <a:gd name="adj" fmla="val 3508"/>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rect 94"/>
          <p:cNvSpPr/>
          <p:nvPr/>
        </p:nvSpPr>
        <p:spPr>
          <a:xfrm>
            <a:off x="3364900" y="4725490"/>
            <a:ext cx="1243550" cy="416955"/>
          </a:xfrm>
          <a:prstGeom prst="roundRect">
            <a:avLst>
              <a:gd name="adj" fmla="val 3508"/>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rect 95"/>
          <p:cNvSpPr/>
          <p:nvPr/>
        </p:nvSpPr>
        <p:spPr>
          <a:xfrm>
            <a:off x="3299065" y="4784010"/>
            <a:ext cx="1243550" cy="416955"/>
          </a:xfrm>
          <a:prstGeom prst="roundRect">
            <a:avLst>
              <a:gd name="adj" fmla="val 3508"/>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History"/>
          <p:cNvSpPr txBox="1"/>
          <p:nvPr/>
        </p:nvSpPr>
        <p:spPr>
          <a:xfrm>
            <a:off x="3488455" y="4884591"/>
            <a:ext cx="864770"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357B73"/>
                </a:solidFill>
                <a:latin typeface="DejaVu Sans"/>
                <a:ea typeface="DejaVu Sans"/>
              </a:rPr>
              <a:t>History</a:t>
            </a:r>
          </a:p>
        </p:txBody>
      </p:sp>
      <p:sp>
        <p:nvSpPr>
          <p:cNvPr id="98" name="path 97"/>
          <p:cNvSpPr/>
          <p:nvPr/>
        </p:nvSpPr>
        <p:spPr>
          <a:xfrm>
            <a:off x="4410945" y="4637710"/>
            <a:ext cx="131670" cy="131670"/>
          </a:xfrm>
          <a:custGeom>
            <a:avLst/>
            <a:gdLst/>
            <a:ahLst/>
            <a:cxnLst/>
            <a:rect l="l" t="t" r="r" b="b"/>
            <a:pathLst>
              <a:path w="18" h="18">
                <a:moveTo>
                  <a:pt x="0" y="9"/>
                </a:moveTo>
                <a:lnTo>
                  <a:pt x="6" y="18"/>
                </a:lnTo>
                <a:lnTo>
                  <a:pt x="18" y="0"/>
                </a:lnTo>
              </a:path>
            </a:pathLst>
          </a:custGeom>
          <a:noFill/>
          <a:ln w="2048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9" name="path 98"/>
          <p:cNvCxnSpPr/>
          <p:nvPr/>
        </p:nvCxnSpPr>
        <p:spPr>
          <a:xfrm>
            <a:off x="4688915" y="4988830"/>
            <a:ext cx="380380" cy="0"/>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00" name="rect 99"/>
          <p:cNvSpPr/>
          <p:nvPr/>
        </p:nvSpPr>
        <p:spPr>
          <a:xfrm>
            <a:off x="5083925" y="4776695"/>
            <a:ext cx="2918685" cy="424270"/>
          </a:xfrm>
          <a:prstGeom prst="roundRect">
            <a:avLst>
              <a:gd name="adj" fmla="val 3448"/>
            </a:avLst>
          </a:prstGeom>
          <a:solidFill>
            <a:srgbClr val="FBF2E3"/>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P(T ≤ a + τ | T &gt; a)"/>
          <p:cNvSpPr txBox="1"/>
          <p:nvPr/>
        </p:nvSpPr>
        <p:spPr>
          <a:xfrm>
            <a:off x="5407285" y="4868279"/>
            <a:ext cx="2271965" cy="268826"/>
          </a:xfrm>
          <a:prstGeom prst="rect">
            <a:avLst/>
          </a:prstGeom>
          <a:noFill/>
        </p:spPr>
        <p:txBody>
          <a:bodyPr wrap="none" lIns="0" rIns="0" tIns="0" bIns="0" anchor="t">
            <a:spAutoFit/>
          </a:bodyPr>
          <a:lstStyle/>
          <a:p>
            <a:pPr algn="ctr">
              <a:lnSpc>
                <a:spcPct val="100000"/>
              </a:lnSpc>
              <a:spcBef>
                <a:spcPts val="0"/>
              </a:spcBef>
              <a:spcAft>
                <a:spcPts val="0"/>
              </a:spcAft>
            </a:pPr>
            <a:r>
              <a:rPr sz="1612" b="1" lang="en-US" spc="0">
                <a:solidFill>
                  <a:srgbClr val="263746"/>
                </a:solidFill>
                <a:latin typeface="DejaVu Sans"/>
                <a:ea typeface="DejaVu Sans"/>
              </a:rPr>
              <a:t>P(T ≤ a + τ | T &gt; a)</a:t>
            </a:r>
          </a:p>
        </p:txBody>
      </p:sp>
      <p:cxnSp>
        <p:nvCxnSpPr>
          <p:cNvPr id="102" name="path 101"/>
          <p:cNvCxnSpPr/>
          <p:nvPr/>
        </p:nvCxnSpPr>
        <p:spPr>
          <a:xfrm>
            <a:off x="8009925" y="4988830"/>
            <a:ext cx="402325" cy="0"/>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03" name="line 102"/>
          <p:cNvCxnSpPr/>
          <p:nvPr/>
        </p:nvCxnSpPr>
        <p:spPr>
          <a:xfrm>
            <a:off x="8565865" y="4988830"/>
            <a:ext cx="1821435" cy="0"/>
          </a:xfrm>
          <a:prstGeom prst="line">
            <a:avLst/>
          </a:prstGeom>
          <a:ln w="18288">
            <a:solidFill>
              <a:srgbClr val="357B73"/>
            </a:solidFill>
          </a:ln>
          <a:effectLst/>
        </p:spPr>
        <p:style>
          <a:lnRef idx="2">
            <a:schemeClr val="accent1"/>
          </a:lnRef>
          <a:fillRef idx="0">
            <a:schemeClr val="accent1"/>
          </a:fillRef>
          <a:effectRef idx="0">
            <a:schemeClr val="accent1"/>
          </a:effectRef>
          <a:fontRef idx="minor">
            <a:schemeClr val="tx1"/>
          </a:fontRef>
        </p:style>
      </p:cxnSp>
      <p:cxnSp>
        <p:nvCxnSpPr>
          <p:cNvPr id="104" name="line 103"/>
          <p:cNvCxnSpPr/>
          <p:nvPr/>
        </p:nvCxnSpPr>
        <p:spPr>
          <a:xfrm>
            <a:off x="8565865" y="4922995"/>
            <a:ext cx="0" cy="131670"/>
          </a:xfrm>
          <a:prstGeom prst="line">
            <a:avLst/>
          </a:prstGeom>
          <a:ln w="14630">
            <a:solidFill>
              <a:srgbClr val="357B73"/>
            </a:solidFill>
          </a:ln>
          <a:effectLst/>
        </p:spPr>
        <p:style>
          <a:lnRef idx="2">
            <a:schemeClr val="accent1"/>
          </a:lnRef>
          <a:fillRef idx="0">
            <a:schemeClr val="accent1"/>
          </a:fillRef>
          <a:effectRef idx="0">
            <a:schemeClr val="accent1"/>
          </a:effectRef>
          <a:fontRef idx="minor">
            <a:schemeClr val="tx1"/>
          </a:fontRef>
        </p:style>
      </p:cxnSp>
      <p:cxnSp>
        <p:nvCxnSpPr>
          <p:cNvPr id="105" name="line 104"/>
          <p:cNvCxnSpPr/>
          <p:nvPr/>
        </p:nvCxnSpPr>
        <p:spPr>
          <a:xfrm>
            <a:off x="10387300" y="4922995"/>
            <a:ext cx="0" cy="131670"/>
          </a:xfrm>
          <a:prstGeom prst="line">
            <a:avLst/>
          </a:prstGeom>
          <a:ln w="14630">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106" name="circle 105"/>
          <p:cNvSpPr/>
          <p:nvPr/>
        </p:nvSpPr>
        <p:spPr>
          <a:xfrm>
            <a:off x="9326625" y="4952255"/>
            <a:ext cx="73150" cy="73150"/>
          </a:xfrm>
          <a:prstGeom prst="ellipse">
            <a:avLst/>
          </a:prstGeom>
          <a:solidFill>
            <a:srgbClr val="357B73"/>
          </a:solidFill>
          <a:ln w="7315">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q10"/>
          <p:cNvSpPr txBox="1"/>
          <p:nvPr/>
        </p:nvSpPr>
        <p:spPr>
          <a:xfrm>
            <a:off x="8347572" y="5206451"/>
            <a:ext cx="436585" cy="243224"/>
          </a:xfrm>
          <a:prstGeom prst="rect">
            <a:avLst/>
          </a:prstGeom>
          <a:noFill/>
        </p:spPr>
        <p:txBody>
          <a:bodyPr wrap="none" lIns="0" rIns="0" tIns="0" bIns="0" anchor="t">
            <a:spAutoFit/>
          </a:bodyPr>
          <a:lstStyle/>
          <a:p>
            <a:pPr algn="ctr">
              <a:lnSpc>
                <a:spcPct val="100000"/>
              </a:lnSpc>
              <a:spcBef>
                <a:spcPts val="0"/>
              </a:spcBef>
              <a:spcAft>
                <a:spcPts val="0"/>
              </a:spcAft>
            </a:pPr>
            <a:r>
              <a:rPr sz="1439" b="0" lang="en-US" spc="0">
                <a:solidFill>
                  <a:srgbClr val="357B73"/>
                </a:solidFill>
                <a:latin typeface="DejaVu Sans"/>
                <a:ea typeface="DejaVu Sans"/>
              </a:rPr>
              <a:t>q10</a:t>
            </a:r>
          </a:p>
        </p:txBody>
      </p:sp>
      <p:sp>
        <p:nvSpPr>
          <p:cNvPr id="108" name="q50"/>
          <p:cNvSpPr txBox="1"/>
          <p:nvPr/>
        </p:nvSpPr>
        <p:spPr>
          <a:xfrm>
            <a:off x="9144907" y="5206451"/>
            <a:ext cx="436585" cy="243224"/>
          </a:xfrm>
          <a:prstGeom prst="rect">
            <a:avLst/>
          </a:prstGeom>
          <a:noFill/>
        </p:spPr>
        <p:txBody>
          <a:bodyPr wrap="none" lIns="0" rIns="0" tIns="0" bIns="0" anchor="t">
            <a:spAutoFit/>
          </a:bodyPr>
          <a:lstStyle/>
          <a:p>
            <a:pPr algn="ctr">
              <a:lnSpc>
                <a:spcPct val="100000"/>
              </a:lnSpc>
              <a:spcBef>
                <a:spcPts val="0"/>
              </a:spcBef>
              <a:spcAft>
                <a:spcPts val="0"/>
              </a:spcAft>
            </a:pPr>
            <a:r>
              <a:rPr sz="1439" b="0" lang="en-US" spc="0">
                <a:solidFill>
                  <a:srgbClr val="357B73"/>
                </a:solidFill>
                <a:latin typeface="DejaVu Sans"/>
                <a:ea typeface="DejaVu Sans"/>
              </a:rPr>
              <a:t>q50</a:t>
            </a:r>
          </a:p>
        </p:txBody>
      </p:sp>
      <p:sp>
        <p:nvSpPr>
          <p:cNvPr id="109" name="q90"/>
          <p:cNvSpPr txBox="1"/>
          <p:nvPr/>
        </p:nvSpPr>
        <p:spPr>
          <a:xfrm>
            <a:off x="10169007" y="5206451"/>
            <a:ext cx="436585" cy="243224"/>
          </a:xfrm>
          <a:prstGeom prst="rect">
            <a:avLst/>
          </a:prstGeom>
          <a:noFill/>
        </p:spPr>
        <p:txBody>
          <a:bodyPr wrap="none" lIns="0" rIns="0" tIns="0" bIns="0" anchor="t">
            <a:spAutoFit/>
          </a:bodyPr>
          <a:lstStyle/>
          <a:p>
            <a:pPr algn="ctr">
              <a:lnSpc>
                <a:spcPct val="100000"/>
              </a:lnSpc>
              <a:spcBef>
                <a:spcPts val="0"/>
              </a:spcBef>
              <a:spcAft>
                <a:spcPts val="0"/>
              </a:spcAft>
            </a:pPr>
            <a:r>
              <a:rPr sz="1439" b="0" lang="en-US" spc="0">
                <a:solidFill>
                  <a:srgbClr val="357B73"/>
                </a:solidFill>
                <a:latin typeface="DejaVu Sans"/>
                <a:ea typeface="DejaVu Sans"/>
              </a:rPr>
              <a:t>q90</a:t>
            </a:r>
          </a:p>
        </p:txBody>
      </p:sp>
      <p:cxnSp>
        <p:nvCxnSpPr>
          <p:cNvPr id="110" name="path 109"/>
          <p:cNvCxnSpPr/>
          <p:nvPr/>
        </p:nvCxnSpPr>
        <p:spPr>
          <a:xfrm>
            <a:off x="10511655" y="4988830"/>
            <a:ext cx="365750"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11" name="rect 110"/>
          <p:cNvSpPr/>
          <p:nvPr/>
        </p:nvSpPr>
        <p:spPr>
          <a:xfrm>
            <a:off x="10892035" y="4776695"/>
            <a:ext cx="1799490" cy="424270"/>
          </a:xfrm>
          <a:prstGeom prst="roundRect">
            <a:avLst>
              <a:gd name="adj" fmla="val 3448"/>
            </a:avLst>
          </a:prstGeom>
          <a:solidFill>
            <a:srgbClr val="FFFFFF"/>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τtool(t)"/>
          <p:cNvSpPr txBox="1"/>
          <p:nvPr/>
        </p:nvSpPr>
        <p:spPr>
          <a:xfrm>
            <a:off x="11315162" y="4868279"/>
            <a:ext cx="953236" cy="268826"/>
          </a:xfrm>
          <a:prstGeom prst="rect">
            <a:avLst/>
          </a:prstGeom>
          <a:noFill/>
        </p:spPr>
        <p:txBody>
          <a:bodyPr wrap="none" lIns="0" rIns="0" tIns="0" bIns="0" anchor="t">
            <a:spAutoFit/>
          </a:bodyPr>
          <a:lstStyle/>
          <a:p>
            <a:pPr algn="ctr">
              <a:lnSpc>
                <a:spcPct val="100000"/>
              </a:lnSpc>
              <a:spcBef>
                <a:spcPts val="0"/>
              </a:spcBef>
              <a:spcAft>
                <a:spcPts val="0"/>
              </a:spcAft>
            </a:pPr>
            <a:r>
              <a:rPr sz="1612" b="1" lang="en-US" spc="0">
                <a:solidFill>
                  <a:srgbClr val="263746"/>
                </a:solidFill>
                <a:latin typeface="DejaVu Sans"/>
                <a:ea typeface="DejaVu Sans"/>
              </a:rPr>
              <a:t>τtool(t)</a:t>
            </a:r>
          </a:p>
        </p:txBody>
      </p:sp>
      <p:sp>
        <p:nvSpPr>
          <p:cNvPr id="113" name="path 112"/>
          <p:cNvSpPr/>
          <p:nvPr/>
        </p:nvSpPr>
        <p:spPr>
          <a:xfrm>
            <a:off x="4659655" y="5200965"/>
            <a:ext cx="7132125" cy="321860"/>
          </a:xfrm>
          <a:custGeom>
            <a:avLst/>
            <a:gdLst/>
            <a:ahLst/>
            <a:cxnLst/>
            <a:rect l="l" t="t" r="r" b="b"/>
            <a:pathLst>
              <a:path w="975" h="44">
                <a:moveTo>
                  <a:pt x="975" y="1"/>
                </a:moveTo>
                <a:lnTo>
                  <a:pt x="975" y="44"/>
                </a:lnTo>
                <a:lnTo>
                  <a:pt x="0" y="44"/>
                </a:lnTo>
                <a:lnTo>
                  <a:pt x="0" y="0"/>
                </a:lnTo>
              </a:path>
            </a:pathLst>
          </a:custGeom>
          <a:noFill/>
          <a:ln w="17556">
            <a:solidFill>
              <a:srgbClr val="357B73"/>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TOOL_END"/>
          <p:cNvSpPr txBox="1"/>
          <p:nvPr/>
        </p:nvSpPr>
        <p:spPr>
          <a:xfrm>
            <a:off x="5456990" y="5336292"/>
            <a:ext cx="995011"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57B73"/>
                </a:solidFill>
                <a:latin typeface="DejaVu Sans"/>
                <a:ea typeface="DejaVu Sans"/>
              </a:rPr>
              <a:t>TOOL_END</a:t>
            </a:r>
          </a:p>
        </p:txBody>
      </p:sp>
      <p:sp>
        <p:nvSpPr>
          <p:cNvPr id="115" name="path 114"/>
          <p:cNvSpPr/>
          <p:nvPr/>
        </p:nvSpPr>
        <p:spPr>
          <a:xfrm>
            <a:off x="9194955" y="5683755"/>
            <a:ext cx="2596825" cy="804650"/>
          </a:xfrm>
          <a:custGeom>
            <a:avLst/>
            <a:gdLst/>
            <a:ahLst/>
            <a:cxnLst/>
            <a:rect l="l" t="t" r="r" b="b"/>
            <a:pathLst>
              <a:path w="355" h="110">
                <a:moveTo>
                  <a:pt x="355" y="0"/>
                </a:moveTo>
                <a:lnTo>
                  <a:pt x="355" y="21"/>
                </a:lnTo>
                <a:lnTo>
                  <a:pt x="0" y="21"/>
                </a:lnTo>
                <a:lnTo>
                  <a:pt x="0" y="110"/>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rect 115"/>
          <p:cNvSpPr/>
          <p:nvPr/>
        </p:nvSpPr>
        <p:spPr>
          <a:xfrm>
            <a:off x="292600" y="6129970"/>
            <a:ext cx="12581800" cy="943635"/>
          </a:xfrm>
          <a:prstGeom prst="roundRect">
            <a:avLst>
              <a:gd name="adj" fmla="val 2325"/>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7" name="line 116"/>
          <p:cNvCxnSpPr/>
          <p:nvPr/>
        </p:nvCxnSpPr>
        <p:spPr>
          <a:xfrm>
            <a:off x="299915" y="6137285"/>
            <a:ext cx="12567170" cy="0"/>
          </a:xfrm>
          <a:prstGeom prst="line">
            <a:avLst/>
          </a:prstGeom>
          <a:ln w="21945">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118" name="(d) Runtime start window"/>
          <p:cNvSpPr txBox="1"/>
          <p:nvPr/>
        </p:nvSpPr>
        <p:spPr>
          <a:xfrm>
            <a:off x="453530" y="6232380"/>
            <a:ext cx="3044212"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57B73"/>
                </a:solidFill>
                <a:latin typeface="DejaVu Sans"/>
                <a:ea typeface="DejaVu Sans"/>
              </a:rPr>
              <a:t>(d) Runtime start window</a:t>
            </a:r>
          </a:p>
        </p:txBody>
      </p:sp>
      <p:sp>
        <p:nvSpPr>
          <p:cNvPr id="119" name="rect 118"/>
          <p:cNvSpPr/>
          <p:nvPr/>
        </p:nvSpPr>
        <p:spPr>
          <a:xfrm>
            <a:off x="468160" y="6554240"/>
            <a:ext cx="1762915" cy="380380"/>
          </a:xfrm>
          <a:prstGeom prst="roundRect">
            <a:avLst>
              <a:gd name="adj" fmla="val 3846"/>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ACK history"/>
          <p:cNvSpPr txBox="1"/>
          <p:nvPr/>
        </p:nvSpPr>
        <p:spPr>
          <a:xfrm>
            <a:off x="654864" y="6626878"/>
            <a:ext cx="1389507"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ACK history</a:t>
            </a:r>
          </a:p>
        </p:txBody>
      </p:sp>
      <p:cxnSp>
        <p:nvCxnSpPr>
          <p:cNvPr id="121" name="path 120"/>
          <p:cNvCxnSpPr/>
          <p:nvPr/>
        </p:nvCxnSpPr>
        <p:spPr>
          <a:xfrm>
            <a:off x="2238390" y="6744430"/>
            <a:ext cx="314545"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22" name="rect 121"/>
          <p:cNvSpPr/>
          <p:nvPr/>
        </p:nvSpPr>
        <p:spPr>
          <a:xfrm>
            <a:off x="2567565" y="6517665"/>
            <a:ext cx="5054665" cy="453530"/>
          </a:xfrm>
          <a:prstGeom prst="roundRect">
            <a:avLst>
              <a:gd name="adj" fmla="val 3225"/>
            </a:avLst>
          </a:prstGeom>
          <a:solidFill>
            <a:srgbClr val="FFFFFF"/>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H = min(L, S90 + Q90 + Δobs + εearly)"/>
          <p:cNvSpPr txBox="1"/>
          <p:nvPr/>
        </p:nvSpPr>
        <p:spPr>
          <a:xfrm>
            <a:off x="2810889" y="6623879"/>
            <a:ext cx="4568017" cy="268826"/>
          </a:xfrm>
          <a:prstGeom prst="rect">
            <a:avLst/>
          </a:prstGeom>
          <a:noFill/>
        </p:spPr>
        <p:txBody>
          <a:bodyPr wrap="none" lIns="0" rIns="0" tIns="0" bIns="0" anchor="t">
            <a:spAutoFit/>
          </a:bodyPr>
          <a:lstStyle/>
          <a:p>
            <a:pPr algn="ctr">
              <a:lnSpc>
                <a:spcPct val="100000"/>
              </a:lnSpc>
              <a:spcBef>
                <a:spcPts val="0"/>
              </a:spcBef>
              <a:spcAft>
                <a:spcPts val="0"/>
              </a:spcAft>
            </a:pPr>
            <a:r>
              <a:rPr sz="1612" b="1" lang="en-US" spc="0">
                <a:solidFill>
                  <a:srgbClr val="263746"/>
                </a:solidFill>
                <a:latin typeface="DejaVu Sans"/>
                <a:ea typeface="DejaVu Sans"/>
              </a:rPr>
              <a:t>H = min(L, S90 + Q90 + Δobs + εearly)</a:t>
            </a:r>
          </a:p>
        </p:txBody>
      </p:sp>
      <p:cxnSp>
        <p:nvCxnSpPr>
          <p:cNvPr id="124" name="path 123"/>
          <p:cNvCxnSpPr/>
          <p:nvPr/>
        </p:nvCxnSpPr>
        <p:spPr>
          <a:xfrm>
            <a:off x="7629545" y="6744430"/>
            <a:ext cx="636405"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25" name="polygon 124"/>
          <p:cNvSpPr/>
          <p:nvPr/>
        </p:nvSpPr>
        <p:spPr>
          <a:xfrm>
            <a:off x="8273265" y="6459145"/>
            <a:ext cx="1521520" cy="570570"/>
          </a:xfrm>
          <a:custGeom>
            <a:avLst/>
            <a:gdLst/>
            <a:ahLst/>
            <a:cxnLst/>
            <a:rect l="l" t="t" r="r" b="b"/>
            <a:pathLst>
              <a:path w="208" h="78">
                <a:moveTo>
                  <a:pt x="104" y="0"/>
                </a:moveTo>
                <a:lnTo>
                  <a:pt x="208" y="39"/>
                </a:lnTo>
                <a:lnTo>
                  <a:pt x="104" y="78"/>
                </a:lnTo>
                <a:lnTo>
                  <a:pt x="0" y="39"/>
                </a:lnTo>
                <a:close/>
              </a:path>
            </a:pathLst>
          </a:cu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τ ≤ H"/>
          <p:cNvSpPr txBox="1"/>
          <p:nvPr/>
        </p:nvSpPr>
        <p:spPr>
          <a:xfrm>
            <a:off x="8648916" y="6598130"/>
            <a:ext cx="770218" cy="296258"/>
          </a:xfrm>
          <a:prstGeom prst="rect">
            <a:avLst/>
          </a:prstGeom>
          <a:noFill/>
        </p:spPr>
        <p:txBody>
          <a:bodyPr wrap="none" lIns="0" rIns="0" tIns="0" bIns="0" anchor="t">
            <a:spAutoFit/>
          </a:bodyPr>
          <a:lstStyle/>
          <a:p>
            <a:pPr algn="ctr">
              <a:lnSpc>
                <a:spcPct val="100000"/>
              </a:lnSpc>
              <a:spcBef>
                <a:spcPts val="0"/>
              </a:spcBef>
              <a:spcAft>
                <a:spcPts val="0"/>
              </a:spcAft>
            </a:pPr>
            <a:r>
              <a:rPr sz="1785" b="1" lang="en-US" spc="0">
                <a:solidFill>
                  <a:srgbClr val="357B73"/>
                </a:solidFill>
                <a:latin typeface="DejaVu Sans"/>
                <a:ea typeface="DejaVu Sans"/>
              </a:rPr>
              <a:t>τ ≤ H</a:t>
            </a:r>
          </a:p>
        </p:txBody>
      </p:sp>
      <p:cxnSp>
        <p:nvCxnSpPr>
          <p:cNvPr id="127" name="path 126"/>
          <p:cNvCxnSpPr/>
          <p:nvPr/>
        </p:nvCxnSpPr>
        <p:spPr>
          <a:xfrm>
            <a:off x="9809415" y="6744430"/>
            <a:ext cx="731500"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28" name="path 127"/>
          <p:cNvSpPr/>
          <p:nvPr/>
        </p:nvSpPr>
        <p:spPr>
          <a:xfrm>
            <a:off x="10087385" y="6532295"/>
            <a:ext cx="131670" cy="131670"/>
          </a:xfrm>
          <a:custGeom>
            <a:avLst/>
            <a:gdLst/>
            <a:ahLst/>
            <a:cxnLst/>
            <a:rect l="l" t="t" r="r" b="b"/>
            <a:pathLst>
              <a:path w="18" h="18">
                <a:moveTo>
                  <a:pt x="0" y="9"/>
                </a:moveTo>
                <a:lnTo>
                  <a:pt x="6" y="18"/>
                </a:lnTo>
                <a:lnTo>
                  <a:pt x="18" y="0"/>
                </a:lnTo>
              </a:path>
            </a:pathLst>
          </a:custGeom>
          <a:noFill/>
          <a:ln w="2048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rect 128"/>
          <p:cNvSpPr/>
          <p:nvPr/>
        </p:nvSpPr>
        <p:spPr>
          <a:xfrm>
            <a:off x="10555545" y="6517665"/>
            <a:ext cx="2135980" cy="453530"/>
          </a:xfrm>
          <a:prstGeom prst="roundRect">
            <a:avLst>
              <a:gd name="adj" fmla="val 3225"/>
            </a:avLst>
          </a:prstGeom>
          <a:solidFill>
            <a:srgbClr val="EAF3F1"/>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PREFETCH_GPU"/>
          <p:cNvSpPr txBox="1"/>
          <p:nvPr/>
        </p:nvSpPr>
        <p:spPr>
          <a:xfrm>
            <a:off x="10723347" y="6626878"/>
            <a:ext cx="1800376"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PREFETCH_GPU</a:t>
            </a:r>
          </a:p>
        </p:txBody>
      </p:sp>
      <p:cxnSp>
        <p:nvCxnSpPr>
          <p:cNvPr id="131" name="line 130"/>
          <p:cNvCxnSpPr/>
          <p:nvPr/>
        </p:nvCxnSpPr>
        <p:spPr>
          <a:xfrm>
            <a:off x="8851150" y="7351575"/>
            <a:ext cx="0" cy="1265495"/>
          </a:xfrm>
          <a:prstGeom prst="line">
            <a:avLst/>
          </a:prstGeom>
          <a:ln w="13167">
            <a:solidFill>
              <a:srgbClr val="89959D"/>
            </a:solidFill>
            <a:prstDash val="dash"/>
          </a:ln>
          <a:effectLst/>
        </p:spPr>
        <p:style>
          <a:lnRef idx="2">
            <a:schemeClr val="accent1"/>
          </a:lnRef>
          <a:fillRef idx="0">
            <a:schemeClr val="accent1"/>
          </a:fillRef>
          <a:effectRef idx="0">
            <a:schemeClr val="accent1"/>
          </a:effectRef>
          <a:fontRef idx="minor">
            <a:schemeClr val="tx1"/>
          </a:fontRef>
        </p:style>
      </p:cxnSp>
      <p:sp>
        <p:nvSpPr>
          <p:cNvPr id="132" name="RETURN / TOOL_END"/>
          <p:cNvSpPr txBox="1"/>
          <p:nvPr/>
        </p:nvSpPr>
        <p:spPr>
          <a:xfrm>
            <a:off x="8924300" y="7196131"/>
            <a:ext cx="2188214" cy="243224"/>
          </a:xfrm>
          <a:prstGeom prst="rect">
            <a:avLst/>
          </a:prstGeom>
          <a:noFill/>
        </p:spPr>
        <p:txBody>
          <a:bodyPr wrap="none" lIns="0" rIns="0" tIns="0" bIns="0" anchor="t">
            <a:spAutoFit/>
          </a:bodyPr>
          <a:lstStyle/>
          <a:p>
            <a:pPr algn="l">
              <a:lnSpc>
                <a:spcPct val="100000"/>
              </a:lnSpc>
              <a:spcBef>
                <a:spcPts val="0"/>
              </a:spcBef>
              <a:spcAft>
                <a:spcPts val="0"/>
              </a:spcAft>
            </a:pPr>
            <a:r>
              <a:rPr sz="1439" b="1" lang="en-US" spc="0">
                <a:solidFill>
                  <a:srgbClr val="263746"/>
                </a:solidFill>
                <a:latin typeface="DejaVu Sans"/>
                <a:ea typeface="DejaVu Sans"/>
              </a:rPr>
              <a:t>RETURN / TOOL_END</a:t>
            </a:r>
          </a:p>
        </p:txBody>
      </p:sp>
      <p:cxnSp>
        <p:nvCxnSpPr>
          <p:cNvPr id="133" name="line 132"/>
          <p:cNvCxnSpPr/>
          <p:nvPr/>
        </p:nvCxnSpPr>
        <p:spPr>
          <a:xfrm>
            <a:off x="6729800" y="7358890"/>
            <a:ext cx="2121350" cy="0"/>
          </a:xfrm>
          <a:prstGeom prst="line">
            <a:avLst/>
          </a:prstGeom>
          <a:ln w="18288">
            <a:solidFill>
              <a:srgbClr val="357B73"/>
            </a:solidFill>
          </a:ln>
          <a:effectLst/>
        </p:spPr>
        <p:style>
          <a:lnRef idx="2">
            <a:schemeClr val="accent1"/>
          </a:lnRef>
          <a:fillRef idx="0">
            <a:schemeClr val="accent1"/>
          </a:fillRef>
          <a:effectRef idx="0">
            <a:schemeClr val="accent1"/>
          </a:effectRef>
          <a:fontRef idx="minor">
            <a:schemeClr val="tx1"/>
          </a:fontRef>
        </p:style>
      </p:cxnSp>
      <p:cxnSp>
        <p:nvCxnSpPr>
          <p:cNvPr id="134" name="line 133"/>
          <p:cNvCxnSpPr/>
          <p:nvPr/>
        </p:nvCxnSpPr>
        <p:spPr>
          <a:xfrm>
            <a:off x="6729800" y="7293055"/>
            <a:ext cx="0" cy="131670"/>
          </a:xfrm>
          <a:prstGeom prst="line">
            <a:avLst/>
          </a:prstGeom>
          <a:ln w="14630">
            <a:solidFill>
              <a:srgbClr val="357B73"/>
            </a:solidFill>
          </a:ln>
          <a:effectLst/>
        </p:spPr>
        <p:style>
          <a:lnRef idx="2">
            <a:schemeClr val="accent1"/>
          </a:lnRef>
          <a:fillRef idx="0">
            <a:schemeClr val="accent1"/>
          </a:fillRef>
          <a:effectRef idx="0">
            <a:schemeClr val="accent1"/>
          </a:effectRef>
          <a:fontRef idx="minor">
            <a:schemeClr val="tx1"/>
          </a:fontRef>
        </p:style>
      </p:cxnSp>
      <p:cxnSp>
        <p:nvCxnSpPr>
          <p:cNvPr id="135" name="line 134"/>
          <p:cNvCxnSpPr/>
          <p:nvPr/>
        </p:nvCxnSpPr>
        <p:spPr>
          <a:xfrm>
            <a:off x="8851150" y="7293055"/>
            <a:ext cx="0" cy="131670"/>
          </a:xfrm>
          <a:prstGeom prst="line">
            <a:avLst/>
          </a:prstGeom>
          <a:ln w="14630">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136" name="circle 135"/>
          <p:cNvSpPr/>
          <p:nvPr/>
        </p:nvSpPr>
        <p:spPr>
          <a:xfrm>
            <a:off x="7753900" y="7322315"/>
            <a:ext cx="73150" cy="73150"/>
          </a:xfrm>
          <a:prstGeom prst="ellipse">
            <a:avLst/>
          </a:prstGeom>
          <a:solidFill>
            <a:srgbClr val="357B73"/>
          </a:solidFill>
          <a:ln w="7315">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Δt"/>
          <p:cNvSpPr txBox="1"/>
          <p:nvPr/>
        </p:nvSpPr>
        <p:spPr>
          <a:xfrm>
            <a:off x="7527135" y="7150412"/>
            <a:ext cx="268855"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57B73"/>
                </a:solidFill>
                <a:latin typeface="DejaVu Sans"/>
                <a:ea typeface="DejaVu Sans"/>
              </a:rPr>
              <a:t>Δt</a:t>
            </a:r>
          </a:p>
        </p:txBody>
      </p:sp>
      <p:sp>
        <p:nvSpPr>
          <p:cNvPr id="138" name="child / tool"/>
          <p:cNvSpPr txBox="1"/>
          <p:nvPr/>
        </p:nvSpPr>
        <p:spPr>
          <a:xfrm>
            <a:off x="490105" y="7481416"/>
            <a:ext cx="1265381" cy="261511"/>
          </a:xfrm>
          <a:prstGeom prst="rect">
            <a:avLst/>
          </a:prstGeom>
          <a:noFill/>
        </p:spPr>
        <p:txBody>
          <a:bodyPr wrap="none" lIns="0" rIns="0" tIns="0" bIns="0" anchor="t">
            <a:spAutoFit/>
          </a:bodyPr>
          <a:lstStyle/>
          <a:p>
            <a:pPr algn="l">
              <a:lnSpc>
                <a:spcPct val="100000"/>
              </a:lnSpc>
              <a:spcBef>
                <a:spcPts val="0"/>
              </a:spcBef>
              <a:spcAft>
                <a:spcPts val="0"/>
              </a:spcAft>
            </a:pPr>
            <a:r>
              <a:rPr sz="1555" b="1" lang="en-US" spc="0">
                <a:solidFill>
                  <a:srgbClr val="263746"/>
                </a:solidFill>
                <a:latin typeface="DejaVu Sans"/>
                <a:ea typeface="DejaVu Sans"/>
              </a:rPr>
              <a:t>child / tool</a:t>
            </a:r>
          </a:p>
        </p:txBody>
      </p:sp>
      <p:cxnSp>
        <p:nvCxnSpPr>
          <p:cNvPr id="139" name="line 138"/>
          <p:cNvCxnSpPr/>
          <p:nvPr/>
        </p:nvCxnSpPr>
        <p:spPr>
          <a:xfrm>
            <a:off x="2852850" y="7563710"/>
            <a:ext cx="10021550" cy="0"/>
          </a:xfrm>
          <a:prstGeom prst="line">
            <a:avLst/>
          </a:prstGeom>
          <a:ln w="8778">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140" name="prefetch"/>
          <p:cNvSpPr txBox="1"/>
          <p:nvPr/>
        </p:nvSpPr>
        <p:spPr>
          <a:xfrm>
            <a:off x="490105" y="7927631"/>
            <a:ext cx="1032501" cy="261511"/>
          </a:xfrm>
          <a:prstGeom prst="rect">
            <a:avLst/>
          </a:prstGeom>
          <a:noFill/>
        </p:spPr>
        <p:txBody>
          <a:bodyPr wrap="none" lIns="0" rIns="0" tIns="0" bIns="0" anchor="t">
            <a:spAutoFit/>
          </a:bodyPr>
          <a:lstStyle/>
          <a:p>
            <a:pPr algn="l">
              <a:lnSpc>
                <a:spcPct val="100000"/>
              </a:lnSpc>
              <a:spcBef>
                <a:spcPts val="0"/>
              </a:spcBef>
              <a:spcAft>
                <a:spcPts val="0"/>
              </a:spcAft>
            </a:pPr>
            <a:r>
              <a:rPr sz="1555" b="1" lang="en-US" spc="0">
                <a:solidFill>
                  <a:srgbClr val="263746"/>
                </a:solidFill>
                <a:latin typeface="DejaVu Sans"/>
                <a:ea typeface="DejaVu Sans"/>
              </a:rPr>
              <a:t>prefetch</a:t>
            </a:r>
          </a:p>
        </p:txBody>
      </p:sp>
      <p:cxnSp>
        <p:nvCxnSpPr>
          <p:cNvPr id="141" name="line 140"/>
          <p:cNvCxnSpPr/>
          <p:nvPr/>
        </p:nvCxnSpPr>
        <p:spPr>
          <a:xfrm>
            <a:off x="2852850" y="8009925"/>
            <a:ext cx="10021550" cy="0"/>
          </a:xfrm>
          <a:prstGeom prst="line">
            <a:avLst/>
          </a:prstGeom>
          <a:ln w="8778">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142" name="native"/>
          <p:cNvSpPr txBox="1"/>
          <p:nvPr/>
        </p:nvSpPr>
        <p:spPr>
          <a:xfrm>
            <a:off x="490105" y="8373846"/>
            <a:ext cx="786477" cy="261511"/>
          </a:xfrm>
          <a:prstGeom prst="rect">
            <a:avLst/>
          </a:prstGeom>
          <a:noFill/>
        </p:spPr>
        <p:txBody>
          <a:bodyPr wrap="none" lIns="0" rIns="0" tIns="0" bIns="0" anchor="t">
            <a:spAutoFit/>
          </a:bodyPr>
          <a:lstStyle/>
          <a:p>
            <a:pPr algn="l">
              <a:lnSpc>
                <a:spcPct val="100000"/>
              </a:lnSpc>
              <a:spcBef>
                <a:spcPts val="0"/>
              </a:spcBef>
              <a:spcAft>
                <a:spcPts val="0"/>
              </a:spcAft>
            </a:pPr>
            <a:r>
              <a:rPr sz="1555" b="1" lang="en-US" spc="0">
                <a:solidFill>
                  <a:srgbClr val="263746"/>
                </a:solidFill>
                <a:latin typeface="DejaVu Sans"/>
                <a:ea typeface="DejaVu Sans"/>
              </a:rPr>
              <a:t>native</a:t>
            </a:r>
          </a:p>
        </p:txBody>
      </p:sp>
      <p:cxnSp>
        <p:nvCxnSpPr>
          <p:cNvPr id="143" name="line 142"/>
          <p:cNvCxnSpPr/>
          <p:nvPr/>
        </p:nvCxnSpPr>
        <p:spPr>
          <a:xfrm>
            <a:off x="2852850" y="8456140"/>
            <a:ext cx="10021550" cy="0"/>
          </a:xfrm>
          <a:prstGeom prst="line">
            <a:avLst/>
          </a:prstGeom>
          <a:ln w="8778">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144" name="rect 143"/>
          <p:cNvSpPr/>
          <p:nvPr/>
        </p:nvSpPr>
        <p:spPr>
          <a:xfrm>
            <a:off x="2852850" y="7461300"/>
            <a:ext cx="5998300" cy="277970"/>
          </a:xfrm>
          <a:prstGeom prst="roundRect">
            <a:avLst>
              <a:gd name="adj" fmla="val 5263"/>
            </a:avLst>
          </a:prstGeom>
          <a:solidFill>
            <a:srgbClr val="EDF3F8"/>
          </a:solidFill>
          <a:ln w="12435">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decode / tool"/>
          <p:cNvSpPr txBox="1"/>
          <p:nvPr/>
        </p:nvSpPr>
        <p:spPr>
          <a:xfrm>
            <a:off x="4967885" y="7481416"/>
            <a:ext cx="1329330" cy="252368"/>
          </a:xfrm>
          <a:prstGeom prst="rect">
            <a:avLst/>
          </a:prstGeom>
          <a:noFill/>
        </p:spPr>
        <p:txBody>
          <a:bodyPr wrap="none" lIns="0" rIns="0" tIns="0" bIns="0" anchor="t">
            <a:spAutoFit/>
          </a:bodyPr>
          <a:lstStyle/>
          <a:p>
            <a:pPr algn="ctr">
              <a:lnSpc>
                <a:spcPct val="100000"/>
              </a:lnSpc>
              <a:spcBef>
                <a:spcPts val="0"/>
              </a:spcBef>
              <a:spcAft>
                <a:spcPts val="0"/>
              </a:spcAft>
            </a:pPr>
            <a:r>
              <a:rPr sz="1497" b="0" lang="en-US" spc="0">
                <a:solidFill>
                  <a:srgbClr val="3D6F9F"/>
                </a:solidFill>
                <a:latin typeface="DejaVu Sans"/>
                <a:ea typeface="DejaVu Sans"/>
              </a:rPr>
              <a:t>decode / tool</a:t>
            </a:r>
          </a:p>
        </p:txBody>
      </p:sp>
      <p:sp>
        <p:nvSpPr>
          <p:cNvPr id="146" name="rect 145"/>
          <p:cNvSpPr/>
          <p:nvPr/>
        </p:nvSpPr>
        <p:spPr>
          <a:xfrm>
            <a:off x="6729800" y="7907515"/>
            <a:ext cx="2926000" cy="277970"/>
          </a:xfrm>
          <a:prstGeom prst="roundRect">
            <a:avLst>
              <a:gd name="adj" fmla="val 5263"/>
            </a:avLst>
          </a:prstGeom>
          <a:solidFill>
            <a:srgbClr val="EAF3F1"/>
          </a:solidFill>
          <a:ln w="13167">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7" name="H2D"/>
          <p:cNvSpPr txBox="1"/>
          <p:nvPr/>
        </p:nvSpPr>
        <p:spPr>
          <a:xfrm>
            <a:off x="7943676" y="7927631"/>
            <a:ext cx="498249" cy="252368"/>
          </a:xfrm>
          <a:prstGeom prst="rect">
            <a:avLst/>
          </a:prstGeom>
          <a:noFill/>
        </p:spPr>
        <p:txBody>
          <a:bodyPr wrap="none" lIns="0" rIns="0" tIns="0" bIns="0" anchor="t">
            <a:spAutoFit/>
          </a:bodyPr>
          <a:lstStyle/>
          <a:p>
            <a:pPr algn="ctr">
              <a:lnSpc>
                <a:spcPct val="100000"/>
              </a:lnSpc>
              <a:spcBef>
                <a:spcPts val="0"/>
              </a:spcBef>
              <a:spcAft>
                <a:spcPts val="0"/>
              </a:spcAft>
            </a:pPr>
            <a:r>
              <a:rPr sz="1497" b="0" lang="en-US" spc="0">
                <a:solidFill>
                  <a:srgbClr val="357B73"/>
                </a:solidFill>
                <a:latin typeface="DejaVu Sans"/>
                <a:ea typeface="DejaVu Sans"/>
              </a:rPr>
              <a:t>H2D</a:t>
            </a:r>
          </a:p>
        </p:txBody>
      </p:sp>
      <p:sp>
        <p:nvSpPr>
          <p:cNvPr id="148" name="rect 147"/>
          <p:cNvSpPr/>
          <p:nvPr/>
        </p:nvSpPr>
        <p:spPr>
          <a:xfrm>
            <a:off x="9655800" y="7907515"/>
            <a:ext cx="1170400" cy="277970"/>
          </a:xfrm>
          <a:prstGeom prst="roundRect">
            <a:avLst>
              <a:gd name="adj" fmla="val 5263"/>
            </a:avLst>
          </a:prstGeom>
          <a:solidFill>
            <a:srgbClr val="F2F4F5"/>
          </a:solidFill>
          <a:ln w="10972">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rect 148"/>
          <p:cNvSpPr/>
          <p:nvPr/>
        </p:nvSpPr>
        <p:spPr>
          <a:xfrm>
            <a:off x="10826200" y="7907515"/>
            <a:ext cx="2048200" cy="277970"/>
          </a:xfrm>
          <a:prstGeom prst="roundRect">
            <a:avLst>
              <a:gd name="adj" fmla="val 5263"/>
            </a:avLst>
          </a:prstGeom>
          <a:solidFill>
            <a:srgbClr val="EDF3F8"/>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GPU"/>
          <p:cNvSpPr txBox="1"/>
          <p:nvPr/>
        </p:nvSpPr>
        <p:spPr>
          <a:xfrm>
            <a:off x="11605762" y="7927631"/>
            <a:ext cx="489076" cy="252368"/>
          </a:xfrm>
          <a:prstGeom prst="rect">
            <a:avLst/>
          </a:prstGeom>
          <a:noFill/>
        </p:spPr>
        <p:txBody>
          <a:bodyPr wrap="none" lIns="0" rIns="0" tIns="0" bIns="0" anchor="t">
            <a:spAutoFit/>
          </a:bodyPr>
          <a:lstStyle/>
          <a:p>
            <a:pPr algn="ctr">
              <a:lnSpc>
                <a:spcPct val="100000"/>
              </a:lnSpc>
              <a:spcBef>
                <a:spcPts val="0"/>
              </a:spcBef>
              <a:spcAft>
                <a:spcPts val="0"/>
              </a:spcAft>
            </a:pPr>
            <a:r>
              <a:rPr sz="1497" b="0" lang="en-US" spc="0">
                <a:solidFill>
                  <a:srgbClr val="3D6F9F"/>
                </a:solidFill>
                <a:latin typeface="DejaVu Sans"/>
                <a:ea typeface="DejaVu Sans"/>
              </a:rPr>
              <a:t>GPU</a:t>
            </a:r>
          </a:p>
        </p:txBody>
      </p:sp>
      <p:sp>
        <p:nvSpPr>
          <p:cNvPr id="151" name="ACK"/>
          <p:cNvSpPr txBox="1"/>
          <p:nvPr/>
        </p:nvSpPr>
        <p:spPr>
          <a:xfrm>
            <a:off x="9524130" y="7699038"/>
            <a:ext cx="427727"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57B73"/>
                </a:solidFill>
                <a:latin typeface="DejaVu Sans"/>
                <a:ea typeface="DejaVu Sans"/>
              </a:rPr>
              <a:t>ACK</a:t>
            </a:r>
          </a:p>
        </p:txBody>
      </p:sp>
      <p:sp>
        <p:nvSpPr>
          <p:cNvPr id="152" name="First use"/>
          <p:cNvSpPr txBox="1"/>
          <p:nvPr/>
        </p:nvSpPr>
        <p:spPr>
          <a:xfrm>
            <a:off x="10884720" y="7699038"/>
            <a:ext cx="793220"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D6F9F"/>
                </a:solidFill>
                <a:latin typeface="DejaVu Sans"/>
                <a:ea typeface="DejaVu Sans"/>
              </a:rPr>
              <a:t>First use</a:t>
            </a:r>
          </a:p>
        </p:txBody>
      </p:sp>
      <p:sp>
        <p:nvSpPr>
          <p:cNvPr id="153" name="rect 152"/>
          <p:cNvSpPr/>
          <p:nvPr/>
        </p:nvSpPr>
        <p:spPr>
          <a:xfrm>
            <a:off x="8851150" y="8353730"/>
            <a:ext cx="3072300" cy="277970"/>
          </a:xfrm>
          <a:prstGeom prst="roundRect">
            <a:avLst>
              <a:gd name="adj" fmla="val 5263"/>
            </a:avLst>
          </a:prstGeom>
          <a:solidFill>
            <a:srgbClr val="F2F4F5"/>
          </a:solidFill>
          <a:ln w="12435">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4" name="H2D"/>
          <p:cNvSpPr txBox="1"/>
          <p:nvPr/>
        </p:nvSpPr>
        <p:spPr>
          <a:xfrm>
            <a:off x="10138176" y="8373846"/>
            <a:ext cx="498249" cy="252368"/>
          </a:xfrm>
          <a:prstGeom prst="rect">
            <a:avLst/>
          </a:prstGeom>
          <a:noFill/>
        </p:spPr>
        <p:txBody>
          <a:bodyPr wrap="none" lIns="0" rIns="0" tIns="0" bIns="0" anchor="t">
            <a:spAutoFit/>
          </a:bodyPr>
          <a:lstStyle/>
          <a:p>
            <a:pPr algn="ctr">
              <a:lnSpc>
                <a:spcPct val="100000"/>
              </a:lnSpc>
              <a:spcBef>
                <a:spcPts val="0"/>
              </a:spcBef>
              <a:spcAft>
                <a:spcPts val="0"/>
              </a:spcAft>
            </a:pPr>
            <a:r>
              <a:rPr sz="1497" b="0" lang="en-US" spc="0">
                <a:solidFill>
                  <a:srgbClr val="687680"/>
                </a:solidFill>
                <a:latin typeface="DejaVu Sans"/>
                <a:ea typeface="DejaVu Sans"/>
              </a:rPr>
              <a:t>H2D</a:t>
            </a:r>
          </a:p>
        </p:txBody>
      </p:sp>
      <p:sp>
        <p:nvSpPr>
          <p:cNvPr id="155" name="rect 154"/>
          <p:cNvSpPr/>
          <p:nvPr/>
        </p:nvSpPr>
        <p:spPr>
          <a:xfrm>
            <a:off x="11923450" y="8353730"/>
            <a:ext cx="950950" cy="277970"/>
          </a:xfrm>
          <a:prstGeom prst="roundRect">
            <a:avLst>
              <a:gd name="adj" fmla="val 5263"/>
            </a:avLst>
          </a:prstGeom>
          <a:solidFill>
            <a:srgbClr val="EDF3F8"/>
          </a:solidFill>
          <a:ln w="12435">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6" name="GPU"/>
          <p:cNvSpPr txBox="1"/>
          <p:nvPr/>
        </p:nvSpPr>
        <p:spPr>
          <a:xfrm>
            <a:off x="12154387" y="8373846"/>
            <a:ext cx="489076" cy="252368"/>
          </a:xfrm>
          <a:prstGeom prst="rect">
            <a:avLst/>
          </a:prstGeom>
          <a:noFill/>
        </p:spPr>
        <p:txBody>
          <a:bodyPr wrap="none" lIns="0" rIns="0" tIns="0" bIns="0" anchor="t">
            <a:spAutoFit/>
          </a:bodyPr>
          <a:lstStyle/>
          <a:p>
            <a:pPr algn="ctr">
              <a:lnSpc>
                <a:spcPct val="100000"/>
              </a:lnSpc>
              <a:spcBef>
                <a:spcPts val="0"/>
              </a:spcBef>
              <a:spcAft>
                <a:spcPts val="0"/>
              </a:spcAft>
            </a:pPr>
            <a:r>
              <a:rPr sz="1497" b="0" lang="en-US" spc="0">
                <a:solidFill>
                  <a:srgbClr val="3D6F9F"/>
                </a:solidFill>
                <a:latin typeface="DejaVu Sans"/>
                <a:ea typeface="DejaVu Sans"/>
              </a:rPr>
              <a:t>GPU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V Lifecycle, Page Migration and Timely Consumption"/>
          <p:cNvSpPr txBox="1"/>
          <p:nvPr/>
        </p:nvSpPr>
        <p:spPr>
          <a:xfrm>
            <a:off x="292600" y="128012"/>
            <a:ext cx="8105620" cy="336490"/>
          </a:xfrm>
          <a:prstGeom prst="rect">
            <a:avLst/>
          </a:prstGeom>
          <a:noFill/>
        </p:spPr>
        <p:txBody>
          <a:bodyPr wrap="none" lIns="0" rIns="0" tIns="0" bIns="0" anchor="t">
            <a:spAutoFit/>
          </a:bodyPr>
          <a:lstStyle/>
          <a:p>
            <a:pPr algn="l">
              <a:lnSpc>
                <a:spcPct val="100000"/>
              </a:lnSpc>
              <a:spcBef>
                <a:spcPts val="0"/>
              </a:spcBef>
              <a:spcAft>
                <a:spcPts val="0"/>
              </a:spcAft>
            </a:pPr>
            <a:r>
              <a:rPr sz="2073" b="1" lang="en-US" spc="0">
                <a:solidFill>
                  <a:srgbClr val="263746"/>
                </a:solidFill>
                <a:latin typeface="DejaVu Sans"/>
                <a:ea typeface="DejaVu Sans"/>
              </a:rPr>
              <a:t>KV Lifecycle, Page Migration and Timely Consumption</a:t>
            </a:r>
          </a:p>
        </p:txBody>
      </p:sp>
      <p:sp>
        <p:nvSpPr>
          <p:cNvPr id="3" name="Incremental backup → pressure reclaim → partial restore → native execution"/>
          <p:cNvSpPr txBox="1"/>
          <p:nvPr/>
        </p:nvSpPr>
        <p:spPr>
          <a:xfrm>
            <a:off x="292600" y="473646"/>
            <a:ext cx="7048145"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Incremental backup → pressure reclaim → partial restore → native execution</a:t>
            </a:r>
          </a:p>
        </p:txBody>
      </p:sp>
      <p:cxnSp>
        <p:nvCxnSpPr>
          <p:cNvPr id="4" name="line 3"/>
          <p:cNvCxnSpPr/>
          <p:nvPr/>
        </p:nvCxnSpPr>
        <p:spPr>
          <a:xfrm>
            <a:off x="292600" y="768075"/>
            <a:ext cx="12581800" cy="0"/>
          </a:xfrm>
          <a:prstGeom prst="line">
            <a:avLst/>
          </a:prstGeom>
          <a:ln w="9509">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5" name="rect 4"/>
          <p:cNvSpPr/>
          <p:nvPr/>
        </p:nvSpPr>
        <p:spPr>
          <a:xfrm>
            <a:off x="292600" y="965580"/>
            <a:ext cx="7168700" cy="2260335"/>
          </a:xfrm>
          <a:prstGeom prst="roundRect">
            <a:avLst>
              <a:gd name="adj" fmla="val 970"/>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 name="line 5"/>
          <p:cNvCxnSpPr/>
          <p:nvPr/>
        </p:nvCxnSpPr>
        <p:spPr>
          <a:xfrm>
            <a:off x="299915" y="972895"/>
            <a:ext cx="7154070" cy="0"/>
          </a:xfrm>
          <a:prstGeom prst="line">
            <a:avLst/>
          </a:prstGeom>
          <a:ln w="21945">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7" name="(a) Incremental FULL"/>
          <p:cNvSpPr txBox="1"/>
          <p:nvPr/>
        </p:nvSpPr>
        <p:spPr>
          <a:xfrm>
            <a:off x="453530" y="1067990"/>
            <a:ext cx="2511045"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57B73"/>
                </a:solidFill>
                <a:latin typeface="DejaVu Sans"/>
                <a:ea typeface="DejaVu Sans"/>
              </a:rPr>
              <a:t>(a) Incremental FULL</a:t>
            </a:r>
          </a:p>
        </p:txBody>
      </p:sp>
      <p:sp>
        <p:nvSpPr>
          <p:cNvPr id="8" name="HBM"/>
          <p:cNvSpPr txBox="1"/>
          <p:nvPr/>
        </p:nvSpPr>
        <p:spPr>
          <a:xfrm>
            <a:off x="482790" y="1543465"/>
            <a:ext cx="619146"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D6F9F"/>
                </a:solidFill>
                <a:latin typeface="DejaVu Sans"/>
                <a:ea typeface="DejaVu Sans"/>
              </a:rPr>
              <a:t>HBM</a:t>
            </a:r>
          </a:p>
        </p:txBody>
      </p:sp>
      <p:sp>
        <p:nvSpPr>
          <p:cNvPr id="9" name="Host"/>
          <p:cNvSpPr txBox="1"/>
          <p:nvPr/>
        </p:nvSpPr>
        <p:spPr>
          <a:xfrm>
            <a:off x="482790" y="2223760"/>
            <a:ext cx="619775"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57B73"/>
                </a:solidFill>
                <a:latin typeface="DejaVu Sans"/>
                <a:ea typeface="DejaVu Sans"/>
              </a:rPr>
              <a:t>Host</a:t>
            </a:r>
          </a:p>
        </p:txBody>
      </p:sp>
      <p:sp>
        <p:nvSpPr>
          <p:cNvPr id="10" name="rect 9"/>
          <p:cNvSpPr/>
          <p:nvPr/>
        </p:nvSpPr>
        <p:spPr>
          <a:xfrm>
            <a:off x="1506890" y="1506890"/>
            <a:ext cx="395010" cy="343805"/>
          </a:xfrm>
          <a:prstGeom prst="roundRect">
            <a:avLst>
              <a:gd name="adj" fmla="val 4255"/>
            </a:avLst>
          </a:prstGeom>
          <a:solidFill>
            <a:srgbClr val="EDF3F8"/>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p0"/>
          <p:cNvSpPr txBox="1"/>
          <p:nvPr/>
        </p:nvSpPr>
        <p:spPr>
          <a:xfrm>
            <a:off x="1552080" y="15910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D6F9F"/>
                </a:solidFill>
                <a:latin typeface="DejaVu Sans"/>
                <a:ea typeface="DejaVu Sans"/>
              </a:rPr>
              <a:t>p0</a:t>
            </a:r>
          </a:p>
        </p:txBody>
      </p:sp>
      <p:sp>
        <p:nvSpPr>
          <p:cNvPr id="12" name="rect 11"/>
          <p:cNvSpPr/>
          <p:nvPr/>
        </p:nvSpPr>
        <p:spPr>
          <a:xfrm>
            <a:off x="1506890" y="2187185"/>
            <a:ext cx="395010" cy="343805"/>
          </a:xfrm>
          <a:prstGeom prst="roundRect">
            <a:avLst>
              <a:gd name="adj" fmla="val 4255"/>
            </a:avLst>
          </a:prstGeom>
          <a:solidFill>
            <a:srgbClr val="EAF3F1"/>
          </a:solidFill>
          <a:ln w="13167">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p0"/>
          <p:cNvSpPr txBox="1"/>
          <p:nvPr/>
        </p:nvSpPr>
        <p:spPr>
          <a:xfrm>
            <a:off x="1552080" y="2271308"/>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57B73"/>
                </a:solidFill>
                <a:latin typeface="DejaVu Sans"/>
                <a:ea typeface="DejaVu Sans"/>
              </a:rPr>
              <a:t>p0</a:t>
            </a:r>
          </a:p>
        </p:txBody>
      </p:sp>
      <p:sp>
        <p:nvSpPr>
          <p:cNvPr id="14" name="rect 13"/>
          <p:cNvSpPr/>
          <p:nvPr/>
        </p:nvSpPr>
        <p:spPr>
          <a:xfrm>
            <a:off x="2070145" y="1506890"/>
            <a:ext cx="395010" cy="343805"/>
          </a:xfrm>
          <a:prstGeom prst="roundRect">
            <a:avLst>
              <a:gd name="adj" fmla="val 4255"/>
            </a:avLst>
          </a:prstGeom>
          <a:solidFill>
            <a:srgbClr val="EDF3F8"/>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p1"/>
          <p:cNvSpPr txBox="1"/>
          <p:nvPr/>
        </p:nvSpPr>
        <p:spPr>
          <a:xfrm>
            <a:off x="2115335" y="15910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D6F9F"/>
                </a:solidFill>
                <a:latin typeface="DejaVu Sans"/>
                <a:ea typeface="DejaVu Sans"/>
              </a:rPr>
              <a:t>p1</a:t>
            </a:r>
          </a:p>
        </p:txBody>
      </p:sp>
      <p:sp>
        <p:nvSpPr>
          <p:cNvPr id="16" name="rect 15"/>
          <p:cNvSpPr/>
          <p:nvPr/>
        </p:nvSpPr>
        <p:spPr>
          <a:xfrm>
            <a:off x="2070145" y="2187185"/>
            <a:ext cx="395010" cy="343805"/>
          </a:xfrm>
          <a:prstGeom prst="roundRect">
            <a:avLst>
              <a:gd name="adj" fmla="val 4255"/>
            </a:avLst>
          </a:prstGeom>
          <a:solidFill>
            <a:srgbClr val="EAF3F1"/>
          </a:solidFill>
          <a:ln w="13167">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p1"/>
          <p:cNvSpPr txBox="1"/>
          <p:nvPr/>
        </p:nvSpPr>
        <p:spPr>
          <a:xfrm>
            <a:off x="2115335" y="2271308"/>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57B73"/>
                </a:solidFill>
                <a:latin typeface="DejaVu Sans"/>
                <a:ea typeface="DejaVu Sans"/>
              </a:rPr>
              <a:t>p1</a:t>
            </a:r>
          </a:p>
        </p:txBody>
      </p:sp>
      <p:sp>
        <p:nvSpPr>
          <p:cNvPr id="18" name="rect 17"/>
          <p:cNvSpPr/>
          <p:nvPr/>
        </p:nvSpPr>
        <p:spPr>
          <a:xfrm>
            <a:off x="2633400" y="1506890"/>
            <a:ext cx="395010" cy="343805"/>
          </a:xfrm>
          <a:prstGeom prst="roundRect">
            <a:avLst>
              <a:gd name="adj" fmla="val 4255"/>
            </a:avLst>
          </a:prstGeom>
          <a:solidFill>
            <a:srgbClr val="EDF3F8"/>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p2"/>
          <p:cNvSpPr txBox="1"/>
          <p:nvPr/>
        </p:nvSpPr>
        <p:spPr>
          <a:xfrm>
            <a:off x="2678590" y="15910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D6F9F"/>
                </a:solidFill>
                <a:latin typeface="DejaVu Sans"/>
                <a:ea typeface="DejaVu Sans"/>
              </a:rPr>
              <a:t>p2</a:t>
            </a:r>
          </a:p>
        </p:txBody>
      </p:sp>
      <p:sp>
        <p:nvSpPr>
          <p:cNvPr id="20" name="rect 19"/>
          <p:cNvSpPr/>
          <p:nvPr/>
        </p:nvSpPr>
        <p:spPr>
          <a:xfrm>
            <a:off x="2633400" y="2187185"/>
            <a:ext cx="395010" cy="343805"/>
          </a:xfrm>
          <a:prstGeom prst="roundRect">
            <a:avLst>
              <a:gd name="adj" fmla="val 4255"/>
            </a:avLst>
          </a:prstGeom>
          <a:solidFill>
            <a:srgbClr val="EAF3F1"/>
          </a:solidFill>
          <a:ln w="13167">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p2"/>
          <p:cNvSpPr txBox="1"/>
          <p:nvPr/>
        </p:nvSpPr>
        <p:spPr>
          <a:xfrm>
            <a:off x="2678590" y="2271308"/>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57B73"/>
                </a:solidFill>
                <a:latin typeface="DejaVu Sans"/>
                <a:ea typeface="DejaVu Sans"/>
              </a:rPr>
              <a:t>p2</a:t>
            </a:r>
          </a:p>
        </p:txBody>
      </p:sp>
      <p:sp>
        <p:nvSpPr>
          <p:cNvPr id="22" name="rect 21"/>
          <p:cNvSpPr/>
          <p:nvPr/>
        </p:nvSpPr>
        <p:spPr>
          <a:xfrm>
            <a:off x="3196655" y="1506890"/>
            <a:ext cx="395010" cy="343805"/>
          </a:xfrm>
          <a:prstGeom prst="roundRect">
            <a:avLst>
              <a:gd name="adj" fmla="val 4255"/>
            </a:avLst>
          </a:prstGeom>
          <a:solidFill>
            <a:srgbClr val="EDF3F8"/>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p3"/>
          <p:cNvSpPr txBox="1"/>
          <p:nvPr/>
        </p:nvSpPr>
        <p:spPr>
          <a:xfrm>
            <a:off x="3241845" y="15910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D6F9F"/>
                </a:solidFill>
                <a:latin typeface="DejaVu Sans"/>
                <a:ea typeface="DejaVu Sans"/>
              </a:rPr>
              <a:t>p3</a:t>
            </a:r>
          </a:p>
        </p:txBody>
      </p:sp>
      <p:sp>
        <p:nvSpPr>
          <p:cNvPr id="24" name="rect 23"/>
          <p:cNvSpPr/>
          <p:nvPr/>
        </p:nvSpPr>
        <p:spPr>
          <a:xfrm>
            <a:off x="3196655" y="2187185"/>
            <a:ext cx="395010" cy="343805"/>
          </a:xfrm>
          <a:prstGeom prst="roundRect">
            <a:avLst>
              <a:gd name="adj" fmla="val 4255"/>
            </a:avLst>
          </a:prstGeom>
          <a:solidFill>
            <a:srgbClr val="EAF3F1"/>
          </a:solidFill>
          <a:ln w="13167">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p3"/>
          <p:cNvSpPr txBox="1"/>
          <p:nvPr/>
        </p:nvSpPr>
        <p:spPr>
          <a:xfrm>
            <a:off x="3241845" y="2271308"/>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57B73"/>
                </a:solidFill>
                <a:latin typeface="DejaVu Sans"/>
                <a:ea typeface="DejaVu Sans"/>
              </a:rPr>
              <a:t>p3</a:t>
            </a:r>
          </a:p>
        </p:txBody>
      </p:sp>
      <p:sp>
        <p:nvSpPr>
          <p:cNvPr id="26" name="rect 25"/>
          <p:cNvSpPr/>
          <p:nvPr/>
        </p:nvSpPr>
        <p:spPr>
          <a:xfrm>
            <a:off x="3759910" y="1506890"/>
            <a:ext cx="395010" cy="343805"/>
          </a:xfrm>
          <a:prstGeom prst="roundRect">
            <a:avLst>
              <a:gd name="adj" fmla="val 4255"/>
            </a:avLst>
          </a:prstGeom>
          <a:solidFill>
            <a:srgbClr val="EDF3F8"/>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4"/>
          <p:cNvSpPr txBox="1"/>
          <p:nvPr/>
        </p:nvSpPr>
        <p:spPr>
          <a:xfrm>
            <a:off x="3805100" y="15910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D6F9F"/>
                </a:solidFill>
                <a:latin typeface="DejaVu Sans"/>
                <a:ea typeface="DejaVu Sans"/>
              </a:rPr>
              <a:t>p4</a:t>
            </a:r>
          </a:p>
        </p:txBody>
      </p:sp>
      <p:sp>
        <p:nvSpPr>
          <p:cNvPr id="28" name="rect 27"/>
          <p:cNvSpPr/>
          <p:nvPr/>
        </p:nvSpPr>
        <p:spPr>
          <a:xfrm>
            <a:off x="3759910" y="2187185"/>
            <a:ext cx="395010" cy="343805"/>
          </a:xfrm>
          <a:prstGeom prst="roundRect">
            <a:avLst>
              <a:gd name="adj" fmla="val 4255"/>
            </a:avLst>
          </a:prstGeom>
          <a:solidFill>
            <a:srgbClr val="FFFFFF"/>
          </a:solidFill>
          <a:ln w="13167">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4"/>
          <p:cNvSpPr txBox="1"/>
          <p:nvPr/>
        </p:nvSpPr>
        <p:spPr>
          <a:xfrm>
            <a:off x="3805100" y="2271308"/>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89959D"/>
                </a:solidFill>
                <a:latin typeface="DejaVu Sans"/>
                <a:ea typeface="DejaVu Sans"/>
              </a:rPr>
              <a:t>p4</a:t>
            </a:r>
          </a:p>
        </p:txBody>
      </p:sp>
      <p:cxnSp>
        <p:nvCxnSpPr>
          <p:cNvPr id="30" name="path 29"/>
          <p:cNvCxnSpPr/>
          <p:nvPr/>
        </p:nvCxnSpPr>
        <p:spPr>
          <a:xfrm>
            <a:off x="3957415" y="1879955"/>
            <a:ext cx="0" cy="256025"/>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1" name="rect 30"/>
          <p:cNvSpPr/>
          <p:nvPr/>
        </p:nvSpPr>
        <p:spPr>
          <a:xfrm>
            <a:off x="4323165" y="1506890"/>
            <a:ext cx="395010" cy="343805"/>
          </a:xfrm>
          <a:prstGeom prst="roundRect">
            <a:avLst>
              <a:gd name="adj" fmla="val 4255"/>
            </a:avLst>
          </a:prstGeom>
          <a:solidFill>
            <a:srgbClr val="EDF3F8"/>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p5"/>
          <p:cNvSpPr txBox="1"/>
          <p:nvPr/>
        </p:nvSpPr>
        <p:spPr>
          <a:xfrm>
            <a:off x="4368355" y="15910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D6F9F"/>
                </a:solidFill>
                <a:latin typeface="DejaVu Sans"/>
                <a:ea typeface="DejaVu Sans"/>
              </a:rPr>
              <a:t>p5</a:t>
            </a:r>
          </a:p>
        </p:txBody>
      </p:sp>
      <p:sp>
        <p:nvSpPr>
          <p:cNvPr id="33" name="rect 32"/>
          <p:cNvSpPr/>
          <p:nvPr/>
        </p:nvSpPr>
        <p:spPr>
          <a:xfrm>
            <a:off x="4323165" y="2187185"/>
            <a:ext cx="395010" cy="343805"/>
          </a:xfrm>
          <a:prstGeom prst="roundRect">
            <a:avLst>
              <a:gd name="adj" fmla="val 4255"/>
            </a:avLst>
          </a:prstGeom>
          <a:solidFill>
            <a:srgbClr val="FFFFFF"/>
          </a:solidFill>
          <a:ln w="13167">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p5"/>
          <p:cNvSpPr txBox="1"/>
          <p:nvPr/>
        </p:nvSpPr>
        <p:spPr>
          <a:xfrm>
            <a:off x="4368355" y="2271308"/>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89959D"/>
                </a:solidFill>
                <a:latin typeface="DejaVu Sans"/>
                <a:ea typeface="DejaVu Sans"/>
              </a:rPr>
              <a:t>p5</a:t>
            </a:r>
          </a:p>
        </p:txBody>
      </p:sp>
      <p:cxnSp>
        <p:nvCxnSpPr>
          <p:cNvPr id="35" name="path 34"/>
          <p:cNvCxnSpPr/>
          <p:nvPr/>
        </p:nvCxnSpPr>
        <p:spPr>
          <a:xfrm>
            <a:off x="4520670" y="1879955"/>
            <a:ext cx="0" cy="256025"/>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6" name="rect 35"/>
          <p:cNvSpPr/>
          <p:nvPr/>
        </p:nvSpPr>
        <p:spPr>
          <a:xfrm>
            <a:off x="4886420" y="1506890"/>
            <a:ext cx="395010" cy="343805"/>
          </a:xfrm>
          <a:prstGeom prst="roundRect">
            <a:avLst>
              <a:gd name="adj" fmla="val 4255"/>
            </a:avLst>
          </a:prstGeom>
          <a:solidFill>
            <a:srgbClr val="EDF3F8"/>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p6"/>
          <p:cNvSpPr txBox="1"/>
          <p:nvPr/>
        </p:nvSpPr>
        <p:spPr>
          <a:xfrm>
            <a:off x="4931610" y="15910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D6F9F"/>
                </a:solidFill>
                <a:latin typeface="DejaVu Sans"/>
                <a:ea typeface="DejaVu Sans"/>
              </a:rPr>
              <a:t>p6</a:t>
            </a:r>
          </a:p>
        </p:txBody>
      </p:sp>
      <p:sp>
        <p:nvSpPr>
          <p:cNvPr id="38" name="rect 37"/>
          <p:cNvSpPr/>
          <p:nvPr/>
        </p:nvSpPr>
        <p:spPr>
          <a:xfrm>
            <a:off x="4886420" y="2187185"/>
            <a:ext cx="395010" cy="343805"/>
          </a:xfrm>
          <a:prstGeom prst="roundRect">
            <a:avLst>
              <a:gd name="adj" fmla="val 4255"/>
            </a:avLst>
          </a:prstGeom>
          <a:solidFill>
            <a:srgbClr val="FFFFFF"/>
          </a:solidFill>
          <a:ln w="13167">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p6"/>
          <p:cNvSpPr txBox="1"/>
          <p:nvPr/>
        </p:nvSpPr>
        <p:spPr>
          <a:xfrm>
            <a:off x="4931610" y="2271308"/>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89959D"/>
                </a:solidFill>
                <a:latin typeface="DejaVu Sans"/>
                <a:ea typeface="DejaVu Sans"/>
              </a:rPr>
              <a:t>p6</a:t>
            </a:r>
          </a:p>
        </p:txBody>
      </p:sp>
      <p:cxnSp>
        <p:nvCxnSpPr>
          <p:cNvPr id="40" name="path 39"/>
          <p:cNvCxnSpPr/>
          <p:nvPr/>
        </p:nvCxnSpPr>
        <p:spPr>
          <a:xfrm>
            <a:off x="5083925" y="1879955"/>
            <a:ext cx="0" cy="256025"/>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41" name="rect 40"/>
          <p:cNvSpPr/>
          <p:nvPr/>
        </p:nvSpPr>
        <p:spPr>
          <a:xfrm>
            <a:off x="5449675" y="1506890"/>
            <a:ext cx="395010" cy="343805"/>
          </a:xfrm>
          <a:prstGeom prst="roundRect">
            <a:avLst>
              <a:gd name="adj" fmla="val 4255"/>
            </a:avLst>
          </a:prstGeom>
          <a:solidFill>
            <a:srgbClr val="EDF3F8"/>
          </a:solidFill>
          <a:ln w="1316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p7"/>
          <p:cNvSpPr txBox="1"/>
          <p:nvPr/>
        </p:nvSpPr>
        <p:spPr>
          <a:xfrm>
            <a:off x="5494865" y="15910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3D6F9F"/>
                </a:solidFill>
                <a:latin typeface="DejaVu Sans"/>
                <a:ea typeface="DejaVu Sans"/>
              </a:rPr>
              <a:t>p7</a:t>
            </a:r>
          </a:p>
        </p:txBody>
      </p:sp>
      <p:sp>
        <p:nvSpPr>
          <p:cNvPr id="43" name="rect 42"/>
          <p:cNvSpPr/>
          <p:nvPr/>
        </p:nvSpPr>
        <p:spPr>
          <a:xfrm>
            <a:off x="5449675" y="2187185"/>
            <a:ext cx="395010" cy="343805"/>
          </a:xfrm>
          <a:prstGeom prst="roundRect">
            <a:avLst>
              <a:gd name="adj" fmla="val 4255"/>
            </a:avLst>
          </a:prstGeom>
          <a:solidFill>
            <a:srgbClr val="FFFFFF"/>
          </a:solidFill>
          <a:ln w="13167">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p7"/>
          <p:cNvSpPr txBox="1"/>
          <p:nvPr/>
        </p:nvSpPr>
        <p:spPr>
          <a:xfrm>
            <a:off x="5494865" y="2271308"/>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lang="en-US" spc="0">
                <a:solidFill>
                  <a:srgbClr val="89959D"/>
                </a:solidFill>
                <a:latin typeface="DejaVu Sans"/>
                <a:ea typeface="DejaVu Sans"/>
              </a:rPr>
              <a:t>p7</a:t>
            </a:r>
          </a:p>
        </p:txBody>
      </p:sp>
      <p:cxnSp>
        <p:nvCxnSpPr>
          <p:cNvPr id="45" name="path 44"/>
          <p:cNvCxnSpPr/>
          <p:nvPr/>
        </p:nvCxnSpPr>
        <p:spPr>
          <a:xfrm>
            <a:off x="5647180" y="1879955"/>
            <a:ext cx="0" cy="256025"/>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46" name="ΔFULL"/>
          <p:cNvSpPr txBox="1"/>
          <p:nvPr/>
        </p:nvSpPr>
        <p:spPr>
          <a:xfrm>
            <a:off x="6247010" y="1856181"/>
            <a:ext cx="787620" cy="261511"/>
          </a:xfrm>
          <a:prstGeom prst="rect">
            <a:avLst/>
          </a:prstGeom>
          <a:noFill/>
        </p:spPr>
        <p:txBody>
          <a:bodyPr wrap="none" lIns="0" rIns="0" tIns="0" bIns="0" anchor="t">
            <a:spAutoFit/>
          </a:bodyPr>
          <a:lstStyle/>
          <a:p>
            <a:pPr algn="l">
              <a:lnSpc>
                <a:spcPct val="100000"/>
              </a:lnSpc>
              <a:spcBef>
                <a:spcPts val="0"/>
              </a:spcBef>
              <a:spcAft>
                <a:spcPts val="0"/>
              </a:spcAft>
            </a:pPr>
            <a:r>
              <a:rPr sz="1555" b="1" lang="en-US" spc="0">
                <a:solidFill>
                  <a:srgbClr val="357B73"/>
                </a:solidFill>
                <a:latin typeface="DejaVu Sans"/>
                <a:ea typeface="DejaVu Sans"/>
              </a:rPr>
              <a:t>ΔFULL</a:t>
            </a:r>
          </a:p>
        </p:txBody>
      </p:sp>
      <p:sp>
        <p:nvSpPr>
          <p:cNvPr id="47" name="rect 46"/>
          <p:cNvSpPr/>
          <p:nvPr/>
        </p:nvSpPr>
        <p:spPr>
          <a:xfrm>
            <a:off x="475475" y="2845535"/>
            <a:ext cx="1228920" cy="336490"/>
          </a:xfrm>
          <a:prstGeom prst="roundRect">
            <a:avLst>
              <a:gd name="adj" fmla="val 4347"/>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HBM"/>
          <p:cNvSpPr txBox="1"/>
          <p:nvPr/>
        </p:nvSpPr>
        <p:spPr>
          <a:xfrm>
            <a:off x="808836" y="2905884"/>
            <a:ext cx="562198"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HBM</a:t>
            </a:r>
          </a:p>
        </p:txBody>
      </p:sp>
      <p:sp>
        <p:nvSpPr>
          <p:cNvPr id="49" name="rect 48"/>
          <p:cNvSpPr/>
          <p:nvPr/>
        </p:nvSpPr>
        <p:spPr>
          <a:xfrm>
            <a:off x="2860165" y="2845535"/>
            <a:ext cx="1382535" cy="336490"/>
          </a:xfrm>
          <a:prstGeom prst="roundRect">
            <a:avLst>
              <a:gd name="adj" fmla="val 4347"/>
            </a:avLst>
          </a:prstGeom>
          <a:solidFill>
            <a:srgbClr val="FFFFFF"/>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HBM + Host"/>
          <p:cNvSpPr txBox="1"/>
          <p:nvPr/>
        </p:nvSpPr>
        <p:spPr>
          <a:xfrm>
            <a:off x="2892582" y="2905884"/>
            <a:ext cx="1317700"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HBM + Host</a:t>
            </a:r>
          </a:p>
        </p:txBody>
      </p:sp>
      <p:sp>
        <p:nvSpPr>
          <p:cNvPr id="51" name="rect 50"/>
          <p:cNvSpPr/>
          <p:nvPr/>
        </p:nvSpPr>
        <p:spPr>
          <a:xfrm>
            <a:off x="6042190" y="2845535"/>
            <a:ext cx="1228920" cy="336490"/>
          </a:xfrm>
          <a:prstGeom prst="roundRect">
            <a:avLst>
              <a:gd name="adj" fmla="val 4347"/>
            </a:avLst>
          </a:prstGeom>
          <a:solidFill>
            <a:srgbClr val="FFFFFF"/>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Host-only"/>
          <p:cNvSpPr txBox="1"/>
          <p:nvPr/>
        </p:nvSpPr>
        <p:spPr>
          <a:xfrm>
            <a:off x="6138242" y="2908883"/>
            <a:ext cx="1036816"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lang="en-US" spc="0">
                <a:solidFill>
                  <a:srgbClr val="263746"/>
                </a:solidFill>
                <a:latin typeface="DejaVu Sans"/>
                <a:ea typeface="DejaVu Sans"/>
              </a:rPr>
              <a:t>Host-only</a:t>
            </a:r>
          </a:p>
        </p:txBody>
      </p:sp>
      <p:cxnSp>
        <p:nvCxnSpPr>
          <p:cNvPr id="53" name="path 52"/>
          <p:cNvCxnSpPr/>
          <p:nvPr/>
        </p:nvCxnSpPr>
        <p:spPr>
          <a:xfrm>
            <a:off x="1711710" y="3013780"/>
            <a:ext cx="1141140"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54" name="path 53"/>
          <p:cNvCxnSpPr/>
          <p:nvPr/>
        </p:nvCxnSpPr>
        <p:spPr>
          <a:xfrm>
            <a:off x="4250015" y="3013780"/>
            <a:ext cx="1784860"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55" name="PREPARE"/>
          <p:cNvSpPr txBox="1"/>
          <p:nvPr/>
        </p:nvSpPr>
        <p:spPr>
          <a:xfrm>
            <a:off x="1909215" y="2615112"/>
            <a:ext cx="841425"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57B73"/>
                </a:solidFill>
                <a:latin typeface="DejaVu Sans"/>
                <a:ea typeface="DejaVu Sans"/>
              </a:rPr>
              <a:t>PREPARE</a:t>
            </a:r>
          </a:p>
        </p:txBody>
      </p:sp>
      <p:sp>
        <p:nvSpPr>
          <p:cNvPr id="56" name="Pressure"/>
          <p:cNvSpPr txBox="1"/>
          <p:nvPr/>
        </p:nvSpPr>
        <p:spPr>
          <a:xfrm>
            <a:off x="4791325" y="2607798"/>
            <a:ext cx="837425"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357B73"/>
                </a:solidFill>
                <a:latin typeface="DejaVu Sans"/>
                <a:ea typeface="DejaVu Sans"/>
              </a:rPr>
              <a:t>Pressure</a:t>
            </a:r>
          </a:p>
        </p:txBody>
      </p:sp>
      <p:sp>
        <p:nvSpPr>
          <p:cNvPr id="57" name="rect 56"/>
          <p:cNvSpPr/>
          <p:nvPr/>
        </p:nvSpPr>
        <p:spPr>
          <a:xfrm>
            <a:off x="7790475" y="965580"/>
            <a:ext cx="5083925" cy="2260335"/>
          </a:xfrm>
          <a:prstGeom prst="roundRect">
            <a:avLst>
              <a:gd name="adj" fmla="val 970"/>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8" name="line 57"/>
          <p:cNvCxnSpPr/>
          <p:nvPr/>
        </p:nvCxnSpPr>
        <p:spPr>
          <a:xfrm>
            <a:off x="7797790" y="972895"/>
            <a:ext cx="5069295" cy="0"/>
          </a:xfrm>
          <a:prstGeom prst="line">
            <a:avLst/>
          </a:prstGeom>
          <a:ln w="21945">
            <a:solidFill>
              <a:srgbClr val="A96F1F"/>
            </a:solidFill>
          </a:ln>
          <a:effectLst/>
        </p:spPr>
        <p:style>
          <a:lnRef idx="2">
            <a:schemeClr val="accent1"/>
          </a:lnRef>
          <a:fillRef idx="0">
            <a:schemeClr val="accent1"/>
          </a:fillRef>
          <a:effectRef idx="0">
            <a:schemeClr val="accent1"/>
          </a:effectRef>
          <a:fontRef idx="minor">
            <a:schemeClr val="tx1"/>
          </a:fontRef>
        </p:style>
      </p:cxnSp>
      <p:sp>
        <p:nvSpPr>
          <p:cNvPr id="59" name="(b) Mamba checkpoint"/>
          <p:cNvSpPr txBox="1"/>
          <p:nvPr/>
        </p:nvSpPr>
        <p:spPr>
          <a:xfrm>
            <a:off x="7951405" y="1067990"/>
            <a:ext cx="2669604"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A96F1F"/>
                </a:solidFill>
                <a:latin typeface="DejaVu Sans"/>
                <a:ea typeface="DejaVu Sans"/>
              </a:rPr>
              <a:t>(b) Mamba checkpoint</a:t>
            </a:r>
          </a:p>
        </p:txBody>
      </p:sp>
      <p:sp>
        <p:nvSpPr>
          <p:cNvPr id="60" name="rect 59"/>
          <p:cNvSpPr/>
          <p:nvPr/>
        </p:nvSpPr>
        <p:spPr>
          <a:xfrm>
            <a:off x="7987980" y="1572725"/>
            <a:ext cx="1148455" cy="446215"/>
          </a:xfrm>
          <a:prstGeom prst="roundRect">
            <a:avLst>
              <a:gd name="adj" fmla="val 3278"/>
            </a:avLst>
          </a:prstGeom>
          <a:solidFill>
            <a:srgbClr val="F2F4F5"/>
          </a:solidFill>
          <a:ln w="9509">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s0"/>
          <p:cNvSpPr txBox="1"/>
          <p:nvPr/>
        </p:nvSpPr>
        <p:spPr>
          <a:xfrm>
            <a:off x="8367217" y="1657798"/>
            <a:ext cx="389981" cy="303572"/>
          </a:xfrm>
          <a:prstGeom prst="rect">
            <a:avLst/>
          </a:prstGeom>
          <a:noFill/>
        </p:spPr>
        <p:txBody>
          <a:bodyPr wrap="none" lIns="0" rIns="0" tIns="0" bIns="0" anchor="t">
            <a:spAutoFit/>
          </a:bodyPr>
          <a:lstStyle/>
          <a:p>
            <a:pPr algn="ctr">
              <a:lnSpc>
                <a:spcPct val="100000"/>
              </a:lnSpc>
              <a:spcBef>
                <a:spcPts val="0"/>
              </a:spcBef>
              <a:spcAft>
                <a:spcPts val="0"/>
              </a:spcAft>
            </a:pPr>
            <a:r>
              <a:rPr sz="1843" b="1" lang="en-US" spc="0">
                <a:solidFill>
                  <a:srgbClr val="263746"/>
                </a:solidFill>
                <a:latin typeface="DejaVu Sans"/>
                <a:ea typeface="DejaVu Sans"/>
              </a:rPr>
              <a:t>s0</a:t>
            </a:r>
          </a:p>
        </p:txBody>
      </p:sp>
      <p:sp>
        <p:nvSpPr>
          <p:cNvPr id="62" name="rect 61"/>
          <p:cNvSpPr/>
          <p:nvPr/>
        </p:nvSpPr>
        <p:spPr>
          <a:xfrm>
            <a:off x="9633855" y="1572725"/>
            <a:ext cx="1148455" cy="446215"/>
          </a:xfrm>
          <a:prstGeom prst="roundRect">
            <a:avLst>
              <a:gd name="adj" fmla="val 3278"/>
            </a:avLst>
          </a:prstGeom>
          <a:solidFill>
            <a:srgbClr val="F2F4F5"/>
          </a:solidFill>
          <a:ln w="9509">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s1"/>
          <p:cNvSpPr txBox="1"/>
          <p:nvPr/>
        </p:nvSpPr>
        <p:spPr>
          <a:xfrm>
            <a:off x="10013092" y="1657798"/>
            <a:ext cx="389981" cy="303572"/>
          </a:xfrm>
          <a:prstGeom prst="rect">
            <a:avLst/>
          </a:prstGeom>
          <a:noFill/>
        </p:spPr>
        <p:txBody>
          <a:bodyPr wrap="none" lIns="0" rIns="0" tIns="0" bIns="0" anchor="t">
            <a:spAutoFit/>
          </a:bodyPr>
          <a:lstStyle/>
          <a:p>
            <a:pPr algn="ctr">
              <a:lnSpc>
                <a:spcPct val="100000"/>
              </a:lnSpc>
              <a:spcBef>
                <a:spcPts val="0"/>
              </a:spcBef>
              <a:spcAft>
                <a:spcPts val="0"/>
              </a:spcAft>
            </a:pPr>
            <a:r>
              <a:rPr sz="1843" b="1" lang="en-US" spc="0">
                <a:solidFill>
                  <a:srgbClr val="263746"/>
                </a:solidFill>
                <a:latin typeface="DejaVu Sans"/>
                <a:ea typeface="DejaVu Sans"/>
              </a:rPr>
              <a:t>s1</a:t>
            </a:r>
          </a:p>
        </p:txBody>
      </p:sp>
      <p:sp>
        <p:nvSpPr>
          <p:cNvPr id="64" name="rect 63"/>
          <p:cNvSpPr/>
          <p:nvPr/>
        </p:nvSpPr>
        <p:spPr>
          <a:xfrm>
            <a:off x="11279730" y="1572725"/>
            <a:ext cx="1148455" cy="446215"/>
          </a:xfrm>
          <a:prstGeom prst="roundRect">
            <a:avLst>
              <a:gd name="adj" fmla="val 3278"/>
            </a:avLst>
          </a:prstGeom>
          <a:solidFill>
            <a:srgbClr val="FBF2E3"/>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s*"/>
          <p:cNvSpPr txBox="1"/>
          <p:nvPr/>
        </p:nvSpPr>
        <p:spPr>
          <a:xfrm>
            <a:off x="11679198" y="1657798"/>
            <a:ext cx="349520" cy="303572"/>
          </a:xfrm>
          <a:prstGeom prst="rect">
            <a:avLst/>
          </a:prstGeom>
          <a:noFill/>
        </p:spPr>
        <p:txBody>
          <a:bodyPr wrap="none" lIns="0" rIns="0" tIns="0" bIns="0" anchor="t">
            <a:spAutoFit/>
          </a:bodyPr>
          <a:lstStyle/>
          <a:p>
            <a:pPr algn="ctr">
              <a:lnSpc>
                <a:spcPct val="100000"/>
              </a:lnSpc>
              <a:spcBef>
                <a:spcPts val="0"/>
              </a:spcBef>
              <a:spcAft>
                <a:spcPts val="0"/>
              </a:spcAft>
            </a:pPr>
            <a:r>
              <a:rPr sz="1843" b="1" lang="en-US" spc="0">
                <a:solidFill>
                  <a:srgbClr val="263746"/>
                </a:solidFill>
                <a:latin typeface="DejaVu Sans"/>
                <a:ea typeface="DejaVu Sans"/>
              </a:rPr>
              <a:t>s*</a:t>
            </a:r>
          </a:p>
        </p:txBody>
      </p:sp>
      <p:cxnSp>
        <p:nvCxnSpPr>
          <p:cNvPr id="66" name="path 65"/>
          <p:cNvCxnSpPr/>
          <p:nvPr/>
        </p:nvCxnSpPr>
        <p:spPr>
          <a:xfrm>
            <a:off x="9143750" y="1792175"/>
            <a:ext cx="482790" cy="0"/>
          </a:xfrm>
          <a:prstGeom prst="line">
            <a:avLst/>
          </a:prstGeom>
          <a:ln w="17556">
            <a:solidFill>
              <a:srgbClr val="89959D"/>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67" name="path 66"/>
          <p:cNvCxnSpPr/>
          <p:nvPr/>
        </p:nvCxnSpPr>
        <p:spPr>
          <a:xfrm>
            <a:off x="10789625" y="1792175"/>
            <a:ext cx="482790" cy="0"/>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68" name="decode"/>
          <p:cNvSpPr txBox="1"/>
          <p:nvPr/>
        </p:nvSpPr>
        <p:spPr>
          <a:xfrm>
            <a:off x="9502185" y="1269152"/>
            <a:ext cx="730614"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687680"/>
                </a:solidFill>
                <a:latin typeface="DejaVu Sans"/>
                <a:ea typeface="DejaVu Sans"/>
              </a:rPr>
              <a:t>decode</a:t>
            </a:r>
          </a:p>
        </p:txBody>
      </p:sp>
      <p:sp>
        <p:nvSpPr>
          <p:cNvPr id="69" name="rect 68"/>
          <p:cNvSpPr/>
          <p:nvPr/>
        </p:nvSpPr>
        <p:spPr>
          <a:xfrm>
            <a:off x="8192800" y="2545620"/>
            <a:ext cx="1850695" cy="409640"/>
          </a:xfrm>
          <a:prstGeom prst="roundRect">
            <a:avLst>
              <a:gd name="adj" fmla="val 3571"/>
            </a:avLst>
          </a:prstGeom>
          <a:solidFill>
            <a:srgbClr val="FFFFFF"/>
          </a:solidFill>
          <a:ln w="9509">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PREPARE"/>
          <p:cNvSpPr txBox="1"/>
          <p:nvPr/>
        </p:nvSpPr>
        <p:spPr>
          <a:xfrm>
            <a:off x="8612098" y="2642544"/>
            <a:ext cx="1012099"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PREPARE</a:t>
            </a:r>
          </a:p>
        </p:txBody>
      </p:sp>
      <p:cxnSp>
        <p:nvCxnSpPr>
          <p:cNvPr id="71" name="line 70"/>
          <p:cNvCxnSpPr/>
          <p:nvPr/>
        </p:nvCxnSpPr>
        <p:spPr>
          <a:xfrm>
            <a:off x="10153220" y="2640715"/>
            <a:ext cx="190190" cy="190190"/>
          </a:xfrm>
          <a:prstGeom prst="line">
            <a:avLst/>
          </a:prstGeom>
          <a:ln w="20482">
            <a:solidFill>
              <a:srgbClr val="A96F1F"/>
            </a:solidFill>
          </a:ln>
          <a:effectLst/>
        </p:spPr>
        <p:style>
          <a:lnRef idx="2">
            <a:schemeClr val="accent1"/>
          </a:lnRef>
          <a:fillRef idx="0">
            <a:schemeClr val="accent1"/>
          </a:fillRef>
          <a:effectRef idx="0">
            <a:schemeClr val="accent1"/>
          </a:effectRef>
          <a:fontRef idx="minor">
            <a:schemeClr val="tx1"/>
          </a:fontRef>
        </p:style>
      </p:cxnSp>
      <p:cxnSp>
        <p:nvCxnSpPr>
          <p:cNvPr id="72" name="line 71"/>
          <p:cNvCxnSpPr/>
          <p:nvPr/>
        </p:nvCxnSpPr>
        <p:spPr>
          <a:xfrm flipV="1">
            <a:off x="10153220" y="2640715"/>
            <a:ext cx="190190" cy="190190"/>
          </a:xfrm>
          <a:prstGeom prst="line">
            <a:avLst/>
          </a:prstGeom>
          <a:ln w="20482">
            <a:solidFill>
              <a:srgbClr val="A96F1F"/>
            </a:solidFill>
          </a:ln>
          <a:effectLst/>
        </p:spPr>
        <p:style>
          <a:lnRef idx="2">
            <a:schemeClr val="accent1"/>
          </a:lnRef>
          <a:fillRef idx="0">
            <a:schemeClr val="accent1"/>
          </a:fillRef>
          <a:effectRef idx="0">
            <a:schemeClr val="accent1"/>
          </a:effectRef>
          <a:fontRef idx="minor">
            <a:schemeClr val="tx1"/>
          </a:fontRef>
        </p:style>
      </p:cxnSp>
      <p:sp>
        <p:nvSpPr>
          <p:cNvPr id="73" name="rect 72"/>
          <p:cNvSpPr/>
          <p:nvPr/>
        </p:nvSpPr>
        <p:spPr>
          <a:xfrm>
            <a:off x="11279730" y="2545620"/>
            <a:ext cx="1148455" cy="409640"/>
          </a:xfrm>
          <a:prstGeom prst="roundRect">
            <a:avLst>
              <a:gd name="adj" fmla="val 3571"/>
            </a:avLst>
          </a:prstGeom>
          <a:solidFill>
            <a:srgbClr val="EAF3F1"/>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s*Host"/>
          <p:cNvSpPr txBox="1"/>
          <p:nvPr/>
        </p:nvSpPr>
        <p:spPr>
          <a:xfrm>
            <a:off x="11443160" y="2632888"/>
            <a:ext cx="821595"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s*Host</a:t>
            </a:r>
          </a:p>
        </p:txBody>
      </p:sp>
      <p:cxnSp>
        <p:nvCxnSpPr>
          <p:cNvPr id="75" name="path 74"/>
          <p:cNvCxnSpPr/>
          <p:nvPr/>
        </p:nvCxnSpPr>
        <p:spPr>
          <a:xfrm flipV="1">
            <a:off x="11850300" y="2040885"/>
            <a:ext cx="0" cy="497420"/>
          </a:xfrm>
          <a:prstGeom prst="line">
            <a:avLst/>
          </a:prstGeom>
          <a:ln w="17556">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76" name="H2D"/>
          <p:cNvSpPr txBox="1"/>
          <p:nvPr/>
        </p:nvSpPr>
        <p:spPr>
          <a:xfrm>
            <a:off x="12142900" y="2170726"/>
            <a:ext cx="482476"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A96F1F"/>
                </a:solidFill>
                <a:latin typeface="DejaVu Sans"/>
                <a:ea typeface="DejaVu Sans"/>
              </a:rPr>
              <a:t>H2D</a:t>
            </a:r>
          </a:p>
        </p:txBody>
      </p:sp>
      <p:sp>
        <p:nvSpPr>
          <p:cNvPr id="77" name="c* ↔ s*"/>
          <p:cNvSpPr txBox="1"/>
          <p:nvPr/>
        </p:nvSpPr>
        <p:spPr>
          <a:xfrm>
            <a:off x="10606750" y="2931486"/>
            <a:ext cx="831996" cy="261511"/>
          </a:xfrm>
          <a:prstGeom prst="rect">
            <a:avLst/>
          </a:prstGeom>
          <a:noFill/>
        </p:spPr>
        <p:txBody>
          <a:bodyPr wrap="none" lIns="0" rIns="0" tIns="0" bIns="0" anchor="t">
            <a:spAutoFit/>
          </a:bodyPr>
          <a:lstStyle/>
          <a:p>
            <a:pPr algn="l">
              <a:lnSpc>
                <a:spcPct val="100000"/>
              </a:lnSpc>
              <a:spcBef>
                <a:spcPts val="0"/>
              </a:spcBef>
              <a:spcAft>
                <a:spcPts val="0"/>
              </a:spcAft>
            </a:pPr>
            <a:r>
              <a:rPr sz="1555" b="1" lang="en-US" spc="0">
                <a:solidFill>
                  <a:srgbClr val="A96F1F"/>
                </a:solidFill>
                <a:latin typeface="DejaVu Sans"/>
                <a:ea typeface="DejaVu Sans"/>
              </a:rPr>
              <a:t>c* ↔ s*</a:t>
            </a:r>
          </a:p>
        </p:txBody>
      </p:sp>
      <p:sp>
        <p:nvSpPr>
          <p:cNvPr id="78" name="rect 77"/>
          <p:cNvSpPr/>
          <p:nvPr/>
        </p:nvSpPr>
        <p:spPr>
          <a:xfrm>
            <a:off x="292600" y="3569720"/>
            <a:ext cx="12581800" cy="2274965"/>
          </a:xfrm>
          <a:prstGeom prst="roundRect">
            <a:avLst>
              <a:gd name="adj" fmla="val 964"/>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9" name="line 78"/>
          <p:cNvCxnSpPr/>
          <p:nvPr/>
        </p:nvCxnSpPr>
        <p:spPr>
          <a:xfrm>
            <a:off x="299915" y="3577035"/>
            <a:ext cx="12567170" cy="0"/>
          </a:xfrm>
          <a:prstGeom prst="line">
            <a:avLst/>
          </a:prstGeom>
          <a:ln w="21945">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80" name="(c) Checkpoint → partial native restore"/>
          <p:cNvSpPr txBox="1"/>
          <p:nvPr/>
        </p:nvSpPr>
        <p:spPr>
          <a:xfrm>
            <a:off x="453530" y="3672130"/>
            <a:ext cx="4546072"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D6F9F"/>
                </a:solidFill>
                <a:latin typeface="DejaVu Sans"/>
                <a:ea typeface="DejaVu Sans"/>
              </a:rPr>
              <a:t>(c) Checkpoint → partial native restore</a:t>
            </a:r>
          </a:p>
        </p:txBody>
      </p:sp>
      <p:sp>
        <p:nvSpPr>
          <p:cNvPr id="81" name="c*"/>
          <p:cNvSpPr txBox="1"/>
          <p:nvPr/>
        </p:nvSpPr>
        <p:spPr>
          <a:xfrm>
            <a:off x="482790" y="3928155"/>
            <a:ext cx="316317"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D6F9F"/>
                </a:solidFill>
                <a:latin typeface="DejaVu Sans"/>
                <a:ea typeface="DejaVu Sans"/>
              </a:rPr>
              <a:t>c*</a:t>
            </a:r>
          </a:p>
        </p:txBody>
      </p:sp>
      <p:sp>
        <p:nvSpPr>
          <p:cNvPr id="82" name="circle 81"/>
          <p:cNvSpPr/>
          <p:nvPr/>
        </p:nvSpPr>
        <p:spPr>
          <a:xfrm>
            <a:off x="687610" y="4257330"/>
            <a:ext cx="365750" cy="365750"/>
          </a:xfrm>
          <a:prstGeom prst="ellipse">
            <a:avLst/>
          </a:prstGeom>
          <a:solidFill>
            <a:srgbClr val="EDF3F8"/>
          </a:solidFill>
          <a:ln w="1024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p0"/>
          <p:cNvSpPr txBox="1"/>
          <p:nvPr/>
        </p:nvSpPr>
        <p:spPr>
          <a:xfrm>
            <a:off x="707841" y="4341818"/>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263746"/>
                </a:solidFill>
                <a:latin typeface="DejaVu Sans"/>
                <a:ea typeface="DejaVu Sans"/>
              </a:rPr>
              <a:t>p0</a:t>
            </a:r>
          </a:p>
        </p:txBody>
      </p:sp>
      <p:sp>
        <p:nvSpPr>
          <p:cNvPr id="84" name="circle 83"/>
          <p:cNvSpPr/>
          <p:nvPr/>
        </p:nvSpPr>
        <p:spPr>
          <a:xfrm>
            <a:off x="1697080" y="4001305"/>
            <a:ext cx="365750" cy="365750"/>
          </a:xfrm>
          <a:prstGeom prst="ellipse">
            <a:avLst/>
          </a:prstGeom>
          <a:solidFill>
            <a:srgbClr val="EDF3F8"/>
          </a:solidFill>
          <a:ln w="1024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p1"/>
          <p:cNvSpPr txBox="1"/>
          <p:nvPr/>
        </p:nvSpPr>
        <p:spPr>
          <a:xfrm>
            <a:off x="1717311" y="4085793"/>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263746"/>
                </a:solidFill>
                <a:latin typeface="DejaVu Sans"/>
                <a:ea typeface="DejaVu Sans"/>
              </a:rPr>
              <a:t>p1</a:t>
            </a:r>
          </a:p>
        </p:txBody>
      </p:sp>
      <p:sp>
        <p:nvSpPr>
          <p:cNvPr id="86" name="circle 85"/>
          <p:cNvSpPr/>
          <p:nvPr/>
        </p:nvSpPr>
        <p:spPr>
          <a:xfrm>
            <a:off x="2655345" y="4250015"/>
            <a:ext cx="365750" cy="365750"/>
          </a:xfrm>
          <a:prstGeom prst="ellipse">
            <a:avLst/>
          </a:prstGeom>
          <a:solidFill>
            <a:srgbClr val="EAF3F1"/>
          </a:solidFill>
          <a:ln w="10241">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p5"/>
          <p:cNvSpPr txBox="1"/>
          <p:nvPr/>
        </p:nvSpPr>
        <p:spPr>
          <a:xfrm>
            <a:off x="2675576" y="4334503"/>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263746"/>
                </a:solidFill>
                <a:latin typeface="DejaVu Sans"/>
                <a:ea typeface="DejaVu Sans"/>
              </a:rPr>
              <a:t>p5</a:t>
            </a:r>
          </a:p>
        </p:txBody>
      </p:sp>
      <p:sp>
        <p:nvSpPr>
          <p:cNvPr id="88" name="circle 87"/>
          <p:cNvSpPr/>
          <p:nvPr/>
        </p:nvSpPr>
        <p:spPr>
          <a:xfrm>
            <a:off x="1697080" y="4820585"/>
            <a:ext cx="365750" cy="365750"/>
          </a:xfrm>
          <a:prstGeom prst="ellipse">
            <a:avLst/>
          </a:prstGeom>
          <a:solidFill>
            <a:srgbClr val="F2F4F5"/>
          </a:solidFill>
          <a:ln w="10241">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g"/>
          <p:cNvSpPr txBox="1"/>
          <p:nvPr/>
        </p:nvSpPr>
        <p:spPr>
          <a:xfrm>
            <a:off x="1775845" y="4905073"/>
            <a:ext cx="208220"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263746"/>
                </a:solidFill>
                <a:latin typeface="DejaVu Sans"/>
                <a:ea typeface="DejaVu Sans"/>
              </a:rPr>
              <a:t>g</a:t>
            </a:r>
          </a:p>
        </p:txBody>
      </p:sp>
      <p:cxnSp>
        <p:nvCxnSpPr>
          <p:cNvPr id="90" name="path 89"/>
          <p:cNvCxnSpPr/>
          <p:nvPr/>
        </p:nvCxnSpPr>
        <p:spPr>
          <a:xfrm flipV="1">
            <a:off x="1067990" y="4228070"/>
            <a:ext cx="621775" cy="16093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91" name="path 90"/>
          <p:cNvCxnSpPr/>
          <p:nvPr/>
        </p:nvCxnSpPr>
        <p:spPr>
          <a:xfrm>
            <a:off x="2077460" y="4228070"/>
            <a:ext cx="563255" cy="16093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92" name="path 91"/>
          <p:cNvCxnSpPr/>
          <p:nvPr/>
        </p:nvCxnSpPr>
        <p:spPr>
          <a:xfrm>
            <a:off x="1016785" y="4571875"/>
            <a:ext cx="694925" cy="358435"/>
          </a:xfrm>
          <a:prstGeom prst="line">
            <a:avLst/>
          </a:prstGeom>
          <a:ln w="17556">
            <a:solidFill>
              <a:srgbClr val="89959D"/>
            </a:solidFill>
            <a:prstDash val="dash"/>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93" name="line 92"/>
          <p:cNvCxnSpPr/>
          <p:nvPr/>
        </p:nvCxnSpPr>
        <p:spPr>
          <a:xfrm>
            <a:off x="2092090" y="4937625"/>
            <a:ext cx="160930" cy="160930"/>
          </a:xfrm>
          <a:prstGeom prst="line">
            <a:avLst/>
          </a:prstGeom>
          <a:ln w="20482">
            <a:solidFill>
              <a:srgbClr val="89959D"/>
            </a:solidFill>
          </a:ln>
          <a:effectLst/>
        </p:spPr>
        <p:style>
          <a:lnRef idx="2">
            <a:schemeClr val="accent1"/>
          </a:lnRef>
          <a:fillRef idx="0">
            <a:schemeClr val="accent1"/>
          </a:fillRef>
          <a:effectRef idx="0">
            <a:schemeClr val="accent1"/>
          </a:effectRef>
          <a:fontRef idx="minor">
            <a:schemeClr val="tx1"/>
          </a:fontRef>
        </p:style>
      </p:cxnSp>
      <p:cxnSp>
        <p:nvCxnSpPr>
          <p:cNvPr id="94" name="line 93"/>
          <p:cNvCxnSpPr/>
          <p:nvPr/>
        </p:nvCxnSpPr>
        <p:spPr>
          <a:xfrm flipV="1">
            <a:off x="2092090" y="4937625"/>
            <a:ext cx="160930" cy="160930"/>
          </a:xfrm>
          <a:prstGeom prst="line">
            <a:avLst/>
          </a:prstGeom>
          <a:ln w="20482">
            <a:solidFill>
              <a:srgbClr val="89959D"/>
            </a:solidFill>
          </a:ln>
          <a:effectLst/>
        </p:spPr>
        <p:style>
          <a:lnRef idx="2">
            <a:schemeClr val="accent1"/>
          </a:lnRef>
          <a:fillRef idx="0">
            <a:schemeClr val="accent1"/>
          </a:fillRef>
          <a:effectRef idx="0">
            <a:schemeClr val="accent1"/>
          </a:effectRef>
          <a:fontRef idx="minor">
            <a:schemeClr val="tx1"/>
          </a:fontRef>
        </p:style>
      </p:cxnSp>
      <p:sp>
        <p:nvSpPr>
          <p:cNvPr id="95" name="session / epoch"/>
          <p:cNvSpPr txBox="1"/>
          <p:nvPr/>
        </p:nvSpPr>
        <p:spPr>
          <a:xfrm>
            <a:off x="482790" y="5294231"/>
            <a:ext cx="1499518" cy="243224"/>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session / epoch</a:t>
            </a:r>
          </a:p>
        </p:txBody>
      </p:sp>
      <p:cxnSp>
        <p:nvCxnSpPr>
          <p:cNvPr id="96" name="path 95"/>
          <p:cNvCxnSpPr/>
          <p:nvPr/>
        </p:nvCxnSpPr>
        <p:spPr>
          <a:xfrm>
            <a:off x="3035725" y="4432890"/>
            <a:ext cx="629090"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97" name="Host"/>
          <p:cNvSpPr txBox="1"/>
          <p:nvPr/>
        </p:nvSpPr>
        <p:spPr>
          <a:xfrm>
            <a:off x="3796485" y="3911696"/>
            <a:ext cx="581771" cy="252368"/>
          </a:xfrm>
          <a:prstGeom prst="rect">
            <a:avLst/>
          </a:prstGeom>
          <a:noFill/>
        </p:spPr>
        <p:txBody>
          <a:bodyPr wrap="none" lIns="0" rIns="0" tIns="0" bIns="0" anchor="t">
            <a:spAutoFit/>
          </a:bodyPr>
          <a:lstStyle/>
          <a:p>
            <a:pPr algn="l">
              <a:lnSpc>
                <a:spcPct val="100000"/>
              </a:lnSpc>
              <a:spcBef>
                <a:spcPts val="0"/>
              </a:spcBef>
              <a:spcAft>
                <a:spcPts val="0"/>
              </a:spcAft>
            </a:pPr>
            <a:r>
              <a:rPr sz="1497" b="1" lang="en-US" spc="0">
                <a:solidFill>
                  <a:srgbClr val="357B73"/>
                </a:solidFill>
                <a:latin typeface="DejaVu Sans"/>
                <a:ea typeface="DejaVu Sans"/>
              </a:rPr>
              <a:t>Host</a:t>
            </a:r>
          </a:p>
        </p:txBody>
      </p:sp>
      <p:sp>
        <p:nvSpPr>
          <p:cNvPr id="98" name="HBM"/>
          <p:cNvSpPr txBox="1"/>
          <p:nvPr/>
        </p:nvSpPr>
        <p:spPr>
          <a:xfrm>
            <a:off x="3796485" y="4672456"/>
            <a:ext cx="581200" cy="252368"/>
          </a:xfrm>
          <a:prstGeom prst="rect">
            <a:avLst/>
          </a:prstGeom>
          <a:noFill/>
        </p:spPr>
        <p:txBody>
          <a:bodyPr wrap="none" lIns="0" rIns="0" tIns="0" bIns="0" anchor="t">
            <a:spAutoFit/>
          </a:bodyPr>
          <a:lstStyle/>
          <a:p>
            <a:pPr algn="l">
              <a:lnSpc>
                <a:spcPct val="100000"/>
              </a:lnSpc>
              <a:spcBef>
                <a:spcPts val="0"/>
              </a:spcBef>
              <a:spcAft>
                <a:spcPts val="0"/>
              </a:spcAft>
            </a:pPr>
            <a:r>
              <a:rPr sz="1497" b="1" lang="en-US" spc="0">
                <a:solidFill>
                  <a:srgbClr val="3D6F9F"/>
                </a:solidFill>
                <a:latin typeface="DejaVu Sans"/>
                <a:ea typeface="DejaVu Sans"/>
              </a:rPr>
              <a:t>HBM</a:t>
            </a:r>
          </a:p>
        </p:txBody>
      </p:sp>
      <p:sp>
        <p:nvSpPr>
          <p:cNvPr id="99" name="rect 98"/>
          <p:cNvSpPr/>
          <p:nvPr/>
        </p:nvSpPr>
        <p:spPr>
          <a:xfrm>
            <a:off x="4462150" y="4154920"/>
            <a:ext cx="358435" cy="285285"/>
          </a:xfrm>
          <a:prstGeom prst="roundRect">
            <a:avLst>
              <a:gd name="adj" fmla="val 5128"/>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p0"/>
          <p:cNvSpPr txBox="1"/>
          <p:nvPr/>
        </p:nvSpPr>
        <p:spPr>
          <a:xfrm>
            <a:off x="4475066" y="419515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357B73"/>
                </a:solidFill>
                <a:latin typeface="DejaVu Sans"/>
                <a:ea typeface="DejaVu Sans"/>
              </a:rPr>
              <a:t>p0</a:t>
            </a:r>
          </a:p>
        </p:txBody>
      </p:sp>
      <p:sp>
        <p:nvSpPr>
          <p:cNvPr id="101" name="rect 100"/>
          <p:cNvSpPr/>
          <p:nvPr/>
        </p:nvSpPr>
        <p:spPr>
          <a:xfrm>
            <a:off x="4462150" y="4608450"/>
            <a:ext cx="358435" cy="285285"/>
          </a:xfrm>
          <a:prstGeom prst="roundRect">
            <a:avLst>
              <a:gd name="adj" fmla="val 5128"/>
            </a:avLst>
          </a:prstGeom>
          <a:solidFill>
            <a:srgbClr val="EDF3F8"/>
          </a:solidFill>
          <a:ln w="11704">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p0"/>
          <p:cNvSpPr txBox="1"/>
          <p:nvPr/>
        </p:nvSpPr>
        <p:spPr>
          <a:xfrm>
            <a:off x="4475066" y="464868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3D6F9F"/>
                </a:solidFill>
                <a:latin typeface="DejaVu Sans"/>
                <a:ea typeface="DejaVu Sans"/>
              </a:rPr>
              <a:t>p0</a:t>
            </a:r>
          </a:p>
        </p:txBody>
      </p:sp>
      <p:sp>
        <p:nvSpPr>
          <p:cNvPr id="103" name="rect 102"/>
          <p:cNvSpPr/>
          <p:nvPr/>
        </p:nvSpPr>
        <p:spPr>
          <a:xfrm>
            <a:off x="4908365" y="4154920"/>
            <a:ext cx="358435" cy="285285"/>
          </a:xfrm>
          <a:prstGeom prst="roundRect">
            <a:avLst>
              <a:gd name="adj" fmla="val 5128"/>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p1"/>
          <p:cNvSpPr txBox="1"/>
          <p:nvPr/>
        </p:nvSpPr>
        <p:spPr>
          <a:xfrm>
            <a:off x="4921281" y="419515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357B73"/>
                </a:solidFill>
                <a:latin typeface="DejaVu Sans"/>
                <a:ea typeface="DejaVu Sans"/>
              </a:rPr>
              <a:t>p1</a:t>
            </a:r>
          </a:p>
        </p:txBody>
      </p:sp>
      <p:sp>
        <p:nvSpPr>
          <p:cNvPr id="105" name="rect 104"/>
          <p:cNvSpPr/>
          <p:nvPr/>
        </p:nvSpPr>
        <p:spPr>
          <a:xfrm>
            <a:off x="4908365" y="4608450"/>
            <a:ext cx="358435" cy="285285"/>
          </a:xfrm>
          <a:prstGeom prst="roundRect">
            <a:avLst>
              <a:gd name="adj" fmla="val 5128"/>
            </a:avLst>
          </a:prstGeom>
          <a:solidFill>
            <a:srgbClr val="EDF3F8"/>
          </a:solidFill>
          <a:ln w="11704">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p1"/>
          <p:cNvSpPr txBox="1"/>
          <p:nvPr/>
        </p:nvSpPr>
        <p:spPr>
          <a:xfrm>
            <a:off x="4921281" y="464868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3D6F9F"/>
                </a:solidFill>
                <a:latin typeface="DejaVu Sans"/>
                <a:ea typeface="DejaVu Sans"/>
              </a:rPr>
              <a:t>p1</a:t>
            </a:r>
          </a:p>
        </p:txBody>
      </p:sp>
      <p:sp>
        <p:nvSpPr>
          <p:cNvPr id="107" name="rect 106"/>
          <p:cNvSpPr/>
          <p:nvPr/>
        </p:nvSpPr>
        <p:spPr>
          <a:xfrm>
            <a:off x="5354580" y="4154920"/>
            <a:ext cx="358435" cy="285285"/>
          </a:xfrm>
          <a:prstGeom prst="roundRect">
            <a:avLst>
              <a:gd name="adj" fmla="val 5128"/>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p2"/>
          <p:cNvSpPr txBox="1"/>
          <p:nvPr/>
        </p:nvSpPr>
        <p:spPr>
          <a:xfrm>
            <a:off x="5367496" y="419515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357B73"/>
                </a:solidFill>
                <a:latin typeface="DejaVu Sans"/>
                <a:ea typeface="DejaVu Sans"/>
              </a:rPr>
              <a:t>p2</a:t>
            </a:r>
          </a:p>
        </p:txBody>
      </p:sp>
      <p:sp>
        <p:nvSpPr>
          <p:cNvPr id="109" name="rect 108"/>
          <p:cNvSpPr/>
          <p:nvPr/>
        </p:nvSpPr>
        <p:spPr>
          <a:xfrm>
            <a:off x="5354580" y="4608450"/>
            <a:ext cx="358435" cy="285285"/>
          </a:xfrm>
          <a:prstGeom prst="roundRect">
            <a:avLst>
              <a:gd name="adj" fmla="val 5128"/>
            </a:avLst>
          </a:prstGeom>
          <a:solidFill>
            <a:srgbClr val="EAF3F1"/>
          </a:solidFill>
          <a:ln w="11704">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p2"/>
          <p:cNvSpPr txBox="1"/>
          <p:nvPr/>
        </p:nvSpPr>
        <p:spPr>
          <a:xfrm>
            <a:off x="5367496" y="464868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357B73"/>
                </a:solidFill>
                <a:latin typeface="DejaVu Sans"/>
                <a:ea typeface="DejaVu Sans"/>
              </a:rPr>
              <a:t>p2</a:t>
            </a:r>
          </a:p>
        </p:txBody>
      </p:sp>
      <p:cxnSp>
        <p:nvCxnSpPr>
          <p:cNvPr id="111" name="path 110"/>
          <p:cNvCxnSpPr/>
          <p:nvPr/>
        </p:nvCxnSpPr>
        <p:spPr>
          <a:xfrm>
            <a:off x="5530140" y="4454835"/>
            <a:ext cx="0" cy="124355"/>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12" name="rect 111"/>
          <p:cNvSpPr/>
          <p:nvPr/>
        </p:nvSpPr>
        <p:spPr>
          <a:xfrm>
            <a:off x="5800795" y="4154920"/>
            <a:ext cx="358435" cy="285285"/>
          </a:xfrm>
          <a:prstGeom prst="roundRect">
            <a:avLst>
              <a:gd name="adj" fmla="val 5128"/>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p3"/>
          <p:cNvSpPr txBox="1"/>
          <p:nvPr/>
        </p:nvSpPr>
        <p:spPr>
          <a:xfrm>
            <a:off x="5813711" y="419515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357B73"/>
                </a:solidFill>
                <a:latin typeface="DejaVu Sans"/>
                <a:ea typeface="DejaVu Sans"/>
              </a:rPr>
              <a:t>p3</a:t>
            </a:r>
          </a:p>
        </p:txBody>
      </p:sp>
      <p:sp>
        <p:nvSpPr>
          <p:cNvPr id="114" name="rect 113"/>
          <p:cNvSpPr/>
          <p:nvPr/>
        </p:nvSpPr>
        <p:spPr>
          <a:xfrm>
            <a:off x="5800795" y="4608450"/>
            <a:ext cx="358435" cy="285285"/>
          </a:xfrm>
          <a:prstGeom prst="roundRect">
            <a:avLst>
              <a:gd name="adj" fmla="val 5128"/>
            </a:avLst>
          </a:prstGeom>
          <a:solidFill>
            <a:srgbClr val="EAF3F1"/>
          </a:solidFill>
          <a:ln w="11704">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p3"/>
          <p:cNvSpPr txBox="1"/>
          <p:nvPr/>
        </p:nvSpPr>
        <p:spPr>
          <a:xfrm>
            <a:off x="5813711" y="464868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357B73"/>
                </a:solidFill>
                <a:latin typeface="DejaVu Sans"/>
                <a:ea typeface="DejaVu Sans"/>
              </a:rPr>
              <a:t>p3</a:t>
            </a:r>
          </a:p>
        </p:txBody>
      </p:sp>
      <p:cxnSp>
        <p:nvCxnSpPr>
          <p:cNvPr id="116" name="path 115"/>
          <p:cNvCxnSpPr/>
          <p:nvPr/>
        </p:nvCxnSpPr>
        <p:spPr>
          <a:xfrm>
            <a:off x="5976355" y="4454835"/>
            <a:ext cx="0" cy="124355"/>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17" name="rect 116"/>
          <p:cNvSpPr/>
          <p:nvPr/>
        </p:nvSpPr>
        <p:spPr>
          <a:xfrm>
            <a:off x="6247010" y="4154920"/>
            <a:ext cx="358435" cy="285285"/>
          </a:xfrm>
          <a:prstGeom prst="roundRect">
            <a:avLst>
              <a:gd name="adj" fmla="val 5128"/>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p4"/>
          <p:cNvSpPr txBox="1"/>
          <p:nvPr/>
        </p:nvSpPr>
        <p:spPr>
          <a:xfrm>
            <a:off x="6259926" y="419515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357B73"/>
                </a:solidFill>
                <a:latin typeface="DejaVu Sans"/>
                <a:ea typeface="DejaVu Sans"/>
              </a:rPr>
              <a:t>p4</a:t>
            </a:r>
          </a:p>
        </p:txBody>
      </p:sp>
      <p:sp>
        <p:nvSpPr>
          <p:cNvPr id="119" name="rect 118"/>
          <p:cNvSpPr/>
          <p:nvPr/>
        </p:nvSpPr>
        <p:spPr>
          <a:xfrm>
            <a:off x="6247010" y="4608450"/>
            <a:ext cx="358435" cy="285285"/>
          </a:xfrm>
          <a:prstGeom prst="roundRect">
            <a:avLst>
              <a:gd name="adj" fmla="val 5128"/>
            </a:avLst>
          </a:prstGeom>
          <a:solidFill>
            <a:srgbClr val="FFFFFF"/>
          </a:solidFill>
          <a:ln w="11704">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p4"/>
          <p:cNvSpPr txBox="1"/>
          <p:nvPr/>
        </p:nvSpPr>
        <p:spPr>
          <a:xfrm>
            <a:off x="6259926" y="464868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89959D"/>
                </a:solidFill>
                <a:latin typeface="DejaVu Sans"/>
                <a:ea typeface="DejaVu Sans"/>
              </a:rPr>
              <a:t>p4</a:t>
            </a:r>
          </a:p>
        </p:txBody>
      </p:sp>
      <p:sp>
        <p:nvSpPr>
          <p:cNvPr id="121" name="rect 120"/>
          <p:cNvSpPr/>
          <p:nvPr/>
        </p:nvSpPr>
        <p:spPr>
          <a:xfrm>
            <a:off x="6693225" y="4154920"/>
            <a:ext cx="358435" cy="285285"/>
          </a:xfrm>
          <a:prstGeom prst="roundRect">
            <a:avLst>
              <a:gd name="adj" fmla="val 5128"/>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p5"/>
          <p:cNvSpPr txBox="1"/>
          <p:nvPr/>
        </p:nvSpPr>
        <p:spPr>
          <a:xfrm>
            <a:off x="6706141" y="419515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357B73"/>
                </a:solidFill>
                <a:latin typeface="DejaVu Sans"/>
                <a:ea typeface="DejaVu Sans"/>
              </a:rPr>
              <a:t>p5</a:t>
            </a:r>
          </a:p>
        </p:txBody>
      </p:sp>
      <p:sp>
        <p:nvSpPr>
          <p:cNvPr id="123" name="rect 122"/>
          <p:cNvSpPr/>
          <p:nvPr/>
        </p:nvSpPr>
        <p:spPr>
          <a:xfrm>
            <a:off x="6693225" y="4608450"/>
            <a:ext cx="358435" cy="285285"/>
          </a:xfrm>
          <a:prstGeom prst="roundRect">
            <a:avLst>
              <a:gd name="adj" fmla="val 5128"/>
            </a:avLst>
          </a:prstGeom>
          <a:solidFill>
            <a:srgbClr val="FFFFFF"/>
          </a:solidFill>
          <a:ln w="11704">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p5"/>
          <p:cNvSpPr txBox="1"/>
          <p:nvPr/>
        </p:nvSpPr>
        <p:spPr>
          <a:xfrm>
            <a:off x="6706141" y="4648682"/>
            <a:ext cx="32528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lang="en-US" spc="0">
                <a:solidFill>
                  <a:srgbClr val="89959D"/>
                </a:solidFill>
                <a:latin typeface="DejaVu Sans"/>
                <a:ea typeface="DejaVu Sans"/>
              </a:rPr>
              <a:t>p5</a:t>
            </a:r>
          </a:p>
        </p:txBody>
      </p:sp>
      <p:sp>
        <p:nvSpPr>
          <p:cNvPr id="125" name="B ≤ Cfree + Ccold − Gnext"/>
          <p:cNvSpPr txBox="1"/>
          <p:nvPr/>
        </p:nvSpPr>
        <p:spPr>
          <a:xfrm>
            <a:off x="3796485" y="5091240"/>
            <a:ext cx="2861137" cy="268826"/>
          </a:xfrm>
          <a:prstGeom prst="rect">
            <a:avLst/>
          </a:prstGeom>
          <a:noFill/>
        </p:spPr>
        <p:txBody>
          <a:bodyPr wrap="none" lIns="0" rIns="0" tIns="0" bIns="0" anchor="t">
            <a:spAutoFit/>
          </a:bodyPr>
          <a:lstStyle/>
          <a:p>
            <a:pPr algn="l">
              <a:lnSpc>
                <a:spcPct val="100000"/>
              </a:lnSpc>
              <a:spcBef>
                <a:spcPts val="0"/>
              </a:spcBef>
              <a:spcAft>
                <a:spcPts val="0"/>
              </a:spcAft>
            </a:pPr>
            <a:r>
              <a:rPr sz="1612" b="0" lang="en-US" spc="0">
                <a:solidFill>
                  <a:srgbClr val="357B73"/>
                </a:solidFill>
                <a:latin typeface="DejaVu Sans"/>
                <a:ea typeface="DejaVu Sans"/>
              </a:rPr>
              <a:t>B ≤ Cfree + Ccold − Gnext</a:t>
            </a:r>
          </a:p>
        </p:txBody>
      </p:sp>
      <p:sp>
        <p:nvSpPr>
          <p:cNvPr id="126" name="ΔFULL + s*"/>
          <p:cNvSpPr txBox="1"/>
          <p:nvPr/>
        </p:nvSpPr>
        <p:spPr>
          <a:xfrm>
            <a:off x="3796485" y="5462476"/>
            <a:ext cx="1266152" cy="252368"/>
          </a:xfrm>
          <a:prstGeom prst="rect">
            <a:avLst/>
          </a:prstGeom>
          <a:noFill/>
        </p:spPr>
        <p:txBody>
          <a:bodyPr wrap="none" lIns="0" rIns="0" tIns="0" bIns="0" anchor="t">
            <a:spAutoFit/>
          </a:bodyPr>
          <a:lstStyle/>
          <a:p>
            <a:pPr algn="l">
              <a:lnSpc>
                <a:spcPct val="100000"/>
              </a:lnSpc>
              <a:spcBef>
                <a:spcPts val="0"/>
              </a:spcBef>
              <a:spcAft>
                <a:spcPts val="0"/>
              </a:spcAft>
            </a:pPr>
            <a:r>
              <a:rPr sz="1497" b="1" lang="en-US" spc="0">
                <a:solidFill>
                  <a:srgbClr val="A96F1F"/>
                </a:solidFill>
                <a:latin typeface="DejaVu Sans"/>
                <a:ea typeface="DejaVu Sans"/>
              </a:rPr>
              <a:t>ΔFULL + s*</a:t>
            </a:r>
          </a:p>
        </p:txBody>
      </p:sp>
      <p:sp>
        <p:nvSpPr>
          <p:cNvPr id="127" name="path 126"/>
          <p:cNvSpPr/>
          <p:nvPr/>
        </p:nvSpPr>
        <p:spPr>
          <a:xfrm>
            <a:off x="7117495" y="4323165"/>
            <a:ext cx="424270" cy="424270"/>
          </a:xfrm>
          <a:custGeom>
            <a:avLst/>
            <a:gdLst/>
            <a:ahLst/>
            <a:cxnLst/>
            <a:rect l="l" t="t" r="r" b="b"/>
            <a:pathLst>
              <a:path w="58" h="58">
                <a:moveTo>
                  <a:pt x="0" y="58"/>
                </a:moveTo>
                <a:lnTo>
                  <a:pt x="22" y="58"/>
                </a:lnTo>
                <a:lnTo>
                  <a:pt x="22" y="0"/>
                </a:lnTo>
                <a:lnTo>
                  <a:pt x="58" y="0"/>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rect 127"/>
          <p:cNvSpPr/>
          <p:nvPr/>
        </p:nvSpPr>
        <p:spPr>
          <a:xfrm>
            <a:off x="7549080" y="4125660"/>
            <a:ext cx="2187185" cy="395010"/>
          </a:xfrm>
          <a:prstGeom prst="roundRect">
            <a:avLst>
              <a:gd name="adj" fmla="val 3703"/>
            </a:avLst>
          </a:prstGeom>
          <a:solidFill>
            <a:srgbClr val="EAF3F1"/>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HiCache H2D"/>
          <p:cNvSpPr txBox="1"/>
          <p:nvPr/>
        </p:nvSpPr>
        <p:spPr>
          <a:xfrm>
            <a:off x="7852981" y="4202614"/>
            <a:ext cx="1579383" cy="268826"/>
          </a:xfrm>
          <a:prstGeom prst="rect">
            <a:avLst/>
          </a:prstGeom>
          <a:noFill/>
        </p:spPr>
        <p:txBody>
          <a:bodyPr wrap="none" lIns="0" rIns="0" tIns="0" bIns="0" anchor="t">
            <a:spAutoFit/>
          </a:bodyPr>
          <a:lstStyle/>
          <a:p>
            <a:pPr algn="ctr">
              <a:lnSpc>
                <a:spcPct val="100000"/>
              </a:lnSpc>
              <a:spcBef>
                <a:spcPts val="0"/>
              </a:spcBef>
              <a:spcAft>
                <a:spcPts val="0"/>
              </a:spcAft>
            </a:pPr>
            <a:r>
              <a:rPr sz="1612" b="1" lang="en-US" spc="0">
                <a:solidFill>
                  <a:srgbClr val="263746"/>
                </a:solidFill>
                <a:latin typeface="DejaVu Sans"/>
                <a:ea typeface="DejaVu Sans"/>
              </a:rPr>
              <a:t>HiCache H2D</a:t>
            </a:r>
          </a:p>
        </p:txBody>
      </p:sp>
      <p:sp>
        <p:nvSpPr>
          <p:cNvPr id="130" name="rect 129"/>
          <p:cNvSpPr/>
          <p:nvPr/>
        </p:nvSpPr>
        <p:spPr>
          <a:xfrm>
            <a:off x="7549080" y="5105870"/>
            <a:ext cx="2187185" cy="395010"/>
          </a:xfrm>
          <a:prstGeom prst="roundRect">
            <a:avLst>
              <a:gd name="adj" fmla="val 3703"/>
            </a:avLst>
          </a:prstGeom>
          <a:solidFill>
            <a:srgbClr val="FBF2E3"/>
          </a:solidFill>
          <a:ln w="9509">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s*"/>
          <p:cNvSpPr txBox="1"/>
          <p:nvPr/>
        </p:nvSpPr>
        <p:spPr>
          <a:xfrm>
            <a:off x="8476099" y="5173168"/>
            <a:ext cx="333147" cy="287114"/>
          </a:xfrm>
          <a:prstGeom prst="rect">
            <a:avLst/>
          </a:prstGeom>
          <a:noFill/>
        </p:spPr>
        <p:txBody>
          <a:bodyPr wrap="none" lIns="0" rIns="0" tIns="0" bIns="0" anchor="t">
            <a:spAutoFit/>
          </a:bodyPr>
          <a:lstStyle/>
          <a:p>
            <a:pPr algn="ctr">
              <a:lnSpc>
                <a:spcPct val="100000"/>
              </a:lnSpc>
              <a:spcBef>
                <a:spcPts val="0"/>
              </a:spcBef>
              <a:spcAft>
                <a:spcPts val="0"/>
              </a:spcAft>
            </a:pPr>
            <a:r>
              <a:rPr sz="1727" b="1" lang="en-US" spc="0">
                <a:solidFill>
                  <a:srgbClr val="263746"/>
                </a:solidFill>
                <a:latin typeface="DejaVu Sans"/>
                <a:ea typeface="DejaVu Sans"/>
              </a:rPr>
              <a:t>s*</a:t>
            </a:r>
          </a:p>
        </p:txBody>
      </p:sp>
      <p:sp>
        <p:nvSpPr>
          <p:cNvPr id="132" name="path 131"/>
          <p:cNvSpPr/>
          <p:nvPr/>
        </p:nvSpPr>
        <p:spPr>
          <a:xfrm>
            <a:off x="8639015" y="4520670"/>
            <a:ext cx="1872640" cy="197505"/>
          </a:xfrm>
          <a:custGeom>
            <a:avLst/>
            <a:gdLst/>
            <a:ahLst/>
            <a:cxnLst/>
            <a:rect l="l" t="t" r="r" b="b"/>
            <a:pathLst>
              <a:path w="256" h="27">
                <a:moveTo>
                  <a:pt x="0" y="0"/>
                </a:moveTo>
                <a:lnTo>
                  <a:pt x="0" y="27"/>
                </a:lnTo>
                <a:lnTo>
                  <a:pt x="256" y="27"/>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path 132"/>
          <p:cNvSpPr/>
          <p:nvPr/>
        </p:nvSpPr>
        <p:spPr>
          <a:xfrm>
            <a:off x="9743580" y="4864475"/>
            <a:ext cx="768075" cy="438900"/>
          </a:xfrm>
          <a:custGeom>
            <a:avLst/>
            <a:gdLst/>
            <a:ahLst/>
            <a:cxnLst/>
            <a:rect l="l" t="t" r="r" b="b"/>
            <a:pathLst>
              <a:path w="105" h="60">
                <a:moveTo>
                  <a:pt x="0" y="60"/>
                </a:moveTo>
                <a:lnTo>
                  <a:pt x="38" y="60"/>
                </a:lnTo>
                <a:lnTo>
                  <a:pt x="38" y="0"/>
                </a:lnTo>
                <a:lnTo>
                  <a:pt x="105" y="0"/>
                </a:lnTo>
              </a:path>
            </a:pathLst>
          </a:custGeom>
          <a:noFill/>
          <a:ln w="17556">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polygon 133"/>
          <p:cNvSpPr/>
          <p:nvPr/>
        </p:nvSpPr>
        <p:spPr>
          <a:xfrm>
            <a:off x="10518970" y="4535300"/>
            <a:ext cx="731500" cy="512050"/>
          </a:xfrm>
          <a:custGeom>
            <a:avLst/>
            <a:gdLst/>
            <a:ahLst/>
            <a:cxnLst/>
            <a:rect l="l" t="t" r="r" b="b"/>
            <a:pathLst>
              <a:path w="100" h="70">
                <a:moveTo>
                  <a:pt x="50" y="0"/>
                </a:moveTo>
                <a:lnTo>
                  <a:pt x="100" y="35"/>
                </a:lnTo>
                <a:lnTo>
                  <a:pt x="50" y="70"/>
                </a:lnTo>
                <a:lnTo>
                  <a:pt x="0" y="35"/>
                </a:lnTo>
                <a:close/>
              </a:path>
            </a:pathLst>
          </a:cu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amp;"/>
          <p:cNvSpPr txBox="1"/>
          <p:nvPr/>
        </p:nvSpPr>
        <p:spPr>
          <a:xfrm>
            <a:off x="10741949" y="4645025"/>
            <a:ext cx="285542" cy="296258"/>
          </a:xfrm>
          <a:prstGeom prst="rect">
            <a:avLst/>
          </a:prstGeom>
          <a:noFill/>
        </p:spPr>
        <p:txBody>
          <a:bodyPr wrap="none" lIns="0" rIns="0" tIns="0" bIns="0" anchor="t">
            <a:spAutoFit/>
          </a:bodyPr>
          <a:lstStyle/>
          <a:p>
            <a:pPr algn="ctr">
              <a:lnSpc>
                <a:spcPct val="100000"/>
              </a:lnSpc>
              <a:spcBef>
                <a:spcPts val="0"/>
              </a:spcBef>
              <a:spcAft>
                <a:spcPts val="0"/>
              </a:spcAft>
            </a:pPr>
            <a:r>
              <a:rPr sz="1785" b="1" lang="en-US" spc="0">
                <a:solidFill>
                  <a:srgbClr val="263746"/>
                </a:solidFill>
                <a:latin typeface="DejaVu Sans"/>
                <a:ea typeface="DejaVu Sans"/>
              </a:rPr>
              <a:t>&amp;</a:t>
            </a:r>
          </a:p>
        </p:txBody>
      </p:sp>
      <p:sp>
        <p:nvSpPr>
          <p:cNvPr id="136" name="rect 135"/>
          <p:cNvSpPr/>
          <p:nvPr/>
        </p:nvSpPr>
        <p:spPr>
          <a:xfrm>
            <a:off x="11660110" y="4176865"/>
            <a:ext cx="1016785" cy="329175"/>
          </a:xfrm>
          <a:prstGeom prst="roundRect">
            <a:avLst>
              <a:gd name="adj" fmla="val 4444"/>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ℓ0"/>
          <p:cNvSpPr txBox="1"/>
          <p:nvPr/>
        </p:nvSpPr>
        <p:spPr>
          <a:xfrm>
            <a:off x="12009330" y="4223900"/>
            <a:ext cx="318345"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ℓ0</a:t>
            </a:r>
          </a:p>
        </p:txBody>
      </p:sp>
      <p:sp>
        <p:nvSpPr>
          <p:cNvPr id="138" name="rect 137"/>
          <p:cNvSpPr/>
          <p:nvPr/>
        </p:nvSpPr>
        <p:spPr>
          <a:xfrm>
            <a:off x="11660110" y="4652340"/>
            <a:ext cx="1016785" cy="329175"/>
          </a:xfrm>
          <a:prstGeom prst="roundRect">
            <a:avLst>
              <a:gd name="adj" fmla="val 4444"/>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ℓ1"/>
          <p:cNvSpPr txBox="1"/>
          <p:nvPr/>
        </p:nvSpPr>
        <p:spPr>
          <a:xfrm>
            <a:off x="12009330" y="4699375"/>
            <a:ext cx="318345"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ℓ1</a:t>
            </a:r>
          </a:p>
        </p:txBody>
      </p:sp>
      <p:sp>
        <p:nvSpPr>
          <p:cNvPr id="140" name="rect 139"/>
          <p:cNvSpPr/>
          <p:nvPr/>
        </p:nvSpPr>
        <p:spPr>
          <a:xfrm>
            <a:off x="11660110" y="5127815"/>
            <a:ext cx="1016785" cy="329175"/>
          </a:xfrm>
          <a:prstGeom prst="roundRect">
            <a:avLst>
              <a:gd name="adj" fmla="val 4444"/>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ℓ2"/>
          <p:cNvSpPr txBox="1"/>
          <p:nvPr/>
        </p:nvSpPr>
        <p:spPr>
          <a:xfrm>
            <a:off x="12009330" y="5174850"/>
            <a:ext cx="318345"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ℓ2</a:t>
            </a:r>
          </a:p>
        </p:txBody>
      </p:sp>
      <p:sp>
        <p:nvSpPr>
          <p:cNvPr id="142" name="path 141"/>
          <p:cNvSpPr/>
          <p:nvPr/>
        </p:nvSpPr>
        <p:spPr>
          <a:xfrm>
            <a:off x="11265100" y="4337795"/>
            <a:ext cx="387695" cy="453530"/>
          </a:xfrm>
          <a:custGeom>
            <a:avLst/>
            <a:gdLst/>
            <a:ahLst/>
            <a:cxnLst/>
            <a:rect l="l" t="t" r="r" b="b"/>
            <a:pathLst>
              <a:path w="53" h="62">
                <a:moveTo>
                  <a:pt x="0" y="62"/>
                </a:moveTo>
                <a:lnTo>
                  <a:pt x="28" y="62"/>
                </a:lnTo>
                <a:lnTo>
                  <a:pt x="28" y="0"/>
                </a:lnTo>
                <a:lnTo>
                  <a:pt x="53" y="0"/>
                </a:lnTo>
              </a:path>
            </a:pathLst>
          </a:custGeom>
          <a:noFill/>
          <a:ln w="17556">
            <a:solidFill>
              <a:srgbClr val="3D6F9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3" name="path 142"/>
          <p:cNvCxnSpPr/>
          <p:nvPr/>
        </p:nvCxnSpPr>
        <p:spPr>
          <a:xfrm>
            <a:off x="12164845" y="4513355"/>
            <a:ext cx="0" cy="12435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44" name="path 143"/>
          <p:cNvCxnSpPr/>
          <p:nvPr/>
        </p:nvCxnSpPr>
        <p:spPr>
          <a:xfrm>
            <a:off x="12164845" y="4988830"/>
            <a:ext cx="0" cy="12435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45" name="layer-ready"/>
          <p:cNvSpPr txBox="1"/>
          <p:nvPr/>
        </p:nvSpPr>
        <p:spPr>
          <a:xfrm>
            <a:off x="10548230" y="4056168"/>
            <a:ext cx="1038359"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D6F9F"/>
                </a:solidFill>
                <a:latin typeface="DejaVu Sans"/>
                <a:ea typeface="DejaVu Sans"/>
              </a:rPr>
              <a:t>layer-ready</a:t>
            </a:r>
          </a:p>
        </p:txBody>
      </p:sp>
      <p:sp>
        <p:nvSpPr>
          <p:cNvPr id="146" name="path 145"/>
          <p:cNvSpPr/>
          <p:nvPr/>
        </p:nvSpPr>
        <p:spPr>
          <a:xfrm>
            <a:off x="7366205" y="4520670"/>
            <a:ext cx="3086930" cy="1148455"/>
          </a:xfrm>
          <a:custGeom>
            <a:avLst/>
            <a:gdLst/>
            <a:ahLst/>
            <a:cxnLst/>
            <a:rect l="l" t="t" r="r" b="b"/>
            <a:pathLst>
              <a:path w="422" h="157">
                <a:moveTo>
                  <a:pt x="57" y="0"/>
                </a:moveTo>
                <a:lnTo>
                  <a:pt x="0" y="0"/>
                </a:lnTo>
                <a:lnTo>
                  <a:pt x="0" y="157"/>
                </a:lnTo>
                <a:lnTo>
                  <a:pt x="422" y="157"/>
                </a:lnTo>
              </a:path>
            </a:pathLst>
          </a:custGeom>
          <a:noFill/>
          <a:ln w="17556">
            <a:solidFill>
              <a:srgbClr val="357B73"/>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7" name="ACK"/>
          <p:cNvSpPr txBox="1"/>
          <p:nvPr/>
        </p:nvSpPr>
        <p:spPr>
          <a:xfrm>
            <a:off x="9780155" y="5446018"/>
            <a:ext cx="427727"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357B73"/>
                </a:solidFill>
                <a:latin typeface="DejaVu Sans"/>
                <a:ea typeface="DejaVu Sans"/>
              </a:rPr>
              <a:t>ACK</a:t>
            </a:r>
          </a:p>
        </p:txBody>
      </p:sp>
      <p:sp>
        <p:nvSpPr>
          <p:cNvPr id="148" name="rect 147"/>
          <p:cNvSpPr/>
          <p:nvPr/>
        </p:nvSpPr>
        <p:spPr>
          <a:xfrm>
            <a:off x="292600" y="6195805"/>
            <a:ext cx="7607600" cy="2216445"/>
          </a:xfrm>
          <a:prstGeom prst="roundRect">
            <a:avLst>
              <a:gd name="adj" fmla="val 990"/>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9" name="line 148"/>
          <p:cNvCxnSpPr/>
          <p:nvPr/>
        </p:nvCxnSpPr>
        <p:spPr>
          <a:xfrm>
            <a:off x="299915" y="6203120"/>
            <a:ext cx="7592970" cy="0"/>
          </a:xfrm>
          <a:prstGeom prst="line">
            <a:avLst/>
          </a:prstGeom>
          <a:ln w="21945">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150" name="(d) Child → parent capacity"/>
          <p:cNvSpPr txBox="1"/>
          <p:nvPr/>
        </p:nvSpPr>
        <p:spPr>
          <a:xfrm>
            <a:off x="453530" y="6298215"/>
            <a:ext cx="3197712"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57B73"/>
                </a:solidFill>
                <a:latin typeface="DejaVu Sans"/>
                <a:ea typeface="DejaVu Sans"/>
              </a:rPr>
              <a:t>(d) Child → parent capacity</a:t>
            </a:r>
          </a:p>
        </p:txBody>
      </p:sp>
      <p:sp>
        <p:nvSpPr>
          <p:cNvPr id="151" name="circle 150"/>
          <p:cNvSpPr/>
          <p:nvPr/>
        </p:nvSpPr>
        <p:spPr>
          <a:xfrm>
            <a:off x="533995" y="6927305"/>
            <a:ext cx="395010" cy="395010"/>
          </a:xfrm>
          <a:prstGeom prst="ellipse">
            <a:avLst/>
          </a:prstGeom>
          <a:solidFill>
            <a:srgbClr val="EDF3F8"/>
          </a:solidFill>
          <a:ln w="1024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P"/>
          <p:cNvSpPr txBox="1"/>
          <p:nvPr/>
        </p:nvSpPr>
        <p:spPr>
          <a:xfrm>
            <a:off x="620589" y="7018742"/>
            <a:ext cx="221822"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P</a:t>
            </a:r>
          </a:p>
        </p:txBody>
      </p:sp>
      <p:sp>
        <p:nvSpPr>
          <p:cNvPr id="153" name="circle 152"/>
          <p:cNvSpPr/>
          <p:nvPr/>
        </p:nvSpPr>
        <p:spPr>
          <a:xfrm>
            <a:off x="1711710" y="6546925"/>
            <a:ext cx="395010" cy="395010"/>
          </a:xfrm>
          <a:prstGeom prst="ellipse">
            <a:avLst/>
          </a:prstGeom>
          <a:solidFill>
            <a:srgbClr val="EAF3F1"/>
          </a:solidFill>
          <a:ln w="10241">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4" name="C1"/>
          <p:cNvSpPr txBox="1"/>
          <p:nvPr/>
        </p:nvSpPr>
        <p:spPr>
          <a:xfrm>
            <a:off x="1739827" y="6641288"/>
            <a:ext cx="338776"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lang="en-US" spc="0">
                <a:solidFill>
                  <a:srgbClr val="263746"/>
                </a:solidFill>
                <a:latin typeface="DejaVu Sans"/>
                <a:ea typeface="DejaVu Sans"/>
              </a:rPr>
              <a:t>C1</a:t>
            </a:r>
          </a:p>
        </p:txBody>
      </p:sp>
      <p:sp>
        <p:nvSpPr>
          <p:cNvPr id="155" name="circle 154"/>
          <p:cNvSpPr/>
          <p:nvPr/>
        </p:nvSpPr>
        <p:spPr>
          <a:xfrm>
            <a:off x="1711710" y="7585655"/>
            <a:ext cx="395010" cy="395010"/>
          </a:xfrm>
          <a:prstGeom prst="ellipse">
            <a:avLst/>
          </a:prstGeom>
          <a:solidFill>
            <a:srgbClr val="FBF2E3"/>
          </a:solidFill>
          <a:ln w="10241">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6" name="C2"/>
          <p:cNvSpPr txBox="1"/>
          <p:nvPr/>
        </p:nvSpPr>
        <p:spPr>
          <a:xfrm>
            <a:off x="1739827" y="7680019"/>
            <a:ext cx="338776"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lang="en-US" spc="0">
                <a:solidFill>
                  <a:srgbClr val="263746"/>
                </a:solidFill>
                <a:latin typeface="DejaVu Sans"/>
                <a:ea typeface="DejaVu Sans"/>
              </a:rPr>
              <a:t>C2</a:t>
            </a:r>
          </a:p>
        </p:txBody>
      </p:sp>
      <p:cxnSp>
        <p:nvCxnSpPr>
          <p:cNvPr id="157" name="path 156"/>
          <p:cNvCxnSpPr/>
          <p:nvPr/>
        </p:nvCxnSpPr>
        <p:spPr>
          <a:xfrm flipV="1">
            <a:off x="950950" y="6810265"/>
            <a:ext cx="746130" cy="22676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58" name="path 157"/>
          <p:cNvCxnSpPr/>
          <p:nvPr/>
        </p:nvCxnSpPr>
        <p:spPr>
          <a:xfrm>
            <a:off x="950950" y="7227220"/>
            <a:ext cx="753445" cy="46084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59" name="path 158"/>
          <p:cNvSpPr/>
          <p:nvPr/>
        </p:nvSpPr>
        <p:spPr>
          <a:xfrm>
            <a:off x="2150610" y="6554240"/>
            <a:ext cx="138985" cy="138985"/>
          </a:xfrm>
          <a:custGeom>
            <a:avLst/>
            <a:gdLst/>
            <a:ahLst/>
            <a:cxnLst/>
            <a:rect l="l" t="t" r="r" b="b"/>
            <a:pathLst>
              <a:path w="19" h="19">
                <a:moveTo>
                  <a:pt x="0" y="10"/>
                </a:moveTo>
                <a:lnTo>
                  <a:pt x="7" y="19"/>
                </a:lnTo>
                <a:lnTo>
                  <a:pt x="19" y="0"/>
                </a:lnTo>
              </a:path>
            </a:pathLst>
          </a:custGeom>
          <a:noFill/>
          <a:ln w="2048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rect 159"/>
          <p:cNvSpPr/>
          <p:nvPr/>
        </p:nvSpPr>
        <p:spPr>
          <a:xfrm>
            <a:off x="2699235" y="6627390"/>
            <a:ext cx="292600" cy="248710"/>
          </a:xfrm>
          <a:prstGeom prst="roundRect">
            <a:avLst>
              <a:gd name="adj" fmla="val 5882"/>
            </a:avLst>
          </a:prstGeom>
          <a:solidFill>
            <a:srgbClr val="F2F4F5"/>
          </a:solidFill>
          <a:ln w="11704">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1" name="rect 160"/>
          <p:cNvSpPr/>
          <p:nvPr/>
        </p:nvSpPr>
        <p:spPr>
          <a:xfrm>
            <a:off x="3064985" y="6627390"/>
            <a:ext cx="292600" cy="248710"/>
          </a:xfrm>
          <a:prstGeom prst="roundRect">
            <a:avLst>
              <a:gd name="adj" fmla="val 5882"/>
            </a:avLst>
          </a:prstGeom>
          <a:solidFill>
            <a:srgbClr val="EAF3F1"/>
          </a:solidFill>
          <a:ln w="11704">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rect 161"/>
          <p:cNvSpPr/>
          <p:nvPr/>
        </p:nvSpPr>
        <p:spPr>
          <a:xfrm>
            <a:off x="3430735" y="6627390"/>
            <a:ext cx="292600" cy="248710"/>
          </a:xfrm>
          <a:prstGeom prst="roundRect">
            <a:avLst>
              <a:gd name="adj" fmla="val 5882"/>
            </a:avLst>
          </a:prstGeom>
          <a:solidFill>
            <a:srgbClr val="EAF3F1"/>
          </a:solidFill>
          <a:ln w="11704">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3" name="rect 162"/>
          <p:cNvSpPr/>
          <p:nvPr/>
        </p:nvSpPr>
        <p:spPr>
          <a:xfrm>
            <a:off x="3796485" y="6627390"/>
            <a:ext cx="292600" cy="248710"/>
          </a:xfrm>
          <a:prstGeom prst="roundRect">
            <a:avLst>
              <a:gd name="adj" fmla="val 5882"/>
            </a:avLst>
          </a:prstGeom>
          <a:solidFill>
            <a:srgbClr val="EAF3F1"/>
          </a:solidFill>
          <a:ln w="11704">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4" name="path 163"/>
          <p:cNvSpPr/>
          <p:nvPr/>
        </p:nvSpPr>
        <p:spPr>
          <a:xfrm>
            <a:off x="2794330" y="6941935"/>
            <a:ext cx="80465" cy="58520"/>
          </a:xfrm>
          <a:custGeom>
            <a:avLst/>
            <a:gdLst/>
            <a:ahLst/>
            <a:cxnLst/>
            <a:rect l="l" t="t" r="r" b="b"/>
            <a:pathLst>
              <a:path w="11" h="8">
                <a:moveTo>
                  <a:pt x="0" y="8"/>
                </a:moveTo>
                <a:lnTo>
                  <a:pt x="0" y="0"/>
                </a:lnTo>
                <a:lnTo>
                  <a:pt x="11" y="0"/>
                </a:lnTo>
                <a:lnTo>
                  <a:pt x="11" y="8"/>
                </a:lnTo>
              </a:path>
            </a:pathLst>
          </a:custGeom>
          <a:noFill/>
          <a:ln w="14630">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5" name="rect 164"/>
          <p:cNvSpPr/>
          <p:nvPr/>
        </p:nvSpPr>
        <p:spPr>
          <a:xfrm>
            <a:off x="2765070" y="7003381"/>
            <a:ext cx="140448" cy="117040"/>
          </a:xfrm>
          <a:prstGeom prst="roundRect">
            <a:avLst>
              <a:gd name="adj" fmla="val 12500"/>
            </a:avLst>
          </a:prstGeom>
          <a:solidFill>
            <a:srgbClr val="FFFFFF"/>
          </a:solidFill>
          <a:ln w="13167">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6" name="circle 165"/>
          <p:cNvSpPr/>
          <p:nvPr/>
        </p:nvSpPr>
        <p:spPr>
          <a:xfrm>
            <a:off x="2823590" y="7038493"/>
            <a:ext cx="23408" cy="23408"/>
          </a:xfrm>
          <a:prstGeom prst="ellipse">
            <a:avLst/>
          </a:prstGeom>
          <a:solidFill>
            <a:srgbClr val="89959D"/>
          </a:solidFill>
          <a:ln w="7315">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67" name="path 166"/>
          <p:cNvCxnSpPr/>
          <p:nvPr/>
        </p:nvCxnSpPr>
        <p:spPr>
          <a:xfrm>
            <a:off x="2121350" y="6744430"/>
            <a:ext cx="512050"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68" name="path 167"/>
          <p:cNvCxnSpPr/>
          <p:nvPr/>
        </p:nvCxnSpPr>
        <p:spPr>
          <a:xfrm>
            <a:off x="4169550" y="6744430"/>
            <a:ext cx="607145"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69" name="rect 168"/>
          <p:cNvSpPr/>
          <p:nvPr/>
        </p:nvSpPr>
        <p:spPr>
          <a:xfrm>
            <a:off x="4791325" y="6561555"/>
            <a:ext cx="1280125" cy="365750"/>
          </a:xfrm>
          <a:prstGeom prst="roundRect">
            <a:avLst>
              <a:gd name="adj" fmla="val 4000"/>
            </a:avLst>
          </a:prstGeom>
          <a:solidFill>
            <a:srgbClr val="FFFFFF"/>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0" name="Free list"/>
          <p:cNvSpPr txBox="1"/>
          <p:nvPr/>
        </p:nvSpPr>
        <p:spPr>
          <a:xfrm>
            <a:off x="4969100" y="6636534"/>
            <a:ext cx="924576"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Free list</a:t>
            </a:r>
          </a:p>
        </p:txBody>
      </p:sp>
      <p:cxnSp>
        <p:nvCxnSpPr>
          <p:cNvPr id="171" name="path 170"/>
          <p:cNvCxnSpPr/>
          <p:nvPr/>
        </p:nvCxnSpPr>
        <p:spPr>
          <a:xfrm>
            <a:off x="6078765" y="6744430"/>
            <a:ext cx="351120"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72" name="rect 171"/>
          <p:cNvSpPr/>
          <p:nvPr/>
        </p:nvSpPr>
        <p:spPr>
          <a:xfrm>
            <a:off x="6444515" y="6561555"/>
            <a:ext cx="1265495" cy="365750"/>
          </a:xfrm>
          <a:prstGeom prst="roundRect">
            <a:avLst>
              <a:gd name="adj" fmla="val 4000"/>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3" name="Parent KV"/>
          <p:cNvSpPr txBox="1"/>
          <p:nvPr/>
        </p:nvSpPr>
        <p:spPr>
          <a:xfrm>
            <a:off x="6517751" y="6636534"/>
            <a:ext cx="1119024"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Parent KV</a:t>
            </a:r>
          </a:p>
        </p:txBody>
      </p:sp>
      <p:sp>
        <p:nvSpPr>
          <p:cNvPr id="174" name="private"/>
          <p:cNvSpPr txBox="1"/>
          <p:nvPr/>
        </p:nvSpPr>
        <p:spPr>
          <a:xfrm>
            <a:off x="3255175" y="6916332"/>
            <a:ext cx="708498"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357B73"/>
                </a:solidFill>
                <a:latin typeface="DejaVu Sans"/>
                <a:ea typeface="DejaVu Sans"/>
              </a:rPr>
              <a:t>private</a:t>
            </a:r>
          </a:p>
        </p:txBody>
      </p:sp>
      <p:cxnSp>
        <p:nvCxnSpPr>
          <p:cNvPr id="175" name="line 174"/>
          <p:cNvCxnSpPr/>
          <p:nvPr/>
        </p:nvCxnSpPr>
        <p:spPr>
          <a:xfrm>
            <a:off x="6620075" y="7249165"/>
            <a:ext cx="0" cy="994840"/>
          </a:xfrm>
          <a:prstGeom prst="line">
            <a:avLst/>
          </a:prstGeom>
          <a:ln w="12435">
            <a:solidFill>
              <a:srgbClr val="89959D"/>
            </a:solidFill>
            <a:prstDash val="dash"/>
          </a:ln>
          <a:effectLst/>
        </p:spPr>
        <p:style>
          <a:lnRef idx="2">
            <a:schemeClr val="accent1"/>
          </a:lnRef>
          <a:fillRef idx="0">
            <a:schemeClr val="accent1"/>
          </a:fillRef>
          <a:effectRef idx="0">
            <a:schemeClr val="accent1"/>
          </a:effectRef>
          <a:fontRef idx="minor">
            <a:schemeClr val="tx1"/>
          </a:fontRef>
        </p:style>
      </p:cxnSp>
      <p:sp>
        <p:nvSpPr>
          <p:cNvPr id="176" name="RETURN"/>
          <p:cNvSpPr txBox="1"/>
          <p:nvPr/>
        </p:nvSpPr>
        <p:spPr>
          <a:xfrm>
            <a:off x="6685910" y="7186988"/>
            <a:ext cx="779676" cy="226765"/>
          </a:xfrm>
          <a:prstGeom prst="rect">
            <a:avLst/>
          </a:prstGeom>
          <a:noFill/>
        </p:spPr>
        <p:txBody>
          <a:bodyPr wrap="none" lIns="0" rIns="0" tIns="0" bIns="0" anchor="t">
            <a:spAutoFit/>
          </a:bodyPr>
          <a:lstStyle/>
          <a:p>
            <a:pPr algn="l">
              <a:lnSpc>
                <a:spcPct val="100000"/>
              </a:lnSpc>
              <a:spcBef>
                <a:spcPts val="0"/>
              </a:spcBef>
              <a:spcAft>
                <a:spcPts val="0"/>
              </a:spcAft>
            </a:pPr>
            <a:r>
              <a:rPr sz="1324" b="0" lang="en-US" spc="0">
                <a:solidFill>
                  <a:srgbClr val="263746"/>
                </a:solidFill>
                <a:latin typeface="DejaVu Sans"/>
                <a:ea typeface="DejaVu Sans"/>
              </a:rPr>
              <a:t>RETURN</a:t>
            </a:r>
          </a:p>
        </p:txBody>
      </p:sp>
      <p:sp>
        <p:nvSpPr>
          <p:cNvPr id="177" name="rect 176"/>
          <p:cNvSpPr/>
          <p:nvPr/>
        </p:nvSpPr>
        <p:spPr>
          <a:xfrm>
            <a:off x="2947945" y="7995295"/>
            <a:ext cx="3672130" cy="226765"/>
          </a:xfrm>
          <a:prstGeom prst="roundRect">
            <a:avLst>
              <a:gd name="adj" fmla="val 6451"/>
            </a:avLst>
          </a:prstGeom>
          <a:solidFill>
            <a:srgbClr val="FBF2E3"/>
          </a:solidFill>
          <a:ln w="11704">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8" name="C2: decode"/>
          <p:cNvSpPr txBox="1"/>
          <p:nvPr/>
        </p:nvSpPr>
        <p:spPr>
          <a:xfrm>
            <a:off x="4198896" y="8006268"/>
            <a:ext cx="103855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0" lang="en-US" spc="0">
                <a:solidFill>
                  <a:srgbClr val="A96F1F"/>
                </a:solidFill>
                <a:latin typeface="DejaVu Sans"/>
                <a:ea typeface="DejaVu Sans"/>
              </a:rPr>
              <a:t>C2: decode</a:t>
            </a:r>
          </a:p>
        </p:txBody>
      </p:sp>
      <p:sp>
        <p:nvSpPr>
          <p:cNvPr id="179" name="rect 178"/>
          <p:cNvSpPr/>
          <p:nvPr/>
        </p:nvSpPr>
        <p:spPr>
          <a:xfrm>
            <a:off x="4974200" y="7592970"/>
            <a:ext cx="1419110" cy="256025"/>
          </a:xfrm>
          <a:prstGeom prst="roundRect">
            <a:avLst>
              <a:gd name="adj" fmla="val 5714"/>
            </a:avLst>
          </a:prstGeom>
          <a:solidFill>
            <a:srgbClr val="EAF3F1"/>
          </a:solidFill>
          <a:ln w="12435">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0" name="H2D"/>
          <p:cNvSpPr txBox="1"/>
          <p:nvPr/>
        </p:nvSpPr>
        <p:spPr>
          <a:xfrm>
            <a:off x="5450418" y="7611258"/>
            <a:ext cx="466674" cy="235909"/>
          </a:xfrm>
          <a:prstGeom prst="rect">
            <a:avLst/>
          </a:prstGeom>
          <a:noFill/>
        </p:spPr>
        <p:txBody>
          <a:bodyPr wrap="none" lIns="0" rIns="0" tIns="0" bIns="0" anchor="t">
            <a:spAutoFit/>
          </a:bodyPr>
          <a:lstStyle/>
          <a:p>
            <a:pPr algn="ctr">
              <a:lnSpc>
                <a:spcPct val="100000"/>
              </a:lnSpc>
              <a:spcBef>
                <a:spcPts val="0"/>
              </a:spcBef>
              <a:spcAft>
                <a:spcPts val="0"/>
              </a:spcAft>
            </a:pPr>
            <a:r>
              <a:rPr sz="1382" b="0" lang="en-US" spc="0">
                <a:solidFill>
                  <a:srgbClr val="357B73"/>
                </a:solidFill>
                <a:latin typeface="DejaVu Sans"/>
                <a:ea typeface="DejaVu Sans"/>
              </a:rPr>
              <a:t>H2D</a:t>
            </a:r>
          </a:p>
        </p:txBody>
      </p:sp>
      <p:sp>
        <p:nvSpPr>
          <p:cNvPr id="181" name="rect 180"/>
          <p:cNvSpPr/>
          <p:nvPr/>
        </p:nvSpPr>
        <p:spPr>
          <a:xfrm>
            <a:off x="6634705" y="7592970"/>
            <a:ext cx="1075305" cy="256025"/>
          </a:xfrm>
          <a:prstGeom prst="roundRect">
            <a:avLst>
              <a:gd name="adj" fmla="val 5714"/>
            </a:avLst>
          </a:prstGeom>
          <a:solidFill>
            <a:srgbClr val="F2F4F5"/>
          </a:solidFill>
          <a:ln w="11704">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2" name="demand"/>
          <p:cNvSpPr txBox="1"/>
          <p:nvPr/>
        </p:nvSpPr>
        <p:spPr>
          <a:xfrm>
            <a:off x="6794463" y="7625888"/>
            <a:ext cx="748473" cy="217621"/>
          </a:xfrm>
          <a:prstGeom prst="rect">
            <a:avLst/>
          </a:prstGeom>
          <a:noFill/>
        </p:spPr>
        <p:txBody>
          <a:bodyPr wrap="none" lIns="0" rIns="0" tIns="0" bIns="0" anchor="t">
            <a:spAutoFit/>
          </a:bodyPr>
          <a:lstStyle/>
          <a:p>
            <a:pPr algn="ctr">
              <a:lnSpc>
                <a:spcPct val="100000"/>
              </a:lnSpc>
              <a:spcBef>
                <a:spcPts val="0"/>
              </a:spcBef>
              <a:spcAft>
                <a:spcPts val="0"/>
              </a:spcAft>
            </a:pPr>
            <a:r>
              <a:rPr sz="1267" b="0" lang="en-US" spc="0">
                <a:solidFill>
                  <a:srgbClr val="687680"/>
                </a:solidFill>
                <a:latin typeface="DejaVu Sans"/>
                <a:ea typeface="DejaVu Sans"/>
              </a:rPr>
              <a:t>demand</a:t>
            </a:r>
          </a:p>
        </p:txBody>
      </p:sp>
      <p:sp>
        <p:nvSpPr>
          <p:cNvPr id="183" name="path 182"/>
          <p:cNvSpPr/>
          <p:nvPr/>
        </p:nvSpPr>
        <p:spPr>
          <a:xfrm>
            <a:off x="5427730" y="6934620"/>
            <a:ext cx="256025" cy="643720"/>
          </a:xfrm>
          <a:custGeom>
            <a:avLst/>
            <a:gdLst/>
            <a:ahLst/>
            <a:cxnLst/>
            <a:rect l="l" t="t" r="r" b="b"/>
            <a:pathLst>
              <a:path w="35" h="88">
                <a:moveTo>
                  <a:pt x="0" y="0"/>
                </a:moveTo>
                <a:lnTo>
                  <a:pt x="0" y="37"/>
                </a:lnTo>
                <a:lnTo>
                  <a:pt x="35" y="37"/>
                </a:lnTo>
                <a:lnTo>
                  <a:pt x="35" y="88"/>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4" name="path 183"/>
          <p:cNvSpPr/>
          <p:nvPr/>
        </p:nvSpPr>
        <p:spPr>
          <a:xfrm>
            <a:off x="1843380" y="8105020"/>
            <a:ext cx="58520" cy="51205"/>
          </a:xfrm>
          <a:custGeom>
            <a:avLst/>
            <a:gdLst/>
            <a:ahLst/>
            <a:cxnLst/>
            <a:rect l="l" t="t" r="r" b="b"/>
            <a:pathLst>
              <a:path w="8" h="7">
                <a:moveTo>
                  <a:pt x="0" y="7"/>
                </a:moveTo>
                <a:lnTo>
                  <a:pt x="0" y="0"/>
                </a:lnTo>
                <a:lnTo>
                  <a:pt x="8" y="0"/>
                </a:lnTo>
                <a:lnTo>
                  <a:pt x="8" y="7"/>
                </a:lnTo>
              </a:path>
            </a:pathLst>
          </a:custGeom>
          <a:noFill/>
          <a:ln w="14630">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5" name="rect 184"/>
          <p:cNvSpPr/>
          <p:nvPr/>
        </p:nvSpPr>
        <p:spPr>
          <a:xfrm>
            <a:off x="1821435" y="8154762"/>
            <a:ext cx="105336" cy="87780"/>
          </a:xfrm>
          <a:prstGeom prst="roundRect">
            <a:avLst>
              <a:gd name="adj" fmla="val 16666"/>
            </a:avLst>
          </a:prstGeom>
          <a:solidFill>
            <a:srgbClr val="FFFFFF"/>
          </a:solidFill>
          <a:ln w="13167">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6" name="circle 185"/>
          <p:cNvSpPr/>
          <p:nvPr/>
        </p:nvSpPr>
        <p:spPr>
          <a:xfrm>
            <a:off x="1865325" y="8181096"/>
            <a:ext cx="17556" cy="17556"/>
          </a:xfrm>
          <a:prstGeom prst="ellipse">
            <a:avLst/>
          </a:prstGeom>
          <a:solidFill>
            <a:srgbClr val="A96F1F"/>
          </a:solidFill>
          <a:ln w="7315">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7" name="rect 186"/>
          <p:cNvSpPr/>
          <p:nvPr/>
        </p:nvSpPr>
        <p:spPr>
          <a:xfrm>
            <a:off x="8229375" y="6195805"/>
            <a:ext cx="4645025" cy="2552935"/>
          </a:xfrm>
          <a:prstGeom prst="roundRect">
            <a:avLst>
              <a:gd name="adj" fmla="val 859"/>
            </a:avLst>
          </a:prstGeom>
          <a:solidFill>
            <a:srgbClr val="FFFFFF"/>
          </a:solidFill>
          <a:ln w="12435">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8" name="line 187"/>
          <p:cNvCxnSpPr/>
          <p:nvPr/>
        </p:nvCxnSpPr>
        <p:spPr>
          <a:xfrm>
            <a:off x="8236690" y="6203120"/>
            <a:ext cx="4630395" cy="0"/>
          </a:xfrm>
          <a:prstGeom prst="line">
            <a:avLst/>
          </a:prstGeom>
          <a:ln w="21945">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189" name="(e) Restore-aware admission"/>
          <p:cNvSpPr txBox="1"/>
          <p:nvPr/>
        </p:nvSpPr>
        <p:spPr>
          <a:xfrm>
            <a:off x="8390305" y="6298215"/>
            <a:ext cx="3413390" cy="268826"/>
          </a:xfrm>
          <a:prstGeom prst="rect">
            <a:avLst/>
          </a:prstGeom>
          <a:noFill/>
        </p:spPr>
        <p:txBody>
          <a:bodyPr wrap="none" lIns="0" rIns="0" tIns="0" bIns="0" anchor="t">
            <a:spAutoFit/>
          </a:bodyPr>
          <a:lstStyle/>
          <a:p>
            <a:pPr algn="l">
              <a:lnSpc>
                <a:spcPct val="100000"/>
              </a:lnSpc>
              <a:spcBef>
                <a:spcPts val="0"/>
              </a:spcBef>
              <a:spcAft>
                <a:spcPts val="0"/>
              </a:spcAft>
            </a:pPr>
            <a:r>
              <a:rPr sz="1612" b="1" lang="en-US" spc="0">
                <a:solidFill>
                  <a:srgbClr val="3D6F9F"/>
                </a:solidFill>
                <a:latin typeface="DejaVu Sans"/>
                <a:ea typeface="DejaVu Sans"/>
              </a:rPr>
              <a:t>(e) Restore-aware admission</a:t>
            </a:r>
          </a:p>
        </p:txBody>
      </p:sp>
      <p:sp>
        <p:nvSpPr>
          <p:cNvPr id="190" name="rect 189"/>
          <p:cNvSpPr/>
          <p:nvPr/>
        </p:nvSpPr>
        <p:spPr>
          <a:xfrm>
            <a:off x="8426880" y="6678595"/>
            <a:ext cx="1214290" cy="351120"/>
          </a:xfrm>
          <a:prstGeom prst="roundRect">
            <a:avLst>
              <a:gd name="adj" fmla="val 4166"/>
            </a:avLst>
          </a:prstGeom>
          <a:solidFill>
            <a:srgbClr val="F2F4F5"/>
          </a:solidFill>
          <a:ln w="9509">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1" name="r_old"/>
          <p:cNvSpPr txBox="1"/>
          <p:nvPr/>
        </p:nvSpPr>
        <p:spPr>
          <a:xfrm>
            <a:off x="8719666" y="6736603"/>
            <a:ext cx="628719"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r_old</a:t>
            </a:r>
          </a:p>
        </p:txBody>
      </p:sp>
      <p:sp>
        <p:nvSpPr>
          <p:cNvPr id="192" name="rect 191"/>
          <p:cNvSpPr/>
          <p:nvPr/>
        </p:nvSpPr>
        <p:spPr>
          <a:xfrm>
            <a:off x="9845990" y="6678595"/>
            <a:ext cx="1214290" cy="351120"/>
          </a:xfrm>
          <a:prstGeom prst="roundRect">
            <a:avLst>
              <a:gd name="adj" fmla="val 4166"/>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3" name="r_hot"/>
          <p:cNvSpPr txBox="1"/>
          <p:nvPr/>
        </p:nvSpPr>
        <p:spPr>
          <a:xfrm>
            <a:off x="10125803" y="6736603"/>
            <a:ext cx="654664"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r_hot</a:t>
            </a:r>
          </a:p>
        </p:txBody>
      </p:sp>
      <p:sp>
        <p:nvSpPr>
          <p:cNvPr id="194" name="rect 193"/>
          <p:cNvSpPr/>
          <p:nvPr/>
        </p:nvSpPr>
        <p:spPr>
          <a:xfrm>
            <a:off x="11265100" y="6678595"/>
            <a:ext cx="1214290" cy="351120"/>
          </a:xfrm>
          <a:prstGeom prst="roundRect">
            <a:avLst>
              <a:gd name="adj" fmla="val 4166"/>
            </a:avLst>
          </a:prstGeom>
          <a:solidFill>
            <a:srgbClr val="EAF3F1"/>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5" name="P"/>
          <p:cNvSpPr txBox="1"/>
          <p:nvPr/>
        </p:nvSpPr>
        <p:spPr>
          <a:xfrm>
            <a:off x="11755977" y="6736603"/>
            <a:ext cx="232537"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P</a:t>
            </a:r>
          </a:p>
        </p:txBody>
      </p:sp>
      <p:sp>
        <p:nvSpPr>
          <p:cNvPr id="196" name="path 195"/>
          <p:cNvSpPr/>
          <p:nvPr/>
        </p:nvSpPr>
        <p:spPr>
          <a:xfrm>
            <a:off x="11118800" y="7037030"/>
            <a:ext cx="753445" cy="299915"/>
          </a:xfrm>
          <a:custGeom>
            <a:avLst/>
            <a:gdLst/>
            <a:ahLst/>
            <a:cxnLst/>
            <a:rect l="l" t="t" r="r" b="b"/>
            <a:pathLst>
              <a:path w="103" h="41">
                <a:moveTo>
                  <a:pt x="103" y="0"/>
                </a:moveTo>
                <a:lnTo>
                  <a:pt x="103" y="41"/>
                </a:lnTo>
                <a:lnTo>
                  <a:pt x="0" y="41"/>
                </a:lnTo>
              </a:path>
            </a:pathLst>
          </a:custGeom>
          <a:noFill/>
          <a:ln w="17556">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7" name="path 196"/>
          <p:cNvCxnSpPr/>
          <p:nvPr/>
        </p:nvCxnSpPr>
        <p:spPr>
          <a:xfrm>
            <a:off x="10453135" y="7037030"/>
            <a:ext cx="0" cy="13167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98" name="path 197"/>
          <p:cNvSpPr/>
          <p:nvPr/>
        </p:nvSpPr>
        <p:spPr>
          <a:xfrm>
            <a:off x="9034025" y="7037030"/>
            <a:ext cx="826595" cy="299915"/>
          </a:xfrm>
          <a:custGeom>
            <a:avLst/>
            <a:gdLst/>
            <a:ahLst/>
            <a:cxnLst/>
            <a:rect l="l" t="t" r="r" b="b"/>
            <a:pathLst>
              <a:path w="113" h="41">
                <a:moveTo>
                  <a:pt x="0" y="0"/>
                </a:moveTo>
                <a:lnTo>
                  <a:pt x="0" y="41"/>
                </a:lnTo>
                <a:lnTo>
                  <a:pt x="113" y="41"/>
                </a:lnTo>
              </a:path>
            </a:pathLst>
          </a:custGeom>
          <a:noFill/>
          <a:ln w="17556">
            <a:solidFill>
              <a:srgbClr val="89959D"/>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9" name="aging"/>
          <p:cNvSpPr txBox="1"/>
          <p:nvPr/>
        </p:nvSpPr>
        <p:spPr>
          <a:xfrm>
            <a:off x="8426880" y="7486902"/>
            <a:ext cx="578285"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89959D"/>
                </a:solidFill>
                <a:latin typeface="DejaVu Sans"/>
                <a:ea typeface="DejaVu Sans"/>
              </a:rPr>
              <a:t>aging</a:t>
            </a:r>
          </a:p>
        </p:txBody>
      </p:sp>
      <p:sp>
        <p:nvSpPr>
          <p:cNvPr id="200" name="path 199"/>
          <p:cNvSpPr/>
          <p:nvPr/>
        </p:nvSpPr>
        <p:spPr>
          <a:xfrm>
            <a:off x="12128270" y="7080920"/>
            <a:ext cx="58520" cy="51205"/>
          </a:xfrm>
          <a:custGeom>
            <a:avLst/>
            <a:gdLst/>
            <a:ahLst/>
            <a:cxnLst/>
            <a:rect l="l" t="t" r="r" b="b"/>
            <a:pathLst>
              <a:path w="8" h="7">
                <a:moveTo>
                  <a:pt x="0" y="7"/>
                </a:moveTo>
                <a:lnTo>
                  <a:pt x="0" y="0"/>
                </a:lnTo>
                <a:lnTo>
                  <a:pt x="8" y="0"/>
                </a:lnTo>
                <a:lnTo>
                  <a:pt x="8" y="7"/>
                </a:lnTo>
              </a:path>
            </a:pathLst>
          </a:custGeom>
          <a:noFill/>
          <a:ln w="14630">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1" name="rect 200"/>
          <p:cNvSpPr/>
          <p:nvPr/>
        </p:nvSpPr>
        <p:spPr>
          <a:xfrm>
            <a:off x="12106325" y="7130662"/>
            <a:ext cx="105336" cy="87780"/>
          </a:xfrm>
          <a:prstGeom prst="roundRect">
            <a:avLst>
              <a:gd name="adj" fmla="val 16666"/>
            </a:avLst>
          </a:prstGeom>
          <a:solidFill>
            <a:srgbClr val="FFFFFF"/>
          </a:solidFill>
          <a:ln w="13167">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2" name="circle 201"/>
          <p:cNvSpPr/>
          <p:nvPr/>
        </p:nvSpPr>
        <p:spPr>
          <a:xfrm>
            <a:off x="12150215" y="7156996"/>
            <a:ext cx="17556" cy="17556"/>
          </a:xfrm>
          <a:prstGeom prst="ellipse">
            <a:avLst/>
          </a:prstGeom>
          <a:solidFill>
            <a:srgbClr val="357B73"/>
          </a:solidFill>
          <a:ln w="7315">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3" name="rect 202"/>
          <p:cNvSpPr/>
          <p:nvPr/>
        </p:nvSpPr>
        <p:spPr>
          <a:xfrm>
            <a:off x="9875250" y="7183330"/>
            <a:ext cx="1228920" cy="321860"/>
          </a:xfrm>
          <a:prstGeom prst="roundRect">
            <a:avLst>
              <a:gd name="adj" fmla="val 4545"/>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4" name="rank"/>
          <p:cNvSpPr txBox="1"/>
          <p:nvPr/>
        </p:nvSpPr>
        <p:spPr>
          <a:xfrm>
            <a:off x="10203782" y="7231536"/>
            <a:ext cx="571856"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rank</a:t>
            </a:r>
          </a:p>
        </p:txBody>
      </p:sp>
      <p:cxnSp>
        <p:nvCxnSpPr>
          <p:cNvPr id="205" name="path 204"/>
          <p:cNvCxnSpPr/>
          <p:nvPr/>
        </p:nvCxnSpPr>
        <p:spPr>
          <a:xfrm>
            <a:off x="10482395" y="7512505"/>
            <a:ext cx="0" cy="24139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06" name="rect 205"/>
          <p:cNvSpPr/>
          <p:nvPr/>
        </p:nvSpPr>
        <p:spPr>
          <a:xfrm>
            <a:off x="8653645" y="7775845"/>
            <a:ext cx="1038730" cy="358435"/>
          </a:xfrm>
          <a:prstGeom prst="roundRect">
            <a:avLst>
              <a:gd name="adj" fmla="val 4081"/>
            </a:avLst>
          </a:prstGeom>
          <a:solidFill>
            <a:srgbClr val="EAF3F1"/>
          </a:solidFill>
          <a:ln w="950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7" name="KV"/>
          <p:cNvSpPr txBox="1"/>
          <p:nvPr/>
        </p:nvSpPr>
        <p:spPr>
          <a:xfrm>
            <a:off x="8976176" y="7837510"/>
            <a:ext cx="393667"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lang="en-US" spc="0">
                <a:solidFill>
                  <a:srgbClr val="263746"/>
                </a:solidFill>
                <a:latin typeface="DejaVu Sans"/>
                <a:ea typeface="DejaVu Sans"/>
              </a:rPr>
              <a:t>KV</a:t>
            </a:r>
          </a:p>
        </p:txBody>
      </p:sp>
      <p:sp>
        <p:nvSpPr>
          <p:cNvPr id="208" name="rect 207"/>
          <p:cNvSpPr/>
          <p:nvPr/>
        </p:nvSpPr>
        <p:spPr>
          <a:xfrm>
            <a:off x="11235840" y="7775845"/>
            <a:ext cx="1038730" cy="358435"/>
          </a:xfrm>
          <a:prstGeom prst="roundRect">
            <a:avLst>
              <a:gd name="adj" fmla="val 4081"/>
            </a:avLst>
          </a:prstGeom>
          <a:solidFill>
            <a:srgbClr val="FFFFFF"/>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9" name="slot"/>
          <p:cNvSpPr txBox="1"/>
          <p:nvPr/>
        </p:nvSpPr>
        <p:spPr>
          <a:xfrm>
            <a:off x="11511310" y="7842338"/>
            <a:ext cx="487790"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slot</a:t>
            </a:r>
          </a:p>
        </p:txBody>
      </p:sp>
      <p:cxnSp>
        <p:nvCxnSpPr>
          <p:cNvPr id="210" name="path 209"/>
          <p:cNvCxnSpPr/>
          <p:nvPr/>
        </p:nvCxnSpPr>
        <p:spPr>
          <a:xfrm>
            <a:off x="9699690" y="7951405"/>
            <a:ext cx="431585" cy="0"/>
          </a:xfrm>
          <a:prstGeom prst="line">
            <a:avLst/>
          </a:prstGeom>
          <a:ln w="17556">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11" name="path 210"/>
          <p:cNvCxnSpPr/>
          <p:nvPr/>
        </p:nvCxnSpPr>
        <p:spPr>
          <a:xfrm flipH="1">
            <a:off x="10796940" y="7951405"/>
            <a:ext cx="438900" cy="0"/>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12" name="circle 211"/>
          <p:cNvSpPr/>
          <p:nvPr/>
        </p:nvSpPr>
        <p:spPr>
          <a:xfrm>
            <a:off x="10299520" y="7768530"/>
            <a:ext cx="365750" cy="365750"/>
          </a:xfrm>
          <a:prstGeom prst="ellipse">
            <a:avLst/>
          </a:prstGeom>
          <a:solidFill>
            <a:srgbClr val="FFFFFF"/>
          </a:solidFill>
          <a:ln w="13167">
            <a:solidFill>
              <a:srgbClr val="26374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3" name="&amp;"/>
          <p:cNvSpPr txBox="1"/>
          <p:nvPr/>
        </p:nvSpPr>
        <p:spPr>
          <a:xfrm>
            <a:off x="10336438" y="7806934"/>
            <a:ext cx="291914" cy="303572"/>
          </a:xfrm>
          <a:prstGeom prst="rect">
            <a:avLst/>
          </a:prstGeom>
          <a:noFill/>
        </p:spPr>
        <p:txBody>
          <a:bodyPr wrap="none" lIns="0" rIns="0" tIns="0" bIns="0" anchor="t">
            <a:spAutoFit/>
          </a:bodyPr>
          <a:lstStyle/>
          <a:p>
            <a:pPr algn="ctr">
              <a:lnSpc>
                <a:spcPct val="100000"/>
              </a:lnSpc>
              <a:spcBef>
                <a:spcPts val="0"/>
              </a:spcBef>
              <a:spcAft>
                <a:spcPts val="0"/>
              </a:spcAft>
            </a:pPr>
            <a:r>
              <a:rPr sz="1843" b="1" lang="en-US" spc="0">
                <a:solidFill>
                  <a:srgbClr val="263746"/>
                </a:solidFill>
                <a:latin typeface="DejaVu Sans"/>
                <a:ea typeface="DejaVu Sans"/>
              </a:rPr>
              <a:t>&amp;</a:t>
            </a:r>
          </a:p>
        </p:txBody>
      </p:sp>
      <p:cxnSp>
        <p:nvCxnSpPr>
          <p:cNvPr id="214" name="path 213"/>
          <p:cNvCxnSpPr/>
          <p:nvPr/>
        </p:nvCxnSpPr>
        <p:spPr>
          <a:xfrm>
            <a:off x="10482395" y="8148910"/>
            <a:ext cx="0" cy="329175"/>
          </a:xfrm>
          <a:prstGeom prst="line">
            <a:avLst/>
          </a:prstGeom>
          <a:ln w="17556">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15" name="rect 214"/>
          <p:cNvSpPr/>
          <p:nvPr/>
        </p:nvSpPr>
        <p:spPr>
          <a:xfrm>
            <a:off x="9816730" y="8492715"/>
            <a:ext cx="1331330" cy="256025"/>
          </a:xfrm>
          <a:prstGeom prst="roundRect">
            <a:avLst>
              <a:gd name="adj" fmla="val 5714"/>
            </a:avLst>
          </a:prstGeom>
          <a:solidFill>
            <a:srgbClr val="EDF3F8"/>
          </a:solidFill>
          <a:ln w="950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6" name="GPU"/>
          <p:cNvSpPr txBox="1"/>
          <p:nvPr/>
        </p:nvSpPr>
        <p:spPr>
          <a:xfrm>
            <a:off x="10213540" y="8508003"/>
            <a:ext cx="537710"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lang="en-US" spc="0">
                <a:solidFill>
                  <a:srgbClr val="263746"/>
                </a:solidFill>
                <a:latin typeface="DejaVu Sans"/>
                <a:ea typeface="DejaVu Sans"/>
              </a:rPr>
              <a:t>GPU</a:t>
            </a:r>
          </a:p>
        </p:txBody>
      </p:sp>
      <p:sp>
        <p:nvSpPr>
          <p:cNvPr id="217" name="rect 216"/>
          <p:cNvSpPr/>
          <p:nvPr/>
        </p:nvSpPr>
        <p:spPr>
          <a:xfrm>
            <a:off x="468160" y="8558550"/>
            <a:ext cx="197505" cy="153615"/>
          </a:xfrm>
          <a:prstGeom prst="roundRect">
            <a:avLst>
              <a:gd name="adj" fmla="val 4761"/>
            </a:avLst>
          </a:prstGeom>
          <a:solidFill>
            <a:srgbClr val="EDF3F8"/>
          </a:solidFill>
          <a:ln w="10972">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8" name="resident"/>
          <p:cNvSpPr txBox="1"/>
          <p:nvPr/>
        </p:nvSpPr>
        <p:spPr>
          <a:xfrm>
            <a:off x="753445" y="8532948"/>
            <a:ext cx="803907"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3D6F9F"/>
                </a:solidFill>
                <a:latin typeface="DejaVu Sans"/>
                <a:ea typeface="DejaVu Sans"/>
              </a:rPr>
              <a:t>resident</a:t>
            </a:r>
          </a:p>
        </p:txBody>
      </p:sp>
      <p:sp>
        <p:nvSpPr>
          <p:cNvPr id="219" name="rect 218"/>
          <p:cNvSpPr/>
          <p:nvPr/>
        </p:nvSpPr>
        <p:spPr>
          <a:xfrm>
            <a:off x="1923845" y="8558550"/>
            <a:ext cx="197505" cy="153615"/>
          </a:xfrm>
          <a:prstGeom prst="roundRect">
            <a:avLst>
              <a:gd name="adj" fmla="val 4761"/>
            </a:avLst>
          </a:prstGeom>
          <a:solidFill>
            <a:srgbClr val="EAF3F1"/>
          </a:solidFill>
          <a:ln w="10972">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0" name="selected"/>
          <p:cNvSpPr txBox="1"/>
          <p:nvPr/>
        </p:nvSpPr>
        <p:spPr>
          <a:xfrm>
            <a:off x="2209130" y="8532948"/>
            <a:ext cx="828852"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357B73"/>
                </a:solidFill>
                <a:latin typeface="DejaVu Sans"/>
                <a:ea typeface="DejaVu Sans"/>
              </a:rPr>
              <a:t>selected</a:t>
            </a:r>
          </a:p>
        </p:txBody>
      </p:sp>
      <p:sp>
        <p:nvSpPr>
          <p:cNvPr id="221" name="rect 220"/>
          <p:cNvSpPr/>
          <p:nvPr/>
        </p:nvSpPr>
        <p:spPr>
          <a:xfrm>
            <a:off x="3496570" y="8558550"/>
            <a:ext cx="197505" cy="153615"/>
          </a:xfrm>
          <a:prstGeom prst="roundRect">
            <a:avLst>
              <a:gd name="adj" fmla="val 4761"/>
            </a:avLst>
          </a:prstGeom>
          <a:solidFill>
            <a:srgbClr val="FFFFFF"/>
          </a:solidFill>
          <a:ln w="10972">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2" name="deferred"/>
          <p:cNvSpPr txBox="1"/>
          <p:nvPr/>
        </p:nvSpPr>
        <p:spPr>
          <a:xfrm>
            <a:off x="3781855" y="8532948"/>
            <a:ext cx="833910" cy="235909"/>
          </a:xfrm>
          <a:prstGeom prst="rect">
            <a:avLst/>
          </a:prstGeom>
          <a:noFill/>
        </p:spPr>
        <p:txBody>
          <a:bodyPr wrap="none" lIns="0" rIns="0" tIns="0" bIns="0" anchor="t">
            <a:spAutoFit/>
          </a:bodyPr>
          <a:lstStyle/>
          <a:p>
            <a:pPr algn="l">
              <a:lnSpc>
                <a:spcPct val="100000"/>
              </a:lnSpc>
              <a:spcBef>
                <a:spcPts val="0"/>
              </a:spcBef>
              <a:spcAft>
                <a:spcPts val="0"/>
              </a:spcAft>
            </a:pPr>
            <a:r>
              <a:rPr sz="1382" b="0" lang="en-US" spc="0">
                <a:solidFill>
                  <a:srgbClr val="89959D"/>
                </a:solidFill>
                <a:latin typeface="DejaVu Sans"/>
                <a:ea typeface="DejaVu Sans"/>
              </a:rPr>
              <a:t>deferred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BeliefKV Architecture Figures</dc:title>
  <dc:subject>Current development architecture as of 2026-10-14</dc:subject>
  <dc:creator>BeliefKV</dc:creator>
  <cp:keywords>BeliefKV, dynamic agent workflows, KV cache, native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