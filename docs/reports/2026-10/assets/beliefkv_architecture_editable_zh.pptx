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3167360" cy="87782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架构基线：2026-10-14 当前开发实现，不代表所有运行实验的冻结代码。RCCG 接收运行时事件，GraphDelta 增量更新受影响的等待成员组。文本阶段/工作量推理在独立 CPU 进程执行，工具历史提供条件时机提示。NativeAdmissionRuntime 联合因果身份、checkpoint、时机、容量和下一批观测。受支持的 overlap 配置下，等待迁移规划安排在 forward 发射后。原生可见等待队列、PrefillAdder、分配器和数据依赖保持权威。虚线表达观测反馈，不表示所有控制工作均异步。显式完成通知属于 harness 协议，应在所有对照组保持一致。代码：causal_graph.py、semantic_report_worker.py、sglang_v0520_runtime.py 的 scheduler_step / dispatch_after_forward / plan_native_prefill，以及 staging patch。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阶段模型融合冻结文本表示与事件/进度特征，条件剩余工作头可独立拟合。工作量区间不是已校准的完整 JOIN 联合区间。当前内容驱动的 JOIN_ALL 路径关注唯一未返回 child；较早通知可以保留，在 sibling 返回后重新绑定。新预测可在入队前前移或后移工作端点，center 被越过时仅使用仍有效的 upper。R/实测速率是剩余生成时长提示，不包含未来排队，也不是 RETURN 墙钟保证。无工具 EOS 作为独立证据。工具 CDF 以仍在执行为条件，使用已完成调用历史及回退；当前工具迁移路径要求至多一个活跃调用。H 严格对应 transfer_start_window：min(提前驻留上限, ACK P90 + 入队 P90 + 观测间隔 + 提前完成余量)。服务耗时按方向、形态、大小从实际 ACK 历史取得。同 checkpoint 的计划缩小时，直接估计优先，缺支持可沿用较大已支持计划的当前成本预算，不按字节缩放固定 ACK 开销。时序仅为机制示意，允许部分重叠。代码：child_semantic_work.py、conditional_work.py、native_transfer_policy.py、native_transfer_service.py 与 runtime 的 _roll_final_stage / _roll_tool_prefetch / _wait_prefetch_timing_valid / _h2d_start_window。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真实压力下增量备份稳定 FULL 前缀。PREPARE_HOST 不释放 HBM、不投机备份 Mamba；原生压力回收可释放已备份冷 FULL，并保留仍需使用的 Mamba。选择可复用的安全输入 checkpoint，从根到叶恢复缺失祖先和必要状态，并非恢复所有历史 Mamba。FULL、Mamba、字节与输入增长预算分别核算。容量不足允许页对齐的部分 FULL 恢复，状态或尾段可以延后。FULL pipeline 按原生逐层依赖准入；必要 Mamba 或旧式加载依赖未就绪时仍等待。ACK 管理事务和驻留生命周期，不是所有请求执行的统一屏障。有界原生锁、恢复/HBM命中排序和普通请求老化支持消费，但不保证每次命中。终态 child 只回收已失去用途的私有后缀，受阻部分重试，共享祖先保留。回收容量不是 parent 独占预留，也不要求复用 child 原来的物理页号。较早 sibling 可以支持 RETURN 前 H2D；最后 child 释放容量后属于需求恢复。代码：physical 的 plan_prefetch_gpu_steps、native_residency_budget、runtime 的 _apply_terminal_child_reclaim / _wait_prefetch_opportunity / defer_prefill_for_prefetch / plan_native_prefill，以及 staging patch 对应缓存 API。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eliefKV：动态 Agent 执行与 KV 协同管理"/>
          <p:cNvSpPr txBox="1"/>
          <p:nvPr/>
        </p:nvSpPr>
        <p:spPr>
          <a:xfrm>
            <a:off x="292600" y="65835"/>
            <a:ext cx="5136216" cy="41329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73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BeliefKV：动态 Agent 执行与 KV 协同管理</a:t>
            </a:r>
          </a:p>
        </p:txBody>
      </p:sp>
      <p:sp>
        <p:nvSpPr>
          <p:cNvPr id="3" name="已观测依赖 → 近期执行需求 → KV 生命周期 → 原生准入"/>
          <p:cNvSpPr txBox="1"/>
          <p:nvPr/>
        </p:nvSpPr>
        <p:spPr>
          <a:xfrm>
            <a:off x="292600" y="431585"/>
            <a:ext cx="4618565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已观测依赖 → 近期执行需求 → KV 生命周期 → 原生准入</a:t>
            </a:r>
          </a:p>
        </p:txBody>
      </p:sp>
      <p:cxnSp>
        <p:nvCxnSpPr>
          <p:cNvPr id="4" name="line 3"/>
          <p:cNvCxnSpPr/>
          <p:nvPr/>
        </p:nvCxnSpPr>
        <p:spPr>
          <a:xfrm>
            <a:off x="292600" y="768075"/>
            <a:ext cx="12581800" cy="0"/>
          </a:xfrm>
          <a:prstGeom prst="line">
            <a:avLst/>
          </a:prstGeom>
          <a:ln w="9509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 4"/>
          <p:cNvSpPr/>
          <p:nvPr/>
        </p:nvSpPr>
        <p:spPr>
          <a:xfrm>
            <a:off x="292600" y="929005"/>
            <a:ext cx="12581800" cy="1609300"/>
          </a:xfrm>
          <a:prstGeom prst="roundRect">
            <a:avLst>
              <a:gd name="adj" fmla="val 1363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line 5"/>
          <p:cNvCxnSpPr/>
          <p:nvPr/>
        </p:nvCxnSpPr>
        <p:spPr>
          <a:xfrm>
            <a:off x="299915" y="936320"/>
            <a:ext cx="12567170" cy="0"/>
          </a:xfrm>
          <a:prstGeom prst="line">
            <a:avLst/>
          </a:prstGeom>
          <a:ln w="21945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(a) 运行时工作流"/>
          <p:cNvSpPr txBox="1"/>
          <p:nvPr/>
        </p:nvSpPr>
        <p:spPr>
          <a:xfrm>
            <a:off x="453530" y="983868"/>
            <a:ext cx="1639103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(a) 运行时工作流</a:t>
            </a:r>
          </a:p>
        </p:txBody>
      </p:sp>
      <p:sp>
        <p:nvSpPr>
          <p:cNvPr id="8" name="circle 7"/>
          <p:cNvSpPr/>
          <p:nvPr/>
        </p:nvSpPr>
        <p:spPr>
          <a:xfrm>
            <a:off x="570570" y="1594670"/>
            <a:ext cx="424270" cy="424270"/>
          </a:xfrm>
          <a:prstGeom prst="ellipse">
            <a:avLst/>
          </a:prstGeom>
          <a:solidFill>
            <a:srgbClr val="EDF3F8"/>
          </a:solidFill>
          <a:ln w="10241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"/>
          <p:cNvSpPr txBox="1"/>
          <p:nvPr/>
        </p:nvSpPr>
        <p:spPr>
          <a:xfrm>
            <a:off x="672951" y="1645509"/>
            <a:ext cx="219507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</a:t>
            </a:r>
          </a:p>
        </p:txBody>
      </p:sp>
      <p:sp>
        <p:nvSpPr>
          <p:cNvPr id="10" name="circle 9"/>
          <p:cNvSpPr/>
          <p:nvPr/>
        </p:nvSpPr>
        <p:spPr>
          <a:xfrm>
            <a:off x="1953105" y="1338645"/>
            <a:ext cx="409640" cy="409640"/>
          </a:xfrm>
          <a:prstGeom prst="ellipse">
            <a:avLst/>
          </a:prstGeom>
          <a:solidFill>
            <a:srgbClr val="FFFFFF"/>
          </a:solidFill>
          <a:ln w="10241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1"/>
          <p:cNvSpPr txBox="1"/>
          <p:nvPr/>
        </p:nvSpPr>
        <p:spPr>
          <a:xfrm>
            <a:off x="1995552" y="1388753"/>
            <a:ext cx="324746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C1</a:t>
            </a:r>
          </a:p>
        </p:txBody>
      </p:sp>
      <p:sp>
        <p:nvSpPr>
          <p:cNvPr id="12" name="circle 11"/>
          <p:cNvSpPr/>
          <p:nvPr/>
        </p:nvSpPr>
        <p:spPr>
          <a:xfrm>
            <a:off x="1953105" y="1975050"/>
            <a:ext cx="409640" cy="409640"/>
          </a:xfrm>
          <a:prstGeom prst="ellipse">
            <a:avLst/>
          </a:prstGeom>
          <a:solidFill>
            <a:srgbClr val="FFFFFF"/>
          </a:solidFill>
          <a:ln w="10241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2"/>
          <p:cNvSpPr txBox="1"/>
          <p:nvPr/>
        </p:nvSpPr>
        <p:spPr>
          <a:xfrm>
            <a:off x="1995552" y="2025158"/>
            <a:ext cx="324746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C2</a:t>
            </a:r>
          </a:p>
        </p:txBody>
      </p:sp>
      <p:sp>
        <p:nvSpPr>
          <p:cNvPr id="14" name="rect 13"/>
          <p:cNvSpPr/>
          <p:nvPr/>
        </p:nvSpPr>
        <p:spPr>
          <a:xfrm>
            <a:off x="3123505" y="1353275"/>
            <a:ext cx="965580" cy="387695"/>
          </a:xfrm>
          <a:prstGeom prst="roundRect">
            <a:avLst>
              <a:gd name="adj" fmla="val 3773"/>
            </a:avLst>
          </a:prstGeom>
          <a:solidFill>
            <a:srgbClr val="FBF2E3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ol"/>
          <p:cNvSpPr txBox="1"/>
          <p:nvPr/>
        </p:nvSpPr>
        <p:spPr>
          <a:xfrm>
            <a:off x="3369572" y="1397165"/>
            <a:ext cx="473446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Tool</a:t>
            </a:r>
          </a:p>
        </p:txBody>
      </p:sp>
      <p:sp>
        <p:nvSpPr>
          <p:cNvPr id="16" name="polygon 15"/>
          <p:cNvSpPr/>
          <p:nvPr/>
        </p:nvSpPr>
        <p:spPr>
          <a:xfrm>
            <a:off x="4652340" y="1514205"/>
            <a:ext cx="921690" cy="643720"/>
          </a:xfrm>
          <a:custGeom>
            <a:avLst/>
            <a:gdLst/>
            <a:ahLst/>
            <a:cxnLst/>
            <a:rect l="l" t="t" r="r" b="b"/>
            <a:pathLst>
              <a:path w="126" h="88">
                <a:moveTo>
                  <a:pt x="63" y="0"/>
                </a:moveTo>
                <a:lnTo>
                  <a:pt x="126" y="44"/>
                </a:lnTo>
                <a:lnTo>
                  <a:pt x="63" y="88"/>
                </a:lnTo>
                <a:lnTo>
                  <a:pt x="0" y="44"/>
                </a:lnTo>
                <a:close/>
              </a:path>
            </a:pathLst>
          </a:custGeom>
          <a:solidFill>
            <a:srgbClr val="FBF2E3"/>
          </a:solidFill>
          <a:ln w="10972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JOIN"/>
          <p:cNvSpPr txBox="1"/>
          <p:nvPr/>
        </p:nvSpPr>
        <p:spPr>
          <a:xfrm>
            <a:off x="4839458" y="1673306"/>
            <a:ext cx="547453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JOIN</a:t>
            </a:r>
          </a:p>
        </p:txBody>
      </p:sp>
      <p:sp>
        <p:nvSpPr>
          <p:cNvPr id="18" name="circle 17"/>
          <p:cNvSpPr/>
          <p:nvPr/>
        </p:nvSpPr>
        <p:spPr>
          <a:xfrm>
            <a:off x="6078765" y="1623930"/>
            <a:ext cx="424270" cy="424270"/>
          </a:xfrm>
          <a:prstGeom prst="ellipse">
            <a:avLst/>
          </a:prstGeom>
          <a:solidFill>
            <a:srgbClr val="EDF3F8"/>
          </a:solidFill>
          <a:ln w="10241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"/>
          <p:cNvSpPr txBox="1"/>
          <p:nvPr/>
        </p:nvSpPr>
        <p:spPr>
          <a:xfrm>
            <a:off x="6181146" y="1674769"/>
            <a:ext cx="219507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</a:t>
            </a:r>
          </a:p>
        </p:txBody>
      </p:sp>
      <p:cxnSp>
        <p:nvCxnSpPr>
          <p:cNvPr id="20" name="path 19"/>
          <p:cNvCxnSpPr/>
          <p:nvPr/>
        </p:nvCxnSpPr>
        <p:spPr>
          <a:xfrm flipV="1">
            <a:off x="1009470" y="1565410"/>
            <a:ext cx="921690" cy="15361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ath 20"/>
          <p:cNvCxnSpPr/>
          <p:nvPr/>
        </p:nvCxnSpPr>
        <p:spPr>
          <a:xfrm>
            <a:off x="1009470" y="1894585"/>
            <a:ext cx="921690" cy="25602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ath 21"/>
          <p:cNvCxnSpPr/>
          <p:nvPr/>
        </p:nvCxnSpPr>
        <p:spPr>
          <a:xfrm>
            <a:off x="2377375" y="1543465"/>
            <a:ext cx="738815" cy="0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path 22"/>
          <p:cNvSpPr/>
          <p:nvPr/>
        </p:nvSpPr>
        <p:spPr>
          <a:xfrm>
            <a:off x="4096400" y="1543465"/>
            <a:ext cx="585200" cy="190190"/>
          </a:xfrm>
          <a:custGeom>
            <a:avLst/>
            <a:gdLst/>
            <a:ahLst/>
            <a:cxnLst/>
            <a:rect l="l" t="t" r="r" b="b"/>
            <a:pathLst>
              <a:path w="80" h="26">
                <a:moveTo>
                  <a:pt x="0" y="0"/>
                </a:moveTo>
                <a:lnTo>
                  <a:pt x="30" y="0"/>
                </a:lnTo>
                <a:lnTo>
                  <a:pt x="80" y="26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ath 23"/>
          <p:cNvSpPr/>
          <p:nvPr/>
        </p:nvSpPr>
        <p:spPr>
          <a:xfrm>
            <a:off x="2377375" y="1945790"/>
            <a:ext cx="2333485" cy="234080"/>
          </a:xfrm>
          <a:custGeom>
            <a:avLst/>
            <a:gdLst/>
            <a:ahLst/>
            <a:cxnLst/>
            <a:rect l="l" t="t" r="r" b="b"/>
            <a:pathLst>
              <a:path w="319" h="32">
                <a:moveTo>
                  <a:pt x="0" y="32"/>
                </a:moveTo>
                <a:lnTo>
                  <a:pt x="269" y="32"/>
                </a:lnTo>
                <a:lnTo>
                  <a:pt x="319" y="0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path 24"/>
          <p:cNvCxnSpPr/>
          <p:nvPr/>
        </p:nvCxnSpPr>
        <p:spPr>
          <a:xfrm>
            <a:off x="5581345" y="1836065"/>
            <a:ext cx="482790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SPAWN"/>
          <p:cNvSpPr txBox="1"/>
          <p:nvPr/>
        </p:nvSpPr>
        <p:spPr>
          <a:xfrm>
            <a:off x="1097250" y="1236235"/>
            <a:ext cx="681524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SPAWN</a:t>
            </a:r>
          </a:p>
        </p:txBody>
      </p:sp>
      <p:sp>
        <p:nvSpPr>
          <p:cNvPr id="27" name="RETURN"/>
          <p:cNvSpPr txBox="1"/>
          <p:nvPr/>
        </p:nvSpPr>
        <p:spPr>
          <a:xfrm>
            <a:off x="3891580" y="2201815"/>
            <a:ext cx="772790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RETURN</a:t>
            </a:r>
          </a:p>
        </p:txBody>
      </p:sp>
      <p:sp>
        <p:nvSpPr>
          <p:cNvPr id="28" name="path 27"/>
          <p:cNvSpPr/>
          <p:nvPr/>
        </p:nvSpPr>
        <p:spPr>
          <a:xfrm>
            <a:off x="6298215" y="1836065"/>
            <a:ext cx="621775" cy="519365"/>
          </a:xfrm>
          <a:custGeom>
            <a:avLst/>
            <a:gdLst/>
            <a:ahLst/>
            <a:cxnLst/>
            <a:rect l="l" t="t" r="r" b="b"/>
            <a:pathLst>
              <a:path w="85" h="71">
                <a:moveTo>
                  <a:pt x="0" y="30"/>
                </a:moveTo>
                <a:lnTo>
                  <a:pt x="0" y="71"/>
                </a:lnTo>
                <a:lnTo>
                  <a:pt x="85" y="71"/>
                </a:lnTo>
                <a:lnTo>
                  <a:pt x="85" y="0"/>
                </a:lnTo>
              </a:path>
            </a:pathLst>
          </a:custGeom>
          <a:noFill/>
          <a:ln w="17556">
            <a:solidFill>
              <a:srgbClr val="3D6F9F"/>
            </a:solidFill>
            <a:prstDash val="dash"/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下一轮"/>
          <p:cNvSpPr txBox="1"/>
          <p:nvPr/>
        </p:nvSpPr>
        <p:spPr>
          <a:xfrm>
            <a:off x="6583500" y="1419110"/>
            <a:ext cx="614460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下一轮</a:t>
            </a:r>
          </a:p>
        </p:txBody>
      </p:sp>
      <p:cxnSp>
        <p:nvCxnSpPr>
          <p:cNvPr id="30" name="line 29"/>
          <p:cNvCxnSpPr/>
          <p:nvPr/>
        </p:nvCxnSpPr>
        <p:spPr>
          <a:xfrm>
            <a:off x="7541765" y="1345960"/>
            <a:ext cx="0" cy="1038730"/>
          </a:xfrm>
          <a:prstGeom prst="line">
            <a:avLst/>
          </a:prstGeom>
          <a:ln w="10241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 30"/>
          <p:cNvSpPr/>
          <p:nvPr/>
        </p:nvSpPr>
        <p:spPr>
          <a:xfrm>
            <a:off x="7914830" y="1404480"/>
            <a:ext cx="1550780" cy="351120"/>
          </a:xfrm>
          <a:prstGeom prst="roundRect">
            <a:avLst>
              <a:gd name="adj" fmla="val 4166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运行事件"/>
          <p:cNvSpPr txBox="1"/>
          <p:nvPr/>
        </p:nvSpPr>
        <p:spPr>
          <a:xfrm>
            <a:off x="8265950" y="1423426"/>
            <a:ext cx="848540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运行事件</a:t>
            </a:r>
          </a:p>
        </p:txBody>
      </p:sp>
      <p:sp>
        <p:nvSpPr>
          <p:cNvPr id="33" name="rect 32"/>
          <p:cNvSpPr/>
          <p:nvPr/>
        </p:nvSpPr>
        <p:spPr>
          <a:xfrm>
            <a:off x="9897195" y="1404480"/>
            <a:ext cx="2589510" cy="351120"/>
          </a:xfrm>
          <a:prstGeom prst="roundRect">
            <a:avLst>
              <a:gd name="adj" fmla="val 4166"/>
            </a:avLst>
          </a:prstGeom>
          <a:solidFill>
            <a:srgbClr val="FBF2E3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通知 + 正文 + decode"/>
          <p:cNvSpPr txBox="1"/>
          <p:nvPr/>
        </p:nvSpPr>
        <p:spPr>
          <a:xfrm>
            <a:off x="10264674" y="1430082"/>
            <a:ext cx="1854553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通知 + 正文 + decode</a:t>
            </a:r>
          </a:p>
        </p:txBody>
      </p:sp>
      <p:cxnSp>
        <p:nvCxnSpPr>
          <p:cNvPr id="35" name="path 34"/>
          <p:cNvCxnSpPr/>
          <p:nvPr/>
        </p:nvCxnSpPr>
        <p:spPr>
          <a:xfrm>
            <a:off x="8697535" y="1770230"/>
            <a:ext cx="0" cy="31454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path 35"/>
          <p:cNvCxnSpPr/>
          <p:nvPr/>
        </p:nvCxnSpPr>
        <p:spPr>
          <a:xfrm>
            <a:off x="11191950" y="1770230"/>
            <a:ext cx="0" cy="314545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 36"/>
          <p:cNvSpPr/>
          <p:nvPr/>
        </p:nvSpPr>
        <p:spPr>
          <a:xfrm>
            <a:off x="7914830" y="2099405"/>
            <a:ext cx="1550780" cy="292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CCG"/>
          <p:cNvSpPr txBox="1"/>
          <p:nvPr/>
        </p:nvSpPr>
        <p:spPr>
          <a:xfrm>
            <a:off x="8405592" y="2095748"/>
            <a:ext cx="569256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RCCG</a:t>
            </a:r>
          </a:p>
        </p:txBody>
      </p:sp>
      <p:sp>
        <p:nvSpPr>
          <p:cNvPr id="39" name="rect 38"/>
          <p:cNvSpPr/>
          <p:nvPr/>
        </p:nvSpPr>
        <p:spPr>
          <a:xfrm>
            <a:off x="9897195" y="2099405"/>
            <a:ext cx="2589510" cy="292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已观测进度"/>
          <p:cNvSpPr txBox="1"/>
          <p:nvPr/>
        </p:nvSpPr>
        <p:spPr>
          <a:xfrm>
            <a:off x="10690872" y="2095748"/>
            <a:ext cx="1002155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已观测进度</a:t>
            </a:r>
          </a:p>
        </p:txBody>
      </p:sp>
      <p:sp>
        <p:nvSpPr>
          <p:cNvPr id="41" name="rect 40"/>
          <p:cNvSpPr/>
          <p:nvPr/>
        </p:nvSpPr>
        <p:spPr>
          <a:xfrm>
            <a:off x="292600" y="3013780"/>
            <a:ext cx="3876950" cy="3694075"/>
          </a:xfrm>
          <a:prstGeom prst="roundRect">
            <a:avLst>
              <a:gd name="adj" fmla="val 594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line 41"/>
          <p:cNvCxnSpPr/>
          <p:nvPr/>
        </p:nvCxnSpPr>
        <p:spPr>
          <a:xfrm>
            <a:off x="299915" y="3021095"/>
            <a:ext cx="3862320" cy="0"/>
          </a:xfrm>
          <a:prstGeom prst="line">
            <a:avLst/>
          </a:prstGeom>
          <a:ln w="21945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(1) 执行需求预测"/>
          <p:cNvSpPr txBox="1"/>
          <p:nvPr/>
        </p:nvSpPr>
        <p:spPr>
          <a:xfrm>
            <a:off x="453530" y="3068642"/>
            <a:ext cx="1638903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(1) 执行需求预测</a:t>
            </a:r>
          </a:p>
        </p:txBody>
      </p:sp>
      <p:sp>
        <p:nvSpPr>
          <p:cNvPr id="44" name="rect 43"/>
          <p:cNvSpPr/>
          <p:nvPr/>
        </p:nvSpPr>
        <p:spPr>
          <a:xfrm>
            <a:off x="4645025" y="3013780"/>
            <a:ext cx="3876950" cy="3694075"/>
          </a:xfrm>
          <a:prstGeom prst="roundRect">
            <a:avLst>
              <a:gd name="adj" fmla="val 594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line 44"/>
          <p:cNvCxnSpPr/>
          <p:nvPr/>
        </p:nvCxnSpPr>
        <p:spPr>
          <a:xfrm>
            <a:off x="4652340" y="3021095"/>
            <a:ext cx="3862320" cy="0"/>
          </a:xfrm>
          <a:prstGeom prst="line">
            <a:avLst/>
          </a:prstGeom>
          <a:ln w="21945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(2) KV 生命周期"/>
          <p:cNvSpPr txBox="1"/>
          <p:nvPr/>
        </p:nvSpPr>
        <p:spPr>
          <a:xfrm>
            <a:off x="4805955" y="3068642"/>
            <a:ext cx="1539150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(2) KV 生命周期</a:t>
            </a:r>
          </a:p>
        </p:txBody>
      </p:sp>
      <p:sp>
        <p:nvSpPr>
          <p:cNvPr id="47" name="rect 46"/>
          <p:cNvSpPr/>
          <p:nvPr/>
        </p:nvSpPr>
        <p:spPr>
          <a:xfrm>
            <a:off x="8997450" y="3013780"/>
            <a:ext cx="3876950" cy="3694075"/>
          </a:xfrm>
          <a:prstGeom prst="roundRect">
            <a:avLst>
              <a:gd name="adj" fmla="val 594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line 47"/>
          <p:cNvCxnSpPr/>
          <p:nvPr/>
        </p:nvCxnSpPr>
        <p:spPr>
          <a:xfrm>
            <a:off x="9004765" y="3021095"/>
            <a:ext cx="3862320" cy="0"/>
          </a:xfrm>
          <a:prstGeom prst="line">
            <a:avLst/>
          </a:prstGeom>
          <a:ln w="21945">
            <a:solidFill>
              <a:srgbClr val="A96F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(3) 准入与预取协同"/>
          <p:cNvSpPr txBox="1"/>
          <p:nvPr/>
        </p:nvSpPr>
        <p:spPr>
          <a:xfrm>
            <a:off x="9158380" y="3068642"/>
            <a:ext cx="1843723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(3) 准入与预取协同</a:t>
            </a:r>
          </a:p>
        </p:txBody>
      </p:sp>
      <p:cxnSp>
        <p:nvCxnSpPr>
          <p:cNvPr id="50" name="path 49"/>
          <p:cNvCxnSpPr/>
          <p:nvPr/>
        </p:nvCxnSpPr>
        <p:spPr>
          <a:xfrm>
            <a:off x="2245705" y="2538305"/>
            <a:ext cx="0" cy="46816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path 50"/>
          <p:cNvSpPr/>
          <p:nvPr/>
        </p:nvSpPr>
        <p:spPr>
          <a:xfrm>
            <a:off x="6583500" y="2538305"/>
            <a:ext cx="2106720" cy="468160"/>
          </a:xfrm>
          <a:custGeom>
            <a:avLst/>
            <a:gdLst/>
            <a:ahLst/>
            <a:cxnLst/>
            <a:rect l="l" t="t" r="r" b="b"/>
            <a:pathLst>
              <a:path w="288" h="64">
                <a:moveTo>
                  <a:pt x="288" y="0"/>
                </a:moveTo>
                <a:lnTo>
                  <a:pt x="288" y="31"/>
                </a:lnTo>
                <a:lnTo>
                  <a:pt x="0" y="31"/>
                </a:lnTo>
                <a:lnTo>
                  <a:pt x="0" y="64"/>
                </a:lnTo>
              </a:path>
            </a:pathLst>
          </a:custGeom>
          <a:noFill/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ath 51"/>
          <p:cNvSpPr/>
          <p:nvPr/>
        </p:nvSpPr>
        <p:spPr>
          <a:xfrm>
            <a:off x="4169550" y="2538305"/>
            <a:ext cx="7022400" cy="1338645"/>
          </a:xfrm>
          <a:custGeom>
            <a:avLst/>
            <a:gdLst/>
            <a:ahLst/>
            <a:cxnLst/>
            <a:rect l="l" t="t" r="r" b="b"/>
            <a:pathLst>
              <a:path w="960" h="183">
                <a:moveTo>
                  <a:pt x="960" y="0"/>
                </a:moveTo>
                <a:lnTo>
                  <a:pt x="960" y="36"/>
                </a:lnTo>
                <a:lnTo>
                  <a:pt x="24" y="36"/>
                </a:lnTo>
                <a:lnTo>
                  <a:pt x="24" y="183"/>
                </a:lnTo>
                <a:lnTo>
                  <a:pt x="0" y="183"/>
                </a:lnTo>
              </a:path>
            </a:pathLst>
          </a:custGeom>
          <a:noFill/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 52"/>
          <p:cNvSpPr/>
          <p:nvPr/>
        </p:nvSpPr>
        <p:spPr>
          <a:xfrm>
            <a:off x="468160" y="3606295"/>
            <a:ext cx="1302070" cy="395010"/>
          </a:xfrm>
          <a:prstGeom prst="roundRect">
            <a:avLst>
              <a:gd name="adj" fmla="val 3703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CCG"/>
          <p:cNvSpPr txBox="1"/>
          <p:nvPr/>
        </p:nvSpPr>
        <p:spPr>
          <a:xfrm>
            <a:off x="805679" y="3635701"/>
            <a:ext cx="627033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RCCG</a:t>
            </a:r>
          </a:p>
        </p:txBody>
      </p:sp>
      <p:sp>
        <p:nvSpPr>
          <p:cNvPr id="55" name="rect 54"/>
          <p:cNvSpPr/>
          <p:nvPr/>
        </p:nvSpPr>
        <p:spPr>
          <a:xfrm>
            <a:off x="2194500" y="3606295"/>
            <a:ext cx="1799490" cy="395010"/>
          </a:xfrm>
          <a:prstGeom prst="roundRect">
            <a:avLst>
              <a:gd name="adj" fmla="val 3703"/>
            </a:avLst>
          </a:prstGeom>
          <a:solidFill>
            <a:srgbClr val="FBF2E3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PU 预测器"/>
          <p:cNvSpPr txBox="1"/>
          <p:nvPr/>
        </p:nvSpPr>
        <p:spPr>
          <a:xfrm>
            <a:off x="2546534" y="3647186"/>
            <a:ext cx="1095421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CPU 预测器</a:t>
            </a:r>
          </a:p>
        </p:txBody>
      </p:sp>
      <p:cxnSp>
        <p:nvCxnSpPr>
          <p:cNvPr id="57" name="path 56"/>
          <p:cNvCxnSpPr/>
          <p:nvPr/>
        </p:nvCxnSpPr>
        <p:spPr>
          <a:xfrm>
            <a:off x="1777545" y="3803800"/>
            <a:ext cx="409640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GraphDelta"/>
          <p:cNvSpPr txBox="1"/>
          <p:nvPr/>
        </p:nvSpPr>
        <p:spPr>
          <a:xfrm>
            <a:off x="475475" y="4067140"/>
            <a:ext cx="1053731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GraphDelta</a:t>
            </a:r>
          </a:p>
        </p:txBody>
      </p:sp>
      <p:sp>
        <p:nvSpPr>
          <p:cNvPr id="59" name="circle 58"/>
          <p:cNvSpPr/>
          <p:nvPr/>
        </p:nvSpPr>
        <p:spPr>
          <a:xfrm>
            <a:off x="724185" y="4571875"/>
            <a:ext cx="395010" cy="395010"/>
          </a:xfrm>
          <a:prstGeom prst="ellipse">
            <a:avLst/>
          </a:prstGeom>
          <a:solidFill>
            <a:srgbClr val="EDF3F8"/>
          </a:solidFill>
          <a:ln w="10241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P"/>
          <p:cNvSpPr txBox="1"/>
          <p:nvPr/>
        </p:nvSpPr>
        <p:spPr>
          <a:xfrm>
            <a:off x="816808" y="4621251"/>
            <a:ext cx="209763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</a:t>
            </a:r>
          </a:p>
        </p:txBody>
      </p:sp>
      <p:sp>
        <p:nvSpPr>
          <p:cNvPr id="61" name="circle 60"/>
          <p:cNvSpPr/>
          <p:nvPr/>
        </p:nvSpPr>
        <p:spPr>
          <a:xfrm>
            <a:off x="1623930" y="4337795"/>
            <a:ext cx="365750" cy="365750"/>
          </a:xfrm>
          <a:prstGeom prst="ellipse">
            <a:avLst/>
          </a:prstGeom>
          <a:solidFill>
            <a:srgbClr val="EAF3F1"/>
          </a:solidFill>
          <a:ln w="10241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C1"/>
          <p:cNvSpPr txBox="1"/>
          <p:nvPr/>
        </p:nvSpPr>
        <p:spPr>
          <a:xfrm>
            <a:off x="1662648" y="4388634"/>
            <a:ext cx="288314" cy="265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C1</a:t>
            </a:r>
          </a:p>
        </p:txBody>
      </p:sp>
      <p:sp>
        <p:nvSpPr>
          <p:cNvPr id="63" name="circle 62"/>
          <p:cNvSpPr/>
          <p:nvPr/>
        </p:nvSpPr>
        <p:spPr>
          <a:xfrm>
            <a:off x="1623930" y="4930310"/>
            <a:ext cx="365750" cy="365750"/>
          </a:xfrm>
          <a:prstGeom prst="ellipse">
            <a:avLst/>
          </a:prstGeom>
          <a:solidFill>
            <a:srgbClr val="FBF2E3"/>
          </a:solidFill>
          <a:ln w="10241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2"/>
          <p:cNvSpPr txBox="1"/>
          <p:nvPr/>
        </p:nvSpPr>
        <p:spPr>
          <a:xfrm>
            <a:off x="1662648" y="4981149"/>
            <a:ext cx="288314" cy="265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C2</a:t>
            </a:r>
          </a:p>
        </p:txBody>
      </p:sp>
      <p:cxnSp>
        <p:nvCxnSpPr>
          <p:cNvPr id="65" name="path 64"/>
          <p:cNvCxnSpPr/>
          <p:nvPr/>
        </p:nvCxnSpPr>
        <p:spPr>
          <a:xfrm flipV="1">
            <a:off x="1126510" y="4564560"/>
            <a:ext cx="468160" cy="14630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path 65"/>
          <p:cNvCxnSpPr/>
          <p:nvPr/>
        </p:nvCxnSpPr>
        <p:spPr>
          <a:xfrm>
            <a:off x="1126510" y="4849845"/>
            <a:ext cx="468160" cy="20482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DONE"/>
          <p:cNvSpPr txBox="1"/>
          <p:nvPr/>
        </p:nvSpPr>
        <p:spPr>
          <a:xfrm>
            <a:off x="2033570" y="4383514"/>
            <a:ext cx="549111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DONE</a:t>
            </a:r>
          </a:p>
        </p:txBody>
      </p:sp>
      <p:sp>
        <p:nvSpPr>
          <p:cNvPr id="68" name="RUN"/>
          <p:cNvSpPr txBox="1"/>
          <p:nvPr/>
        </p:nvSpPr>
        <p:spPr>
          <a:xfrm>
            <a:off x="2033570" y="4976029"/>
            <a:ext cx="437557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RUN</a:t>
            </a:r>
          </a:p>
        </p:txBody>
      </p:sp>
      <p:sp>
        <p:nvSpPr>
          <p:cNvPr id="69" name="rect 68"/>
          <p:cNvSpPr/>
          <p:nvPr/>
        </p:nvSpPr>
        <p:spPr>
          <a:xfrm>
            <a:off x="2728495" y="4396315"/>
            <a:ext cx="1265495" cy="329175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p(final)"/>
          <p:cNvSpPr txBox="1"/>
          <p:nvPr/>
        </p:nvSpPr>
        <p:spPr>
          <a:xfrm>
            <a:off x="2986177" y="4410945"/>
            <a:ext cx="750130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p(final)</a:t>
            </a:r>
          </a:p>
        </p:txBody>
      </p:sp>
      <p:sp>
        <p:nvSpPr>
          <p:cNvPr id="71" name="rect 70"/>
          <p:cNvSpPr/>
          <p:nvPr/>
        </p:nvSpPr>
        <p:spPr>
          <a:xfrm>
            <a:off x="2728495" y="4922995"/>
            <a:ext cx="1265495" cy="329175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[Rlo, Rhi]"/>
          <p:cNvSpPr txBox="1"/>
          <p:nvPr/>
        </p:nvSpPr>
        <p:spPr>
          <a:xfrm>
            <a:off x="2901769" y="4937625"/>
            <a:ext cx="918947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[Rlo, Rhi]</a:t>
            </a:r>
          </a:p>
        </p:txBody>
      </p:sp>
      <p:sp>
        <p:nvSpPr>
          <p:cNvPr id="73" name="path 72"/>
          <p:cNvSpPr/>
          <p:nvPr/>
        </p:nvSpPr>
        <p:spPr>
          <a:xfrm>
            <a:off x="2552935" y="4001305"/>
            <a:ext cx="541310" cy="555940"/>
          </a:xfrm>
          <a:custGeom>
            <a:avLst/>
            <a:gdLst/>
            <a:ahLst/>
            <a:cxnLst/>
            <a:rect l="l" t="t" r="r" b="b"/>
            <a:pathLst>
              <a:path w="74" h="76">
                <a:moveTo>
                  <a:pt x="74" y="0"/>
                </a:moveTo>
                <a:lnTo>
                  <a:pt x="74" y="20"/>
                </a:lnTo>
                <a:lnTo>
                  <a:pt x="0" y="20"/>
                </a:lnTo>
                <a:lnTo>
                  <a:pt x="0" y="76"/>
                </a:lnTo>
                <a:lnTo>
                  <a:pt x="23" y="76"/>
                </a:lnTo>
              </a:path>
            </a:pathLst>
          </a:custGeom>
          <a:noFill/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path 73"/>
          <p:cNvSpPr/>
          <p:nvPr/>
        </p:nvSpPr>
        <p:spPr>
          <a:xfrm>
            <a:off x="2552935" y="4147605"/>
            <a:ext cx="168245" cy="936320"/>
          </a:xfrm>
          <a:custGeom>
            <a:avLst/>
            <a:gdLst/>
            <a:ahLst/>
            <a:cxnLst/>
            <a:rect l="l" t="t" r="r" b="b"/>
            <a:pathLst>
              <a:path w="23" h="128">
                <a:moveTo>
                  <a:pt x="0" y="0"/>
                </a:moveTo>
                <a:lnTo>
                  <a:pt x="0" y="128"/>
                </a:lnTo>
                <a:lnTo>
                  <a:pt x="23" y="128"/>
                </a:lnTo>
              </a:path>
            </a:pathLst>
          </a:custGeom>
          <a:noFill/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path 74"/>
          <p:cNvSpPr/>
          <p:nvPr/>
        </p:nvSpPr>
        <p:spPr>
          <a:xfrm>
            <a:off x="3050355" y="4557245"/>
            <a:ext cx="1024100" cy="1060675"/>
          </a:xfrm>
          <a:custGeom>
            <a:avLst/>
            <a:gdLst/>
            <a:ahLst/>
            <a:cxnLst/>
            <a:rect l="l" t="t" r="r" b="b"/>
            <a:pathLst>
              <a:path w="140" h="145">
                <a:moveTo>
                  <a:pt x="131" y="0"/>
                </a:moveTo>
                <a:lnTo>
                  <a:pt x="140" y="0"/>
                </a:lnTo>
                <a:lnTo>
                  <a:pt x="140" y="121"/>
                </a:lnTo>
                <a:lnTo>
                  <a:pt x="0" y="121"/>
                </a:lnTo>
                <a:lnTo>
                  <a:pt x="0" y="145"/>
                </a:lnTo>
              </a:path>
            </a:pathLst>
          </a:custGeom>
          <a:noFill/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path 75"/>
          <p:cNvCxnSpPr/>
          <p:nvPr/>
        </p:nvCxnSpPr>
        <p:spPr>
          <a:xfrm>
            <a:off x="1806805" y="5310690"/>
            <a:ext cx="0" cy="29991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path 76"/>
          <p:cNvSpPr/>
          <p:nvPr/>
        </p:nvSpPr>
        <p:spPr>
          <a:xfrm>
            <a:off x="3050355" y="5259485"/>
            <a:ext cx="314545" cy="351120"/>
          </a:xfrm>
          <a:custGeom>
            <a:avLst/>
            <a:gdLst/>
            <a:ahLst/>
            <a:cxnLst/>
            <a:rect l="l" t="t" r="r" b="b"/>
            <a:pathLst>
              <a:path w="43" h="48">
                <a:moveTo>
                  <a:pt x="43" y="0"/>
                </a:moveTo>
                <a:lnTo>
                  <a:pt x="43" y="34"/>
                </a:lnTo>
                <a:lnTo>
                  <a:pt x="0" y="34"/>
                </a:lnTo>
                <a:lnTo>
                  <a:pt x="0" y="48"/>
                </a:lnTo>
              </a:path>
            </a:pathLst>
          </a:custGeom>
          <a:noFill/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 77"/>
          <p:cNvSpPr/>
          <p:nvPr/>
        </p:nvSpPr>
        <p:spPr>
          <a:xfrm>
            <a:off x="468160" y="5625235"/>
            <a:ext cx="3525830" cy="475475"/>
          </a:xfrm>
          <a:prstGeom prst="roundRect">
            <a:avLst>
              <a:gd name="adj" fmla="val 3076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下一消费者：parent / 工具 agent"/>
          <p:cNvSpPr txBox="1"/>
          <p:nvPr/>
        </p:nvSpPr>
        <p:spPr>
          <a:xfrm>
            <a:off x="800307" y="5713015"/>
            <a:ext cx="2861537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下一消费者：parent / 工具 agent</a:t>
            </a:r>
          </a:p>
        </p:txBody>
      </p:sp>
      <p:sp>
        <p:nvSpPr>
          <p:cNvPr id="80" name="context / epoch / session"/>
          <p:cNvSpPr txBox="1"/>
          <p:nvPr/>
        </p:nvSpPr>
        <p:spPr>
          <a:xfrm>
            <a:off x="475475" y="6268955"/>
            <a:ext cx="2187957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context / epoch / session</a:t>
            </a:r>
          </a:p>
        </p:txBody>
      </p:sp>
      <p:cxnSp>
        <p:nvCxnSpPr>
          <p:cNvPr id="81" name="path 80"/>
          <p:cNvCxnSpPr/>
          <p:nvPr/>
        </p:nvCxnSpPr>
        <p:spPr>
          <a:xfrm>
            <a:off x="4169550" y="5866630"/>
            <a:ext cx="468160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 81"/>
          <p:cNvSpPr/>
          <p:nvPr/>
        </p:nvSpPr>
        <p:spPr>
          <a:xfrm>
            <a:off x="4842530" y="3591665"/>
            <a:ext cx="1302070" cy="387695"/>
          </a:xfrm>
          <a:prstGeom prst="roundRect">
            <a:avLst>
              <a:gd name="adj" fmla="val 3773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HBM"/>
          <p:cNvSpPr txBox="1"/>
          <p:nvPr/>
        </p:nvSpPr>
        <p:spPr>
          <a:xfrm>
            <a:off x="5215066" y="3617414"/>
            <a:ext cx="556997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HBM</a:t>
            </a:r>
          </a:p>
        </p:txBody>
      </p:sp>
      <p:sp>
        <p:nvSpPr>
          <p:cNvPr id="84" name="rect 83"/>
          <p:cNvSpPr/>
          <p:nvPr/>
        </p:nvSpPr>
        <p:spPr>
          <a:xfrm>
            <a:off x="4893735" y="4067140"/>
            <a:ext cx="329175" cy="226765"/>
          </a:xfrm>
          <a:prstGeom prst="roundRect">
            <a:avLst>
              <a:gd name="adj" fmla="val 6451"/>
            </a:avLst>
          </a:prstGeom>
          <a:solidFill>
            <a:srgbClr val="EDF3F8"/>
          </a:solidFill>
          <a:ln w="11704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 84"/>
          <p:cNvSpPr/>
          <p:nvPr/>
        </p:nvSpPr>
        <p:spPr>
          <a:xfrm>
            <a:off x="5281430" y="4067140"/>
            <a:ext cx="329175" cy="226765"/>
          </a:xfrm>
          <a:prstGeom prst="roundRect">
            <a:avLst>
              <a:gd name="adj" fmla="val 6451"/>
            </a:avLst>
          </a:prstGeom>
          <a:solidFill>
            <a:srgbClr val="EDF3F8"/>
          </a:solidFill>
          <a:ln w="11704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 85"/>
          <p:cNvSpPr/>
          <p:nvPr/>
        </p:nvSpPr>
        <p:spPr>
          <a:xfrm>
            <a:off x="5669125" y="4067140"/>
            <a:ext cx="329175" cy="226765"/>
          </a:xfrm>
          <a:prstGeom prst="roundRect">
            <a:avLst>
              <a:gd name="adj" fmla="val 6451"/>
            </a:avLst>
          </a:prstGeom>
          <a:solidFill>
            <a:srgbClr val="EDF3F8"/>
          </a:solidFill>
          <a:ln w="11704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 86"/>
          <p:cNvSpPr/>
          <p:nvPr/>
        </p:nvSpPr>
        <p:spPr>
          <a:xfrm>
            <a:off x="7029715" y="3591665"/>
            <a:ext cx="1302070" cy="387695"/>
          </a:xfrm>
          <a:prstGeom prst="roundRect">
            <a:avLst>
              <a:gd name="adj" fmla="val 3773"/>
            </a:avLst>
          </a:prstGeom>
          <a:solidFill>
            <a:srgbClr val="EAF3F1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Host"/>
          <p:cNvSpPr txBox="1"/>
          <p:nvPr/>
        </p:nvSpPr>
        <p:spPr>
          <a:xfrm>
            <a:off x="7404294" y="3617414"/>
            <a:ext cx="552911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Host</a:t>
            </a:r>
          </a:p>
        </p:txBody>
      </p:sp>
      <p:sp>
        <p:nvSpPr>
          <p:cNvPr id="89" name="rect 88"/>
          <p:cNvSpPr/>
          <p:nvPr/>
        </p:nvSpPr>
        <p:spPr>
          <a:xfrm>
            <a:off x="7080920" y="4067140"/>
            <a:ext cx="329175" cy="226765"/>
          </a:xfrm>
          <a:prstGeom prst="roundRect">
            <a:avLst>
              <a:gd name="adj" fmla="val 6451"/>
            </a:avLst>
          </a:prstGeom>
          <a:solidFill>
            <a:srgbClr val="EAF3F1"/>
          </a:solidFill>
          <a:ln w="11704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 89"/>
          <p:cNvSpPr/>
          <p:nvPr/>
        </p:nvSpPr>
        <p:spPr>
          <a:xfrm>
            <a:off x="7468615" y="4067140"/>
            <a:ext cx="329175" cy="226765"/>
          </a:xfrm>
          <a:prstGeom prst="roundRect">
            <a:avLst>
              <a:gd name="adj" fmla="val 6451"/>
            </a:avLst>
          </a:prstGeom>
          <a:solidFill>
            <a:srgbClr val="EAF3F1"/>
          </a:solidFill>
          <a:ln w="11704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 90"/>
          <p:cNvSpPr/>
          <p:nvPr/>
        </p:nvSpPr>
        <p:spPr>
          <a:xfrm>
            <a:off x="7856310" y="4067140"/>
            <a:ext cx="329175" cy="226765"/>
          </a:xfrm>
          <a:prstGeom prst="roundRect">
            <a:avLst>
              <a:gd name="adj" fmla="val 6451"/>
            </a:avLst>
          </a:prstGeom>
          <a:solidFill>
            <a:srgbClr val="EAF3F1"/>
          </a:solidFill>
          <a:ln w="11704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path 91"/>
          <p:cNvCxnSpPr/>
          <p:nvPr/>
        </p:nvCxnSpPr>
        <p:spPr>
          <a:xfrm>
            <a:off x="6151915" y="3701390"/>
            <a:ext cx="870485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D2H"/>
          <p:cNvSpPr txBox="1"/>
          <p:nvPr/>
        </p:nvSpPr>
        <p:spPr>
          <a:xfrm>
            <a:off x="6217750" y="3410619"/>
            <a:ext cx="419384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D2H</a:t>
            </a:r>
          </a:p>
        </p:txBody>
      </p:sp>
      <p:cxnSp>
        <p:nvCxnSpPr>
          <p:cNvPr id="94" name="path 93"/>
          <p:cNvCxnSpPr/>
          <p:nvPr/>
        </p:nvCxnSpPr>
        <p:spPr>
          <a:xfrm flipH="1">
            <a:off x="6159230" y="4220755"/>
            <a:ext cx="870485" cy="0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H2D"/>
          <p:cNvSpPr txBox="1"/>
          <p:nvPr/>
        </p:nvSpPr>
        <p:spPr>
          <a:xfrm>
            <a:off x="6225065" y="4288419"/>
            <a:ext cx="419384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H2D</a:t>
            </a:r>
          </a:p>
        </p:txBody>
      </p:sp>
      <p:sp>
        <p:nvSpPr>
          <p:cNvPr id="96" name="rect 95"/>
          <p:cNvSpPr/>
          <p:nvPr/>
        </p:nvSpPr>
        <p:spPr>
          <a:xfrm>
            <a:off x="4842530" y="4762065"/>
            <a:ext cx="950950" cy="358435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HBM"/>
          <p:cNvSpPr txBox="1"/>
          <p:nvPr/>
        </p:nvSpPr>
        <p:spPr>
          <a:xfrm>
            <a:off x="5089783" y="4807637"/>
            <a:ext cx="456445" cy="265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HBM</a:t>
            </a:r>
          </a:p>
        </p:txBody>
      </p:sp>
      <p:sp>
        <p:nvSpPr>
          <p:cNvPr id="98" name="rect 97"/>
          <p:cNvSpPr/>
          <p:nvPr/>
        </p:nvSpPr>
        <p:spPr>
          <a:xfrm>
            <a:off x="6144600" y="4762065"/>
            <a:ext cx="950950" cy="358435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H+Host"/>
          <p:cNvSpPr txBox="1"/>
          <p:nvPr/>
        </p:nvSpPr>
        <p:spPr>
          <a:xfrm>
            <a:off x="6285071" y="4807637"/>
            <a:ext cx="670008" cy="265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H+Host</a:t>
            </a:r>
          </a:p>
        </p:txBody>
      </p:sp>
      <p:sp>
        <p:nvSpPr>
          <p:cNvPr id="100" name="rect 99"/>
          <p:cNvSpPr/>
          <p:nvPr/>
        </p:nvSpPr>
        <p:spPr>
          <a:xfrm>
            <a:off x="7373520" y="4762065"/>
            <a:ext cx="950950" cy="358435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Host-only"/>
          <p:cNvSpPr txBox="1"/>
          <p:nvPr/>
        </p:nvSpPr>
        <p:spPr>
          <a:xfrm>
            <a:off x="7422168" y="4807637"/>
            <a:ext cx="853655" cy="265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Host-only</a:t>
            </a:r>
          </a:p>
        </p:txBody>
      </p:sp>
      <p:cxnSp>
        <p:nvCxnSpPr>
          <p:cNvPr id="102" name="path 101"/>
          <p:cNvCxnSpPr/>
          <p:nvPr/>
        </p:nvCxnSpPr>
        <p:spPr>
          <a:xfrm>
            <a:off x="5800795" y="4944940"/>
            <a:ext cx="329175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path 102"/>
          <p:cNvCxnSpPr/>
          <p:nvPr/>
        </p:nvCxnSpPr>
        <p:spPr>
          <a:xfrm>
            <a:off x="7102865" y="4944940"/>
            <a:ext cx="256025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prepare"/>
          <p:cNvSpPr txBox="1"/>
          <p:nvPr/>
        </p:nvSpPr>
        <p:spPr>
          <a:xfrm>
            <a:off x="5698385" y="4500554"/>
            <a:ext cx="675009" cy="265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prepare</a:t>
            </a:r>
          </a:p>
        </p:txBody>
      </p:sp>
      <p:sp>
        <p:nvSpPr>
          <p:cNvPr id="105" name="压力"/>
          <p:cNvSpPr txBox="1"/>
          <p:nvPr/>
        </p:nvSpPr>
        <p:spPr>
          <a:xfrm>
            <a:off x="7073605" y="5232054"/>
            <a:ext cx="42427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压力</a:t>
            </a:r>
          </a:p>
        </p:txBody>
      </p:sp>
      <p:sp>
        <p:nvSpPr>
          <p:cNvPr id="106" name="rect 105"/>
          <p:cNvSpPr/>
          <p:nvPr/>
        </p:nvSpPr>
        <p:spPr>
          <a:xfrm>
            <a:off x="4842530" y="5654495"/>
            <a:ext cx="1294755" cy="424270"/>
          </a:xfrm>
          <a:prstGeom prst="roundRect">
            <a:avLst>
              <a:gd name="adj" fmla="val 3448"/>
            </a:avLst>
          </a:prstGeom>
          <a:solidFill>
            <a:srgbClr val="EAF3F1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ΔFULL"/>
          <p:cNvSpPr txBox="1"/>
          <p:nvPr/>
        </p:nvSpPr>
        <p:spPr>
          <a:xfrm>
            <a:off x="5106713" y="5691875"/>
            <a:ext cx="766389" cy="3383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ΔFULL</a:t>
            </a:r>
          </a:p>
        </p:txBody>
      </p:sp>
      <p:sp>
        <p:nvSpPr>
          <p:cNvPr id="108" name="rect 107"/>
          <p:cNvSpPr/>
          <p:nvPr/>
        </p:nvSpPr>
        <p:spPr>
          <a:xfrm>
            <a:off x="7029715" y="5654495"/>
            <a:ext cx="1302070" cy="424270"/>
          </a:xfrm>
          <a:prstGeom prst="roundRect">
            <a:avLst>
              <a:gd name="adj" fmla="val 3448"/>
            </a:avLst>
          </a:prstGeom>
          <a:solidFill>
            <a:srgbClr val="FBF2E3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s*"/>
          <p:cNvSpPr txBox="1"/>
          <p:nvPr/>
        </p:nvSpPr>
        <p:spPr>
          <a:xfrm>
            <a:off x="7527678" y="5680390"/>
            <a:ext cx="306144" cy="358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s*</a:t>
            </a:r>
          </a:p>
        </p:txBody>
      </p:sp>
      <p:sp>
        <p:nvSpPr>
          <p:cNvPr id="110" name="circle 109"/>
          <p:cNvSpPr/>
          <p:nvPr/>
        </p:nvSpPr>
        <p:spPr>
          <a:xfrm>
            <a:off x="6422570" y="5705700"/>
            <a:ext cx="321860" cy="32186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2637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+"/>
          <p:cNvSpPr txBox="1"/>
          <p:nvPr/>
        </p:nvSpPr>
        <p:spPr>
          <a:xfrm>
            <a:off x="6472718" y="5669125"/>
            <a:ext cx="221564" cy="358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+</a:t>
            </a:r>
          </a:p>
        </p:txBody>
      </p:sp>
      <p:cxnSp>
        <p:nvCxnSpPr>
          <p:cNvPr id="112" name="path 111"/>
          <p:cNvCxnSpPr/>
          <p:nvPr/>
        </p:nvCxnSpPr>
        <p:spPr>
          <a:xfrm>
            <a:off x="6144600" y="5866630"/>
            <a:ext cx="256025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path 112"/>
          <p:cNvCxnSpPr/>
          <p:nvPr/>
        </p:nvCxnSpPr>
        <p:spPr>
          <a:xfrm flipH="1">
            <a:off x="6766375" y="5866630"/>
            <a:ext cx="256025" cy="0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path 113"/>
          <p:cNvCxnSpPr/>
          <p:nvPr/>
        </p:nvCxnSpPr>
        <p:spPr>
          <a:xfrm>
            <a:off x="6583500" y="6034875"/>
            <a:ext cx="0" cy="241395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 114"/>
          <p:cNvSpPr/>
          <p:nvPr/>
        </p:nvSpPr>
        <p:spPr>
          <a:xfrm>
            <a:off x="5954410" y="6290900"/>
            <a:ext cx="1353275" cy="285285"/>
          </a:xfrm>
          <a:prstGeom prst="roundRect">
            <a:avLst>
              <a:gd name="adj" fmla="val 5128"/>
            </a:avLst>
          </a:prstGeom>
          <a:solidFill>
            <a:srgbClr val="EAF3F1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恢复计划"/>
          <p:cNvSpPr txBox="1"/>
          <p:nvPr/>
        </p:nvSpPr>
        <p:spPr>
          <a:xfrm>
            <a:off x="6236038" y="6288413"/>
            <a:ext cx="790020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恢复计划</a:t>
            </a:r>
          </a:p>
        </p:txBody>
      </p:sp>
      <p:sp>
        <p:nvSpPr>
          <p:cNvPr id="117" name="FULL"/>
          <p:cNvSpPr txBox="1"/>
          <p:nvPr/>
        </p:nvSpPr>
        <p:spPr>
          <a:xfrm>
            <a:off x="4871790" y="6173860"/>
            <a:ext cx="519165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FULL</a:t>
            </a:r>
          </a:p>
        </p:txBody>
      </p:sp>
      <p:sp>
        <p:nvSpPr>
          <p:cNvPr id="118" name="Mamba"/>
          <p:cNvSpPr txBox="1"/>
          <p:nvPr/>
        </p:nvSpPr>
        <p:spPr>
          <a:xfrm>
            <a:off x="7578340" y="6173860"/>
            <a:ext cx="721613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Mamba</a:t>
            </a:r>
          </a:p>
        </p:txBody>
      </p:sp>
      <p:sp>
        <p:nvSpPr>
          <p:cNvPr id="119" name="path 118"/>
          <p:cNvSpPr/>
          <p:nvPr/>
        </p:nvSpPr>
        <p:spPr>
          <a:xfrm>
            <a:off x="7315000" y="5881260"/>
            <a:ext cx="1843380" cy="548625"/>
          </a:xfrm>
          <a:custGeom>
            <a:avLst/>
            <a:gdLst/>
            <a:ahLst/>
            <a:cxnLst/>
            <a:rect l="l" t="t" r="r" b="b"/>
            <a:pathLst>
              <a:path w="252" h="75">
                <a:moveTo>
                  <a:pt x="0" y="75"/>
                </a:moveTo>
                <a:lnTo>
                  <a:pt x="175" y="75"/>
                </a:lnTo>
                <a:lnTo>
                  <a:pt x="175" y="0"/>
                </a:lnTo>
                <a:lnTo>
                  <a:pt x="252" y="0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原生等待队列"/>
          <p:cNvSpPr txBox="1"/>
          <p:nvPr/>
        </p:nvSpPr>
        <p:spPr>
          <a:xfrm>
            <a:off x="9173010" y="3416105"/>
            <a:ext cx="1185030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原生等待队列</a:t>
            </a:r>
          </a:p>
        </p:txBody>
      </p:sp>
      <p:sp>
        <p:nvSpPr>
          <p:cNvPr id="121" name="rect 120"/>
          <p:cNvSpPr/>
          <p:nvPr/>
        </p:nvSpPr>
        <p:spPr>
          <a:xfrm>
            <a:off x="9173010" y="3781855"/>
            <a:ext cx="1016785" cy="3803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09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1"/>
          <p:cNvSpPr txBox="1"/>
          <p:nvPr/>
        </p:nvSpPr>
        <p:spPr>
          <a:xfrm>
            <a:off x="9532445" y="3803946"/>
            <a:ext cx="297915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r1</a:t>
            </a:r>
          </a:p>
        </p:txBody>
      </p:sp>
      <p:sp>
        <p:nvSpPr>
          <p:cNvPr id="123" name="rect 122"/>
          <p:cNvSpPr/>
          <p:nvPr/>
        </p:nvSpPr>
        <p:spPr>
          <a:xfrm>
            <a:off x="10328780" y="3781855"/>
            <a:ext cx="1016785" cy="3803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2"/>
          <p:cNvSpPr txBox="1"/>
          <p:nvPr/>
        </p:nvSpPr>
        <p:spPr>
          <a:xfrm>
            <a:off x="10688215" y="3803946"/>
            <a:ext cx="297915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r2</a:t>
            </a:r>
          </a:p>
        </p:txBody>
      </p:sp>
      <p:sp>
        <p:nvSpPr>
          <p:cNvPr id="125" name="rect 124"/>
          <p:cNvSpPr/>
          <p:nvPr/>
        </p:nvSpPr>
        <p:spPr>
          <a:xfrm>
            <a:off x="11484550" y="3781855"/>
            <a:ext cx="1016785" cy="3803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3"/>
          <p:cNvSpPr txBox="1"/>
          <p:nvPr/>
        </p:nvSpPr>
        <p:spPr>
          <a:xfrm>
            <a:off x="11843985" y="3803946"/>
            <a:ext cx="297915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r3</a:t>
            </a:r>
          </a:p>
        </p:txBody>
      </p:sp>
      <p:sp>
        <p:nvSpPr>
          <p:cNvPr id="127" name="老化"/>
          <p:cNvSpPr txBox="1"/>
          <p:nvPr/>
        </p:nvSpPr>
        <p:spPr>
          <a:xfrm>
            <a:off x="9173010" y="4229899"/>
            <a:ext cx="42427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89959D"/>
                </a:solidFill>
                <a:latin typeface="Noto Sans CJK SC"/>
                <a:ea typeface="Noto Sans CJK SC"/>
              </a:rPr>
              <a:t>老化</a:t>
            </a:r>
          </a:p>
        </p:txBody>
      </p:sp>
      <p:sp>
        <p:nvSpPr>
          <p:cNvPr id="128" name="HBM 命中"/>
          <p:cNvSpPr txBox="1"/>
          <p:nvPr/>
        </p:nvSpPr>
        <p:spPr>
          <a:xfrm>
            <a:off x="10328780" y="4229899"/>
            <a:ext cx="831567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HBM 命中</a:t>
            </a:r>
          </a:p>
        </p:txBody>
      </p:sp>
      <p:sp>
        <p:nvSpPr>
          <p:cNvPr id="129" name="已恢复"/>
          <p:cNvSpPr txBox="1"/>
          <p:nvPr/>
        </p:nvSpPr>
        <p:spPr>
          <a:xfrm>
            <a:off x="11484550" y="4229899"/>
            <a:ext cx="592515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已恢复</a:t>
            </a:r>
          </a:p>
        </p:txBody>
      </p:sp>
      <p:cxnSp>
        <p:nvCxnSpPr>
          <p:cNvPr id="130" name="line 129"/>
          <p:cNvCxnSpPr/>
          <p:nvPr/>
        </p:nvCxnSpPr>
        <p:spPr>
          <a:xfrm>
            <a:off x="9677745" y="4169550"/>
            <a:ext cx="0" cy="51205"/>
          </a:xfrm>
          <a:prstGeom prst="line">
            <a:avLst/>
          </a:prstGeom>
          <a:ln w="14630">
            <a:solidFill>
              <a:srgbClr val="8995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line 130"/>
          <p:cNvCxnSpPr/>
          <p:nvPr/>
        </p:nvCxnSpPr>
        <p:spPr>
          <a:xfrm>
            <a:off x="10833515" y="4169550"/>
            <a:ext cx="0" cy="51205"/>
          </a:xfrm>
          <a:prstGeom prst="line">
            <a:avLst/>
          </a:prstGeom>
          <a:ln w="14630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line 131"/>
          <p:cNvCxnSpPr/>
          <p:nvPr/>
        </p:nvCxnSpPr>
        <p:spPr>
          <a:xfrm>
            <a:off x="11989285" y="4169550"/>
            <a:ext cx="0" cy="51205"/>
          </a:xfrm>
          <a:prstGeom prst="line">
            <a:avLst/>
          </a:prstGeom>
          <a:ln w="14630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path 132"/>
          <p:cNvSpPr/>
          <p:nvPr/>
        </p:nvSpPr>
        <p:spPr>
          <a:xfrm>
            <a:off x="11213895" y="4520670"/>
            <a:ext cx="775390" cy="285285"/>
          </a:xfrm>
          <a:custGeom>
            <a:avLst/>
            <a:gdLst/>
            <a:ahLst/>
            <a:cxnLst/>
            <a:rect l="l" t="t" r="r" b="b"/>
            <a:pathLst>
              <a:path w="106" h="39">
                <a:moveTo>
                  <a:pt x="106" y="0"/>
                </a:moveTo>
                <a:lnTo>
                  <a:pt x="106" y="39"/>
                </a:lnTo>
                <a:lnTo>
                  <a:pt x="0" y="39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path 133"/>
          <p:cNvCxnSpPr/>
          <p:nvPr/>
        </p:nvCxnSpPr>
        <p:spPr>
          <a:xfrm>
            <a:off x="10833515" y="4520670"/>
            <a:ext cx="0" cy="17556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path 134"/>
          <p:cNvSpPr/>
          <p:nvPr/>
        </p:nvSpPr>
        <p:spPr>
          <a:xfrm>
            <a:off x="9677745" y="4520670"/>
            <a:ext cx="768075" cy="285285"/>
          </a:xfrm>
          <a:custGeom>
            <a:avLst/>
            <a:gdLst/>
            <a:ahLst/>
            <a:cxnLst/>
            <a:rect l="l" t="t" r="r" b="b"/>
            <a:pathLst>
              <a:path w="105" h="39">
                <a:moveTo>
                  <a:pt x="0" y="0"/>
                </a:moveTo>
                <a:lnTo>
                  <a:pt x="0" y="39"/>
                </a:lnTo>
                <a:lnTo>
                  <a:pt x="105" y="39"/>
                </a:lnTo>
              </a:path>
            </a:pathLst>
          </a:custGeom>
          <a:noFill/>
          <a:ln w="17556">
            <a:solidFill>
              <a:srgbClr val="89959D"/>
            </a:solidFill>
            <a:prstDash val="dash"/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polygon 135"/>
          <p:cNvSpPr/>
          <p:nvPr/>
        </p:nvSpPr>
        <p:spPr>
          <a:xfrm>
            <a:off x="10270260" y="4710860"/>
            <a:ext cx="1126510" cy="629090"/>
          </a:xfrm>
          <a:custGeom>
            <a:avLst/>
            <a:gdLst/>
            <a:ahLst/>
            <a:cxnLst/>
            <a:rect l="l" t="t" r="r" b="b"/>
            <a:pathLst>
              <a:path w="154" h="86">
                <a:moveTo>
                  <a:pt x="77" y="0"/>
                </a:moveTo>
                <a:lnTo>
                  <a:pt x="154" y="43"/>
                </a:lnTo>
                <a:lnTo>
                  <a:pt x="77" y="86"/>
                </a:lnTo>
                <a:lnTo>
                  <a:pt x="0" y="43"/>
                </a:lnTo>
                <a:close/>
              </a:path>
            </a:pathLst>
          </a:cu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排序"/>
          <p:cNvSpPr txBox="1"/>
          <p:nvPr/>
        </p:nvSpPr>
        <p:spPr>
          <a:xfrm>
            <a:off x="10592120" y="4860818"/>
            <a:ext cx="482790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排序</a:t>
            </a:r>
          </a:p>
        </p:txBody>
      </p:sp>
      <p:sp>
        <p:nvSpPr>
          <p:cNvPr id="138" name="path 137"/>
          <p:cNvSpPr/>
          <p:nvPr/>
        </p:nvSpPr>
        <p:spPr>
          <a:xfrm>
            <a:off x="10833515" y="5347265"/>
            <a:ext cx="80465" cy="343805"/>
          </a:xfrm>
          <a:custGeom>
            <a:avLst/>
            <a:gdLst/>
            <a:ahLst/>
            <a:cxnLst/>
            <a:rect l="l" t="t" r="r" b="b"/>
            <a:pathLst>
              <a:path w="11" h="47">
                <a:moveTo>
                  <a:pt x="0" y="0"/>
                </a:moveTo>
                <a:lnTo>
                  <a:pt x="0" y="26"/>
                </a:lnTo>
                <a:lnTo>
                  <a:pt x="11" y="26"/>
                </a:lnTo>
                <a:lnTo>
                  <a:pt x="11" y="47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 138"/>
          <p:cNvSpPr/>
          <p:nvPr/>
        </p:nvSpPr>
        <p:spPr>
          <a:xfrm>
            <a:off x="9173010" y="5654495"/>
            <a:ext cx="1470315" cy="424270"/>
          </a:xfrm>
          <a:prstGeom prst="roundRect">
            <a:avLst>
              <a:gd name="adj" fmla="val 3448"/>
            </a:avLst>
          </a:prstGeom>
          <a:solidFill>
            <a:srgbClr val="EAF3F1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KV 就绪"/>
          <p:cNvSpPr txBox="1"/>
          <p:nvPr/>
        </p:nvSpPr>
        <p:spPr>
          <a:xfrm>
            <a:off x="9543060" y="5716672"/>
            <a:ext cx="730214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KV 就绪</a:t>
            </a:r>
          </a:p>
        </p:txBody>
      </p:sp>
      <p:sp>
        <p:nvSpPr>
          <p:cNvPr id="141" name="rect 140"/>
          <p:cNvSpPr/>
          <p:nvPr/>
        </p:nvSpPr>
        <p:spPr>
          <a:xfrm>
            <a:off x="11221210" y="5654495"/>
            <a:ext cx="1470315" cy="42427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执行槽"/>
          <p:cNvSpPr txBox="1"/>
          <p:nvPr/>
        </p:nvSpPr>
        <p:spPr>
          <a:xfrm>
            <a:off x="11638165" y="5716672"/>
            <a:ext cx="636405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执行槽</a:t>
            </a:r>
          </a:p>
        </p:txBody>
      </p:sp>
      <p:cxnSp>
        <p:nvCxnSpPr>
          <p:cNvPr id="143" name="path 142"/>
          <p:cNvCxnSpPr/>
          <p:nvPr/>
        </p:nvCxnSpPr>
        <p:spPr>
          <a:xfrm>
            <a:off x="10650640" y="5866630"/>
            <a:ext cx="102410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path 143"/>
          <p:cNvCxnSpPr/>
          <p:nvPr/>
        </p:nvCxnSpPr>
        <p:spPr>
          <a:xfrm flipH="1">
            <a:off x="11060280" y="5866630"/>
            <a:ext cx="160930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circle 144"/>
          <p:cNvSpPr/>
          <p:nvPr/>
        </p:nvSpPr>
        <p:spPr>
          <a:xfrm>
            <a:off x="10753050" y="5705700"/>
            <a:ext cx="321860" cy="32186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2637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&amp;"/>
          <p:cNvSpPr txBox="1"/>
          <p:nvPr/>
        </p:nvSpPr>
        <p:spPr>
          <a:xfrm>
            <a:off x="10791597" y="5685584"/>
            <a:ext cx="244767" cy="3383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&amp;</a:t>
            </a:r>
          </a:p>
        </p:txBody>
      </p:sp>
      <p:cxnSp>
        <p:nvCxnSpPr>
          <p:cNvPr id="147" name="path 146"/>
          <p:cNvCxnSpPr/>
          <p:nvPr/>
        </p:nvCxnSpPr>
        <p:spPr>
          <a:xfrm>
            <a:off x="10913980" y="6034875"/>
            <a:ext cx="0" cy="24139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 147"/>
          <p:cNvSpPr/>
          <p:nvPr/>
        </p:nvSpPr>
        <p:spPr>
          <a:xfrm>
            <a:off x="9955715" y="6290900"/>
            <a:ext cx="1916530" cy="285285"/>
          </a:xfrm>
          <a:prstGeom prst="roundRect">
            <a:avLst>
              <a:gd name="adj" fmla="val 5128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原生准入"/>
          <p:cNvSpPr txBox="1"/>
          <p:nvPr/>
        </p:nvSpPr>
        <p:spPr>
          <a:xfrm>
            <a:off x="10518970" y="6288413"/>
            <a:ext cx="790020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原生准入</a:t>
            </a:r>
          </a:p>
        </p:txBody>
      </p:sp>
      <p:sp>
        <p:nvSpPr>
          <p:cNvPr id="150" name="rect 149"/>
          <p:cNvSpPr/>
          <p:nvPr/>
        </p:nvSpPr>
        <p:spPr>
          <a:xfrm>
            <a:off x="292600" y="7190645"/>
            <a:ext cx="12581800" cy="1104565"/>
          </a:xfrm>
          <a:prstGeom prst="roundRect">
            <a:avLst>
              <a:gd name="adj" fmla="val 1986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1" name="line 150"/>
          <p:cNvCxnSpPr/>
          <p:nvPr/>
        </p:nvCxnSpPr>
        <p:spPr>
          <a:xfrm>
            <a:off x="299915" y="7197960"/>
            <a:ext cx="12567170" cy="0"/>
          </a:xfrm>
          <a:prstGeom prst="line">
            <a:avLst/>
          </a:prstGeom>
          <a:ln w="21945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(b) 原生 SGLang"/>
          <p:cNvSpPr txBox="1"/>
          <p:nvPr/>
        </p:nvSpPr>
        <p:spPr>
          <a:xfrm>
            <a:off x="453530" y="7245508"/>
            <a:ext cx="1644818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(b) 原生 SGLang</a:t>
            </a:r>
          </a:p>
        </p:txBody>
      </p:sp>
      <p:sp>
        <p:nvSpPr>
          <p:cNvPr id="153" name="rect 152"/>
          <p:cNvSpPr/>
          <p:nvPr/>
        </p:nvSpPr>
        <p:spPr>
          <a:xfrm>
            <a:off x="468160" y="7680750"/>
            <a:ext cx="2194500" cy="42427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UnifiedRadixCache"/>
          <p:cNvSpPr txBox="1"/>
          <p:nvPr/>
        </p:nvSpPr>
        <p:spPr>
          <a:xfrm>
            <a:off x="632290" y="7736271"/>
            <a:ext cx="1866239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UnifiedRadixCache</a:t>
            </a:r>
          </a:p>
        </p:txBody>
      </p:sp>
      <p:sp>
        <p:nvSpPr>
          <p:cNvPr id="155" name="rect 154"/>
          <p:cNvSpPr/>
          <p:nvPr/>
        </p:nvSpPr>
        <p:spPr>
          <a:xfrm>
            <a:off x="3138135" y="7680750"/>
            <a:ext cx="1843380" cy="42427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HiCache / DMA"/>
          <p:cNvSpPr txBox="1"/>
          <p:nvPr/>
        </p:nvSpPr>
        <p:spPr>
          <a:xfrm>
            <a:off x="3340269" y="7736271"/>
            <a:ext cx="1439112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HiCache / DMA</a:t>
            </a:r>
          </a:p>
        </p:txBody>
      </p:sp>
      <p:sp>
        <p:nvSpPr>
          <p:cNvPr id="157" name="rect 156"/>
          <p:cNvSpPr/>
          <p:nvPr/>
        </p:nvSpPr>
        <p:spPr>
          <a:xfrm>
            <a:off x="5456990" y="7680750"/>
            <a:ext cx="2187185" cy="42427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ULL / Mamba"/>
          <p:cNvSpPr txBox="1"/>
          <p:nvPr/>
        </p:nvSpPr>
        <p:spPr>
          <a:xfrm>
            <a:off x="5844914" y="7736271"/>
            <a:ext cx="1411338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FULL / Mamba</a:t>
            </a:r>
          </a:p>
        </p:txBody>
      </p:sp>
      <p:sp>
        <p:nvSpPr>
          <p:cNvPr id="159" name="rect 158"/>
          <p:cNvSpPr/>
          <p:nvPr/>
        </p:nvSpPr>
        <p:spPr>
          <a:xfrm>
            <a:off x="8119650" y="7680750"/>
            <a:ext cx="2011625" cy="42427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PrefillAdder"/>
          <p:cNvSpPr txBox="1"/>
          <p:nvPr/>
        </p:nvSpPr>
        <p:spPr>
          <a:xfrm>
            <a:off x="8518789" y="7736271"/>
            <a:ext cx="1213347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PrefillAdder</a:t>
            </a:r>
          </a:p>
        </p:txBody>
      </p:sp>
      <p:sp>
        <p:nvSpPr>
          <p:cNvPr id="161" name="rect 160"/>
          <p:cNvSpPr/>
          <p:nvPr/>
        </p:nvSpPr>
        <p:spPr>
          <a:xfrm>
            <a:off x="10606750" y="7680750"/>
            <a:ext cx="2084775" cy="42427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PU batch"/>
          <p:cNvSpPr txBox="1"/>
          <p:nvPr/>
        </p:nvSpPr>
        <p:spPr>
          <a:xfrm>
            <a:off x="11117386" y="7736271"/>
            <a:ext cx="1063504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GPU batch</a:t>
            </a:r>
          </a:p>
        </p:txBody>
      </p:sp>
      <p:cxnSp>
        <p:nvCxnSpPr>
          <p:cNvPr id="163" name="path 162"/>
          <p:cNvCxnSpPr/>
          <p:nvPr/>
        </p:nvCxnSpPr>
        <p:spPr>
          <a:xfrm>
            <a:off x="2669975" y="7892885"/>
            <a:ext cx="460845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path 163"/>
          <p:cNvCxnSpPr/>
          <p:nvPr/>
        </p:nvCxnSpPr>
        <p:spPr>
          <a:xfrm>
            <a:off x="4988830" y="7892885"/>
            <a:ext cx="460845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path 164"/>
          <p:cNvCxnSpPr/>
          <p:nvPr/>
        </p:nvCxnSpPr>
        <p:spPr>
          <a:xfrm>
            <a:off x="7651490" y="7892885"/>
            <a:ext cx="460845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path 165"/>
          <p:cNvCxnSpPr/>
          <p:nvPr/>
        </p:nvCxnSpPr>
        <p:spPr>
          <a:xfrm>
            <a:off x="10138590" y="7892885"/>
            <a:ext cx="460845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path 166"/>
          <p:cNvCxnSpPr/>
          <p:nvPr/>
        </p:nvCxnSpPr>
        <p:spPr>
          <a:xfrm>
            <a:off x="6583500" y="6707855"/>
            <a:ext cx="0" cy="475475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path 167"/>
          <p:cNvCxnSpPr/>
          <p:nvPr/>
        </p:nvCxnSpPr>
        <p:spPr>
          <a:xfrm>
            <a:off x="10913980" y="6707855"/>
            <a:ext cx="0" cy="475475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path 168"/>
          <p:cNvSpPr/>
          <p:nvPr/>
        </p:nvSpPr>
        <p:spPr>
          <a:xfrm>
            <a:off x="146300" y="5164390"/>
            <a:ext cx="11499180" cy="3299065"/>
          </a:xfrm>
          <a:custGeom>
            <a:avLst/>
            <a:gdLst/>
            <a:ahLst/>
            <a:cxnLst/>
            <a:rect l="l" t="t" r="r" b="b"/>
            <a:pathLst>
              <a:path w="1572" h="451">
                <a:moveTo>
                  <a:pt x="1572" y="428"/>
                </a:moveTo>
                <a:lnTo>
                  <a:pt x="1572" y="451"/>
                </a:lnTo>
                <a:lnTo>
                  <a:pt x="0" y="451"/>
                </a:lnTo>
                <a:lnTo>
                  <a:pt x="0" y="0"/>
                </a:lnTo>
                <a:lnTo>
                  <a:pt x="19" y="0"/>
                </a:lnTo>
              </a:path>
            </a:pathLst>
          </a:custGeom>
          <a:noFill/>
          <a:ln w="17556">
            <a:solidFill>
              <a:srgbClr val="3D6F9F"/>
            </a:solidFill>
            <a:prstDash val="dash"/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ACK / 服务进度 / 首次复用"/>
          <p:cNvSpPr txBox="1"/>
          <p:nvPr/>
        </p:nvSpPr>
        <p:spPr>
          <a:xfrm>
            <a:off x="4535300" y="8485400"/>
            <a:ext cx="2117378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ACK / 服务进度 / 首次复用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事件与内容驱动的执行需求预测"/>
          <p:cNvSpPr txBox="1"/>
          <p:nvPr/>
        </p:nvSpPr>
        <p:spPr>
          <a:xfrm>
            <a:off x="292600" y="65835"/>
            <a:ext cx="3774540" cy="41329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73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事件与内容驱动的执行需求预测</a:t>
            </a:r>
          </a:p>
        </p:txBody>
      </p:sp>
      <p:sp>
        <p:nvSpPr>
          <p:cNvPr id="3" name="正文 + 事件 + 进度 → 阶段 / 剩余工作 → JOIN 或工具返回"/>
          <p:cNvSpPr txBox="1"/>
          <p:nvPr/>
        </p:nvSpPr>
        <p:spPr>
          <a:xfrm>
            <a:off x="292600" y="431585"/>
            <a:ext cx="4707145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正文 + 事件 + 进度 → 阶段 / 剩余工作 → JOIN 或工具返回</a:t>
            </a:r>
          </a:p>
        </p:txBody>
      </p:sp>
      <p:cxnSp>
        <p:nvCxnSpPr>
          <p:cNvPr id="4" name="line 3"/>
          <p:cNvCxnSpPr/>
          <p:nvPr/>
        </p:nvCxnSpPr>
        <p:spPr>
          <a:xfrm>
            <a:off x="292600" y="768075"/>
            <a:ext cx="12581800" cy="0"/>
          </a:xfrm>
          <a:prstGeom prst="line">
            <a:avLst/>
          </a:prstGeom>
          <a:ln w="9509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 4"/>
          <p:cNvSpPr/>
          <p:nvPr/>
        </p:nvSpPr>
        <p:spPr>
          <a:xfrm>
            <a:off x="292600" y="965580"/>
            <a:ext cx="8339100" cy="2999150"/>
          </a:xfrm>
          <a:prstGeom prst="roundRect">
            <a:avLst>
              <a:gd name="adj" fmla="val 731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line 5"/>
          <p:cNvCxnSpPr/>
          <p:nvPr/>
        </p:nvCxnSpPr>
        <p:spPr>
          <a:xfrm>
            <a:off x="299915" y="972895"/>
            <a:ext cx="8324470" cy="0"/>
          </a:xfrm>
          <a:prstGeom prst="line">
            <a:avLst/>
          </a:prstGeom>
          <a:ln w="21945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(a) 异步 Child 模型"/>
          <p:cNvSpPr txBox="1"/>
          <p:nvPr/>
        </p:nvSpPr>
        <p:spPr>
          <a:xfrm>
            <a:off x="453530" y="1020442"/>
            <a:ext cx="1846580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(a) 异步 Child 模型</a:t>
            </a:r>
          </a:p>
        </p:txBody>
      </p:sp>
      <p:sp>
        <p:nvSpPr>
          <p:cNvPr id="8" name="text[−k:]"/>
          <p:cNvSpPr txBox="1"/>
          <p:nvPr/>
        </p:nvSpPr>
        <p:spPr>
          <a:xfrm>
            <a:off x="482790" y="1291098"/>
            <a:ext cx="917518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text[−k:]</a:t>
            </a:r>
          </a:p>
        </p:txBody>
      </p:sp>
      <p:sp>
        <p:nvSpPr>
          <p:cNvPr id="9" name="rect 8"/>
          <p:cNvSpPr/>
          <p:nvPr/>
        </p:nvSpPr>
        <p:spPr>
          <a:xfrm>
            <a:off x="482790" y="1689765"/>
            <a:ext cx="1192345" cy="709555"/>
          </a:xfrm>
          <a:prstGeom prst="roundRect">
            <a:avLst>
              <a:gd name="adj" fmla="val 2061"/>
            </a:avLst>
          </a:prstGeom>
          <a:solidFill>
            <a:srgbClr val="FFFFFF"/>
          </a:solidFill>
          <a:ln w="12435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line 9"/>
          <p:cNvCxnSpPr/>
          <p:nvPr/>
        </p:nvCxnSpPr>
        <p:spPr>
          <a:xfrm>
            <a:off x="577885" y="1843380"/>
            <a:ext cx="958265" cy="0"/>
          </a:xfrm>
          <a:prstGeom prst="line">
            <a:avLst/>
          </a:prstGeom>
          <a:ln w="14630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line 10"/>
          <p:cNvCxnSpPr/>
          <p:nvPr/>
        </p:nvCxnSpPr>
        <p:spPr>
          <a:xfrm>
            <a:off x="577885" y="1967735"/>
            <a:ext cx="833910" cy="0"/>
          </a:xfrm>
          <a:prstGeom prst="line">
            <a:avLst/>
          </a:prstGeom>
          <a:ln w="14630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line 11"/>
          <p:cNvCxnSpPr/>
          <p:nvPr/>
        </p:nvCxnSpPr>
        <p:spPr>
          <a:xfrm>
            <a:off x="577885" y="2092090"/>
            <a:ext cx="1009470" cy="0"/>
          </a:xfrm>
          <a:prstGeom prst="line">
            <a:avLst/>
          </a:prstGeom>
          <a:ln w="14630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line 12"/>
          <p:cNvCxnSpPr/>
          <p:nvPr/>
        </p:nvCxnSpPr>
        <p:spPr>
          <a:xfrm>
            <a:off x="577885" y="2216445"/>
            <a:ext cx="651035" cy="0"/>
          </a:xfrm>
          <a:prstGeom prst="line">
            <a:avLst/>
          </a:prstGeom>
          <a:ln w="14630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ath 13"/>
          <p:cNvCxnSpPr/>
          <p:nvPr/>
        </p:nvCxnSpPr>
        <p:spPr>
          <a:xfrm>
            <a:off x="1682450" y="2033570"/>
            <a:ext cx="365750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 14"/>
          <p:cNvSpPr/>
          <p:nvPr/>
        </p:nvSpPr>
        <p:spPr>
          <a:xfrm>
            <a:off x="2062830" y="1784860"/>
            <a:ext cx="1689765" cy="490105"/>
          </a:xfrm>
          <a:prstGeom prst="roundRect">
            <a:avLst>
              <a:gd name="adj" fmla="val 2985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文本编码器"/>
          <p:cNvSpPr txBox="1"/>
          <p:nvPr/>
        </p:nvSpPr>
        <p:spPr>
          <a:xfrm>
            <a:off x="2370060" y="1866642"/>
            <a:ext cx="1075305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文本编码器</a:t>
            </a:r>
          </a:p>
        </p:txBody>
      </p:sp>
      <p:sp>
        <p:nvSpPr>
          <p:cNvPr id="17" name="path 16"/>
          <p:cNvSpPr/>
          <p:nvPr/>
        </p:nvSpPr>
        <p:spPr>
          <a:xfrm>
            <a:off x="3452680" y="1433740"/>
            <a:ext cx="87780" cy="65835"/>
          </a:xfrm>
          <a:custGeom>
            <a:avLst/>
            <a:gdLst/>
            <a:ahLst/>
            <a:cxnLst/>
            <a:rect l="l" t="t" r="r" b="b"/>
            <a:pathLst>
              <a:path w="12" h="9">
                <a:moveTo>
                  <a:pt x="0" y="9"/>
                </a:moveTo>
                <a:lnTo>
                  <a:pt x="0" y="0"/>
                </a:lnTo>
                <a:lnTo>
                  <a:pt x="12" y="0"/>
                </a:lnTo>
                <a:lnTo>
                  <a:pt x="12" y="9"/>
                </a:lnTo>
              </a:path>
            </a:pathLst>
          </a:custGeom>
          <a:noFill/>
          <a:ln w="14630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 17"/>
          <p:cNvSpPr/>
          <p:nvPr/>
        </p:nvSpPr>
        <p:spPr>
          <a:xfrm>
            <a:off x="3423420" y="1499941"/>
            <a:ext cx="149226" cy="12435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316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ircle 18"/>
          <p:cNvSpPr/>
          <p:nvPr/>
        </p:nvSpPr>
        <p:spPr>
          <a:xfrm>
            <a:off x="3485598" y="1537247"/>
            <a:ext cx="24871" cy="24871"/>
          </a:xfrm>
          <a:prstGeom prst="ellipse">
            <a:avLst/>
          </a:prstGeom>
          <a:solidFill>
            <a:srgbClr val="3D6F9F"/>
          </a:solidFill>
          <a:ln w="7315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path 19"/>
          <p:cNvCxnSpPr/>
          <p:nvPr/>
        </p:nvCxnSpPr>
        <p:spPr>
          <a:xfrm>
            <a:off x="3759910" y="2033570"/>
            <a:ext cx="314545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 20"/>
          <p:cNvSpPr/>
          <p:nvPr/>
        </p:nvSpPr>
        <p:spPr>
          <a:xfrm>
            <a:off x="4125660" y="1923845"/>
            <a:ext cx="73150" cy="314545"/>
          </a:xfrm>
          <a:prstGeom prst="rect">
            <a:avLst/>
          </a:prstGeom>
          <a:solidFill>
            <a:srgbClr val="FBF2E3"/>
          </a:solidFill>
          <a:ln w="10241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 21"/>
          <p:cNvSpPr/>
          <p:nvPr/>
        </p:nvSpPr>
        <p:spPr>
          <a:xfrm>
            <a:off x="4235385" y="1748285"/>
            <a:ext cx="73150" cy="490105"/>
          </a:xfrm>
          <a:prstGeom prst="rect">
            <a:avLst/>
          </a:prstGeom>
          <a:solidFill>
            <a:srgbClr val="FBF2E3"/>
          </a:solidFill>
          <a:ln w="10241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 22"/>
          <p:cNvSpPr/>
          <p:nvPr/>
        </p:nvSpPr>
        <p:spPr>
          <a:xfrm>
            <a:off x="4345110" y="2004310"/>
            <a:ext cx="73150" cy="234080"/>
          </a:xfrm>
          <a:prstGeom prst="rect">
            <a:avLst/>
          </a:prstGeom>
          <a:solidFill>
            <a:srgbClr val="FBF2E3"/>
          </a:solidFill>
          <a:ln w="10241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 23"/>
          <p:cNvSpPr/>
          <p:nvPr/>
        </p:nvSpPr>
        <p:spPr>
          <a:xfrm>
            <a:off x="4454835" y="1850695"/>
            <a:ext cx="73150" cy="387695"/>
          </a:xfrm>
          <a:prstGeom prst="rect">
            <a:avLst/>
          </a:prstGeom>
          <a:solidFill>
            <a:srgbClr val="FBF2E3"/>
          </a:solidFill>
          <a:ln w="10241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 24"/>
          <p:cNvSpPr/>
          <p:nvPr/>
        </p:nvSpPr>
        <p:spPr>
          <a:xfrm>
            <a:off x="4564560" y="1697080"/>
            <a:ext cx="73150" cy="541310"/>
          </a:xfrm>
          <a:prstGeom prst="rect">
            <a:avLst/>
          </a:prstGeom>
          <a:solidFill>
            <a:srgbClr val="FBF2E3"/>
          </a:solidFill>
          <a:ln w="10241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z(t)"/>
          <p:cNvSpPr txBox="1"/>
          <p:nvPr/>
        </p:nvSpPr>
        <p:spPr>
          <a:xfrm>
            <a:off x="4201539" y="2307882"/>
            <a:ext cx="389552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z(t)</a:t>
            </a:r>
          </a:p>
        </p:txBody>
      </p:sp>
      <p:sp>
        <p:nvSpPr>
          <p:cNvPr id="27" name="rect 26"/>
          <p:cNvSpPr/>
          <p:nvPr/>
        </p:nvSpPr>
        <p:spPr>
          <a:xfrm>
            <a:off x="482790" y="2926000"/>
            <a:ext cx="1404480" cy="409640"/>
          </a:xfrm>
          <a:prstGeom prst="roundRect">
            <a:avLst>
              <a:gd name="adj" fmla="val 3571"/>
            </a:avLst>
          </a:prstGeom>
          <a:solidFill>
            <a:srgbClr val="FBF2E3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收尾通知"/>
          <p:cNvSpPr txBox="1"/>
          <p:nvPr/>
        </p:nvSpPr>
        <p:spPr>
          <a:xfrm>
            <a:off x="746130" y="2967549"/>
            <a:ext cx="877800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收尾通知</a:t>
            </a:r>
          </a:p>
        </p:txBody>
      </p:sp>
      <p:sp>
        <p:nvSpPr>
          <p:cNvPr id="29" name="rect 28"/>
          <p:cNvSpPr/>
          <p:nvPr/>
        </p:nvSpPr>
        <p:spPr>
          <a:xfrm>
            <a:off x="2143295" y="2926000"/>
            <a:ext cx="1653190" cy="4096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(t), structure"/>
          <p:cNvSpPr txBox="1"/>
          <p:nvPr/>
        </p:nvSpPr>
        <p:spPr>
          <a:xfrm>
            <a:off x="2283952" y="2980862"/>
            <a:ext cx="1371877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N(t), structure</a:t>
            </a:r>
          </a:p>
        </p:txBody>
      </p:sp>
      <p:sp>
        <p:nvSpPr>
          <p:cNvPr id="31" name="circle 30"/>
          <p:cNvSpPr/>
          <p:nvPr/>
        </p:nvSpPr>
        <p:spPr>
          <a:xfrm>
            <a:off x="4798640" y="2040885"/>
            <a:ext cx="351120" cy="35112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2637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+"/>
          <p:cNvSpPr txBox="1"/>
          <p:nvPr/>
        </p:nvSpPr>
        <p:spPr>
          <a:xfrm>
            <a:off x="4861260" y="2017111"/>
            <a:ext cx="225879" cy="369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33" name="path 32"/>
          <p:cNvSpPr/>
          <p:nvPr/>
        </p:nvSpPr>
        <p:spPr>
          <a:xfrm>
            <a:off x="4681600" y="2033570"/>
            <a:ext cx="182875" cy="51205"/>
          </a:xfrm>
          <a:custGeom>
            <a:avLst/>
            <a:gdLst/>
            <a:ahLst/>
            <a:cxnLst/>
            <a:rect l="l" t="t" r="r" b="b"/>
            <a:pathLst>
              <a:path w="25" h="7">
                <a:moveTo>
                  <a:pt x="0" y="0"/>
                </a:moveTo>
                <a:lnTo>
                  <a:pt x="14" y="0"/>
                </a:lnTo>
                <a:lnTo>
                  <a:pt x="25" y="7"/>
                </a:lnTo>
              </a:path>
            </a:pathLst>
          </a:custGeom>
          <a:noFill/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path 33"/>
          <p:cNvCxnSpPr/>
          <p:nvPr/>
        </p:nvCxnSpPr>
        <p:spPr>
          <a:xfrm>
            <a:off x="1901900" y="3130820"/>
            <a:ext cx="146300" cy="0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path 34"/>
          <p:cNvSpPr/>
          <p:nvPr/>
        </p:nvSpPr>
        <p:spPr>
          <a:xfrm>
            <a:off x="3803800" y="2413950"/>
            <a:ext cx="1170400" cy="716870"/>
          </a:xfrm>
          <a:custGeom>
            <a:avLst/>
            <a:gdLst/>
            <a:ahLst/>
            <a:cxnLst/>
            <a:rect l="l" t="t" r="r" b="b"/>
            <a:pathLst>
              <a:path w="160" h="98">
                <a:moveTo>
                  <a:pt x="0" y="98"/>
                </a:moveTo>
                <a:lnTo>
                  <a:pt x="160" y="98"/>
                </a:lnTo>
                <a:lnTo>
                  <a:pt x="160" y="0"/>
                </a:lnTo>
              </a:path>
            </a:pathLst>
          </a:custGeom>
          <a:noFill/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ath 35"/>
          <p:cNvSpPr/>
          <p:nvPr/>
        </p:nvSpPr>
        <p:spPr>
          <a:xfrm>
            <a:off x="5171705" y="1762915"/>
            <a:ext cx="292600" cy="453530"/>
          </a:xfrm>
          <a:custGeom>
            <a:avLst/>
            <a:gdLst/>
            <a:ahLst/>
            <a:cxnLst/>
            <a:rect l="l" t="t" r="r" b="b"/>
            <a:pathLst>
              <a:path w="40" h="62">
                <a:moveTo>
                  <a:pt x="0" y="62"/>
                </a:moveTo>
                <a:lnTo>
                  <a:pt x="18" y="62"/>
                </a:lnTo>
                <a:lnTo>
                  <a:pt x="18" y="0"/>
                </a:lnTo>
                <a:lnTo>
                  <a:pt x="40" y="0"/>
                </a:lnTo>
              </a:path>
            </a:pathLst>
          </a:custGeom>
          <a:noFill/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path 36"/>
          <p:cNvSpPr/>
          <p:nvPr/>
        </p:nvSpPr>
        <p:spPr>
          <a:xfrm>
            <a:off x="5303375" y="2216445"/>
            <a:ext cx="160930" cy="665665"/>
          </a:xfrm>
          <a:custGeom>
            <a:avLst/>
            <a:gdLst/>
            <a:ahLst/>
            <a:cxnLst/>
            <a:rect l="l" t="t" r="r" b="b"/>
            <a:pathLst>
              <a:path w="22" h="91">
                <a:moveTo>
                  <a:pt x="0" y="0"/>
                </a:moveTo>
                <a:lnTo>
                  <a:pt x="0" y="91"/>
                </a:lnTo>
                <a:lnTo>
                  <a:pt x="22" y="91"/>
                </a:lnTo>
              </a:path>
            </a:pathLst>
          </a:custGeom>
          <a:noFill/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 37"/>
          <p:cNvSpPr/>
          <p:nvPr/>
        </p:nvSpPr>
        <p:spPr>
          <a:xfrm>
            <a:off x="5478935" y="1550780"/>
            <a:ext cx="1397165" cy="431585"/>
          </a:xfrm>
          <a:prstGeom prst="roundRect">
            <a:avLst>
              <a:gd name="adj" fmla="val 3389"/>
            </a:avLst>
          </a:prstGeom>
          <a:solidFill>
            <a:srgbClr val="FBF2E3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阶段头"/>
          <p:cNvSpPr txBox="1"/>
          <p:nvPr/>
        </p:nvSpPr>
        <p:spPr>
          <a:xfrm>
            <a:off x="5815425" y="1591817"/>
            <a:ext cx="724185" cy="3383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阶段头</a:t>
            </a:r>
          </a:p>
        </p:txBody>
      </p:sp>
      <p:sp>
        <p:nvSpPr>
          <p:cNvPr id="40" name="rect 39"/>
          <p:cNvSpPr/>
          <p:nvPr/>
        </p:nvSpPr>
        <p:spPr>
          <a:xfrm>
            <a:off x="5478935" y="2669975"/>
            <a:ext cx="1397165" cy="431585"/>
          </a:xfrm>
          <a:prstGeom prst="roundRect">
            <a:avLst>
              <a:gd name="adj" fmla="val 3389"/>
            </a:avLst>
          </a:prstGeom>
          <a:solidFill>
            <a:srgbClr val="FBF2E3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工作量头"/>
          <p:cNvSpPr txBox="1"/>
          <p:nvPr/>
        </p:nvSpPr>
        <p:spPr>
          <a:xfrm>
            <a:off x="5709358" y="2711012"/>
            <a:ext cx="936320" cy="3383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工作量头</a:t>
            </a:r>
          </a:p>
        </p:txBody>
      </p:sp>
      <p:cxnSp>
        <p:nvCxnSpPr>
          <p:cNvPr id="42" name="path 41"/>
          <p:cNvCxnSpPr/>
          <p:nvPr/>
        </p:nvCxnSpPr>
        <p:spPr>
          <a:xfrm>
            <a:off x="6883415" y="1762915"/>
            <a:ext cx="263340" cy="0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path 42"/>
          <p:cNvCxnSpPr/>
          <p:nvPr/>
        </p:nvCxnSpPr>
        <p:spPr>
          <a:xfrm>
            <a:off x="6883415" y="2882110"/>
            <a:ext cx="263340" cy="0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 43"/>
          <p:cNvSpPr/>
          <p:nvPr/>
        </p:nvSpPr>
        <p:spPr>
          <a:xfrm>
            <a:off x="7271110" y="1982365"/>
            <a:ext cx="234080" cy="160930"/>
          </a:xfrm>
          <a:prstGeom prst="rect">
            <a:avLst/>
          </a:prstGeom>
          <a:solidFill>
            <a:srgbClr val="F2F4F5"/>
          </a:solidFill>
          <a:ln w="10972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W"/>
          <p:cNvSpPr txBox="1"/>
          <p:nvPr/>
        </p:nvSpPr>
        <p:spPr>
          <a:xfrm>
            <a:off x="7283240" y="2185356"/>
            <a:ext cx="209820" cy="2322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0" lang="zh-CN" spc="0">
                <a:solidFill>
                  <a:srgbClr val="89959D"/>
                </a:solidFill>
                <a:latin typeface="Noto Sans CJK SC"/>
                <a:ea typeface="Noto Sans CJK SC"/>
              </a:rPr>
              <a:t>W</a:t>
            </a:r>
          </a:p>
        </p:txBody>
      </p:sp>
      <p:sp>
        <p:nvSpPr>
          <p:cNvPr id="46" name="rect 45"/>
          <p:cNvSpPr/>
          <p:nvPr/>
        </p:nvSpPr>
        <p:spPr>
          <a:xfrm>
            <a:off x="7666120" y="1879955"/>
            <a:ext cx="234080" cy="263340"/>
          </a:xfrm>
          <a:prstGeom prst="rect">
            <a:avLst/>
          </a:prstGeom>
          <a:solidFill>
            <a:srgbClr val="FBF2E3"/>
          </a:solidFill>
          <a:ln w="10972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"/>
          <p:cNvSpPr txBox="1"/>
          <p:nvPr/>
        </p:nvSpPr>
        <p:spPr>
          <a:xfrm>
            <a:off x="7689022" y="2185356"/>
            <a:ext cx="188276" cy="2322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N</a:t>
            </a:r>
          </a:p>
        </p:txBody>
      </p:sp>
      <p:sp>
        <p:nvSpPr>
          <p:cNvPr id="48" name="rect 47"/>
          <p:cNvSpPr/>
          <p:nvPr/>
        </p:nvSpPr>
        <p:spPr>
          <a:xfrm>
            <a:off x="8061130" y="1609300"/>
            <a:ext cx="234080" cy="533995"/>
          </a:xfrm>
          <a:prstGeom prst="rect">
            <a:avLst/>
          </a:pr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"/>
          <p:cNvSpPr txBox="1"/>
          <p:nvPr/>
        </p:nvSpPr>
        <p:spPr>
          <a:xfrm>
            <a:off x="8095919" y="2185356"/>
            <a:ext cx="164502" cy="2322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4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F</a:t>
            </a:r>
          </a:p>
        </p:txBody>
      </p:sp>
      <p:sp>
        <p:nvSpPr>
          <p:cNvPr id="50" name="p(phase)"/>
          <p:cNvSpPr txBox="1"/>
          <p:nvPr/>
        </p:nvSpPr>
        <p:spPr>
          <a:xfrm>
            <a:off x="7363648" y="1214290"/>
            <a:ext cx="839025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p(phase)</a:t>
            </a:r>
          </a:p>
        </p:txBody>
      </p:sp>
      <p:cxnSp>
        <p:nvCxnSpPr>
          <p:cNvPr id="51" name="line 50"/>
          <p:cNvCxnSpPr/>
          <p:nvPr/>
        </p:nvCxnSpPr>
        <p:spPr>
          <a:xfrm>
            <a:off x="7241850" y="2882110"/>
            <a:ext cx="1119195" cy="0"/>
          </a:xfrm>
          <a:prstGeom prst="line">
            <a:avLst/>
          </a:prstGeom>
          <a:ln w="18288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line 51"/>
          <p:cNvCxnSpPr/>
          <p:nvPr/>
        </p:nvCxnSpPr>
        <p:spPr>
          <a:xfrm>
            <a:off x="7241850" y="2816275"/>
            <a:ext cx="0" cy="131670"/>
          </a:xfrm>
          <a:prstGeom prst="line">
            <a:avLst/>
          </a:prstGeom>
          <a:ln w="14630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line 52"/>
          <p:cNvCxnSpPr/>
          <p:nvPr/>
        </p:nvCxnSpPr>
        <p:spPr>
          <a:xfrm>
            <a:off x="8361045" y="2816275"/>
            <a:ext cx="0" cy="131670"/>
          </a:xfrm>
          <a:prstGeom prst="line">
            <a:avLst/>
          </a:prstGeom>
          <a:ln w="14630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le 53"/>
          <p:cNvSpPr/>
          <p:nvPr/>
        </p:nvSpPr>
        <p:spPr>
          <a:xfrm>
            <a:off x="7746585" y="2845535"/>
            <a:ext cx="73150" cy="73150"/>
          </a:xfrm>
          <a:prstGeom prst="ellipse">
            <a:avLst/>
          </a:prstGeom>
          <a:solidFill>
            <a:srgbClr val="357B73"/>
          </a:solidFill>
          <a:ln w="7315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[Wlo, Wc, Whi]"/>
          <p:cNvSpPr txBox="1"/>
          <p:nvPr/>
        </p:nvSpPr>
        <p:spPr>
          <a:xfrm>
            <a:off x="7175901" y="2977205"/>
            <a:ext cx="1243779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[Wlo, Wc, Whi]</a:t>
            </a:r>
          </a:p>
        </p:txBody>
      </p:sp>
      <p:sp>
        <p:nvSpPr>
          <p:cNvPr id="56" name="request / context / epoch"/>
          <p:cNvSpPr txBox="1"/>
          <p:nvPr/>
        </p:nvSpPr>
        <p:spPr>
          <a:xfrm>
            <a:off x="482790" y="3489255"/>
            <a:ext cx="2203729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request / context / epoch</a:t>
            </a:r>
          </a:p>
        </p:txBody>
      </p:sp>
      <p:sp>
        <p:nvSpPr>
          <p:cNvPr id="57" name="path 56"/>
          <p:cNvSpPr/>
          <p:nvPr/>
        </p:nvSpPr>
        <p:spPr>
          <a:xfrm>
            <a:off x="3657500" y="3262490"/>
            <a:ext cx="1097250" cy="314545"/>
          </a:xfrm>
          <a:custGeom>
            <a:avLst/>
            <a:gdLst/>
            <a:ahLst/>
            <a:cxnLst/>
            <a:rect l="l" t="t" r="r" b="b"/>
            <a:pathLst>
              <a:path w="150" h="43">
                <a:moveTo>
                  <a:pt x="0" y="43"/>
                </a:moveTo>
                <a:lnTo>
                  <a:pt x="150" y="43"/>
                </a:lnTo>
                <a:lnTo>
                  <a:pt x="150" y="0"/>
                </a:lnTo>
                <a:lnTo>
                  <a:pt x="20" y="0"/>
                </a:lnTo>
              </a:path>
            </a:pathLst>
          </a:custGeom>
          <a:noFill/>
          <a:ln w="17556">
            <a:solidFill>
              <a:srgbClr val="A96F1F"/>
            </a:solidFill>
            <a:prstDash val="dash"/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 → t + Δt"/>
          <p:cNvSpPr txBox="1"/>
          <p:nvPr/>
        </p:nvSpPr>
        <p:spPr>
          <a:xfrm>
            <a:off x="5610605" y="3489255"/>
            <a:ext cx="862856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t → t + Δt</a:t>
            </a:r>
          </a:p>
        </p:txBody>
      </p:sp>
      <p:sp>
        <p:nvSpPr>
          <p:cNvPr id="59" name="rect 58"/>
          <p:cNvSpPr/>
          <p:nvPr/>
        </p:nvSpPr>
        <p:spPr>
          <a:xfrm>
            <a:off x="8960875" y="965580"/>
            <a:ext cx="3913525" cy="2999150"/>
          </a:xfrm>
          <a:prstGeom prst="roundRect">
            <a:avLst>
              <a:gd name="adj" fmla="val 731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line 59"/>
          <p:cNvCxnSpPr/>
          <p:nvPr/>
        </p:nvCxnSpPr>
        <p:spPr>
          <a:xfrm>
            <a:off x="8968190" y="972895"/>
            <a:ext cx="3898895" cy="0"/>
          </a:xfrm>
          <a:prstGeom prst="line">
            <a:avLst/>
          </a:prstGeom>
          <a:ln w="21945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(b) JOIN 投影"/>
          <p:cNvSpPr txBox="1"/>
          <p:nvPr/>
        </p:nvSpPr>
        <p:spPr>
          <a:xfrm>
            <a:off x="9121805" y="1020442"/>
            <a:ext cx="1372191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(b) JOIN 投影</a:t>
            </a:r>
          </a:p>
        </p:txBody>
      </p:sp>
      <p:sp>
        <p:nvSpPr>
          <p:cNvPr id="62" name="circle 61"/>
          <p:cNvSpPr/>
          <p:nvPr/>
        </p:nvSpPr>
        <p:spPr>
          <a:xfrm>
            <a:off x="9238845" y="1945790"/>
            <a:ext cx="395010" cy="395010"/>
          </a:xfrm>
          <a:prstGeom prst="ellipse">
            <a:avLst/>
          </a:prstGeom>
          <a:solidFill>
            <a:srgbClr val="EDF3F8"/>
          </a:solidFill>
          <a:ln w="10241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"/>
          <p:cNvSpPr txBox="1"/>
          <p:nvPr/>
        </p:nvSpPr>
        <p:spPr>
          <a:xfrm>
            <a:off x="9331468" y="1995166"/>
            <a:ext cx="209763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</a:t>
            </a:r>
          </a:p>
        </p:txBody>
      </p:sp>
      <p:sp>
        <p:nvSpPr>
          <p:cNvPr id="64" name="circle 63"/>
          <p:cNvSpPr/>
          <p:nvPr/>
        </p:nvSpPr>
        <p:spPr>
          <a:xfrm>
            <a:off x="10284890" y="1521520"/>
            <a:ext cx="395010" cy="395010"/>
          </a:xfrm>
          <a:prstGeom prst="ellipse">
            <a:avLst/>
          </a:prstGeom>
          <a:solidFill>
            <a:srgbClr val="EAF3F1"/>
          </a:solidFill>
          <a:ln w="10241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1"/>
          <p:cNvSpPr txBox="1"/>
          <p:nvPr/>
        </p:nvSpPr>
        <p:spPr>
          <a:xfrm>
            <a:off x="10329137" y="1575651"/>
            <a:ext cx="306516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C1</a:t>
            </a:r>
          </a:p>
        </p:txBody>
      </p:sp>
      <p:sp>
        <p:nvSpPr>
          <p:cNvPr id="66" name="circle 65"/>
          <p:cNvSpPr/>
          <p:nvPr/>
        </p:nvSpPr>
        <p:spPr>
          <a:xfrm>
            <a:off x="10284890" y="2399320"/>
            <a:ext cx="395010" cy="395010"/>
          </a:xfrm>
          <a:prstGeom prst="ellipse">
            <a:avLst/>
          </a:prstGeom>
          <a:solidFill>
            <a:srgbClr val="FBF2E3"/>
          </a:solidFill>
          <a:ln w="10241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2"/>
          <p:cNvSpPr txBox="1"/>
          <p:nvPr/>
        </p:nvSpPr>
        <p:spPr>
          <a:xfrm>
            <a:off x="10329137" y="2453451"/>
            <a:ext cx="306516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C2</a:t>
            </a:r>
          </a:p>
        </p:txBody>
      </p:sp>
      <p:sp>
        <p:nvSpPr>
          <p:cNvPr id="68" name="path 67"/>
          <p:cNvSpPr/>
          <p:nvPr/>
        </p:nvSpPr>
        <p:spPr>
          <a:xfrm>
            <a:off x="10767680" y="1543465"/>
            <a:ext cx="146300" cy="1463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0" y="10"/>
                </a:moveTo>
                <a:lnTo>
                  <a:pt x="7" y="20"/>
                </a:lnTo>
                <a:lnTo>
                  <a:pt x="20" y="0"/>
                </a:lnTo>
              </a:path>
            </a:pathLst>
          </a:custGeom>
          <a:noFill/>
          <a:ln w="2048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polygon 68"/>
          <p:cNvSpPr/>
          <p:nvPr/>
        </p:nvSpPr>
        <p:spPr>
          <a:xfrm>
            <a:off x="11345565" y="1858010"/>
            <a:ext cx="833910" cy="570570"/>
          </a:xfrm>
          <a:custGeom>
            <a:avLst/>
            <a:gdLst/>
            <a:ahLst/>
            <a:cxnLst/>
            <a:rect l="l" t="t" r="r" b="b"/>
            <a:pathLst>
              <a:path w="114" h="78">
                <a:moveTo>
                  <a:pt x="57" y="0"/>
                </a:moveTo>
                <a:lnTo>
                  <a:pt x="114" y="39"/>
                </a:lnTo>
                <a:lnTo>
                  <a:pt x="57" y="78"/>
                </a:lnTo>
                <a:lnTo>
                  <a:pt x="0" y="39"/>
                </a:lnTo>
                <a:close/>
              </a:path>
            </a:pathLst>
          </a:cu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ALL"/>
          <p:cNvSpPr txBox="1"/>
          <p:nvPr/>
        </p:nvSpPr>
        <p:spPr>
          <a:xfrm>
            <a:off x="11554328" y="1989680"/>
            <a:ext cx="416384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ALL</a:t>
            </a:r>
          </a:p>
        </p:txBody>
      </p:sp>
      <p:sp>
        <p:nvSpPr>
          <p:cNvPr id="71" name="circle 70"/>
          <p:cNvSpPr/>
          <p:nvPr/>
        </p:nvSpPr>
        <p:spPr>
          <a:xfrm>
            <a:off x="12303830" y="1960420"/>
            <a:ext cx="365750" cy="365750"/>
          </a:xfrm>
          <a:prstGeom prst="ellipse">
            <a:avLst/>
          </a:prstGeom>
          <a:solidFill>
            <a:srgbClr val="EDF3F8"/>
          </a:solidFill>
          <a:ln w="10241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P"/>
          <p:cNvSpPr txBox="1"/>
          <p:nvPr/>
        </p:nvSpPr>
        <p:spPr>
          <a:xfrm>
            <a:off x="12384266" y="1999921"/>
            <a:ext cx="204877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</a:t>
            </a:r>
          </a:p>
        </p:txBody>
      </p:sp>
      <p:cxnSp>
        <p:nvCxnSpPr>
          <p:cNvPr id="73" name="path 72"/>
          <p:cNvCxnSpPr/>
          <p:nvPr/>
        </p:nvCxnSpPr>
        <p:spPr>
          <a:xfrm flipV="1">
            <a:off x="9648485" y="1799490"/>
            <a:ext cx="621775" cy="27065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path 73"/>
          <p:cNvCxnSpPr/>
          <p:nvPr/>
        </p:nvCxnSpPr>
        <p:spPr>
          <a:xfrm>
            <a:off x="9648485" y="2245705"/>
            <a:ext cx="621775" cy="27065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path 74"/>
          <p:cNvSpPr/>
          <p:nvPr/>
        </p:nvSpPr>
        <p:spPr>
          <a:xfrm>
            <a:off x="10701845" y="1719025"/>
            <a:ext cx="687610" cy="314545"/>
          </a:xfrm>
          <a:custGeom>
            <a:avLst/>
            <a:gdLst/>
            <a:ahLst/>
            <a:cxnLst/>
            <a:rect l="l" t="t" r="r" b="b"/>
            <a:pathLst>
              <a:path w="94" h="43">
                <a:moveTo>
                  <a:pt x="0" y="0"/>
                </a:moveTo>
                <a:lnTo>
                  <a:pt x="43" y="0"/>
                </a:lnTo>
                <a:lnTo>
                  <a:pt x="94" y="43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path 75"/>
          <p:cNvSpPr/>
          <p:nvPr/>
        </p:nvSpPr>
        <p:spPr>
          <a:xfrm>
            <a:off x="10701845" y="2245705"/>
            <a:ext cx="687610" cy="351120"/>
          </a:xfrm>
          <a:custGeom>
            <a:avLst/>
            <a:gdLst/>
            <a:ahLst/>
            <a:cxnLst/>
            <a:rect l="l" t="t" r="r" b="b"/>
            <a:pathLst>
              <a:path w="94" h="48">
                <a:moveTo>
                  <a:pt x="0" y="48"/>
                </a:moveTo>
                <a:lnTo>
                  <a:pt x="43" y="48"/>
                </a:lnTo>
                <a:lnTo>
                  <a:pt x="94" y="0"/>
                </a:lnTo>
              </a:path>
            </a:pathLst>
          </a:custGeom>
          <a:noFill/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path 76"/>
          <p:cNvCxnSpPr/>
          <p:nvPr/>
        </p:nvCxnSpPr>
        <p:spPr>
          <a:xfrm>
            <a:off x="12186790" y="2143295"/>
            <a:ext cx="95095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pending = {C2}"/>
          <p:cNvSpPr txBox="1"/>
          <p:nvPr/>
        </p:nvSpPr>
        <p:spPr>
          <a:xfrm>
            <a:off x="9216900" y="2856508"/>
            <a:ext cx="1489660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pending = {C2}</a:t>
            </a:r>
          </a:p>
        </p:txBody>
      </p:sp>
      <p:sp>
        <p:nvSpPr>
          <p:cNvPr id="79" name="rect 78"/>
          <p:cNvSpPr/>
          <p:nvPr/>
        </p:nvSpPr>
        <p:spPr>
          <a:xfrm>
            <a:off x="9151065" y="3189340"/>
            <a:ext cx="3525830" cy="42427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τjoin = max(0, W − ΔN) / v(t)"/>
          <p:cNvSpPr txBox="1"/>
          <p:nvPr/>
        </p:nvSpPr>
        <p:spPr>
          <a:xfrm>
            <a:off x="9586679" y="3244861"/>
            <a:ext cx="2654602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τjoin = max(0, W − ΔN) / v(t)</a:t>
            </a:r>
          </a:p>
        </p:txBody>
      </p:sp>
      <p:sp>
        <p:nvSpPr>
          <p:cNvPr id="81" name="path 80"/>
          <p:cNvSpPr/>
          <p:nvPr/>
        </p:nvSpPr>
        <p:spPr>
          <a:xfrm>
            <a:off x="8631700" y="2882110"/>
            <a:ext cx="512050" cy="519365"/>
          </a:xfrm>
          <a:custGeom>
            <a:avLst/>
            <a:gdLst/>
            <a:ahLst/>
            <a:cxnLst/>
            <a:rect l="l" t="t" r="r" b="b"/>
            <a:pathLst>
              <a:path w="70" h="71">
                <a:moveTo>
                  <a:pt x="0" y="0"/>
                </a:moveTo>
                <a:lnTo>
                  <a:pt x="22" y="0"/>
                </a:lnTo>
                <a:lnTo>
                  <a:pt x="22" y="71"/>
                </a:lnTo>
                <a:lnTo>
                  <a:pt x="70" y="71"/>
                </a:lnTo>
              </a:path>
            </a:pathLst>
          </a:custGeom>
          <a:noFill/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path 81"/>
          <p:cNvSpPr/>
          <p:nvPr/>
        </p:nvSpPr>
        <p:spPr>
          <a:xfrm>
            <a:off x="10482395" y="2801645"/>
            <a:ext cx="1133825" cy="380380"/>
          </a:xfrm>
          <a:custGeom>
            <a:avLst/>
            <a:gdLst/>
            <a:ahLst/>
            <a:cxnLst/>
            <a:rect l="l" t="t" r="r" b="b"/>
            <a:pathLst>
              <a:path w="155" h="52">
                <a:moveTo>
                  <a:pt x="0" y="0"/>
                </a:moveTo>
                <a:lnTo>
                  <a:pt x="0" y="6"/>
                </a:lnTo>
                <a:lnTo>
                  <a:pt x="155" y="6"/>
                </a:lnTo>
                <a:lnTo>
                  <a:pt x="155" y="52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path 82"/>
          <p:cNvSpPr/>
          <p:nvPr/>
        </p:nvSpPr>
        <p:spPr>
          <a:xfrm>
            <a:off x="8873095" y="3964730"/>
            <a:ext cx="4154920" cy="2523675"/>
          </a:xfrm>
          <a:custGeom>
            <a:avLst/>
            <a:gdLst/>
            <a:ahLst/>
            <a:cxnLst/>
            <a:rect l="l" t="t" r="r" b="b"/>
            <a:pathLst>
              <a:path w="568" h="345">
                <a:moveTo>
                  <a:pt x="280" y="0"/>
                </a:moveTo>
                <a:lnTo>
                  <a:pt x="280" y="21"/>
                </a:lnTo>
                <a:lnTo>
                  <a:pt x="568" y="21"/>
                </a:lnTo>
                <a:lnTo>
                  <a:pt x="568" y="273"/>
                </a:lnTo>
                <a:lnTo>
                  <a:pt x="0" y="273"/>
                </a:lnTo>
                <a:lnTo>
                  <a:pt x="0" y="345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 83"/>
          <p:cNvSpPr/>
          <p:nvPr/>
        </p:nvSpPr>
        <p:spPr>
          <a:xfrm>
            <a:off x="292600" y="4330480"/>
            <a:ext cx="12581800" cy="1353275"/>
          </a:xfrm>
          <a:prstGeom prst="roundRect">
            <a:avLst>
              <a:gd name="adj" fmla="val 1621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line 84"/>
          <p:cNvCxnSpPr/>
          <p:nvPr/>
        </p:nvCxnSpPr>
        <p:spPr>
          <a:xfrm>
            <a:off x="299915" y="4337795"/>
            <a:ext cx="12567170" cy="0"/>
          </a:xfrm>
          <a:prstGeom prst="line">
            <a:avLst/>
          </a:prstGeom>
          <a:ln w="21945">
            <a:solidFill>
              <a:srgbClr val="A96F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(c) 条件工具时机"/>
          <p:cNvSpPr txBox="1"/>
          <p:nvPr/>
        </p:nvSpPr>
        <p:spPr>
          <a:xfrm>
            <a:off x="453530" y="4385342"/>
            <a:ext cx="1626016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(c) 条件工具时机</a:t>
            </a:r>
          </a:p>
        </p:txBody>
      </p:sp>
      <p:sp>
        <p:nvSpPr>
          <p:cNvPr id="87" name="circle 86"/>
          <p:cNvSpPr/>
          <p:nvPr/>
        </p:nvSpPr>
        <p:spPr>
          <a:xfrm>
            <a:off x="621775" y="4791325"/>
            <a:ext cx="395010" cy="39501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path 87"/>
          <p:cNvSpPr/>
          <p:nvPr/>
        </p:nvSpPr>
        <p:spPr>
          <a:xfrm>
            <a:off x="819280" y="4805955"/>
            <a:ext cx="131670" cy="270655"/>
          </a:xfrm>
          <a:custGeom>
            <a:avLst/>
            <a:gdLst/>
            <a:ahLst/>
            <a:cxnLst/>
            <a:rect l="l" t="t" r="r" b="b"/>
            <a:pathLst>
              <a:path w="18" h="37">
                <a:moveTo>
                  <a:pt x="0" y="0"/>
                </a:moveTo>
                <a:lnTo>
                  <a:pt x="0" y="25"/>
                </a:lnTo>
                <a:lnTo>
                  <a:pt x="18" y="37"/>
                </a:lnTo>
              </a:path>
            </a:pathLst>
          </a:custGeom>
          <a:noFill/>
          <a:ln w="17556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a(t)"/>
          <p:cNvSpPr txBox="1"/>
          <p:nvPr/>
        </p:nvSpPr>
        <p:spPr>
          <a:xfrm>
            <a:off x="490105" y="5177191"/>
            <a:ext cx="395124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a(t)</a:t>
            </a:r>
          </a:p>
        </p:txBody>
      </p:sp>
      <p:cxnSp>
        <p:nvCxnSpPr>
          <p:cNvPr id="90" name="path 89"/>
          <p:cNvCxnSpPr/>
          <p:nvPr/>
        </p:nvCxnSpPr>
        <p:spPr>
          <a:xfrm>
            <a:off x="1024100" y="4988830"/>
            <a:ext cx="270655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t 90"/>
          <p:cNvSpPr/>
          <p:nvPr/>
        </p:nvSpPr>
        <p:spPr>
          <a:xfrm>
            <a:off x="1309385" y="4776695"/>
            <a:ext cx="1623930" cy="424270"/>
          </a:xfrm>
          <a:prstGeom prst="roundRect">
            <a:avLst>
              <a:gd name="adj" fmla="val 3448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cmd / project"/>
          <p:cNvSpPr txBox="1"/>
          <p:nvPr/>
        </p:nvSpPr>
        <p:spPr>
          <a:xfrm>
            <a:off x="1483759" y="4838872"/>
            <a:ext cx="1275182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cmd / project</a:t>
            </a:r>
          </a:p>
        </p:txBody>
      </p:sp>
      <p:cxnSp>
        <p:nvCxnSpPr>
          <p:cNvPr id="93" name="path 92"/>
          <p:cNvCxnSpPr/>
          <p:nvPr/>
        </p:nvCxnSpPr>
        <p:spPr>
          <a:xfrm>
            <a:off x="2940630" y="4988830"/>
            <a:ext cx="336490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 93"/>
          <p:cNvSpPr/>
          <p:nvPr/>
        </p:nvSpPr>
        <p:spPr>
          <a:xfrm>
            <a:off x="3430735" y="4666970"/>
            <a:ext cx="1243550" cy="416955"/>
          </a:xfrm>
          <a:prstGeom prst="roundRect">
            <a:avLst>
              <a:gd name="adj" fmla="val 3508"/>
            </a:avLst>
          </a:pr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 94"/>
          <p:cNvSpPr/>
          <p:nvPr/>
        </p:nvSpPr>
        <p:spPr>
          <a:xfrm>
            <a:off x="3364900" y="4725490"/>
            <a:ext cx="1243550" cy="416955"/>
          </a:xfrm>
          <a:prstGeom prst="roundRect">
            <a:avLst>
              <a:gd name="adj" fmla="val 3508"/>
            </a:avLst>
          </a:pr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 95"/>
          <p:cNvSpPr/>
          <p:nvPr/>
        </p:nvSpPr>
        <p:spPr>
          <a:xfrm>
            <a:off x="3299065" y="4784010"/>
            <a:ext cx="1243550" cy="416955"/>
          </a:xfrm>
          <a:prstGeom prst="roundRect">
            <a:avLst>
              <a:gd name="adj" fmla="val 3508"/>
            </a:avLst>
          </a:pr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完成历史"/>
          <p:cNvSpPr txBox="1"/>
          <p:nvPr/>
        </p:nvSpPr>
        <p:spPr>
          <a:xfrm>
            <a:off x="3496570" y="4840701"/>
            <a:ext cx="848540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完成历史</a:t>
            </a:r>
          </a:p>
        </p:txBody>
      </p:sp>
      <p:sp>
        <p:nvSpPr>
          <p:cNvPr id="98" name="path 97"/>
          <p:cNvSpPr/>
          <p:nvPr/>
        </p:nvSpPr>
        <p:spPr>
          <a:xfrm>
            <a:off x="4410945" y="4637710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9"/>
                </a:moveTo>
                <a:lnTo>
                  <a:pt x="6" y="18"/>
                </a:lnTo>
                <a:lnTo>
                  <a:pt x="18" y="0"/>
                </a:lnTo>
              </a:path>
            </a:pathLst>
          </a:custGeom>
          <a:noFill/>
          <a:ln w="2048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path 98"/>
          <p:cNvCxnSpPr/>
          <p:nvPr/>
        </p:nvCxnSpPr>
        <p:spPr>
          <a:xfrm>
            <a:off x="4688915" y="4988830"/>
            <a:ext cx="380380" cy="0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 99"/>
          <p:cNvSpPr/>
          <p:nvPr/>
        </p:nvSpPr>
        <p:spPr>
          <a:xfrm>
            <a:off x="5083925" y="4776695"/>
            <a:ext cx="2918685" cy="424270"/>
          </a:xfrm>
          <a:prstGeom prst="roundRect">
            <a:avLst>
              <a:gd name="adj" fmla="val 3448"/>
            </a:avLst>
          </a:prstGeom>
          <a:solidFill>
            <a:srgbClr val="FBF2E3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P(T ≤ a + τ | T &gt; a)"/>
          <p:cNvSpPr txBox="1"/>
          <p:nvPr/>
        </p:nvSpPr>
        <p:spPr>
          <a:xfrm>
            <a:off x="5608933" y="4820731"/>
            <a:ext cx="1868668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P(T ≤ a + τ | T &gt; a)</a:t>
            </a:r>
          </a:p>
        </p:txBody>
      </p:sp>
      <p:cxnSp>
        <p:nvCxnSpPr>
          <p:cNvPr id="102" name="path 101"/>
          <p:cNvCxnSpPr/>
          <p:nvPr/>
        </p:nvCxnSpPr>
        <p:spPr>
          <a:xfrm>
            <a:off x="8009925" y="4988830"/>
            <a:ext cx="402325" cy="0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line 102"/>
          <p:cNvCxnSpPr/>
          <p:nvPr/>
        </p:nvCxnSpPr>
        <p:spPr>
          <a:xfrm>
            <a:off x="8565865" y="4988830"/>
            <a:ext cx="1821435" cy="0"/>
          </a:xfrm>
          <a:prstGeom prst="line">
            <a:avLst/>
          </a:prstGeom>
          <a:ln w="18288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line 103"/>
          <p:cNvCxnSpPr/>
          <p:nvPr/>
        </p:nvCxnSpPr>
        <p:spPr>
          <a:xfrm>
            <a:off x="8565865" y="4922995"/>
            <a:ext cx="0" cy="131670"/>
          </a:xfrm>
          <a:prstGeom prst="line">
            <a:avLst/>
          </a:prstGeom>
          <a:ln w="14630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line 104"/>
          <p:cNvCxnSpPr/>
          <p:nvPr/>
        </p:nvCxnSpPr>
        <p:spPr>
          <a:xfrm>
            <a:off x="10387300" y="4922995"/>
            <a:ext cx="0" cy="131670"/>
          </a:xfrm>
          <a:prstGeom prst="line">
            <a:avLst/>
          </a:prstGeom>
          <a:ln w="14630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circle 105"/>
          <p:cNvSpPr/>
          <p:nvPr/>
        </p:nvSpPr>
        <p:spPr>
          <a:xfrm>
            <a:off x="9326625" y="4952255"/>
            <a:ext cx="73150" cy="73150"/>
          </a:xfrm>
          <a:prstGeom prst="ellipse">
            <a:avLst/>
          </a:prstGeom>
          <a:solidFill>
            <a:srgbClr val="357B73"/>
          </a:solidFill>
          <a:ln w="7315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q10"/>
          <p:cNvSpPr txBox="1"/>
          <p:nvPr/>
        </p:nvSpPr>
        <p:spPr>
          <a:xfrm>
            <a:off x="8363788" y="5164390"/>
            <a:ext cx="404154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q10</a:t>
            </a:r>
          </a:p>
        </p:txBody>
      </p:sp>
      <p:sp>
        <p:nvSpPr>
          <p:cNvPr id="108" name="q50"/>
          <p:cNvSpPr txBox="1"/>
          <p:nvPr/>
        </p:nvSpPr>
        <p:spPr>
          <a:xfrm>
            <a:off x="9161123" y="5164390"/>
            <a:ext cx="404154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q50</a:t>
            </a:r>
          </a:p>
        </p:txBody>
      </p:sp>
      <p:sp>
        <p:nvSpPr>
          <p:cNvPr id="109" name="q90"/>
          <p:cNvSpPr txBox="1"/>
          <p:nvPr/>
        </p:nvSpPr>
        <p:spPr>
          <a:xfrm>
            <a:off x="10185223" y="5164390"/>
            <a:ext cx="404154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q90</a:t>
            </a:r>
          </a:p>
        </p:txBody>
      </p:sp>
      <p:cxnSp>
        <p:nvCxnSpPr>
          <p:cNvPr id="110" name="path 109"/>
          <p:cNvCxnSpPr/>
          <p:nvPr/>
        </p:nvCxnSpPr>
        <p:spPr>
          <a:xfrm>
            <a:off x="10511655" y="4988830"/>
            <a:ext cx="365750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ect 110"/>
          <p:cNvSpPr/>
          <p:nvPr/>
        </p:nvSpPr>
        <p:spPr>
          <a:xfrm>
            <a:off x="10892035" y="4776695"/>
            <a:ext cx="1799490" cy="42427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τtool(t)"/>
          <p:cNvSpPr txBox="1"/>
          <p:nvPr/>
        </p:nvSpPr>
        <p:spPr>
          <a:xfrm>
            <a:off x="11369567" y="4820731"/>
            <a:ext cx="844425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τtool(t)</a:t>
            </a:r>
          </a:p>
        </p:txBody>
      </p:sp>
      <p:sp>
        <p:nvSpPr>
          <p:cNvPr id="113" name="path 112"/>
          <p:cNvSpPr/>
          <p:nvPr/>
        </p:nvSpPr>
        <p:spPr>
          <a:xfrm>
            <a:off x="4659655" y="5200965"/>
            <a:ext cx="7132125" cy="321860"/>
          </a:xfrm>
          <a:custGeom>
            <a:avLst/>
            <a:gdLst/>
            <a:ahLst/>
            <a:cxnLst/>
            <a:rect l="l" t="t" r="r" b="b"/>
            <a:pathLst>
              <a:path w="975" h="44">
                <a:moveTo>
                  <a:pt x="975" y="1"/>
                </a:moveTo>
                <a:lnTo>
                  <a:pt x="975" y="44"/>
                </a:lnTo>
                <a:lnTo>
                  <a:pt x="0" y="44"/>
                </a:lnTo>
                <a:lnTo>
                  <a:pt x="0" y="0"/>
                </a:lnTo>
              </a:path>
            </a:pathLst>
          </a:custGeom>
          <a:noFill/>
          <a:ln w="17556">
            <a:solidFill>
              <a:srgbClr val="357B73"/>
            </a:solidFill>
            <a:prstDash val="dash"/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OOL_END"/>
          <p:cNvSpPr txBox="1"/>
          <p:nvPr/>
        </p:nvSpPr>
        <p:spPr>
          <a:xfrm>
            <a:off x="5456990" y="5297889"/>
            <a:ext cx="955579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TOOL_END</a:t>
            </a:r>
          </a:p>
        </p:txBody>
      </p:sp>
      <p:sp>
        <p:nvSpPr>
          <p:cNvPr id="115" name="path 114"/>
          <p:cNvSpPr/>
          <p:nvPr/>
        </p:nvSpPr>
        <p:spPr>
          <a:xfrm>
            <a:off x="9194955" y="5683755"/>
            <a:ext cx="2596825" cy="804650"/>
          </a:xfrm>
          <a:custGeom>
            <a:avLst/>
            <a:gdLst/>
            <a:ahLst/>
            <a:cxnLst/>
            <a:rect l="l" t="t" r="r" b="b"/>
            <a:pathLst>
              <a:path w="355" h="110">
                <a:moveTo>
                  <a:pt x="355" y="0"/>
                </a:moveTo>
                <a:lnTo>
                  <a:pt x="355" y="21"/>
                </a:lnTo>
                <a:lnTo>
                  <a:pt x="0" y="21"/>
                </a:lnTo>
                <a:lnTo>
                  <a:pt x="0" y="110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 115"/>
          <p:cNvSpPr/>
          <p:nvPr/>
        </p:nvSpPr>
        <p:spPr>
          <a:xfrm>
            <a:off x="292600" y="6129970"/>
            <a:ext cx="12581800" cy="943635"/>
          </a:xfrm>
          <a:prstGeom prst="roundRect">
            <a:avLst>
              <a:gd name="adj" fmla="val 2325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line 116"/>
          <p:cNvCxnSpPr/>
          <p:nvPr/>
        </p:nvCxnSpPr>
        <p:spPr>
          <a:xfrm>
            <a:off x="299915" y="6137285"/>
            <a:ext cx="12567170" cy="0"/>
          </a:xfrm>
          <a:prstGeom prst="line">
            <a:avLst/>
          </a:prstGeom>
          <a:ln w="21945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(d) Runtime 启动窗口"/>
          <p:cNvSpPr txBox="1"/>
          <p:nvPr/>
        </p:nvSpPr>
        <p:spPr>
          <a:xfrm>
            <a:off x="453530" y="6184832"/>
            <a:ext cx="2153239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(d) Runtime 启动窗口</a:t>
            </a:r>
          </a:p>
        </p:txBody>
      </p:sp>
      <p:sp>
        <p:nvSpPr>
          <p:cNvPr id="119" name="rect 118"/>
          <p:cNvSpPr/>
          <p:nvPr/>
        </p:nvSpPr>
        <p:spPr>
          <a:xfrm>
            <a:off x="468160" y="6554240"/>
            <a:ext cx="1762915" cy="380380"/>
          </a:xfrm>
          <a:prstGeom prst="roundRect">
            <a:avLst>
              <a:gd name="adj" fmla="val 3846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ACK history"/>
          <p:cNvSpPr txBox="1"/>
          <p:nvPr/>
        </p:nvSpPr>
        <p:spPr>
          <a:xfrm>
            <a:off x="746187" y="6581159"/>
            <a:ext cx="1206861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ACK history</a:t>
            </a:r>
          </a:p>
        </p:txBody>
      </p:sp>
      <p:cxnSp>
        <p:nvCxnSpPr>
          <p:cNvPr id="121" name="path 120"/>
          <p:cNvCxnSpPr/>
          <p:nvPr/>
        </p:nvCxnSpPr>
        <p:spPr>
          <a:xfrm>
            <a:off x="2238390" y="6744430"/>
            <a:ext cx="314545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ect 121"/>
          <p:cNvSpPr/>
          <p:nvPr/>
        </p:nvSpPr>
        <p:spPr>
          <a:xfrm>
            <a:off x="2567565" y="6517665"/>
            <a:ext cx="5054665" cy="453530"/>
          </a:xfrm>
          <a:prstGeom prst="roundRect">
            <a:avLst>
              <a:gd name="adj" fmla="val 3225"/>
            </a:avLst>
          </a:prstGeom>
          <a:solidFill>
            <a:srgbClr val="FFFFFF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H = min(L, S90 + Q90 + Δobs + εearly)"/>
          <p:cNvSpPr txBox="1"/>
          <p:nvPr/>
        </p:nvSpPr>
        <p:spPr>
          <a:xfrm>
            <a:off x="3211442" y="6576331"/>
            <a:ext cx="3766911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H = min(L, S90 + Q90 + Δobs + εearly)</a:t>
            </a:r>
          </a:p>
        </p:txBody>
      </p:sp>
      <p:cxnSp>
        <p:nvCxnSpPr>
          <p:cNvPr id="124" name="path 123"/>
          <p:cNvCxnSpPr/>
          <p:nvPr/>
        </p:nvCxnSpPr>
        <p:spPr>
          <a:xfrm>
            <a:off x="7629545" y="6744430"/>
            <a:ext cx="636405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polygon 124"/>
          <p:cNvSpPr/>
          <p:nvPr/>
        </p:nvSpPr>
        <p:spPr>
          <a:xfrm>
            <a:off x="8273265" y="6459145"/>
            <a:ext cx="1521520" cy="570570"/>
          </a:xfrm>
          <a:custGeom>
            <a:avLst/>
            <a:gdLst/>
            <a:ahLst/>
            <a:cxnLst/>
            <a:rect l="l" t="t" r="r" b="b"/>
            <a:pathLst>
              <a:path w="208" h="78">
                <a:moveTo>
                  <a:pt x="104" y="0"/>
                </a:moveTo>
                <a:lnTo>
                  <a:pt x="208" y="39"/>
                </a:lnTo>
                <a:lnTo>
                  <a:pt x="104" y="78"/>
                </a:lnTo>
                <a:lnTo>
                  <a:pt x="0" y="39"/>
                </a:lnTo>
                <a:close/>
              </a:path>
            </a:pathLst>
          </a:cu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τ ≤ H"/>
          <p:cNvSpPr txBox="1"/>
          <p:nvPr/>
        </p:nvSpPr>
        <p:spPr>
          <a:xfrm>
            <a:off x="8677319" y="6546925"/>
            <a:ext cx="713413" cy="358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τ ≤ H</a:t>
            </a:r>
          </a:p>
        </p:txBody>
      </p:sp>
      <p:cxnSp>
        <p:nvCxnSpPr>
          <p:cNvPr id="127" name="path 126"/>
          <p:cNvCxnSpPr/>
          <p:nvPr/>
        </p:nvCxnSpPr>
        <p:spPr>
          <a:xfrm>
            <a:off x="9809415" y="6744430"/>
            <a:ext cx="731500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path 127"/>
          <p:cNvSpPr/>
          <p:nvPr/>
        </p:nvSpPr>
        <p:spPr>
          <a:xfrm>
            <a:off x="10087385" y="6532295"/>
            <a:ext cx="131670" cy="131670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9"/>
                </a:moveTo>
                <a:lnTo>
                  <a:pt x="6" y="18"/>
                </a:lnTo>
                <a:lnTo>
                  <a:pt x="18" y="0"/>
                </a:lnTo>
              </a:path>
            </a:pathLst>
          </a:custGeom>
          <a:noFill/>
          <a:ln w="2048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 128"/>
          <p:cNvSpPr/>
          <p:nvPr/>
        </p:nvSpPr>
        <p:spPr>
          <a:xfrm>
            <a:off x="10555545" y="6517665"/>
            <a:ext cx="2135980" cy="453530"/>
          </a:xfrm>
          <a:prstGeom prst="roundRect">
            <a:avLst>
              <a:gd name="adj" fmla="val 3225"/>
            </a:avLst>
          </a:prstGeom>
          <a:solidFill>
            <a:srgbClr val="EAF3F1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PREFETCH_GPU"/>
          <p:cNvSpPr txBox="1"/>
          <p:nvPr/>
        </p:nvSpPr>
        <p:spPr>
          <a:xfrm>
            <a:off x="10802469" y="6581159"/>
            <a:ext cx="1642132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PREFETCH_GPU</a:t>
            </a:r>
          </a:p>
        </p:txBody>
      </p:sp>
      <p:cxnSp>
        <p:nvCxnSpPr>
          <p:cNvPr id="131" name="line 130"/>
          <p:cNvCxnSpPr/>
          <p:nvPr/>
        </p:nvCxnSpPr>
        <p:spPr>
          <a:xfrm>
            <a:off x="8851150" y="7351575"/>
            <a:ext cx="0" cy="1265495"/>
          </a:xfrm>
          <a:prstGeom prst="line">
            <a:avLst/>
          </a:prstGeom>
          <a:ln w="13167">
            <a:solidFill>
              <a:srgbClr val="89959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TURN / TOOL_END"/>
          <p:cNvSpPr txBox="1"/>
          <p:nvPr/>
        </p:nvSpPr>
        <p:spPr>
          <a:xfrm>
            <a:off x="8924300" y="7154070"/>
            <a:ext cx="1971278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RETURN / TOOL_END</a:t>
            </a:r>
          </a:p>
        </p:txBody>
      </p:sp>
      <p:cxnSp>
        <p:nvCxnSpPr>
          <p:cNvPr id="133" name="line 132"/>
          <p:cNvCxnSpPr/>
          <p:nvPr/>
        </p:nvCxnSpPr>
        <p:spPr>
          <a:xfrm>
            <a:off x="6729800" y="7358890"/>
            <a:ext cx="2121350" cy="0"/>
          </a:xfrm>
          <a:prstGeom prst="line">
            <a:avLst/>
          </a:prstGeom>
          <a:ln w="18288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line 133"/>
          <p:cNvCxnSpPr/>
          <p:nvPr/>
        </p:nvCxnSpPr>
        <p:spPr>
          <a:xfrm>
            <a:off x="6729800" y="7293055"/>
            <a:ext cx="0" cy="131670"/>
          </a:xfrm>
          <a:prstGeom prst="line">
            <a:avLst/>
          </a:prstGeom>
          <a:ln w="14630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line 134"/>
          <p:cNvCxnSpPr/>
          <p:nvPr/>
        </p:nvCxnSpPr>
        <p:spPr>
          <a:xfrm>
            <a:off x="8851150" y="7293055"/>
            <a:ext cx="0" cy="131670"/>
          </a:xfrm>
          <a:prstGeom prst="line">
            <a:avLst/>
          </a:prstGeom>
          <a:ln w="14630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circle 135"/>
          <p:cNvSpPr/>
          <p:nvPr/>
        </p:nvSpPr>
        <p:spPr>
          <a:xfrm>
            <a:off x="7753900" y="7322315"/>
            <a:ext cx="73150" cy="73150"/>
          </a:xfrm>
          <a:prstGeom prst="ellipse">
            <a:avLst/>
          </a:prstGeom>
          <a:solidFill>
            <a:srgbClr val="357B73"/>
          </a:solidFill>
          <a:ln w="7315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Δt"/>
          <p:cNvSpPr txBox="1"/>
          <p:nvPr/>
        </p:nvSpPr>
        <p:spPr>
          <a:xfrm>
            <a:off x="7527135" y="7112009"/>
            <a:ext cx="261597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Δt</a:t>
            </a:r>
          </a:p>
        </p:txBody>
      </p:sp>
      <p:sp>
        <p:nvSpPr>
          <p:cNvPr id="138" name="child / tool"/>
          <p:cNvSpPr txBox="1"/>
          <p:nvPr/>
        </p:nvSpPr>
        <p:spPr>
          <a:xfrm>
            <a:off x="490105" y="7435698"/>
            <a:ext cx="1122710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child / tool</a:t>
            </a:r>
          </a:p>
        </p:txBody>
      </p:sp>
      <p:cxnSp>
        <p:nvCxnSpPr>
          <p:cNvPr id="139" name="line 138"/>
          <p:cNvCxnSpPr/>
          <p:nvPr/>
        </p:nvCxnSpPr>
        <p:spPr>
          <a:xfrm>
            <a:off x="2852850" y="7563710"/>
            <a:ext cx="10021550" cy="0"/>
          </a:xfrm>
          <a:prstGeom prst="line">
            <a:avLst/>
          </a:prstGeom>
          <a:ln w="8778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预取"/>
          <p:cNvSpPr txBox="1"/>
          <p:nvPr/>
        </p:nvSpPr>
        <p:spPr>
          <a:xfrm>
            <a:off x="490105" y="7881912"/>
            <a:ext cx="482790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预取</a:t>
            </a:r>
          </a:p>
        </p:txBody>
      </p:sp>
      <p:cxnSp>
        <p:nvCxnSpPr>
          <p:cNvPr id="141" name="line 140"/>
          <p:cNvCxnSpPr/>
          <p:nvPr/>
        </p:nvCxnSpPr>
        <p:spPr>
          <a:xfrm>
            <a:off x="2852850" y="8009925"/>
            <a:ext cx="10021550" cy="0"/>
          </a:xfrm>
          <a:prstGeom prst="line">
            <a:avLst/>
          </a:prstGeom>
          <a:ln w="8778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原生"/>
          <p:cNvSpPr txBox="1"/>
          <p:nvPr/>
        </p:nvSpPr>
        <p:spPr>
          <a:xfrm>
            <a:off x="490105" y="8328128"/>
            <a:ext cx="482790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原生</a:t>
            </a:r>
          </a:p>
        </p:txBody>
      </p:sp>
      <p:cxnSp>
        <p:nvCxnSpPr>
          <p:cNvPr id="143" name="line 142"/>
          <p:cNvCxnSpPr/>
          <p:nvPr/>
        </p:nvCxnSpPr>
        <p:spPr>
          <a:xfrm>
            <a:off x="2852850" y="8456140"/>
            <a:ext cx="10021550" cy="0"/>
          </a:xfrm>
          <a:prstGeom prst="line">
            <a:avLst/>
          </a:prstGeom>
          <a:ln w="8778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 143"/>
          <p:cNvSpPr/>
          <p:nvPr/>
        </p:nvSpPr>
        <p:spPr>
          <a:xfrm>
            <a:off x="2852850" y="7461300"/>
            <a:ext cx="5998300" cy="277970"/>
          </a:xfrm>
          <a:prstGeom prst="roundRect">
            <a:avLst>
              <a:gd name="adj" fmla="val 5263"/>
            </a:avLst>
          </a:prstGeom>
          <a:solidFill>
            <a:srgbClr val="EDF3F8"/>
          </a:solidFill>
          <a:ln w="12435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decode / tool"/>
          <p:cNvSpPr txBox="1"/>
          <p:nvPr/>
        </p:nvSpPr>
        <p:spPr>
          <a:xfrm>
            <a:off x="5004960" y="7437526"/>
            <a:ext cx="1255180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decode / tool</a:t>
            </a:r>
          </a:p>
        </p:txBody>
      </p:sp>
      <p:sp>
        <p:nvSpPr>
          <p:cNvPr id="146" name="rect 145"/>
          <p:cNvSpPr/>
          <p:nvPr/>
        </p:nvSpPr>
        <p:spPr>
          <a:xfrm>
            <a:off x="6729800" y="7907515"/>
            <a:ext cx="2926000" cy="277970"/>
          </a:xfrm>
          <a:prstGeom prst="roundRect">
            <a:avLst>
              <a:gd name="adj" fmla="val 5263"/>
            </a:avLst>
          </a:prstGeom>
          <a:solidFill>
            <a:srgbClr val="EAF3F1"/>
          </a:solidFill>
          <a:ln w="13167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H2D"/>
          <p:cNvSpPr txBox="1"/>
          <p:nvPr/>
        </p:nvSpPr>
        <p:spPr>
          <a:xfrm>
            <a:off x="7961477" y="7883741"/>
            <a:ext cx="462645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H2D</a:t>
            </a:r>
          </a:p>
        </p:txBody>
      </p:sp>
      <p:sp>
        <p:nvSpPr>
          <p:cNvPr id="148" name="rect 147"/>
          <p:cNvSpPr/>
          <p:nvPr/>
        </p:nvSpPr>
        <p:spPr>
          <a:xfrm>
            <a:off x="9655800" y="7907515"/>
            <a:ext cx="1170400" cy="277970"/>
          </a:xfrm>
          <a:prstGeom prst="roundRect">
            <a:avLst>
              <a:gd name="adj" fmla="val 5263"/>
            </a:avLst>
          </a:prstGeom>
          <a:solidFill>
            <a:srgbClr val="F2F4F5"/>
          </a:solidFill>
          <a:ln w="10972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 148"/>
          <p:cNvSpPr/>
          <p:nvPr/>
        </p:nvSpPr>
        <p:spPr>
          <a:xfrm>
            <a:off x="10826200" y="7907515"/>
            <a:ext cx="2048200" cy="277970"/>
          </a:xfrm>
          <a:prstGeom prst="roundRect">
            <a:avLst>
              <a:gd name="adj" fmla="val 5263"/>
            </a:avLst>
          </a:prstGeom>
          <a:solidFill>
            <a:srgbClr val="EDF3F8"/>
          </a:solidFill>
          <a:ln w="1316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PU"/>
          <p:cNvSpPr txBox="1"/>
          <p:nvPr/>
        </p:nvSpPr>
        <p:spPr>
          <a:xfrm>
            <a:off x="11612134" y="7883741"/>
            <a:ext cx="476332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GPU</a:t>
            </a:r>
          </a:p>
        </p:txBody>
      </p:sp>
      <p:sp>
        <p:nvSpPr>
          <p:cNvPr id="151" name="ACK"/>
          <p:cNvSpPr txBox="1"/>
          <p:nvPr/>
        </p:nvSpPr>
        <p:spPr>
          <a:xfrm>
            <a:off x="9524130" y="7660634"/>
            <a:ext cx="404268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ACK</a:t>
            </a:r>
          </a:p>
        </p:txBody>
      </p:sp>
      <p:sp>
        <p:nvSpPr>
          <p:cNvPr id="152" name="首次复用"/>
          <p:cNvSpPr txBox="1"/>
          <p:nvPr/>
        </p:nvSpPr>
        <p:spPr>
          <a:xfrm>
            <a:off x="10884720" y="7660634"/>
            <a:ext cx="76076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首次复用</a:t>
            </a:r>
          </a:p>
        </p:txBody>
      </p:sp>
      <p:sp>
        <p:nvSpPr>
          <p:cNvPr id="153" name="rect 152"/>
          <p:cNvSpPr/>
          <p:nvPr/>
        </p:nvSpPr>
        <p:spPr>
          <a:xfrm>
            <a:off x="8851150" y="8353730"/>
            <a:ext cx="3072300" cy="277970"/>
          </a:xfrm>
          <a:prstGeom prst="roundRect">
            <a:avLst>
              <a:gd name="adj" fmla="val 5263"/>
            </a:avLst>
          </a:prstGeom>
          <a:solidFill>
            <a:srgbClr val="F2F4F5"/>
          </a:solidFill>
          <a:ln w="12435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H2D"/>
          <p:cNvSpPr txBox="1"/>
          <p:nvPr/>
        </p:nvSpPr>
        <p:spPr>
          <a:xfrm>
            <a:off x="10155977" y="8329956"/>
            <a:ext cx="462645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H2D</a:t>
            </a:r>
          </a:p>
        </p:txBody>
      </p:sp>
      <p:sp>
        <p:nvSpPr>
          <p:cNvPr id="155" name="rect 154"/>
          <p:cNvSpPr/>
          <p:nvPr/>
        </p:nvSpPr>
        <p:spPr>
          <a:xfrm>
            <a:off x="11923450" y="8353730"/>
            <a:ext cx="950950" cy="277970"/>
          </a:xfrm>
          <a:prstGeom prst="roundRect">
            <a:avLst>
              <a:gd name="adj" fmla="val 5263"/>
            </a:avLst>
          </a:prstGeom>
          <a:solidFill>
            <a:srgbClr val="EDF3F8"/>
          </a:solidFill>
          <a:ln w="12435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PU"/>
          <p:cNvSpPr txBox="1"/>
          <p:nvPr/>
        </p:nvSpPr>
        <p:spPr>
          <a:xfrm>
            <a:off x="12160759" y="8329956"/>
            <a:ext cx="476332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GPU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工作流感知的 KV 生命周期与恢复感知准入"/>
          <p:cNvSpPr txBox="1"/>
          <p:nvPr/>
        </p:nvSpPr>
        <p:spPr>
          <a:xfrm>
            <a:off x="292600" y="65835"/>
            <a:ext cx="5022776" cy="41329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73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工作流感知的 KV 生命周期与恢复感知准入</a:t>
            </a:r>
          </a:p>
        </p:txBody>
      </p:sp>
      <p:sp>
        <p:nvSpPr>
          <p:cNvPr id="3" name="增量备份 → 压力回收 → 部分恢复 → 原生执行"/>
          <p:cNvSpPr txBox="1"/>
          <p:nvPr/>
        </p:nvSpPr>
        <p:spPr>
          <a:xfrm>
            <a:off x="292600" y="431585"/>
            <a:ext cx="3808258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增量备份 → 压力回收 → 部分恢复 → 原生执行</a:t>
            </a:r>
          </a:p>
        </p:txBody>
      </p:sp>
      <p:cxnSp>
        <p:nvCxnSpPr>
          <p:cNvPr id="4" name="line 3"/>
          <p:cNvCxnSpPr/>
          <p:nvPr/>
        </p:nvCxnSpPr>
        <p:spPr>
          <a:xfrm>
            <a:off x="292600" y="768075"/>
            <a:ext cx="12581800" cy="0"/>
          </a:xfrm>
          <a:prstGeom prst="line">
            <a:avLst/>
          </a:prstGeom>
          <a:ln w="9509">
            <a:solidFill>
              <a:srgbClr val="D4DB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 4"/>
          <p:cNvSpPr/>
          <p:nvPr/>
        </p:nvSpPr>
        <p:spPr>
          <a:xfrm>
            <a:off x="292600" y="965580"/>
            <a:ext cx="7168700" cy="2260335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line 5"/>
          <p:cNvCxnSpPr/>
          <p:nvPr/>
        </p:nvCxnSpPr>
        <p:spPr>
          <a:xfrm>
            <a:off x="299915" y="972895"/>
            <a:ext cx="7154070" cy="0"/>
          </a:xfrm>
          <a:prstGeom prst="line">
            <a:avLst/>
          </a:prstGeom>
          <a:ln w="21945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(a) FULL 增量备份"/>
          <p:cNvSpPr txBox="1"/>
          <p:nvPr/>
        </p:nvSpPr>
        <p:spPr>
          <a:xfrm>
            <a:off x="453530" y="1020442"/>
            <a:ext cx="1785746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(a) FULL 增量备份</a:t>
            </a:r>
          </a:p>
        </p:txBody>
      </p:sp>
      <p:sp>
        <p:nvSpPr>
          <p:cNvPr id="8" name="HBM"/>
          <p:cNvSpPr txBox="1"/>
          <p:nvPr/>
        </p:nvSpPr>
        <p:spPr>
          <a:xfrm>
            <a:off x="482790" y="1495918"/>
            <a:ext cx="556997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HBM</a:t>
            </a:r>
          </a:p>
        </p:txBody>
      </p:sp>
      <p:sp>
        <p:nvSpPr>
          <p:cNvPr id="9" name="Host"/>
          <p:cNvSpPr txBox="1"/>
          <p:nvPr/>
        </p:nvSpPr>
        <p:spPr>
          <a:xfrm>
            <a:off x="482790" y="2176212"/>
            <a:ext cx="552911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Host</a:t>
            </a:r>
          </a:p>
        </p:txBody>
      </p:sp>
      <p:sp>
        <p:nvSpPr>
          <p:cNvPr id="10" name="rect 9"/>
          <p:cNvSpPr/>
          <p:nvPr/>
        </p:nvSpPr>
        <p:spPr>
          <a:xfrm>
            <a:off x="1506890" y="1506890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316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0"/>
          <p:cNvSpPr txBox="1"/>
          <p:nvPr/>
        </p:nvSpPr>
        <p:spPr>
          <a:xfrm>
            <a:off x="1565724" y="1554438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p0</a:t>
            </a:r>
          </a:p>
        </p:txBody>
      </p:sp>
      <p:sp>
        <p:nvSpPr>
          <p:cNvPr id="12" name="rect 11"/>
          <p:cNvSpPr/>
          <p:nvPr/>
        </p:nvSpPr>
        <p:spPr>
          <a:xfrm>
            <a:off x="1506890" y="2187185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AF3F1"/>
          </a:solidFill>
          <a:ln w="13167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0"/>
          <p:cNvSpPr txBox="1"/>
          <p:nvPr/>
        </p:nvSpPr>
        <p:spPr>
          <a:xfrm>
            <a:off x="1565724" y="2234732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p0</a:t>
            </a:r>
          </a:p>
        </p:txBody>
      </p:sp>
      <p:sp>
        <p:nvSpPr>
          <p:cNvPr id="14" name="rect 13"/>
          <p:cNvSpPr/>
          <p:nvPr/>
        </p:nvSpPr>
        <p:spPr>
          <a:xfrm>
            <a:off x="2070145" y="1506890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316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1"/>
          <p:cNvSpPr txBox="1"/>
          <p:nvPr/>
        </p:nvSpPr>
        <p:spPr>
          <a:xfrm>
            <a:off x="2128979" y="1554438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16" name="rect 15"/>
          <p:cNvSpPr/>
          <p:nvPr/>
        </p:nvSpPr>
        <p:spPr>
          <a:xfrm>
            <a:off x="2070145" y="2187185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AF3F1"/>
          </a:solidFill>
          <a:ln w="13167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1"/>
          <p:cNvSpPr txBox="1"/>
          <p:nvPr/>
        </p:nvSpPr>
        <p:spPr>
          <a:xfrm>
            <a:off x="2128979" y="2234732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18" name="rect 17"/>
          <p:cNvSpPr/>
          <p:nvPr/>
        </p:nvSpPr>
        <p:spPr>
          <a:xfrm>
            <a:off x="2633400" y="1506890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316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2"/>
          <p:cNvSpPr txBox="1"/>
          <p:nvPr/>
        </p:nvSpPr>
        <p:spPr>
          <a:xfrm>
            <a:off x="2692234" y="1554438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p2</a:t>
            </a:r>
          </a:p>
        </p:txBody>
      </p:sp>
      <p:sp>
        <p:nvSpPr>
          <p:cNvPr id="20" name="rect 19"/>
          <p:cNvSpPr/>
          <p:nvPr/>
        </p:nvSpPr>
        <p:spPr>
          <a:xfrm>
            <a:off x="2633400" y="2187185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AF3F1"/>
          </a:solidFill>
          <a:ln w="13167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2"/>
          <p:cNvSpPr txBox="1"/>
          <p:nvPr/>
        </p:nvSpPr>
        <p:spPr>
          <a:xfrm>
            <a:off x="2692234" y="2234732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p2</a:t>
            </a:r>
          </a:p>
        </p:txBody>
      </p:sp>
      <p:sp>
        <p:nvSpPr>
          <p:cNvPr id="22" name="rect 21"/>
          <p:cNvSpPr/>
          <p:nvPr/>
        </p:nvSpPr>
        <p:spPr>
          <a:xfrm>
            <a:off x="3196655" y="1506890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316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3"/>
          <p:cNvSpPr txBox="1"/>
          <p:nvPr/>
        </p:nvSpPr>
        <p:spPr>
          <a:xfrm>
            <a:off x="3255489" y="1554438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p3</a:t>
            </a:r>
          </a:p>
        </p:txBody>
      </p:sp>
      <p:sp>
        <p:nvSpPr>
          <p:cNvPr id="24" name="rect 23"/>
          <p:cNvSpPr/>
          <p:nvPr/>
        </p:nvSpPr>
        <p:spPr>
          <a:xfrm>
            <a:off x="3196655" y="2187185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AF3F1"/>
          </a:solidFill>
          <a:ln w="13167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p3"/>
          <p:cNvSpPr txBox="1"/>
          <p:nvPr/>
        </p:nvSpPr>
        <p:spPr>
          <a:xfrm>
            <a:off x="3255489" y="2234732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p3</a:t>
            </a:r>
          </a:p>
        </p:txBody>
      </p:sp>
      <p:sp>
        <p:nvSpPr>
          <p:cNvPr id="26" name="rect 25"/>
          <p:cNvSpPr/>
          <p:nvPr/>
        </p:nvSpPr>
        <p:spPr>
          <a:xfrm>
            <a:off x="3759910" y="1506890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316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4"/>
          <p:cNvSpPr txBox="1"/>
          <p:nvPr/>
        </p:nvSpPr>
        <p:spPr>
          <a:xfrm>
            <a:off x="3818744" y="1554438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p4</a:t>
            </a:r>
          </a:p>
        </p:txBody>
      </p:sp>
      <p:sp>
        <p:nvSpPr>
          <p:cNvPr id="28" name="rect 27"/>
          <p:cNvSpPr/>
          <p:nvPr/>
        </p:nvSpPr>
        <p:spPr>
          <a:xfrm>
            <a:off x="3759910" y="2187185"/>
            <a:ext cx="395010" cy="343805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3167">
            <a:solidFill>
              <a:srgbClr val="89959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p4"/>
          <p:cNvSpPr txBox="1"/>
          <p:nvPr/>
        </p:nvSpPr>
        <p:spPr>
          <a:xfrm>
            <a:off x="3818744" y="2234732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89959D"/>
                </a:solidFill>
                <a:latin typeface="Noto Sans CJK SC"/>
                <a:ea typeface="Noto Sans CJK SC"/>
              </a:rPr>
              <a:t>p4</a:t>
            </a:r>
          </a:p>
        </p:txBody>
      </p:sp>
      <p:cxnSp>
        <p:nvCxnSpPr>
          <p:cNvPr id="30" name="path 29"/>
          <p:cNvCxnSpPr/>
          <p:nvPr/>
        </p:nvCxnSpPr>
        <p:spPr>
          <a:xfrm>
            <a:off x="3957415" y="1879955"/>
            <a:ext cx="0" cy="256025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 30"/>
          <p:cNvSpPr/>
          <p:nvPr/>
        </p:nvSpPr>
        <p:spPr>
          <a:xfrm>
            <a:off x="4323165" y="1506890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316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p5"/>
          <p:cNvSpPr txBox="1"/>
          <p:nvPr/>
        </p:nvSpPr>
        <p:spPr>
          <a:xfrm>
            <a:off x="4381999" y="1554438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p5</a:t>
            </a:r>
          </a:p>
        </p:txBody>
      </p:sp>
      <p:sp>
        <p:nvSpPr>
          <p:cNvPr id="33" name="rect 32"/>
          <p:cNvSpPr/>
          <p:nvPr/>
        </p:nvSpPr>
        <p:spPr>
          <a:xfrm>
            <a:off x="4323165" y="2187185"/>
            <a:ext cx="395010" cy="343805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3167">
            <a:solidFill>
              <a:srgbClr val="89959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p5"/>
          <p:cNvSpPr txBox="1"/>
          <p:nvPr/>
        </p:nvSpPr>
        <p:spPr>
          <a:xfrm>
            <a:off x="4381999" y="2234732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89959D"/>
                </a:solidFill>
                <a:latin typeface="Noto Sans CJK SC"/>
                <a:ea typeface="Noto Sans CJK SC"/>
              </a:rPr>
              <a:t>p5</a:t>
            </a:r>
          </a:p>
        </p:txBody>
      </p:sp>
      <p:cxnSp>
        <p:nvCxnSpPr>
          <p:cNvPr id="35" name="path 34"/>
          <p:cNvCxnSpPr/>
          <p:nvPr/>
        </p:nvCxnSpPr>
        <p:spPr>
          <a:xfrm>
            <a:off x="4520670" y="1879955"/>
            <a:ext cx="0" cy="256025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 35"/>
          <p:cNvSpPr/>
          <p:nvPr/>
        </p:nvSpPr>
        <p:spPr>
          <a:xfrm>
            <a:off x="4886420" y="1506890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316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p6"/>
          <p:cNvSpPr txBox="1"/>
          <p:nvPr/>
        </p:nvSpPr>
        <p:spPr>
          <a:xfrm>
            <a:off x="4945254" y="1554438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p6</a:t>
            </a:r>
          </a:p>
        </p:txBody>
      </p:sp>
      <p:sp>
        <p:nvSpPr>
          <p:cNvPr id="38" name="rect 37"/>
          <p:cNvSpPr/>
          <p:nvPr/>
        </p:nvSpPr>
        <p:spPr>
          <a:xfrm>
            <a:off x="4886420" y="2187185"/>
            <a:ext cx="395010" cy="343805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3167">
            <a:solidFill>
              <a:srgbClr val="89959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6"/>
          <p:cNvSpPr txBox="1"/>
          <p:nvPr/>
        </p:nvSpPr>
        <p:spPr>
          <a:xfrm>
            <a:off x="4945254" y="2234732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89959D"/>
                </a:solidFill>
                <a:latin typeface="Noto Sans CJK SC"/>
                <a:ea typeface="Noto Sans CJK SC"/>
              </a:rPr>
              <a:t>p6</a:t>
            </a:r>
          </a:p>
        </p:txBody>
      </p:sp>
      <p:cxnSp>
        <p:nvCxnSpPr>
          <p:cNvPr id="40" name="path 39"/>
          <p:cNvCxnSpPr/>
          <p:nvPr/>
        </p:nvCxnSpPr>
        <p:spPr>
          <a:xfrm>
            <a:off x="5083925" y="1879955"/>
            <a:ext cx="0" cy="256025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 40"/>
          <p:cNvSpPr/>
          <p:nvPr/>
        </p:nvSpPr>
        <p:spPr>
          <a:xfrm>
            <a:off x="5449675" y="1506890"/>
            <a:ext cx="395010" cy="343805"/>
          </a:xfrm>
          <a:prstGeom prst="roundRect">
            <a:avLst>
              <a:gd name="adj" fmla="val 4255"/>
            </a:avLst>
          </a:prstGeom>
          <a:solidFill>
            <a:srgbClr val="EDF3F8"/>
          </a:solidFill>
          <a:ln w="13167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7"/>
          <p:cNvSpPr txBox="1"/>
          <p:nvPr/>
        </p:nvSpPr>
        <p:spPr>
          <a:xfrm>
            <a:off x="5508509" y="1554438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p7</a:t>
            </a:r>
          </a:p>
        </p:txBody>
      </p:sp>
      <p:sp>
        <p:nvSpPr>
          <p:cNvPr id="43" name="rect 42"/>
          <p:cNvSpPr/>
          <p:nvPr/>
        </p:nvSpPr>
        <p:spPr>
          <a:xfrm>
            <a:off x="5449675" y="2187185"/>
            <a:ext cx="395010" cy="343805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3167">
            <a:solidFill>
              <a:srgbClr val="89959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p7"/>
          <p:cNvSpPr txBox="1"/>
          <p:nvPr/>
        </p:nvSpPr>
        <p:spPr>
          <a:xfrm>
            <a:off x="5508509" y="2234732"/>
            <a:ext cx="277341" cy="2541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9" b="1" lang="zh-CN" spc="0">
                <a:solidFill>
                  <a:srgbClr val="89959D"/>
                </a:solidFill>
                <a:latin typeface="Noto Sans CJK SC"/>
                <a:ea typeface="Noto Sans CJK SC"/>
              </a:rPr>
              <a:t>p7</a:t>
            </a:r>
          </a:p>
        </p:txBody>
      </p:sp>
      <p:cxnSp>
        <p:nvCxnSpPr>
          <p:cNvPr id="45" name="path 44"/>
          <p:cNvCxnSpPr/>
          <p:nvPr/>
        </p:nvCxnSpPr>
        <p:spPr>
          <a:xfrm>
            <a:off x="5647180" y="1879955"/>
            <a:ext cx="0" cy="256025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ΔFULL"/>
          <p:cNvSpPr txBox="1"/>
          <p:nvPr/>
        </p:nvSpPr>
        <p:spPr>
          <a:xfrm>
            <a:off x="6247010" y="1810462"/>
            <a:ext cx="719613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ΔFULL</a:t>
            </a:r>
          </a:p>
        </p:txBody>
      </p:sp>
      <p:sp>
        <p:nvSpPr>
          <p:cNvPr id="47" name="rect 46"/>
          <p:cNvSpPr/>
          <p:nvPr/>
        </p:nvSpPr>
        <p:spPr>
          <a:xfrm>
            <a:off x="475475" y="2845535"/>
            <a:ext cx="1228920" cy="33649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BM"/>
          <p:cNvSpPr txBox="1"/>
          <p:nvPr/>
        </p:nvSpPr>
        <p:spPr>
          <a:xfrm>
            <a:off x="836567" y="2863822"/>
            <a:ext cx="506735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HBM</a:t>
            </a:r>
          </a:p>
        </p:txBody>
      </p:sp>
      <p:sp>
        <p:nvSpPr>
          <p:cNvPr id="49" name="rect 48"/>
          <p:cNvSpPr/>
          <p:nvPr/>
        </p:nvSpPr>
        <p:spPr>
          <a:xfrm>
            <a:off x="2860165" y="2845535"/>
            <a:ext cx="1382535" cy="33649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HBM + Host"/>
          <p:cNvSpPr txBox="1"/>
          <p:nvPr/>
        </p:nvSpPr>
        <p:spPr>
          <a:xfrm>
            <a:off x="2994950" y="2863822"/>
            <a:ext cx="1112966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HBM + Host</a:t>
            </a:r>
          </a:p>
        </p:txBody>
      </p:sp>
      <p:sp>
        <p:nvSpPr>
          <p:cNvPr id="51" name="rect 50"/>
          <p:cNvSpPr/>
          <p:nvPr/>
        </p:nvSpPr>
        <p:spPr>
          <a:xfrm>
            <a:off x="6042190" y="2845535"/>
            <a:ext cx="1228920" cy="33649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ost-only"/>
          <p:cNvSpPr txBox="1"/>
          <p:nvPr/>
        </p:nvSpPr>
        <p:spPr>
          <a:xfrm>
            <a:off x="6195019" y="2868650"/>
            <a:ext cx="923262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Host-only</a:t>
            </a:r>
          </a:p>
        </p:txBody>
      </p:sp>
      <p:cxnSp>
        <p:nvCxnSpPr>
          <p:cNvPr id="53" name="path 52"/>
          <p:cNvCxnSpPr/>
          <p:nvPr/>
        </p:nvCxnSpPr>
        <p:spPr>
          <a:xfrm>
            <a:off x="1711710" y="3013780"/>
            <a:ext cx="1141140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path 53"/>
          <p:cNvCxnSpPr/>
          <p:nvPr/>
        </p:nvCxnSpPr>
        <p:spPr>
          <a:xfrm>
            <a:off x="4250015" y="3013780"/>
            <a:ext cx="1784860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PREPARE"/>
          <p:cNvSpPr txBox="1"/>
          <p:nvPr/>
        </p:nvSpPr>
        <p:spPr>
          <a:xfrm>
            <a:off x="1909215" y="2576709"/>
            <a:ext cx="805507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PREPARE</a:t>
            </a:r>
          </a:p>
        </p:txBody>
      </p:sp>
      <p:sp>
        <p:nvSpPr>
          <p:cNvPr id="56" name="真实压力"/>
          <p:cNvSpPr txBox="1"/>
          <p:nvPr/>
        </p:nvSpPr>
        <p:spPr>
          <a:xfrm>
            <a:off x="4791325" y="2567565"/>
            <a:ext cx="790020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真实压力</a:t>
            </a:r>
          </a:p>
        </p:txBody>
      </p:sp>
      <p:sp>
        <p:nvSpPr>
          <p:cNvPr id="57" name="rect 56"/>
          <p:cNvSpPr/>
          <p:nvPr/>
        </p:nvSpPr>
        <p:spPr>
          <a:xfrm>
            <a:off x="7790475" y="965580"/>
            <a:ext cx="5083925" cy="2260335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line 57"/>
          <p:cNvCxnSpPr/>
          <p:nvPr/>
        </p:nvCxnSpPr>
        <p:spPr>
          <a:xfrm>
            <a:off x="7797790" y="972895"/>
            <a:ext cx="5069295" cy="0"/>
          </a:xfrm>
          <a:prstGeom prst="line">
            <a:avLst/>
          </a:prstGeom>
          <a:ln w="21945">
            <a:solidFill>
              <a:srgbClr val="A96F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(b) Mamba checkpoint"/>
          <p:cNvSpPr txBox="1"/>
          <p:nvPr/>
        </p:nvSpPr>
        <p:spPr>
          <a:xfrm>
            <a:off x="7951405" y="1020442"/>
            <a:ext cx="2340429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(b) Mamba checkpoint</a:t>
            </a:r>
          </a:p>
        </p:txBody>
      </p:sp>
      <p:sp>
        <p:nvSpPr>
          <p:cNvPr id="60" name="rect 59"/>
          <p:cNvSpPr/>
          <p:nvPr/>
        </p:nvSpPr>
        <p:spPr>
          <a:xfrm>
            <a:off x="7987980" y="1572725"/>
            <a:ext cx="1148455" cy="446215"/>
          </a:xfrm>
          <a:prstGeom prst="roundRect">
            <a:avLst>
              <a:gd name="adj" fmla="val 3278"/>
            </a:avLst>
          </a:prstGeom>
          <a:solidFill>
            <a:srgbClr val="F2F4F5"/>
          </a:solidFill>
          <a:ln w="9509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s0"/>
          <p:cNvSpPr txBox="1"/>
          <p:nvPr/>
        </p:nvSpPr>
        <p:spPr>
          <a:xfrm>
            <a:off x="8391334" y="1602936"/>
            <a:ext cx="341748" cy="369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s0</a:t>
            </a:r>
          </a:p>
        </p:txBody>
      </p:sp>
      <p:sp>
        <p:nvSpPr>
          <p:cNvPr id="62" name="rect 61"/>
          <p:cNvSpPr/>
          <p:nvPr/>
        </p:nvSpPr>
        <p:spPr>
          <a:xfrm>
            <a:off x="9633855" y="1572725"/>
            <a:ext cx="1148455" cy="446215"/>
          </a:xfrm>
          <a:prstGeom prst="roundRect">
            <a:avLst>
              <a:gd name="adj" fmla="val 3278"/>
            </a:avLst>
          </a:prstGeom>
          <a:solidFill>
            <a:srgbClr val="F2F4F5"/>
          </a:solidFill>
          <a:ln w="9509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s1"/>
          <p:cNvSpPr txBox="1"/>
          <p:nvPr/>
        </p:nvSpPr>
        <p:spPr>
          <a:xfrm>
            <a:off x="10037209" y="1602936"/>
            <a:ext cx="341748" cy="369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s1</a:t>
            </a:r>
          </a:p>
        </p:txBody>
      </p:sp>
      <p:sp>
        <p:nvSpPr>
          <p:cNvPr id="64" name="rect 63"/>
          <p:cNvSpPr/>
          <p:nvPr/>
        </p:nvSpPr>
        <p:spPr>
          <a:xfrm>
            <a:off x="11279730" y="1572725"/>
            <a:ext cx="1148455" cy="446215"/>
          </a:xfrm>
          <a:prstGeom prst="roundRect">
            <a:avLst>
              <a:gd name="adj" fmla="val 3278"/>
            </a:avLst>
          </a:prstGeom>
          <a:solidFill>
            <a:srgbClr val="FBF2E3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*"/>
          <p:cNvSpPr txBox="1"/>
          <p:nvPr/>
        </p:nvSpPr>
        <p:spPr>
          <a:xfrm>
            <a:off x="11697356" y="1602936"/>
            <a:ext cx="313202" cy="369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s*</a:t>
            </a:r>
          </a:p>
        </p:txBody>
      </p:sp>
      <p:cxnSp>
        <p:nvCxnSpPr>
          <p:cNvPr id="66" name="path 65"/>
          <p:cNvCxnSpPr/>
          <p:nvPr/>
        </p:nvCxnSpPr>
        <p:spPr>
          <a:xfrm>
            <a:off x="9143750" y="1792175"/>
            <a:ext cx="482790" cy="0"/>
          </a:xfrm>
          <a:prstGeom prst="line">
            <a:avLst/>
          </a:prstGeom>
          <a:ln w="17556">
            <a:solidFill>
              <a:srgbClr val="89959D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path 66"/>
          <p:cNvCxnSpPr/>
          <p:nvPr/>
        </p:nvCxnSpPr>
        <p:spPr>
          <a:xfrm>
            <a:off x="10789625" y="1792175"/>
            <a:ext cx="482790" cy="0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decode"/>
          <p:cNvSpPr txBox="1"/>
          <p:nvPr/>
        </p:nvSpPr>
        <p:spPr>
          <a:xfrm>
            <a:off x="9502185" y="1228920"/>
            <a:ext cx="691696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decode</a:t>
            </a:r>
          </a:p>
        </p:txBody>
      </p:sp>
      <p:sp>
        <p:nvSpPr>
          <p:cNvPr id="69" name="rect 68"/>
          <p:cNvSpPr/>
          <p:nvPr/>
        </p:nvSpPr>
        <p:spPr>
          <a:xfrm>
            <a:off x="8192800" y="2545620"/>
            <a:ext cx="1850695" cy="4096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09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PREPARE"/>
          <p:cNvSpPr txBox="1"/>
          <p:nvPr/>
        </p:nvSpPr>
        <p:spPr>
          <a:xfrm>
            <a:off x="8661589" y="2600482"/>
            <a:ext cx="913118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PREPARE</a:t>
            </a:r>
          </a:p>
        </p:txBody>
      </p:sp>
      <p:cxnSp>
        <p:nvCxnSpPr>
          <p:cNvPr id="71" name="line 70"/>
          <p:cNvCxnSpPr/>
          <p:nvPr/>
        </p:nvCxnSpPr>
        <p:spPr>
          <a:xfrm>
            <a:off x="10153220" y="2640715"/>
            <a:ext cx="190190" cy="190190"/>
          </a:xfrm>
          <a:prstGeom prst="line">
            <a:avLst/>
          </a:prstGeom>
          <a:ln w="20482">
            <a:solidFill>
              <a:srgbClr val="A96F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line 71"/>
          <p:cNvCxnSpPr/>
          <p:nvPr/>
        </p:nvCxnSpPr>
        <p:spPr>
          <a:xfrm flipV="1">
            <a:off x="10153220" y="2640715"/>
            <a:ext cx="190190" cy="190190"/>
          </a:xfrm>
          <a:prstGeom prst="line">
            <a:avLst/>
          </a:prstGeom>
          <a:ln w="20482">
            <a:solidFill>
              <a:srgbClr val="A96F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 72"/>
          <p:cNvSpPr/>
          <p:nvPr/>
        </p:nvSpPr>
        <p:spPr>
          <a:xfrm>
            <a:off x="11279730" y="2545620"/>
            <a:ext cx="1148455" cy="409640"/>
          </a:xfrm>
          <a:prstGeom prst="roundRect">
            <a:avLst>
              <a:gd name="adj" fmla="val 3571"/>
            </a:avLst>
          </a:prstGeom>
          <a:solidFill>
            <a:srgbClr val="EAF3F1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s*Host"/>
          <p:cNvSpPr txBox="1"/>
          <p:nvPr/>
        </p:nvSpPr>
        <p:spPr>
          <a:xfrm>
            <a:off x="11490736" y="2587169"/>
            <a:ext cx="726442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s*Host</a:t>
            </a:r>
          </a:p>
        </p:txBody>
      </p:sp>
      <p:cxnSp>
        <p:nvCxnSpPr>
          <p:cNvPr id="75" name="path 74"/>
          <p:cNvCxnSpPr/>
          <p:nvPr/>
        </p:nvCxnSpPr>
        <p:spPr>
          <a:xfrm flipV="1">
            <a:off x="11850300" y="2040885"/>
            <a:ext cx="0" cy="497420"/>
          </a:xfrm>
          <a:prstGeom prst="line">
            <a:avLst/>
          </a:prstGeom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H2D"/>
          <p:cNvSpPr txBox="1"/>
          <p:nvPr/>
        </p:nvSpPr>
        <p:spPr>
          <a:xfrm>
            <a:off x="12142900" y="2128665"/>
            <a:ext cx="448215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H2D</a:t>
            </a:r>
          </a:p>
        </p:txBody>
      </p:sp>
      <p:sp>
        <p:nvSpPr>
          <p:cNvPr id="77" name="c* ↔ s*"/>
          <p:cNvSpPr txBox="1"/>
          <p:nvPr/>
        </p:nvSpPr>
        <p:spPr>
          <a:xfrm>
            <a:off x="10606750" y="2885768"/>
            <a:ext cx="769332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c* ↔ s*</a:t>
            </a:r>
          </a:p>
        </p:txBody>
      </p:sp>
      <p:sp>
        <p:nvSpPr>
          <p:cNvPr id="78" name="rect 77"/>
          <p:cNvSpPr/>
          <p:nvPr/>
        </p:nvSpPr>
        <p:spPr>
          <a:xfrm>
            <a:off x="292600" y="3569720"/>
            <a:ext cx="12581800" cy="2274965"/>
          </a:xfrm>
          <a:prstGeom prst="roundRect">
            <a:avLst>
              <a:gd name="adj" fmla="val 964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line 78"/>
          <p:cNvCxnSpPr/>
          <p:nvPr/>
        </p:nvCxnSpPr>
        <p:spPr>
          <a:xfrm>
            <a:off x="299915" y="3577035"/>
            <a:ext cx="12567170" cy="0"/>
          </a:xfrm>
          <a:prstGeom prst="line">
            <a:avLst/>
          </a:prstGeom>
          <a:ln w="21945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(c) Checkpoint → 原生部分恢复"/>
          <p:cNvSpPr txBox="1"/>
          <p:nvPr/>
        </p:nvSpPr>
        <p:spPr>
          <a:xfrm>
            <a:off x="453530" y="3624582"/>
            <a:ext cx="3079844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(c) Checkpoint → 原生部分恢复</a:t>
            </a:r>
          </a:p>
        </p:txBody>
      </p:sp>
      <p:sp>
        <p:nvSpPr>
          <p:cNvPr id="81" name="c*"/>
          <p:cNvSpPr txBox="1"/>
          <p:nvPr/>
        </p:nvSpPr>
        <p:spPr>
          <a:xfrm>
            <a:off x="482790" y="3880608"/>
            <a:ext cx="299572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c*</a:t>
            </a:r>
          </a:p>
        </p:txBody>
      </p:sp>
      <p:sp>
        <p:nvSpPr>
          <p:cNvPr id="82" name="circle 81"/>
          <p:cNvSpPr/>
          <p:nvPr/>
        </p:nvSpPr>
        <p:spPr>
          <a:xfrm>
            <a:off x="687610" y="4257330"/>
            <a:ext cx="365750" cy="365750"/>
          </a:xfrm>
          <a:prstGeom prst="ellipse">
            <a:avLst/>
          </a:prstGeom>
          <a:solidFill>
            <a:srgbClr val="EDF3F8"/>
          </a:solidFill>
          <a:ln w="10241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p0"/>
          <p:cNvSpPr txBox="1"/>
          <p:nvPr/>
        </p:nvSpPr>
        <p:spPr>
          <a:xfrm>
            <a:off x="722785" y="4303414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p0</a:t>
            </a:r>
          </a:p>
        </p:txBody>
      </p:sp>
      <p:sp>
        <p:nvSpPr>
          <p:cNvPr id="84" name="circle 83"/>
          <p:cNvSpPr/>
          <p:nvPr/>
        </p:nvSpPr>
        <p:spPr>
          <a:xfrm>
            <a:off x="1697080" y="4001305"/>
            <a:ext cx="365750" cy="365750"/>
          </a:xfrm>
          <a:prstGeom prst="ellipse">
            <a:avLst/>
          </a:prstGeom>
          <a:solidFill>
            <a:srgbClr val="EDF3F8"/>
          </a:solidFill>
          <a:ln w="10241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p1"/>
          <p:cNvSpPr txBox="1"/>
          <p:nvPr/>
        </p:nvSpPr>
        <p:spPr>
          <a:xfrm>
            <a:off x="1732255" y="404738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86" name="circle 85"/>
          <p:cNvSpPr/>
          <p:nvPr/>
        </p:nvSpPr>
        <p:spPr>
          <a:xfrm>
            <a:off x="2655345" y="4250015"/>
            <a:ext cx="365750" cy="365750"/>
          </a:xfrm>
          <a:prstGeom prst="ellipse">
            <a:avLst/>
          </a:prstGeom>
          <a:solidFill>
            <a:srgbClr val="EAF3F1"/>
          </a:solidFill>
          <a:ln w="10241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p5"/>
          <p:cNvSpPr txBox="1"/>
          <p:nvPr/>
        </p:nvSpPr>
        <p:spPr>
          <a:xfrm>
            <a:off x="2690520" y="4296100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p5</a:t>
            </a:r>
          </a:p>
        </p:txBody>
      </p:sp>
      <p:sp>
        <p:nvSpPr>
          <p:cNvPr id="88" name="circle 87"/>
          <p:cNvSpPr/>
          <p:nvPr/>
        </p:nvSpPr>
        <p:spPr>
          <a:xfrm>
            <a:off x="1697080" y="4820585"/>
            <a:ext cx="365750" cy="365750"/>
          </a:xfrm>
          <a:prstGeom prst="ellipse">
            <a:avLst/>
          </a:prstGeom>
          <a:solidFill>
            <a:srgbClr val="F2F4F5"/>
          </a:solidFill>
          <a:ln w="10241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"/>
          <p:cNvSpPr txBox="1"/>
          <p:nvPr/>
        </p:nvSpPr>
        <p:spPr>
          <a:xfrm>
            <a:off x="1785846" y="4866670"/>
            <a:ext cx="188218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g</a:t>
            </a:r>
          </a:p>
        </p:txBody>
      </p:sp>
      <p:cxnSp>
        <p:nvCxnSpPr>
          <p:cNvPr id="90" name="path 89"/>
          <p:cNvCxnSpPr/>
          <p:nvPr/>
        </p:nvCxnSpPr>
        <p:spPr>
          <a:xfrm flipV="1">
            <a:off x="1067990" y="4228070"/>
            <a:ext cx="621775" cy="16093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path 90"/>
          <p:cNvCxnSpPr/>
          <p:nvPr/>
        </p:nvCxnSpPr>
        <p:spPr>
          <a:xfrm>
            <a:off x="2077460" y="4228070"/>
            <a:ext cx="563255" cy="16093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path 91"/>
          <p:cNvCxnSpPr/>
          <p:nvPr/>
        </p:nvCxnSpPr>
        <p:spPr>
          <a:xfrm>
            <a:off x="1016785" y="4571875"/>
            <a:ext cx="694925" cy="358435"/>
          </a:xfrm>
          <a:prstGeom prst="line">
            <a:avLst/>
          </a:prstGeom>
          <a:ln w="17556">
            <a:solidFill>
              <a:srgbClr val="89959D"/>
            </a:solidFill>
            <a:prstDash val="dash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line 92"/>
          <p:cNvCxnSpPr/>
          <p:nvPr/>
        </p:nvCxnSpPr>
        <p:spPr>
          <a:xfrm>
            <a:off x="2092090" y="4937625"/>
            <a:ext cx="160930" cy="160930"/>
          </a:xfrm>
          <a:prstGeom prst="line">
            <a:avLst/>
          </a:prstGeom>
          <a:ln w="20482">
            <a:solidFill>
              <a:srgbClr val="8995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line 93"/>
          <p:cNvCxnSpPr/>
          <p:nvPr/>
        </p:nvCxnSpPr>
        <p:spPr>
          <a:xfrm flipV="1">
            <a:off x="2092090" y="4937625"/>
            <a:ext cx="160930" cy="160930"/>
          </a:xfrm>
          <a:prstGeom prst="line">
            <a:avLst/>
          </a:prstGeom>
          <a:ln w="20482">
            <a:solidFill>
              <a:srgbClr val="8995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session / epoch"/>
          <p:cNvSpPr txBox="1"/>
          <p:nvPr/>
        </p:nvSpPr>
        <p:spPr>
          <a:xfrm>
            <a:off x="482790" y="5252170"/>
            <a:ext cx="1401937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session / epoch</a:t>
            </a:r>
          </a:p>
        </p:txBody>
      </p:sp>
      <p:cxnSp>
        <p:nvCxnSpPr>
          <p:cNvPr id="96" name="path 95"/>
          <p:cNvCxnSpPr/>
          <p:nvPr/>
        </p:nvCxnSpPr>
        <p:spPr>
          <a:xfrm>
            <a:off x="3035725" y="4432890"/>
            <a:ext cx="629090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Host"/>
          <p:cNvSpPr txBox="1"/>
          <p:nvPr/>
        </p:nvSpPr>
        <p:spPr>
          <a:xfrm>
            <a:off x="3796485" y="3867806"/>
            <a:ext cx="519736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Host</a:t>
            </a:r>
          </a:p>
        </p:txBody>
      </p:sp>
      <p:sp>
        <p:nvSpPr>
          <p:cNvPr id="98" name="HBM"/>
          <p:cNvSpPr txBox="1"/>
          <p:nvPr/>
        </p:nvSpPr>
        <p:spPr>
          <a:xfrm>
            <a:off x="3796485" y="4628566"/>
            <a:ext cx="523537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HBM</a:t>
            </a:r>
          </a:p>
        </p:txBody>
      </p:sp>
      <p:sp>
        <p:nvSpPr>
          <p:cNvPr id="99" name="rect 98"/>
          <p:cNvSpPr/>
          <p:nvPr/>
        </p:nvSpPr>
        <p:spPr>
          <a:xfrm>
            <a:off x="4462150" y="415492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p0"/>
          <p:cNvSpPr txBox="1"/>
          <p:nvPr/>
        </p:nvSpPr>
        <p:spPr>
          <a:xfrm>
            <a:off x="4490010" y="415674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p0</a:t>
            </a:r>
          </a:p>
        </p:txBody>
      </p:sp>
      <p:sp>
        <p:nvSpPr>
          <p:cNvPr id="101" name="rect 100"/>
          <p:cNvSpPr/>
          <p:nvPr/>
        </p:nvSpPr>
        <p:spPr>
          <a:xfrm>
            <a:off x="4462150" y="460845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EDF3F8"/>
          </a:solidFill>
          <a:ln w="11704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p0"/>
          <p:cNvSpPr txBox="1"/>
          <p:nvPr/>
        </p:nvSpPr>
        <p:spPr>
          <a:xfrm>
            <a:off x="4490010" y="461027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p0</a:t>
            </a:r>
          </a:p>
        </p:txBody>
      </p:sp>
      <p:sp>
        <p:nvSpPr>
          <p:cNvPr id="103" name="rect 102"/>
          <p:cNvSpPr/>
          <p:nvPr/>
        </p:nvSpPr>
        <p:spPr>
          <a:xfrm>
            <a:off x="4908365" y="415492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p1"/>
          <p:cNvSpPr txBox="1"/>
          <p:nvPr/>
        </p:nvSpPr>
        <p:spPr>
          <a:xfrm>
            <a:off x="4936225" y="415674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105" name="rect 104"/>
          <p:cNvSpPr/>
          <p:nvPr/>
        </p:nvSpPr>
        <p:spPr>
          <a:xfrm>
            <a:off x="4908365" y="460845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EDF3F8"/>
          </a:solidFill>
          <a:ln w="11704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p1"/>
          <p:cNvSpPr txBox="1"/>
          <p:nvPr/>
        </p:nvSpPr>
        <p:spPr>
          <a:xfrm>
            <a:off x="4936225" y="461027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107" name="rect 106"/>
          <p:cNvSpPr/>
          <p:nvPr/>
        </p:nvSpPr>
        <p:spPr>
          <a:xfrm>
            <a:off x="5354580" y="415492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p2"/>
          <p:cNvSpPr txBox="1"/>
          <p:nvPr/>
        </p:nvSpPr>
        <p:spPr>
          <a:xfrm>
            <a:off x="5382440" y="415674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p2</a:t>
            </a:r>
          </a:p>
        </p:txBody>
      </p:sp>
      <p:sp>
        <p:nvSpPr>
          <p:cNvPr id="109" name="rect 108"/>
          <p:cNvSpPr/>
          <p:nvPr/>
        </p:nvSpPr>
        <p:spPr>
          <a:xfrm>
            <a:off x="5354580" y="460845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EAF3F1"/>
          </a:solidFill>
          <a:ln w="11704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p2"/>
          <p:cNvSpPr txBox="1"/>
          <p:nvPr/>
        </p:nvSpPr>
        <p:spPr>
          <a:xfrm>
            <a:off x="5382440" y="461027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p2</a:t>
            </a:r>
          </a:p>
        </p:txBody>
      </p:sp>
      <p:cxnSp>
        <p:nvCxnSpPr>
          <p:cNvPr id="111" name="path 110"/>
          <p:cNvCxnSpPr/>
          <p:nvPr/>
        </p:nvCxnSpPr>
        <p:spPr>
          <a:xfrm>
            <a:off x="5530140" y="4454835"/>
            <a:ext cx="0" cy="124355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ect 111"/>
          <p:cNvSpPr/>
          <p:nvPr/>
        </p:nvSpPr>
        <p:spPr>
          <a:xfrm>
            <a:off x="5800795" y="415492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p3"/>
          <p:cNvSpPr txBox="1"/>
          <p:nvPr/>
        </p:nvSpPr>
        <p:spPr>
          <a:xfrm>
            <a:off x="5828655" y="415674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p3</a:t>
            </a:r>
          </a:p>
        </p:txBody>
      </p:sp>
      <p:sp>
        <p:nvSpPr>
          <p:cNvPr id="114" name="rect 113"/>
          <p:cNvSpPr/>
          <p:nvPr/>
        </p:nvSpPr>
        <p:spPr>
          <a:xfrm>
            <a:off x="5800795" y="460845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EAF3F1"/>
          </a:solidFill>
          <a:ln w="11704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p3"/>
          <p:cNvSpPr txBox="1"/>
          <p:nvPr/>
        </p:nvSpPr>
        <p:spPr>
          <a:xfrm>
            <a:off x="5828655" y="461027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p3</a:t>
            </a:r>
          </a:p>
        </p:txBody>
      </p:sp>
      <p:cxnSp>
        <p:nvCxnSpPr>
          <p:cNvPr id="116" name="path 115"/>
          <p:cNvCxnSpPr/>
          <p:nvPr/>
        </p:nvCxnSpPr>
        <p:spPr>
          <a:xfrm>
            <a:off x="5976355" y="4454835"/>
            <a:ext cx="0" cy="124355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 116"/>
          <p:cNvSpPr/>
          <p:nvPr/>
        </p:nvSpPr>
        <p:spPr>
          <a:xfrm>
            <a:off x="6247010" y="415492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p4"/>
          <p:cNvSpPr txBox="1"/>
          <p:nvPr/>
        </p:nvSpPr>
        <p:spPr>
          <a:xfrm>
            <a:off x="6274870" y="415674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p4</a:t>
            </a:r>
          </a:p>
        </p:txBody>
      </p:sp>
      <p:sp>
        <p:nvSpPr>
          <p:cNvPr id="119" name="rect 118"/>
          <p:cNvSpPr/>
          <p:nvPr/>
        </p:nvSpPr>
        <p:spPr>
          <a:xfrm>
            <a:off x="6247010" y="460845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1704">
            <a:solidFill>
              <a:srgbClr val="89959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p4"/>
          <p:cNvSpPr txBox="1"/>
          <p:nvPr/>
        </p:nvSpPr>
        <p:spPr>
          <a:xfrm>
            <a:off x="6274870" y="461027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89959D"/>
                </a:solidFill>
                <a:latin typeface="Noto Sans CJK SC"/>
                <a:ea typeface="Noto Sans CJK SC"/>
              </a:rPr>
              <a:t>p4</a:t>
            </a:r>
          </a:p>
        </p:txBody>
      </p:sp>
      <p:sp>
        <p:nvSpPr>
          <p:cNvPr id="121" name="rect 120"/>
          <p:cNvSpPr/>
          <p:nvPr/>
        </p:nvSpPr>
        <p:spPr>
          <a:xfrm>
            <a:off x="6693225" y="415492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p5"/>
          <p:cNvSpPr txBox="1"/>
          <p:nvPr/>
        </p:nvSpPr>
        <p:spPr>
          <a:xfrm>
            <a:off x="6721085" y="415674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p5</a:t>
            </a:r>
          </a:p>
        </p:txBody>
      </p:sp>
      <p:sp>
        <p:nvSpPr>
          <p:cNvPr id="123" name="rect 122"/>
          <p:cNvSpPr/>
          <p:nvPr/>
        </p:nvSpPr>
        <p:spPr>
          <a:xfrm>
            <a:off x="6693225" y="4608450"/>
            <a:ext cx="358435" cy="28528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1704">
            <a:solidFill>
              <a:srgbClr val="89959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p5"/>
          <p:cNvSpPr txBox="1"/>
          <p:nvPr/>
        </p:nvSpPr>
        <p:spPr>
          <a:xfrm>
            <a:off x="6721085" y="4610279"/>
            <a:ext cx="29540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1" lang="zh-CN" spc="0">
                <a:solidFill>
                  <a:srgbClr val="89959D"/>
                </a:solidFill>
                <a:latin typeface="Noto Sans CJK SC"/>
                <a:ea typeface="Noto Sans CJK SC"/>
              </a:rPr>
              <a:t>p5</a:t>
            </a:r>
          </a:p>
        </p:txBody>
      </p:sp>
      <p:sp>
        <p:nvSpPr>
          <p:cNvPr id="125" name="B ≤ Cfree + Ccold − Gnext"/>
          <p:cNvSpPr txBox="1"/>
          <p:nvPr/>
        </p:nvSpPr>
        <p:spPr>
          <a:xfrm>
            <a:off x="3796485" y="5043692"/>
            <a:ext cx="2522303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B ≤ Cfree + Ccold − Gnext</a:t>
            </a:r>
          </a:p>
        </p:txBody>
      </p:sp>
      <p:sp>
        <p:nvSpPr>
          <p:cNvPr id="126" name="ΔFULL + s*"/>
          <p:cNvSpPr txBox="1"/>
          <p:nvPr/>
        </p:nvSpPr>
        <p:spPr>
          <a:xfrm>
            <a:off x="3796485" y="5418586"/>
            <a:ext cx="1077934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A96F1F"/>
                </a:solidFill>
                <a:latin typeface="Noto Sans CJK SC"/>
                <a:ea typeface="Noto Sans CJK SC"/>
              </a:rPr>
              <a:t>ΔFULL + s*</a:t>
            </a:r>
          </a:p>
        </p:txBody>
      </p:sp>
      <p:sp>
        <p:nvSpPr>
          <p:cNvPr id="127" name="path 126"/>
          <p:cNvSpPr/>
          <p:nvPr/>
        </p:nvSpPr>
        <p:spPr>
          <a:xfrm>
            <a:off x="7117495" y="4323165"/>
            <a:ext cx="424270" cy="424270"/>
          </a:xfrm>
          <a:custGeom>
            <a:avLst/>
            <a:gdLst/>
            <a:ahLst/>
            <a:cxnLst/>
            <a:rect l="l" t="t" r="r" b="b"/>
            <a:pathLst>
              <a:path w="58" h="58">
                <a:moveTo>
                  <a:pt x="0" y="58"/>
                </a:moveTo>
                <a:lnTo>
                  <a:pt x="22" y="58"/>
                </a:lnTo>
                <a:lnTo>
                  <a:pt x="22" y="0"/>
                </a:lnTo>
                <a:lnTo>
                  <a:pt x="58" y="0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 127"/>
          <p:cNvSpPr/>
          <p:nvPr/>
        </p:nvSpPr>
        <p:spPr>
          <a:xfrm>
            <a:off x="7549080" y="4125660"/>
            <a:ext cx="2187185" cy="395010"/>
          </a:xfrm>
          <a:prstGeom prst="roundRect">
            <a:avLst>
              <a:gd name="adj" fmla="val 3703"/>
            </a:avLst>
          </a:prstGeom>
          <a:solidFill>
            <a:srgbClr val="EAF3F1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HiCache H2D"/>
          <p:cNvSpPr txBox="1"/>
          <p:nvPr/>
        </p:nvSpPr>
        <p:spPr>
          <a:xfrm>
            <a:off x="7949090" y="4155066"/>
            <a:ext cx="1387164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HiCache H2D</a:t>
            </a:r>
          </a:p>
        </p:txBody>
      </p:sp>
      <p:sp>
        <p:nvSpPr>
          <p:cNvPr id="130" name="rect 129"/>
          <p:cNvSpPr/>
          <p:nvPr/>
        </p:nvSpPr>
        <p:spPr>
          <a:xfrm>
            <a:off x="7549080" y="5105870"/>
            <a:ext cx="2187185" cy="395010"/>
          </a:xfrm>
          <a:prstGeom prst="roundRect">
            <a:avLst>
              <a:gd name="adj" fmla="val 3703"/>
            </a:avLst>
          </a:prstGeom>
          <a:solidFill>
            <a:srgbClr val="FBF2E3"/>
          </a:solidFill>
          <a:ln w="9509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s*"/>
          <p:cNvSpPr txBox="1"/>
          <p:nvPr/>
        </p:nvSpPr>
        <p:spPr>
          <a:xfrm>
            <a:off x="8493115" y="5121963"/>
            <a:ext cx="299115" cy="3492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2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s*</a:t>
            </a:r>
          </a:p>
        </p:txBody>
      </p:sp>
      <p:sp>
        <p:nvSpPr>
          <p:cNvPr id="132" name="path 131"/>
          <p:cNvSpPr/>
          <p:nvPr/>
        </p:nvSpPr>
        <p:spPr>
          <a:xfrm>
            <a:off x="8639015" y="4520670"/>
            <a:ext cx="1872640" cy="197505"/>
          </a:xfrm>
          <a:custGeom>
            <a:avLst/>
            <a:gdLst/>
            <a:ahLst/>
            <a:cxnLst/>
            <a:rect l="l" t="t" r="r" b="b"/>
            <a:pathLst>
              <a:path w="256" h="27">
                <a:moveTo>
                  <a:pt x="0" y="0"/>
                </a:moveTo>
                <a:lnTo>
                  <a:pt x="0" y="27"/>
                </a:lnTo>
                <a:lnTo>
                  <a:pt x="256" y="27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path 132"/>
          <p:cNvSpPr/>
          <p:nvPr/>
        </p:nvSpPr>
        <p:spPr>
          <a:xfrm>
            <a:off x="9743580" y="4864475"/>
            <a:ext cx="768075" cy="438900"/>
          </a:xfrm>
          <a:custGeom>
            <a:avLst/>
            <a:gdLst/>
            <a:ahLst/>
            <a:cxnLst/>
            <a:rect l="l" t="t" r="r" b="b"/>
            <a:pathLst>
              <a:path w="105" h="60">
                <a:moveTo>
                  <a:pt x="0" y="60"/>
                </a:moveTo>
                <a:lnTo>
                  <a:pt x="38" y="60"/>
                </a:lnTo>
                <a:lnTo>
                  <a:pt x="38" y="0"/>
                </a:lnTo>
                <a:lnTo>
                  <a:pt x="105" y="0"/>
                </a:lnTo>
              </a:path>
            </a:pathLst>
          </a:custGeom>
          <a:noFill/>
          <a:ln w="17556">
            <a:solidFill>
              <a:srgbClr val="A96F1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polygon 133"/>
          <p:cNvSpPr/>
          <p:nvPr/>
        </p:nvSpPr>
        <p:spPr>
          <a:xfrm>
            <a:off x="10518970" y="4535300"/>
            <a:ext cx="731500" cy="512050"/>
          </a:xfrm>
          <a:custGeom>
            <a:avLst/>
            <a:gdLst/>
            <a:ahLst/>
            <a:cxnLst/>
            <a:rect l="l" t="t" r="r" b="b"/>
            <a:pathLst>
              <a:path w="100" h="70">
                <a:moveTo>
                  <a:pt x="50" y="0"/>
                </a:moveTo>
                <a:lnTo>
                  <a:pt x="100" y="35"/>
                </a:lnTo>
                <a:lnTo>
                  <a:pt x="50" y="70"/>
                </a:lnTo>
                <a:lnTo>
                  <a:pt x="0" y="35"/>
                </a:lnTo>
                <a:close/>
              </a:path>
            </a:pathLst>
          </a:cu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&amp;"/>
          <p:cNvSpPr txBox="1"/>
          <p:nvPr/>
        </p:nvSpPr>
        <p:spPr>
          <a:xfrm>
            <a:off x="10756922" y="4593820"/>
            <a:ext cx="255596" cy="358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8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&amp;</a:t>
            </a:r>
          </a:p>
        </p:txBody>
      </p:sp>
      <p:sp>
        <p:nvSpPr>
          <p:cNvPr id="136" name="rect 135"/>
          <p:cNvSpPr/>
          <p:nvPr/>
        </p:nvSpPr>
        <p:spPr>
          <a:xfrm>
            <a:off x="11660110" y="4176865"/>
            <a:ext cx="1016785" cy="329175"/>
          </a:xfrm>
          <a:prstGeom prst="roundRect">
            <a:avLst>
              <a:gd name="adj" fmla="val 4444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ℓ0"/>
          <p:cNvSpPr txBox="1"/>
          <p:nvPr/>
        </p:nvSpPr>
        <p:spPr>
          <a:xfrm>
            <a:off x="12015588" y="4178182"/>
            <a:ext cx="305830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ℓ0</a:t>
            </a:r>
          </a:p>
        </p:txBody>
      </p:sp>
      <p:sp>
        <p:nvSpPr>
          <p:cNvPr id="138" name="rect 137"/>
          <p:cNvSpPr/>
          <p:nvPr/>
        </p:nvSpPr>
        <p:spPr>
          <a:xfrm>
            <a:off x="11660110" y="4652340"/>
            <a:ext cx="1016785" cy="329175"/>
          </a:xfrm>
          <a:prstGeom prst="roundRect">
            <a:avLst>
              <a:gd name="adj" fmla="val 4444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ℓ1"/>
          <p:cNvSpPr txBox="1"/>
          <p:nvPr/>
        </p:nvSpPr>
        <p:spPr>
          <a:xfrm>
            <a:off x="12015588" y="4653657"/>
            <a:ext cx="305830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ℓ1</a:t>
            </a:r>
          </a:p>
        </p:txBody>
      </p:sp>
      <p:sp>
        <p:nvSpPr>
          <p:cNvPr id="140" name="rect 139"/>
          <p:cNvSpPr/>
          <p:nvPr/>
        </p:nvSpPr>
        <p:spPr>
          <a:xfrm>
            <a:off x="11660110" y="5127815"/>
            <a:ext cx="1016785" cy="329175"/>
          </a:xfrm>
          <a:prstGeom prst="roundRect">
            <a:avLst>
              <a:gd name="adj" fmla="val 4444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ℓ2"/>
          <p:cNvSpPr txBox="1"/>
          <p:nvPr/>
        </p:nvSpPr>
        <p:spPr>
          <a:xfrm>
            <a:off x="12015588" y="5129132"/>
            <a:ext cx="305830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ℓ2</a:t>
            </a:r>
          </a:p>
        </p:txBody>
      </p:sp>
      <p:sp>
        <p:nvSpPr>
          <p:cNvPr id="142" name="path 141"/>
          <p:cNvSpPr/>
          <p:nvPr/>
        </p:nvSpPr>
        <p:spPr>
          <a:xfrm>
            <a:off x="11265100" y="4337795"/>
            <a:ext cx="387695" cy="453530"/>
          </a:xfrm>
          <a:custGeom>
            <a:avLst/>
            <a:gdLst/>
            <a:ahLst/>
            <a:cxnLst/>
            <a:rect l="l" t="t" r="r" b="b"/>
            <a:pathLst>
              <a:path w="53" h="62">
                <a:moveTo>
                  <a:pt x="0" y="62"/>
                </a:moveTo>
                <a:lnTo>
                  <a:pt x="28" y="62"/>
                </a:lnTo>
                <a:lnTo>
                  <a:pt x="28" y="0"/>
                </a:lnTo>
                <a:lnTo>
                  <a:pt x="53" y="0"/>
                </a:lnTo>
              </a:path>
            </a:pathLst>
          </a:custGeom>
          <a:noFill/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3" name="path 142"/>
          <p:cNvCxnSpPr/>
          <p:nvPr/>
        </p:nvCxnSpPr>
        <p:spPr>
          <a:xfrm>
            <a:off x="12164845" y="4513355"/>
            <a:ext cx="0" cy="12435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path 143"/>
          <p:cNvCxnSpPr/>
          <p:nvPr/>
        </p:nvCxnSpPr>
        <p:spPr>
          <a:xfrm>
            <a:off x="12164845" y="4988830"/>
            <a:ext cx="0" cy="12435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逐层就绪"/>
          <p:cNvSpPr txBox="1"/>
          <p:nvPr/>
        </p:nvSpPr>
        <p:spPr>
          <a:xfrm>
            <a:off x="10548230" y="4017764"/>
            <a:ext cx="760760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逐层就绪</a:t>
            </a:r>
          </a:p>
        </p:txBody>
      </p:sp>
      <p:sp>
        <p:nvSpPr>
          <p:cNvPr id="146" name="path 145"/>
          <p:cNvSpPr/>
          <p:nvPr/>
        </p:nvSpPr>
        <p:spPr>
          <a:xfrm>
            <a:off x="7366205" y="4520670"/>
            <a:ext cx="3086930" cy="1148455"/>
          </a:xfrm>
          <a:custGeom>
            <a:avLst/>
            <a:gdLst/>
            <a:ahLst/>
            <a:cxnLst/>
            <a:rect l="l" t="t" r="r" b="b"/>
            <a:pathLst>
              <a:path w="422" h="157">
                <a:moveTo>
                  <a:pt x="57" y="0"/>
                </a:moveTo>
                <a:lnTo>
                  <a:pt x="0" y="0"/>
                </a:lnTo>
                <a:lnTo>
                  <a:pt x="0" y="157"/>
                </a:lnTo>
                <a:lnTo>
                  <a:pt x="422" y="157"/>
                </a:lnTo>
              </a:path>
            </a:pathLst>
          </a:custGeom>
          <a:noFill/>
          <a:ln w="17556">
            <a:solidFill>
              <a:srgbClr val="357B73"/>
            </a:solidFill>
            <a:prstDash val="dash"/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ACK"/>
          <p:cNvSpPr txBox="1"/>
          <p:nvPr/>
        </p:nvSpPr>
        <p:spPr>
          <a:xfrm>
            <a:off x="9780155" y="5407614"/>
            <a:ext cx="404268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ACK</a:t>
            </a:r>
          </a:p>
        </p:txBody>
      </p:sp>
      <p:sp>
        <p:nvSpPr>
          <p:cNvPr id="148" name="rect 147"/>
          <p:cNvSpPr/>
          <p:nvPr/>
        </p:nvSpPr>
        <p:spPr>
          <a:xfrm>
            <a:off x="292600" y="6195805"/>
            <a:ext cx="7607600" cy="2216445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9" name="line 148"/>
          <p:cNvCxnSpPr/>
          <p:nvPr/>
        </p:nvCxnSpPr>
        <p:spPr>
          <a:xfrm>
            <a:off x="299915" y="6203120"/>
            <a:ext cx="7592970" cy="0"/>
          </a:xfrm>
          <a:prstGeom prst="line">
            <a:avLst/>
          </a:prstGeom>
          <a:ln w="21945">
            <a:solidFill>
              <a:srgbClr val="357B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(d) Child → parent 容量"/>
          <p:cNvSpPr txBox="1"/>
          <p:nvPr/>
        </p:nvSpPr>
        <p:spPr>
          <a:xfrm>
            <a:off x="453530" y="6250668"/>
            <a:ext cx="2372575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57B73"/>
                </a:solidFill>
                <a:latin typeface="Noto Sans CJK SC"/>
                <a:ea typeface="Noto Sans CJK SC"/>
              </a:rPr>
              <a:t>(d) Child → parent 容量</a:t>
            </a:r>
          </a:p>
        </p:txBody>
      </p:sp>
      <p:sp>
        <p:nvSpPr>
          <p:cNvPr id="151" name="circle 150"/>
          <p:cNvSpPr/>
          <p:nvPr/>
        </p:nvSpPr>
        <p:spPr>
          <a:xfrm>
            <a:off x="533995" y="6927305"/>
            <a:ext cx="395010" cy="395010"/>
          </a:xfrm>
          <a:prstGeom prst="ellipse">
            <a:avLst/>
          </a:prstGeom>
          <a:solidFill>
            <a:srgbClr val="EDF3F8"/>
          </a:solidFill>
          <a:ln w="10241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P"/>
          <p:cNvSpPr txBox="1"/>
          <p:nvPr/>
        </p:nvSpPr>
        <p:spPr>
          <a:xfrm>
            <a:off x="626618" y="6976681"/>
            <a:ext cx="209763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</a:t>
            </a:r>
          </a:p>
        </p:txBody>
      </p:sp>
      <p:sp>
        <p:nvSpPr>
          <p:cNvPr id="153" name="circle 152"/>
          <p:cNvSpPr/>
          <p:nvPr/>
        </p:nvSpPr>
        <p:spPr>
          <a:xfrm>
            <a:off x="1711710" y="6546925"/>
            <a:ext cx="395010" cy="395010"/>
          </a:xfrm>
          <a:prstGeom prst="ellipse">
            <a:avLst/>
          </a:prstGeom>
          <a:solidFill>
            <a:srgbClr val="EAF3F1"/>
          </a:solidFill>
          <a:ln w="10241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C1"/>
          <p:cNvSpPr txBox="1"/>
          <p:nvPr/>
        </p:nvSpPr>
        <p:spPr>
          <a:xfrm>
            <a:off x="1755957" y="6601056"/>
            <a:ext cx="306516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C1</a:t>
            </a:r>
          </a:p>
        </p:txBody>
      </p:sp>
      <p:sp>
        <p:nvSpPr>
          <p:cNvPr id="155" name="circle 154"/>
          <p:cNvSpPr/>
          <p:nvPr/>
        </p:nvSpPr>
        <p:spPr>
          <a:xfrm>
            <a:off x="1711710" y="7585655"/>
            <a:ext cx="395010" cy="395010"/>
          </a:xfrm>
          <a:prstGeom prst="ellipse">
            <a:avLst/>
          </a:prstGeom>
          <a:solidFill>
            <a:srgbClr val="FBF2E3"/>
          </a:solidFill>
          <a:ln w="10241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C2"/>
          <p:cNvSpPr txBox="1"/>
          <p:nvPr/>
        </p:nvSpPr>
        <p:spPr>
          <a:xfrm>
            <a:off x="1755957" y="7639786"/>
            <a:ext cx="306516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C2</a:t>
            </a:r>
          </a:p>
        </p:txBody>
      </p:sp>
      <p:cxnSp>
        <p:nvCxnSpPr>
          <p:cNvPr id="157" name="path 156"/>
          <p:cNvCxnSpPr/>
          <p:nvPr/>
        </p:nvCxnSpPr>
        <p:spPr>
          <a:xfrm flipV="1">
            <a:off x="950950" y="6810265"/>
            <a:ext cx="746130" cy="22676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path 157"/>
          <p:cNvCxnSpPr/>
          <p:nvPr/>
        </p:nvCxnSpPr>
        <p:spPr>
          <a:xfrm>
            <a:off x="950950" y="7227220"/>
            <a:ext cx="753445" cy="46084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path 158"/>
          <p:cNvSpPr/>
          <p:nvPr/>
        </p:nvSpPr>
        <p:spPr>
          <a:xfrm>
            <a:off x="2150610" y="6554240"/>
            <a:ext cx="138985" cy="138985"/>
          </a:xfrm>
          <a:custGeom>
            <a:avLst/>
            <a:gdLst/>
            <a:ahLst/>
            <a:cxnLst/>
            <a:rect l="l" t="t" r="r" b="b"/>
            <a:pathLst>
              <a:path w="19" h="19">
                <a:moveTo>
                  <a:pt x="0" y="10"/>
                </a:moveTo>
                <a:lnTo>
                  <a:pt x="7" y="19"/>
                </a:lnTo>
                <a:lnTo>
                  <a:pt x="19" y="0"/>
                </a:lnTo>
              </a:path>
            </a:pathLst>
          </a:custGeom>
          <a:noFill/>
          <a:ln w="2048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 159"/>
          <p:cNvSpPr/>
          <p:nvPr/>
        </p:nvSpPr>
        <p:spPr>
          <a:xfrm>
            <a:off x="2699235" y="6627390"/>
            <a:ext cx="292600" cy="248710"/>
          </a:xfrm>
          <a:prstGeom prst="roundRect">
            <a:avLst>
              <a:gd name="adj" fmla="val 5882"/>
            </a:avLst>
          </a:prstGeom>
          <a:solidFill>
            <a:srgbClr val="F2F4F5"/>
          </a:solidFill>
          <a:ln w="11704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 160"/>
          <p:cNvSpPr/>
          <p:nvPr/>
        </p:nvSpPr>
        <p:spPr>
          <a:xfrm>
            <a:off x="3064985" y="6627390"/>
            <a:ext cx="292600" cy="248710"/>
          </a:xfrm>
          <a:prstGeom prst="roundRect">
            <a:avLst>
              <a:gd name="adj" fmla="val 5882"/>
            </a:avLst>
          </a:prstGeom>
          <a:solidFill>
            <a:srgbClr val="EAF3F1"/>
          </a:solidFill>
          <a:ln w="11704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 161"/>
          <p:cNvSpPr/>
          <p:nvPr/>
        </p:nvSpPr>
        <p:spPr>
          <a:xfrm>
            <a:off x="3430735" y="6627390"/>
            <a:ext cx="292600" cy="248710"/>
          </a:xfrm>
          <a:prstGeom prst="roundRect">
            <a:avLst>
              <a:gd name="adj" fmla="val 5882"/>
            </a:avLst>
          </a:prstGeom>
          <a:solidFill>
            <a:srgbClr val="EAF3F1"/>
          </a:solidFill>
          <a:ln w="11704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 162"/>
          <p:cNvSpPr/>
          <p:nvPr/>
        </p:nvSpPr>
        <p:spPr>
          <a:xfrm>
            <a:off x="3796485" y="6627390"/>
            <a:ext cx="292600" cy="248710"/>
          </a:xfrm>
          <a:prstGeom prst="roundRect">
            <a:avLst>
              <a:gd name="adj" fmla="val 5882"/>
            </a:avLst>
          </a:prstGeom>
          <a:solidFill>
            <a:srgbClr val="EAF3F1"/>
          </a:solidFill>
          <a:ln w="11704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path 163"/>
          <p:cNvSpPr/>
          <p:nvPr/>
        </p:nvSpPr>
        <p:spPr>
          <a:xfrm>
            <a:off x="2794330" y="6941935"/>
            <a:ext cx="80465" cy="58520"/>
          </a:xfrm>
          <a:custGeom>
            <a:avLst/>
            <a:gdLst/>
            <a:ahLst/>
            <a:cxnLst/>
            <a:rect l="l" t="t" r="r" b="b"/>
            <a:pathLst>
              <a:path w="11" h="8">
                <a:moveTo>
                  <a:pt x="0" y="8"/>
                </a:moveTo>
                <a:lnTo>
                  <a:pt x="0" y="0"/>
                </a:lnTo>
                <a:lnTo>
                  <a:pt x="11" y="0"/>
                </a:lnTo>
                <a:lnTo>
                  <a:pt x="11" y="8"/>
                </a:lnTo>
              </a:path>
            </a:pathLst>
          </a:custGeom>
          <a:noFill/>
          <a:ln w="14630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 164"/>
          <p:cNvSpPr/>
          <p:nvPr/>
        </p:nvSpPr>
        <p:spPr>
          <a:xfrm>
            <a:off x="2765070" y="7003381"/>
            <a:ext cx="140448" cy="1170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167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circle 165"/>
          <p:cNvSpPr/>
          <p:nvPr/>
        </p:nvSpPr>
        <p:spPr>
          <a:xfrm>
            <a:off x="2823590" y="7038493"/>
            <a:ext cx="23408" cy="23408"/>
          </a:xfrm>
          <a:prstGeom prst="ellipse">
            <a:avLst/>
          </a:prstGeom>
          <a:solidFill>
            <a:srgbClr val="89959D"/>
          </a:solidFill>
          <a:ln w="7315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7" name="path 166"/>
          <p:cNvCxnSpPr/>
          <p:nvPr/>
        </p:nvCxnSpPr>
        <p:spPr>
          <a:xfrm>
            <a:off x="2121350" y="6744430"/>
            <a:ext cx="512050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path 167"/>
          <p:cNvCxnSpPr/>
          <p:nvPr/>
        </p:nvCxnSpPr>
        <p:spPr>
          <a:xfrm>
            <a:off x="4169550" y="6744430"/>
            <a:ext cx="607145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 168"/>
          <p:cNvSpPr/>
          <p:nvPr/>
        </p:nvSpPr>
        <p:spPr>
          <a:xfrm>
            <a:off x="4791325" y="6561555"/>
            <a:ext cx="1280125" cy="3657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空闲列表"/>
          <p:cNvSpPr txBox="1"/>
          <p:nvPr/>
        </p:nvSpPr>
        <p:spPr>
          <a:xfrm>
            <a:off x="5021748" y="6594472"/>
            <a:ext cx="819280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空闲列表</a:t>
            </a:r>
          </a:p>
        </p:txBody>
      </p:sp>
      <p:cxnSp>
        <p:nvCxnSpPr>
          <p:cNvPr id="171" name="path 170"/>
          <p:cNvCxnSpPr/>
          <p:nvPr/>
        </p:nvCxnSpPr>
        <p:spPr>
          <a:xfrm>
            <a:off x="6078765" y="6744430"/>
            <a:ext cx="351120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 171"/>
          <p:cNvSpPr/>
          <p:nvPr/>
        </p:nvSpPr>
        <p:spPr>
          <a:xfrm>
            <a:off x="6444515" y="6561555"/>
            <a:ext cx="1265495" cy="365750"/>
          </a:xfrm>
          <a:prstGeom prst="roundRect">
            <a:avLst>
              <a:gd name="adj" fmla="val 4000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Parent KV"/>
          <p:cNvSpPr txBox="1"/>
          <p:nvPr/>
        </p:nvSpPr>
        <p:spPr>
          <a:xfrm>
            <a:off x="6594773" y="6594472"/>
            <a:ext cx="964980" cy="294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Parent KV</a:t>
            </a:r>
          </a:p>
        </p:txBody>
      </p:sp>
      <p:sp>
        <p:nvSpPr>
          <p:cNvPr id="174" name="私有"/>
          <p:cNvSpPr txBox="1"/>
          <p:nvPr/>
        </p:nvSpPr>
        <p:spPr>
          <a:xfrm>
            <a:off x="3255175" y="6876100"/>
            <a:ext cx="438900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私有</a:t>
            </a:r>
          </a:p>
        </p:txBody>
      </p:sp>
      <p:cxnSp>
        <p:nvCxnSpPr>
          <p:cNvPr id="175" name="line 174"/>
          <p:cNvCxnSpPr/>
          <p:nvPr/>
        </p:nvCxnSpPr>
        <p:spPr>
          <a:xfrm>
            <a:off x="6620075" y="7249165"/>
            <a:ext cx="0" cy="994840"/>
          </a:xfrm>
          <a:prstGeom prst="line">
            <a:avLst/>
          </a:prstGeom>
          <a:ln w="12435">
            <a:solidFill>
              <a:srgbClr val="89959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TURN"/>
          <p:cNvSpPr txBox="1"/>
          <p:nvPr/>
        </p:nvSpPr>
        <p:spPr>
          <a:xfrm>
            <a:off x="6685910" y="7148584"/>
            <a:ext cx="744273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263746"/>
                </a:solidFill>
                <a:latin typeface="Noto Sans CJK SC"/>
                <a:ea typeface="Noto Sans CJK SC"/>
              </a:rPr>
              <a:t>RETURN</a:t>
            </a:r>
          </a:p>
        </p:txBody>
      </p:sp>
      <p:sp>
        <p:nvSpPr>
          <p:cNvPr id="177" name="rect 176"/>
          <p:cNvSpPr/>
          <p:nvPr/>
        </p:nvSpPr>
        <p:spPr>
          <a:xfrm>
            <a:off x="2947945" y="7995295"/>
            <a:ext cx="3672130" cy="226765"/>
          </a:xfrm>
          <a:prstGeom prst="roundRect">
            <a:avLst>
              <a:gd name="adj" fmla="val 6451"/>
            </a:avLst>
          </a:prstGeom>
          <a:solidFill>
            <a:srgbClr val="FBF2E3"/>
          </a:solidFill>
          <a:ln w="11704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C2: decode"/>
          <p:cNvSpPr txBox="1"/>
          <p:nvPr/>
        </p:nvSpPr>
        <p:spPr>
          <a:xfrm>
            <a:off x="4242286" y="7967864"/>
            <a:ext cx="951779" cy="274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4" b="0" lang="zh-CN" spc="0">
                <a:solidFill>
                  <a:srgbClr val="A96F1F"/>
                </a:solidFill>
                <a:latin typeface="Noto Sans CJK SC"/>
                <a:ea typeface="Noto Sans CJK SC"/>
              </a:rPr>
              <a:t>C2: decode</a:t>
            </a:r>
          </a:p>
        </p:txBody>
      </p:sp>
      <p:sp>
        <p:nvSpPr>
          <p:cNvPr id="179" name="rect 178"/>
          <p:cNvSpPr/>
          <p:nvPr/>
        </p:nvSpPr>
        <p:spPr>
          <a:xfrm>
            <a:off x="4974200" y="7592970"/>
            <a:ext cx="1419110" cy="256025"/>
          </a:xfrm>
          <a:prstGeom prst="roundRect">
            <a:avLst>
              <a:gd name="adj" fmla="val 5714"/>
            </a:avLst>
          </a:prstGeom>
          <a:solidFill>
            <a:srgbClr val="EAF3F1"/>
          </a:solidFill>
          <a:ln w="12435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H2D"/>
          <p:cNvSpPr txBox="1"/>
          <p:nvPr/>
        </p:nvSpPr>
        <p:spPr>
          <a:xfrm>
            <a:off x="5466848" y="7571025"/>
            <a:ext cx="433814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H2D</a:t>
            </a:r>
          </a:p>
        </p:txBody>
      </p:sp>
      <p:sp>
        <p:nvSpPr>
          <p:cNvPr id="181" name="rect 180"/>
          <p:cNvSpPr/>
          <p:nvPr/>
        </p:nvSpPr>
        <p:spPr>
          <a:xfrm>
            <a:off x="6634705" y="7592970"/>
            <a:ext cx="1075305" cy="256025"/>
          </a:xfrm>
          <a:prstGeom prst="roundRect">
            <a:avLst>
              <a:gd name="adj" fmla="val 5714"/>
            </a:avLst>
          </a:prstGeom>
          <a:solidFill>
            <a:srgbClr val="F2F4F5"/>
          </a:solidFill>
          <a:ln w="11704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demand"/>
          <p:cNvSpPr txBox="1"/>
          <p:nvPr/>
        </p:nvSpPr>
        <p:spPr>
          <a:xfrm>
            <a:off x="6811551" y="7587484"/>
            <a:ext cx="714298" cy="265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7" b="0" lang="zh-CN" spc="0">
                <a:solidFill>
                  <a:srgbClr val="687680"/>
                </a:solidFill>
                <a:latin typeface="Noto Sans CJK SC"/>
                <a:ea typeface="Noto Sans CJK SC"/>
              </a:rPr>
              <a:t>demand</a:t>
            </a:r>
          </a:p>
        </p:txBody>
      </p:sp>
      <p:sp>
        <p:nvSpPr>
          <p:cNvPr id="183" name="path 182"/>
          <p:cNvSpPr/>
          <p:nvPr/>
        </p:nvSpPr>
        <p:spPr>
          <a:xfrm>
            <a:off x="5427730" y="6934620"/>
            <a:ext cx="256025" cy="643720"/>
          </a:xfrm>
          <a:custGeom>
            <a:avLst/>
            <a:gdLst/>
            <a:ahLst/>
            <a:cxnLst/>
            <a:rect l="l" t="t" r="r" b="b"/>
            <a:pathLst>
              <a:path w="35" h="88">
                <a:moveTo>
                  <a:pt x="0" y="0"/>
                </a:moveTo>
                <a:lnTo>
                  <a:pt x="0" y="37"/>
                </a:lnTo>
                <a:lnTo>
                  <a:pt x="35" y="37"/>
                </a:lnTo>
                <a:lnTo>
                  <a:pt x="35" y="88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path 183"/>
          <p:cNvSpPr/>
          <p:nvPr/>
        </p:nvSpPr>
        <p:spPr>
          <a:xfrm>
            <a:off x="1843380" y="8105020"/>
            <a:ext cx="58520" cy="51205"/>
          </a:xfrm>
          <a:custGeom>
            <a:avLst/>
            <a:gdLst/>
            <a:ahLst/>
            <a:cxnLst/>
            <a:rect l="l" t="t" r="r" b="b"/>
            <a:pathLst>
              <a:path w="8" h="7">
                <a:moveTo>
                  <a:pt x="0" y="7"/>
                </a:moveTo>
                <a:lnTo>
                  <a:pt x="0" y="0"/>
                </a:lnTo>
                <a:lnTo>
                  <a:pt x="8" y="0"/>
                </a:lnTo>
                <a:lnTo>
                  <a:pt x="8" y="7"/>
                </a:lnTo>
              </a:path>
            </a:pathLst>
          </a:custGeom>
          <a:noFill/>
          <a:ln w="14630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 184"/>
          <p:cNvSpPr/>
          <p:nvPr/>
        </p:nvSpPr>
        <p:spPr>
          <a:xfrm>
            <a:off x="1821435" y="8154762"/>
            <a:ext cx="105336" cy="8778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167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circle 185"/>
          <p:cNvSpPr/>
          <p:nvPr/>
        </p:nvSpPr>
        <p:spPr>
          <a:xfrm>
            <a:off x="1865325" y="8181096"/>
            <a:ext cx="17556" cy="17556"/>
          </a:xfrm>
          <a:prstGeom prst="ellipse">
            <a:avLst/>
          </a:prstGeom>
          <a:solidFill>
            <a:srgbClr val="A96F1F"/>
          </a:solidFill>
          <a:ln w="7315">
            <a:solidFill>
              <a:srgbClr val="A96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 186"/>
          <p:cNvSpPr/>
          <p:nvPr/>
        </p:nvSpPr>
        <p:spPr>
          <a:xfrm>
            <a:off x="8229375" y="6195805"/>
            <a:ext cx="4645025" cy="2552935"/>
          </a:xfrm>
          <a:prstGeom prst="roundRect">
            <a:avLst>
              <a:gd name="adj" fmla="val 859"/>
            </a:avLst>
          </a:prstGeom>
          <a:solidFill>
            <a:srgbClr val="FFFFFF"/>
          </a:solidFill>
          <a:ln w="12435">
            <a:solidFill>
              <a:srgbClr val="D4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8" name="line 187"/>
          <p:cNvCxnSpPr/>
          <p:nvPr/>
        </p:nvCxnSpPr>
        <p:spPr>
          <a:xfrm>
            <a:off x="8236690" y="6203120"/>
            <a:ext cx="4630395" cy="0"/>
          </a:xfrm>
          <a:prstGeom prst="line">
            <a:avLst/>
          </a:prstGeom>
          <a:ln w="21945">
            <a:solidFill>
              <a:srgbClr val="3D6F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(e) 恢复感知准入"/>
          <p:cNvSpPr txBox="1"/>
          <p:nvPr/>
        </p:nvSpPr>
        <p:spPr>
          <a:xfrm>
            <a:off x="8390305" y="6250668"/>
            <a:ext cx="1637074" cy="3273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12" b="1" lang="zh-CN" spc="0">
                <a:solidFill>
                  <a:srgbClr val="3D6F9F"/>
                </a:solidFill>
                <a:latin typeface="Noto Sans CJK SC"/>
                <a:ea typeface="Noto Sans CJK SC"/>
              </a:rPr>
              <a:t>(e) 恢复感知准入</a:t>
            </a:r>
          </a:p>
        </p:txBody>
      </p:sp>
      <p:sp>
        <p:nvSpPr>
          <p:cNvPr id="190" name="rect 189"/>
          <p:cNvSpPr/>
          <p:nvPr/>
        </p:nvSpPr>
        <p:spPr>
          <a:xfrm>
            <a:off x="8426880" y="6678595"/>
            <a:ext cx="1214290" cy="351120"/>
          </a:xfrm>
          <a:prstGeom prst="roundRect">
            <a:avLst>
              <a:gd name="adj" fmla="val 4166"/>
            </a:avLst>
          </a:prstGeom>
          <a:solidFill>
            <a:srgbClr val="F2F4F5"/>
          </a:solidFill>
          <a:ln w="9509">
            <a:solidFill>
              <a:srgbClr val="89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_old"/>
          <p:cNvSpPr txBox="1"/>
          <p:nvPr/>
        </p:nvSpPr>
        <p:spPr>
          <a:xfrm>
            <a:off x="8734567" y="6690884"/>
            <a:ext cx="598916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r_old</a:t>
            </a:r>
          </a:p>
        </p:txBody>
      </p:sp>
      <p:sp>
        <p:nvSpPr>
          <p:cNvPr id="192" name="rect 191"/>
          <p:cNvSpPr/>
          <p:nvPr/>
        </p:nvSpPr>
        <p:spPr>
          <a:xfrm>
            <a:off x="9845990" y="6678595"/>
            <a:ext cx="1214290" cy="351120"/>
          </a:xfrm>
          <a:prstGeom prst="roundRect">
            <a:avLst>
              <a:gd name="adj" fmla="val 4166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_hot"/>
          <p:cNvSpPr txBox="1"/>
          <p:nvPr/>
        </p:nvSpPr>
        <p:spPr>
          <a:xfrm>
            <a:off x="10146362" y="6690884"/>
            <a:ext cx="613546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r_hot</a:t>
            </a:r>
          </a:p>
        </p:txBody>
      </p:sp>
      <p:sp>
        <p:nvSpPr>
          <p:cNvPr id="194" name="rect 193"/>
          <p:cNvSpPr/>
          <p:nvPr/>
        </p:nvSpPr>
        <p:spPr>
          <a:xfrm>
            <a:off x="11265100" y="6678595"/>
            <a:ext cx="1214290" cy="351120"/>
          </a:xfrm>
          <a:prstGeom prst="roundRect">
            <a:avLst>
              <a:gd name="adj" fmla="val 4166"/>
            </a:avLst>
          </a:prstGeom>
          <a:solidFill>
            <a:srgbClr val="EAF3F1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P"/>
          <p:cNvSpPr txBox="1"/>
          <p:nvPr/>
        </p:nvSpPr>
        <p:spPr>
          <a:xfrm>
            <a:off x="11762491" y="6690884"/>
            <a:ext cx="219507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P</a:t>
            </a:r>
          </a:p>
        </p:txBody>
      </p:sp>
      <p:sp>
        <p:nvSpPr>
          <p:cNvPr id="196" name="path 195"/>
          <p:cNvSpPr/>
          <p:nvPr/>
        </p:nvSpPr>
        <p:spPr>
          <a:xfrm>
            <a:off x="11118800" y="7037030"/>
            <a:ext cx="753445" cy="299915"/>
          </a:xfrm>
          <a:custGeom>
            <a:avLst/>
            <a:gdLst/>
            <a:ahLst/>
            <a:cxnLst/>
            <a:rect l="l" t="t" r="r" b="b"/>
            <a:pathLst>
              <a:path w="103" h="41">
                <a:moveTo>
                  <a:pt x="103" y="0"/>
                </a:moveTo>
                <a:lnTo>
                  <a:pt x="103" y="41"/>
                </a:lnTo>
                <a:lnTo>
                  <a:pt x="0" y="41"/>
                </a:lnTo>
              </a:path>
            </a:pathLst>
          </a:custGeom>
          <a:noFill/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7" name="path 196"/>
          <p:cNvCxnSpPr/>
          <p:nvPr/>
        </p:nvCxnSpPr>
        <p:spPr>
          <a:xfrm>
            <a:off x="10453135" y="7037030"/>
            <a:ext cx="0" cy="13167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path 197"/>
          <p:cNvSpPr/>
          <p:nvPr/>
        </p:nvSpPr>
        <p:spPr>
          <a:xfrm>
            <a:off x="9034025" y="7037030"/>
            <a:ext cx="826595" cy="299915"/>
          </a:xfrm>
          <a:custGeom>
            <a:avLst/>
            <a:gdLst/>
            <a:ahLst/>
            <a:cxnLst/>
            <a:rect l="l" t="t" r="r" b="b"/>
            <a:pathLst>
              <a:path w="113" h="41">
                <a:moveTo>
                  <a:pt x="0" y="0"/>
                </a:moveTo>
                <a:lnTo>
                  <a:pt x="0" y="41"/>
                </a:lnTo>
                <a:lnTo>
                  <a:pt x="113" y="41"/>
                </a:lnTo>
              </a:path>
            </a:pathLst>
          </a:custGeom>
          <a:noFill/>
          <a:ln w="17556">
            <a:solidFill>
              <a:srgbClr val="89959D"/>
            </a:solidFill>
            <a:prstDash val="dash"/>
            <a:tailEnd type="triangle" w="lg" len="lg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老化"/>
          <p:cNvSpPr txBox="1"/>
          <p:nvPr/>
        </p:nvSpPr>
        <p:spPr>
          <a:xfrm>
            <a:off x="8426880" y="7446670"/>
            <a:ext cx="438900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89959D"/>
                </a:solidFill>
                <a:latin typeface="Noto Sans CJK SC"/>
                <a:ea typeface="Noto Sans CJK SC"/>
              </a:rPr>
              <a:t>老化</a:t>
            </a:r>
          </a:p>
        </p:txBody>
      </p:sp>
      <p:sp>
        <p:nvSpPr>
          <p:cNvPr id="200" name="path 199"/>
          <p:cNvSpPr/>
          <p:nvPr/>
        </p:nvSpPr>
        <p:spPr>
          <a:xfrm>
            <a:off x="12128270" y="7080920"/>
            <a:ext cx="58520" cy="51205"/>
          </a:xfrm>
          <a:custGeom>
            <a:avLst/>
            <a:gdLst/>
            <a:ahLst/>
            <a:cxnLst/>
            <a:rect l="l" t="t" r="r" b="b"/>
            <a:pathLst>
              <a:path w="8" h="7">
                <a:moveTo>
                  <a:pt x="0" y="7"/>
                </a:moveTo>
                <a:lnTo>
                  <a:pt x="0" y="0"/>
                </a:lnTo>
                <a:lnTo>
                  <a:pt x="8" y="0"/>
                </a:lnTo>
                <a:lnTo>
                  <a:pt x="8" y="7"/>
                </a:lnTo>
              </a:path>
            </a:pathLst>
          </a:custGeom>
          <a:noFill/>
          <a:ln w="14630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 200"/>
          <p:cNvSpPr/>
          <p:nvPr/>
        </p:nvSpPr>
        <p:spPr>
          <a:xfrm>
            <a:off x="12106325" y="7130662"/>
            <a:ext cx="105336" cy="8778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3167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circle 201"/>
          <p:cNvSpPr/>
          <p:nvPr/>
        </p:nvSpPr>
        <p:spPr>
          <a:xfrm>
            <a:off x="12150215" y="7156996"/>
            <a:ext cx="17556" cy="17556"/>
          </a:xfrm>
          <a:prstGeom prst="ellipse">
            <a:avLst/>
          </a:prstGeom>
          <a:solidFill>
            <a:srgbClr val="357B73"/>
          </a:solidFill>
          <a:ln w="7315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 202"/>
          <p:cNvSpPr/>
          <p:nvPr/>
        </p:nvSpPr>
        <p:spPr>
          <a:xfrm>
            <a:off x="9875250" y="7183330"/>
            <a:ext cx="1228920" cy="32186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排序"/>
          <p:cNvSpPr txBox="1"/>
          <p:nvPr/>
        </p:nvSpPr>
        <p:spPr>
          <a:xfrm>
            <a:off x="10255630" y="7187646"/>
            <a:ext cx="468160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排序</a:t>
            </a:r>
          </a:p>
        </p:txBody>
      </p:sp>
      <p:cxnSp>
        <p:nvCxnSpPr>
          <p:cNvPr id="205" name="path 204"/>
          <p:cNvCxnSpPr/>
          <p:nvPr/>
        </p:nvCxnSpPr>
        <p:spPr>
          <a:xfrm>
            <a:off x="10482395" y="7512505"/>
            <a:ext cx="0" cy="24139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 205"/>
          <p:cNvSpPr/>
          <p:nvPr/>
        </p:nvSpPr>
        <p:spPr>
          <a:xfrm>
            <a:off x="8653645" y="7775845"/>
            <a:ext cx="1038730" cy="358435"/>
          </a:xfrm>
          <a:prstGeom prst="roundRect">
            <a:avLst>
              <a:gd name="adj" fmla="val 4081"/>
            </a:avLst>
          </a:prstGeom>
          <a:solidFill>
            <a:srgbClr val="EAF3F1"/>
          </a:solidFill>
          <a:ln w="9509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KV"/>
          <p:cNvSpPr txBox="1"/>
          <p:nvPr/>
        </p:nvSpPr>
        <p:spPr>
          <a:xfrm>
            <a:off x="9002108" y="7791792"/>
            <a:ext cx="341805" cy="3182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5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KV</a:t>
            </a:r>
          </a:p>
        </p:txBody>
      </p:sp>
      <p:sp>
        <p:nvSpPr>
          <p:cNvPr id="208" name="rect 207"/>
          <p:cNvSpPr/>
          <p:nvPr/>
        </p:nvSpPr>
        <p:spPr>
          <a:xfrm>
            <a:off x="11235840" y="7775845"/>
            <a:ext cx="1038730" cy="358435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执行槽"/>
          <p:cNvSpPr txBox="1"/>
          <p:nvPr/>
        </p:nvSpPr>
        <p:spPr>
          <a:xfrm>
            <a:off x="11426030" y="7798448"/>
            <a:ext cx="658350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执行槽</a:t>
            </a:r>
          </a:p>
        </p:txBody>
      </p:sp>
      <p:cxnSp>
        <p:nvCxnSpPr>
          <p:cNvPr id="210" name="path 209"/>
          <p:cNvCxnSpPr/>
          <p:nvPr/>
        </p:nvCxnSpPr>
        <p:spPr>
          <a:xfrm>
            <a:off x="9699690" y="7951405"/>
            <a:ext cx="431585" cy="0"/>
          </a:xfrm>
          <a:prstGeom prst="line">
            <a:avLst/>
          </a:prstGeom>
          <a:ln w="17556">
            <a:solidFill>
              <a:srgbClr val="357B73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path 210"/>
          <p:cNvCxnSpPr/>
          <p:nvPr/>
        </p:nvCxnSpPr>
        <p:spPr>
          <a:xfrm flipH="1">
            <a:off x="10796940" y="7951405"/>
            <a:ext cx="438900" cy="0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circle 211"/>
          <p:cNvSpPr/>
          <p:nvPr/>
        </p:nvSpPr>
        <p:spPr>
          <a:xfrm>
            <a:off x="10299520" y="7768530"/>
            <a:ext cx="365750" cy="365750"/>
          </a:xfrm>
          <a:prstGeom prst="ellipse">
            <a:avLst/>
          </a:prstGeom>
          <a:solidFill>
            <a:srgbClr val="FFFFFF"/>
          </a:solidFill>
          <a:ln w="13167">
            <a:solidFill>
              <a:srgbClr val="2637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&amp;"/>
          <p:cNvSpPr txBox="1"/>
          <p:nvPr/>
        </p:nvSpPr>
        <p:spPr>
          <a:xfrm>
            <a:off x="10351897" y="7752071"/>
            <a:ext cx="260997" cy="369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3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&amp;</a:t>
            </a:r>
          </a:p>
        </p:txBody>
      </p:sp>
      <p:cxnSp>
        <p:nvCxnSpPr>
          <p:cNvPr id="214" name="path 213"/>
          <p:cNvCxnSpPr/>
          <p:nvPr/>
        </p:nvCxnSpPr>
        <p:spPr>
          <a:xfrm>
            <a:off x="10482395" y="8148910"/>
            <a:ext cx="0" cy="329175"/>
          </a:xfrm>
          <a:prstGeom prst="line">
            <a:avLst/>
          </a:prstGeom>
          <a:ln w="17556">
            <a:solidFill>
              <a:srgbClr val="3D6F9F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rect 214"/>
          <p:cNvSpPr/>
          <p:nvPr/>
        </p:nvSpPr>
        <p:spPr>
          <a:xfrm>
            <a:off x="9816730" y="8492715"/>
            <a:ext cx="1331330" cy="256025"/>
          </a:xfrm>
          <a:prstGeom prst="roundRect">
            <a:avLst>
              <a:gd name="adj" fmla="val 5714"/>
            </a:avLst>
          </a:prstGeom>
          <a:solidFill>
            <a:srgbClr val="EDF3F8"/>
          </a:solidFill>
          <a:ln w="9509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PU"/>
          <p:cNvSpPr txBox="1"/>
          <p:nvPr/>
        </p:nvSpPr>
        <p:spPr>
          <a:xfrm>
            <a:off x="10235757" y="8464113"/>
            <a:ext cx="493277" cy="3054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97" b="1" lang="zh-CN" spc="0">
                <a:solidFill>
                  <a:srgbClr val="263746"/>
                </a:solidFill>
                <a:latin typeface="Noto Sans CJK SC"/>
                <a:ea typeface="Noto Sans CJK SC"/>
              </a:rPr>
              <a:t>GPU</a:t>
            </a:r>
          </a:p>
        </p:txBody>
      </p:sp>
      <p:sp>
        <p:nvSpPr>
          <p:cNvPr id="217" name="rect 216"/>
          <p:cNvSpPr/>
          <p:nvPr/>
        </p:nvSpPr>
        <p:spPr>
          <a:xfrm>
            <a:off x="468160" y="8558550"/>
            <a:ext cx="197505" cy="153615"/>
          </a:xfrm>
          <a:prstGeom prst="roundRect">
            <a:avLst>
              <a:gd name="adj" fmla="val 4761"/>
            </a:avLst>
          </a:prstGeom>
          <a:solidFill>
            <a:srgbClr val="EDF3F8"/>
          </a:solidFill>
          <a:ln w="10972">
            <a:solidFill>
              <a:srgbClr val="3D6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已驻留"/>
          <p:cNvSpPr txBox="1"/>
          <p:nvPr/>
        </p:nvSpPr>
        <p:spPr>
          <a:xfrm>
            <a:off x="753445" y="8492715"/>
            <a:ext cx="614460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3D6F9F"/>
                </a:solidFill>
                <a:latin typeface="Noto Sans CJK SC"/>
                <a:ea typeface="Noto Sans CJK SC"/>
              </a:rPr>
              <a:t>已驻留</a:t>
            </a:r>
          </a:p>
        </p:txBody>
      </p:sp>
      <p:sp>
        <p:nvSpPr>
          <p:cNvPr id="219" name="rect 218"/>
          <p:cNvSpPr/>
          <p:nvPr/>
        </p:nvSpPr>
        <p:spPr>
          <a:xfrm>
            <a:off x="1923845" y="8558550"/>
            <a:ext cx="197505" cy="153615"/>
          </a:xfrm>
          <a:prstGeom prst="roundRect">
            <a:avLst>
              <a:gd name="adj" fmla="val 4761"/>
            </a:avLst>
          </a:prstGeom>
          <a:solidFill>
            <a:srgbClr val="EAF3F1"/>
          </a:solidFill>
          <a:ln w="10972">
            <a:solidFill>
              <a:srgbClr val="357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本次恢复"/>
          <p:cNvSpPr txBox="1"/>
          <p:nvPr/>
        </p:nvSpPr>
        <p:spPr>
          <a:xfrm>
            <a:off x="2209130" y="8492715"/>
            <a:ext cx="790020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357B73"/>
                </a:solidFill>
                <a:latin typeface="Noto Sans CJK SC"/>
                <a:ea typeface="Noto Sans CJK SC"/>
              </a:rPr>
              <a:t>本次恢复</a:t>
            </a:r>
          </a:p>
        </p:txBody>
      </p:sp>
      <p:sp>
        <p:nvSpPr>
          <p:cNvPr id="221" name="rect 220"/>
          <p:cNvSpPr/>
          <p:nvPr/>
        </p:nvSpPr>
        <p:spPr>
          <a:xfrm>
            <a:off x="3496570" y="8558550"/>
            <a:ext cx="197505" cy="153615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10972">
            <a:solidFill>
              <a:srgbClr val="89959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延后"/>
          <p:cNvSpPr txBox="1"/>
          <p:nvPr/>
        </p:nvSpPr>
        <p:spPr>
          <a:xfrm>
            <a:off x="3781855" y="8492715"/>
            <a:ext cx="438900" cy="285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2" b="0" lang="zh-CN" spc="0">
                <a:solidFill>
                  <a:srgbClr val="89959D"/>
                </a:solidFill>
                <a:latin typeface="Noto Sans CJK SC"/>
                <a:ea typeface="Noto Sans CJK SC"/>
              </a:rPr>
              <a:t>延后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BeliefKV 系统架构图</dc:title>
  <dc:subject>Current development architecture as of 2026-10-14</dc:subject>
  <dc:creator>BeliefKV</dc:creator>
  <cp:keywords>BeliefKV, dynamic agent workflows, KV cache, native editable diagrams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