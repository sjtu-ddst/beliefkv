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3167360" cy="87782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架构基线：2026-10-15 当前开发实现，不代表所有运行实验的冻结代码。RCCG 接收运行时事件，GraphDelta 增量更新受影响的等待成员组。文本阶段/工作量推理在独立 CPU 进程执行，工具历史提供条件时机提示。NativeAdmissionRuntime 联合因果身份、checkpoint、时机、容量和下一批观测。受支持的 overlap 配置下，等待迁移规划安排在 forward 发射后。原生可见等待队列、PrefillAdder、分配器和数据依赖保持权威。虚线表达观测反馈，不表示所有控制工作均异步。显式完成通知属于 harness 协议，应在所有对照组保持一致。root 可以在 JOIN 后再次 spawn；当前 child harness 不提供嵌套 task 委派。页和请求票据的颜色表示归属，驻留状态由位置及实虚边框表达。NOTICE 是已观测到的收尾通知，不是真实终态标签。控制面结合 checkpoint、实测时机、原生容量和候选顺序；数据面的 FULL 页与 Mamba 槽分别核算。代码：causal_graph.py、semantic_report_worker.py、sglang_v0520_runtime.py 的 scheduler_step / dispatch_after_forward / plan_native_prefill，以及 staging patch。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阶段模型融合冻结文本表示与事件/进度特征，条件剩余工作头可独立拟合。圆内平行线表示特征拼接，不是相加；网络和权重矩阵图形不表示实际层数。两头共享冻结编码器权重，配置工作头独立文本窗口时可另外编码已送达正文。工作量区间不是已校准的完整 JOIN 联合区间。当前内容驱动的 JOIN_ALL 路径关注唯一未返回 child；较早通知可以保留，在 sibling 返回后重新绑定。新预测可在入队前前移或后移工作端点，center 被越过时仅使用仍有效的 upper。max(W−ΔN,0)/实测速率是剩余生成时长提示，不包含未来排队，也不是 RETURN 墙钟保证。无工具 EOS 作为独立证据。工具 CDF 以仍在执行为条件，使用已完成调用历史及回退；当前工具迁移路径要求至多一个活跃调用。H 严格对应 transfer_start_window：min(提前驻留上限, ACK P90 + 入队 P90 + 观测间隔 + 提前完成余量)。服务耗时按方向、形态、大小从实际 ACK 历史取得。同 checkpoint 的计划缩小时，直接估计优先，缺支持可沿用较大已支持计划的当前成本预算，不按字节缩放固定 ACK 开销。时序仅为机制示意，允许部分重叠。t0/t1/t2、区间、历史记录及 CDF 都是机制示意，不是实测。输入 notice=1是在线可观测信息，不把真实 final 阶段标签作为模型输入。工具条件 CDF对尚未完成的历史概率质量重新归一化。代码：child_semantic_work.py、conditional_work.py、native_transfer_policy.py、native_transfer_service.py 与 runtime 的 _roll_final_stage / _roll_tool_prefetch / _wait_prefetch_timing_valid / _h2d_start_window。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真实压力下增量备份稳定 FULL 前缀。PREPARE_HOST 不释放 HBM、不投机备份 Mamba；原生压力回收可释放已备份冷 FULL，并保留仍需使用的 Mamba。选择可复用的安全输入 checkpoint，从根到叶恢复缺失祖先和必要状态，并非恢复所有历史 Mamba。FULL、Mamba、字节与输入增长预算分别核算。容量不足允许页对齐的部分 FULL 恢复，状态或尾段可以延后。FULL pipeline 按原生逐层依赖准入；必要 Mamba 或旧式加载依赖未就绪时仍等待。ACK 管理事务和驻留生命周期，不是所有请求执行的统一屏障。有界原生锁、恢复/HBM命中排序和普通请求老化支持消费，但不保证每次命中。终态 child 只回收已失去用途的私有后缀，受阻部分重试，共享祖先保留。回收容量不是 parent 独占预留，也不要求复用 child 原来的物理页号。较早 sibling 可以支持 RETURN 前 H2D；最后 child 释放容量后属于需求恢复。代码：physical 的 plan_prefetch_gpu_steps、native_residency_budget、runtime 的 _apply_terminal_child_reclaim / _wait_prefetch_opportunity / defer_prefill_for_prefetch / plan_native_prefill，以及 staging patch 对应缓存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eliefKV：工作流感知的执行与 KV 协同管理"/>
          <p:cNvSpPr txBox="1"/>
          <p:nvPr/>
        </p:nvSpPr>
        <p:spPr>
          <a:xfrm>
            <a:off x="292600" y="58520"/>
            <a:ext cx="5461619" cy="422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31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BeliefKV：工作流感知的执行与 KV 协同管理</a:t>
            </a:r>
          </a:p>
        </p:txBody>
      </p:sp>
      <p:sp>
        <p:nvSpPr>
          <p:cNvPr id="3" name="运行时依赖 → 近期执行需求 → 页级迁移、驻留与原生准入"/>
          <p:cNvSpPr txBox="1"/>
          <p:nvPr/>
        </p:nvSpPr>
        <p:spPr>
          <a:xfrm>
            <a:off x="292600" y="438900"/>
            <a:ext cx="4634052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运行时依赖 → 近期执行需求 → 页级迁移、驻留与原生准入</a:t>
            </a:r>
          </a:p>
        </p:txBody>
      </p:sp>
      <p:cxnSp>
        <p:nvCxnSpPr>
          <p:cNvPr id="4" name="line 3"/>
          <p:cNvCxnSpPr/>
          <p:nvPr/>
        </p:nvCxnSpPr>
        <p:spPr>
          <a:xfrm>
            <a:off x="292600" y="790020"/>
            <a:ext cx="12581800" cy="0"/>
          </a:xfrm>
          <a:prstGeom prst="line">
            <a:avLst/>
          </a:prstGeom>
          <a:ln w="11704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4"/>
          <p:cNvSpPr/>
          <p:nvPr/>
        </p:nvSpPr>
        <p:spPr>
          <a:xfrm>
            <a:off x="234080" y="907060"/>
            <a:ext cx="12698840" cy="1111880"/>
          </a:xfrm>
          <a:prstGeom prst="roundRect">
            <a:avLst>
              <a:gd name="adj" fmla="val 1315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 5"/>
          <p:cNvSpPr/>
          <p:nvPr/>
        </p:nvSpPr>
        <p:spPr>
          <a:xfrm>
            <a:off x="234080" y="907060"/>
            <a:ext cx="1269884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 harness：动态请求与完成信号"/>
          <p:cNvSpPr txBox="1"/>
          <p:nvPr/>
        </p:nvSpPr>
        <p:spPr>
          <a:xfrm>
            <a:off x="336490" y="915180"/>
            <a:ext cx="3315009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Agent harness：动态请求与完成信号</a:t>
            </a:r>
          </a:p>
        </p:txBody>
      </p:sp>
      <p:sp>
        <p:nvSpPr>
          <p:cNvPr id="8" name="circle 7"/>
          <p:cNvSpPr/>
          <p:nvPr/>
        </p:nvSpPr>
        <p:spPr>
          <a:xfrm>
            <a:off x="431585" y="1433740"/>
            <a:ext cx="351120" cy="351120"/>
          </a:xfrm>
          <a:prstGeom prst="ellipse">
            <a:avLst/>
          </a:prstGeom>
          <a:solidFill>
            <a:srgbClr val="E9A6BF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"/>
          <p:cNvSpPr txBox="1"/>
          <p:nvPr/>
        </p:nvSpPr>
        <p:spPr>
          <a:xfrm>
            <a:off x="507150" y="1470827"/>
            <a:ext cx="19999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0" name="circle 9"/>
          <p:cNvSpPr/>
          <p:nvPr/>
        </p:nvSpPr>
        <p:spPr>
          <a:xfrm>
            <a:off x="1623930" y="1250865"/>
            <a:ext cx="336490" cy="336490"/>
          </a:xfrm>
          <a:prstGeom prst="ellipse">
            <a:avLst/>
          </a:prstGeom>
          <a:solidFill>
            <a:srgbClr val="B5D68B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1"/>
          <p:cNvSpPr txBox="1"/>
          <p:nvPr/>
        </p:nvSpPr>
        <p:spPr>
          <a:xfrm>
            <a:off x="1648018" y="1285465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12" name="circle 11"/>
          <p:cNvSpPr/>
          <p:nvPr/>
        </p:nvSpPr>
        <p:spPr>
          <a:xfrm>
            <a:off x="1623930" y="1631245"/>
            <a:ext cx="336490" cy="336490"/>
          </a:xfrm>
          <a:prstGeom prst="ellipse">
            <a:avLst/>
          </a:prstGeom>
          <a:solidFill>
            <a:srgbClr val="F2BD7D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2"/>
          <p:cNvSpPr txBox="1"/>
          <p:nvPr/>
        </p:nvSpPr>
        <p:spPr>
          <a:xfrm>
            <a:off x="1648018" y="1665845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14" name="rect 13"/>
          <p:cNvSpPr/>
          <p:nvPr/>
        </p:nvSpPr>
        <p:spPr>
          <a:xfrm>
            <a:off x="2538305" y="1280125"/>
            <a:ext cx="694925" cy="292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line 14"/>
          <p:cNvCxnSpPr/>
          <p:nvPr/>
        </p:nvCxnSpPr>
        <p:spPr>
          <a:xfrm>
            <a:off x="2545620" y="1341571"/>
            <a:ext cx="680295" cy="0"/>
          </a:xfrm>
          <a:prstGeom prst="line">
            <a:avLst/>
          </a:prstGeom>
          <a:ln w="7315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ath 15"/>
          <p:cNvSpPr/>
          <p:nvPr/>
        </p:nvSpPr>
        <p:spPr>
          <a:xfrm>
            <a:off x="2655345" y="1404480"/>
            <a:ext cx="80465" cy="109725"/>
          </a:xfrm>
          <a:custGeom>
            <a:avLst/>
            <a:gdLst/>
            <a:ahLst/>
            <a:cxnLst/>
            <a:rect l="l" t="t" r="r" b="b"/>
            <a:pathLst>
              <a:path w="11" h="15">
                <a:moveTo>
                  <a:pt x="0" y="0"/>
                </a:moveTo>
                <a:lnTo>
                  <a:pt x="11" y="7"/>
                </a:lnTo>
                <a:lnTo>
                  <a:pt x="0" y="15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line 16"/>
          <p:cNvCxnSpPr/>
          <p:nvPr/>
        </p:nvCxnSpPr>
        <p:spPr>
          <a:xfrm>
            <a:off x="2816275" y="1508353"/>
            <a:ext cx="314545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olygon 17"/>
          <p:cNvSpPr/>
          <p:nvPr/>
        </p:nvSpPr>
        <p:spPr>
          <a:xfrm>
            <a:off x="3642870" y="1367905"/>
            <a:ext cx="775390" cy="482790"/>
          </a:xfrm>
          <a:custGeom>
            <a:avLst/>
            <a:gdLst/>
            <a:ahLst/>
            <a:cxnLst/>
            <a:rect l="l" t="t" r="r" b="b"/>
            <a:pathLst>
              <a:path w="106" h="66">
                <a:moveTo>
                  <a:pt x="53" y="0"/>
                </a:moveTo>
                <a:lnTo>
                  <a:pt x="106" y="33"/>
                </a:lnTo>
                <a:lnTo>
                  <a:pt x="53" y="66"/>
                </a:lnTo>
                <a:lnTo>
                  <a:pt x="0" y="33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JOIN"/>
          <p:cNvSpPr txBox="1"/>
          <p:nvPr/>
        </p:nvSpPr>
        <p:spPr>
          <a:xfrm>
            <a:off x="3774497" y="1470315"/>
            <a:ext cx="512136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JOIN</a:t>
            </a:r>
          </a:p>
        </p:txBody>
      </p:sp>
      <p:sp>
        <p:nvSpPr>
          <p:cNvPr id="20" name="circle 19"/>
          <p:cNvSpPr/>
          <p:nvPr/>
        </p:nvSpPr>
        <p:spPr>
          <a:xfrm>
            <a:off x="4886420" y="1433740"/>
            <a:ext cx="351120" cy="351120"/>
          </a:xfrm>
          <a:prstGeom prst="ellipse">
            <a:avLst/>
          </a:prstGeom>
          <a:solidFill>
            <a:srgbClr val="E9A6BF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"/>
          <p:cNvSpPr txBox="1"/>
          <p:nvPr/>
        </p:nvSpPr>
        <p:spPr>
          <a:xfrm>
            <a:off x="4961985" y="1470827"/>
            <a:ext cx="19999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cxnSp>
        <p:nvCxnSpPr>
          <p:cNvPr id="22" name="path 21"/>
          <p:cNvCxnSpPr/>
          <p:nvPr/>
        </p:nvCxnSpPr>
        <p:spPr>
          <a:xfrm flipV="1">
            <a:off x="797335" y="1433740"/>
            <a:ext cx="797335" cy="109725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head 22"/>
          <p:cNvSpPr/>
          <p:nvPr/>
        </p:nvSpPr>
        <p:spPr>
          <a:xfrm>
            <a:off x="1470315" y="1382535"/>
            <a:ext cx="146300" cy="131670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20" y="7"/>
                </a:moveTo>
                <a:lnTo>
                  <a:pt x="3" y="18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path 23"/>
          <p:cNvCxnSpPr/>
          <p:nvPr/>
        </p:nvCxnSpPr>
        <p:spPr>
          <a:xfrm>
            <a:off x="797335" y="1689765"/>
            <a:ext cx="797335" cy="10241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head 24"/>
          <p:cNvSpPr/>
          <p:nvPr/>
        </p:nvSpPr>
        <p:spPr>
          <a:xfrm>
            <a:off x="1470315" y="1711710"/>
            <a:ext cx="146300" cy="131670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20" y="11"/>
                </a:moveTo>
                <a:lnTo>
                  <a:pt x="0" y="18"/>
                </a:lnTo>
                <a:lnTo>
                  <a:pt x="3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path 25"/>
          <p:cNvCxnSpPr/>
          <p:nvPr/>
        </p:nvCxnSpPr>
        <p:spPr>
          <a:xfrm>
            <a:off x="1975050" y="1419110"/>
            <a:ext cx="533995" cy="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head 26"/>
          <p:cNvSpPr/>
          <p:nvPr/>
        </p:nvSpPr>
        <p:spPr>
          <a:xfrm>
            <a:off x="2399320" y="135327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ath 27"/>
          <p:cNvSpPr/>
          <p:nvPr/>
        </p:nvSpPr>
        <p:spPr>
          <a:xfrm>
            <a:off x="3255175" y="1419110"/>
            <a:ext cx="387695" cy="109725"/>
          </a:xfrm>
          <a:custGeom>
            <a:avLst/>
            <a:gdLst/>
            <a:ahLst/>
            <a:cxnLst/>
            <a:rect l="l" t="t" r="r" b="b"/>
            <a:pathLst>
              <a:path w="53" h="15">
                <a:moveTo>
                  <a:pt x="0" y="0"/>
                </a:moveTo>
                <a:lnTo>
                  <a:pt x="29" y="0"/>
                </a:lnTo>
                <a:lnTo>
                  <a:pt x="53" y="15"/>
                </a:lnTo>
              </a:path>
            </a:pathLst>
          </a:custGeom>
          <a:noFill/>
          <a:ln w="19019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rrowhead 28"/>
          <p:cNvSpPr/>
          <p:nvPr/>
        </p:nvSpPr>
        <p:spPr>
          <a:xfrm>
            <a:off x="3511200" y="1411795"/>
            <a:ext cx="146300" cy="124355"/>
          </a:xfrm>
          <a:custGeom>
            <a:avLst/>
            <a:gdLst/>
            <a:ahLst/>
            <a:cxnLst/>
            <a:rect l="l" t="t" r="r" b="b"/>
            <a:pathLst>
              <a:path w="20" h="17">
                <a:moveTo>
                  <a:pt x="20" y="17"/>
                </a:moveTo>
                <a:lnTo>
                  <a:pt x="0" y="16"/>
                </a:lnTo>
                <a:lnTo>
                  <a:pt x="1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ath 29"/>
          <p:cNvSpPr/>
          <p:nvPr/>
        </p:nvSpPr>
        <p:spPr>
          <a:xfrm>
            <a:off x="1975050" y="1697080"/>
            <a:ext cx="1667820" cy="102410"/>
          </a:xfrm>
          <a:custGeom>
            <a:avLst/>
            <a:gdLst/>
            <a:ahLst/>
            <a:cxnLst/>
            <a:rect l="l" t="t" r="r" b="b"/>
            <a:pathLst>
              <a:path w="228" h="14">
                <a:moveTo>
                  <a:pt x="0" y="14"/>
                </a:moveTo>
                <a:lnTo>
                  <a:pt x="204" y="14"/>
                </a:lnTo>
                <a:lnTo>
                  <a:pt x="228" y="0"/>
                </a:lnTo>
              </a:path>
            </a:pathLst>
          </a:custGeom>
          <a:noFill/>
          <a:ln w="19019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rrowhead 30"/>
          <p:cNvSpPr/>
          <p:nvPr/>
        </p:nvSpPr>
        <p:spPr>
          <a:xfrm>
            <a:off x="3511200" y="1689765"/>
            <a:ext cx="146300" cy="124355"/>
          </a:xfrm>
          <a:custGeom>
            <a:avLst/>
            <a:gdLst/>
            <a:ahLst/>
            <a:cxnLst/>
            <a:rect l="l" t="t" r="r" b="b"/>
            <a:pathLst>
              <a:path w="20" h="17">
                <a:moveTo>
                  <a:pt x="20" y="0"/>
                </a:moveTo>
                <a:lnTo>
                  <a:pt x="9" y="17"/>
                </a:lnTo>
                <a:lnTo>
                  <a:pt x="0" y="1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path 31"/>
          <p:cNvCxnSpPr/>
          <p:nvPr/>
        </p:nvCxnSpPr>
        <p:spPr>
          <a:xfrm>
            <a:off x="4440205" y="1609300"/>
            <a:ext cx="424270" cy="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head 32"/>
          <p:cNvSpPr/>
          <p:nvPr/>
        </p:nvSpPr>
        <p:spPr>
          <a:xfrm>
            <a:off x="4754750" y="154346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PAWN"/>
          <p:cNvSpPr txBox="1"/>
          <p:nvPr/>
        </p:nvSpPr>
        <p:spPr>
          <a:xfrm>
            <a:off x="936320" y="1174058"/>
            <a:ext cx="607316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SPAWN</a:t>
            </a:r>
          </a:p>
        </p:txBody>
      </p:sp>
      <p:sp>
        <p:nvSpPr>
          <p:cNvPr id="35" name="WAIT_TOOL"/>
          <p:cNvSpPr txBox="1"/>
          <p:nvPr/>
        </p:nvSpPr>
        <p:spPr>
          <a:xfrm>
            <a:off x="2538305" y="1812291"/>
            <a:ext cx="897688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WAIT_TOOL</a:t>
            </a:r>
          </a:p>
        </p:txBody>
      </p:sp>
      <p:sp>
        <p:nvSpPr>
          <p:cNvPr id="36" name="path 35"/>
          <p:cNvSpPr/>
          <p:nvPr/>
        </p:nvSpPr>
        <p:spPr>
          <a:xfrm>
            <a:off x="5061980" y="1653190"/>
            <a:ext cx="819280" cy="226765"/>
          </a:xfrm>
          <a:custGeom>
            <a:avLst/>
            <a:gdLst/>
            <a:ahLst/>
            <a:cxnLst/>
            <a:rect l="l" t="t" r="r" b="b"/>
            <a:pathLst>
              <a:path w="112" h="31">
                <a:moveTo>
                  <a:pt x="27" y="0"/>
                </a:moveTo>
                <a:lnTo>
                  <a:pt x="112" y="0"/>
                </a:lnTo>
                <a:lnTo>
                  <a:pt x="112" y="31"/>
                </a:lnTo>
                <a:lnTo>
                  <a:pt x="0" y="31"/>
                </a:lnTo>
                <a:lnTo>
                  <a:pt x="0" y="22"/>
                </a:lnTo>
              </a:path>
            </a:pathLst>
          </a:custGeom>
          <a:noFill/>
          <a:ln w="14630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rrowhead 36"/>
          <p:cNvSpPr/>
          <p:nvPr/>
        </p:nvSpPr>
        <p:spPr>
          <a:xfrm>
            <a:off x="5010775" y="179949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0"/>
                </a:moveTo>
                <a:lnTo>
                  <a:pt x="14" y="14"/>
                </a:lnTo>
                <a:lnTo>
                  <a:pt x="0" y="14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下一轮"/>
          <p:cNvSpPr txBox="1"/>
          <p:nvPr/>
        </p:nvSpPr>
        <p:spPr>
          <a:xfrm>
            <a:off x="5339950" y="1247208"/>
            <a:ext cx="54862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下一轮</a:t>
            </a:r>
          </a:p>
        </p:txBody>
      </p:sp>
      <p:cxnSp>
        <p:nvCxnSpPr>
          <p:cNvPr id="39" name="line 38"/>
          <p:cNvCxnSpPr/>
          <p:nvPr/>
        </p:nvCxnSpPr>
        <p:spPr>
          <a:xfrm>
            <a:off x="6173860" y="1265495"/>
            <a:ext cx="0" cy="665665"/>
          </a:xfrm>
          <a:prstGeom prst="line">
            <a:avLst/>
          </a:prstGeom>
          <a:ln w="8778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 39"/>
          <p:cNvSpPr/>
          <p:nvPr/>
        </p:nvSpPr>
        <p:spPr>
          <a:xfrm>
            <a:off x="6334790" y="1272810"/>
            <a:ext cx="892430" cy="21945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ontext"/>
          <p:cNvSpPr txBox="1"/>
          <p:nvPr/>
        </p:nvSpPr>
        <p:spPr>
          <a:xfrm>
            <a:off x="6393310" y="1258546"/>
            <a:ext cx="626604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context</a:t>
            </a:r>
          </a:p>
        </p:txBody>
      </p:sp>
      <p:sp>
        <p:nvSpPr>
          <p:cNvPr id="42" name="rect 41"/>
          <p:cNvSpPr/>
          <p:nvPr/>
        </p:nvSpPr>
        <p:spPr>
          <a:xfrm>
            <a:off x="7227220" y="1272810"/>
            <a:ext cx="672980" cy="21945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poch"/>
          <p:cNvSpPr txBox="1"/>
          <p:nvPr/>
        </p:nvSpPr>
        <p:spPr>
          <a:xfrm>
            <a:off x="7285740" y="1258546"/>
            <a:ext cx="529309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epoch</a:t>
            </a:r>
          </a:p>
        </p:txBody>
      </p:sp>
      <p:sp>
        <p:nvSpPr>
          <p:cNvPr id="44" name="rect 43"/>
          <p:cNvSpPr/>
          <p:nvPr/>
        </p:nvSpPr>
        <p:spPr>
          <a:xfrm>
            <a:off x="7900200" y="1272810"/>
            <a:ext cx="994840" cy="21945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quest"/>
          <p:cNvSpPr txBox="1"/>
          <p:nvPr/>
        </p:nvSpPr>
        <p:spPr>
          <a:xfrm>
            <a:off x="7958720" y="1258546"/>
            <a:ext cx="637862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request</a:t>
            </a:r>
          </a:p>
        </p:txBody>
      </p:sp>
      <p:sp>
        <p:nvSpPr>
          <p:cNvPr id="46" name="rect 45"/>
          <p:cNvSpPr/>
          <p:nvPr/>
        </p:nvSpPr>
        <p:spPr>
          <a:xfrm>
            <a:off x="6334790" y="1492260"/>
            <a:ext cx="892430" cy="21945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P / C"/>
          <p:cNvSpPr txBox="1"/>
          <p:nvPr/>
        </p:nvSpPr>
        <p:spPr>
          <a:xfrm>
            <a:off x="6393310" y="1477996"/>
            <a:ext cx="396639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 / C</a:t>
            </a:r>
          </a:p>
        </p:txBody>
      </p:sp>
      <p:sp>
        <p:nvSpPr>
          <p:cNvPr id="48" name="rect 47"/>
          <p:cNvSpPr/>
          <p:nvPr/>
        </p:nvSpPr>
        <p:spPr>
          <a:xfrm>
            <a:off x="7227220" y="1492260"/>
            <a:ext cx="672980" cy="21945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"/>
          <p:cNvSpPr txBox="1"/>
          <p:nvPr/>
        </p:nvSpPr>
        <p:spPr>
          <a:xfrm>
            <a:off x="7285740" y="1477996"/>
            <a:ext cx="168816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e</a:t>
            </a:r>
          </a:p>
        </p:txBody>
      </p:sp>
      <p:sp>
        <p:nvSpPr>
          <p:cNvPr id="50" name="rect 49"/>
          <p:cNvSpPr/>
          <p:nvPr/>
        </p:nvSpPr>
        <p:spPr>
          <a:xfrm>
            <a:off x="7900200" y="1492260"/>
            <a:ext cx="994840" cy="21945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"/>
          <p:cNvSpPr txBox="1"/>
          <p:nvPr/>
        </p:nvSpPr>
        <p:spPr>
          <a:xfrm>
            <a:off x="7958720" y="1477996"/>
            <a:ext cx="144557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r</a:t>
            </a:r>
          </a:p>
        </p:txBody>
      </p:sp>
      <p:sp>
        <p:nvSpPr>
          <p:cNvPr id="52" name="因果身份"/>
          <p:cNvSpPr txBox="1"/>
          <p:nvPr/>
        </p:nvSpPr>
        <p:spPr>
          <a:xfrm>
            <a:off x="7256480" y="1708052"/>
            <a:ext cx="70224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因果身份</a:t>
            </a:r>
          </a:p>
        </p:txBody>
      </p:sp>
      <p:sp>
        <p:nvSpPr>
          <p:cNvPr id="53" name="rect 52"/>
          <p:cNvSpPr/>
          <p:nvPr/>
        </p:nvSpPr>
        <p:spPr>
          <a:xfrm>
            <a:off x="9180325" y="1258180"/>
            <a:ext cx="702240" cy="563255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389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polygon 53"/>
          <p:cNvSpPr/>
          <p:nvPr/>
        </p:nvSpPr>
        <p:spPr>
          <a:xfrm>
            <a:off x="9707005" y="1258180"/>
            <a:ext cx="175560" cy="17556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0" y="0"/>
                </a:moveTo>
                <a:lnTo>
                  <a:pt x="24" y="24"/>
                </a:lnTo>
                <a:lnTo>
                  <a:pt x="0" y="24"/>
                </a:lnTo>
                <a:close/>
              </a:path>
            </a:pathLst>
          </a:cu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 54"/>
          <p:cNvSpPr/>
          <p:nvPr/>
        </p:nvSpPr>
        <p:spPr>
          <a:xfrm>
            <a:off x="9268105" y="1433740"/>
            <a:ext cx="373943" cy="7315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 55"/>
          <p:cNvSpPr/>
          <p:nvPr/>
        </p:nvSpPr>
        <p:spPr>
          <a:xfrm>
            <a:off x="9268105" y="1572725"/>
            <a:ext cx="436267" cy="73150"/>
          </a:xfrm>
          <a:prstGeom prst="rect">
            <a:avLst/>
          </a:prstGeom>
          <a:solidFill>
            <a:srgbClr val="F2BD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path 56"/>
          <p:cNvSpPr/>
          <p:nvPr/>
        </p:nvSpPr>
        <p:spPr>
          <a:xfrm>
            <a:off x="10321465" y="1367905"/>
            <a:ext cx="804650" cy="424270"/>
          </a:xfrm>
          <a:custGeom>
            <a:avLst/>
            <a:gdLst/>
            <a:ahLst/>
            <a:cxnLst/>
            <a:rect l="l" t="t" r="r" b="b"/>
            <a:pathLst>
              <a:path w="110" h="58">
                <a:moveTo>
                  <a:pt x="0" y="58"/>
                </a:moveTo>
                <a:lnTo>
                  <a:pt x="23" y="58"/>
                </a:lnTo>
                <a:lnTo>
                  <a:pt x="23" y="38"/>
                </a:lnTo>
                <a:lnTo>
                  <a:pt x="49" y="38"/>
                </a:lnTo>
                <a:lnTo>
                  <a:pt x="49" y="22"/>
                </a:lnTo>
                <a:lnTo>
                  <a:pt x="80" y="22"/>
                </a:lnTo>
                <a:lnTo>
                  <a:pt x="80" y="0"/>
                </a:lnTo>
                <a:lnTo>
                  <a:pt x="110" y="0"/>
                </a:lnTo>
              </a:path>
            </a:pathLst>
          </a:custGeom>
          <a:noFill/>
          <a:ln w="18288">
            <a:solidFill>
              <a:srgbClr val="267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ircle 57"/>
          <p:cNvSpPr/>
          <p:nvPr/>
        </p:nvSpPr>
        <p:spPr>
          <a:xfrm>
            <a:off x="11447975" y="1345960"/>
            <a:ext cx="336490" cy="33649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path 58"/>
          <p:cNvSpPr/>
          <p:nvPr/>
        </p:nvSpPr>
        <p:spPr>
          <a:xfrm>
            <a:off x="11616220" y="1404480"/>
            <a:ext cx="95095" cy="153615"/>
          </a:xfrm>
          <a:custGeom>
            <a:avLst/>
            <a:gdLst/>
            <a:ahLst/>
            <a:cxnLst/>
            <a:rect l="l" t="t" r="r" b="b"/>
            <a:pathLst>
              <a:path w="13" h="21">
                <a:moveTo>
                  <a:pt x="0" y="0"/>
                </a:moveTo>
                <a:lnTo>
                  <a:pt x="0" y="15"/>
                </a:lnTo>
                <a:lnTo>
                  <a:pt x="13" y="21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正文 / 通知"/>
          <p:cNvSpPr txBox="1"/>
          <p:nvPr/>
        </p:nvSpPr>
        <p:spPr>
          <a:xfrm>
            <a:off x="9133506" y="1812291"/>
            <a:ext cx="795878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正文 / 通知</a:t>
            </a:r>
          </a:p>
        </p:txBody>
      </p:sp>
      <p:sp>
        <p:nvSpPr>
          <p:cNvPr id="61" name="服务进度"/>
          <p:cNvSpPr txBox="1"/>
          <p:nvPr/>
        </p:nvSpPr>
        <p:spPr>
          <a:xfrm>
            <a:off x="10636010" y="1812291"/>
            <a:ext cx="672980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服务进度</a:t>
            </a:r>
          </a:p>
        </p:txBody>
      </p:sp>
      <p:sp>
        <p:nvSpPr>
          <p:cNvPr id="62" name="rect 61"/>
          <p:cNvSpPr/>
          <p:nvPr/>
        </p:nvSpPr>
        <p:spPr>
          <a:xfrm>
            <a:off x="11981970" y="1324015"/>
            <a:ext cx="190190" cy="365750"/>
          </a:xfrm>
          <a:prstGeom prst="roundRect">
            <a:avLst>
              <a:gd name="adj" fmla="val 384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 62"/>
          <p:cNvSpPr/>
          <p:nvPr/>
        </p:nvSpPr>
        <p:spPr>
          <a:xfrm>
            <a:off x="12216050" y="1324015"/>
            <a:ext cx="190190" cy="365750"/>
          </a:xfrm>
          <a:prstGeom prst="roundRect">
            <a:avLst>
              <a:gd name="adj" fmla="val 3846"/>
            </a:avLst>
          </a:prstGeom>
          <a:solidFill>
            <a:srgbClr val="F2BD7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 63"/>
          <p:cNvSpPr/>
          <p:nvPr/>
        </p:nvSpPr>
        <p:spPr>
          <a:xfrm>
            <a:off x="12450130" y="1324015"/>
            <a:ext cx="190190" cy="365750"/>
          </a:xfrm>
          <a:prstGeom prst="roundRect">
            <a:avLst>
              <a:gd name="adj" fmla="val 384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okens"/>
          <p:cNvSpPr txBox="1"/>
          <p:nvPr/>
        </p:nvSpPr>
        <p:spPr>
          <a:xfrm>
            <a:off x="11945395" y="1731826"/>
            <a:ext cx="545968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tokens</a:t>
            </a:r>
          </a:p>
        </p:txBody>
      </p:sp>
      <p:sp>
        <p:nvSpPr>
          <p:cNvPr id="66" name="rect 65"/>
          <p:cNvSpPr/>
          <p:nvPr/>
        </p:nvSpPr>
        <p:spPr>
          <a:xfrm>
            <a:off x="234080" y="2194500"/>
            <a:ext cx="6671280" cy="6173860"/>
          </a:xfrm>
          <a:prstGeom prst="roundRect">
            <a:avLst>
              <a:gd name="adj" fmla="val 236"/>
            </a:avLst>
          </a:prstGeom>
          <a:solidFill>
            <a:srgbClr val="E8F1F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 66"/>
          <p:cNvSpPr/>
          <p:nvPr/>
        </p:nvSpPr>
        <p:spPr>
          <a:xfrm>
            <a:off x="234080" y="2194500"/>
            <a:ext cx="667128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BeliefKV 控制面"/>
          <p:cNvSpPr txBox="1"/>
          <p:nvPr/>
        </p:nvSpPr>
        <p:spPr>
          <a:xfrm>
            <a:off x="336490" y="2186161"/>
            <a:ext cx="1591555" cy="3273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BeliefKV 控制面</a:t>
            </a:r>
          </a:p>
        </p:txBody>
      </p:sp>
      <p:sp>
        <p:nvSpPr>
          <p:cNvPr id="69" name="rect 68"/>
          <p:cNvSpPr/>
          <p:nvPr/>
        </p:nvSpPr>
        <p:spPr>
          <a:xfrm>
            <a:off x="7080920" y="2194500"/>
            <a:ext cx="5852000" cy="6173860"/>
          </a:xfrm>
          <a:prstGeom prst="roundRect">
            <a:avLst>
              <a:gd name="adj" fmla="val 250"/>
            </a:avLst>
          </a:prstGeom>
          <a:solidFill>
            <a:srgbClr val="EAF2E7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 69"/>
          <p:cNvSpPr/>
          <p:nvPr/>
        </p:nvSpPr>
        <p:spPr>
          <a:xfrm>
            <a:off x="7080920" y="2194500"/>
            <a:ext cx="585200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原生 SGLang 数据面"/>
          <p:cNvSpPr txBox="1"/>
          <p:nvPr/>
        </p:nvSpPr>
        <p:spPr>
          <a:xfrm>
            <a:off x="7183330" y="2186161"/>
            <a:ext cx="1972507" cy="3273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原生 SGLang 数据面</a:t>
            </a:r>
          </a:p>
        </p:txBody>
      </p:sp>
      <p:sp>
        <p:nvSpPr>
          <p:cNvPr id="72" name="path 71"/>
          <p:cNvSpPr/>
          <p:nvPr/>
        </p:nvSpPr>
        <p:spPr>
          <a:xfrm>
            <a:off x="3313695" y="2033570"/>
            <a:ext cx="4293905" cy="512050"/>
          </a:xfrm>
          <a:custGeom>
            <a:avLst/>
            <a:gdLst/>
            <a:ahLst/>
            <a:cxnLst/>
            <a:rect l="l" t="t" r="r" b="b"/>
            <a:pathLst>
              <a:path w="587" h="70">
                <a:moveTo>
                  <a:pt x="587" y="0"/>
                </a:moveTo>
                <a:lnTo>
                  <a:pt x="587" y="10"/>
                </a:lnTo>
                <a:lnTo>
                  <a:pt x="0" y="10"/>
                </a:lnTo>
                <a:lnTo>
                  <a:pt x="0" y="70"/>
                </a:lnTo>
              </a:path>
            </a:pathLst>
          </a:custGeom>
          <a:noFill/>
          <a:ln w="14630">
            <a:solidFill>
              <a:srgbClr val="2676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arrowhead 72"/>
          <p:cNvSpPr/>
          <p:nvPr/>
        </p:nvSpPr>
        <p:spPr>
          <a:xfrm>
            <a:off x="3262490" y="245784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path 73"/>
          <p:cNvSpPr/>
          <p:nvPr/>
        </p:nvSpPr>
        <p:spPr>
          <a:xfrm>
            <a:off x="5171705" y="2033570"/>
            <a:ext cx="4367055" cy="512050"/>
          </a:xfrm>
          <a:custGeom>
            <a:avLst/>
            <a:gdLst/>
            <a:ahLst/>
            <a:cxnLst/>
            <a:rect l="l" t="t" r="r" b="b"/>
            <a:pathLst>
              <a:path w="597" h="70">
                <a:moveTo>
                  <a:pt x="597" y="0"/>
                </a:moveTo>
                <a:lnTo>
                  <a:pt x="597" y="16"/>
                </a:lnTo>
                <a:lnTo>
                  <a:pt x="0" y="16"/>
                </a:lnTo>
                <a:lnTo>
                  <a:pt x="0" y="70"/>
                </a:lnTo>
              </a:path>
            </a:pathLst>
          </a:custGeom>
          <a:noFill/>
          <a:ln w="14630">
            <a:solidFill>
              <a:srgbClr val="2676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arrowhead 74"/>
          <p:cNvSpPr/>
          <p:nvPr/>
        </p:nvSpPr>
        <p:spPr>
          <a:xfrm>
            <a:off x="5120500" y="245784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 75"/>
          <p:cNvSpPr/>
          <p:nvPr/>
        </p:nvSpPr>
        <p:spPr>
          <a:xfrm>
            <a:off x="351120" y="2560250"/>
            <a:ext cx="3057670" cy="2311540"/>
          </a:xfrm>
          <a:prstGeom prst="roundRect">
            <a:avLst>
              <a:gd name="adj" fmla="val 632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 76"/>
          <p:cNvSpPr/>
          <p:nvPr/>
        </p:nvSpPr>
        <p:spPr>
          <a:xfrm>
            <a:off x="351120" y="2560250"/>
            <a:ext cx="305767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1  依赖状态 / RCCG"/>
          <p:cNvSpPr txBox="1"/>
          <p:nvPr/>
        </p:nvSpPr>
        <p:spPr>
          <a:xfrm>
            <a:off x="453530" y="2584828"/>
            <a:ext cx="1583183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1  依赖状态 / RCCG</a:t>
            </a:r>
          </a:p>
        </p:txBody>
      </p:sp>
      <p:sp>
        <p:nvSpPr>
          <p:cNvPr id="79" name="circle 78"/>
          <p:cNvSpPr/>
          <p:nvPr/>
        </p:nvSpPr>
        <p:spPr>
          <a:xfrm>
            <a:off x="490105" y="3277120"/>
            <a:ext cx="336490" cy="336490"/>
          </a:xfrm>
          <a:prstGeom prst="ellipse">
            <a:avLst/>
          </a:prstGeom>
          <a:solidFill>
            <a:srgbClr val="E9A6BF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P"/>
          <p:cNvSpPr txBox="1"/>
          <p:nvPr/>
        </p:nvSpPr>
        <p:spPr>
          <a:xfrm>
            <a:off x="560783" y="3311720"/>
            <a:ext cx="195133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81" name="circle 80"/>
          <p:cNvSpPr/>
          <p:nvPr/>
        </p:nvSpPr>
        <p:spPr>
          <a:xfrm>
            <a:off x="1338645" y="2918685"/>
            <a:ext cx="336490" cy="336490"/>
          </a:xfrm>
          <a:prstGeom prst="ellipse">
            <a:avLst/>
          </a:prstGeom>
          <a:solidFill>
            <a:srgbClr val="B5D68B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C1"/>
          <p:cNvSpPr txBox="1"/>
          <p:nvPr/>
        </p:nvSpPr>
        <p:spPr>
          <a:xfrm>
            <a:off x="1362733" y="2953285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83" name="circle 82"/>
          <p:cNvSpPr/>
          <p:nvPr/>
        </p:nvSpPr>
        <p:spPr>
          <a:xfrm>
            <a:off x="1338645" y="3562405"/>
            <a:ext cx="336490" cy="336490"/>
          </a:xfrm>
          <a:prstGeom prst="ellipse">
            <a:avLst/>
          </a:prstGeom>
          <a:solidFill>
            <a:srgbClr val="F2BD7D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2"/>
          <p:cNvSpPr txBox="1"/>
          <p:nvPr/>
        </p:nvSpPr>
        <p:spPr>
          <a:xfrm>
            <a:off x="1362733" y="3597005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85" name="path 84"/>
          <p:cNvSpPr/>
          <p:nvPr/>
        </p:nvSpPr>
        <p:spPr>
          <a:xfrm>
            <a:off x="1726340" y="294063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9"/>
                </a:moveTo>
                <a:lnTo>
                  <a:pt x="6" y="18"/>
                </a:lnTo>
                <a:lnTo>
                  <a:pt x="18" y="0"/>
                </a:lnTo>
              </a:path>
            </a:pathLst>
          </a:custGeom>
          <a:noFill/>
          <a:ln w="2048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polygon 85"/>
          <p:cNvSpPr/>
          <p:nvPr/>
        </p:nvSpPr>
        <p:spPr>
          <a:xfrm>
            <a:off x="2355430" y="3218600"/>
            <a:ext cx="687610" cy="438900"/>
          </a:xfrm>
          <a:custGeom>
            <a:avLst/>
            <a:gdLst/>
            <a:ahLst/>
            <a:cxnLst/>
            <a:rect l="l" t="t" r="r" b="b"/>
            <a:pathLst>
              <a:path w="94" h="60">
                <a:moveTo>
                  <a:pt x="47" y="0"/>
                </a:moveTo>
                <a:lnTo>
                  <a:pt x="94" y="30"/>
                </a:lnTo>
                <a:lnTo>
                  <a:pt x="47" y="60"/>
                </a:lnTo>
                <a:lnTo>
                  <a:pt x="0" y="30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ALL"/>
          <p:cNvSpPr txBox="1"/>
          <p:nvPr/>
        </p:nvSpPr>
        <p:spPr>
          <a:xfrm>
            <a:off x="2510759" y="3308209"/>
            <a:ext cx="376951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ALL</a:t>
            </a:r>
          </a:p>
        </p:txBody>
      </p:sp>
      <p:cxnSp>
        <p:nvCxnSpPr>
          <p:cNvPr id="88" name="path 87"/>
          <p:cNvCxnSpPr/>
          <p:nvPr/>
        </p:nvCxnSpPr>
        <p:spPr>
          <a:xfrm flipV="1">
            <a:off x="841225" y="3160080"/>
            <a:ext cx="482790" cy="212135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arrowhead 88"/>
          <p:cNvSpPr/>
          <p:nvPr/>
        </p:nvSpPr>
        <p:spPr>
          <a:xfrm>
            <a:off x="1221605" y="3145450"/>
            <a:ext cx="117040" cy="95095"/>
          </a:xfrm>
          <a:custGeom>
            <a:avLst/>
            <a:gdLst/>
            <a:ahLst/>
            <a:cxnLst/>
            <a:rect l="l" t="t" r="r" b="b"/>
            <a:pathLst>
              <a:path w="16" h="13">
                <a:moveTo>
                  <a:pt x="16" y="1"/>
                </a:moveTo>
                <a:lnTo>
                  <a:pt x="6" y="13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path 89"/>
          <p:cNvCxnSpPr/>
          <p:nvPr/>
        </p:nvCxnSpPr>
        <p:spPr>
          <a:xfrm>
            <a:off x="841225" y="3518515"/>
            <a:ext cx="482790" cy="153615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arrowhead 90"/>
          <p:cNvSpPr/>
          <p:nvPr/>
        </p:nvSpPr>
        <p:spPr>
          <a:xfrm>
            <a:off x="1228920" y="3598980"/>
            <a:ext cx="109725" cy="95095"/>
          </a:xfrm>
          <a:custGeom>
            <a:avLst/>
            <a:gdLst/>
            <a:ahLst/>
            <a:cxnLst/>
            <a:rect l="l" t="t" r="r" b="b"/>
            <a:pathLst>
              <a:path w="15" h="13">
                <a:moveTo>
                  <a:pt x="15" y="11"/>
                </a:moveTo>
                <a:lnTo>
                  <a:pt x="0" y="13"/>
                </a:lnTo>
                <a:lnTo>
                  <a:pt x="4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path 91"/>
          <p:cNvSpPr/>
          <p:nvPr/>
        </p:nvSpPr>
        <p:spPr>
          <a:xfrm>
            <a:off x="1697080" y="3086930"/>
            <a:ext cx="680295" cy="248710"/>
          </a:xfrm>
          <a:custGeom>
            <a:avLst/>
            <a:gdLst/>
            <a:ahLst/>
            <a:cxnLst/>
            <a:rect l="l" t="t" r="r" b="b"/>
            <a:pathLst>
              <a:path w="93" h="34">
                <a:moveTo>
                  <a:pt x="0" y="0"/>
                </a:moveTo>
                <a:lnTo>
                  <a:pt x="56" y="0"/>
                </a:lnTo>
                <a:lnTo>
                  <a:pt x="93" y="34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arrowhead 92"/>
          <p:cNvSpPr/>
          <p:nvPr/>
        </p:nvSpPr>
        <p:spPr>
          <a:xfrm>
            <a:off x="2282280" y="3240545"/>
            <a:ext cx="109725" cy="102410"/>
          </a:xfrm>
          <a:custGeom>
            <a:avLst/>
            <a:gdLst/>
            <a:ahLst/>
            <a:cxnLst/>
            <a:rect l="l" t="t" r="r" b="b"/>
            <a:pathLst>
              <a:path w="15" h="14">
                <a:moveTo>
                  <a:pt x="15" y="14"/>
                </a:moveTo>
                <a:lnTo>
                  <a:pt x="0" y="10"/>
                </a:lnTo>
                <a:lnTo>
                  <a:pt x="9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path 93"/>
          <p:cNvSpPr/>
          <p:nvPr/>
        </p:nvSpPr>
        <p:spPr>
          <a:xfrm>
            <a:off x="1697080" y="3533145"/>
            <a:ext cx="680295" cy="197505"/>
          </a:xfrm>
          <a:custGeom>
            <a:avLst/>
            <a:gdLst/>
            <a:ahLst/>
            <a:cxnLst/>
            <a:rect l="l" t="t" r="r" b="b"/>
            <a:pathLst>
              <a:path w="93" h="27">
                <a:moveTo>
                  <a:pt x="0" y="27"/>
                </a:moveTo>
                <a:lnTo>
                  <a:pt x="56" y="27"/>
                </a:lnTo>
                <a:lnTo>
                  <a:pt x="93" y="0"/>
                </a:lnTo>
              </a:path>
            </a:pathLst>
          </a:custGeom>
          <a:noFill/>
          <a:ln w="14630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arrowhead 94"/>
          <p:cNvSpPr/>
          <p:nvPr/>
        </p:nvSpPr>
        <p:spPr>
          <a:xfrm>
            <a:off x="2274965" y="3525830"/>
            <a:ext cx="117040" cy="102410"/>
          </a:xfrm>
          <a:custGeom>
            <a:avLst/>
            <a:gdLst/>
            <a:ahLst/>
            <a:cxnLst/>
            <a:rect l="l" t="t" r="r" b="b"/>
            <a:pathLst>
              <a:path w="16" h="14">
                <a:moveTo>
                  <a:pt x="16" y="0"/>
                </a:moveTo>
                <a:lnTo>
                  <a:pt x="9" y="14"/>
                </a:lnTo>
                <a:lnTo>
                  <a:pt x="0" y="2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 95"/>
          <p:cNvSpPr/>
          <p:nvPr/>
        </p:nvSpPr>
        <p:spPr>
          <a:xfrm>
            <a:off x="468160" y="4008620"/>
            <a:ext cx="65103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child"/>
          <p:cNvSpPr txBox="1"/>
          <p:nvPr/>
        </p:nvSpPr>
        <p:spPr>
          <a:xfrm>
            <a:off x="526680" y="3989162"/>
            <a:ext cx="443272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child</a:t>
            </a:r>
          </a:p>
        </p:txBody>
      </p:sp>
      <p:sp>
        <p:nvSpPr>
          <p:cNvPr id="98" name="rect 97"/>
          <p:cNvSpPr/>
          <p:nvPr/>
        </p:nvSpPr>
        <p:spPr>
          <a:xfrm>
            <a:off x="1119195" y="4008620"/>
            <a:ext cx="106067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state"/>
          <p:cNvSpPr txBox="1"/>
          <p:nvPr/>
        </p:nvSpPr>
        <p:spPr>
          <a:xfrm>
            <a:off x="1177715" y="3989162"/>
            <a:ext cx="442586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state</a:t>
            </a:r>
          </a:p>
        </p:txBody>
      </p:sp>
      <p:sp>
        <p:nvSpPr>
          <p:cNvPr id="100" name="rect 99"/>
          <p:cNvSpPr/>
          <p:nvPr/>
        </p:nvSpPr>
        <p:spPr>
          <a:xfrm>
            <a:off x="2179870" y="4008620"/>
            <a:ext cx="1097250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waiter"/>
          <p:cNvSpPr txBox="1"/>
          <p:nvPr/>
        </p:nvSpPr>
        <p:spPr>
          <a:xfrm>
            <a:off x="2238390" y="3989162"/>
            <a:ext cx="550854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waiter</a:t>
            </a:r>
          </a:p>
        </p:txBody>
      </p:sp>
      <p:sp>
        <p:nvSpPr>
          <p:cNvPr id="102" name="rect 101"/>
          <p:cNvSpPr/>
          <p:nvPr/>
        </p:nvSpPr>
        <p:spPr>
          <a:xfrm>
            <a:off x="468160" y="4220755"/>
            <a:ext cx="65103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C1"/>
          <p:cNvSpPr txBox="1"/>
          <p:nvPr/>
        </p:nvSpPr>
        <p:spPr>
          <a:xfrm>
            <a:off x="526680" y="4201297"/>
            <a:ext cx="262340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104" name="rect 103"/>
          <p:cNvSpPr/>
          <p:nvPr/>
        </p:nvSpPr>
        <p:spPr>
          <a:xfrm>
            <a:off x="1119195" y="4220755"/>
            <a:ext cx="106067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TURN"/>
          <p:cNvSpPr txBox="1"/>
          <p:nvPr/>
        </p:nvSpPr>
        <p:spPr>
          <a:xfrm>
            <a:off x="1177715" y="4201297"/>
            <a:ext cx="658664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RETURN</a:t>
            </a:r>
          </a:p>
        </p:txBody>
      </p:sp>
      <p:sp>
        <p:nvSpPr>
          <p:cNvPr id="106" name="rect 105"/>
          <p:cNvSpPr/>
          <p:nvPr/>
        </p:nvSpPr>
        <p:spPr>
          <a:xfrm>
            <a:off x="2179870" y="4220755"/>
            <a:ext cx="1097250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P"/>
          <p:cNvSpPr txBox="1"/>
          <p:nvPr/>
        </p:nvSpPr>
        <p:spPr>
          <a:xfrm>
            <a:off x="2238390" y="4201297"/>
            <a:ext cx="180389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08" name="rect 107"/>
          <p:cNvSpPr/>
          <p:nvPr/>
        </p:nvSpPr>
        <p:spPr>
          <a:xfrm>
            <a:off x="468160" y="4432890"/>
            <a:ext cx="65103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C2"/>
          <p:cNvSpPr txBox="1"/>
          <p:nvPr/>
        </p:nvSpPr>
        <p:spPr>
          <a:xfrm>
            <a:off x="526680" y="4413432"/>
            <a:ext cx="262340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110" name="rect 109"/>
          <p:cNvSpPr/>
          <p:nvPr/>
        </p:nvSpPr>
        <p:spPr>
          <a:xfrm>
            <a:off x="1119195" y="4432890"/>
            <a:ext cx="106067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NOTICE"/>
          <p:cNvSpPr txBox="1"/>
          <p:nvPr/>
        </p:nvSpPr>
        <p:spPr>
          <a:xfrm>
            <a:off x="1177715" y="4413432"/>
            <a:ext cx="608202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NOTICE</a:t>
            </a:r>
          </a:p>
        </p:txBody>
      </p:sp>
      <p:sp>
        <p:nvSpPr>
          <p:cNvPr id="112" name="rect 111"/>
          <p:cNvSpPr/>
          <p:nvPr/>
        </p:nvSpPr>
        <p:spPr>
          <a:xfrm>
            <a:off x="2179870" y="4432890"/>
            <a:ext cx="1097250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P"/>
          <p:cNvSpPr txBox="1"/>
          <p:nvPr/>
        </p:nvSpPr>
        <p:spPr>
          <a:xfrm>
            <a:off x="2238390" y="4413432"/>
            <a:ext cx="180389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14" name="GraphDelta"/>
          <p:cNvSpPr txBox="1"/>
          <p:nvPr/>
        </p:nvSpPr>
        <p:spPr>
          <a:xfrm>
            <a:off x="475475" y="4626738"/>
            <a:ext cx="899202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2676B8"/>
                </a:solidFill>
                <a:latin typeface="Noto Sans CJK SC"/>
                <a:ea typeface="Noto Sans CJK SC"/>
                <a:effectLst/>
              </a:rPr>
              <a:t>GraphDelta</a:t>
            </a:r>
          </a:p>
        </p:txBody>
      </p:sp>
      <p:sp>
        <p:nvSpPr>
          <p:cNvPr id="115" name="pending = {C2}"/>
          <p:cNvSpPr txBox="1"/>
          <p:nvPr/>
        </p:nvSpPr>
        <p:spPr>
          <a:xfrm>
            <a:off x="1762915" y="4626738"/>
            <a:ext cx="1178086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pending = {C2}</a:t>
            </a:r>
          </a:p>
        </p:txBody>
      </p:sp>
      <p:sp>
        <p:nvSpPr>
          <p:cNvPr id="116" name="rect 115"/>
          <p:cNvSpPr/>
          <p:nvPr/>
        </p:nvSpPr>
        <p:spPr>
          <a:xfrm>
            <a:off x="3555090" y="2560250"/>
            <a:ext cx="3233230" cy="2311540"/>
          </a:xfrm>
          <a:prstGeom prst="roundRect">
            <a:avLst>
              <a:gd name="adj" fmla="val 632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 116"/>
          <p:cNvSpPr/>
          <p:nvPr/>
        </p:nvSpPr>
        <p:spPr>
          <a:xfrm>
            <a:off x="3555090" y="2560250"/>
            <a:ext cx="323323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2  异步执行需求预测"/>
          <p:cNvSpPr txBox="1"/>
          <p:nvPr/>
        </p:nvSpPr>
        <p:spPr>
          <a:xfrm>
            <a:off x="3657500" y="2584828"/>
            <a:ext cx="1675564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2  异步执行需求预测</a:t>
            </a:r>
          </a:p>
        </p:txBody>
      </p:sp>
      <p:sp>
        <p:nvSpPr>
          <p:cNvPr id="119" name="rect 118"/>
          <p:cNvSpPr/>
          <p:nvPr/>
        </p:nvSpPr>
        <p:spPr>
          <a:xfrm>
            <a:off x="3686760" y="2991835"/>
            <a:ext cx="219450" cy="307230"/>
          </a:xfrm>
          <a:prstGeom prst="roundRect">
            <a:avLst>
              <a:gd name="adj" fmla="val 3333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 119"/>
          <p:cNvSpPr/>
          <p:nvPr/>
        </p:nvSpPr>
        <p:spPr>
          <a:xfrm>
            <a:off x="3942785" y="2991835"/>
            <a:ext cx="219450" cy="307230"/>
          </a:xfrm>
          <a:prstGeom prst="roundRect">
            <a:avLst>
              <a:gd name="adj" fmla="val 3333"/>
            </a:avLst>
          </a:prstGeom>
          <a:solidFill>
            <a:srgbClr val="F2BD7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 120"/>
          <p:cNvSpPr/>
          <p:nvPr/>
        </p:nvSpPr>
        <p:spPr>
          <a:xfrm>
            <a:off x="4198810" y="2991835"/>
            <a:ext cx="219450" cy="307230"/>
          </a:xfrm>
          <a:prstGeom prst="roundRect">
            <a:avLst>
              <a:gd name="adj" fmla="val 3333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 121"/>
          <p:cNvSpPr/>
          <p:nvPr/>
        </p:nvSpPr>
        <p:spPr>
          <a:xfrm>
            <a:off x="4454835" y="2991835"/>
            <a:ext cx="219450" cy="307230"/>
          </a:xfrm>
          <a:prstGeom prst="roundRect">
            <a:avLst>
              <a:gd name="adj" fmla="val 3333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path 122"/>
          <p:cNvCxnSpPr/>
          <p:nvPr/>
        </p:nvCxnSpPr>
        <p:spPr>
          <a:xfrm>
            <a:off x="4718175" y="3138135"/>
            <a:ext cx="285285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arrowhead 123"/>
          <p:cNvSpPr/>
          <p:nvPr/>
        </p:nvSpPr>
        <p:spPr>
          <a:xfrm>
            <a:off x="4915680" y="308693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 124"/>
          <p:cNvSpPr/>
          <p:nvPr/>
        </p:nvSpPr>
        <p:spPr>
          <a:xfrm>
            <a:off x="5113185" y="2940630"/>
            <a:ext cx="1543465" cy="475475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0972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CPU worker"/>
          <p:cNvSpPr txBox="1"/>
          <p:nvPr/>
        </p:nvSpPr>
        <p:spPr>
          <a:xfrm>
            <a:off x="5237540" y="2935144"/>
            <a:ext cx="106476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CPU worker</a:t>
            </a:r>
          </a:p>
        </p:txBody>
      </p:sp>
      <p:sp>
        <p:nvSpPr>
          <p:cNvPr id="127" name="正文 + 进度"/>
          <p:cNvSpPr txBox="1"/>
          <p:nvPr/>
        </p:nvSpPr>
        <p:spPr>
          <a:xfrm>
            <a:off x="5237540" y="3143621"/>
            <a:ext cx="819737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正文 + 进度</a:t>
            </a:r>
          </a:p>
        </p:txBody>
      </p:sp>
      <p:sp>
        <p:nvSpPr>
          <p:cNvPr id="128" name="p"/>
          <p:cNvSpPr txBox="1"/>
          <p:nvPr/>
        </p:nvSpPr>
        <p:spPr>
          <a:xfrm>
            <a:off x="4045195" y="3419762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p</a:t>
            </a:r>
          </a:p>
        </p:txBody>
      </p:sp>
      <p:sp>
        <p:nvSpPr>
          <p:cNvPr id="129" name="final"/>
          <p:cNvSpPr txBox="1"/>
          <p:nvPr/>
        </p:nvSpPr>
        <p:spPr>
          <a:xfrm>
            <a:off x="4143948" y="3524001"/>
            <a:ext cx="305601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final</a:t>
            </a:r>
          </a:p>
        </p:txBody>
      </p:sp>
      <p:sp>
        <p:nvSpPr>
          <p:cNvPr id="130" name="rect 129"/>
          <p:cNvSpPr/>
          <p:nvPr/>
        </p:nvSpPr>
        <p:spPr>
          <a:xfrm>
            <a:off x="3803800" y="3898895"/>
            <a:ext cx="190190" cy="124355"/>
          </a:xfrm>
          <a:prstGeom prst="rect">
            <a:avLst/>
          </a:prstGeom>
          <a:solidFill>
            <a:srgbClr val="A9CEE8"/>
          </a:solidFill>
          <a:ln w="877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 130"/>
          <p:cNvSpPr/>
          <p:nvPr/>
        </p:nvSpPr>
        <p:spPr>
          <a:xfrm>
            <a:off x="4103715" y="3803800"/>
            <a:ext cx="190190" cy="219450"/>
          </a:xfrm>
          <a:prstGeom prst="rect">
            <a:avLst/>
          </a:prstGeom>
          <a:solidFill>
            <a:srgbClr val="F2BD7D"/>
          </a:solidFill>
          <a:ln w="877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 131"/>
          <p:cNvSpPr/>
          <p:nvPr/>
        </p:nvSpPr>
        <p:spPr>
          <a:xfrm>
            <a:off x="4403630" y="3664815"/>
            <a:ext cx="190190" cy="358435"/>
          </a:xfrm>
          <a:prstGeom prst="rect">
            <a:avLst/>
          </a:prstGeom>
          <a:solidFill>
            <a:srgbClr val="E9A6BF"/>
          </a:solidFill>
          <a:ln w="877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line 132"/>
          <p:cNvCxnSpPr/>
          <p:nvPr/>
        </p:nvCxnSpPr>
        <p:spPr>
          <a:xfrm>
            <a:off x="5266800" y="3847690"/>
            <a:ext cx="1272810" cy="0"/>
          </a:xfrm>
          <a:prstGeom prst="line">
            <a:avLst/>
          </a:prstGeom>
          <a:ln w="18288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line 133"/>
          <p:cNvCxnSpPr/>
          <p:nvPr/>
        </p:nvCxnSpPr>
        <p:spPr>
          <a:xfrm>
            <a:off x="5266800" y="3781855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line 134"/>
          <p:cNvCxnSpPr/>
          <p:nvPr/>
        </p:nvCxnSpPr>
        <p:spPr>
          <a:xfrm>
            <a:off x="6539610" y="3781855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circle 135"/>
          <p:cNvSpPr/>
          <p:nvPr/>
        </p:nvSpPr>
        <p:spPr>
          <a:xfrm>
            <a:off x="5808110" y="3811115"/>
            <a:ext cx="73150" cy="73150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["/>
          <p:cNvSpPr txBox="1"/>
          <p:nvPr/>
        </p:nvSpPr>
        <p:spPr>
          <a:xfrm>
            <a:off x="5537169" y="3983018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[</a:t>
            </a:r>
          </a:p>
        </p:txBody>
      </p:sp>
      <p:sp>
        <p:nvSpPr>
          <p:cNvPr id="138" name="W"/>
          <p:cNvSpPr txBox="1"/>
          <p:nvPr/>
        </p:nvSpPr>
        <p:spPr>
          <a:xfrm>
            <a:off x="5598061" y="3983018"/>
            <a:ext cx="240109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139" name="lo"/>
          <p:cNvSpPr txBox="1"/>
          <p:nvPr/>
        </p:nvSpPr>
        <p:spPr>
          <a:xfrm>
            <a:off x="5757705" y="4087256"/>
            <a:ext cx="180246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lo</a:t>
            </a:r>
          </a:p>
        </p:txBody>
      </p:sp>
      <p:sp>
        <p:nvSpPr>
          <p:cNvPr id="140" name=", "/>
          <p:cNvSpPr txBox="1"/>
          <p:nvPr/>
        </p:nvSpPr>
        <p:spPr>
          <a:xfrm>
            <a:off x="5857486" y="3983018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, </a:t>
            </a:r>
          </a:p>
        </p:txBody>
      </p:sp>
      <p:sp>
        <p:nvSpPr>
          <p:cNvPr id="141" name="W"/>
          <p:cNvSpPr txBox="1"/>
          <p:nvPr/>
        </p:nvSpPr>
        <p:spPr>
          <a:xfrm>
            <a:off x="5948924" y="3983018"/>
            <a:ext cx="240109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142" name="hi"/>
          <p:cNvSpPr txBox="1"/>
          <p:nvPr/>
        </p:nvSpPr>
        <p:spPr>
          <a:xfrm>
            <a:off x="6108568" y="4087256"/>
            <a:ext cx="180246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hi</a:t>
            </a:r>
          </a:p>
        </p:txBody>
      </p:sp>
      <p:sp>
        <p:nvSpPr>
          <p:cNvPr id="143" name="]"/>
          <p:cNvSpPr txBox="1"/>
          <p:nvPr/>
        </p:nvSpPr>
        <p:spPr>
          <a:xfrm>
            <a:off x="6208349" y="3983018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]</a:t>
            </a:r>
          </a:p>
        </p:txBody>
      </p:sp>
      <p:cxnSp>
        <p:nvCxnSpPr>
          <p:cNvPr id="144" name="line 143"/>
          <p:cNvCxnSpPr/>
          <p:nvPr/>
        </p:nvCxnSpPr>
        <p:spPr>
          <a:xfrm>
            <a:off x="3686760" y="4257330"/>
            <a:ext cx="296989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circle 144"/>
          <p:cNvSpPr/>
          <p:nvPr/>
        </p:nvSpPr>
        <p:spPr>
          <a:xfrm>
            <a:off x="3701390" y="4374370"/>
            <a:ext cx="263340" cy="263340"/>
          </a:xfrm>
          <a:prstGeom prst="ellipse">
            <a:avLst/>
          </a:prstGeom>
          <a:solidFill>
            <a:srgbClr val="E9A6BF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P"/>
          <p:cNvSpPr txBox="1"/>
          <p:nvPr/>
        </p:nvSpPr>
        <p:spPr>
          <a:xfrm>
            <a:off x="3740380" y="4385708"/>
            <a:ext cx="185361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47" name="JOIN"/>
          <p:cNvSpPr txBox="1"/>
          <p:nvPr/>
        </p:nvSpPr>
        <p:spPr>
          <a:xfrm>
            <a:off x="4052510" y="4385342"/>
            <a:ext cx="459102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JOIN</a:t>
            </a:r>
          </a:p>
        </p:txBody>
      </p:sp>
      <p:sp>
        <p:nvSpPr>
          <p:cNvPr id="148" name="τ"/>
          <p:cNvSpPr txBox="1"/>
          <p:nvPr/>
        </p:nvSpPr>
        <p:spPr>
          <a:xfrm>
            <a:off x="4784010" y="4379856"/>
            <a:ext cx="158473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149" name="join"/>
          <p:cNvSpPr txBox="1"/>
          <p:nvPr/>
        </p:nvSpPr>
        <p:spPr>
          <a:xfrm>
            <a:off x="4862018" y="4491410"/>
            <a:ext cx="286942" cy="173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join</a:t>
            </a:r>
          </a:p>
        </p:txBody>
      </p:sp>
      <p:sp>
        <p:nvSpPr>
          <p:cNvPr id="150" name="circle 149"/>
          <p:cNvSpPr/>
          <p:nvPr/>
        </p:nvSpPr>
        <p:spPr>
          <a:xfrm>
            <a:off x="5456990" y="4374370"/>
            <a:ext cx="263340" cy="26334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path 150"/>
          <p:cNvSpPr/>
          <p:nvPr/>
        </p:nvSpPr>
        <p:spPr>
          <a:xfrm>
            <a:off x="5588660" y="4418260"/>
            <a:ext cx="73150" cy="117040"/>
          </a:xfrm>
          <a:custGeom>
            <a:avLst/>
            <a:gdLst/>
            <a:ahLst/>
            <a:cxnLst/>
            <a:rect l="l" t="t" r="r" b="b"/>
            <a:pathLst>
              <a:path w="10" h="16">
                <a:moveTo>
                  <a:pt x="0" y="0"/>
                </a:moveTo>
                <a:lnTo>
                  <a:pt x="0" y="12"/>
                </a:lnTo>
                <a:lnTo>
                  <a:pt x="10" y="16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τ"/>
          <p:cNvSpPr txBox="1"/>
          <p:nvPr/>
        </p:nvSpPr>
        <p:spPr>
          <a:xfrm>
            <a:off x="5830055" y="4379856"/>
            <a:ext cx="158473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153" name="tool"/>
          <p:cNvSpPr txBox="1"/>
          <p:nvPr/>
        </p:nvSpPr>
        <p:spPr>
          <a:xfrm>
            <a:off x="5908063" y="4491410"/>
            <a:ext cx="286942" cy="173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tool</a:t>
            </a:r>
          </a:p>
        </p:txBody>
      </p:sp>
      <p:sp>
        <p:nvSpPr>
          <p:cNvPr id="154" name="模型预测需求；runtime 决定动作"/>
          <p:cNvSpPr txBox="1"/>
          <p:nvPr/>
        </p:nvSpPr>
        <p:spPr>
          <a:xfrm>
            <a:off x="3686760" y="4626738"/>
            <a:ext cx="2385976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模型预测需求；runtime 决定动作</a:t>
            </a:r>
          </a:p>
        </p:txBody>
      </p:sp>
      <p:sp>
        <p:nvSpPr>
          <p:cNvPr id="155" name="rect 154"/>
          <p:cNvSpPr/>
          <p:nvPr/>
        </p:nvSpPr>
        <p:spPr>
          <a:xfrm>
            <a:off x="351120" y="5047350"/>
            <a:ext cx="6437200" cy="3203970"/>
          </a:xfrm>
          <a:prstGeom prst="roundRect">
            <a:avLst>
              <a:gd name="adj" fmla="val 456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 155"/>
          <p:cNvSpPr/>
          <p:nvPr/>
        </p:nvSpPr>
        <p:spPr>
          <a:xfrm>
            <a:off x="351120" y="5047350"/>
            <a:ext cx="643720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3  Checkpoint、时机、容量与执行顺序"/>
          <p:cNvSpPr txBox="1"/>
          <p:nvPr/>
        </p:nvSpPr>
        <p:spPr>
          <a:xfrm>
            <a:off x="453530" y="5071928"/>
            <a:ext cx="3193112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3  Checkpoint、时机、容量与执行顺序</a:t>
            </a:r>
          </a:p>
        </p:txBody>
      </p:sp>
      <p:cxnSp>
        <p:nvCxnSpPr>
          <p:cNvPr id="158" name="line 157"/>
          <p:cNvCxnSpPr/>
          <p:nvPr/>
        </p:nvCxnSpPr>
        <p:spPr>
          <a:xfrm>
            <a:off x="2443210" y="5442360"/>
            <a:ext cx="0" cy="2669975"/>
          </a:xfrm>
          <a:prstGeom prst="line">
            <a:avLst/>
          </a:prstGeom>
          <a:ln w="8778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line 158"/>
          <p:cNvCxnSpPr/>
          <p:nvPr/>
        </p:nvCxnSpPr>
        <p:spPr>
          <a:xfrm>
            <a:off x="4593820" y="5442360"/>
            <a:ext cx="0" cy="2669975"/>
          </a:xfrm>
          <a:prstGeom prst="line">
            <a:avLst/>
          </a:prstGeom>
          <a:ln w="8778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可复用 checkpoint"/>
          <p:cNvSpPr txBox="1"/>
          <p:nvPr/>
        </p:nvSpPr>
        <p:spPr>
          <a:xfrm>
            <a:off x="468160" y="5392984"/>
            <a:ext cx="1494603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可复用 checkpoint</a:t>
            </a:r>
          </a:p>
        </p:txBody>
      </p:sp>
      <p:sp>
        <p:nvSpPr>
          <p:cNvPr id="161" name="rect 160"/>
          <p:cNvSpPr/>
          <p:nvPr/>
        </p:nvSpPr>
        <p:spPr>
          <a:xfrm>
            <a:off x="555940" y="5895890"/>
            <a:ext cx="314545" cy="234080"/>
          </a:xfrm>
          <a:prstGeom prst="roundRect">
            <a:avLst>
              <a:gd name="adj" fmla="val 3125"/>
            </a:avLst>
          </a:prstGeom>
          <a:solidFill>
            <a:srgbClr val="DDDDD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p0"/>
          <p:cNvSpPr txBox="1"/>
          <p:nvPr/>
        </p:nvSpPr>
        <p:spPr>
          <a:xfrm>
            <a:off x="574542" y="588594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163" name="rect 162"/>
          <p:cNvSpPr/>
          <p:nvPr/>
        </p:nvSpPr>
        <p:spPr>
          <a:xfrm>
            <a:off x="1214290" y="5713015"/>
            <a:ext cx="314545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p1"/>
          <p:cNvSpPr txBox="1"/>
          <p:nvPr/>
        </p:nvSpPr>
        <p:spPr>
          <a:xfrm>
            <a:off x="1232892" y="570306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165" name="rect 164"/>
          <p:cNvSpPr/>
          <p:nvPr/>
        </p:nvSpPr>
        <p:spPr>
          <a:xfrm>
            <a:off x="1850695" y="5895890"/>
            <a:ext cx="314545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p5"/>
          <p:cNvSpPr txBox="1"/>
          <p:nvPr/>
        </p:nvSpPr>
        <p:spPr>
          <a:xfrm>
            <a:off x="1869297" y="588594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cxnSp>
        <p:nvCxnSpPr>
          <p:cNvPr id="167" name="path 166"/>
          <p:cNvCxnSpPr/>
          <p:nvPr/>
        </p:nvCxnSpPr>
        <p:spPr>
          <a:xfrm flipV="1">
            <a:off x="877800" y="5881260"/>
            <a:ext cx="314545" cy="117040"/>
          </a:xfrm>
          <a:prstGeom prst="line">
            <a:avLst/>
          </a:prstGeom>
          <a:ln w="12435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arrowhead 167"/>
          <p:cNvSpPr/>
          <p:nvPr/>
        </p:nvSpPr>
        <p:spPr>
          <a:xfrm>
            <a:off x="1104565" y="5866630"/>
            <a:ext cx="102410" cy="80465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14" y="1"/>
                </a:moveTo>
                <a:lnTo>
                  <a:pt x="5" y="11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" name="path 168"/>
          <p:cNvCxnSpPr/>
          <p:nvPr/>
        </p:nvCxnSpPr>
        <p:spPr>
          <a:xfrm>
            <a:off x="1536150" y="5881260"/>
            <a:ext cx="292600" cy="117040"/>
          </a:xfrm>
          <a:prstGeom prst="line">
            <a:avLst/>
          </a:prstGeom>
          <a:ln w="12435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arrowhead 169"/>
          <p:cNvSpPr/>
          <p:nvPr/>
        </p:nvSpPr>
        <p:spPr>
          <a:xfrm>
            <a:off x="1740970" y="5932465"/>
            <a:ext cx="102410" cy="80465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14" y="10"/>
                </a:moveTo>
                <a:lnTo>
                  <a:pt x="0" y="11"/>
                </a:lnTo>
                <a:lnTo>
                  <a:pt x="5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 170"/>
          <p:cNvSpPr/>
          <p:nvPr/>
        </p:nvSpPr>
        <p:spPr>
          <a:xfrm>
            <a:off x="1221605" y="6342105"/>
            <a:ext cx="314545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"/>
          <p:cNvSpPr txBox="1"/>
          <p:nvPr/>
        </p:nvSpPr>
        <p:spPr>
          <a:xfrm>
            <a:off x="1289140" y="6332157"/>
            <a:ext cx="17947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</a:t>
            </a:r>
          </a:p>
        </p:txBody>
      </p:sp>
      <p:cxnSp>
        <p:nvCxnSpPr>
          <p:cNvPr id="173" name="path 172"/>
          <p:cNvCxnSpPr/>
          <p:nvPr/>
        </p:nvCxnSpPr>
        <p:spPr>
          <a:xfrm>
            <a:off x="855855" y="6129970"/>
            <a:ext cx="343805" cy="299915"/>
          </a:xfrm>
          <a:prstGeom prst="line">
            <a:avLst/>
          </a:prstGeom>
          <a:ln w="11704">
            <a:solidFill>
              <a:srgbClr val="9696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arrowhead 173"/>
          <p:cNvSpPr/>
          <p:nvPr/>
        </p:nvSpPr>
        <p:spPr>
          <a:xfrm>
            <a:off x="1119195" y="6356735"/>
            <a:ext cx="87780" cy="80465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11"/>
                </a:moveTo>
                <a:lnTo>
                  <a:pt x="0" y="8"/>
                </a:lnTo>
                <a:lnTo>
                  <a:pt x="8" y="0"/>
                </a:lnTo>
                <a:close/>
              </a:path>
            </a:pathLst>
          </a:custGeom>
          <a:solidFill>
            <a:srgbClr val="9696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5" name="line 174"/>
          <p:cNvCxnSpPr/>
          <p:nvPr/>
        </p:nvCxnSpPr>
        <p:spPr>
          <a:xfrm>
            <a:off x="1645875" y="6407940"/>
            <a:ext cx="124355" cy="124355"/>
          </a:xfrm>
          <a:prstGeom prst="line">
            <a:avLst/>
          </a:prstGeom>
          <a:ln w="20482">
            <a:solidFill>
              <a:srgbClr val="9696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line 175"/>
          <p:cNvCxnSpPr/>
          <p:nvPr/>
        </p:nvCxnSpPr>
        <p:spPr>
          <a:xfrm flipV="1">
            <a:off x="1645875" y="6407940"/>
            <a:ext cx="124355" cy="124355"/>
          </a:xfrm>
          <a:prstGeom prst="line">
            <a:avLst/>
          </a:prstGeom>
          <a:ln w="20482">
            <a:solidFill>
              <a:srgbClr val="9696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c"/>
          <p:cNvSpPr txBox="1"/>
          <p:nvPr/>
        </p:nvSpPr>
        <p:spPr>
          <a:xfrm>
            <a:off x="1903529" y="6232380"/>
            <a:ext cx="178703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178" name="*"/>
          <p:cNvSpPr txBox="1"/>
          <p:nvPr/>
        </p:nvSpPr>
        <p:spPr>
          <a:xfrm>
            <a:off x="2001767" y="6188051"/>
            <a:ext cx="154529" cy="1792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179" name="context / epoch / prefix"/>
          <p:cNvSpPr txBox="1"/>
          <p:nvPr/>
        </p:nvSpPr>
        <p:spPr>
          <a:xfrm>
            <a:off x="475475" y="6698711"/>
            <a:ext cx="1650818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context / epoch / prefix</a:t>
            </a:r>
          </a:p>
        </p:txBody>
      </p:sp>
      <p:sp>
        <p:nvSpPr>
          <p:cNvPr id="180" name="path 179"/>
          <p:cNvSpPr/>
          <p:nvPr/>
        </p:nvSpPr>
        <p:spPr>
          <a:xfrm>
            <a:off x="2245705" y="6707855"/>
            <a:ext cx="117040" cy="117040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8"/>
                </a:moveTo>
                <a:lnTo>
                  <a:pt x="6" y="16"/>
                </a:lnTo>
                <a:lnTo>
                  <a:pt x="16" y="0"/>
                </a:lnTo>
              </a:path>
            </a:pathLst>
          </a:custGeom>
          <a:noFill/>
          <a:ln w="2048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ΔFULL + required state"/>
          <p:cNvSpPr txBox="1"/>
          <p:nvPr/>
        </p:nvSpPr>
        <p:spPr>
          <a:xfrm>
            <a:off x="475475" y="6982168"/>
            <a:ext cx="1699023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ΔFULL + required state</a:t>
            </a:r>
          </a:p>
        </p:txBody>
      </p:sp>
      <p:sp>
        <p:nvSpPr>
          <p:cNvPr id="182" name="实测传输启动窗口"/>
          <p:cNvSpPr txBox="1"/>
          <p:nvPr/>
        </p:nvSpPr>
        <p:spPr>
          <a:xfrm>
            <a:off x="2560250" y="5392984"/>
            <a:ext cx="137522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实测传输启动窗口</a:t>
            </a:r>
          </a:p>
        </p:txBody>
      </p:sp>
      <p:cxnSp>
        <p:nvCxnSpPr>
          <p:cNvPr id="183" name="line 182"/>
          <p:cNvCxnSpPr/>
          <p:nvPr/>
        </p:nvCxnSpPr>
        <p:spPr>
          <a:xfrm>
            <a:off x="2669975" y="6232380"/>
            <a:ext cx="1565410" cy="0"/>
          </a:xfrm>
          <a:prstGeom prst="line">
            <a:avLst/>
          </a:prstGeom>
          <a:ln w="8046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path 183"/>
          <p:cNvSpPr/>
          <p:nvPr/>
        </p:nvSpPr>
        <p:spPr>
          <a:xfrm>
            <a:off x="2669975" y="5800795"/>
            <a:ext cx="1558095" cy="387695"/>
          </a:xfrm>
          <a:custGeom>
            <a:avLst/>
            <a:gdLst/>
            <a:ahLst/>
            <a:cxnLst/>
            <a:rect l="l" t="t" r="r" b="b"/>
            <a:pathLst>
              <a:path w="213" h="53">
                <a:moveTo>
                  <a:pt x="0" y="53"/>
                </a:moveTo>
                <a:lnTo>
                  <a:pt x="29" y="53"/>
                </a:lnTo>
                <a:lnTo>
                  <a:pt x="29" y="41"/>
                </a:lnTo>
                <a:lnTo>
                  <a:pt x="63" y="41"/>
                </a:lnTo>
                <a:lnTo>
                  <a:pt x="63" y="15"/>
                </a:lnTo>
                <a:lnTo>
                  <a:pt x="104" y="15"/>
                </a:lnTo>
                <a:lnTo>
                  <a:pt x="104" y="0"/>
                </a:lnTo>
                <a:lnTo>
                  <a:pt x="213" y="0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5" name="line 184"/>
          <p:cNvCxnSpPr/>
          <p:nvPr/>
        </p:nvCxnSpPr>
        <p:spPr>
          <a:xfrm>
            <a:off x="3423420" y="5764220"/>
            <a:ext cx="0" cy="512050"/>
          </a:xfrm>
          <a:prstGeom prst="line">
            <a:avLst/>
          </a:prstGeom>
          <a:ln w="13167">
            <a:solidFill>
              <a:srgbClr val="BF333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S"/>
          <p:cNvSpPr txBox="1"/>
          <p:nvPr/>
        </p:nvSpPr>
        <p:spPr>
          <a:xfrm>
            <a:off x="3106989" y="6327475"/>
            <a:ext cx="190190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187" name="90"/>
          <p:cNvSpPr txBox="1"/>
          <p:nvPr/>
        </p:nvSpPr>
        <p:spPr>
          <a:xfrm>
            <a:off x="3216714" y="6440858"/>
            <a:ext cx="221279" cy="1792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90</a:t>
            </a:r>
          </a:p>
        </p:txBody>
      </p:sp>
      <p:sp>
        <p:nvSpPr>
          <p:cNvPr id="188" name=" + "/>
          <p:cNvSpPr txBox="1"/>
          <p:nvPr/>
        </p:nvSpPr>
        <p:spPr>
          <a:xfrm>
            <a:off x="3357528" y="6327475"/>
            <a:ext cx="305716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+ </a:t>
            </a:r>
          </a:p>
        </p:txBody>
      </p:sp>
      <p:sp>
        <p:nvSpPr>
          <p:cNvPr id="189" name="Q"/>
          <p:cNvSpPr txBox="1"/>
          <p:nvPr/>
        </p:nvSpPr>
        <p:spPr>
          <a:xfrm>
            <a:off x="3575463" y="6327475"/>
            <a:ext cx="235709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Q</a:t>
            </a:r>
          </a:p>
        </p:txBody>
      </p:sp>
      <p:sp>
        <p:nvSpPr>
          <p:cNvPr id="190" name="90"/>
          <p:cNvSpPr txBox="1"/>
          <p:nvPr/>
        </p:nvSpPr>
        <p:spPr>
          <a:xfrm>
            <a:off x="3730707" y="6440858"/>
            <a:ext cx="221279" cy="1792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90</a:t>
            </a:r>
          </a:p>
        </p:txBody>
      </p:sp>
      <p:sp>
        <p:nvSpPr>
          <p:cNvPr id="191" name="polygon 190"/>
          <p:cNvSpPr/>
          <p:nvPr/>
        </p:nvSpPr>
        <p:spPr>
          <a:xfrm>
            <a:off x="2874795" y="6678595"/>
            <a:ext cx="1287440" cy="453530"/>
          </a:xfrm>
          <a:custGeom>
            <a:avLst/>
            <a:gdLst/>
            <a:ahLst/>
            <a:cxnLst/>
            <a:rect l="l" t="t" r="r" b="b"/>
            <a:pathLst>
              <a:path w="176" h="62">
                <a:moveTo>
                  <a:pt x="88" y="0"/>
                </a:moveTo>
                <a:lnTo>
                  <a:pt x="176" y="31"/>
                </a:lnTo>
                <a:lnTo>
                  <a:pt x="88" y="62"/>
                </a:lnTo>
                <a:lnTo>
                  <a:pt x="0" y="31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τ"/>
          <p:cNvSpPr txBox="1"/>
          <p:nvPr/>
        </p:nvSpPr>
        <p:spPr>
          <a:xfrm>
            <a:off x="3284921" y="6782834"/>
            <a:ext cx="166331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193" name=" ≤ "/>
          <p:cNvSpPr txBox="1"/>
          <p:nvPr/>
        </p:nvSpPr>
        <p:spPr>
          <a:xfrm>
            <a:off x="3363471" y="6782834"/>
            <a:ext cx="317945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≤ </a:t>
            </a:r>
          </a:p>
        </p:txBody>
      </p:sp>
      <p:sp>
        <p:nvSpPr>
          <p:cNvPr id="194" name="H"/>
          <p:cNvSpPr txBox="1"/>
          <p:nvPr/>
        </p:nvSpPr>
        <p:spPr>
          <a:xfrm>
            <a:off x="3593637" y="6782834"/>
            <a:ext cx="246253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H</a:t>
            </a:r>
          </a:p>
        </p:txBody>
      </p:sp>
      <p:sp>
        <p:nvSpPr>
          <p:cNvPr id="195" name="容量与准入机会"/>
          <p:cNvSpPr txBox="1"/>
          <p:nvPr/>
        </p:nvSpPr>
        <p:spPr>
          <a:xfrm>
            <a:off x="4718175" y="5392984"/>
            <a:ext cx="121429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容量与准入机会</a:t>
            </a:r>
          </a:p>
        </p:txBody>
      </p:sp>
      <p:sp>
        <p:nvSpPr>
          <p:cNvPr id="196" name="rect 195"/>
          <p:cNvSpPr/>
          <p:nvPr/>
        </p:nvSpPr>
        <p:spPr>
          <a:xfrm>
            <a:off x="4747435" y="5764220"/>
            <a:ext cx="190190" cy="2048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 196"/>
          <p:cNvSpPr/>
          <p:nvPr/>
        </p:nvSpPr>
        <p:spPr>
          <a:xfrm>
            <a:off x="4966885" y="5764220"/>
            <a:ext cx="190190" cy="2048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 197"/>
          <p:cNvSpPr/>
          <p:nvPr/>
        </p:nvSpPr>
        <p:spPr>
          <a:xfrm>
            <a:off x="5186335" y="5764220"/>
            <a:ext cx="190190" cy="2048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 198"/>
          <p:cNvSpPr/>
          <p:nvPr/>
        </p:nvSpPr>
        <p:spPr>
          <a:xfrm>
            <a:off x="5405785" y="5764220"/>
            <a:ext cx="190190" cy="204820"/>
          </a:xfrm>
          <a:prstGeom prst="roundRect">
            <a:avLst>
              <a:gd name="adj" fmla="val 384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 199"/>
          <p:cNvSpPr/>
          <p:nvPr/>
        </p:nvSpPr>
        <p:spPr>
          <a:xfrm>
            <a:off x="5625235" y="5764220"/>
            <a:ext cx="190190" cy="204820"/>
          </a:xfrm>
          <a:prstGeom prst="roundRect">
            <a:avLst>
              <a:gd name="adj" fmla="val 384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 200"/>
          <p:cNvSpPr/>
          <p:nvPr/>
        </p:nvSpPr>
        <p:spPr>
          <a:xfrm>
            <a:off x="5844685" y="5764220"/>
            <a:ext cx="190190" cy="204820"/>
          </a:xfrm>
          <a:prstGeom prst="roundRect">
            <a:avLst>
              <a:gd name="adj" fmla="val 384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 201"/>
          <p:cNvSpPr/>
          <p:nvPr/>
        </p:nvSpPr>
        <p:spPr>
          <a:xfrm>
            <a:off x="6064135" y="5764220"/>
            <a:ext cx="190190" cy="204820"/>
          </a:xfrm>
          <a:prstGeom prst="roundRect">
            <a:avLst>
              <a:gd name="adj" fmla="val 3846"/>
            </a:avLst>
          </a:prstGeom>
          <a:solidFill>
            <a:srgbClr val="DDDDD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 202"/>
          <p:cNvSpPr/>
          <p:nvPr/>
        </p:nvSpPr>
        <p:spPr>
          <a:xfrm>
            <a:off x="6283585" y="5764220"/>
            <a:ext cx="190190" cy="204820"/>
          </a:xfrm>
          <a:prstGeom prst="roundRect">
            <a:avLst>
              <a:gd name="adj" fmla="val 3846"/>
            </a:avLst>
          </a:prstGeom>
          <a:solidFill>
            <a:srgbClr val="DDDDD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C"/>
          <p:cNvSpPr txBox="1"/>
          <p:nvPr/>
        </p:nvSpPr>
        <p:spPr>
          <a:xfrm>
            <a:off x="4799526" y="6011101"/>
            <a:ext cx="214650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205" name="free"/>
          <p:cNvSpPr txBox="1"/>
          <p:nvPr/>
        </p:nvSpPr>
        <p:spPr>
          <a:xfrm>
            <a:off x="4933710" y="6117169"/>
            <a:ext cx="280999" cy="1682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free</a:t>
            </a:r>
          </a:p>
        </p:txBody>
      </p:sp>
      <p:sp>
        <p:nvSpPr>
          <p:cNvPr id="206" name="C"/>
          <p:cNvSpPr txBox="1"/>
          <p:nvPr/>
        </p:nvSpPr>
        <p:spPr>
          <a:xfrm>
            <a:off x="5418172" y="6011101"/>
            <a:ext cx="214650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207" name="cold"/>
          <p:cNvSpPr txBox="1"/>
          <p:nvPr/>
        </p:nvSpPr>
        <p:spPr>
          <a:xfrm>
            <a:off x="5552356" y="6117169"/>
            <a:ext cx="301887" cy="1682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cold</a:t>
            </a:r>
          </a:p>
        </p:txBody>
      </p:sp>
      <p:sp>
        <p:nvSpPr>
          <p:cNvPr id="208" name="G"/>
          <p:cNvSpPr txBox="1"/>
          <p:nvPr/>
        </p:nvSpPr>
        <p:spPr>
          <a:xfrm>
            <a:off x="6085909" y="6011101"/>
            <a:ext cx="225136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G</a:t>
            </a:r>
          </a:p>
        </p:txBody>
      </p:sp>
      <p:sp>
        <p:nvSpPr>
          <p:cNvPr id="209" name="next"/>
          <p:cNvSpPr txBox="1"/>
          <p:nvPr/>
        </p:nvSpPr>
        <p:spPr>
          <a:xfrm>
            <a:off x="6230580" y="6117169"/>
            <a:ext cx="301887" cy="1682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next</a:t>
            </a:r>
          </a:p>
        </p:txBody>
      </p:sp>
      <p:sp>
        <p:nvSpPr>
          <p:cNvPr id="210" name="rect 209"/>
          <p:cNvSpPr/>
          <p:nvPr/>
        </p:nvSpPr>
        <p:spPr>
          <a:xfrm>
            <a:off x="4754750" y="6334790"/>
            <a:ext cx="1879955" cy="20482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 210"/>
          <p:cNvSpPr/>
          <p:nvPr/>
        </p:nvSpPr>
        <p:spPr>
          <a:xfrm>
            <a:off x="4762065" y="6342105"/>
            <a:ext cx="73150" cy="19019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ld"/>
          <p:cNvSpPr txBox="1"/>
          <p:nvPr/>
        </p:nvSpPr>
        <p:spPr>
          <a:xfrm>
            <a:off x="4951841" y="6321696"/>
            <a:ext cx="308059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old</a:t>
            </a:r>
          </a:p>
        </p:txBody>
      </p:sp>
      <p:sp>
        <p:nvSpPr>
          <p:cNvPr id="213" name="rect 212"/>
          <p:cNvSpPr/>
          <p:nvPr/>
        </p:nvSpPr>
        <p:spPr>
          <a:xfrm>
            <a:off x="6086080" y="6364050"/>
            <a:ext cx="109725" cy="1463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 213"/>
          <p:cNvSpPr/>
          <p:nvPr/>
        </p:nvSpPr>
        <p:spPr>
          <a:xfrm>
            <a:off x="6232380" y="6364050"/>
            <a:ext cx="109725" cy="1463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 214"/>
          <p:cNvSpPr/>
          <p:nvPr/>
        </p:nvSpPr>
        <p:spPr>
          <a:xfrm>
            <a:off x="6378680" y="6364050"/>
            <a:ext cx="109725" cy="1463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 215"/>
          <p:cNvSpPr/>
          <p:nvPr/>
        </p:nvSpPr>
        <p:spPr>
          <a:xfrm>
            <a:off x="4754750" y="6605445"/>
            <a:ext cx="1879955" cy="20482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 216"/>
          <p:cNvSpPr/>
          <p:nvPr/>
        </p:nvSpPr>
        <p:spPr>
          <a:xfrm>
            <a:off x="4762065" y="6612760"/>
            <a:ext cx="73150" cy="190190"/>
          </a:xfrm>
          <a:prstGeom prst="rect">
            <a:avLst/>
          </a:prstGeom>
          <a:solidFill>
            <a:srgbClr val="B5D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hit"/>
          <p:cNvSpPr txBox="1"/>
          <p:nvPr/>
        </p:nvSpPr>
        <p:spPr>
          <a:xfrm>
            <a:off x="4967114" y="6592351"/>
            <a:ext cx="277513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hit</a:t>
            </a:r>
          </a:p>
        </p:txBody>
      </p:sp>
      <p:sp>
        <p:nvSpPr>
          <p:cNvPr id="219" name="rect 218"/>
          <p:cNvSpPr/>
          <p:nvPr/>
        </p:nvSpPr>
        <p:spPr>
          <a:xfrm>
            <a:off x="6086080" y="6634705"/>
            <a:ext cx="109725" cy="146300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 219"/>
          <p:cNvSpPr/>
          <p:nvPr/>
        </p:nvSpPr>
        <p:spPr>
          <a:xfrm>
            <a:off x="6232380" y="6634705"/>
            <a:ext cx="109725" cy="146300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 220"/>
          <p:cNvSpPr/>
          <p:nvPr/>
        </p:nvSpPr>
        <p:spPr>
          <a:xfrm>
            <a:off x="6378680" y="6634705"/>
            <a:ext cx="109725" cy="146300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 221"/>
          <p:cNvSpPr/>
          <p:nvPr/>
        </p:nvSpPr>
        <p:spPr>
          <a:xfrm>
            <a:off x="4754750" y="6876100"/>
            <a:ext cx="1879955" cy="20482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 222"/>
          <p:cNvSpPr/>
          <p:nvPr/>
        </p:nvSpPr>
        <p:spPr>
          <a:xfrm>
            <a:off x="4762065" y="6883415"/>
            <a:ext cx="73150" cy="190190"/>
          </a:xfrm>
          <a:prstGeom prst="rect">
            <a:avLst/>
          </a:prstGeom>
          <a:solidFill>
            <a:srgbClr val="E9A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P"/>
          <p:cNvSpPr txBox="1"/>
          <p:nvPr/>
        </p:nvSpPr>
        <p:spPr>
          <a:xfrm>
            <a:off x="5015633" y="6863006"/>
            <a:ext cx="180475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225" name="rect 224"/>
          <p:cNvSpPr/>
          <p:nvPr/>
        </p:nvSpPr>
        <p:spPr>
          <a:xfrm>
            <a:off x="6086080" y="6905360"/>
            <a:ext cx="109725" cy="146300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 225"/>
          <p:cNvSpPr/>
          <p:nvPr/>
        </p:nvSpPr>
        <p:spPr>
          <a:xfrm>
            <a:off x="6232380" y="6905360"/>
            <a:ext cx="109725" cy="146300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 226"/>
          <p:cNvSpPr/>
          <p:nvPr/>
        </p:nvSpPr>
        <p:spPr>
          <a:xfrm>
            <a:off x="6378680" y="6905360"/>
            <a:ext cx="109725" cy="146300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aging / batch fill"/>
          <p:cNvSpPr txBox="1"/>
          <p:nvPr/>
        </p:nvSpPr>
        <p:spPr>
          <a:xfrm>
            <a:off x="4740120" y="7091892"/>
            <a:ext cx="123017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aging / batch fill</a:t>
            </a:r>
          </a:p>
        </p:txBody>
      </p:sp>
      <p:cxnSp>
        <p:nvCxnSpPr>
          <p:cNvPr id="229" name="line 228"/>
          <p:cNvCxnSpPr/>
          <p:nvPr/>
        </p:nvCxnSpPr>
        <p:spPr>
          <a:xfrm>
            <a:off x="468160" y="7388150"/>
            <a:ext cx="6195805" cy="0"/>
          </a:xfrm>
          <a:prstGeom prst="line">
            <a:avLst/>
          </a:prstGeom>
          <a:ln w="8778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PREPARE_HOST"/>
          <p:cNvSpPr txBox="1"/>
          <p:nvPr/>
        </p:nvSpPr>
        <p:spPr>
          <a:xfrm>
            <a:off x="475475" y="7426554"/>
            <a:ext cx="134836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PREPARE_HOST</a:t>
            </a:r>
          </a:p>
        </p:txBody>
      </p:sp>
      <p:sp>
        <p:nvSpPr>
          <p:cNvPr id="231" name="回收冷 FULL"/>
          <p:cNvSpPr txBox="1"/>
          <p:nvPr/>
        </p:nvSpPr>
        <p:spPr>
          <a:xfrm>
            <a:off x="2560250" y="7426554"/>
            <a:ext cx="1007641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回收冷 FULL</a:t>
            </a:r>
          </a:p>
        </p:txBody>
      </p:sp>
      <p:sp>
        <p:nvSpPr>
          <p:cNvPr id="232" name="PREFETCH_GPU"/>
          <p:cNvSpPr txBox="1"/>
          <p:nvPr/>
        </p:nvSpPr>
        <p:spPr>
          <a:xfrm>
            <a:off x="4718175" y="7426554"/>
            <a:ext cx="1354332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PREFETCH_GPU</a:t>
            </a:r>
          </a:p>
        </p:txBody>
      </p:sp>
      <p:sp>
        <p:nvSpPr>
          <p:cNvPr id="233" name="rect 232"/>
          <p:cNvSpPr/>
          <p:nvPr/>
        </p:nvSpPr>
        <p:spPr>
          <a:xfrm>
            <a:off x="497420" y="7768530"/>
            <a:ext cx="204820" cy="212135"/>
          </a:xfrm>
          <a:prstGeom prst="roundRect">
            <a:avLst>
              <a:gd name="adj" fmla="val 3571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 233"/>
          <p:cNvSpPr/>
          <p:nvPr/>
        </p:nvSpPr>
        <p:spPr>
          <a:xfrm>
            <a:off x="738815" y="7768530"/>
            <a:ext cx="204820" cy="212135"/>
          </a:xfrm>
          <a:prstGeom prst="roundRect">
            <a:avLst>
              <a:gd name="adj" fmla="val 3571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 234"/>
          <p:cNvSpPr/>
          <p:nvPr/>
        </p:nvSpPr>
        <p:spPr>
          <a:xfrm>
            <a:off x="980210" y="7768530"/>
            <a:ext cx="204820" cy="212135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6" name="path 235"/>
          <p:cNvCxnSpPr/>
          <p:nvPr/>
        </p:nvCxnSpPr>
        <p:spPr>
          <a:xfrm>
            <a:off x="1258180" y="7870940"/>
            <a:ext cx="314545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arrowhead 236"/>
          <p:cNvSpPr/>
          <p:nvPr/>
        </p:nvSpPr>
        <p:spPr>
          <a:xfrm>
            <a:off x="1484945" y="781973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Host"/>
          <p:cNvSpPr txBox="1"/>
          <p:nvPr/>
        </p:nvSpPr>
        <p:spPr>
          <a:xfrm>
            <a:off x="1667820" y="7741099"/>
            <a:ext cx="450673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Host</a:t>
            </a:r>
          </a:p>
        </p:txBody>
      </p:sp>
      <p:sp>
        <p:nvSpPr>
          <p:cNvPr id="239" name="rect 238"/>
          <p:cNvSpPr/>
          <p:nvPr/>
        </p:nvSpPr>
        <p:spPr>
          <a:xfrm>
            <a:off x="2582195" y="7768530"/>
            <a:ext cx="204820" cy="212135"/>
          </a:xfrm>
          <a:prstGeom prst="roundRect">
            <a:avLst>
              <a:gd name="adj" fmla="val 3571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 239"/>
          <p:cNvSpPr/>
          <p:nvPr/>
        </p:nvSpPr>
        <p:spPr>
          <a:xfrm>
            <a:off x="2823590" y="7768530"/>
            <a:ext cx="204820" cy="212135"/>
          </a:xfrm>
          <a:prstGeom prst="roundRect">
            <a:avLst>
              <a:gd name="adj" fmla="val 3571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1" name="path 240"/>
          <p:cNvCxnSpPr/>
          <p:nvPr/>
        </p:nvCxnSpPr>
        <p:spPr>
          <a:xfrm>
            <a:off x="3101560" y="7870940"/>
            <a:ext cx="263340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arrowhead 241"/>
          <p:cNvSpPr/>
          <p:nvPr/>
        </p:nvSpPr>
        <p:spPr>
          <a:xfrm>
            <a:off x="3277120" y="781973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 242"/>
          <p:cNvSpPr/>
          <p:nvPr/>
        </p:nvSpPr>
        <p:spPr>
          <a:xfrm>
            <a:off x="3489255" y="7768530"/>
            <a:ext cx="175560" cy="212135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 243"/>
          <p:cNvSpPr/>
          <p:nvPr/>
        </p:nvSpPr>
        <p:spPr>
          <a:xfrm>
            <a:off x="3701390" y="7768530"/>
            <a:ext cx="175560" cy="212135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 244"/>
          <p:cNvSpPr/>
          <p:nvPr/>
        </p:nvSpPr>
        <p:spPr>
          <a:xfrm>
            <a:off x="3913525" y="7768530"/>
            <a:ext cx="175560" cy="212135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 245"/>
          <p:cNvSpPr/>
          <p:nvPr/>
        </p:nvSpPr>
        <p:spPr>
          <a:xfrm>
            <a:off x="4740120" y="7768530"/>
            <a:ext cx="204820" cy="212135"/>
          </a:xfrm>
          <a:prstGeom prst="roundRect">
            <a:avLst>
              <a:gd name="adj" fmla="val 3571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 246"/>
          <p:cNvSpPr/>
          <p:nvPr/>
        </p:nvSpPr>
        <p:spPr>
          <a:xfrm>
            <a:off x="4981515" y="7768530"/>
            <a:ext cx="204820" cy="212135"/>
          </a:xfrm>
          <a:prstGeom prst="roundRect">
            <a:avLst>
              <a:gd name="adj" fmla="val 3571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 247"/>
          <p:cNvSpPr/>
          <p:nvPr/>
        </p:nvSpPr>
        <p:spPr>
          <a:xfrm>
            <a:off x="5222910" y="7768530"/>
            <a:ext cx="204820" cy="212135"/>
          </a:xfrm>
          <a:prstGeom prst="roundRect">
            <a:avLst>
              <a:gd name="adj" fmla="val 3571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 248"/>
          <p:cNvSpPr/>
          <p:nvPr/>
        </p:nvSpPr>
        <p:spPr>
          <a:xfrm>
            <a:off x="5727645" y="7761215"/>
            <a:ext cx="277385" cy="207161"/>
          </a:xfrm>
          <a:prstGeom prst="roundRect">
            <a:avLst>
              <a:gd name="adj" fmla="val 3531"/>
            </a:avLst>
          </a:prstGeom>
          <a:solidFill>
            <a:srgbClr val="E9A6B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 249"/>
          <p:cNvSpPr/>
          <p:nvPr/>
        </p:nvSpPr>
        <p:spPr>
          <a:xfrm>
            <a:off x="5762757" y="7796327"/>
            <a:ext cx="52668" cy="4915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 250"/>
          <p:cNvSpPr/>
          <p:nvPr/>
        </p:nvSpPr>
        <p:spPr>
          <a:xfrm>
            <a:off x="5840003" y="7796327"/>
            <a:ext cx="52668" cy="4915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 251"/>
          <p:cNvSpPr/>
          <p:nvPr/>
        </p:nvSpPr>
        <p:spPr>
          <a:xfrm>
            <a:off x="5917250" y="7796327"/>
            <a:ext cx="52668" cy="4915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 252"/>
          <p:cNvSpPr/>
          <p:nvPr/>
        </p:nvSpPr>
        <p:spPr>
          <a:xfrm>
            <a:off x="5762757" y="7873573"/>
            <a:ext cx="52668" cy="4915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 253"/>
          <p:cNvSpPr/>
          <p:nvPr/>
        </p:nvSpPr>
        <p:spPr>
          <a:xfrm>
            <a:off x="5840003" y="7873573"/>
            <a:ext cx="52668" cy="4915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 254"/>
          <p:cNvSpPr/>
          <p:nvPr/>
        </p:nvSpPr>
        <p:spPr>
          <a:xfrm>
            <a:off x="5917250" y="7873573"/>
            <a:ext cx="52668" cy="4915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path 255"/>
          <p:cNvSpPr/>
          <p:nvPr/>
        </p:nvSpPr>
        <p:spPr>
          <a:xfrm>
            <a:off x="6356735" y="7739270"/>
            <a:ext cx="65835" cy="51205"/>
          </a:xfrm>
          <a:custGeom>
            <a:avLst/>
            <a:gdLst/>
            <a:ahLst/>
            <a:cxnLst/>
            <a:rect l="l" t="t" r="r" b="b"/>
            <a:pathLst>
              <a:path w="9" h="7">
                <a:moveTo>
                  <a:pt x="0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 256"/>
          <p:cNvSpPr/>
          <p:nvPr/>
        </p:nvSpPr>
        <p:spPr>
          <a:xfrm>
            <a:off x="6334790" y="7793767"/>
            <a:ext cx="114114" cy="9509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circle 257"/>
          <p:cNvSpPr/>
          <p:nvPr/>
        </p:nvSpPr>
        <p:spPr>
          <a:xfrm>
            <a:off x="6382338" y="7822295"/>
            <a:ext cx="19019" cy="19019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path 258"/>
          <p:cNvSpPr/>
          <p:nvPr/>
        </p:nvSpPr>
        <p:spPr>
          <a:xfrm>
            <a:off x="1806805" y="4498725"/>
            <a:ext cx="1689765" cy="541310"/>
          </a:xfrm>
          <a:custGeom>
            <a:avLst/>
            <a:gdLst/>
            <a:ahLst/>
            <a:cxnLst/>
            <a:rect l="l" t="t" r="r" b="b"/>
            <a:pathLst>
              <a:path w="231" h="74">
                <a:moveTo>
                  <a:pt x="220" y="0"/>
                </a:moveTo>
                <a:lnTo>
                  <a:pt x="231" y="0"/>
                </a:lnTo>
                <a:lnTo>
                  <a:pt x="231" y="65"/>
                </a:lnTo>
                <a:lnTo>
                  <a:pt x="0" y="65"/>
                </a:lnTo>
                <a:lnTo>
                  <a:pt x="0" y="74"/>
                </a:lnTo>
              </a:path>
            </a:pathLst>
          </a:custGeom>
          <a:noFill/>
          <a:ln w="13167">
            <a:solidFill>
              <a:srgbClr val="2676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arrowhead 259"/>
          <p:cNvSpPr/>
          <p:nvPr/>
        </p:nvSpPr>
        <p:spPr>
          <a:xfrm>
            <a:off x="1762915" y="4959570"/>
            <a:ext cx="87780" cy="95095"/>
          </a:xfrm>
          <a:custGeom>
            <a:avLst/>
            <a:gdLst/>
            <a:ahLst/>
            <a:cxnLst/>
            <a:rect l="l" t="t" r="r" b="b"/>
            <a:pathLst>
              <a:path w="12" h="13">
                <a:moveTo>
                  <a:pt x="6" y="13"/>
                </a:moveTo>
                <a:lnTo>
                  <a:pt x="0" y="0"/>
                </a:lnTo>
                <a:lnTo>
                  <a:pt x="12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1" name="path 260"/>
          <p:cNvCxnSpPr/>
          <p:nvPr/>
        </p:nvCxnSpPr>
        <p:spPr>
          <a:xfrm>
            <a:off x="5164390" y="4879105"/>
            <a:ext cx="0" cy="153615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2" name="arrowhead 261"/>
          <p:cNvSpPr/>
          <p:nvPr/>
        </p:nvSpPr>
        <p:spPr>
          <a:xfrm>
            <a:off x="5113185" y="494494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 262"/>
          <p:cNvSpPr/>
          <p:nvPr/>
        </p:nvSpPr>
        <p:spPr>
          <a:xfrm>
            <a:off x="7212590" y="2560250"/>
            <a:ext cx="5588660" cy="1506890"/>
          </a:xfrm>
          <a:prstGeom prst="roundRect">
            <a:avLst>
              <a:gd name="adj" fmla="val 970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 263"/>
          <p:cNvSpPr/>
          <p:nvPr/>
        </p:nvSpPr>
        <p:spPr>
          <a:xfrm>
            <a:off x="7212590" y="2560250"/>
            <a:ext cx="558866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HBM: FULL pages + checkpoint state"/>
          <p:cNvSpPr txBox="1"/>
          <p:nvPr/>
        </p:nvSpPr>
        <p:spPr>
          <a:xfrm>
            <a:off x="7315000" y="2584828"/>
            <a:ext cx="3185625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HBM: FULL pages + checkpoint state</a:t>
            </a:r>
          </a:p>
        </p:txBody>
      </p:sp>
      <p:sp>
        <p:nvSpPr>
          <p:cNvPr id="266" name="FULL"/>
          <p:cNvSpPr txBox="1"/>
          <p:nvPr/>
        </p:nvSpPr>
        <p:spPr>
          <a:xfrm>
            <a:off x="7329630" y="2979034"/>
            <a:ext cx="488333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FULL</a:t>
            </a:r>
          </a:p>
        </p:txBody>
      </p:sp>
      <p:sp>
        <p:nvSpPr>
          <p:cNvPr id="267" name="rect 266"/>
          <p:cNvSpPr/>
          <p:nvPr/>
        </p:nvSpPr>
        <p:spPr>
          <a:xfrm>
            <a:off x="792214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 267"/>
          <p:cNvSpPr/>
          <p:nvPr/>
        </p:nvSpPr>
        <p:spPr>
          <a:xfrm>
            <a:off x="831715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 268"/>
          <p:cNvSpPr/>
          <p:nvPr/>
        </p:nvSpPr>
        <p:spPr>
          <a:xfrm>
            <a:off x="871216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 269"/>
          <p:cNvSpPr/>
          <p:nvPr/>
        </p:nvSpPr>
        <p:spPr>
          <a:xfrm>
            <a:off x="910717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 270"/>
          <p:cNvSpPr/>
          <p:nvPr/>
        </p:nvSpPr>
        <p:spPr>
          <a:xfrm>
            <a:off x="950218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 271"/>
          <p:cNvSpPr/>
          <p:nvPr/>
        </p:nvSpPr>
        <p:spPr>
          <a:xfrm>
            <a:off x="989719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 272"/>
          <p:cNvSpPr/>
          <p:nvPr/>
        </p:nvSpPr>
        <p:spPr>
          <a:xfrm>
            <a:off x="1029220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 273"/>
          <p:cNvSpPr/>
          <p:nvPr/>
        </p:nvSpPr>
        <p:spPr>
          <a:xfrm>
            <a:off x="1068721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F2BD7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 274"/>
          <p:cNvSpPr/>
          <p:nvPr/>
        </p:nvSpPr>
        <p:spPr>
          <a:xfrm>
            <a:off x="1108222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F2BD7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 275"/>
          <p:cNvSpPr/>
          <p:nvPr/>
        </p:nvSpPr>
        <p:spPr>
          <a:xfrm>
            <a:off x="1147723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F2BD7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 276"/>
          <p:cNvSpPr/>
          <p:nvPr/>
        </p:nvSpPr>
        <p:spPr>
          <a:xfrm>
            <a:off x="1187224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 277"/>
          <p:cNvSpPr/>
          <p:nvPr/>
        </p:nvSpPr>
        <p:spPr>
          <a:xfrm>
            <a:off x="12267255" y="2955260"/>
            <a:ext cx="351120" cy="30723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Mamba"/>
          <p:cNvSpPr txBox="1"/>
          <p:nvPr/>
        </p:nvSpPr>
        <p:spPr>
          <a:xfrm>
            <a:off x="7329630" y="3556919"/>
            <a:ext cx="671808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Mamba</a:t>
            </a:r>
          </a:p>
        </p:txBody>
      </p:sp>
      <p:sp>
        <p:nvSpPr>
          <p:cNvPr id="280" name="rect 279"/>
          <p:cNvSpPr/>
          <p:nvPr/>
        </p:nvSpPr>
        <p:spPr>
          <a:xfrm>
            <a:off x="7987980" y="3533145"/>
            <a:ext cx="375625" cy="280530"/>
          </a:xfrm>
          <a:prstGeom prst="roundRect">
            <a:avLst>
              <a:gd name="adj" fmla="val 2607"/>
            </a:avLst>
          </a:prstGeom>
          <a:solidFill>
            <a:srgbClr val="E9A6B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 280"/>
          <p:cNvSpPr/>
          <p:nvPr/>
        </p:nvSpPr>
        <p:spPr>
          <a:xfrm>
            <a:off x="8035528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 281"/>
          <p:cNvSpPr/>
          <p:nvPr/>
        </p:nvSpPr>
        <p:spPr>
          <a:xfrm>
            <a:off x="8140132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 282"/>
          <p:cNvSpPr/>
          <p:nvPr/>
        </p:nvSpPr>
        <p:spPr>
          <a:xfrm>
            <a:off x="8244736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 283"/>
          <p:cNvSpPr/>
          <p:nvPr/>
        </p:nvSpPr>
        <p:spPr>
          <a:xfrm>
            <a:off x="8035528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 284"/>
          <p:cNvSpPr/>
          <p:nvPr/>
        </p:nvSpPr>
        <p:spPr>
          <a:xfrm>
            <a:off x="8140132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 285"/>
          <p:cNvSpPr/>
          <p:nvPr/>
        </p:nvSpPr>
        <p:spPr>
          <a:xfrm>
            <a:off x="8244736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P"/>
          <p:cNvSpPr txBox="1"/>
          <p:nvPr/>
        </p:nvSpPr>
        <p:spPr>
          <a:xfrm>
            <a:off x="8456140" y="3558748"/>
            <a:ext cx="18501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288" name="rect 287"/>
          <p:cNvSpPr/>
          <p:nvPr/>
        </p:nvSpPr>
        <p:spPr>
          <a:xfrm>
            <a:off x="9158380" y="3533145"/>
            <a:ext cx="375625" cy="280530"/>
          </a:xfrm>
          <a:prstGeom prst="roundRect">
            <a:avLst>
              <a:gd name="adj" fmla="val 2607"/>
            </a:avLst>
          </a:prstGeom>
          <a:solidFill>
            <a:srgbClr val="B5D68B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 288"/>
          <p:cNvSpPr/>
          <p:nvPr/>
        </p:nvSpPr>
        <p:spPr>
          <a:xfrm>
            <a:off x="9205928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 289"/>
          <p:cNvSpPr/>
          <p:nvPr/>
        </p:nvSpPr>
        <p:spPr>
          <a:xfrm>
            <a:off x="9310532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 290"/>
          <p:cNvSpPr/>
          <p:nvPr/>
        </p:nvSpPr>
        <p:spPr>
          <a:xfrm>
            <a:off x="9415136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 291"/>
          <p:cNvSpPr/>
          <p:nvPr/>
        </p:nvSpPr>
        <p:spPr>
          <a:xfrm>
            <a:off x="9205928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 292"/>
          <p:cNvSpPr/>
          <p:nvPr/>
        </p:nvSpPr>
        <p:spPr>
          <a:xfrm>
            <a:off x="9310532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 293"/>
          <p:cNvSpPr/>
          <p:nvPr/>
        </p:nvSpPr>
        <p:spPr>
          <a:xfrm>
            <a:off x="9415136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C1"/>
          <p:cNvSpPr txBox="1"/>
          <p:nvPr/>
        </p:nvSpPr>
        <p:spPr>
          <a:xfrm>
            <a:off x="9626540" y="3558748"/>
            <a:ext cx="27105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296" name="rect 295"/>
          <p:cNvSpPr/>
          <p:nvPr/>
        </p:nvSpPr>
        <p:spPr>
          <a:xfrm>
            <a:off x="10328780" y="3533145"/>
            <a:ext cx="375625" cy="280530"/>
          </a:xfrm>
          <a:prstGeom prst="roundRect">
            <a:avLst>
              <a:gd name="adj" fmla="val 2607"/>
            </a:avLst>
          </a:prstGeom>
          <a:solidFill>
            <a:srgbClr val="F2BD7D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 296"/>
          <p:cNvSpPr/>
          <p:nvPr/>
        </p:nvSpPr>
        <p:spPr>
          <a:xfrm>
            <a:off x="10376328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 297"/>
          <p:cNvSpPr/>
          <p:nvPr/>
        </p:nvSpPr>
        <p:spPr>
          <a:xfrm>
            <a:off x="10480932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 298"/>
          <p:cNvSpPr/>
          <p:nvPr/>
        </p:nvSpPr>
        <p:spPr>
          <a:xfrm>
            <a:off x="10585536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 299"/>
          <p:cNvSpPr/>
          <p:nvPr/>
        </p:nvSpPr>
        <p:spPr>
          <a:xfrm>
            <a:off x="10376328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 300"/>
          <p:cNvSpPr/>
          <p:nvPr/>
        </p:nvSpPr>
        <p:spPr>
          <a:xfrm>
            <a:off x="10480932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 301"/>
          <p:cNvSpPr/>
          <p:nvPr/>
        </p:nvSpPr>
        <p:spPr>
          <a:xfrm>
            <a:off x="10585536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2"/>
          <p:cNvSpPr txBox="1"/>
          <p:nvPr/>
        </p:nvSpPr>
        <p:spPr>
          <a:xfrm>
            <a:off x="10796940" y="3558748"/>
            <a:ext cx="27105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304" name="rect 303"/>
          <p:cNvSpPr/>
          <p:nvPr/>
        </p:nvSpPr>
        <p:spPr>
          <a:xfrm>
            <a:off x="11499180" y="3533145"/>
            <a:ext cx="375625" cy="280530"/>
          </a:xfrm>
          <a:prstGeom prst="roundRect">
            <a:avLst>
              <a:gd name="adj" fmla="val 2607"/>
            </a:avLst>
          </a:prstGeom>
          <a:solidFill>
            <a:srgbClr val="FFFFF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 304"/>
          <p:cNvSpPr/>
          <p:nvPr/>
        </p:nvSpPr>
        <p:spPr>
          <a:xfrm>
            <a:off x="11546728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 305"/>
          <p:cNvSpPr/>
          <p:nvPr/>
        </p:nvSpPr>
        <p:spPr>
          <a:xfrm>
            <a:off x="11651332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 306"/>
          <p:cNvSpPr/>
          <p:nvPr/>
        </p:nvSpPr>
        <p:spPr>
          <a:xfrm>
            <a:off x="11755936" y="3580692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 307"/>
          <p:cNvSpPr/>
          <p:nvPr/>
        </p:nvSpPr>
        <p:spPr>
          <a:xfrm>
            <a:off x="11546728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 308"/>
          <p:cNvSpPr/>
          <p:nvPr/>
        </p:nvSpPr>
        <p:spPr>
          <a:xfrm>
            <a:off x="11651332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 309"/>
          <p:cNvSpPr/>
          <p:nvPr/>
        </p:nvSpPr>
        <p:spPr>
          <a:xfrm>
            <a:off x="11755936" y="3685297"/>
            <a:ext cx="71321" cy="6656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"/>
          <p:cNvSpPr txBox="1"/>
          <p:nvPr/>
        </p:nvSpPr>
        <p:spPr>
          <a:xfrm>
            <a:off x="11967340" y="3558748"/>
            <a:ext cx="36580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free</a:t>
            </a:r>
          </a:p>
        </p:txBody>
      </p:sp>
      <p:sp>
        <p:nvSpPr>
          <p:cNvPr id="312" name="原生分配器 · 共享页 · 输入增长预留"/>
          <p:cNvSpPr txBox="1"/>
          <p:nvPr/>
        </p:nvSpPr>
        <p:spPr>
          <a:xfrm>
            <a:off x="7922145" y="3822088"/>
            <a:ext cx="2683233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原生分配器 · 共享页 · 输入增长预留</a:t>
            </a:r>
          </a:p>
        </p:txBody>
      </p:sp>
      <p:sp>
        <p:nvSpPr>
          <p:cNvPr id="313" name="rect 312"/>
          <p:cNvSpPr/>
          <p:nvPr/>
        </p:nvSpPr>
        <p:spPr>
          <a:xfrm>
            <a:off x="7212590" y="4228070"/>
            <a:ext cx="2413950" cy="1492260"/>
          </a:xfrm>
          <a:prstGeom prst="roundRect">
            <a:avLst>
              <a:gd name="adj" fmla="val 980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 313"/>
          <p:cNvSpPr/>
          <p:nvPr/>
        </p:nvSpPr>
        <p:spPr>
          <a:xfrm>
            <a:off x="7212590" y="4228070"/>
            <a:ext cx="241395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UnifiedRadixCache"/>
          <p:cNvSpPr txBox="1"/>
          <p:nvPr/>
        </p:nvSpPr>
        <p:spPr>
          <a:xfrm>
            <a:off x="7315000" y="4252648"/>
            <a:ext cx="1729455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UnifiedRadixCache</a:t>
            </a:r>
          </a:p>
        </p:txBody>
      </p:sp>
      <p:sp>
        <p:nvSpPr>
          <p:cNvPr id="316" name="rect 315"/>
          <p:cNvSpPr/>
          <p:nvPr/>
        </p:nvSpPr>
        <p:spPr>
          <a:xfrm>
            <a:off x="7351575" y="4879105"/>
            <a:ext cx="358435" cy="226765"/>
          </a:xfrm>
          <a:prstGeom prst="roundRect">
            <a:avLst>
              <a:gd name="adj" fmla="val 3225"/>
            </a:avLst>
          </a:prstGeom>
          <a:solidFill>
            <a:srgbClr val="DDDDD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p0"/>
          <p:cNvSpPr txBox="1"/>
          <p:nvPr/>
        </p:nvSpPr>
        <p:spPr>
          <a:xfrm>
            <a:off x="7392122" y="4865499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318" name="rect 317"/>
          <p:cNvSpPr/>
          <p:nvPr/>
        </p:nvSpPr>
        <p:spPr>
          <a:xfrm>
            <a:off x="8148910" y="4645025"/>
            <a:ext cx="358435" cy="226765"/>
          </a:xfrm>
          <a:prstGeom prst="roundRect">
            <a:avLst>
              <a:gd name="adj" fmla="val 32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P"/>
          <p:cNvSpPr txBox="1"/>
          <p:nvPr/>
        </p:nvSpPr>
        <p:spPr>
          <a:xfrm>
            <a:off x="8233004" y="4631419"/>
            <a:ext cx="19024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320" name="rect 319"/>
          <p:cNvSpPr/>
          <p:nvPr/>
        </p:nvSpPr>
        <p:spPr>
          <a:xfrm>
            <a:off x="8148910" y="5288745"/>
            <a:ext cx="358435" cy="226765"/>
          </a:xfrm>
          <a:prstGeom prst="roundRect">
            <a:avLst>
              <a:gd name="adj" fmla="val 3225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C1"/>
          <p:cNvSpPr txBox="1"/>
          <p:nvPr/>
        </p:nvSpPr>
        <p:spPr>
          <a:xfrm>
            <a:off x="8188528" y="5275139"/>
            <a:ext cx="279199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322" name="rect 321"/>
          <p:cNvSpPr/>
          <p:nvPr/>
        </p:nvSpPr>
        <p:spPr>
          <a:xfrm>
            <a:off x="8975505" y="4645025"/>
            <a:ext cx="358435" cy="226765"/>
          </a:xfrm>
          <a:prstGeom prst="roundRect">
            <a:avLst>
              <a:gd name="adj" fmla="val 32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c*"/>
          <p:cNvSpPr txBox="1"/>
          <p:nvPr/>
        </p:nvSpPr>
        <p:spPr>
          <a:xfrm>
            <a:off x="9031410" y="4631419"/>
            <a:ext cx="24662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c*</a:t>
            </a:r>
          </a:p>
        </p:txBody>
      </p:sp>
      <p:cxnSp>
        <p:nvCxnSpPr>
          <p:cNvPr id="324" name="line 323"/>
          <p:cNvCxnSpPr/>
          <p:nvPr/>
        </p:nvCxnSpPr>
        <p:spPr>
          <a:xfrm flipV="1">
            <a:off x="7724640" y="4754750"/>
            <a:ext cx="402325" cy="212135"/>
          </a:xfrm>
          <a:prstGeom prst="line">
            <a:avLst/>
          </a:prstGeom>
          <a:ln w="12435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line 324"/>
          <p:cNvCxnSpPr/>
          <p:nvPr/>
        </p:nvCxnSpPr>
        <p:spPr>
          <a:xfrm>
            <a:off x="7724640" y="5040035"/>
            <a:ext cx="402325" cy="343805"/>
          </a:xfrm>
          <a:prstGeom prst="line">
            <a:avLst/>
          </a:prstGeom>
          <a:ln w="12435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path 325"/>
          <p:cNvCxnSpPr/>
          <p:nvPr/>
        </p:nvCxnSpPr>
        <p:spPr>
          <a:xfrm>
            <a:off x="8529290" y="4754750"/>
            <a:ext cx="424270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7" name="arrowhead 326"/>
          <p:cNvSpPr/>
          <p:nvPr/>
        </p:nvSpPr>
        <p:spPr>
          <a:xfrm>
            <a:off x="8865780" y="470354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path 327"/>
          <p:cNvSpPr/>
          <p:nvPr/>
        </p:nvSpPr>
        <p:spPr>
          <a:xfrm>
            <a:off x="7461300" y="5179020"/>
            <a:ext cx="65835" cy="51205"/>
          </a:xfrm>
          <a:custGeom>
            <a:avLst/>
            <a:gdLst/>
            <a:ahLst/>
            <a:cxnLst/>
            <a:rect l="l" t="t" r="r" b="b"/>
            <a:pathLst>
              <a:path w="9" h="7">
                <a:moveTo>
                  <a:pt x="0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 328"/>
          <p:cNvSpPr/>
          <p:nvPr/>
        </p:nvSpPr>
        <p:spPr>
          <a:xfrm>
            <a:off x="7439355" y="5233517"/>
            <a:ext cx="114114" cy="9509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circle 329"/>
          <p:cNvSpPr/>
          <p:nvPr/>
        </p:nvSpPr>
        <p:spPr>
          <a:xfrm>
            <a:off x="7486902" y="5262045"/>
            <a:ext cx="19019" cy="19019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safe input"/>
          <p:cNvSpPr txBox="1"/>
          <p:nvPr/>
        </p:nvSpPr>
        <p:spPr>
          <a:xfrm>
            <a:off x="8756055" y="5286916"/>
            <a:ext cx="762503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safe input</a:t>
            </a:r>
          </a:p>
        </p:txBody>
      </p:sp>
      <p:sp>
        <p:nvSpPr>
          <p:cNvPr id="332" name="rect 331"/>
          <p:cNvSpPr/>
          <p:nvPr/>
        </p:nvSpPr>
        <p:spPr>
          <a:xfrm>
            <a:off x="9787470" y="4228070"/>
            <a:ext cx="3013780" cy="1492260"/>
          </a:xfrm>
          <a:prstGeom prst="roundRect">
            <a:avLst>
              <a:gd name="adj" fmla="val 980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 332"/>
          <p:cNvSpPr/>
          <p:nvPr/>
        </p:nvSpPr>
        <p:spPr>
          <a:xfrm>
            <a:off x="9787470" y="4228070"/>
            <a:ext cx="3013780" cy="277970"/>
          </a:xfrm>
          <a:prstGeom prst="roundRect">
            <a:avLst>
              <a:gd name="adj" fmla="val 5263"/>
            </a:avLst>
          </a:prstGeom>
          <a:solidFill>
            <a:srgbClr val="F5D460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HiCache / DMA"/>
          <p:cNvSpPr txBox="1"/>
          <p:nvPr/>
        </p:nvSpPr>
        <p:spPr>
          <a:xfrm>
            <a:off x="9889880" y="4245333"/>
            <a:ext cx="1387107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HiCache / DMA</a:t>
            </a:r>
          </a:p>
        </p:txBody>
      </p:sp>
      <p:sp>
        <p:nvSpPr>
          <p:cNvPr id="335" name="rect 334"/>
          <p:cNvSpPr/>
          <p:nvPr/>
        </p:nvSpPr>
        <p:spPr>
          <a:xfrm>
            <a:off x="9911825" y="4652340"/>
            <a:ext cx="1214290" cy="577885"/>
          </a:xfrm>
          <a:prstGeom prst="roundRect">
            <a:avLst>
              <a:gd name="adj" fmla="val 3797"/>
            </a:avLst>
          </a:prstGeom>
          <a:solidFill>
            <a:srgbClr val="F5D460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D2H"/>
          <p:cNvSpPr txBox="1"/>
          <p:nvPr/>
        </p:nvSpPr>
        <p:spPr>
          <a:xfrm>
            <a:off x="10279089" y="4672456"/>
            <a:ext cx="479761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D2H</a:t>
            </a:r>
          </a:p>
        </p:txBody>
      </p:sp>
      <p:cxnSp>
        <p:nvCxnSpPr>
          <p:cNvPr id="337" name="path 336"/>
          <p:cNvCxnSpPr/>
          <p:nvPr/>
        </p:nvCxnSpPr>
        <p:spPr>
          <a:xfrm>
            <a:off x="10050810" y="5016408"/>
            <a:ext cx="93632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arrowhead 337"/>
          <p:cNvSpPr/>
          <p:nvPr/>
        </p:nvSpPr>
        <p:spPr>
          <a:xfrm>
            <a:off x="10899350" y="49668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9" name="path 338"/>
          <p:cNvCxnSpPr/>
          <p:nvPr/>
        </p:nvCxnSpPr>
        <p:spPr>
          <a:xfrm flipH="1">
            <a:off x="10050810" y="5126206"/>
            <a:ext cx="93632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arrowhead 339"/>
          <p:cNvSpPr/>
          <p:nvPr/>
        </p:nvSpPr>
        <p:spPr>
          <a:xfrm>
            <a:off x="10036180" y="507661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0" y="7"/>
                </a:moveTo>
                <a:lnTo>
                  <a:pt x="14" y="0"/>
                </a:lnTo>
                <a:lnTo>
                  <a:pt x="14" y="14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 340"/>
          <p:cNvSpPr/>
          <p:nvPr/>
        </p:nvSpPr>
        <p:spPr>
          <a:xfrm>
            <a:off x="11433345" y="4652340"/>
            <a:ext cx="1214290" cy="577885"/>
          </a:xfrm>
          <a:prstGeom prst="roundRect">
            <a:avLst>
              <a:gd name="adj" fmla="val 3797"/>
            </a:avLst>
          </a:prstGeom>
          <a:solidFill>
            <a:srgbClr val="F5D460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H2D"/>
          <p:cNvSpPr txBox="1"/>
          <p:nvPr/>
        </p:nvSpPr>
        <p:spPr>
          <a:xfrm>
            <a:off x="11800609" y="4672456"/>
            <a:ext cx="479761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cxnSp>
        <p:nvCxnSpPr>
          <p:cNvPr id="343" name="path 342"/>
          <p:cNvCxnSpPr/>
          <p:nvPr/>
        </p:nvCxnSpPr>
        <p:spPr>
          <a:xfrm>
            <a:off x="11572330" y="5016408"/>
            <a:ext cx="93632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arrowhead 343"/>
          <p:cNvSpPr/>
          <p:nvPr/>
        </p:nvSpPr>
        <p:spPr>
          <a:xfrm>
            <a:off x="12420870" y="49668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5" name="path 344"/>
          <p:cNvCxnSpPr/>
          <p:nvPr/>
        </p:nvCxnSpPr>
        <p:spPr>
          <a:xfrm flipH="1">
            <a:off x="11572330" y="5126206"/>
            <a:ext cx="93632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6" name="arrowhead 345"/>
          <p:cNvSpPr/>
          <p:nvPr/>
        </p:nvSpPr>
        <p:spPr>
          <a:xfrm>
            <a:off x="11557700" y="507661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0" y="7"/>
                </a:moveTo>
                <a:lnTo>
                  <a:pt x="14" y="0"/>
                </a:lnTo>
                <a:lnTo>
                  <a:pt x="14" y="14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 346"/>
          <p:cNvSpPr/>
          <p:nvPr/>
        </p:nvSpPr>
        <p:spPr>
          <a:xfrm>
            <a:off x="9941085" y="5391155"/>
            <a:ext cx="219450" cy="182875"/>
          </a:xfrm>
          <a:prstGeom prst="roundRect">
            <a:avLst>
              <a:gd name="adj" fmla="val 400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 347"/>
          <p:cNvSpPr/>
          <p:nvPr/>
        </p:nvSpPr>
        <p:spPr>
          <a:xfrm>
            <a:off x="10197110" y="5391155"/>
            <a:ext cx="219450" cy="182875"/>
          </a:xfrm>
          <a:prstGeom prst="roundRect">
            <a:avLst>
              <a:gd name="adj" fmla="val 400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 348"/>
          <p:cNvSpPr/>
          <p:nvPr/>
        </p:nvSpPr>
        <p:spPr>
          <a:xfrm>
            <a:off x="10453135" y="5391155"/>
            <a:ext cx="219450" cy="182875"/>
          </a:xfrm>
          <a:prstGeom prst="roundRect">
            <a:avLst>
              <a:gd name="adj" fmla="val 400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 349"/>
          <p:cNvSpPr/>
          <p:nvPr/>
        </p:nvSpPr>
        <p:spPr>
          <a:xfrm>
            <a:off x="10709160" y="5391155"/>
            <a:ext cx="219450" cy="182875"/>
          </a:xfrm>
          <a:prstGeom prst="roundRect">
            <a:avLst>
              <a:gd name="adj" fmla="val 400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 350"/>
          <p:cNvSpPr/>
          <p:nvPr/>
        </p:nvSpPr>
        <p:spPr>
          <a:xfrm>
            <a:off x="11477235" y="5391155"/>
            <a:ext cx="219450" cy="182875"/>
          </a:xfrm>
          <a:prstGeom prst="roundRect">
            <a:avLst>
              <a:gd name="adj" fmla="val 400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 351"/>
          <p:cNvSpPr/>
          <p:nvPr/>
        </p:nvSpPr>
        <p:spPr>
          <a:xfrm>
            <a:off x="11733260" y="5391155"/>
            <a:ext cx="219450" cy="182875"/>
          </a:xfrm>
          <a:prstGeom prst="roundRect">
            <a:avLst>
              <a:gd name="adj" fmla="val 400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 352"/>
          <p:cNvSpPr/>
          <p:nvPr/>
        </p:nvSpPr>
        <p:spPr>
          <a:xfrm>
            <a:off x="11989285" y="5391155"/>
            <a:ext cx="219450" cy="182875"/>
          </a:xfrm>
          <a:prstGeom prst="roundRect">
            <a:avLst>
              <a:gd name="adj" fmla="val 400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 353"/>
          <p:cNvSpPr/>
          <p:nvPr/>
        </p:nvSpPr>
        <p:spPr>
          <a:xfrm>
            <a:off x="12369665" y="5369210"/>
            <a:ext cx="248491" cy="185582"/>
          </a:xfrm>
          <a:prstGeom prst="roundRect">
            <a:avLst>
              <a:gd name="adj" fmla="val 3941"/>
            </a:avLst>
          </a:prstGeom>
          <a:solidFill>
            <a:srgbClr val="E9A6B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 354"/>
          <p:cNvSpPr/>
          <p:nvPr/>
        </p:nvSpPr>
        <p:spPr>
          <a:xfrm>
            <a:off x="12401120" y="5400664"/>
            <a:ext cx="47182" cy="4403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 355"/>
          <p:cNvSpPr/>
          <p:nvPr/>
        </p:nvSpPr>
        <p:spPr>
          <a:xfrm>
            <a:off x="12470319" y="5400664"/>
            <a:ext cx="47182" cy="4403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 356"/>
          <p:cNvSpPr/>
          <p:nvPr/>
        </p:nvSpPr>
        <p:spPr>
          <a:xfrm>
            <a:off x="12539519" y="5400664"/>
            <a:ext cx="47182" cy="4403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 357"/>
          <p:cNvSpPr/>
          <p:nvPr/>
        </p:nvSpPr>
        <p:spPr>
          <a:xfrm>
            <a:off x="12401120" y="5469864"/>
            <a:ext cx="47182" cy="4403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 358"/>
          <p:cNvSpPr/>
          <p:nvPr/>
        </p:nvSpPr>
        <p:spPr>
          <a:xfrm>
            <a:off x="12470319" y="5469864"/>
            <a:ext cx="47182" cy="4403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 359"/>
          <p:cNvSpPr/>
          <p:nvPr/>
        </p:nvSpPr>
        <p:spPr>
          <a:xfrm>
            <a:off x="12539519" y="5469864"/>
            <a:ext cx="47182" cy="4403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path 360"/>
          <p:cNvSpPr/>
          <p:nvPr/>
        </p:nvSpPr>
        <p:spPr>
          <a:xfrm>
            <a:off x="10526285" y="4074455"/>
            <a:ext cx="2033570" cy="555940"/>
          </a:xfrm>
          <a:custGeom>
            <a:avLst/>
            <a:gdLst/>
            <a:ahLst/>
            <a:cxnLst/>
            <a:rect l="l" t="t" r="r" b="b"/>
            <a:pathLst>
              <a:path w="278" h="76">
                <a:moveTo>
                  <a:pt x="278" y="0"/>
                </a:moveTo>
                <a:lnTo>
                  <a:pt x="278" y="66"/>
                </a:lnTo>
                <a:lnTo>
                  <a:pt x="0" y="66"/>
                </a:lnTo>
                <a:lnTo>
                  <a:pt x="0" y="76"/>
                </a:lnTo>
              </a:path>
            </a:pathLst>
          </a:custGeom>
          <a:noFill/>
          <a:ln w="14630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arrowhead 361"/>
          <p:cNvSpPr/>
          <p:nvPr/>
        </p:nvSpPr>
        <p:spPr>
          <a:xfrm>
            <a:off x="10475080" y="454261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3" name="path 362"/>
          <p:cNvCxnSpPr/>
          <p:nvPr/>
        </p:nvCxnSpPr>
        <p:spPr>
          <a:xfrm>
            <a:off x="10526285" y="5244855"/>
            <a:ext cx="0" cy="80465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arrowhead 363"/>
          <p:cNvSpPr/>
          <p:nvPr/>
        </p:nvSpPr>
        <p:spPr>
          <a:xfrm>
            <a:off x="10475080" y="523754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5" name="path 364"/>
          <p:cNvCxnSpPr/>
          <p:nvPr/>
        </p:nvCxnSpPr>
        <p:spPr>
          <a:xfrm>
            <a:off x="10526285" y="5734960"/>
            <a:ext cx="0" cy="14630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arrowhead 365"/>
          <p:cNvSpPr/>
          <p:nvPr/>
        </p:nvSpPr>
        <p:spPr>
          <a:xfrm>
            <a:off x="10475080" y="579348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7" name="path 366"/>
          <p:cNvCxnSpPr/>
          <p:nvPr/>
        </p:nvCxnSpPr>
        <p:spPr>
          <a:xfrm flipV="1">
            <a:off x="12040490" y="5734960"/>
            <a:ext cx="0" cy="14630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arrowhead 367"/>
          <p:cNvSpPr/>
          <p:nvPr/>
        </p:nvSpPr>
        <p:spPr>
          <a:xfrm>
            <a:off x="11989285" y="572033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0"/>
                </a:moveTo>
                <a:lnTo>
                  <a:pt x="14" y="14"/>
                </a:lnTo>
                <a:lnTo>
                  <a:pt x="0" y="14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9" name="path 368"/>
          <p:cNvCxnSpPr/>
          <p:nvPr/>
        </p:nvCxnSpPr>
        <p:spPr>
          <a:xfrm flipV="1">
            <a:off x="12040490" y="4074455"/>
            <a:ext cx="0" cy="55594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arrowhead 369"/>
          <p:cNvSpPr/>
          <p:nvPr/>
        </p:nvSpPr>
        <p:spPr>
          <a:xfrm>
            <a:off x="11989285" y="405982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0"/>
                </a:moveTo>
                <a:lnTo>
                  <a:pt x="14" y="14"/>
                </a:lnTo>
                <a:lnTo>
                  <a:pt x="0" y="14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1" name="path 370"/>
          <p:cNvCxnSpPr/>
          <p:nvPr/>
        </p:nvCxnSpPr>
        <p:spPr>
          <a:xfrm>
            <a:off x="9641170" y="4988830"/>
            <a:ext cx="13167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2" name="arrowhead 371"/>
          <p:cNvSpPr/>
          <p:nvPr/>
        </p:nvSpPr>
        <p:spPr>
          <a:xfrm>
            <a:off x="9685060" y="493762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 372"/>
          <p:cNvSpPr/>
          <p:nvPr/>
        </p:nvSpPr>
        <p:spPr>
          <a:xfrm>
            <a:off x="7212590" y="5895890"/>
            <a:ext cx="5588660" cy="1111880"/>
          </a:xfrm>
          <a:prstGeom prst="roundRect">
            <a:avLst>
              <a:gd name="adj" fmla="val 1315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 373"/>
          <p:cNvSpPr/>
          <p:nvPr/>
        </p:nvSpPr>
        <p:spPr>
          <a:xfrm>
            <a:off x="7212590" y="5895890"/>
            <a:ext cx="558866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Host 池：已备份 FULL 与有效状态"/>
          <p:cNvSpPr txBox="1"/>
          <p:nvPr/>
        </p:nvSpPr>
        <p:spPr>
          <a:xfrm>
            <a:off x="7315000" y="5920468"/>
            <a:ext cx="2798616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Host 池：已备份 FULL 与有效状态</a:t>
            </a:r>
          </a:p>
        </p:txBody>
      </p:sp>
      <p:sp>
        <p:nvSpPr>
          <p:cNvPr id="376" name="FULL"/>
          <p:cNvSpPr txBox="1"/>
          <p:nvPr/>
        </p:nvSpPr>
        <p:spPr>
          <a:xfrm>
            <a:off x="7322315" y="6248839"/>
            <a:ext cx="488333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FULL</a:t>
            </a:r>
          </a:p>
        </p:txBody>
      </p:sp>
      <p:sp>
        <p:nvSpPr>
          <p:cNvPr id="377" name="rect 376"/>
          <p:cNvSpPr/>
          <p:nvPr/>
        </p:nvSpPr>
        <p:spPr>
          <a:xfrm>
            <a:off x="792214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 377"/>
          <p:cNvSpPr/>
          <p:nvPr/>
        </p:nvSpPr>
        <p:spPr>
          <a:xfrm>
            <a:off x="831715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 378"/>
          <p:cNvSpPr/>
          <p:nvPr/>
        </p:nvSpPr>
        <p:spPr>
          <a:xfrm>
            <a:off x="871216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 379"/>
          <p:cNvSpPr/>
          <p:nvPr/>
        </p:nvSpPr>
        <p:spPr>
          <a:xfrm>
            <a:off x="910717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 380"/>
          <p:cNvSpPr/>
          <p:nvPr/>
        </p:nvSpPr>
        <p:spPr>
          <a:xfrm>
            <a:off x="950218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 381"/>
          <p:cNvSpPr/>
          <p:nvPr/>
        </p:nvSpPr>
        <p:spPr>
          <a:xfrm>
            <a:off x="989719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 382"/>
          <p:cNvSpPr/>
          <p:nvPr/>
        </p:nvSpPr>
        <p:spPr>
          <a:xfrm>
            <a:off x="1029220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 383"/>
          <p:cNvSpPr/>
          <p:nvPr/>
        </p:nvSpPr>
        <p:spPr>
          <a:xfrm>
            <a:off x="1068721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 384"/>
          <p:cNvSpPr/>
          <p:nvPr/>
        </p:nvSpPr>
        <p:spPr>
          <a:xfrm>
            <a:off x="1108222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 385"/>
          <p:cNvSpPr/>
          <p:nvPr/>
        </p:nvSpPr>
        <p:spPr>
          <a:xfrm>
            <a:off x="1147723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 386"/>
          <p:cNvSpPr/>
          <p:nvPr/>
        </p:nvSpPr>
        <p:spPr>
          <a:xfrm>
            <a:off x="1187224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 387"/>
          <p:cNvSpPr/>
          <p:nvPr/>
        </p:nvSpPr>
        <p:spPr>
          <a:xfrm>
            <a:off x="12267255" y="6232380"/>
            <a:ext cx="351120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Mamba"/>
          <p:cNvSpPr txBox="1"/>
          <p:nvPr/>
        </p:nvSpPr>
        <p:spPr>
          <a:xfrm>
            <a:off x="7322315" y="6651164"/>
            <a:ext cx="671808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Mamba</a:t>
            </a:r>
          </a:p>
        </p:txBody>
      </p:sp>
      <p:sp>
        <p:nvSpPr>
          <p:cNvPr id="390" name="rect 389"/>
          <p:cNvSpPr/>
          <p:nvPr/>
        </p:nvSpPr>
        <p:spPr>
          <a:xfrm>
            <a:off x="7987980" y="6649335"/>
            <a:ext cx="271606" cy="202845"/>
          </a:xfrm>
          <a:prstGeom prst="roundRect">
            <a:avLst>
              <a:gd name="adj" fmla="val 3606"/>
            </a:avLst>
          </a:prstGeom>
          <a:solidFill>
            <a:srgbClr val="E9A6B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 390"/>
          <p:cNvSpPr/>
          <p:nvPr/>
        </p:nvSpPr>
        <p:spPr>
          <a:xfrm>
            <a:off x="8022360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 391"/>
          <p:cNvSpPr/>
          <p:nvPr/>
        </p:nvSpPr>
        <p:spPr>
          <a:xfrm>
            <a:off x="8097998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 392"/>
          <p:cNvSpPr/>
          <p:nvPr/>
        </p:nvSpPr>
        <p:spPr>
          <a:xfrm>
            <a:off x="8173635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 393"/>
          <p:cNvSpPr/>
          <p:nvPr/>
        </p:nvSpPr>
        <p:spPr>
          <a:xfrm>
            <a:off x="8022360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 394"/>
          <p:cNvSpPr/>
          <p:nvPr/>
        </p:nvSpPr>
        <p:spPr>
          <a:xfrm>
            <a:off x="8097998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 395"/>
          <p:cNvSpPr/>
          <p:nvPr/>
        </p:nvSpPr>
        <p:spPr>
          <a:xfrm>
            <a:off x="8173635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P: c*"/>
          <p:cNvSpPr txBox="1"/>
          <p:nvPr/>
        </p:nvSpPr>
        <p:spPr>
          <a:xfrm>
            <a:off x="8324470" y="6640191"/>
            <a:ext cx="396753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P: c*</a:t>
            </a:r>
          </a:p>
        </p:txBody>
      </p:sp>
      <p:sp>
        <p:nvSpPr>
          <p:cNvPr id="398" name="rect 397"/>
          <p:cNvSpPr/>
          <p:nvPr/>
        </p:nvSpPr>
        <p:spPr>
          <a:xfrm>
            <a:off x="9158380" y="6649335"/>
            <a:ext cx="271606" cy="202845"/>
          </a:xfrm>
          <a:prstGeom prst="roundRect">
            <a:avLst>
              <a:gd name="adj" fmla="val 3606"/>
            </a:avLst>
          </a:prstGeom>
          <a:solidFill>
            <a:srgbClr val="FFFFF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 398"/>
          <p:cNvSpPr/>
          <p:nvPr/>
        </p:nvSpPr>
        <p:spPr>
          <a:xfrm>
            <a:off x="9192760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 399"/>
          <p:cNvSpPr/>
          <p:nvPr/>
        </p:nvSpPr>
        <p:spPr>
          <a:xfrm>
            <a:off x="9268398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 400"/>
          <p:cNvSpPr/>
          <p:nvPr/>
        </p:nvSpPr>
        <p:spPr>
          <a:xfrm>
            <a:off x="9344035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 401"/>
          <p:cNvSpPr/>
          <p:nvPr/>
        </p:nvSpPr>
        <p:spPr>
          <a:xfrm>
            <a:off x="9192760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 402"/>
          <p:cNvSpPr/>
          <p:nvPr/>
        </p:nvSpPr>
        <p:spPr>
          <a:xfrm>
            <a:off x="9268398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 403"/>
          <p:cNvSpPr/>
          <p:nvPr/>
        </p:nvSpPr>
        <p:spPr>
          <a:xfrm>
            <a:off x="9344035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C1: ∅"/>
          <p:cNvSpPr txBox="1"/>
          <p:nvPr/>
        </p:nvSpPr>
        <p:spPr>
          <a:xfrm>
            <a:off x="9494870" y="6640191"/>
            <a:ext cx="482076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C1: ∅</a:t>
            </a:r>
          </a:p>
        </p:txBody>
      </p:sp>
      <p:sp>
        <p:nvSpPr>
          <p:cNvPr id="406" name="rect 405"/>
          <p:cNvSpPr/>
          <p:nvPr/>
        </p:nvSpPr>
        <p:spPr>
          <a:xfrm>
            <a:off x="10328780" y="6649335"/>
            <a:ext cx="271606" cy="202845"/>
          </a:xfrm>
          <a:prstGeom prst="roundRect">
            <a:avLst>
              <a:gd name="adj" fmla="val 3606"/>
            </a:avLst>
          </a:prstGeom>
          <a:solidFill>
            <a:srgbClr val="F2BD7D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 406"/>
          <p:cNvSpPr/>
          <p:nvPr/>
        </p:nvSpPr>
        <p:spPr>
          <a:xfrm>
            <a:off x="10363160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 407"/>
          <p:cNvSpPr/>
          <p:nvPr/>
        </p:nvSpPr>
        <p:spPr>
          <a:xfrm>
            <a:off x="10438798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 408"/>
          <p:cNvSpPr/>
          <p:nvPr/>
        </p:nvSpPr>
        <p:spPr>
          <a:xfrm>
            <a:off x="10514435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 409"/>
          <p:cNvSpPr/>
          <p:nvPr/>
        </p:nvSpPr>
        <p:spPr>
          <a:xfrm>
            <a:off x="10363160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 410"/>
          <p:cNvSpPr/>
          <p:nvPr/>
        </p:nvSpPr>
        <p:spPr>
          <a:xfrm>
            <a:off x="10438798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 411"/>
          <p:cNvSpPr/>
          <p:nvPr/>
        </p:nvSpPr>
        <p:spPr>
          <a:xfrm>
            <a:off x="10514435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C2"/>
          <p:cNvSpPr txBox="1"/>
          <p:nvPr/>
        </p:nvSpPr>
        <p:spPr>
          <a:xfrm>
            <a:off x="10665270" y="6640191"/>
            <a:ext cx="262340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414" name="rect 413"/>
          <p:cNvSpPr/>
          <p:nvPr/>
        </p:nvSpPr>
        <p:spPr>
          <a:xfrm>
            <a:off x="11499180" y="6649335"/>
            <a:ext cx="271606" cy="202845"/>
          </a:xfrm>
          <a:prstGeom prst="roundRect">
            <a:avLst>
              <a:gd name="adj" fmla="val 3606"/>
            </a:avLst>
          </a:prstGeom>
          <a:solidFill>
            <a:srgbClr val="FFFFF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 414"/>
          <p:cNvSpPr/>
          <p:nvPr/>
        </p:nvSpPr>
        <p:spPr>
          <a:xfrm>
            <a:off x="11533560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 415"/>
          <p:cNvSpPr/>
          <p:nvPr/>
        </p:nvSpPr>
        <p:spPr>
          <a:xfrm>
            <a:off x="11609198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 416"/>
          <p:cNvSpPr/>
          <p:nvPr/>
        </p:nvSpPr>
        <p:spPr>
          <a:xfrm>
            <a:off x="11684835" y="6683716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 417"/>
          <p:cNvSpPr/>
          <p:nvPr/>
        </p:nvSpPr>
        <p:spPr>
          <a:xfrm>
            <a:off x="11533560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 418"/>
          <p:cNvSpPr/>
          <p:nvPr/>
        </p:nvSpPr>
        <p:spPr>
          <a:xfrm>
            <a:off x="11609198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 419"/>
          <p:cNvSpPr/>
          <p:nvPr/>
        </p:nvSpPr>
        <p:spPr>
          <a:xfrm>
            <a:off x="11684835" y="6759353"/>
            <a:ext cx="51571" cy="48133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"/>
          <p:cNvSpPr txBox="1"/>
          <p:nvPr/>
        </p:nvSpPr>
        <p:spPr>
          <a:xfrm>
            <a:off x="11835670" y="6640191"/>
            <a:ext cx="352577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free</a:t>
            </a:r>
          </a:p>
        </p:txBody>
      </p:sp>
      <p:cxnSp>
        <p:nvCxnSpPr>
          <p:cNvPr id="422" name="path 421"/>
          <p:cNvCxnSpPr/>
          <p:nvPr/>
        </p:nvCxnSpPr>
        <p:spPr>
          <a:xfrm>
            <a:off x="6912675" y="6334790"/>
            <a:ext cx="277970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arrowhead 422"/>
          <p:cNvSpPr/>
          <p:nvPr/>
        </p:nvSpPr>
        <p:spPr>
          <a:xfrm>
            <a:off x="7102865" y="62835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 423"/>
          <p:cNvSpPr/>
          <p:nvPr/>
        </p:nvSpPr>
        <p:spPr>
          <a:xfrm>
            <a:off x="7212590" y="7168700"/>
            <a:ext cx="5588660" cy="1082620"/>
          </a:xfrm>
          <a:prstGeom prst="roundRect">
            <a:avLst>
              <a:gd name="adj" fmla="val 1351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 424"/>
          <p:cNvSpPr/>
          <p:nvPr/>
        </p:nvSpPr>
        <p:spPr>
          <a:xfrm>
            <a:off x="7212590" y="7168700"/>
            <a:ext cx="558866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恢复感知的原生准入"/>
          <p:cNvSpPr txBox="1"/>
          <p:nvPr/>
        </p:nvSpPr>
        <p:spPr>
          <a:xfrm>
            <a:off x="7315000" y="7193278"/>
            <a:ext cx="1667820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恢复感知的原生准入</a:t>
            </a:r>
          </a:p>
        </p:txBody>
      </p:sp>
      <p:sp>
        <p:nvSpPr>
          <p:cNvPr id="427" name="rect 426"/>
          <p:cNvSpPr/>
          <p:nvPr/>
        </p:nvSpPr>
        <p:spPr>
          <a:xfrm>
            <a:off x="7336945" y="7534450"/>
            <a:ext cx="1265495" cy="182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 427"/>
          <p:cNvSpPr/>
          <p:nvPr/>
        </p:nvSpPr>
        <p:spPr>
          <a:xfrm>
            <a:off x="7344260" y="7541765"/>
            <a:ext cx="73150" cy="16824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ld"/>
          <p:cNvSpPr txBox="1"/>
          <p:nvPr/>
        </p:nvSpPr>
        <p:spPr>
          <a:xfrm>
            <a:off x="7534036" y="7510384"/>
            <a:ext cx="308059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old</a:t>
            </a:r>
          </a:p>
        </p:txBody>
      </p:sp>
      <p:sp>
        <p:nvSpPr>
          <p:cNvPr id="430" name="rect 429"/>
          <p:cNvSpPr/>
          <p:nvPr/>
        </p:nvSpPr>
        <p:spPr>
          <a:xfrm>
            <a:off x="8053815" y="756371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 430"/>
          <p:cNvSpPr/>
          <p:nvPr/>
        </p:nvSpPr>
        <p:spPr>
          <a:xfrm>
            <a:off x="8200115" y="756371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 431"/>
          <p:cNvSpPr/>
          <p:nvPr/>
        </p:nvSpPr>
        <p:spPr>
          <a:xfrm>
            <a:off x="8346415" y="756371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 432"/>
          <p:cNvSpPr/>
          <p:nvPr/>
        </p:nvSpPr>
        <p:spPr>
          <a:xfrm>
            <a:off x="7336945" y="7753900"/>
            <a:ext cx="1265495" cy="182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 433"/>
          <p:cNvSpPr/>
          <p:nvPr/>
        </p:nvSpPr>
        <p:spPr>
          <a:xfrm>
            <a:off x="7344260" y="7761215"/>
            <a:ext cx="73150" cy="168245"/>
          </a:xfrm>
          <a:prstGeom prst="rect">
            <a:avLst/>
          </a:prstGeom>
          <a:solidFill>
            <a:srgbClr val="B5D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hit"/>
          <p:cNvSpPr txBox="1"/>
          <p:nvPr/>
        </p:nvSpPr>
        <p:spPr>
          <a:xfrm>
            <a:off x="7549309" y="7729834"/>
            <a:ext cx="277513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hit</a:t>
            </a:r>
          </a:p>
        </p:txBody>
      </p:sp>
      <p:sp>
        <p:nvSpPr>
          <p:cNvPr id="436" name="rect 435"/>
          <p:cNvSpPr/>
          <p:nvPr/>
        </p:nvSpPr>
        <p:spPr>
          <a:xfrm>
            <a:off x="8053815" y="778316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 436"/>
          <p:cNvSpPr/>
          <p:nvPr/>
        </p:nvSpPr>
        <p:spPr>
          <a:xfrm>
            <a:off x="8200115" y="778316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 437"/>
          <p:cNvSpPr/>
          <p:nvPr/>
        </p:nvSpPr>
        <p:spPr>
          <a:xfrm>
            <a:off x="8346415" y="778316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 438"/>
          <p:cNvSpPr/>
          <p:nvPr/>
        </p:nvSpPr>
        <p:spPr>
          <a:xfrm>
            <a:off x="7336945" y="7973350"/>
            <a:ext cx="1265495" cy="182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 439"/>
          <p:cNvSpPr/>
          <p:nvPr/>
        </p:nvSpPr>
        <p:spPr>
          <a:xfrm>
            <a:off x="7344260" y="7980665"/>
            <a:ext cx="73150" cy="168245"/>
          </a:xfrm>
          <a:prstGeom prst="rect">
            <a:avLst/>
          </a:prstGeom>
          <a:solidFill>
            <a:srgbClr val="E9A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P"/>
          <p:cNvSpPr txBox="1"/>
          <p:nvPr/>
        </p:nvSpPr>
        <p:spPr>
          <a:xfrm>
            <a:off x="7597828" y="7949284"/>
            <a:ext cx="180475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442" name="rect 441"/>
          <p:cNvSpPr/>
          <p:nvPr/>
        </p:nvSpPr>
        <p:spPr>
          <a:xfrm>
            <a:off x="8053815" y="800261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 442"/>
          <p:cNvSpPr/>
          <p:nvPr/>
        </p:nvSpPr>
        <p:spPr>
          <a:xfrm>
            <a:off x="8200115" y="800261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 443"/>
          <p:cNvSpPr/>
          <p:nvPr/>
        </p:nvSpPr>
        <p:spPr>
          <a:xfrm>
            <a:off x="8346415" y="8002610"/>
            <a:ext cx="109725" cy="12435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path 444"/>
          <p:cNvSpPr/>
          <p:nvPr/>
        </p:nvSpPr>
        <p:spPr>
          <a:xfrm>
            <a:off x="8624385" y="7622230"/>
            <a:ext cx="738815" cy="168245"/>
          </a:xfrm>
          <a:custGeom>
            <a:avLst/>
            <a:gdLst/>
            <a:ahLst/>
            <a:cxnLst/>
            <a:rect l="l" t="t" r="r" b="b"/>
            <a:pathLst>
              <a:path w="101" h="23">
                <a:moveTo>
                  <a:pt x="0" y="0"/>
                </a:moveTo>
                <a:lnTo>
                  <a:pt x="65" y="0"/>
                </a:lnTo>
                <a:lnTo>
                  <a:pt x="65" y="23"/>
                </a:lnTo>
                <a:lnTo>
                  <a:pt x="101" y="23"/>
                </a:lnTo>
              </a:path>
            </a:pathLst>
          </a:custGeom>
          <a:noFill/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arrowhead 445"/>
          <p:cNvSpPr/>
          <p:nvPr/>
        </p:nvSpPr>
        <p:spPr>
          <a:xfrm>
            <a:off x="9282735" y="7746585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7" name="path 446"/>
          <p:cNvCxnSpPr/>
          <p:nvPr/>
        </p:nvCxnSpPr>
        <p:spPr>
          <a:xfrm>
            <a:off x="8624385" y="7841680"/>
            <a:ext cx="738815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arrowhead 447"/>
          <p:cNvSpPr/>
          <p:nvPr/>
        </p:nvSpPr>
        <p:spPr>
          <a:xfrm>
            <a:off x="9275420" y="779047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path 448"/>
          <p:cNvSpPr/>
          <p:nvPr/>
        </p:nvSpPr>
        <p:spPr>
          <a:xfrm>
            <a:off x="8624385" y="7914830"/>
            <a:ext cx="738815" cy="146300"/>
          </a:xfrm>
          <a:custGeom>
            <a:avLst/>
            <a:gdLst/>
            <a:ahLst/>
            <a:cxnLst/>
            <a:rect l="l" t="t" r="r" b="b"/>
            <a:pathLst>
              <a:path w="101" h="20">
                <a:moveTo>
                  <a:pt x="0" y="20"/>
                </a:moveTo>
                <a:lnTo>
                  <a:pt x="65" y="20"/>
                </a:lnTo>
                <a:lnTo>
                  <a:pt x="65" y="0"/>
                </a:lnTo>
                <a:lnTo>
                  <a:pt x="101" y="0"/>
                </a:lnTo>
              </a:path>
            </a:pathLst>
          </a:custGeom>
          <a:noFill/>
          <a:ln w="14630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arrowhead 449"/>
          <p:cNvSpPr/>
          <p:nvPr/>
        </p:nvSpPr>
        <p:spPr>
          <a:xfrm>
            <a:off x="9275420" y="786362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PrefillAdder"/>
          <p:cNvSpPr txBox="1"/>
          <p:nvPr/>
        </p:nvSpPr>
        <p:spPr>
          <a:xfrm>
            <a:off x="9429035" y="7521649"/>
            <a:ext cx="1083449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PrefillAdder</a:t>
            </a:r>
          </a:p>
        </p:txBody>
      </p:sp>
      <p:sp>
        <p:nvSpPr>
          <p:cNvPr id="452" name="KV ∧ slot"/>
          <p:cNvSpPr txBox="1"/>
          <p:nvPr/>
        </p:nvSpPr>
        <p:spPr>
          <a:xfrm>
            <a:off x="9651142" y="7797790"/>
            <a:ext cx="887115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KV ∧ slot</a:t>
            </a:r>
          </a:p>
        </p:txBody>
      </p:sp>
      <p:cxnSp>
        <p:nvCxnSpPr>
          <p:cNvPr id="453" name="path 452"/>
          <p:cNvCxnSpPr/>
          <p:nvPr/>
        </p:nvCxnSpPr>
        <p:spPr>
          <a:xfrm>
            <a:off x="10826200" y="7856310"/>
            <a:ext cx="57057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arrowhead 453"/>
          <p:cNvSpPr/>
          <p:nvPr/>
        </p:nvSpPr>
        <p:spPr>
          <a:xfrm>
            <a:off x="11308990" y="780510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5" name="line 454"/>
          <p:cNvCxnSpPr/>
          <p:nvPr/>
        </p:nvCxnSpPr>
        <p:spPr>
          <a:xfrm>
            <a:off x="11660110" y="746130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line 455"/>
          <p:cNvCxnSpPr/>
          <p:nvPr/>
        </p:nvCxnSpPr>
        <p:spPr>
          <a:xfrm>
            <a:off x="11660110" y="814159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line 456"/>
          <p:cNvCxnSpPr/>
          <p:nvPr/>
        </p:nvCxnSpPr>
        <p:spPr>
          <a:xfrm>
            <a:off x="11806410" y="746130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line 457"/>
          <p:cNvCxnSpPr/>
          <p:nvPr/>
        </p:nvCxnSpPr>
        <p:spPr>
          <a:xfrm>
            <a:off x="11806410" y="814159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line 458"/>
          <p:cNvCxnSpPr/>
          <p:nvPr/>
        </p:nvCxnSpPr>
        <p:spPr>
          <a:xfrm>
            <a:off x="11952710" y="746130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line 459"/>
          <p:cNvCxnSpPr/>
          <p:nvPr/>
        </p:nvCxnSpPr>
        <p:spPr>
          <a:xfrm>
            <a:off x="11952710" y="814159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line 460"/>
          <p:cNvCxnSpPr/>
          <p:nvPr/>
        </p:nvCxnSpPr>
        <p:spPr>
          <a:xfrm>
            <a:off x="12099010" y="746130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line 461"/>
          <p:cNvCxnSpPr/>
          <p:nvPr/>
        </p:nvCxnSpPr>
        <p:spPr>
          <a:xfrm>
            <a:off x="12099010" y="814159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line 462"/>
          <p:cNvCxnSpPr/>
          <p:nvPr/>
        </p:nvCxnSpPr>
        <p:spPr>
          <a:xfrm>
            <a:off x="12245310" y="746130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line 463"/>
          <p:cNvCxnSpPr/>
          <p:nvPr/>
        </p:nvCxnSpPr>
        <p:spPr>
          <a:xfrm>
            <a:off x="12245310" y="814159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line 464"/>
          <p:cNvCxnSpPr/>
          <p:nvPr/>
        </p:nvCxnSpPr>
        <p:spPr>
          <a:xfrm>
            <a:off x="12391610" y="746130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line 465"/>
          <p:cNvCxnSpPr/>
          <p:nvPr/>
        </p:nvCxnSpPr>
        <p:spPr>
          <a:xfrm>
            <a:off x="12391610" y="814159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line 466"/>
          <p:cNvCxnSpPr/>
          <p:nvPr/>
        </p:nvCxnSpPr>
        <p:spPr>
          <a:xfrm>
            <a:off x="12537910" y="746130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line 467"/>
          <p:cNvCxnSpPr/>
          <p:nvPr/>
        </p:nvCxnSpPr>
        <p:spPr>
          <a:xfrm>
            <a:off x="12537910" y="814159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line 468"/>
          <p:cNvCxnSpPr/>
          <p:nvPr/>
        </p:nvCxnSpPr>
        <p:spPr>
          <a:xfrm>
            <a:off x="11484550" y="7644175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line 469"/>
          <p:cNvCxnSpPr/>
          <p:nvPr/>
        </p:nvCxnSpPr>
        <p:spPr>
          <a:xfrm>
            <a:off x="12625690" y="7644175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line 470"/>
          <p:cNvCxnSpPr/>
          <p:nvPr/>
        </p:nvCxnSpPr>
        <p:spPr>
          <a:xfrm>
            <a:off x="11484550" y="7790475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line 471"/>
          <p:cNvCxnSpPr/>
          <p:nvPr/>
        </p:nvCxnSpPr>
        <p:spPr>
          <a:xfrm>
            <a:off x="12625690" y="7790475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line 472"/>
          <p:cNvCxnSpPr/>
          <p:nvPr/>
        </p:nvCxnSpPr>
        <p:spPr>
          <a:xfrm>
            <a:off x="11484550" y="7936775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4" name="line 473"/>
          <p:cNvCxnSpPr/>
          <p:nvPr/>
        </p:nvCxnSpPr>
        <p:spPr>
          <a:xfrm>
            <a:off x="12625690" y="7936775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line 474"/>
          <p:cNvCxnSpPr/>
          <p:nvPr/>
        </p:nvCxnSpPr>
        <p:spPr>
          <a:xfrm>
            <a:off x="11484550" y="8083075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line 475"/>
          <p:cNvCxnSpPr/>
          <p:nvPr/>
        </p:nvCxnSpPr>
        <p:spPr>
          <a:xfrm>
            <a:off x="12625690" y="8083075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rect 476"/>
          <p:cNvSpPr/>
          <p:nvPr/>
        </p:nvSpPr>
        <p:spPr>
          <a:xfrm>
            <a:off x="11557700" y="7534450"/>
            <a:ext cx="1067990" cy="607145"/>
          </a:xfrm>
          <a:prstGeom prst="roundRect">
            <a:avLst>
              <a:gd name="adj" fmla="val 2409"/>
            </a:avLst>
          </a:prstGeom>
          <a:solidFill>
            <a:srgbClr val="A9CEE8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PU"/>
          <p:cNvSpPr txBox="1"/>
          <p:nvPr/>
        </p:nvSpPr>
        <p:spPr>
          <a:xfrm>
            <a:off x="11860658" y="7541765"/>
            <a:ext cx="462074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GPU</a:t>
            </a:r>
          </a:p>
        </p:txBody>
      </p:sp>
      <p:sp>
        <p:nvSpPr>
          <p:cNvPr id="479" name="rect 478"/>
          <p:cNvSpPr/>
          <p:nvPr/>
        </p:nvSpPr>
        <p:spPr>
          <a:xfrm>
            <a:off x="11652795" y="7841680"/>
            <a:ext cx="270655" cy="62178"/>
          </a:xfrm>
          <a:prstGeom prst="roundRect">
            <a:avLst>
              <a:gd name="adj" fmla="val 11764"/>
            </a:avLst>
          </a:prstGeom>
          <a:solidFill>
            <a:srgbClr val="E9A6BF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 479"/>
          <p:cNvSpPr/>
          <p:nvPr/>
        </p:nvSpPr>
        <p:spPr>
          <a:xfrm>
            <a:off x="11955148" y="7841680"/>
            <a:ext cx="270655" cy="62178"/>
          </a:xfrm>
          <a:prstGeom prst="roundRect">
            <a:avLst>
              <a:gd name="adj" fmla="val 11764"/>
            </a:avLst>
          </a:prstGeom>
          <a:solidFill>
            <a:srgbClr val="B5D68B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rect 480"/>
          <p:cNvSpPr/>
          <p:nvPr/>
        </p:nvSpPr>
        <p:spPr>
          <a:xfrm>
            <a:off x="12257502" y="7841680"/>
            <a:ext cx="270655" cy="62178"/>
          </a:xfrm>
          <a:prstGeom prst="roundRect">
            <a:avLst>
              <a:gd name="adj" fmla="val 11764"/>
            </a:avLst>
          </a:prstGeom>
          <a:solidFill>
            <a:srgbClr val="F2BD7D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rect 481"/>
          <p:cNvSpPr/>
          <p:nvPr/>
        </p:nvSpPr>
        <p:spPr>
          <a:xfrm>
            <a:off x="11652795" y="7951405"/>
            <a:ext cx="270655" cy="62178"/>
          </a:xfrm>
          <a:prstGeom prst="roundRect">
            <a:avLst>
              <a:gd name="adj" fmla="val 11764"/>
            </a:avLst>
          </a:prstGeom>
          <a:solidFill>
            <a:srgbClr val="E9A6BF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 482"/>
          <p:cNvSpPr/>
          <p:nvPr/>
        </p:nvSpPr>
        <p:spPr>
          <a:xfrm>
            <a:off x="11955148" y="7951405"/>
            <a:ext cx="270655" cy="6217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 483"/>
          <p:cNvSpPr/>
          <p:nvPr/>
        </p:nvSpPr>
        <p:spPr>
          <a:xfrm>
            <a:off x="12257502" y="7951405"/>
            <a:ext cx="270655" cy="6217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5" name="path 484"/>
          <p:cNvCxnSpPr/>
          <p:nvPr/>
        </p:nvCxnSpPr>
        <p:spPr>
          <a:xfrm>
            <a:off x="6912675" y="7614915"/>
            <a:ext cx="270655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arrowhead 485"/>
          <p:cNvSpPr/>
          <p:nvPr/>
        </p:nvSpPr>
        <p:spPr>
          <a:xfrm>
            <a:off x="7095550" y="756371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path 486"/>
          <p:cNvSpPr/>
          <p:nvPr/>
        </p:nvSpPr>
        <p:spPr>
          <a:xfrm>
            <a:off x="124355" y="4374370"/>
            <a:ext cx="12589115" cy="4089085"/>
          </a:xfrm>
          <a:custGeom>
            <a:avLst/>
            <a:gdLst/>
            <a:ahLst/>
            <a:cxnLst/>
            <a:rect l="l" t="t" r="r" b="b"/>
            <a:pathLst>
              <a:path w="1721" h="559">
                <a:moveTo>
                  <a:pt x="1721" y="531"/>
                </a:moveTo>
                <a:lnTo>
                  <a:pt x="1721" y="559"/>
                </a:lnTo>
                <a:lnTo>
                  <a:pt x="0" y="559"/>
                </a:lnTo>
                <a:lnTo>
                  <a:pt x="0" y="0"/>
                </a:lnTo>
                <a:lnTo>
                  <a:pt x="29" y="0"/>
                </a:lnTo>
              </a:path>
            </a:pathLst>
          </a:custGeom>
          <a:noFill/>
          <a:ln w="13167">
            <a:solidFill>
              <a:srgbClr val="2676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arrowhead 487"/>
          <p:cNvSpPr/>
          <p:nvPr/>
        </p:nvSpPr>
        <p:spPr>
          <a:xfrm>
            <a:off x="256025" y="4330480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 488"/>
          <p:cNvSpPr/>
          <p:nvPr/>
        </p:nvSpPr>
        <p:spPr>
          <a:xfrm>
            <a:off x="351120" y="8602440"/>
            <a:ext cx="182875" cy="131670"/>
          </a:xfrm>
          <a:prstGeom prst="rect">
            <a:avLst/>
          </a:prstGeom>
          <a:solidFill>
            <a:srgbClr val="E9A6BF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Parent"/>
          <p:cNvSpPr txBox="1"/>
          <p:nvPr/>
        </p:nvSpPr>
        <p:spPr>
          <a:xfrm>
            <a:off x="614460" y="8511002"/>
            <a:ext cx="558769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Parent</a:t>
            </a:r>
          </a:p>
        </p:txBody>
      </p:sp>
      <p:sp>
        <p:nvSpPr>
          <p:cNvPr id="491" name="rect 490"/>
          <p:cNvSpPr/>
          <p:nvPr/>
        </p:nvSpPr>
        <p:spPr>
          <a:xfrm>
            <a:off x="1843380" y="8602440"/>
            <a:ext cx="182875" cy="131670"/>
          </a:xfrm>
          <a:prstGeom prst="rect">
            <a:avLst/>
          </a:prstGeom>
          <a:solidFill>
            <a:srgbClr val="B5D68B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Child 1"/>
          <p:cNvSpPr txBox="1"/>
          <p:nvPr/>
        </p:nvSpPr>
        <p:spPr>
          <a:xfrm>
            <a:off x="2106720" y="8511002"/>
            <a:ext cx="579799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Child 1</a:t>
            </a:r>
          </a:p>
        </p:txBody>
      </p:sp>
      <p:sp>
        <p:nvSpPr>
          <p:cNvPr id="493" name="rect 492"/>
          <p:cNvSpPr/>
          <p:nvPr/>
        </p:nvSpPr>
        <p:spPr>
          <a:xfrm>
            <a:off x="3364900" y="8602440"/>
            <a:ext cx="182875" cy="131670"/>
          </a:xfrm>
          <a:prstGeom prst="rect">
            <a:avLst/>
          </a:prstGeom>
          <a:solidFill>
            <a:srgbClr val="F2BD7D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Child 2"/>
          <p:cNvSpPr txBox="1"/>
          <p:nvPr/>
        </p:nvSpPr>
        <p:spPr>
          <a:xfrm>
            <a:off x="3628240" y="8511002"/>
            <a:ext cx="579799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Child 2</a:t>
            </a:r>
          </a:p>
        </p:txBody>
      </p:sp>
      <p:cxnSp>
        <p:nvCxnSpPr>
          <p:cNvPr id="495" name="path 494"/>
          <p:cNvCxnSpPr/>
          <p:nvPr/>
        </p:nvCxnSpPr>
        <p:spPr>
          <a:xfrm>
            <a:off x="5200965" y="8660960"/>
            <a:ext cx="329175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6" name="arrowhead 495"/>
          <p:cNvSpPr/>
          <p:nvPr/>
        </p:nvSpPr>
        <p:spPr>
          <a:xfrm>
            <a:off x="5442360" y="860975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untime 动作"/>
          <p:cNvSpPr txBox="1"/>
          <p:nvPr/>
        </p:nvSpPr>
        <p:spPr>
          <a:xfrm>
            <a:off x="5654495" y="8518318"/>
            <a:ext cx="104138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Runtime 动作</a:t>
            </a:r>
          </a:p>
        </p:txBody>
      </p:sp>
      <p:cxnSp>
        <p:nvCxnSpPr>
          <p:cNvPr id="498" name="path 497"/>
          <p:cNvCxnSpPr/>
          <p:nvPr/>
        </p:nvCxnSpPr>
        <p:spPr>
          <a:xfrm>
            <a:off x="7929460" y="8660960"/>
            <a:ext cx="329175" cy="0"/>
          </a:xfrm>
          <a:prstGeom prst="line">
            <a:avLst/>
          </a:prstGeom>
          <a:ln w="14630">
            <a:solidFill>
              <a:srgbClr val="2676B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9" name="arrowhead 498"/>
          <p:cNvSpPr/>
          <p:nvPr/>
        </p:nvSpPr>
        <p:spPr>
          <a:xfrm>
            <a:off x="8170855" y="860975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ACK / service / first reuse"/>
          <p:cNvSpPr txBox="1"/>
          <p:nvPr/>
        </p:nvSpPr>
        <p:spPr>
          <a:xfrm>
            <a:off x="8382990" y="8518318"/>
            <a:ext cx="184309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ACK / service / first reuse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事件与内容驱动的执行需求预测"/>
          <p:cNvSpPr txBox="1"/>
          <p:nvPr/>
        </p:nvSpPr>
        <p:spPr>
          <a:xfrm>
            <a:off x="292600" y="58520"/>
            <a:ext cx="3876950" cy="422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31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事件与内容驱动的执行需求预测</a:t>
            </a:r>
          </a:p>
        </p:txBody>
      </p:sp>
      <p:sp>
        <p:nvSpPr>
          <p:cNvPr id="3" name="已送达正文 + 服务进度 → 阶段 / 工作量双头 → Runtime 决定启动时机"/>
          <p:cNvSpPr txBox="1"/>
          <p:nvPr/>
        </p:nvSpPr>
        <p:spPr>
          <a:xfrm>
            <a:off x="292600" y="438900"/>
            <a:ext cx="5520739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已送达正文 + 服务进度 → 阶段 / 工作量双头 → Runtime 决定启动时机</a:t>
            </a:r>
          </a:p>
        </p:txBody>
      </p:sp>
      <p:cxnSp>
        <p:nvCxnSpPr>
          <p:cNvPr id="4" name="line 3"/>
          <p:cNvCxnSpPr/>
          <p:nvPr/>
        </p:nvCxnSpPr>
        <p:spPr>
          <a:xfrm>
            <a:off x="292600" y="790020"/>
            <a:ext cx="12581800" cy="0"/>
          </a:xfrm>
          <a:prstGeom prst="line">
            <a:avLst/>
          </a:prstGeom>
          <a:ln w="11704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4"/>
          <p:cNvSpPr/>
          <p:nvPr/>
        </p:nvSpPr>
        <p:spPr>
          <a:xfrm>
            <a:off x="234080" y="907060"/>
            <a:ext cx="7753900" cy="4125660"/>
          </a:xfrm>
          <a:prstGeom prst="roundRect">
            <a:avLst>
              <a:gd name="adj" fmla="val 354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 5"/>
          <p:cNvSpPr/>
          <p:nvPr/>
        </p:nvSpPr>
        <p:spPr>
          <a:xfrm>
            <a:off x="234080" y="907060"/>
            <a:ext cx="775390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(a) 内容、事件与滚动剩余工作预测"/>
          <p:cNvSpPr txBox="1"/>
          <p:nvPr/>
        </p:nvSpPr>
        <p:spPr>
          <a:xfrm>
            <a:off x="336490" y="915180"/>
            <a:ext cx="3049812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(a) 内容、事件与滚动剩余工作预测</a:t>
            </a:r>
          </a:p>
        </p:txBody>
      </p:sp>
      <p:sp>
        <p:nvSpPr>
          <p:cNvPr id="8" name="rect 7"/>
          <p:cNvSpPr/>
          <p:nvPr/>
        </p:nvSpPr>
        <p:spPr>
          <a:xfrm>
            <a:off x="416955" y="1609300"/>
            <a:ext cx="892430" cy="80465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389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olygon 8"/>
          <p:cNvSpPr/>
          <p:nvPr/>
        </p:nvSpPr>
        <p:spPr>
          <a:xfrm>
            <a:off x="1133825" y="1609300"/>
            <a:ext cx="175560" cy="17556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0" y="0"/>
                </a:moveTo>
                <a:lnTo>
                  <a:pt x="24" y="24"/>
                </a:lnTo>
                <a:lnTo>
                  <a:pt x="0" y="24"/>
                </a:lnTo>
                <a:close/>
              </a:path>
            </a:pathLst>
          </a:cu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 9"/>
          <p:cNvSpPr/>
          <p:nvPr/>
        </p:nvSpPr>
        <p:spPr>
          <a:xfrm>
            <a:off x="504735" y="1784860"/>
            <a:ext cx="510880" cy="7315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 10"/>
          <p:cNvSpPr/>
          <p:nvPr/>
        </p:nvSpPr>
        <p:spPr>
          <a:xfrm>
            <a:off x="504735" y="1923845"/>
            <a:ext cx="596026" cy="73150"/>
          </a:xfrm>
          <a:prstGeom prst="rect">
            <a:avLst/>
          </a:prstGeom>
          <a:solidFill>
            <a:srgbClr val="F2BD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 11"/>
          <p:cNvSpPr/>
          <p:nvPr/>
        </p:nvSpPr>
        <p:spPr>
          <a:xfrm>
            <a:off x="504735" y="2062830"/>
            <a:ext cx="461211" cy="7315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 12"/>
          <p:cNvSpPr/>
          <p:nvPr/>
        </p:nvSpPr>
        <p:spPr>
          <a:xfrm>
            <a:off x="504735" y="2201815"/>
            <a:ext cx="546357" cy="73150"/>
          </a:xfrm>
          <a:prstGeom prst="rect">
            <a:avLst/>
          </a:prstGeom>
          <a:solidFill>
            <a:srgbClr val="F2BD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x"/>
          <p:cNvSpPr txBox="1"/>
          <p:nvPr/>
        </p:nvSpPr>
        <p:spPr>
          <a:xfrm>
            <a:off x="671323" y="1287440"/>
            <a:ext cx="181932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x</a:t>
            </a:r>
          </a:p>
        </p:txBody>
      </p:sp>
      <p:sp>
        <p:nvSpPr>
          <p:cNvPr id="15" name="t−k:t"/>
          <p:cNvSpPr txBox="1"/>
          <p:nvPr/>
        </p:nvSpPr>
        <p:spPr>
          <a:xfrm>
            <a:off x="772790" y="1408138"/>
            <a:ext cx="348063" cy="182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t−k:t</a:t>
            </a:r>
          </a:p>
        </p:txBody>
      </p:sp>
      <p:cxnSp>
        <p:nvCxnSpPr>
          <p:cNvPr id="16" name="path 15"/>
          <p:cNvCxnSpPr/>
          <p:nvPr/>
        </p:nvCxnSpPr>
        <p:spPr>
          <a:xfrm>
            <a:off x="1331330" y="1967735"/>
            <a:ext cx="365750" cy="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arrowhead 16"/>
          <p:cNvSpPr/>
          <p:nvPr/>
        </p:nvSpPr>
        <p:spPr>
          <a:xfrm>
            <a:off x="1587355" y="190190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line 17"/>
          <p:cNvCxnSpPr/>
          <p:nvPr/>
        </p:nvCxnSpPr>
        <p:spPr>
          <a:xfrm>
            <a:off x="1901900" y="1667820"/>
            <a:ext cx="36575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line 18"/>
          <p:cNvCxnSpPr/>
          <p:nvPr/>
        </p:nvCxnSpPr>
        <p:spPr>
          <a:xfrm>
            <a:off x="1901900" y="1667820"/>
            <a:ext cx="365750" cy="314545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19"/>
          <p:cNvCxnSpPr/>
          <p:nvPr/>
        </p:nvCxnSpPr>
        <p:spPr>
          <a:xfrm>
            <a:off x="1901900" y="1667820"/>
            <a:ext cx="365750" cy="62909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line 20"/>
          <p:cNvCxnSpPr/>
          <p:nvPr/>
        </p:nvCxnSpPr>
        <p:spPr>
          <a:xfrm flipV="1">
            <a:off x="1901900" y="1667820"/>
            <a:ext cx="365750" cy="314545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line 21"/>
          <p:cNvCxnSpPr/>
          <p:nvPr/>
        </p:nvCxnSpPr>
        <p:spPr>
          <a:xfrm>
            <a:off x="1901900" y="1982365"/>
            <a:ext cx="36575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line 22"/>
          <p:cNvCxnSpPr/>
          <p:nvPr/>
        </p:nvCxnSpPr>
        <p:spPr>
          <a:xfrm>
            <a:off x="1901900" y="1982365"/>
            <a:ext cx="365750" cy="314545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line 23"/>
          <p:cNvCxnSpPr/>
          <p:nvPr/>
        </p:nvCxnSpPr>
        <p:spPr>
          <a:xfrm flipV="1">
            <a:off x="1901900" y="1667820"/>
            <a:ext cx="365750" cy="62909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line 24"/>
          <p:cNvCxnSpPr/>
          <p:nvPr/>
        </p:nvCxnSpPr>
        <p:spPr>
          <a:xfrm flipV="1">
            <a:off x="1901900" y="1982365"/>
            <a:ext cx="365750" cy="314545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line 25"/>
          <p:cNvCxnSpPr/>
          <p:nvPr/>
        </p:nvCxnSpPr>
        <p:spPr>
          <a:xfrm>
            <a:off x="1901900" y="2296910"/>
            <a:ext cx="36575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26"/>
          <p:cNvCxnSpPr/>
          <p:nvPr/>
        </p:nvCxnSpPr>
        <p:spPr>
          <a:xfrm>
            <a:off x="2413950" y="1667820"/>
            <a:ext cx="36575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7"/>
          <p:cNvCxnSpPr/>
          <p:nvPr/>
        </p:nvCxnSpPr>
        <p:spPr>
          <a:xfrm>
            <a:off x="2413950" y="1667820"/>
            <a:ext cx="365750" cy="314545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line 28"/>
          <p:cNvCxnSpPr/>
          <p:nvPr/>
        </p:nvCxnSpPr>
        <p:spPr>
          <a:xfrm>
            <a:off x="2413950" y="1667820"/>
            <a:ext cx="365750" cy="62909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line 29"/>
          <p:cNvCxnSpPr/>
          <p:nvPr/>
        </p:nvCxnSpPr>
        <p:spPr>
          <a:xfrm flipV="1">
            <a:off x="2413950" y="1667820"/>
            <a:ext cx="365750" cy="314545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line 30"/>
          <p:cNvCxnSpPr/>
          <p:nvPr/>
        </p:nvCxnSpPr>
        <p:spPr>
          <a:xfrm>
            <a:off x="2413950" y="1982365"/>
            <a:ext cx="36575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line 31"/>
          <p:cNvCxnSpPr/>
          <p:nvPr/>
        </p:nvCxnSpPr>
        <p:spPr>
          <a:xfrm>
            <a:off x="2413950" y="1982365"/>
            <a:ext cx="365750" cy="314545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line 32"/>
          <p:cNvCxnSpPr/>
          <p:nvPr/>
        </p:nvCxnSpPr>
        <p:spPr>
          <a:xfrm flipV="1">
            <a:off x="2413950" y="1667820"/>
            <a:ext cx="365750" cy="62909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33"/>
          <p:cNvCxnSpPr/>
          <p:nvPr/>
        </p:nvCxnSpPr>
        <p:spPr>
          <a:xfrm flipV="1">
            <a:off x="2413950" y="1982365"/>
            <a:ext cx="365750" cy="314545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line 34"/>
          <p:cNvCxnSpPr/>
          <p:nvPr/>
        </p:nvCxnSpPr>
        <p:spPr>
          <a:xfrm>
            <a:off x="2413950" y="2296910"/>
            <a:ext cx="36575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ircle 35"/>
          <p:cNvSpPr/>
          <p:nvPr/>
        </p:nvSpPr>
        <p:spPr>
          <a:xfrm>
            <a:off x="1755600" y="1594670"/>
            <a:ext cx="146300" cy="146300"/>
          </a:xfrm>
          <a:prstGeom prst="ellipse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ircle 36"/>
          <p:cNvSpPr/>
          <p:nvPr/>
        </p:nvSpPr>
        <p:spPr>
          <a:xfrm>
            <a:off x="1755600" y="1909215"/>
            <a:ext cx="146300" cy="146300"/>
          </a:xfrm>
          <a:prstGeom prst="ellipse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ircle 37"/>
          <p:cNvSpPr/>
          <p:nvPr/>
        </p:nvSpPr>
        <p:spPr>
          <a:xfrm>
            <a:off x="1755600" y="2223760"/>
            <a:ext cx="146300" cy="146300"/>
          </a:xfrm>
          <a:prstGeom prst="ellipse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ircle 38"/>
          <p:cNvSpPr/>
          <p:nvPr/>
        </p:nvSpPr>
        <p:spPr>
          <a:xfrm>
            <a:off x="2267650" y="1594670"/>
            <a:ext cx="146300" cy="146300"/>
          </a:xfrm>
          <a:prstGeom prst="ellipse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ircle 39"/>
          <p:cNvSpPr/>
          <p:nvPr/>
        </p:nvSpPr>
        <p:spPr>
          <a:xfrm>
            <a:off x="2267650" y="1909215"/>
            <a:ext cx="146300" cy="146300"/>
          </a:xfrm>
          <a:prstGeom prst="ellipse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ircle 40"/>
          <p:cNvSpPr/>
          <p:nvPr/>
        </p:nvSpPr>
        <p:spPr>
          <a:xfrm>
            <a:off x="2267650" y="2223760"/>
            <a:ext cx="146300" cy="146300"/>
          </a:xfrm>
          <a:prstGeom prst="ellipse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ircle 41"/>
          <p:cNvSpPr/>
          <p:nvPr/>
        </p:nvSpPr>
        <p:spPr>
          <a:xfrm>
            <a:off x="2779700" y="1594670"/>
            <a:ext cx="146300" cy="146300"/>
          </a:xfrm>
          <a:prstGeom prst="ellipse">
            <a:avLst/>
          </a:prstGeom>
          <a:solidFill>
            <a:srgbClr val="B5D68B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ircle 42"/>
          <p:cNvSpPr/>
          <p:nvPr/>
        </p:nvSpPr>
        <p:spPr>
          <a:xfrm>
            <a:off x="2779700" y="1909215"/>
            <a:ext cx="146300" cy="146300"/>
          </a:xfrm>
          <a:prstGeom prst="ellipse">
            <a:avLst/>
          </a:prstGeom>
          <a:solidFill>
            <a:srgbClr val="B5D68B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ircle 43"/>
          <p:cNvSpPr/>
          <p:nvPr/>
        </p:nvSpPr>
        <p:spPr>
          <a:xfrm>
            <a:off x="2779700" y="2223760"/>
            <a:ext cx="146300" cy="146300"/>
          </a:xfrm>
          <a:prstGeom prst="ellipse">
            <a:avLst/>
          </a:prstGeom>
          <a:solidFill>
            <a:srgbClr val="B5D68B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ath 44"/>
          <p:cNvSpPr/>
          <p:nvPr/>
        </p:nvSpPr>
        <p:spPr>
          <a:xfrm>
            <a:off x="2911370" y="1338645"/>
            <a:ext cx="65835" cy="51205"/>
          </a:xfrm>
          <a:custGeom>
            <a:avLst/>
            <a:gdLst/>
            <a:ahLst/>
            <a:cxnLst/>
            <a:rect l="l" t="t" r="r" b="b"/>
            <a:pathLst>
              <a:path w="9" h="7">
                <a:moveTo>
                  <a:pt x="0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 45"/>
          <p:cNvSpPr/>
          <p:nvPr/>
        </p:nvSpPr>
        <p:spPr>
          <a:xfrm>
            <a:off x="2889425" y="1393142"/>
            <a:ext cx="114114" cy="9509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ircle 46"/>
          <p:cNvSpPr/>
          <p:nvPr/>
        </p:nvSpPr>
        <p:spPr>
          <a:xfrm>
            <a:off x="2936972" y="1421670"/>
            <a:ext cx="19019" cy="19019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quest / epoch"/>
          <p:cNvSpPr txBox="1"/>
          <p:nvPr/>
        </p:nvSpPr>
        <p:spPr>
          <a:xfrm>
            <a:off x="3138135" y="1249036"/>
            <a:ext cx="1151627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request / epoch</a:t>
            </a:r>
          </a:p>
        </p:txBody>
      </p:sp>
      <p:sp>
        <p:nvSpPr>
          <p:cNvPr id="49" name="冻结编码器"/>
          <p:cNvSpPr txBox="1"/>
          <p:nvPr/>
        </p:nvSpPr>
        <p:spPr>
          <a:xfrm>
            <a:off x="1876298" y="2415779"/>
            <a:ext cx="929005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冻结编码器</a:t>
            </a:r>
          </a:p>
        </p:txBody>
      </p:sp>
      <p:cxnSp>
        <p:nvCxnSpPr>
          <p:cNvPr id="50" name="path 49"/>
          <p:cNvCxnSpPr/>
          <p:nvPr/>
        </p:nvCxnSpPr>
        <p:spPr>
          <a:xfrm>
            <a:off x="2947945" y="1967735"/>
            <a:ext cx="365750" cy="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arrowhead 50"/>
          <p:cNvSpPr/>
          <p:nvPr/>
        </p:nvSpPr>
        <p:spPr>
          <a:xfrm>
            <a:off x="3203970" y="190190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 51"/>
          <p:cNvSpPr/>
          <p:nvPr/>
        </p:nvSpPr>
        <p:spPr>
          <a:xfrm>
            <a:off x="3408790" y="1594670"/>
            <a:ext cx="197505" cy="10241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 52"/>
          <p:cNvSpPr/>
          <p:nvPr/>
        </p:nvSpPr>
        <p:spPr>
          <a:xfrm>
            <a:off x="3408790" y="1719025"/>
            <a:ext cx="197505" cy="102410"/>
          </a:xfrm>
          <a:prstGeom prst="rect">
            <a:avLst/>
          </a:prstGeom>
          <a:solidFill>
            <a:srgbClr val="F2BD7D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 53"/>
          <p:cNvSpPr/>
          <p:nvPr/>
        </p:nvSpPr>
        <p:spPr>
          <a:xfrm>
            <a:off x="3408790" y="1843380"/>
            <a:ext cx="197505" cy="10241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 54"/>
          <p:cNvSpPr/>
          <p:nvPr/>
        </p:nvSpPr>
        <p:spPr>
          <a:xfrm>
            <a:off x="3408790" y="1967735"/>
            <a:ext cx="197505" cy="102410"/>
          </a:xfrm>
          <a:prstGeom prst="rect">
            <a:avLst/>
          </a:prstGeom>
          <a:solidFill>
            <a:srgbClr val="B5D68B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 55"/>
          <p:cNvSpPr/>
          <p:nvPr/>
        </p:nvSpPr>
        <p:spPr>
          <a:xfrm>
            <a:off x="3408790" y="2092090"/>
            <a:ext cx="197505" cy="102410"/>
          </a:xfrm>
          <a:prstGeom prst="rect">
            <a:avLst/>
          </a:prstGeom>
          <a:solidFill>
            <a:srgbClr val="E9A6B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 56"/>
          <p:cNvSpPr/>
          <p:nvPr/>
        </p:nvSpPr>
        <p:spPr>
          <a:xfrm>
            <a:off x="3408790" y="2216445"/>
            <a:ext cx="197505" cy="10241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z"/>
          <p:cNvSpPr txBox="1"/>
          <p:nvPr/>
        </p:nvSpPr>
        <p:spPr>
          <a:xfrm>
            <a:off x="3443551" y="2406635"/>
            <a:ext cx="170331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z</a:t>
            </a:r>
          </a:p>
        </p:txBody>
      </p:sp>
      <p:sp>
        <p:nvSpPr>
          <p:cNvPr id="59" name="t"/>
          <p:cNvSpPr txBox="1"/>
          <p:nvPr/>
        </p:nvSpPr>
        <p:spPr>
          <a:xfrm>
            <a:off x="3533416" y="2527332"/>
            <a:ext cx="125898" cy="182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60" name="circle 59"/>
          <p:cNvSpPr/>
          <p:nvPr/>
        </p:nvSpPr>
        <p:spPr>
          <a:xfrm>
            <a:off x="4037880" y="1792175"/>
            <a:ext cx="351120" cy="351120"/>
          </a:xfrm>
          <a:prstGeom prst="ellipse">
            <a:avLst/>
          </a:prstGeom>
          <a:solidFill>
            <a:srgbClr val="FFFFFF"/>
          </a:solidFill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line 60"/>
          <p:cNvCxnSpPr/>
          <p:nvPr/>
        </p:nvCxnSpPr>
        <p:spPr>
          <a:xfrm>
            <a:off x="4184180" y="1894585"/>
            <a:ext cx="0" cy="146300"/>
          </a:xfrm>
          <a:prstGeom prst="line">
            <a:avLst/>
          </a:prstGeom>
          <a:ln w="13167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line 61"/>
          <p:cNvCxnSpPr/>
          <p:nvPr/>
        </p:nvCxnSpPr>
        <p:spPr>
          <a:xfrm>
            <a:off x="4242700" y="1894585"/>
            <a:ext cx="0" cy="146300"/>
          </a:xfrm>
          <a:prstGeom prst="line">
            <a:avLst/>
          </a:prstGeom>
          <a:ln w="13167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path 62"/>
          <p:cNvCxnSpPr/>
          <p:nvPr/>
        </p:nvCxnSpPr>
        <p:spPr>
          <a:xfrm>
            <a:off x="3628240" y="1967735"/>
            <a:ext cx="387695" cy="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arrowhead 63"/>
          <p:cNvSpPr/>
          <p:nvPr/>
        </p:nvSpPr>
        <p:spPr>
          <a:xfrm>
            <a:off x="3906210" y="190190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polygon 64"/>
          <p:cNvSpPr/>
          <p:nvPr/>
        </p:nvSpPr>
        <p:spPr>
          <a:xfrm>
            <a:off x="416955" y="2867480"/>
            <a:ext cx="914375" cy="431585"/>
          </a:xfrm>
          <a:custGeom>
            <a:avLst/>
            <a:gdLst/>
            <a:ahLst/>
            <a:cxnLst/>
            <a:rect l="l" t="t" r="r" b="b"/>
            <a:pathLst>
              <a:path w="125" h="59">
                <a:moveTo>
                  <a:pt x="0" y="0"/>
                </a:moveTo>
                <a:lnTo>
                  <a:pt x="125" y="0"/>
                </a:lnTo>
                <a:lnTo>
                  <a:pt x="125" y="47"/>
                </a:lnTo>
                <a:lnTo>
                  <a:pt x="58" y="47"/>
                </a:lnTo>
                <a:lnTo>
                  <a:pt x="43" y="59"/>
                </a:lnTo>
                <a:lnTo>
                  <a:pt x="43" y="47"/>
                </a:lnTo>
                <a:lnTo>
                  <a:pt x="0" y="47"/>
                </a:lnTo>
                <a:close/>
              </a:path>
            </a:pathLst>
          </a:custGeom>
          <a:solidFill>
            <a:srgbClr val="F2BD7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收尾通知"/>
          <p:cNvSpPr txBox="1"/>
          <p:nvPr/>
        </p:nvSpPr>
        <p:spPr>
          <a:xfrm>
            <a:off x="490105" y="2898569"/>
            <a:ext cx="760760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收尾通知</a:t>
            </a:r>
          </a:p>
        </p:txBody>
      </p:sp>
      <p:sp>
        <p:nvSpPr>
          <p:cNvPr id="67" name="path 66"/>
          <p:cNvSpPr/>
          <p:nvPr/>
        </p:nvSpPr>
        <p:spPr>
          <a:xfrm>
            <a:off x="1836065" y="2765070"/>
            <a:ext cx="731500" cy="343805"/>
          </a:xfrm>
          <a:custGeom>
            <a:avLst/>
            <a:gdLst/>
            <a:ahLst/>
            <a:cxnLst/>
            <a:rect l="l" t="t" r="r" b="b"/>
            <a:pathLst>
              <a:path w="100" h="47">
                <a:moveTo>
                  <a:pt x="0" y="47"/>
                </a:moveTo>
                <a:lnTo>
                  <a:pt x="24" y="47"/>
                </a:lnTo>
                <a:lnTo>
                  <a:pt x="24" y="32"/>
                </a:lnTo>
                <a:lnTo>
                  <a:pt x="49" y="32"/>
                </a:lnTo>
                <a:lnTo>
                  <a:pt x="49" y="16"/>
                </a:lnTo>
                <a:lnTo>
                  <a:pt x="76" y="16"/>
                </a:lnTo>
                <a:lnTo>
                  <a:pt x="76" y="0"/>
                </a:lnTo>
                <a:lnTo>
                  <a:pt x="100" y="0"/>
                </a:lnTo>
              </a:path>
            </a:pathLst>
          </a:custGeom>
          <a:noFill/>
          <a:ln w="18288">
            <a:solidFill>
              <a:srgbClr val="267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N"/>
          <p:cNvSpPr txBox="1"/>
          <p:nvPr/>
        </p:nvSpPr>
        <p:spPr>
          <a:xfrm>
            <a:off x="1947147" y="3233230"/>
            <a:ext cx="224393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N</a:t>
            </a:r>
          </a:p>
        </p:txBody>
      </p:sp>
      <p:sp>
        <p:nvSpPr>
          <p:cNvPr id="69" name="t"/>
          <p:cNvSpPr txBox="1"/>
          <p:nvPr/>
        </p:nvSpPr>
        <p:spPr>
          <a:xfrm>
            <a:off x="2091076" y="3346612"/>
            <a:ext cx="124869" cy="1792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70" name=", { }"/>
          <p:cNvSpPr txBox="1"/>
          <p:nvPr/>
        </p:nvSpPr>
        <p:spPr>
          <a:xfrm>
            <a:off x="2135480" y="3233230"/>
            <a:ext cx="438043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, { }</a:t>
            </a:r>
          </a:p>
        </p:txBody>
      </p:sp>
      <p:sp>
        <p:nvSpPr>
          <p:cNvPr id="71" name="rect 70"/>
          <p:cNvSpPr/>
          <p:nvPr/>
        </p:nvSpPr>
        <p:spPr>
          <a:xfrm>
            <a:off x="2735810" y="2845535"/>
            <a:ext cx="56325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notice"/>
          <p:cNvSpPr txBox="1"/>
          <p:nvPr/>
        </p:nvSpPr>
        <p:spPr>
          <a:xfrm>
            <a:off x="2794330" y="2833392"/>
            <a:ext cx="510593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notice</a:t>
            </a:r>
          </a:p>
        </p:txBody>
      </p:sp>
      <p:sp>
        <p:nvSpPr>
          <p:cNvPr id="73" name="rect 72"/>
          <p:cNvSpPr/>
          <p:nvPr/>
        </p:nvSpPr>
        <p:spPr>
          <a:xfrm>
            <a:off x="3299065" y="2845535"/>
            <a:ext cx="585200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okens"/>
          <p:cNvSpPr txBox="1"/>
          <p:nvPr/>
        </p:nvSpPr>
        <p:spPr>
          <a:xfrm>
            <a:off x="3357585" y="2833392"/>
            <a:ext cx="549254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tokens</a:t>
            </a:r>
          </a:p>
        </p:txBody>
      </p:sp>
      <p:sp>
        <p:nvSpPr>
          <p:cNvPr id="75" name="rect 74"/>
          <p:cNvSpPr/>
          <p:nvPr/>
        </p:nvSpPr>
        <p:spPr>
          <a:xfrm>
            <a:off x="3884265" y="2845535"/>
            <a:ext cx="57788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yntax"/>
          <p:cNvSpPr txBox="1"/>
          <p:nvPr/>
        </p:nvSpPr>
        <p:spPr>
          <a:xfrm>
            <a:off x="3942785" y="2833392"/>
            <a:ext cx="541053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syntax</a:t>
            </a:r>
          </a:p>
        </p:txBody>
      </p:sp>
      <p:sp>
        <p:nvSpPr>
          <p:cNvPr id="77" name="rect 76"/>
          <p:cNvSpPr/>
          <p:nvPr/>
        </p:nvSpPr>
        <p:spPr>
          <a:xfrm>
            <a:off x="2735810" y="3057670"/>
            <a:ext cx="56325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1"/>
          <p:cNvSpPr txBox="1"/>
          <p:nvPr/>
        </p:nvSpPr>
        <p:spPr>
          <a:xfrm>
            <a:off x="2794330" y="3045527"/>
            <a:ext cx="164930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1</a:t>
            </a:r>
          </a:p>
        </p:txBody>
      </p:sp>
      <p:sp>
        <p:nvSpPr>
          <p:cNvPr id="79" name="rect 78"/>
          <p:cNvSpPr/>
          <p:nvPr/>
        </p:nvSpPr>
        <p:spPr>
          <a:xfrm>
            <a:off x="3299065" y="3057670"/>
            <a:ext cx="585200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N(t)"/>
          <p:cNvSpPr txBox="1"/>
          <p:nvPr/>
        </p:nvSpPr>
        <p:spPr>
          <a:xfrm>
            <a:off x="3357585" y="3045527"/>
            <a:ext cx="334633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N(t)</a:t>
            </a:r>
          </a:p>
        </p:txBody>
      </p:sp>
      <p:sp>
        <p:nvSpPr>
          <p:cNvPr id="81" name="rect 80"/>
          <p:cNvSpPr/>
          <p:nvPr/>
        </p:nvSpPr>
        <p:spPr>
          <a:xfrm>
            <a:off x="3884265" y="3057670"/>
            <a:ext cx="57788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{ }"/>
          <p:cNvSpPr txBox="1"/>
          <p:nvPr/>
        </p:nvSpPr>
        <p:spPr>
          <a:xfrm>
            <a:off x="3942785" y="3045527"/>
            <a:ext cx="212878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{ }</a:t>
            </a:r>
          </a:p>
        </p:txBody>
      </p:sp>
      <p:sp>
        <p:nvSpPr>
          <p:cNvPr id="83" name="path 82"/>
          <p:cNvSpPr/>
          <p:nvPr/>
        </p:nvSpPr>
        <p:spPr>
          <a:xfrm>
            <a:off x="1345960" y="2172555"/>
            <a:ext cx="2867480" cy="870485"/>
          </a:xfrm>
          <a:custGeom>
            <a:avLst/>
            <a:gdLst/>
            <a:ahLst/>
            <a:cxnLst/>
            <a:rect l="l" t="t" r="r" b="b"/>
            <a:pathLst>
              <a:path w="392" h="119">
                <a:moveTo>
                  <a:pt x="0" y="119"/>
                </a:moveTo>
                <a:lnTo>
                  <a:pt x="25" y="119"/>
                </a:lnTo>
                <a:lnTo>
                  <a:pt x="25" y="73"/>
                </a:lnTo>
                <a:lnTo>
                  <a:pt x="392" y="73"/>
                </a:lnTo>
                <a:lnTo>
                  <a:pt x="392" y="0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arrowhead 83"/>
          <p:cNvSpPr/>
          <p:nvPr/>
        </p:nvSpPr>
        <p:spPr>
          <a:xfrm>
            <a:off x="4162235" y="215792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0"/>
                </a:moveTo>
                <a:lnTo>
                  <a:pt x="14" y="14"/>
                </a:lnTo>
                <a:lnTo>
                  <a:pt x="0" y="14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path 84"/>
          <p:cNvCxnSpPr/>
          <p:nvPr/>
        </p:nvCxnSpPr>
        <p:spPr>
          <a:xfrm>
            <a:off x="2596825" y="2991835"/>
            <a:ext cx="11704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arrowhead 85"/>
          <p:cNvSpPr/>
          <p:nvPr/>
        </p:nvSpPr>
        <p:spPr>
          <a:xfrm>
            <a:off x="2626085" y="294063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ath 86"/>
          <p:cNvSpPr/>
          <p:nvPr/>
        </p:nvSpPr>
        <p:spPr>
          <a:xfrm>
            <a:off x="4213440" y="2172555"/>
            <a:ext cx="314545" cy="1009470"/>
          </a:xfrm>
          <a:custGeom>
            <a:avLst/>
            <a:gdLst/>
            <a:ahLst/>
            <a:cxnLst/>
            <a:rect l="l" t="t" r="r" b="b"/>
            <a:pathLst>
              <a:path w="43" h="138">
                <a:moveTo>
                  <a:pt x="36" y="138"/>
                </a:moveTo>
                <a:lnTo>
                  <a:pt x="43" y="138"/>
                </a:lnTo>
                <a:lnTo>
                  <a:pt x="43" y="53"/>
                </a:lnTo>
                <a:lnTo>
                  <a:pt x="0" y="53"/>
                </a:lnTo>
                <a:lnTo>
                  <a:pt x="0" y="0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arrowhead 87"/>
          <p:cNvSpPr/>
          <p:nvPr/>
        </p:nvSpPr>
        <p:spPr>
          <a:xfrm>
            <a:off x="4162235" y="215792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0"/>
                </a:moveTo>
                <a:lnTo>
                  <a:pt x="14" y="14"/>
                </a:lnTo>
                <a:lnTo>
                  <a:pt x="0" y="14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path 88"/>
          <p:cNvSpPr/>
          <p:nvPr/>
        </p:nvSpPr>
        <p:spPr>
          <a:xfrm>
            <a:off x="4410945" y="1784860"/>
            <a:ext cx="453530" cy="182875"/>
          </a:xfrm>
          <a:custGeom>
            <a:avLst/>
            <a:gdLst/>
            <a:ahLst/>
            <a:cxnLst/>
            <a:rect l="l" t="t" r="r" b="b"/>
            <a:pathLst>
              <a:path w="62" h="25">
                <a:moveTo>
                  <a:pt x="0" y="25"/>
                </a:moveTo>
                <a:lnTo>
                  <a:pt x="33" y="25"/>
                </a:lnTo>
                <a:lnTo>
                  <a:pt x="33" y="0"/>
                </a:lnTo>
                <a:lnTo>
                  <a:pt x="62" y="0"/>
                </a:lnTo>
              </a:path>
            </a:pathLst>
          </a:custGeom>
          <a:noFill/>
          <a:ln w="19019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arrowhead 89"/>
          <p:cNvSpPr/>
          <p:nvPr/>
        </p:nvSpPr>
        <p:spPr>
          <a:xfrm>
            <a:off x="4754750" y="171902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path 90"/>
          <p:cNvSpPr/>
          <p:nvPr/>
        </p:nvSpPr>
        <p:spPr>
          <a:xfrm>
            <a:off x="4652340" y="1967735"/>
            <a:ext cx="212135" cy="950950"/>
          </a:xfrm>
          <a:custGeom>
            <a:avLst/>
            <a:gdLst/>
            <a:ahLst/>
            <a:cxnLst/>
            <a:rect l="l" t="t" r="r" b="b"/>
            <a:pathLst>
              <a:path w="29" h="130">
                <a:moveTo>
                  <a:pt x="0" y="0"/>
                </a:moveTo>
                <a:lnTo>
                  <a:pt x="0" y="130"/>
                </a:lnTo>
                <a:lnTo>
                  <a:pt x="29" y="130"/>
                </a:lnTo>
              </a:path>
            </a:pathLst>
          </a:custGeom>
          <a:noFill/>
          <a:ln w="19019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arrowhead 91"/>
          <p:cNvSpPr/>
          <p:nvPr/>
        </p:nvSpPr>
        <p:spPr>
          <a:xfrm>
            <a:off x="4754750" y="285285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 92"/>
          <p:cNvSpPr/>
          <p:nvPr/>
        </p:nvSpPr>
        <p:spPr>
          <a:xfrm>
            <a:off x="4974200" y="1572725"/>
            <a:ext cx="73150" cy="73150"/>
          </a:xfrm>
          <a:prstGeom prst="rect">
            <a:avLst/>
          </a:prstGeom>
          <a:solidFill>
            <a:srgbClr val="F2BD7D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 93"/>
          <p:cNvSpPr/>
          <p:nvPr/>
        </p:nvSpPr>
        <p:spPr>
          <a:xfrm>
            <a:off x="5076610" y="1572725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 94"/>
          <p:cNvSpPr/>
          <p:nvPr/>
        </p:nvSpPr>
        <p:spPr>
          <a:xfrm>
            <a:off x="5179020" y="1572725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 95"/>
          <p:cNvSpPr/>
          <p:nvPr/>
        </p:nvSpPr>
        <p:spPr>
          <a:xfrm>
            <a:off x="4974200" y="1675135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 96"/>
          <p:cNvSpPr/>
          <p:nvPr/>
        </p:nvSpPr>
        <p:spPr>
          <a:xfrm>
            <a:off x="5076610" y="1675135"/>
            <a:ext cx="73150" cy="73150"/>
          </a:xfrm>
          <a:prstGeom prst="rect">
            <a:avLst/>
          </a:prstGeom>
          <a:solidFill>
            <a:srgbClr val="F2BD7D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 97"/>
          <p:cNvSpPr/>
          <p:nvPr/>
        </p:nvSpPr>
        <p:spPr>
          <a:xfrm>
            <a:off x="5179020" y="1675135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 98"/>
          <p:cNvSpPr/>
          <p:nvPr/>
        </p:nvSpPr>
        <p:spPr>
          <a:xfrm>
            <a:off x="4974200" y="1777545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 99"/>
          <p:cNvSpPr/>
          <p:nvPr/>
        </p:nvSpPr>
        <p:spPr>
          <a:xfrm>
            <a:off x="5076610" y="1777545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 100"/>
          <p:cNvSpPr/>
          <p:nvPr/>
        </p:nvSpPr>
        <p:spPr>
          <a:xfrm>
            <a:off x="5179020" y="1777545"/>
            <a:ext cx="73150" cy="73150"/>
          </a:xfrm>
          <a:prstGeom prst="rect">
            <a:avLst/>
          </a:prstGeom>
          <a:solidFill>
            <a:srgbClr val="F2BD7D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阶段头"/>
          <p:cNvSpPr txBox="1"/>
          <p:nvPr/>
        </p:nvSpPr>
        <p:spPr>
          <a:xfrm>
            <a:off x="5376525" y="1594670"/>
            <a:ext cx="614460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阶段头</a:t>
            </a:r>
          </a:p>
        </p:txBody>
      </p:sp>
      <p:sp>
        <p:nvSpPr>
          <p:cNvPr id="103" name="rect 102"/>
          <p:cNvSpPr/>
          <p:nvPr/>
        </p:nvSpPr>
        <p:spPr>
          <a:xfrm>
            <a:off x="4974200" y="2706550"/>
            <a:ext cx="73150" cy="73150"/>
          </a:xfrm>
          <a:prstGeom prst="rect">
            <a:avLst/>
          </a:prstGeom>
          <a:solidFill>
            <a:srgbClr val="F2BD7D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 103"/>
          <p:cNvSpPr/>
          <p:nvPr/>
        </p:nvSpPr>
        <p:spPr>
          <a:xfrm>
            <a:off x="5076610" y="2706550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 104"/>
          <p:cNvSpPr/>
          <p:nvPr/>
        </p:nvSpPr>
        <p:spPr>
          <a:xfrm>
            <a:off x="5179020" y="2706550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 105"/>
          <p:cNvSpPr/>
          <p:nvPr/>
        </p:nvSpPr>
        <p:spPr>
          <a:xfrm>
            <a:off x="4974200" y="2808960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 106"/>
          <p:cNvSpPr/>
          <p:nvPr/>
        </p:nvSpPr>
        <p:spPr>
          <a:xfrm>
            <a:off x="5076610" y="2808960"/>
            <a:ext cx="73150" cy="73150"/>
          </a:xfrm>
          <a:prstGeom prst="rect">
            <a:avLst/>
          </a:prstGeom>
          <a:solidFill>
            <a:srgbClr val="F2BD7D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 107"/>
          <p:cNvSpPr/>
          <p:nvPr/>
        </p:nvSpPr>
        <p:spPr>
          <a:xfrm>
            <a:off x="5179020" y="2808960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 108"/>
          <p:cNvSpPr/>
          <p:nvPr/>
        </p:nvSpPr>
        <p:spPr>
          <a:xfrm>
            <a:off x="4974200" y="2911370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 109"/>
          <p:cNvSpPr/>
          <p:nvPr/>
        </p:nvSpPr>
        <p:spPr>
          <a:xfrm>
            <a:off x="5076610" y="2911370"/>
            <a:ext cx="73150" cy="73150"/>
          </a:xfrm>
          <a:prstGeom prst="rect">
            <a:avLst/>
          </a:prstGeom>
          <a:solidFill>
            <a:srgbClr val="A9CEE8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 110"/>
          <p:cNvSpPr/>
          <p:nvPr/>
        </p:nvSpPr>
        <p:spPr>
          <a:xfrm>
            <a:off x="5179020" y="2911370"/>
            <a:ext cx="73150" cy="73150"/>
          </a:xfrm>
          <a:prstGeom prst="rect">
            <a:avLst/>
          </a:prstGeom>
          <a:solidFill>
            <a:srgbClr val="F2BD7D"/>
          </a:solidFill>
          <a:ln w="585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工作量头"/>
          <p:cNvSpPr txBox="1"/>
          <p:nvPr/>
        </p:nvSpPr>
        <p:spPr>
          <a:xfrm>
            <a:off x="5376525" y="2728495"/>
            <a:ext cx="790020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工作量头</a:t>
            </a:r>
          </a:p>
        </p:txBody>
      </p:sp>
      <p:cxnSp>
        <p:nvCxnSpPr>
          <p:cNvPr id="113" name="path 112"/>
          <p:cNvCxnSpPr/>
          <p:nvPr/>
        </p:nvCxnSpPr>
        <p:spPr>
          <a:xfrm>
            <a:off x="5998300" y="1784860"/>
            <a:ext cx="30723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arrowhead 113"/>
          <p:cNvSpPr/>
          <p:nvPr/>
        </p:nvSpPr>
        <p:spPr>
          <a:xfrm>
            <a:off x="6217750" y="173365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path 114"/>
          <p:cNvCxnSpPr/>
          <p:nvPr/>
        </p:nvCxnSpPr>
        <p:spPr>
          <a:xfrm>
            <a:off x="6137285" y="2918685"/>
            <a:ext cx="168245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arrowhead 115"/>
          <p:cNvSpPr/>
          <p:nvPr/>
        </p:nvSpPr>
        <p:spPr>
          <a:xfrm>
            <a:off x="6217750" y="286748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 116"/>
          <p:cNvSpPr/>
          <p:nvPr/>
        </p:nvSpPr>
        <p:spPr>
          <a:xfrm>
            <a:off x="6466460" y="2062830"/>
            <a:ext cx="226765" cy="160930"/>
          </a:xfrm>
          <a:prstGeom prst="rect">
            <a:avLst/>
          </a:prstGeom>
          <a:solidFill>
            <a:srgbClr val="A9CEE8"/>
          </a:solidFill>
          <a:ln w="9509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W"/>
          <p:cNvSpPr txBox="1"/>
          <p:nvPr/>
        </p:nvSpPr>
        <p:spPr>
          <a:xfrm>
            <a:off x="6464860" y="2271308"/>
            <a:ext cx="22265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W</a:t>
            </a:r>
          </a:p>
        </p:txBody>
      </p:sp>
      <p:sp>
        <p:nvSpPr>
          <p:cNvPr id="119" name="rect 118"/>
          <p:cNvSpPr/>
          <p:nvPr/>
        </p:nvSpPr>
        <p:spPr>
          <a:xfrm>
            <a:off x="6919990" y="1931160"/>
            <a:ext cx="226765" cy="292600"/>
          </a:xfrm>
          <a:prstGeom prst="rect">
            <a:avLst/>
          </a:prstGeom>
          <a:solidFill>
            <a:srgbClr val="F2BD7D"/>
          </a:solidFill>
          <a:ln w="9509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N"/>
          <p:cNvSpPr txBox="1"/>
          <p:nvPr/>
        </p:nvSpPr>
        <p:spPr>
          <a:xfrm>
            <a:off x="6930291" y="2271308"/>
            <a:ext cx="19884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N</a:t>
            </a:r>
          </a:p>
        </p:txBody>
      </p:sp>
      <p:sp>
        <p:nvSpPr>
          <p:cNvPr id="121" name="rect 120"/>
          <p:cNvSpPr/>
          <p:nvPr/>
        </p:nvSpPr>
        <p:spPr>
          <a:xfrm>
            <a:off x="7373520" y="1689765"/>
            <a:ext cx="226765" cy="533995"/>
          </a:xfrm>
          <a:prstGeom prst="rect">
            <a:avLst/>
          </a:prstGeom>
          <a:solidFill>
            <a:srgbClr val="E9A6BF"/>
          </a:solidFill>
          <a:ln w="9509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"/>
          <p:cNvSpPr txBox="1"/>
          <p:nvPr/>
        </p:nvSpPr>
        <p:spPr>
          <a:xfrm>
            <a:off x="7396951" y="2271308"/>
            <a:ext cx="17258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F</a:t>
            </a:r>
          </a:p>
        </p:txBody>
      </p:sp>
      <p:sp>
        <p:nvSpPr>
          <p:cNvPr id="123" name="p"/>
          <p:cNvSpPr txBox="1"/>
          <p:nvPr/>
        </p:nvSpPr>
        <p:spPr>
          <a:xfrm>
            <a:off x="6864442" y="1265495"/>
            <a:ext cx="193848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p</a:t>
            </a:r>
          </a:p>
        </p:txBody>
      </p:sp>
      <p:sp>
        <p:nvSpPr>
          <p:cNvPr id="124" name="phase"/>
          <p:cNvSpPr txBox="1"/>
          <p:nvPr/>
        </p:nvSpPr>
        <p:spPr>
          <a:xfrm>
            <a:off x="6977824" y="1386192"/>
            <a:ext cx="400039" cy="182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phase</a:t>
            </a:r>
          </a:p>
        </p:txBody>
      </p:sp>
      <p:cxnSp>
        <p:nvCxnSpPr>
          <p:cNvPr id="125" name="line 124"/>
          <p:cNvCxnSpPr/>
          <p:nvPr/>
        </p:nvCxnSpPr>
        <p:spPr>
          <a:xfrm>
            <a:off x="6444515" y="2918685"/>
            <a:ext cx="1345960" cy="0"/>
          </a:xfrm>
          <a:prstGeom prst="line">
            <a:avLst/>
          </a:prstGeom>
          <a:ln w="18288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line 125"/>
          <p:cNvCxnSpPr/>
          <p:nvPr/>
        </p:nvCxnSpPr>
        <p:spPr>
          <a:xfrm>
            <a:off x="6444515" y="2852850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line 126"/>
          <p:cNvCxnSpPr/>
          <p:nvPr/>
        </p:nvCxnSpPr>
        <p:spPr>
          <a:xfrm>
            <a:off x="7790475" y="2852850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circle 127"/>
          <p:cNvSpPr/>
          <p:nvPr/>
        </p:nvSpPr>
        <p:spPr>
          <a:xfrm>
            <a:off x="7110180" y="2882110"/>
            <a:ext cx="73150" cy="73150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["/>
          <p:cNvSpPr txBox="1"/>
          <p:nvPr/>
        </p:nvSpPr>
        <p:spPr>
          <a:xfrm>
            <a:off x="6595887" y="3105218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[</a:t>
            </a:r>
          </a:p>
        </p:txBody>
      </p:sp>
      <p:sp>
        <p:nvSpPr>
          <p:cNvPr id="130" name="W"/>
          <p:cNvSpPr txBox="1"/>
          <p:nvPr/>
        </p:nvSpPr>
        <p:spPr>
          <a:xfrm>
            <a:off x="6656779" y="3105218"/>
            <a:ext cx="240109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131" name="lo"/>
          <p:cNvSpPr txBox="1"/>
          <p:nvPr/>
        </p:nvSpPr>
        <p:spPr>
          <a:xfrm>
            <a:off x="6816423" y="3209456"/>
            <a:ext cx="180246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lo</a:t>
            </a:r>
          </a:p>
        </p:txBody>
      </p:sp>
      <p:sp>
        <p:nvSpPr>
          <p:cNvPr id="132" name=", "/>
          <p:cNvSpPr txBox="1"/>
          <p:nvPr/>
        </p:nvSpPr>
        <p:spPr>
          <a:xfrm>
            <a:off x="6916204" y="3105218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, </a:t>
            </a:r>
          </a:p>
        </p:txBody>
      </p:sp>
      <p:sp>
        <p:nvSpPr>
          <p:cNvPr id="133" name="W"/>
          <p:cNvSpPr txBox="1"/>
          <p:nvPr/>
        </p:nvSpPr>
        <p:spPr>
          <a:xfrm>
            <a:off x="7007641" y="3105218"/>
            <a:ext cx="240109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134" name="c"/>
          <p:cNvSpPr txBox="1"/>
          <p:nvPr/>
        </p:nvSpPr>
        <p:spPr>
          <a:xfrm>
            <a:off x="7167286" y="3209456"/>
            <a:ext cx="140528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135" name=", "/>
          <p:cNvSpPr txBox="1"/>
          <p:nvPr/>
        </p:nvSpPr>
        <p:spPr>
          <a:xfrm>
            <a:off x="7227349" y="3105218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, </a:t>
            </a:r>
          </a:p>
        </p:txBody>
      </p:sp>
      <p:sp>
        <p:nvSpPr>
          <p:cNvPr id="136" name="W"/>
          <p:cNvSpPr txBox="1"/>
          <p:nvPr/>
        </p:nvSpPr>
        <p:spPr>
          <a:xfrm>
            <a:off x="7318786" y="3105218"/>
            <a:ext cx="240109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137" name="hi"/>
          <p:cNvSpPr txBox="1"/>
          <p:nvPr/>
        </p:nvSpPr>
        <p:spPr>
          <a:xfrm>
            <a:off x="7478430" y="3209456"/>
            <a:ext cx="180246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hi</a:t>
            </a:r>
          </a:p>
        </p:txBody>
      </p:sp>
      <p:sp>
        <p:nvSpPr>
          <p:cNvPr id="138" name="]"/>
          <p:cNvSpPr txBox="1"/>
          <p:nvPr/>
        </p:nvSpPr>
        <p:spPr>
          <a:xfrm>
            <a:off x="7578211" y="3105218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]</a:t>
            </a:r>
          </a:p>
        </p:txBody>
      </p:sp>
      <p:cxnSp>
        <p:nvCxnSpPr>
          <p:cNvPr id="139" name="line 138"/>
          <p:cNvCxnSpPr/>
          <p:nvPr/>
        </p:nvCxnSpPr>
        <p:spPr>
          <a:xfrm>
            <a:off x="351120" y="3540460"/>
            <a:ext cx="7519820" cy="0"/>
          </a:xfrm>
          <a:prstGeom prst="line">
            <a:avLst/>
          </a:prstGeom>
          <a:ln w="8778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在线快照 → 滚动修正工作端点"/>
          <p:cNvSpPr txBox="1"/>
          <p:nvPr/>
        </p:nvSpPr>
        <p:spPr>
          <a:xfrm>
            <a:off x="358435" y="3569720"/>
            <a:ext cx="2449782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在线快照 → 滚动修正工作端点</a:t>
            </a:r>
          </a:p>
        </p:txBody>
      </p:sp>
      <p:sp>
        <p:nvSpPr>
          <p:cNvPr id="141" name="N"/>
          <p:cNvSpPr txBox="1"/>
          <p:nvPr/>
        </p:nvSpPr>
        <p:spPr>
          <a:xfrm>
            <a:off x="3788927" y="3853176"/>
            <a:ext cx="214650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N</a:t>
            </a:r>
          </a:p>
        </p:txBody>
      </p:sp>
      <p:sp>
        <p:nvSpPr>
          <p:cNvPr id="142" name="t"/>
          <p:cNvSpPr txBox="1"/>
          <p:nvPr/>
        </p:nvSpPr>
        <p:spPr>
          <a:xfrm>
            <a:off x="3923112" y="3959244"/>
            <a:ext cx="122326" cy="1682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143" name="W"/>
          <p:cNvSpPr txBox="1"/>
          <p:nvPr/>
        </p:nvSpPr>
        <p:spPr>
          <a:xfrm>
            <a:off x="6185690" y="3853176"/>
            <a:ext cx="246224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144" name="lo"/>
          <p:cNvSpPr txBox="1"/>
          <p:nvPr/>
        </p:nvSpPr>
        <p:spPr>
          <a:xfrm>
            <a:off x="6351449" y="3959244"/>
            <a:ext cx="184504" cy="1682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lo</a:t>
            </a:r>
          </a:p>
        </p:txBody>
      </p:sp>
      <p:sp>
        <p:nvSpPr>
          <p:cNvPr id="145" name=" … "/>
          <p:cNvSpPr txBox="1"/>
          <p:nvPr/>
        </p:nvSpPr>
        <p:spPr>
          <a:xfrm>
            <a:off x="6455488" y="3853176"/>
            <a:ext cx="373065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… </a:t>
            </a:r>
          </a:p>
        </p:txBody>
      </p:sp>
      <p:sp>
        <p:nvSpPr>
          <p:cNvPr id="146" name="W"/>
          <p:cNvSpPr txBox="1"/>
          <p:nvPr/>
        </p:nvSpPr>
        <p:spPr>
          <a:xfrm>
            <a:off x="6740772" y="3853176"/>
            <a:ext cx="246224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147" name="hi"/>
          <p:cNvSpPr txBox="1"/>
          <p:nvPr/>
        </p:nvSpPr>
        <p:spPr>
          <a:xfrm>
            <a:off x="6906532" y="3959244"/>
            <a:ext cx="184504" cy="1682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hi</a:t>
            </a:r>
          </a:p>
        </p:txBody>
      </p:sp>
      <p:sp>
        <p:nvSpPr>
          <p:cNvPr id="148" name="t"/>
          <p:cNvSpPr txBox="1"/>
          <p:nvPr/>
        </p:nvSpPr>
        <p:spPr>
          <a:xfrm>
            <a:off x="533081" y="4079941"/>
            <a:ext cx="14264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149" name="0"/>
          <p:cNvSpPr txBox="1"/>
          <p:nvPr/>
        </p:nvSpPr>
        <p:spPr>
          <a:xfrm>
            <a:off x="595258" y="4191495"/>
            <a:ext cx="151786" cy="173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0</a:t>
            </a:r>
          </a:p>
        </p:txBody>
      </p:sp>
      <p:sp>
        <p:nvSpPr>
          <p:cNvPr id="150" name="rect 149"/>
          <p:cNvSpPr/>
          <p:nvPr/>
        </p:nvSpPr>
        <p:spPr>
          <a:xfrm>
            <a:off x="907060" y="4118345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 150"/>
          <p:cNvSpPr/>
          <p:nvPr/>
        </p:nvSpPr>
        <p:spPr>
          <a:xfrm>
            <a:off x="1155770" y="4118345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 151"/>
          <p:cNvSpPr/>
          <p:nvPr/>
        </p:nvSpPr>
        <p:spPr>
          <a:xfrm>
            <a:off x="1404480" y="4118345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 152"/>
          <p:cNvSpPr/>
          <p:nvPr/>
        </p:nvSpPr>
        <p:spPr>
          <a:xfrm>
            <a:off x="1653190" y="4118345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path 153"/>
          <p:cNvCxnSpPr/>
          <p:nvPr/>
        </p:nvCxnSpPr>
        <p:spPr>
          <a:xfrm>
            <a:off x="1982365" y="4198810"/>
            <a:ext cx="672980" cy="0"/>
          </a:xfrm>
          <a:prstGeom prst="line">
            <a:avLst/>
          </a:prstGeom>
          <a:ln w="13167">
            <a:solidFill>
              <a:srgbClr val="2676B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arrowhead 154"/>
          <p:cNvSpPr/>
          <p:nvPr/>
        </p:nvSpPr>
        <p:spPr>
          <a:xfrm>
            <a:off x="2574880" y="4154920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 155"/>
          <p:cNvSpPr/>
          <p:nvPr/>
        </p:nvSpPr>
        <p:spPr>
          <a:xfrm>
            <a:off x="2904055" y="4132975"/>
            <a:ext cx="804650" cy="13167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7" name="path 156"/>
          <p:cNvCxnSpPr/>
          <p:nvPr/>
        </p:nvCxnSpPr>
        <p:spPr>
          <a:xfrm>
            <a:off x="4871790" y="4198810"/>
            <a:ext cx="321860" cy="0"/>
          </a:xfrm>
          <a:prstGeom prst="line">
            <a:avLst/>
          </a:prstGeom>
          <a:ln w="13167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arrowhead 157"/>
          <p:cNvSpPr/>
          <p:nvPr/>
        </p:nvSpPr>
        <p:spPr>
          <a:xfrm>
            <a:off x="5113185" y="4154920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line 158"/>
          <p:cNvCxnSpPr/>
          <p:nvPr/>
        </p:nvCxnSpPr>
        <p:spPr>
          <a:xfrm>
            <a:off x="5691070" y="4198810"/>
            <a:ext cx="1967735" cy="0"/>
          </a:xfrm>
          <a:prstGeom prst="line">
            <a:avLst/>
          </a:prstGeom>
          <a:ln w="18288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line 159"/>
          <p:cNvCxnSpPr/>
          <p:nvPr/>
        </p:nvCxnSpPr>
        <p:spPr>
          <a:xfrm>
            <a:off x="5691070" y="4132975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line 160"/>
          <p:cNvCxnSpPr/>
          <p:nvPr/>
        </p:nvCxnSpPr>
        <p:spPr>
          <a:xfrm>
            <a:off x="7658805" y="4132975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circle 161"/>
          <p:cNvSpPr/>
          <p:nvPr/>
        </p:nvSpPr>
        <p:spPr>
          <a:xfrm>
            <a:off x="6802950" y="4162235"/>
            <a:ext cx="73150" cy="73150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"/>
          <p:cNvSpPr txBox="1"/>
          <p:nvPr/>
        </p:nvSpPr>
        <p:spPr>
          <a:xfrm>
            <a:off x="533081" y="4365226"/>
            <a:ext cx="14264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164" name="1"/>
          <p:cNvSpPr txBox="1"/>
          <p:nvPr/>
        </p:nvSpPr>
        <p:spPr>
          <a:xfrm>
            <a:off x="595258" y="4476780"/>
            <a:ext cx="151786" cy="173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1</a:t>
            </a:r>
          </a:p>
        </p:txBody>
      </p:sp>
      <p:sp>
        <p:nvSpPr>
          <p:cNvPr id="165" name="rect 164"/>
          <p:cNvSpPr/>
          <p:nvPr/>
        </p:nvSpPr>
        <p:spPr>
          <a:xfrm>
            <a:off x="907060" y="4403630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 165"/>
          <p:cNvSpPr/>
          <p:nvPr/>
        </p:nvSpPr>
        <p:spPr>
          <a:xfrm>
            <a:off x="1155770" y="4403630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 166"/>
          <p:cNvSpPr/>
          <p:nvPr/>
        </p:nvSpPr>
        <p:spPr>
          <a:xfrm>
            <a:off x="1404480" y="4403630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 167"/>
          <p:cNvSpPr/>
          <p:nvPr/>
        </p:nvSpPr>
        <p:spPr>
          <a:xfrm>
            <a:off x="1653190" y="4403630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" name="path 168"/>
          <p:cNvCxnSpPr/>
          <p:nvPr/>
        </p:nvCxnSpPr>
        <p:spPr>
          <a:xfrm>
            <a:off x="1982365" y="4484095"/>
            <a:ext cx="672980" cy="0"/>
          </a:xfrm>
          <a:prstGeom prst="line">
            <a:avLst/>
          </a:prstGeom>
          <a:ln w="13167">
            <a:solidFill>
              <a:srgbClr val="2676B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arrowhead 169"/>
          <p:cNvSpPr/>
          <p:nvPr/>
        </p:nvSpPr>
        <p:spPr>
          <a:xfrm>
            <a:off x="2574880" y="4440205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 170"/>
          <p:cNvSpPr/>
          <p:nvPr/>
        </p:nvSpPr>
        <p:spPr>
          <a:xfrm>
            <a:off x="2904055" y="4418260"/>
            <a:ext cx="1316700" cy="13167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2" name="path 171"/>
          <p:cNvCxnSpPr/>
          <p:nvPr/>
        </p:nvCxnSpPr>
        <p:spPr>
          <a:xfrm>
            <a:off x="4871790" y="4484095"/>
            <a:ext cx="321860" cy="0"/>
          </a:xfrm>
          <a:prstGeom prst="line">
            <a:avLst/>
          </a:prstGeom>
          <a:ln w="13167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arrowhead 172"/>
          <p:cNvSpPr/>
          <p:nvPr/>
        </p:nvSpPr>
        <p:spPr>
          <a:xfrm>
            <a:off x="5113185" y="4440205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line 173"/>
          <p:cNvCxnSpPr/>
          <p:nvPr/>
        </p:nvCxnSpPr>
        <p:spPr>
          <a:xfrm>
            <a:off x="5303375" y="4484095"/>
            <a:ext cx="1601985" cy="0"/>
          </a:xfrm>
          <a:prstGeom prst="line">
            <a:avLst/>
          </a:prstGeom>
          <a:ln w="18288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line 174"/>
          <p:cNvCxnSpPr/>
          <p:nvPr/>
        </p:nvCxnSpPr>
        <p:spPr>
          <a:xfrm>
            <a:off x="5303375" y="4418260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line 175"/>
          <p:cNvCxnSpPr/>
          <p:nvPr/>
        </p:nvCxnSpPr>
        <p:spPr>
          <a:xfrm>
            <a:off x="6905360" y="4418260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circle 176"/>
          <p:cNvSpPr/>
          <p:nvPr/>
        </p:nvSpPr>
        <p:spPr>
          <a:xfrm>
            <a:off x="6086080" y="4447520"/>
            <a:ext cx="73150" cy="73150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"/>
          <p:cNvSpPr txBox="1"/>
          <p:nvPr/>
        </p:nvSpPr>
        <p:spPr>
          <a:xfrm>
            <a:off x="533081" y="4650511"/>
            <a:ext cx="14264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179" name="2"/>
          <p:cNvSpPr txBox="1"/>
          <p:nvPr/>
        </p:nvSpPr>
        <p:spPr>
          <a:xfrm>
            <a:off x="595258" y="4762065"/>
            <a:ext cx="151786" cy="173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2</a:t>
            </a:r>
          </a:p>
        </p:txBody>
      </p:sp>
      <p:sp>
        <p:nvSpPr>
          <p:cNvPr id="180" name="rect 179"/>
          <p:cNvSpPr/>
          <p:nvPr/>
        </p:nvSpPr>
        <p:spPr>
          <a:xfrm>
            <a:off x="907060" y="4688915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 180"/>
          <p:cNvSpPr/>
          <p:nvPr/>
        </p:nvSpPr>
        <p:spPr>
          <a:xfrm>
            <a:off x="1155770" y="4688915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 181"/>
          <p:cNvSpPr/>
          <p:nvPr/>
        </p:nvSpPr>
        <p:spPr>
          <a:xfrm>
            <a:off x="1404480" y="4688915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 182"/>
          <p:cNvSpPr/>
          <p:nvPr/>
        </p:nvSpPr>
        <p:spPr>
          <a:xfrm>
            <a:off x="1653190" y="4688915"/>
            <a:ext cx="212135" cy="168245"/>
          </a:xfrm>
          <a:prstGeom prst="roundRect">
            <a:avLst>
              <a:gd name="adj" fmla="val 4347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4" name="path 183"/>
          <p:cNvCxnSpPr/>
          <p:nvPr/>
        </p:nvCxnSpPr>
        <p:spPr>
          <a:xfrm>
            <a:off x="1982365" y="4769380"/>
            <a:ext cx="672980" cy="0"/>
          </a:xfrm>
          <a:prstGeom prst="line">
            <a:avLst/>
          </a:prstGeom>
          <a:ln w="13167">
            <a:solidFill>
              <a:srgbClr val="2676B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arrowhead 184"/>
          <p:cNvSpPr/>
          <p:nvPr/>
        </p:nvSpPr>
        <p:spPr>
          <a:xfrm>
            <a:off x="2574880" y="4725490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 185"/>
          <p:cNvSpPr/>
          <p:nvPr/>
        </p:nvSpPr>
        <p:spPr>
          <a:xfrm>
            <a:off x="2904055" y="4703545"/>
            <a:ext cx="1792175" cy="13167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7" name="path 186"/>
          <p:cNvCxnSpPr/>
          <p:nvPr/>
        </p:nvCxnSpPr>
        <p:spPr>
          <a:xfrm>
            <a:off x="4871790" y="4769380"/>
            <a:ext cx="321860" cy="0"/>
          </a:xfrm>
          <a:prstGeom prst="line">
            <a:avLst/>
          </a:prstGeom>
          <a:ln w="13167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arrowhead 187"/>
          <p:cNvSpPr/>
          <p:nvPr/>
        </p:nvSpPr>
        <p:spPr>
          <a:xfrm>
            <a:off x="5113185" y="4725490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9" name="line 188"/>
          <p:cNvCxnSpPr/>
          <p:nvPr/>
        </p:nvCxnSpPr>
        <p:spPr>
          <a:xfrm>
            <a:off x="5515510" y="4769380"/>
            <a:ext cx="1726340" cy="0"/>
          </a:xfrm>
          <a:prstGeom prst="line">
            <a:avLst/>
          </a:prstGeom>
          <a:ln w="18288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line 189"/>
          <p:cNvCxnSpPr/>
          <p:nvPr/>
        </p:nvCxnSpPr>
        <p:spPr>
          <a:xfrm>
            <a:off x="5515510" y="4703545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line 190"/>
          <p:cNvCxnSpPr/>
          <p:nvPr/>
        </p:nvCxnSpPr>
        <p:spPr>
          <a:xfrm>
            <a:off x="7241850" y="4703545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circle 191"/>
          <p:cNvSpPr/>
          <p:nvPr/>
        </p:nvSpPr>
        <p:spPr>
          <a:xfrm>
            <a:off x="6554240" y="4732805"/>
            <a:ext cx="73150" cy="73150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path 192"/>
          <p:cNvSpPr/>
          <p:nvPr/>
        </p:nvSpPr>
        <p:spPr>
          <a:xfrm>
            <a:off x="314545" y="1989680"/>
            <a:ext cx="7483245" cy="2904055"/>
          </a:xfrm>
          <a:custGeom>
            <a:avLst/>
            <a:gdLst/>
            <a:ahLst/>
            <a:cxnLst/>
            <a:rect l="l" t="t" r="r" b="b"/>
            <a:pathLst>
              <a:path w="1023" h="397">
                <a:moveTo>
                  <a:pt x="1023" y="397"/>
                </a:moveTo>
                <a:lnTo>
                  <a:pt x="0" y="397"/>
                </a:lnTo>
                <a:lnTo>
                  <a:pt x="0" y="0"/>
                </a:lnTo>
                <a:lnTo>
                  <a:pt x="11" y="0"/>
                </a:lnTo>
              </a:path>
            </a:pathLst>
          </a:custGeom>
          <a:noFill/>
          <a:ln w="11704">
            <a:solidFill>
              <a:srgbClr val="2676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arrowhead 193"/>
          <p:cNvSpPr/>
          <p:nvPr/>
        </p:nvSpPr>
        <p:spPr>
          <a:xfrm>
            <a:off x="321860" y="194579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 194"/>
          <p:cNvSpPr/>
          <p:nvPr/>
        </p:nvSpPr>
        <p:spPr>
          <a:xfrm>
            <a:off x="8163540" y="907060"/>
            <a:ext cx="4769380" cy="4125660"/>
          </a:xfrm>
          <a:prstGeom prst="roundRect">
            <a:avLst>
              <a:gd name="adj" fmla="val 354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 195"/>
          <p:cNvSpPr/>
          <p:nvPr/>
        </p:nvSpPr>
        <p:spPr>
          <a:xfrm>
            <a:off x="8163540" y="907060"/>
            <a:ext cx="476938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(b) JOIN 投影与已观测服务进度"/>
          <p:cNvSpPr txBox="1"/>
          <p:nvPr/>
        </p:nvSpPr>
        <p:spPr>
          <a:xfrm>
            <a:off x="8265950" y="915180"/>
            <a:ext cx="2801959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(b) JOIN 投影与已观测服务进度</a:t>
            </a:r>
          </a:p>
        </p:txBody>
      </p:sp>
      <p:sp>
        <p:nvSpPr>
          <p:cNvPr id="198" name="circle 197"/>
          <p:cNvSpPr/>
          <p:nvPr/>
        </p:nvSpPr>
        <p:spPr>
          <a:xfrm>
            <a:off x="8426880" y="1821435"/>
            <a:ext cx="351120" cy="351120"/>
          </a:xfrm>
          <a:prstGeom prst="ellipse">
            <a:avLst/>
          </a:prstGeom>
          <a:solidFill>
            <a:srgbClr val="E9A6BF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P"/>
          <p:cNvSpPr txBox="1"/>
          <p:nvPr/>
        </p:nvSpPr>
        <p:spPr>
          <a:xfrm>
            <a:off x="8502445" y="1858522"/>
            <a:ext cx="19999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200" name="circle 199"/>
          <p:cNvSpPr/>
          <p:nvPr/>
        </p:nvSpPr>
        <p:spPr>
          <a:xfrm>
            <a:off x="9443665" y="1382535"/>
            <a:ext cx="351120" cy="351120"/>
          </a:xfrm>
          <a:prstGeom prst="ellipse">
            <a:avLst/>
          </a:prstGeom>
          <a:solidFill>
            <a:srgbClr val="B5D68B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C1"/>
          <p:cNvSpPr txBox="1"/>
          <p:nvPr/>
        </p:nvSpPr>
        <p:spPr>
          <a:xfrm>
            <a:off x="9470510" y="1419622"/>
            <a:ext cx="297429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202" name="circle 201"/>
          <p:cNvSpPr/>
          <p:nvPr/>
        </p:nvSpPr>
        <p:spPr>
          <a:xfrm>
            <a:off x="9443665" y="2267650"/>
            <a:ext cx="351120" cy="351120"/>
          </a:xfrm>
          <a:prstGeom prst="ellipse">
            <a:avLst/>
          </a:prstGeom>
          <a:solidFill>
            <a:srgbClr val="F2BD7D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C2"/>
          <p:cNvSpPr txBox="1"/>
          <p:nvPr/>
        </p:nvSpPr>
        <p:spPr>
          <a:xfrm>
            <a:off x="9470510" y="2304737"/>
            <a:ext cx="297429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204" name="path 203"/>
          <p:cNvSpPr/>
          <p:nvPr/>
        </p:nvSpPr>
        <p:spPr>
          <a:xfrm>
            <a:off x="9875250" y="140448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9"/>
                </a:moveTo>
                <a:lnTo>
                  <a:pt x="6" y="18"/>
                </a:lnTo>
                <a:lnTo>
                  <a:pt x="18" y="0"/>
                </a:lnTo>
              </a:path>
            </a:pathLst>
          </a:custGeom>
          <a:noFill/>
          <a:ln w="2048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polygon 204"/>
          <p:cNvSpPr/>
          <p:nvPr/>
        </p:nvSpPr>
        <p:spPr>
          <a:xfrm>
            <a:off x="10694530" y="1726340"/>
            <a:ext cx="819280" cy="541310"/>
          </a:xfrm>
          <a:custGeom>
            <a:avLst/>
            <a:gdLst/>
            <a:ahLst/>
            <a:cxnLst/>
            <a:rect l="l" t="t" r="r" b="b"/>
            <a:pathLst>
              <a:path w="112" h="74">
                <a:moveTo>
                  <a:pt x="56" y="0"/>
                </a:moveTo>
                <a:lnTo>
                  <a:pt x="112" y="37"/>
                </a:lnTo>
                <a:lnTo>
                  <a:pt x="56" y="74"/>
                </a:lnTo>
                <a:lnTo>
                  <a:pt x="0" y="37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ALL"/>
          <p:cNvSpPr txBox="1"/>
          <p:nvPr/>
        </p:nvSpPr>
        <p:spPr>
          <a:xfrm>
            <a:off x="10895978" y="1850695"/>
            <a:ext cx="416384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ALL</a:t>
            </a:r>
          </a:p>
        </p:txBody>
      </p:sp>
      <p:sp>
        <p:nvSpPr>
          <p:cNvPr id="207" name="circle 206"/>
          <p:cNvSpPr/>
          <p:nvPr/>
        </p:nvSpPr>
        <p:spPr>
          <a:xfrm>
            <a:off x="12245310" y="1821435"/>
            <a:ext cx="351120" cy="351120"/>
          </a:xfrm>
          <a:prstGeom prst="ellipse">
            <a:avLst/>
          </a:prstGeom>
          <a:solidFill>
            <a:srgbClr val="E9A6BF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P"/>
          <p:cNvSpPr txBox="1"/>
          <p:nvPr/>
        </p:nvSpPr>
        <p:spPr>
          <a:xfrm>
            <a:off x="12320875" y="1858522"/>
            <a:ext cx="19999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cxnSp>
        <p:nvCxnSpPr>
          <p:cNvPr id="209" name="path 208"/>
          <p:cNvCxnSpPr/>
          <p:nvPr/>
        </p:nvCxnSpPr>
        <p:spPr>
          <a:xfrm flipV="1">
            <a:off x="8799945" y="1638560"/>
            <a:ext cx="621775" cy="285285"/>
          </a:xfrm>
          <a:prstGeom prst="line">
            <a:avLst/>
          </a:prstGeom>
          <a:ln w="16093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arrowhead 209"/>
          <p:cNvSpPr/>
          <p:nvPr/>
        </p:nvSpPr>
        <p:spPr>
          <a:xfrm>
            <a:off x="9311995" y="1623930"/>
            <a:ext cx="124355" cy="102410"/>
          </a:xfrm>
          <a:custGeom>
            <a:avLst/>
            <a:gdLst/>
            <a:ahLst/>
            <a:cxnLst/>
            <a:rect l="l" t="t" r="r" b="b"/>
            <a:pathLst>
              <a:path w="17" h="14">
                <a:moveTo>
                  <a:pt x="17" y="1"/>
                </a:moveTo>
                <a:lnTo>
                  <a:pt x="6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1" name="path 210"/>
          <p:cNvCxnSpPr/>
          <p:nvPr/>
        </p:nvCxnSpPr>
        <p:spPr>
          <a:xfrm>
            <a:off x="8799945" y="2092090"/>
            <a:ext cx="621775" cy="263340"/>
          </a:xfrm>
          <a:prstGeom prst="line">
            <a:avLst/>
          </a:prstGeom>
          <a:ln w="16093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arrowhead 211"/>
          <p:cNvSpPr/>
          <p:nvPr/>
        </p:nvSpPr>
        <p:spPr>
          <a:xfrm>
            <a:off x="9311995" y="2267650"/>
            <a:ext cx="124355" cy="102410"/>
          </a:xfrm>
          <a:custGeom>
            <a:avLst/>
            <a:gdLst/>
            <a:ahLst/>
            <a:cxnLst/>
            <a:rect l="l" t="t" r="r" b="b"/>
            <a:pathLst>
              <a:path w="17" h="14">
                <a:moveTo>
                  <a:pt x="17" y="13"/>
                </a:moveTo>
                <a:lnTo>
                  <a:pt x="0" y="14"/>
                </a:lnTo>
                <a:lnTo>
                  <a:pt x="6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path 212"/>
          <p:cNvSpPr/>
          <p:nvPr/>
        </p:nvSpPr>
        <p:spPr>
          <a:xfrm>
            <a:off x="9816730" y="1558095"/>
            <a:ext cx="914375" cy="321860"/>
          </a:xfrm>
          <a:custGeom>
            <a:avLst/>
            <a:gdLst/>
            <a:ahLst/>
            <a:cxnLst/>
            <a:rect l="l" t="t" r="r" b="b"/>
            <a:pathLst>
              <a:path w="125" h="44">
                <a:moveTo>
                  <a:pt x="0" y="0"/>
                </a:moveTo>
                <a:lnTo>
                  <a:pt x="62" y="0"/>
                </a:lnTo>
                <a:lnTo>
                  <a:pt x="125" y="44"/>
                </a:lnTo>
              </a:path>
            </a:pathLst>
          </a:custGeom>
          <a:noFill/>
          <a:ln w="16093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arrowhead 213"/>
          <p:cNvSpPr/>
          <p:nvPr/>
        </p:nvSpPr>
        <p:spPr>
          <a:xfrm>
            <a:off x="10621380" y="1777545"/>
            <a:ext cx="124355" cy="109725"/>
          </a:xfrm>
          <a:custGeom>
            <a:avLst/>
            <a:gdLst/>
            <a:ahLst/>
            <a:cxnLst/>
            <a:rect l="l" t="t" r="r" b="b"/>
            <a:pathLst>
              <a:path w="17" h="15">
                <a:moveTo>
                  <a:pt x="17" y="15"/>
                </a:moveTo>
                <a:lnTo>
                  <a:pt x="0" y="13"/>
                </a:lnTo>
                <a:lnTo>
                  <a:pt x="9" y="0"/>
                </a:lnTo>
                <a:close/>
              </a:path>
            </a:pathLst>
          </a:custGeom>
          <a:solidFill>
            <a:srgbClr val="9696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path 214"/>
          <p:cNvSpPr/>
          <p:nvPr/>
        </p:nvSpPr>
        <p:spPr>
          <a:xfrm>
            <a:off x="9816730" y="2114035"/>
            <a:ext cx="914375" cy="329175"/>
          </a:xfrm>
          <a:custGeom>
            <a:avLst/>
            <a:gdLst/>
            <a:ahLst/>
            <a:cxnLst/>
            <a:rect l="l" t="t" r="r" b="b"/>
            <a:pathLst>
              <a:path w="125" h="45">
                <a:moveTo>
                  <a:pt x="0" y="45"/>
                </a:moveTo>
                <a:lnTo>
                  <a:pt x="62" y="45"/>
                </a:lnTo>
                <a:lnTo>
                  <a:pt x="125" y="0"/>
                </a:lnTo>
              </a:path>
            </a:pathLst>
          </a:custGeom>
          <a:noFill/>
          <a:ln w="16093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arrowhead 215"/>
          <p:cNvSpPr/>
          <p:nvPr/>
        </p:nvSpPr>
        <p:spPr>
          <a:xfrm>
            <a:off x="10621380" y="2106720"/>
            <a:ext cx="124355" cy="109725"/>
          </a:xfrm>
          <a:custGeom>
            <a:avLst/>
            <a:gdLst/>
            <a:ahLst/>
            <a:cxnLst/>
            <a:rect l="l" t="t" r="r" b="b"/>
            <a:pathLst>
              <a:path w="17" h="15">
                <a:moveTo>
                  <a:pt x="17" y="0"/>
                </a:moveTo>
                <a:lnTo>
                  <a:pt x="9" y="15"/>
                </a:lnTo>
                <a:lnTo>
                  <a:pt x="0" y="2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7" name="path 216"/>
          <p:cNvCxnSpPr/>
          <p:nvPr/>
        </p:nvCxnSpPr>
        <p:spPr>
          <a:xfrm>
            <a:off x="11528440" y="1996995"/>
            <a:ext cx="694925" cy="0"/>
          </a:xfrm>
          <a:prstGeom prst="line">
            <a:avLst/>
          </a:prstGeom>
          <a:ln w="16093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arrowhead 217"/>
          <p:cNvSpPr/>
          <p:nvPr/>
        </p:nvSpPr>
        <p:spPr>
          <a:xfrm>
            <a:off x="12128270" y="1938475"/>
            <a:ext cx="109725" cy="117040"/>
          </a:xfrm>
          <a:custGeom>
            <a:avLst/>
            <a:gdLst/>
            <a:ahLst/>
            <a:cxnLst/>
            <a:rect l="l" t="t" r="r" b="b"/>
            <a:pathLst>
              <a:path w="15" h="16">
                <a:moveTo>
                  <a:pt x="15" y="8"/>
                </a:moveTo>
                <a:lnTo>
                  <a:pt x="0" y="16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 218"/>
          <p:cNvSpPr/>
          <p:nvPr/>
        </p:nvSpPr>
        <p:spPr>
          <a:xfrm>
            <a:off x="8331785" y="2845535"/>
            <a:ext cx="78270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oup"/>
          <p:cNvSpPr txBox="1"/>
          <p:nvPr/>
        </p:nvSpPr>
        <p:spPr>
          <a:xfrm>
            <a:off x="8390305" y="2816933"/>
            <a:ext cx="53753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group</a:t>
            </a:r>
          </a:p>
        </p:txBody>
      </p:sp>
      <p:sp>
        <p:nvSpPr>
          <p:cNvPr id="221" name="rect 220"/>
          <p:cNvSpPr/>
          <p:nvPr/>
        </p:nvSpPr>
        <p:spPr>
          <a:xfrm>
            <a:off x="9114490" y="2845535"/>
            <a:ext cx="180680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pending"/>
          <p:cNvSpPr txBox="1"/>
          <p:nvPr/>
        </p:nvSpPr>
        <p:spPr>
          <a:xfrm>
            <a:off x="9173010" y="2816933"/>
            <a:ext cx="71018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pending</a:t>
            </a:r>
          </a:p>
        </p:txBody>
      </p:sp>
      <p:sp>
        <p:nvSpPr>
          <p:cNvPr id="223" name="rect 222"/>
          <p:cNvSpPr/>
          <p:nvPr/>
        </p:nvSpPr>
        <p:spPr>
          <a:xfrm>
            <a:off x="10921295" y="2845535"/>
            <a:ext cx="1814120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signal"/>
          <p:cNvSpPr txBox="1"/>
          <p:nvPr/>
        </p:nvSpPr>
        <p:spPr>
          <a:xfrm>
            <a:off x="10979815" y="2816933"/>
            <a:ext cx="53982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signal</a:t>
            </a:r>
          </a:p>
        </p:txBody>
      </p:sp>
      <p:sp>
        <p:nvSpPr>
          <p:cNvPr id="225" name="rect 224"/>
          <p:cNvSpPr/>
          <p:nvPr/>
        </p:nvSpPr>
        <p:spPr>
          <a:xfrm>
            <a:off x="8331785" y="3057670"/>
            <a:ext cx="78270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"/>
          <p:cNvSpPr txBox="1"/>
          <p:nvPr/>
        </p:nvSpPr>
        <p:spPr>
          <a:xfrm>
            <a:off x="8390305" y="3029068"/>
            <a:ext cx="17441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</a:t>
            </a:r>
          </a:p>
        </p:txBody>
      </p:sp>
      <p:sp>
        <p:nvSpPr>
          <p:cNvPr id="227" name="rect 226"/>
          <p:cNvSpPr/>
          <p:nvPr/>
        </p:nvSpPr>
        <p:spPr>
          <a:xfrm>
            <a:off x="9114490" y="3057670"/>
            <a:ext cx="180680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{C1, C2}"/>
          <p:cNvSpPr txBox="1"/>
          <p:nvPr/>
        </p:nvSpPr>
        <p:spPr>
          <a:xfrm>
            <a:off x="9173010" y="3029068"/>
            <a:ext cx="63529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{C1, C2}</a:t>
            </a:r>
          </a:p>
        </p:txBody>
      </p:sp>
      <p:sp>
        <p:nvSpPr>
          <p:cNvPr id="229" name="rect 228"/>
          <p:cNvSpPr/>
          <p:nvPr/>
        </p:nvSpPr>
        <p:spPr>
          <a:xfrm>
            <a:off x="10921295" y="3057670"/>
            <a:ext cx="1814120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WAIT"/>
          <p:cNvSpPr txBox="1"/>
          <p:nvPr/>
        </p:nvSpPr>
        <p:spPr>
          <a:xfrm>
            <a:off x="10979815" y="3029068"/>
            <a:ext cx="453073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WAIT</a:t>
            </a:r>
          </a:p>
        </p:txBody>
      </p:sp>
      <p:sp>
        <p:nvSpPr>
          <p:cNvPr id="231" name="rect 230"/>
          <p:cNvSpPr/>
          <p:nvPr/>
        </p:nvSpPr>
        <p:spPr>
          <a:xfrm>
            <a:off x="8331785" y="3269805"/>
            <a:ext cx="78270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"/>
          <p:cNvSpPr txBox="1"/>
          <p:nvPr/>
        </p:nvSpPr>
        <p:spPr>
          <a:xfrm>
            <a:off x="8390305" y="3241203"/>
            <a:ext cx="17441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</a:t>
            </a:r>
          </a:p>
        </p:txBody>
      </p:sp>
      <p:sp>
        <p:nvSpPr>
          <p:cNvPr id="233" name="rect 232"/>
          <p:cNvSpPr/>
          <p:nvPr/>
        </p:nvSpPr>
        <p:spPr>
          <a:xfrm>
            <a:off x="9114490" y="3269805"/>
            <a:ext cx="180680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{C2}"/>
          <p:cNvSpPr txBox="1"/>
          <p:nvPr/>
        </p:nvSpPr>
        <p:spPr>
          <a:xfrm>
            <a:off x="9173010" y="3241203"/>
            <a:ext cx="37489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{C2}</a:t>
            </a:r>
          </a:p>
        </p:txBody>
      </p:sp>
      <p:sp>
        <p:nvSpPr>
          <p:cNvPr id="235" name="rect 234"/>
          <p:cNvSpPr/>
          <p:nvPr/>
        </p:nvSpPr>
        <p:spPr>
          <a:xfrm>
            <a:off x="10921295" y="3269805"/>
            <a:ext cx="1814120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NOTICE"/>
          <p:cNvSpPr txBox="1"/>
          <p:nvPr/>
        </p:nvSpPr>
        <p:spPr>
          <a:xfrm>
            <a:off x="10979815" y="3241203"/>
            <a:ext cx="634176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NOTICE</a:t>
            </a:r>
          </a:p>
        </p:txBody>
      </p:sp>
      <p:sp>
        <p:nvSpPr>
          <p:cNvPr id="237" name="τ"/>
          <p:cNvSpPr txBox="1"/>
          <p:nvPr/>
        </p:nvSpPr>
        <p:spPr>
          <a:xfrm>
            <a:off x="8368360" y="3695904"/>
            <a:ext cx="171560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238" name="join"/>
          <p:cNvSpPr txBox="1"/>
          <p:nvPr/>
        </p:nvSpPr>
        <p:spPr>
          <a:xfrm>
            <a:off x="8459455" y="3829402"/>
            <a:ext cx="323917" cy="1975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join</a:t>
            </a:r>
          </a:p>
        </p:txBody>
      </p:sp>
      <p:sp>
        <p:nvSpPr>
          <p:cNvPr id="239" name="("/>
          <p:cNvSpPr txBox="1"/>
          <p:nvPr/>
        </p:nvSpPr>
        <p:spPr>
          <a:xfrm>
            <a:off x="8702907" y="3695904"/>
            <a:ext cx="165730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(</a:t>
            </a:r>
          </a:p>
        </p:txBody>
      </p:sp>
      <p:sp>
        <p:nvSpPr>
          <p:cNvPr id="240" name="t"/>
          <p:cNvSpPr txBox="1"/>
          <p:nvPr/>
        </p:nvSpPr>
        <p:spPr>
          <a:xfrm>
            <a:off x="8780857" y="3695904"/>
            <a:ext cx="152815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241" name=") = "/>
          <p:cNvSpPr txBox="1"/>
          <p:nvPr/>
        </p:nvSpPr>
        <p:spPr>
          <a:xfrm>
            <a:off x="8845892" y="3695904"/>
            <a:ext cx="414783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) = </a:t>
            </a:r>
          </a:p>
        </p:txBody>
      </p:sp>
      <p:sp>
        <p:nvSpPr>
          <p:cNvPr id="242" name="["/>
          <p:cNvSpPr txBox="1"/>
          <p:nvPr/>
        </p:nvSpPr>
        <p:spPr>
          <a:xfrm>
            <a:off x="9984975" y="3527659"/>
            <a:ext cx="165730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[</a:t>
            </a:r>
          </a:p>
        </p:txBody>
      </p:sp>
      <p:sp>
        <p:nvSpPr>
          <p:cNvPr id="243" name="W"/>
          <p:cNvSpPr txBox="1"/>
          <p:nvPr/>
        </p:nvSpPr>
        <p:spPr>
          <a:xfrm>
            <a:off x="10062925" y="3527659"/>
            <a:ext cx="282770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244" name=" − Δ"/>
          <p:cNvSpPr txBox="1"/>
          <p:nvPr/>
        </p:nvSpPr>
        <p:spPr>
          <a:xfrm>
            <a:off x="10257916" y="3527659"/>
            <a:ext cx="474446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− Δ</a:t>
            </a:r>
          </a:p>
        </p:txBody>
      </p:sp>
      <p:sp>
        <p:nvSpPr>
          <p:cNvPr id="245" name="N"/>
          <p:cNvSpPr txBox="1"/>
          <p:nvPr/>
        </p:nvSpPr>
        <p:spPr>
          <a:xfrm>
            <a:off x="10644582" y="3527659"/>
            <a:ext cx="243910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N</a:t>
            </a:r>
          </a:p>
        </p:txBody>
      </p:sp>
      <p:sp>
        <p:nvSpPr>
          <p:cNvPr id="246" name="]"/>
          <p:cNvSpPr txBox="1"/>
          <p:nvPr/>
        </p:nvSpPr>
        <p:spPr>
          <a:xfrm>
            <a:off x="10800712" y="3527659"/>
            <a:ext cx="178875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]</a:t>
            </a:r>
          </a:p>
        </p:txBody>
      </p:sp>
      <p:sp>
        <p:nvSpPr>
          <p:cNvPr id="247" name="+"/>
          <p:cNvSpPr txBox="1"/>
          <p:nvPr/>
        </p:nvSpPr>
        <p:spPr>
          <a:xfrm>
            <a:off x="10899121" y="3661158"/>
            <a:ext cx="173388" cy="1975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+</a:t>
            </a:r>
          </a:p>
        </p:txBody>
      </p:sp>
      <p:cxnSp>
        <p:nvCxnSpPr>
          <p:cNvPr id="248" name="line 247"/>
          <p:cNvCxnSpPr/>
          <p:nvPr/>
        </p:nvCxnSpPr>
        <p:spPr>
          <a:xfrm>
            <a:off x="9911825" y="3803800"/>
            <a:ext cx="1153370" cy="0"/>
          </a:xfrm>
          <a:prstGeom prst="line">
            <a:avLst/>
          </a:prstGeom>
          <a:ln w="13167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v"/>
          <p:cNvSpPr txBox="1"/>
          <p:nvPr/>
        </p:nvSpPr>
        <p:spPr>
          <a:xfrm>
            <a:off x="10326094" y="3849519"/>
            <a:ext cx="191676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v</a:t>
            </a:r>
          </a:p>
        </p:txBody>
      </p:sp>
      <p:sp>
        <p:nvSpPr>
          <p:cNvPr id="250" name="("/>
          <p:cNvSpPr txBox="1"/>
          <p:nvPr/>
        </p:nvSpPr>
        <p:spPr>
          <a:xfrm>
            <a:off x="10429990" y="3849519"/>
            <a:ext cx="165730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(</a:t>
            </a:r>
          </a:p>
        </p:txBody>
      </p:sp>
      <p:sp>
        <p:nvSpPr>
          <p:cNvPr id="251" name="t"/>
          <p:cNvSpPr txBox="1"/>
          <p:nvPr/>
        </p:nvSpPr>
        <p:spPr>
          <a:xfrm>
            <a:off x="10507940" y="3849519"/>
            <a:ext cx="152815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252" name=")"/>
          <p:cNvSpPr txBox="1"/>
          <p:nvPr/>
        </p:nvSpPr>
        <p:spPr>
          <a:xfrm>
            <a:off x="10572975" y="3849519"/>
            <a:ext cx="165730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)</a:t>
            </a:r>
          </a:p>
        </p:txBody>
      </p:sp>
      <p:sp>
        <p:nvSpPr>
          <p:cNvPr id="253" name="pending = 1"/>
          <p:cNvSpPr txBox="1"/>
          <p:nvPr/>
        </p:nvSpPr>
        <p:spPr>
          <a:xfrm>
            <a:off x="11411400" y="3695904"/>
            <a:ext cx="1044445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pending = 1</a:t>
            </a:r>
          </a:p>
        </p:txBody>
      </p:sp>
      <p:cxnSp>
        <p:nvCxnSpPr>
          <p:cNvPr id="254" name="line 253"/>
          <p:cNvCxnSpPr/>
          <p:nvPr/>
        </p:nvCxnSpPr>
        <p:spPr>
          <a:xfrm>
            <a:off x="8324470" y="4235385"/>
            <a:ext cx="4454835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rect 254"/>
          <p:cNvSpPr/>
          <p:nvPr/>
        </p:nvSpPr>
        <p:spPr>
          <a:xfrm>
            <a:off x="8412250" y="4425575"/>
            <a:ext cx="512050" cy="16824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6" name="line 255"/>
          <p:cNvCxnSpPr/>
          <p:nvPr/>
        </p:nvCxnSpPr>
        <p:spPr>
          <a:xfrm>
            <a:off x="8960875" y="4513355"/>
            <a:ext cx="409640" cy="0"/>
          </a:xfrm>
          <a:prstGeom prst="line">
            <a:avLst/>
          </a:prstGeom>
          <a:ln w="9509">
            <a:solidFill>
              <a:srgbClr val="9696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rect 256"/>
          <p:cNvSpPr/>
          <p:nvPr/>
        </p:nvSpPr>
        <p:spPr>
          <a:xfrm>
            <a:off x="9472925" y="4425575"/>
            <a:ext cx="321860" cy="16824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8" name="line 257"/>
          <p:cNvCxnSpPr/>
          <p:nvPr/>
        </p:nvCxnSpPr>
        <p:spPr>
          <a:xfrm>
            <a:off x="9831360" y="4513355"/>
            <a:ext cx="599830" cy="0"/>
          </a:xfrm>
          <a:prstGeom prst="line">
            <a:avLst/>
          </a:prstGeom>
          <a:ln w="9509">
            <a:solidFill>
              <a:srgbClr val="9696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rect 258"/>
          <p:cNvSpPr/>
          <p:nvPr/>
        </p:nvSpPr>
        <p:spPr>
          <a:xfrm>
            <a:off x="10533600" y="4425575"/>
            <a:ext cx="651035" cy="16824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0" name="line 259"/>
          <p:cNvCxnSpPr/>
          <p:nvPr/>
        </p:nvCxnSpPr>
        <p:spPr>
          <a:xfrm>
            <a:off x="11221210" y="4513355"/>
            <a:ext cx="270655" cy="0"/>
          </a:xfrm>
          <a:prstGeom prst="line">
            <a:avLst/>
          </a:prstGeom>
          <a:ln w="9509">
            <a:solidFill>
              <a:srgbClr val="9696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rect 260"/>
          <p:cNvSpPr/>
          <p:nvPr/>
        </p:nvSpPr>
        <p:spPr>
          <a:xfrm>
            <a:off x="11594275" y="4425575"/>
            <a:ext cx="416955" cy="16824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2" name="line 261"/>
          <p:cNvCxnSpPr/>
          <p:nvPr/>
        </p:nvCxnSpPr>
        <p:spPr>
          <a:xfrm>
            <a:off x="12047805" y="4513355"/>
            <a:ext cx="504735" cy="0"/>
          </a:xfrm>
          <a:prstGeom prst="line">
            <a:avLst/>
          </a:prstGeom>
          <a:ln w="9509">
            <a:solidFill>
              <a:srgbClr val="9696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v"/>
          <p:cNvSpPr txBox="1"/>
          <p:nvPr/>
        </p:nvSpPr>
        <p:spPr>
          <a:xfrm>
            <a:off x="8382990" y="4703545"/>
            <a:ext cx="178703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v</a:t>
            </a:r>
          </a:p>
        </p:txBody>
      </p:sp>
      <p:sp>
        <p:nvSpPr>
          <p:cNvPr id="264" name="("/>
          <p:cNvSpPr txBox="1"/>
          <p:nvPr/>
        </p:nvSpPr>
        <p:spPr>
          <a:xfrm>
            <a:off x="8473913" y="4703545"/>
            <a:ext cx="155987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(</a:t>
            </a:r>
          </a:p>
        </p:txBody>
      </p:sp>
      <p:sp>
        <p:nvSpPr>
          <p:cNvPr id="265" name="t"/>
          <p:cNvSpPr txBox="1"/>
          <p:nvPr/>
        </p:nvSpPr>
        <p:spPr>
          <a:xfrm>
            <a:off x="8542120" y="4703545"/>
            <a:ext cx="144700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266" name=")"/>
          <p:cNvSpPr txBox="1"/>
          <p:nvPr/>
        </p:nvSpPr>
        <p:spPr>
          <a:xfrm>
            <a:off x="8599040" y="4703545"/>
            <a:ext cx="155987" cy="2578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)</a:t>
            </a:r>
          </a:p>
        </p:txBody>
      </p:sp>
      <p:sp>
        <p:nvSpPr>
          <p:cNvPr id="267" name="已获服务"/>
          <p:cNvSpPr txBox="1"/>
          <p:nvPr/>
        </p:nvSpPr>
        <p:spPr>
          <a:xfrm>
            <a:off x="9107175" y="4677942"/>
            <a:ext cx="70224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已获服务</a:t>
            </a:r>
          </a:p>
        </p:txBody>
      </p:sp>
      <p:sp>
        <p:nvSpPr>
          <p:cNvPr id="268" name="排队单独处理"/>
          <p:cNvSpPr txBox="1"/>
          <p:nvPr/>
        </p:nvSpPr>
        <p:spPr>
          <a:xfrm>
            <a:off x="10738420" y="4677942"/>
            <a:ext cx="100947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排队单独处理</a:t>
            </a:r>
          </a:p>
        </p:txBody>
      </p:sp>
      <p:sp>
        <p:nvSpPr>
          <p:cNvPr id="269" name="rect 268"/>
          <p:cNvSpPr/>
          <p:nvPr/>
        </p:nvSpPr>
        <p:spPr>
          <a:xfrm>
            <a:off x="234080" y="5208280"/>
            <a:ext cx="6129970" cy="1996995"/>
          </a:xfrm>
          <a:prstGeom prst="roundRect">
            <a:avLst>
              <a:gd name="adj" fmla="val 732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 269"/>
          <p:cNvSpPr/>
          <p:nvPr/>
        </p:nvSpPr>
        <p:spPr>
          <a:xfrm>
            <a:off x="234080" y="5208280"/>
            <a:ext cx="612997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(c) 存活条件下的工具时机"/>
          <p:cNvSpPr txBox="1"/>
          <p:nvPr/>
        </p:nvSpPr>
        <p:spPr>
          <a:xfrm>
            <a:off x="336490" y="5216400"/>
            <a:ext cx="2276879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(c) 存活条件下的工具时机</a:t>
            </a:r>
          </a:p>
        </p:txBody>
      </p:sp>
      <p:sp>
        <p:nvSpPr>
          <p:cNvPr id="272" name="rect 271"/>
          <p:cNvSpPr/>
          <p:nvPr/>
        </p:nvSpPr>
        <p:spPr>
          <a:xfrm>
            <a:off x="365750" y="5683755"/>
            <a:ext cx="833910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project"/>
          <p:cNvSpPr txBox="1"/>
          <p:nvPr/>
        </p:nvSpPr>
        <p:spPr>
          <a:xfrm>
            <a:off x="424270" y="5655153"/>
            <a:ext cx="627976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project</a:t>
            </a:r>
          </a:p>
        </p:txBody>
      </p:sp>
      <p:sp>
        <p:nvSpPr>
          <p:cNvPr id="274" name="rect 273"/>
          <p:cNvSpPr/>
          <p:nvPr/>
        </p:nvSpPr>
        <p:spPr>
          <a:xfrm>
            <a:off x="1199660" y="5683755"/>
            <a:ext cx="85585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cmd"/>
          <p:cNvSpPr txBox="1"/>
          <p:nvPr/>
        </p:nvSpPr>
        <p:spPr>
          <a:xfrm>
            <a:off x="1258180" y="5655153"/>
            <a:ext cx="415726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cmd</a:t>
            </a:r>
          </a:p>
        </p:txBody>
      </p:sp>
      <p:sp>
        <p:nvSpPr>
          <p:cNvPr id="276" name="rect 275"/>
          <p:cNvSpPr/>
          <p:nvPr/>
        </p:nvSpPr>
        <p:spPr>
          <a:xfrm>
            <a:off x="2055515" y="5683755"/>
            <a:ext cx="75344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done"/>
          <p:cNvSpPr txBox="1"/>
          <p:nvPr/>
        </p:nvSpPr>
        <p:spPr>
          <a:xfrm>
            <a:off x="2114035" y="5655153"/>
            <a:ext cx="47056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done</a:t>
            </a:r>
          </a:p>
        </p:txBody>
      </p:sp>
      <p:sp>
        <p:nvSpPr>
          <p:cNvPr id="278" name="rect 277"/>
          <p:cNvSpPr/>
          <p:nvPr/>
        </p:nvSpPr>
        <p:spPr>
          <a:xfrm>
            <a:off x="365750" y="5895890"/>
            <a:ext cx="833910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p"/>
          <p:cNvSpPr txBox="1"/>
          <p:nvPr/>
        </p:nvSpPr>
        <p:spPr>
          <a:xfrm>
            <a:off x="424270" y="5867288"/>
            <a:ext cx="18301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280" name="rect 279"/>
          <p:cNvSpPr/>
          <p:nvPr/>
        </p:nvSpPr>
        <p:spPr>
          <a:xfrm>
            <a:off x="1199660" y="5895890"/>
            <a:ext cx="85585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k"/>
          <p:cNvSpPr txBox="1"/>
          <p:nvPr/>
        </p:nvSpPr>
        <p:spPr>
          <a:xfrm>
            <a:off x="1258180" y="5867288"/>
            <a:ext cx="17258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k</a:t>
            </a:r>
          </a:p>
        </p:txBody>
      </p:sp>
      <p:sp>
        <p:nvSpPr>
          <p:cNvPr id="282" name="rect 281"/>
          <p:cNvSpPr/>
          <p:nvPr/>
        </p:nvSpPr>
        <p:spPr>
          <a:xfrm>
            <a:off x="2055515" y="5895890"/>
            <a:ext cx="75344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1"/>
          <p:cNvSpPr txBox="1"/>
          <p:nvPr/>
        </p:nvSpPr>
        <p:spPr>
          <a:xfrm>
            <a:off x="2114035" y="5867288"/>
            <a:ext cx="26505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T1</a:t>
            </a:r>
          </a:p>
        </p:txBody>
      </p:sp>
      <p:sp>
        <p:nvSpPr>
          <p:cNvPr id="284" name="rect 283"/>
          <p:cNvSpPr/>
          <p:nvPr/>
        </p:nvSpPr>
        <p:spPr>
          <a:xfrm>
            <a:off x="365750" y="6108025"/>
            <a:ext cx="833910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p"/>
          <p:cNvSpPr txBox="1"/>
          <p:nvPr/>
        </p:nvSpPr>
        <p:spPr>
          <a:xfrm>
            <a:off x="424270" y="6079423"/>
            <a:ext cx="18301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286" name="rect 285"/>
          <p:cNvSpPr/>
          <p:nvPr/>
        </p:nvSpPr>
        <p:spPr>
          <a:xfrm>
            <a:off x="1199660" y="6108025"/>
            <a:ext cx="85585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k"/>
          <p:cNvSpPr txBox="1"/>
          <p:nvPr/>
        </p:nvSpPr>
        <p:spPr>
          <a:xfrm>
            <a:off x="1258180" y="6079423"/>
            <a:ext cx="17258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k</a:t>
            </a:r>
          </a:p>
        </p:txBody>
      </p:sp>
      <p:sp>
        <p:nvSpPr>
          <p:cNvPr id="288" name="rect 287"/>
          <p:cNvSpPr/>
          <p:nvPr/>
        </p:nvSpPr>
        <p:spPr>
          <a:xfrm>
            <a:off x="2055515" y="6108025"/>
            <a:ext cx="75344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2"/>
          <p:cNvSpPr txBox="1"/>
          <p:nvPr/>
        </p:nvSpPr>
        <p:spPr>
          <a:xfrm>
            <a:off x="2114035" y="6079423"/>
            <a:ext cx="26505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T2</a:t>
            </a:r>
          </a:p>
        </p:txBody>
      </p:sp>
      <p:cxnSp>
        <p:nvCxnSpPr>
          <p:cNvPr id="290" name="path 289"/>
          <p:cNvCxnSpPr/>
          <p:nvPr/>
        </p:nvCxnSpPr>
        <p:spPr>
          <a:xfrm>
            <a:off x="2823590" y="5990985"/>
            <a:ext cx="234080" cy="0"/>
          </a:xfrm>
          <a:prstGeom prst="line">
            <a:avLst/>
          </a:prstGeom>
          <a:ln w="13167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arrowhead 290"/>
          <p:cNvSpPr/>
          <p:nvPr/>
        </p:nvSpPr>
        <p:spPr>
          <a:xfrm>
            <a:off x="2977205" y="5947095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 291"/>
          <p:cNvSpPr/>
          <p:nvPr/>
        </p:nvSpPr>
        <p:spPr>
          <a:xfrm>
            <a:off x="3745280" y="5683755"/>
            <a:ext cx="746130" cy="768075"/>
          </a:xfrm>
          <a:prstGeom prst="rect">
            <a:avLst/>
          </a:prstGeom>
          <a:solidFill>
            <a:srgbClr val="B5D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3" name="line 292"/>
          <p:cNvCxnSpPr/>
          <p:nvPr/>
        </p:nvCxnSpPr>
        <p:spPr>
          <a:xfrm>
            <a:off x="3160080" y="6451830"/>
            <a:ext cx="1345960" cy="0"/>
          </a:xfrm>
          <a:prstGeom prst="line">
            <a:avLst/>
          </a:prstGeom>
          <a:ln w="10241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line 293"/>
          <p:cNvCxnSpPr/>
          <p:nvPr/>
        </p:nvCxnSpPr>
        <p:spPr>
          <a:xfrm flipV="1">
            <a:off x="3160080" y="5691070"/>
            <a:ext cx="0" cy="760760"/>
          </a:xfrm>
          <a:prstGeom prst="line">
            <a:avLst/>
          </a:prstGeom>
          <a:ln w="10241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path 294"/>
          <p:cNvSpPr/>
          <p:nvPr/>
        </p:nvSpPr>
        <p:spPr>
          <a:xfrm>
            <a:off x="3160080" y="5734960"/>
            <a:ext cx="1338645" cy="702240"/>
          </a:xfrm>
          <a:custGeom>
            <a:avLst/>
            <a:gdLst/>
            <a:ahLst/>
            <a:cxnLst/>
            <a:rect l="l" t="t" r="r" b="b"/>
            <a:pathLst>
              <a:path w="183" h="96">
                <a:moveTo>
                  <a:pt x="0" y="96"/>
                </a:moveTo>
                <a:lnTo>
                  <a:pt x="32" y="96"/>
                </a:lnTo>
                <a:lnTo>
                  <a:pt x="32" y="77"/>
                </a:lnTo>
                <a:lnTo>
                  <a:pt x="61" y="77"/>
                </a:lnTo>
                <a:lnTo>
                  <a:pt x="61" y="53"/>
                </a:lnTo>
                <a:lnTo>
                  <a:pt x="96" y="53"/>
                </a:lnTo>
                <a:lnTo>
                  <a:pt x="96" y="22"/>
                </a:lnTo>
                <a:lnTo>
                  <a:pt x="140" y="22"/>
                </a:lnTo>
                <a:lnTo>
                  <a:pt x="140" y="0"/>
                </a:lnTo>
                <a:lnTo>
                  <a:pt x="183" y="0"/>
                </a:lnTo>
              </a:path>
            </a:pathLst>
          </a:custGeom>
          <a:noFill/>
          <a:ln w="1682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6" name="line 295"/>
          <p:cNvCxnSpPr/>
          <p:nvPr/>
        </p:nvCxnSpPr>
        <p:spPr>
          <a:xfrm>
            <a:off x="3737965" y="5691070"/>
            <a:ext cx="0" cy="811965"/>
          </a:xfrm>
          <a:prstGeom prst="line">
            <a:avLst/>
          </a:prstGeom>
          <a:ln w="11704">
            <a:solidFill>
              <a:srgbClr val="BF333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a"/>
          <p:cNvSpPr txBox="1"/>
          <p:nvPr/>
        </p:nvSpPr>
        <p:spPr>
          <a:xfrm>
            <a:off x="3694075" y="6477432"/>
            <a:ext cx="175560" cy="2249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1" lang="zh-CN" spc="0">
                <a:solidFill>
                  <a:srgbClr val="BF3335"/>
                </a:solidFill>
                <a:latin typeface="Liberation Serif"/>
                <a:ea typeface="Liberation Serif"/>
                <a:effectLst/>
              </a:rPr>
              <a:t>a</a:t>
            </a:r>
          </a:p>
        </p:txBody>
      </p:sp>
      <p:sp>
        <p:nvSpPr>
          <p:cNvPr id="298" name="circle 297"/>
          <p:cNvSpPr/>
          <p:nvPr/>
        </p:nvSpPr>
        <p:spPr>
          <a:xfrm>
            <a:off x="4659655" y="5647180"/>
            <a:ext cx="292600" cy="29260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path 298"/>
          <p:cNvSpPr/>
          <p:nvPr/>
        </p:nvSpPr>
        <p:spPr>
          <a:xfrm>
            <a:off x="4805955" y="5698385"/>
            <a:ext cx="80465" cy="131670"/>
          </a:xfrm>
          <a:custGeom>
            <a:avLst/>
            <a:gdLst/>
            <a:ahLst/>
            <a:cxnLst/>
            <a:rect l="l" t="t" r="r" b="b"/>
            <a:pathLst>
              <a:path w="11" h="18">
                <a:moveTo>
                  <a:pt x="0" y="0"/>
                </a:moveTo>
                <a:lnTo>
                  <a:pt x="0" y="13"/>
                </a:lnTo>
                <a:lnTo>
                  <a:pt x="11" y="18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" name="line 299"/>
          <p:cNvCxnSpPr/>
          <p:nvPr/>
        </p:nvCxnSpPr>
        <p:spPr>
          <a:xfrm>
            <a:off x="4835215" y="6217750"/>
            <a:ext cx="1280125" cy="0"/>
          </a:xfrm>
          <a:prstGeom prst="line">
            <a:avLst/>
          </a:prstGeom>
          <a:ln w="18288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line 300"/>
          <p:cNvCxnSpPr/>
          <p:nvPr/>
        </p:nvCxnSpPr>
        <p:spPr>
          <a:xfrm>
            <a:off x="4835215" y="6151915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line 301"/>
          <p:cNvCxnSpPr/>
          <p:nvPr/>
        </p:nvCxnSpPr>
        <p:spPr>
          <a:xfrm>
            <a:off x="6115340" y="6151915"/>
            <a:ext cx="0" cy="13167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circle 302"/>
          <p:cNvSpPr/>
          <p:nvPr/>
        </p:nvSpPr>
        <p:spPr>
          <a:xfrm>
            <a:off x="5435045" y="6181175"/>
            <a:ext cx="73150" cy="73150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q"/>
          <p:cNvSpPr txBox="1"/>
          <p:nvPr/>
        </p:nvSpPr>
        <p:spPr>
          <a:xfrm>
            <a:off x="4722747" y="6375022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q</a:t>
            </a:r>
          </a:p>
        </p:txBody>
      </p:sp>
      <p:sp>
        <p:nvSpPr>
          <p:cNvPr id="305" name="10"/>
          <p:cNvSpPr txBox="1"/>
          <p:nvPr/>
        </p:nvSpPr>
        <p:spPr>
          <a:xfrm>
            <a:off x="4821499" y="6479261"/>
            <a:ext cx="206649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10</a:t>
            </a:r>
          </a:p>
        </p:txBody>
      </p:sp>
      <p:sp>
        <p:nvSpPr>
          <p:cNvPr id="306" name="q"/>
          <p:cNvSpPr txBox="1"/>
          <p:nvPr/>
        </p:nvSpPr>
        <p:spPr>
          <a:xfrm>
            <a:off x="5359152" y="6375022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q</a:t>
            </a:r>
          </a:p>
        </p:txBody>
      </p:sp>
      <p:sp>
        <p:nvSpPr>
          <p:cNvPr id="307" name="50"/>
          <p:cNvSpPr txBox="1"/>
          <p:nvPr/>
        </p:nvSpPr>
        <p:spPr>
          <a:xfrm>
            <a:off x="5457904" y="6479261"/>
            <a:ext cx="206649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50</a:t>
            </a:r>
          </a:p>
        </p:txBody>
      </p:sp>
      <p:sp>
        <p:nvSpPr>
          <p:cNvPr id="308" name="q"/>
          <p:cNvSpPr txBox="1"/>
          <p:nvPr/>
        </p:nvSpPr>
        <p:spPr>
          <a:xfrm>
            <a:off x="6002872" y="6375022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q</a:t>
            </a:r>
          </a:p>
        </p:txBody>
      </p:sp>
      <p:sp>
        <p:nvSpPr>
          <p:cNvPr id="309" name="90"/>
          <p:cNvSpPr txBox="1"/>
          <p:nvPr/>
        </p:nvSpPr>
        <p:spPr>
          <a:xfrm>
            <a:off x="6101624" y="6479261"/>
            <a:ext cx="206649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90</a:t>
            </a:r>
          </a:p>
        </p:txBody>
      </p:sp>
      <p:sp>
        <p:nvSpPr>
          <p:cNvPr id="310" name="P("/>
          <p:cNvSpPr txBox="1"/>
          <p:nvPr/>
        </p:nvSpPr>
        <p:spPr>
          <a:xfrm>
            <a:off x="365750" y="6826724"/>
            <a:ext cx="282913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P(</a:t>
            </a:r>
          </a:p>
        </p:txBody>
      </p:sp>
      <p:sp>
        <p:nvSpPr>
          <p:cNvPr id="311" name="T"/>
          <p:cNvSpPr txBox="1"/>
          <p:nvPr/>
        </p:nvSpPr>
        <p:spPr>
          <a:xfrm>
            <a:off x="560883" y="6826724"/>
            <a:ext cx="209820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312" name=" ≤ "/>
          <p:cNvSpPr txBox="1"/>
          <p:nvPr/>
        </p:nvSpPr>
        <p:spPr>
          <a:xfrm>
            <a:off x="682924" y="6826724"/>
            <a:ext cx="317945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≤ </a:t>
            </a:r>
          </a:p>
        </p:txBody>
      </p:sp>
      <p:sp>
        <p:nvSpPr>
          <p:cNvPr id="313" name="a"/>
          <p:cNvSpPr txBox="1"/>
          <p:nvPr/>
        </p:nvSpPr>
        <p:spPr>
          <a:xfrm>
            <a:off x="913089" y="6826724"/>
            <a:ext cx="197505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a</a:t>
            </a:r>
          </a:p>
        </p:txBody>
      </p:sp>
      <p:sp>
        <p:nvSpPr>
          <p:cNvPr id="314" name=" + "/>
          <p:cNvSpPr txBox="1"/>
          <p:nvPr/>
        </p:nvSpPr>
        <p:spPr>
          <a:xfrm>
            <a:off x="1022814" y="6826724"/>
            <a:ext cx="321260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+ </a:t>
            </a:r>
          </a:p>
        </p:txBody>
      </p:sp>
      <p:sp>
        <p:nvSpPr>
          <p:cNvPr id="315" name="r"/>
          <p:cNvSpPr txBox="1"/>
          <p:nvPr/>
        </p:nvSpPr>
        <p:spPr>
          <a:xfrm>
            <a:off x="1256294" y="6826724"/>
            <a:ext cx="173188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r</a:t>
            </a:r>
          </a:p>
        </p:txBody>
      </p:sp>
      <p:sp>
        <p:nvSpPr>
          <p:cNvPr id="316" name=" | "/>
          <p:cNvSpPr txBox="1"/>
          <p:nvPr/>
        </p:nvSpPr>
        <p:spPr>
          <a:xfrm>
            <a:off x="1341702" y="6826724"/>
            <a:ext cx="241452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| </a:t>
            </a:r>
          </a:p>
        </p:txBody>
      </p:sp>
      <p:sp>
        <p:nvSpPr>
          <p:cNvPr id="317" name="T"/>
          <p:cNvSpPr txBox="1"/>
          <p:nvPr/>
        </p:nvSpPr>
        <p:spPr>
          <a:xfrm>
            <a:off x="1495375" y="6826724"/>
            <a:ext cx="209820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318" name=" &gt; "/>
          <p:cNvSpPr txBox="1"/>
          <p:nvPr/>
        </p:nvSpPr>
        <p:spPr>
          <a:xfrm>
            <a:off x="1617415" y="6826724"/>
            <a:ext cx="321260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&gt; </a:t>
            </a:r>
          </a:p>
        </p:txBody>
      </p:sp>
      <p:sp>
        <p:nvSpPr>
          <p:cNvPr id="319" name="a"/>
          <p:cNvSpPr txBox="1"/>
          <p:nvPr/>
        </p:nvSpPr>
        <p:spPr>
          <a:xfrm>
            <a:off x="1850895" y="6826724"/>
            <a:ext cx="197505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a</a:t>
            </a:r>
          </a:p>
        </p:txBody>
      </p:sp>
      <p:sp>
        <p:nvSpPr>
          <p:cNvPr id="320" name=")"/>
          <p:cNvSpPr txBox="1"/>
          <p:nvPr/>
        </p:nvSpPr>
        <p:spPr>
          <a:xfrm>
            <a:off x="1960620" y="6826724"/>
            <a:ext cx="160873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)</a:t>
            </a:r>
          </a:p>
        </p:txBody>
      </p:sp>
      <p:sp>
        <p:nvSpPr>
          <p:cNvPr id="321" name=" = "/>
          <p:cNvSpPr txBox="1"/>
          <p:nvPr/>
        </p:nvSpPr>
        <p:spPr>
          <a:xfrm>
            <a:off x="2633400" y="6839525"/>
            <a:ext cx="313488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= </a:t>
            </a:r>
          </a:p>
        </p:txBody>
      </p:sp>
      <p:sp>
        <p:nvSpPr>
          <p:cNvPr id="322" name="F"/>
          <p:cNvSpPr txBox="1"/>
          <p:nvPr/>
        </p:nvSpPr>
        <p:spPr>
          <a:xfrm>
            <a:off x="3064985" y="6689568"/>
            <a:ext cx="199477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F</a:t>
            </a:r>
          </a:p>
        </p:txBody>
      </p:sp>
      <p:sp>
        <p:nvSpPr>
          <p:cNvPr id="323" name="("/>
          <p:cNvSpPr txBox="1"/>
          <p:nvPr/>
        </p:nvSpPr>
        <p:spPr>
          <a:xfrm>
            <a:off x="3176682" y="6689568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(</a:t>
            </a:r>
          </a:p>
        </p:txBody>
      </p:sp>
      <p:sp>
        <p:nvSpPr>
          <p:cNvPr id="324" name="a"/>
          <p:cNvSpPr txBox="1"/>
          <p:nvPr/>
        </p:nvSpPr>
        <p:spPr>
          <a:xfrm>
            <a:off x="3237573" y="6689568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a</a:t>
            </a:r>
          </a:p>
        </p:txBody>
      </p:sp>
      <p:sp>
        <p:nvSpPr>
          <p:cNvPr id="325" name=" + "/>
          <p:cNvSpPr txBox="1"/>
          <p:nvPr/>
        </p:nvSpPr>
        <p:spPr>
          <a:xfrm>
            <a:off x="3329011" y="6689568"/>
            <a:ext cx="28234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+ </a:t>
            </a:r>
          </a:p>
        </p:txBody>
      </p:sp>
      <p:sp>
        <p:nvSpPr>
          <p:cNvPr id="326" name="r"/>
          <p:cNvSpPr txBox="1"/>
          <p:nvPr/>
        </p:nvSpPr>
        <p:spPr>
          <a:xfrm>
            <a:off x="3523573" y="6689568"/>
            <a:ext cx="15895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r</a:t>
            </a:r>
          </a:p>
        </p:txBody>
      </p:sp>
      <p:sp>
        <p:nvSpPr>
          <p:cNvPr id="327" name=") − "/>
          <p:cNvSpPr txBox="1"/>
          <p:nvPr/>
        </p:nvSpPr>
        <p:spPr>
          <a:xfrm>
            <a:off x="3594751" y="6689568"/>
            <a:ext cx="343234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) − </a:t>
            </a:r>
          </a:p>
        </p:txBody>
      </p:sp>
      <p:sp>
        <p:nvSpPr>
          <p:cNvPr id="328" name="F"/>
          <p:cNvSpPr txBox="1"/>
          <p:nvPr/>
        </p:nvSpPr>
        <p:spPr>
          <a:xfrm>
            <a:off x="3850205" y="6689568"/>
            <a:ext cx="199477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F</a:t>
            </a:r>
          </a:p>
        </p:txBody>
      </p:sp>
      <p:sp>
        <p:nvSpPr>
          <p:cNvPr id="329" name="("/>
          <p:cNvSpPr txBox="1"/>
          <p:nvPr/>
        </p:nvSpPr>
        <p:spPr>
          <a:xfrm>
            <a:off x="3961901" y="6689568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(</a:t>
            </a:r>
          </a:p>
        </p:txBody>
      </p:sp>
      <p:sp>
        <p:nvSpPr>
          <p:cNvPr id="330" name="a"/>
          <p:cNvSpPr txBox="1"/>
          <p:nvPr/>
        </p:nvSpPr>
        <p:spPr>
          <a:xfrm>
            <a:off x="4022793" y="6689568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a</a:t>
            </a:r>
          </a:p>
        </p:txBody>
      </p:sp>
      <p:sp>
        <p:nvSpPr>
          <p:cNvPr id="331" name=")"/>
          <p:cNvSpPr txBox="1"/>
          <p:nvPr/>
        </p:nvSpPr>
        <p:spPr>
          <a:xfrm>
            <a:off x="4114230" y="6689568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)</a:t>
            </a:r>
          </a:p>
        </p:txBody>
      </p:sp>
      <p:cxnSp>
        <p:nvCxnSpPr>
          <p:cNvPr id="332" name="line 331"/>
          <p:cNvCxnSpPr/>
          <p:nvPr/>
        </p:nvCxnSpPr>
        <p:spPr>
          <a:xfrm>
            <a:off x="2991835" y="6919990"/>
            <a:ext cx="1256437" cy="0"/>
          </a:xfrm>
          <a:prstGeom prst="line">
            <a:avLst/>
          </a:prstGeom>
          <a:ln w="13167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3" name="1 − "/>
          <p:cNvSpPr txBox="1"/>
          <p:nvPr/>
        </p:nvSpPr>
        <p:spPr>
          <a:xfrm>
            <a:off x="3314595" y="6960222"/>
            <a:ext cx="373779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1 − </a:t>
            </a:r>
          </a:p>
        </p:txBody>
      </p:sp>
      <p:sp>
        <p:nvSpPr>
          <p:cNvPr id="334" name="F"/>
          <p:cNvSpPr txBox="1"/>
          <p:nvPr/>
        </p:nvSpPr>
        <p:spPr>
          <a:xfrm>
            <a:off x="3600594" y="6960222"/>
            <a:ext cx="199477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F</a:t>
            </a:r>
          </a:p>
        </p:txBody>
      </p:sp>
      <p:sp>
        <p:nvSpPr>
          <p:cNvPr id="335" name="("/>
          <p:cNvSpPr txBox="1"/>
          <p:nvPr/>
        </p:nvSpPr>
        <p:spPr>
          <a:xfrm>
            <a:off x="3712291" y="6960222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(</a:t>
            </a:r>
          </a:p>
        </p:txBody>
      </p:sp>
      <p:sp>
        <p:nvSpPr>
          <p:cNvPr id="336" name="a"/>
          <p:cNvSpPr txBox="1"/>
          <p:nvPr/>
        </p:nvSpPr>
        <p:spPr>
          <a:xfrm>
            <a:off x="3773183" y="6960222"/>
            <a:ext cx="179218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a</a:t>
            </a:r>
          </a:p>
        </p:txBody>
      </p:sp>
      <p:sp>
        <p:nvSpPr>
          <p:cNvPr id="337" name=")"/>
          <p:cNvSpPr txBox="1"/>
          <p:nvPr/>
        </p:nvSpPr>
        <p:spPr>
          <a:xfrm>
            <a:off x="3864620" y="6960222"/>
            <a:ext cx="14867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)</a:t>
            </a:r>
          </a:p>
        </p:txBody>
      </p:sp>
      <p:cxnSp>
        <p:nvCxnSpPr>
          <p:cNvPr id="338" name="path 337"/>
          <p:cNvCxnSpPr/>
          <p:nvPr/>
        </p:nvCxnSpPr>
        <p:spPr>
          <a:xfrm>
            <a:off x="4557245" y="6919990"/>
            <a:ext cx="526680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arrowhead 338"/>
          <p:cNvSpPr/>
          <p:nvPr/>
        </p:nvSpPr>
        <p:spPr>
          <a:xfrm>
            <a:off x="4996145" y="68687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τ"/>
          <p:cNvSpPr txBox="1"/>
          <p:nvPr/>
        </p:nvSpPr>
        <p:spPr>
          <a:xfrm>
            <a:off x="5406757" y="6782834"/>
            <a:ext cx="171560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341" name="tool"/>
          <p:cNvSpPr txBox="1"/>
          <p:nvPr/>
        </p:nvSpPr>
        <p:spPr>
          <a:xfrm>
            <a:off x="5497851" y="6916332"/>
            <a:ext cx="323917" cy="1975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tool</a:t>
            </a:r>
          </a:p>
        </p:txBody>
      </p:sp>
      <p:sp>
        <p:nvSpPr>
          <p:cNvPr id="342" name="rect 341"/>
          <p:cNvSpPr/>
          <p:nvPr/>
        </p:nvSpPr>
        <p:spPr>
          <a:xfrm>
            <a:off x="6539610" y="5208280"/>
            <a:ext cx="6393310" cy="1996995"/>
          </a:xfrm>
          <a:prstGeom prst="roundRect">
            <a:avLst>
              <a:gd name="adj" fmla="val 732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 342"/>
          <p:cNvSpPr/>
          <p:nvPr/>
        </p:nvSpPr>
        <p:spPr>
          <a:xfrm>
            <a:off x="6539610" y="5208280"/>
            <a:ext cx="639331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(d) Runtime：成本、时机与物理校验"/>
          <p:cNvSpPr txBox="1"/>
          <p:nvPr/>
        </p:nvSpPr>
        <p:spPr>
          <a:xfrm>
            <a:off x="6642020" y="5216400"/>
            <a:ext cx="3293779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(d) Runtime：成本、时机与物理校验</a:t>
            </a:r>
          </a:p>
        </p:txBody>
      </p:sp>
      <p:sp>
        <p:nvSpPr>
          <p:cNvPr id="345" name="rect 344"/>
          <p:cNvSpPr/>
          <p:nvPr/>
        </p:nvSpPr>
        <p:spPr>
          <a:xfrm>
            <a:off x="6685910" y="5625235"/>
            <a:ext cx="75344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dir"/>
          <p:cNvSpPr txBox="1"/>
          <p:nvPr/>
        </p:nvSpPr>
        <p:spPr>
          <a:xfrm>
            <a:off x="6744430" y="5596633"/>
            <a:ext cx="300372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dir</a:t>
            </a:r>
          </a:p>
        </p:txBody>
      </p:sp>
      <p:sp>
        <p:nvSpPr>
          <p:cNvPr id="347" name="rect 346"/>
          <p:cNvSpPr/>
          <p:nvPr/>
        </p:nvSpPr>
        <p:spPr>
          <a:xfrm>
            <a:off x="7439355" y="5625235"/>
            <a:ext cx="921690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shape"/>
          <p:cNvSpPr txBox="1"/>
          <p:nvPr/>
        </p:nvSpPr>
        <p:spPr>
          <a:xfrm>
            <a:off x="7497875" y="5596633"/>
            <a:ext cx="54108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shape</a:t>
            </a:r>
          </a:p>
        </p:txBody>
      </p:sp>
      <p:sp>
        <p:nvSpPr>
          <p:cNvPr id="349" name="rect 348"/>
          <p:cNvSpPr/>
          <p:nvPr/>
        </p:nvSpPr>
        <p:spPr>
          <a:xfrm>
            <a:off x="8361045" y="5625235"/>
            <a:ext cx="1016785" cy="21213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bytes"/>
          <p:cNvSpPr txBox="1"/>
          <p:nvPr/>
        </p:nvSpPr>
        <p:spPr>
          <a:xfrm>
            <a:off x="8419565" y="5596633"/>
            <a:ext cx="50067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bytes</a:t>
            </a:r>
          </a:p>
        </p:txBody>
      </p:sp>
      <p:sp>
        <p:nvSpPr>
          <p:cNvPr id="351" name="rect 350"/>
          <p:cNvSpPr/>
          <p:nvPr/>
        </p:nvSpPr>
        <p:spPr>
          <a:xfrm>
            <a:off x="6685910" y="5837370"/>
            <a:ext cx="75344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H2D"/>
          <p:cNvSpPr txBox="1"/>
          <p:nvPr/>
        </p:nvSpPr>
        <p:spPr>
          <a:xfrm>
            <a:off x="6744430" y="5808768"/>
            <a:ext cx="39058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sp>
        <p:nvSpPr>
          <p:cNvPr id="353" name="rect 352"/>
          <p:cNvSpPr/>
          <p:nvPr/>
        </p:nvSpPr>
        <p:spPr>
          <a:xfrm>
            <a:off x="7439355" y="5837370"/>
            <a:ext cx="921690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extents"/>
          <p:cNvSpPr txBox="1"/>
          <p:nvPr/>
        </p:nvSpPr>
        <p:spPr>
          <a:xfrm>
            <a:off x="7497875" y="5808768"/>
            <a:ext cx="606516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extents</a:t>
            </a:r>
          </a:p>
        </p:txBody>
      </p:sp>
      <p:sp>
        <p:nvSpPr>
          <p:cNvPr id="355" name="rect 354"/>
          <p:cNvSpPr/>
          <p:nvPr/>
        </p:nvSpPr>
        <p:spPr>
          <a:xfrm>
            <a:off x="8361045" y="5837370"/>
            <a:ext cx="1016785" cy="212135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B"/>
          <p:cNvSpPr txBox="1"/>
          <p:nvPr/>
        </p:nvSpPr>
        <p:spPr>
          <a:xfrm>
            <a:off x="8419565" y="5808768"/>
            <a:ext cx="18870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B</a:t>
            </a:r>
          </a:p>
        </p:txBody>
      </p:sp>
      <p:sp>
        <p:nvSpPr>
          <p:cNvPr id="357" name="submit → ACK"/>
          <p:cNvSpPr txBox="1"/>
          <p:nvPr/>
        </p:nvSpPr>
        <p:spPr>
          <a:xfrm>
            <a:off x="9655800" y="5585002"/>
            <a:ext cx="1101622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submit → ACK</a:t>
            </a:r>
          </a:p>
        </p:txBody>
      </p:sp>
      <p:sp>
        <p:nvSpPr>
          <p:cNvPr id="358" name="enqueue → submit"/>
          <p:cNvSpPr txBox="1"/>
          <p:nvPr/>
        </p:nvSpPr>
        <p:spPr>
          <a:xfrm>
            <a:off x="11206580" y="5585002"/>
            <a:ext cx="1443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enqueue → submit</a:t>
            </a:r>
          </a:p>
        </p:txBody>
      </p:sp>
      <p:sp>
        <p:nvSpPr>
          <p:cNvPr id="359" name="rect 358"/>
          <p:cNvSpPr/>
          <p:nvPr/>
        </p:nvSpPr>
        <p:spPr>
          <a:xfrm>
            <a:off x="9692375" y="6049505"/>
            <a:ext cx="124355" cy="10241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 359"/>
          <p:cNvSpPr/>
          <p:nvPr/>
        </p:nvSpPr>
        <p:spPr>
          <a:xfrm>
            <a:off x="11301675" y="6080228"/>
            <a:ext cx="124355" cy="71687"/>
          </a:xfrm>
          <a:prstGeom prst="rect">
            <a:avLst/>
          </a:prstGeom>
          <a:solidFill>
            <a:srgbClr val="F2BD7D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 360"/>
          <p:cNvSpPr/>
          <p:nvPr/>
        </p:nvSpPr>
        <p:spPr>
          <a:xfrm>
            <a:off x="9875250" y="5969040"/>
            <a:ext cx="124355" cy="18287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 361"/>
          <p:cNvSpPr/>
          <p:nvPr/>
        </p:nvSpPr>
        <p:spPr>
          <a:xfrm>
            <a:off x="11484550" y="6023902"/>
            <a:ext cx="124355" cy="128012"/>
          </a:xfrm>
          <a:prstGeom prst="rect">
            <a:avLst/>
          </a:prstGeom>
          <a:solidFill>
            <a:srgbClr val="F2BD7D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 362"/>
          <p:cNvSpPr/>
          <p:nvPr/>
        </p:nvSpPr>
        <p:spPr>
          <a:xfrm>
            <a:off x="10058125" y="5866630"/>
            <a:ext cx="124355" cy="285285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 363"/>
          <p:cNvSpPr/>
          <p:nvPr/>
        </p:nvSpPr>
        <p:spPr>
          <a:xfrm>
            <a:off x="11667425" y="5952216"/>
            <a:ext cx="124355" cy="199699"/>
          </a:xfrm>
          <a:prstGeom prst="rect">
            <a:avLst/>
          </a:prstGeom>
          <a:solidFill>
            <a:srgbClr val="F2BD7D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 364"/>
          <p:cNvSpPr/>
          <p:nvPr/>
        </p:nvSpPr>
        <p:spPr>
          <a:xfrm>
            <a:off x="10241000" y="5932465"/>
            <a:ext cx="124355" cy="21945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 365"/>
          <p:cNvSpPr/>
          <p:nvPr/>
        </p:nvSpPr>
        <p:spPr>
          <a:xfrm>
            <a:off x="11850300" y="5998300"/>
            <a:ext cx="124355" cy="153615"/>
          </a:xfrm>
          <a:prstGeom prst="rect">
            <a:avLst/>
          </a:prstGeom>
          <a:solidFill>
            <a:srgbClr val="F2BD7D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S"/>
          <p:cNvSpPr txBox="1"/>
          <p:nvPr/>
        </p:nvSpPr>
        <p:spPr>
          <a:xfrm>
            <a:off x="10657955" y="5952581"/>
            <a:ext cx="182875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368" name="90"/>
          <p:cNvSpPr txBox="1"/>
          <p:nvPr/>
        </p:nvSpPr>
        <p:spPr>
          <a:xfrm>
            <a:off x="10760365" y="6058649"/>
            <a:ext cx="212135" cy="1682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90</a:t>
            </a:r>
          </a:p>
        </p:txBody>
      </p:sp>
      <p:sp>
        <p:nvSpPr>
          <p:cNvPr id="369" name="Q"/>
          <p:cNvSpPr txBox="1"/>
          <p:nvPr/>
        </p:nvSpPr>
        <p:spPr>
          <a:xfrm>
            <a:off x="12245310" y="5952581"/>
            <a:ext cx="225136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Q</a:t>
            </a:r>
          </a:p>
        </p:txBody>
      </p:sp>
      <p:sp>
        <p:nvSpPr>
          <p:cNvPr id="370" name="90"/>
          <p:cNvSpPr txBox="1"/>
          <p:nvPr/>
        </p:nvSpPr>
        <p:spPr>
          <a:xfrm>
            <a:off x="12389981" y="6058649"/>
            <a:ext cx="212135" cy="1682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90</a:t>
            </a:r>
          </a:p>
        </p:txBody>
      </p:sp>
      <p:sp>
        <p:nvSpPr>
          <p:cNvPr id="371" name="H"/>
          <p:cNvSpPr txBox="1"/>
          <p:nvPr/>
        </p:nvSpPr>
        <p:spPr>
          <a:xfrm>
            <a:off x="6700540" y="6278099"/>
            <a:ext cx="251539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H</a:t>
            </a:r>
          </a:p>
        </p:txBody>
      </p:sp>
      <p:sp>
        <p:nvSpPr>
          <p:cNvPr id="372" name=" = min("/>
          <p:cNvSpPr txBox="1"/>
          <p:nvPr/>
        </p:nvSpPr>
        <p:spPr>
          <a:xfrm>
            <a:off x="6864299" y="6278099"/>
            <a:ext cx="757360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= min(</a:t>
            </a:r>
          </a:p>
        </p:txBody>
      </p:sp>
      <p:sp>
        <p:nvSpPr>
          <p:cNvPr id="373" name="L"/>
          <p:cNvSpPr txBox="1"/>
          <p:nvPr/>
        </p:nvSpPr>
        <p:spPr>
          <a:xfrm>
            <a:off x="7533879" y="6278099"/>
            <a:ext cx="213907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L</a:t>
            </a:r>
          </a:p>
        </p:txBody>
      </p:sp>
      <p:sp>
        <p:nvSpPr>
          <p:cNvPr id="374" name=", "/>
          <p:cNvSpPr txBox="1"/>
          <p:nvPr/>
        </p:nvSpPr>
        <p:spPr>
          <a:xfrm>
            <a:off x="7660005" y="6278099"/>
            <a:ext cx="201162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, </a:t>
            </a:r>
          </a:p>
        </p:txBody>
      </p:sp>
      <p:sp>
        <p:nvSpPr>
          <p:cNvPr id="375" name="S"/>
          <p:cNvSpPr txBox="1"/>
          <p:nvPr/>
        </p:nvSpPr>
        <p:spPr>
          <a:xfrm>
            <a:off x="7773388" y="6278099"/>
            <a:ext cx="201162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376" name="90"/>
          <p:cNvSpPr txBox="1"/>
          <p:nvPr/>
        </p:nvSpPr>
        <p:spPr>
          <a:xfrm>
            <a:off x="7894085" y="6404282"/>
            <a:ext cx="235909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90</a:t>
            </a:r>
          </a:p>
        </p:txBody>
      </p:sp>
      <p:sp>
        <p:nvSpPr>
          <p:cNvPr id="377" name=" + "/>
          <p:cNvSpPr txBox="1"/>
          <p:nvPr/>
        </p:nvSpPr>
        <p:spPr>
          <a:xfrm>
            <a:off x="8049529" y="6278099"/>
            <a:ext cx="329061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+ </a:t>
            </a:r>
          </a:p>
        </p:txBody>
      </p:sp>
      <p:sp>
        <p:nvSpPr>
          <p:cNvPr id="378" name="Q"/>
          <p:cNvSpPr txBox="1"/>
          <p:nvPr/>
        </p:nvSpPr>
        <p:spPr>
          <a:xfrm>
            <a:off x="8290810" y="6278099"/>
            <a:ext cx="251539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Q</a:t>
            </a:r>
          </a:p>
        </p:txBody>
      </p:sp>
      <p:sp>
        <p:nvSpPr>
          <p:cNvPr id="379" name="90"/>
          <p:cNvSpPr txBox="1"/>
          <p:nvPr/>
        </p:nvSpPr>
        <p:spPr>
          <a:xfrm>
            <a:off x="8461883" y="6404282"/>
            <a:ext cx="235909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90</a:t>
            </a:r>
          </a:p>
        </p:txBody>
      </p:sp>
      <p:sp>
        <p:nvSpPr>
          <p:cNvPr id="380" name=" + "/>
          <p:cNvSpPr txBox="1"/>
          <p:nvPr/>
        </p:nvSpPr>
        <p:spPr>
          <a:xfrm>
            <a:off x="8617327" y="6278099"/>
            <a:ext cx="329061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+ </a:t>
            </a:r>
          </a:p>
        </p:txBody>
      </p:sp>
      <p:sp>
        <p:nvSpPr>
          <p:cNvPr id="381" name="Δ"/>
          <p:cNvSpPr txBox="1"/>
          <p:nvPr/>
        </p:nvSpPr>
        <p:spPr>
          <a:xfrm>
            <a:off x="8858608" y="6278099"/>
            <a:ext cx="220879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Δ</a:t>
            </a:r>
          </a:p>
        </p:txBody>
      </p:sp>
      <p:sp>
        <p:nvSpPr>
          <p:cNvPr id="382" name="obs"/>
          <p:cNvSpPr txBox="1"/>
          <p:nvPr/>
        </p:nvSpPr>
        <p:spPr>
          <a:xfrm>
            <a:off x="8999022" y="6404282"/>
            <a:ext cx="293543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obs</a:t>
            </a:r>
          </a:p>
        </p:txBody>
      </p:sp>
      <p:sp>
        <p:nvSpPr>
          <p:cNvPr id="383" name=" + "/>
          <p:cNvSpPr txBox="1"/>
          <p:nvPr/>
        </p:nvSpPr>
        <p:spPr>
          <a:xfrm>
            <a:off x="9212100" y="6278099"/>
            <a:ext cx="329061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+ </a:t>
            </a:r>
          </a:p>
        </p:txBody>
      </p:sp>
      <p:sp>
        <p:nvSpPr>
          <p:cNvPr id="384" name="ε"/>
          <p:cNvSpPr txBox="1"/>
          <p:nvPr/>
        </p:nvSpPr>
        <p:spPr>
          <a:xfrm>
            <a:off x="9453380" y="6278099"/>
            <a:ext cx="177132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ε</a:t>
            </a:r>
          </a:p>
        </p:txBody>
      </p:sp>
      <p:sp>
        <p:nvSpPr>
          <p:cNvPr id="385" name="early"/>
          <p:cNvSpPr txBox="1"/>
          <p:nvPr/>
        </p:nvSpPr>
        <p:spPr>
          <a:xfrm>
            <a:off x="9550047" y="6404282"/>
            <a:ext cx="383809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early</a:t>
            </a:r>
          </a:p>
        </p:txBody>
      </p:sp>
      <p:sp>
        <p:nvSpPr>
          <p:cNvPr id="386" name=")"/>
          <p:cNvSpPr txBox="1"/>
          <p:nvPr/>
        </p:nvSpPr>
        <p:spPr>
          <a:xfrm>
            <a:off x="9853391" y="6278099"/>
            <a:ext cx="163302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)</a:t>
            </a:r>
          </a:p>
        </p:txBody>
      </p:sp>
      <p:sp>
        <p:nvSpPr>
          <p:cNvPr id="387" name="polygon 386"/>
          <p:cNvSpPr/>
          <p:nvPr/>
        </p:nvSpPr>
        <p:spPr>
          <a:xfrm>
            <a:off x="7841680" y="6700540"/>
            <a:ext cx="1302070" cy="409640"/>
          </a:xfrm>
          <a:custGeom>
            <a:avLst/>
            <a:gdLst/>
            <a:ahLst/>
            <a:cxnLst/>
            <a:rect l="l" t="t" r="r" b="b"/>
            <a:pathLst>
              <a:path w="178" h="56">
                <a:moveTo>
                  <a:pt x="89" y="0"/>
                </a:moveTo>
                <a:lnTo>
                  <a:pt x="178" y="28"/>
                </a:lnTo>
                <a:lnTo>
                  <a:pt x="89" y="56"/>
                </a:lnTo>
                <a:lnTo>
                  <a:pt x="0" y="28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τ"/>
          <p:cNvSpPr txBox="1"/>
          <p:nvPr/>
        </p:nvSpPr>
        <p:spPr>
          <a:xfrm>
            <a:off x="8251334" y="6768204"/>
            <a:ext cx="168931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389" name=" ≤ "/>
          <p:cNvSpPr txBox="1"/>
          <p:nvPr/>
        </p:nvSpPr>
        <p:spPr>
          <a:xfrm>
            <a:off x="8332485" y="6768204"/>
            <a:ext cx="325632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≤ </a:t>
            </a:r>
          </a:p>
        </p:txBody>
      </p:sp>
      <p:sp>
        <p:nvSpPr>
          <p:cNvPr id="390" name="H"/>
          <p:cNvSpPr txBox="1"/>
          <p:nvPr/>
        </p:nvSpPr>
        <p:spPr>
          <a:xfrm>
            <a:off x="8570337" y="6768204"/>
            <a:ext cx="251539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H</a:t>
            </a:r>
          </a:p>
        </p:txBody>
      </p:sp>
      <p:cxnSp>
        <p:nvCxnSpPr>
          <p:cNvPr id="391" name="path 390"/>
          <p:cNvCxnSpPr/>
          <p:nvPr/>
        </p:nvCxnSpPr>
        <p:spPr>
          <a:xfrm>
            <a:off x="9180325" y="6905360"/>
            <a:ext cx="475475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2" name="arrowhead 391"/>
          <p:cNvSpPr/>
          <p:nvPr/>
        </p:nvSpPr>
        <p:spPr>
          <a:xfrm>
            <a:off x="9568020" y="685415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circle 392"/>
          <p:cNvSpPr/>
          <p:nvPr/>
        </p:nvSpPr>
        <p:spPr>
          <a:xfrm>
            <a:off x="9692375" y="6773690"/>
            <a:ext cx="263340" cy="263340"/>
          </a:xfrm>
          <a:prstGeom prst="ellipse">
            <a:avLst/>
          </a:prstGeom>
          <a:solidFill>
            <a:srgbClr val="FFFFFF"/>
          </a:solidFill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path 393"/>
          <p:cNvSpPr/>
          <p:nvPr/>
        </p:nvSpPr>
        <p:spPr>
          <a:xfrm>
            <a:off x="9765525" y="6846840"/>
            <a:ext cx="117040" cy="102410"/>
          </a:xfrm>
          <a:custGeom>
            <a:avLst/>
            <a:gdLst/>
            <a:ahLst/>
            <a:cxnLst/>
            <a:rect l="l" t="t" r="r" b="b"/>
            <a:pathLst>
              <a:path w="16" h="14">
                <a:moveTo>
                  <a:pt x="0" y="14"/>
                </a:moveTo>
                <a:lnTo>
                  <a:pt x="8" y="0"/>
                </a:lnTo>
                <a:lnTo>
                  <a:pt x="16" y="14"/>
                </a:lnTo>
              </a:path>
            </a:pathLst>
          </a:custGeom>
          <a:noFill/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c"/>
          <p:cNvSpPr txBox="1"/>
          <p:nvPr/>
        </p:nvSpPr>
        <p:spPr>
          <a:xfrm>
            <a:off x="10058125" y="6631048"/>
            <a:ext cx="168959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396" name="*"/>
          <p:cNvSpPr txBox="1"/>
          <p:nvPr/>
        </p:nvSpPr>
        <p:spPr>
          <a:xfrm>
            <a:off x="10146619" y="6594472"/>
            <a:ext cx="147214" cy="1627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6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397" name=" / "/>
          <p:cNvSpPr txBox="1"/>
          <p:nvPr/>
        </p:nvSpPr>
        <p:spPr>
          <a:xfrm>
            <a:off x="10213369" y="6631048"/>
            <a:ext cx="230022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/ </a:t>
            </a:r>
          </a:p>
        </p:txBody>
      </p:sp>
      <p:sp>
        <p:nvSpPr>
          <p:cNvPr id="398" name="B"/>
          <p:cNvSpPr txBox="1"/>
          <p:nvPr/>
        </p:nvSpPr>
        <p:spPr>
          <a:xfrm>
            <a:off x="10355611" y="6631048"/>
            <a:ext cx="199477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B</a:t>
            </a:r>
          </a:p>
        </p:txBody>
      </p:sp>
      <p:sp>
        <p:nvSpPr>
          <p:cNvPr id="399" name="path 398"/>
          <p:cNvSpPr/>
          <p:nvPr/>
        </p:nvSpPr>
        <p:spPr>
          <a:xfrm>
            <a:off x="9824045" y="6590815"/>
            <a:ext cx="870485" cy="204820"/>
          </a:xfrm>
          <a:custGeom>
            <a:avLst/>
            <a:gdLst/>
            <a:ahLst/>
            <a:cxnLst/>
            <a:rect l="l" t="t" r="r" b="b"/>
            <a:pathLst>
              <a:path w="119" h="28">
                <a:moveTo>
                  <a:pt x="107" y="28"/>
                </a:moveTo>
                <a:lnTo>
                  <a:pt x="119" y="28"/>
                </a:lnTo>
                <a:lnTo>
                  <a:pt x="119" y="0"/>
                </a:lnTo>
                <a:lnTo>
                  <a:pt x="0" y="0"/>
                </a:lnTo>
                <a:lnTo>
                  <a:pt x="0" y="22"/>
                </a:lnTo>
              </a:path>
            </a:pathLst>
          </a:custGeom>
          <a:noFill/>
          <a:ln w="1243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arrowhead 399"/>
          <p:cNvSpPr/>
          <p:nvPr/>
        </p:nvSpPr>
        <p:spPr>
          <a:xfrm>
            <a:off x="9780155" y="667859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6" y="12"/>
                </a:moveTo>
                <a:lnTo>
                  <a:pt x="0" y="0"/>
                </a:lnTo>
                <a:lnTo>
                  <a:pt x="12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1" name="path 400"/>
          <p:cNvCxnSpPr/>
          <p:nvPr/>
        </p:nvCxnSpPr>
        <p:spPr>
          <a:xfrm>
            <a:off x="9984975" y="6905360"/>
            <a:ext cx="1316700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arrowhead 401"/>
          <p:cNvSpPr/>
          <p:nvPr/>
        </p:nvSpPr>
        <p:spPr>
          <a:xfrm>
            <a:off x="11213895" y="685415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 402"/>
          <p:cNvSpPr/>
          <p:nvPr/>
        </p:nvSpPr>
        <p:spPr>
          <a:xfrm>
            <a:off x="11411400" y="6715170"/>
            <a:ext cx="1353275" cy="402325"/>
          </a:xfrm>
          <a:prstGeom prst="roundRect">
            <a:avLst>
              <a:gd name="adj" fmla="val 5454"/>
            </a:avLst>
          </a:prstGeom>
          <a:solidFill>
            <a:srgbClr val="F5D460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H2D"/>
          <p:cNvSpPr txBox="1"/>
          <p:nvPr/>
        </p:nvSpPr>
        <p:spPr>
          <a:xfrm>
            <a:off x="11848157" y="6704198"/>
            <a:ext cx="479761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cxnSp>
        <p:nvCxnSpPr>
          <p:cNvPr id="405" name="path 404"/>
          <p:cNvCxnSpPr/>
          <p:nvPr/>
        </p:nvCxnSpPr>
        <p:spPr>
          <a:xfrm>
            <a:off x="11550385" y="6968635"/>
            <a:ext cx="1075305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6" name="arrowhead 405"/>
          <p:cNvSpPr/>
          <p:nvPr/>
        </p:nvSpPr>
        <p:spPr>
          <a:xfrm>
            <a:off x="12537910" y="691999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7" name="path 406"/>
          <p:cNvCxnSpPr/>
          <p:nvPr/>
        </p:nvCxnSpPr>
        <p:spPr>
          <a:xfrm flipH="1">
            <a:off x="11550385" y="7045076"/>
            <a:ext cx="1075305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8" name="arrowhead 407"/>
          <p:cNvSpPr/>
          <p:nvPr/>
        </p:nvSpPr>
        <p:spPr>
          <a:xfrm>
            <a:off x="11535755" y="699314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0" y="7"/>
                </a:moveTo>
                <a:lnTo>
                  <a:pt x="14" y="0"/>
                </a:lnTo>
                <a:lnTo>
                  <a:pt x="14" y="14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path 408"/>
          <p:cNvSpPr/>
          <p:nvPr/>
        </p:nvSpPr>
        <p:spPr>
          <a:xfrm>
            <a:off x="6451830" y="5040035"/>
            <a:ext cx="4549930" cy="1865325"/>
          </a:xfrm>
          <a:custGeom>
            <a:avLst/>
            <a:gdLst/>
            <a:ahLst/>
            <a:cxnLst/>
            <a:rect l="l" t="t" r="r" b="b"/>
            <a:pathLst>
              <a:path w="622" h="255">
                <a:moveTo>
                  <a:pt x="622" y="0"/>
                </a:moveTo>
                <a:lnTo>
                  <a:pt x="622" y="11"/>
                </a:lnTo>
                <a:lnTo>
                  <a:pt x="0" y="11"/>
                </a:lnTo>
                <a:lnTo>
                  <a:pt x="0" y="255"/>
                </a:lnTo>
                <a:lnTo>
                  <a:pt x="186" y="255"/>
                </a:lnTo>
              </a:path>
            </a:pathLst>
          </a:custGeom>
          <a:noFill/>
          <a:ln w="14630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arrowhead 409"/>
          <p:cNvSpPr/>
          <p:nvPr/>
        </p:nvSpPr>
        <p:spPr>
          <a:xfrm>
            <a:off x="7724640" y="685415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1" name="line 410"/>
          <p:cNvCxnSpPr/>
          <p:nvPr/>
        </p:nvCxnSpPr>
        <p:spPr>
          <a:xfrm>
            <a:off x="6034875" y="6905360"/>
            <a:ext cx="416955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circle 411"/>
          <p:cNvSpPr/>
          <p:nvPr/>
        </p:nvSpPr>
        <p:spPr>
          <a:xfrm>
            <a:off x="6422570" y="6876100"/>
            <a:ext cx="58520" cy="58520"/>
          </a:xfrm>
          <a:prstGeom prst="ellipse">
            <a:avLst/>
          </a:prstGeom>
          <a:solidFill>
            <a:srgbClr val="BF3335"/>
          </a:solidFill>
          <a:ln w="7315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3" name="line 412"/>
          <p:cNvCxnSpPr/>
          <p:nvPr/>
        </p:nvCxnSpPr>
        <p:spPr>
          <a:xfrm>
            <a:off x="8485400" y="7527135"/>
            <a:ext cx="0" cy="1177715"/>
          </a:xfrm>
          <a:prstGeom prst="line">
            <a:avLst/>
          </a:prstGeom>
          <a:ln w="12435">
            <a:solidFill>
              <a:srgbClr val="9696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RETURN / TOOL_END"/>
          <p:cNvSpPr txBox="1"/>
          <p:nvPr/>
        </p:nvSpPr>
        <p:spPr>
          <a:xfrm>
            <a:off x="8573180" y="7309514"/>
            <a:ext cx="174517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RETURN / TOOL_END</a:t>
            </a:r>
          </a:p>
        </p:txBody>
      </p:sp>
      <p:cxnSp>
        <p:nvCxnSpPr>
          <p:cNvPr id="415" name="line 414"/>
          <p:cNvCxnSpPr/>
          <p:nvPr/>
        </p:nvCxnSpPr>
        <p:spPr>
          <a:xfrm>
            <a:off x="6583500" y="7519820"/>
            <a:ext cx="1872640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line 415"/>
          <p:cNvCxnSpPr/>
          <p:nvPr/>
        </p:nvCxnSpPr>
        <p:spPr>
          <a:xfrm>
            <a:off x="6583500" y="7475930"/>
            <a:ext cx="0" cy="80465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7" name="Δ"/>
          <p:cNvSpPr txBox="1"/>
          <p:nvPr/>
        </p:nvSpPr>
        <p:spPr>
          <a:xfrm>
            <a:off x="7377092" y="7304028"/>
            <a:ext cx="205391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BF3335"/>
                </a:solidFill>
                <a:latin typeface="Liberation Serif"/>
                <a:ea typeface="Liberation Serif"/>
                <a:effectLst/>
              </a:rPr>
              <a:t>Δ</a:t>
            </a:r>
          </a:p>
        </p:txBody>
      </p:sp>
      <p:sp>
        <p:nvSpPr>
          <p:cNvPr id="418" name="t"/>
          <p:cNvSpPr txBox="1"/>
          <p:nvPr/>
        </p:nvSpPr>
        <p:spPr>
          <a:xfrm>
            <a:off x="7494703" y="7304028"/>
            <a:ext cx="138585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BF3335"/>
                </a:solidFill>
                <a:latin typeface="Liberation Serif"/>
                <a:ea typeface="Liberation Serif"/>
                <a:effectLst/>
              </a:rPr>
              <a:t>t</a:t>
            </a:r>
          </a:p>
        </p:txBody>
      </p:sp>
      <p:sp>
        <p:nvSpPr>
          <p:cNvPr id="419" name="child / tool"/>
          <p:cNvSpPr txBox="1"/>
          <p:nvPr/>
        </p:nvSpPr>
        <p:spPr>
          <a:xfrm>
            <a:off x="475475" y="7561881"/>
            <a:ext cx="1084420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child / tool</a:t>
            </a:r>
          </a:p>
        </p:txBody>
      </p:sp>
      <p:cxnSp>
        <p:nvCxnSpPr>
          <p:cNvPr id="420" name="line 419"/>
          <p:cNvCxnSpPr/>
          <p:nvPr/>
        </p:nvCxnSpPr>
        <p:spPr>
          <a:xfrm>
            <a:off x="2633400" y="7724640"/>
            <a:ext cx="1024100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1" name="预取"/>
          <p:cNvSpPr txBox="1"/>
          <p:nvPr/>
        </p:nvSpPr>
        <p:spPr>
          <a:xfrm>
            <a:off x="475475" y="7986151"/>
            <a:ext cx="468160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预取</a:t>
            </a:r>
          </a:p>
        </p:txBody>
      </p:sp>
      <p:cxnSp>
        <p:nvCxnSpPr>
          <p:cNvPr id="422" name="line 421"/>
          <p:cNvCxnSpPr/>
          <p:nvPr/>
        </p:nvCxnSpPr>
        <p:spPr>
          <a:xfrm>
            <a:off x="2633400" y="8148910"/>
            <a:ext cx="1024100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响应式"/>
          <p:cNvSpPr txBox="1"/>
          <p:nvPr/>
        </p:nvSpPr>
        <p:spPr>
          <a:xfrm>
            <a:off x="475475" y="8410421"/>
            <a:ext cx="658350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响应式</a:t>
            </a:r>
          </a:p>
        </p:txBody>
      </p:sp>
      <p:cxnSp>
        <p:nvCxnSpPr>
          <p:cNvPr id="424" name="line 423"/>
          <p:cNvCxnSpPr/>
          <p:nvPr/>
        </p:nvCxnSpPr>
        <p:spPr>
          <a:xfrm>
            <a:off x="2633400" y="8573180"/>
            <a:ext cx="1024100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rect 424"/>
          <p:cNvSpPr/>
          <p:nvPr/>
        </p:nvSpPr>
        <p:spPr>
          <a:xfrm>
            <a:off x="2633400" y="7600285"/>
            <a:ext cx="5852000" cy="248710"/>
          </a:xfrm>
          <a:prstGeom prst="roundRect">
            <a:avLst>
              <a:gd name="adj" fmla="val 2941"/>
            </a:avLst>
          </a:prstGeom>
          <a:solidFill>
            <a:srgbClr val="F2BD7D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decode / tool"/>
          <p:cNvSpPr txBox="1"/>
          <p:nvPr/>
        </p:nvSpPr>
        <p:spPr>
          <a:xfrm>
            <a:off x="4544615" y="7571025"/>
            <a:ext cx="1210290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decode / tool</a:t>
            </a:r>
          </a:p>
        </p:txBody>
      </p:sp>
      <p:sp>
        <p:nvSpPr>
          <p:cNvPr id="427" name="rect 426"/>
          <p:cNvSpPr/>
          <p:nvPr/>
        </p:nvSpPr>
        <p:spPr>
          <a:xfrm>
            <a:off x="6583500" y="8024555"/>
            <a:ext cx="2926000" cy="248710"/>
          </a:xfrm>
          <a:prstGeom prst="roundRect">
            <a:avLst>
              <a:gd name="adj" fmla="val 2941"/>
            </a:avLst>
          </a:prstGeom>
          <a:solidFill>
            <a:srgbClr val="F5D460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H2D"/>
          <p:cNvSpPr txBox="1"/>
          <p:nvPr/>
        </p:nvSpPr>
        <p:spPr>
          <a:xfrm>
            <a:off x="7676092" y="7995295"/>
            <a:ext cx="448215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sp>
        <p:nvSpPr>
          <p:cNvPr id="429" name="rect 428"/>
          <p:cNvSpPr/>
          <p:nvPr/>
        </p:nvSpPr>
        <p:spPr>
          <a:xfrm>
            <a:off x="9509500" y="8024555"/>
            <a:ext cx="1170400" cy="248710"/>
          </a:xfrm>
          <a:prstGeom prst="roundRect">
            <a:avLst>
              <a:gd name="adj" fmla="val 2941"/>
            </a:avLst>
          </a:prstGeom>
          <a:solidFill>
            <a:srgbClr val="DDDDDD"/>
          </a:solidFill>
          <a:ln w="9509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 429"/>
          <p:cNvSpPr/>
          <p:nvPr/>
        </p:nvSpPr>
        <p:spPr>
          <a:xfrm>
            <a:off x="10679900" y="8024555"/>
            <a:ext cx="2194500" cy="248710"/>
          </a:xfrm>
          <a:prstGeom prst="roundRect">
            <a:avLst>
              <a:gd name="adj" fmla="val 2941"/>
            </a:avLst>
          </a:prstGeom>
          <a:solidFill>
            <a:srgbClr val="A9CEE8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PU"/>
          <p:cNvSpPr txBox="1"/>
          <p:nvPr/>
        </p:nvSpPr>
        <p:spPr>
          <a:xfrm>
            <a:off x="11546456" y="7995295"/>
            <a:ext cx="461388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GPU</a:t>
            </a:r>
          </a:p>
        </p:txBody>
      </p:sp>
      <p:sp>
        <p:nvSpPr>
          <p:cNvPr id="432" name="ACK"/>
          <p:cNvSpPr txBox="1"/>
          <p:nvPr/>
        </p:nvSpPr>
        <p:spPr>
          <a:xfrm>
            <a:off x="9538760" y="7794132"/>
            <a:ext cx="37675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ACK</a:t>
            </a:r>
          </a:p>
        </p:txBody>
      </p:sp>
      <p:sp>
        <p:nvSpPr>
          <p:cNvPr id="433" name="首次复用"/>
          <p:cNvSpPr txBox="1"/>
          <p:nvPr/>
        </p:nvSpPr>
        <p:spPr>
          <a:xfrm>
            <a:off x="10731105" y="7794132"/>
            <a:ext cx="70224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首次复用</a:t>
            </a:r>
          </a:p>
        </p:txBody>
      </p:sp>
      <p:sp>
        <p:nvSpPr>
          <p:cNvPr id="434" name="rect 433"/>
          <p:cNvSpPr/>
          <p:nvPr/>
        </p:nvSpPr>
        <p:spPr>
          <a:xfrm>
            <a:off x="8485400" y="8448825"/>
            <a:ext cx="2926000" cy="248710"/>
          </a:xfrm>
          <a:prstGeom prst="roundRect">
            <a:avLst>
              <a:gd name="adj" fmla="val 2941"/>
            </a:avLst>
          </a:prstGeom>
          <a:solidFill>
            <a:srgbClr val="F5D460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H2D"/>
          <p:cNvSpPr txBox="1"/>
          <p:nvPr/>
        </p:nvSpPr>
        <p:spPr>
          <a:xfrm>
            <a:off x="9724292" y="8419565"/>
            <a:ext cx="448215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sp>
        <p:nvSpPr>
          <p:cNvPr id="436" name="rect 435"/>
          <p:cNvSpPr/>
          <p:nvPr/>
        </p:nvSpPr>
        <p:spPr>
          <a:xfrm>
            <a:off x="11411400" y="8448825"/>
            <a:ext cx="1463000" cy="248710"/>
          </a:xfrm>
          <a:prstGeom prst="roundRect">
            <a:avLst>
              <a:gd name="adj" fmla="val 2941"/>
            </a:avLst>
          </a:prstGeom>
          <a:solidFill>
            <a:srgbClr val="A9CEE8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PU"/>
          <p:cNvSpPr txBox="1"/>
          <p:nvPr/>
        </p:nvSpPr>
        <p:spPr>
          <a:xfrm>
            <a:off x="11912206" y="8419565"/>
            <a:ext cx="461388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工作流感知的 KV 生命周期与恢复感知准入"/>
          <p:cNvSpPr txBox="1"/>
          <p:nvPr/>
        </p:nvSpPr>
        <p:spPr>
          <a:xfrm>
            <a:off x="292600" y="58520"/>
            <a:ext cx="5159847" cy="422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31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工作流感知的 KV 生命周期与恢复感知准入</a:t>
            </a:r>
          </a:p>
        </p:txBody>
      </p:sp>
      <p:sp>
        <p:nvSpPr>
          <p:cNvPr id="3" name="稳定 FULL 前缀 · checkpoint 状态 · 缺失页恢复 · child → parent 容量交接"/>
          <p:cNvSpPr txBox="1"/>
          <p:nvPr/>
        </p:nvSpPr>
        <p:spPr>
          <a:xfrm>
            <a:off x="292600" y="438900"/>
            <a:ext cx="6170574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稳定 FULL 前缀 · checkpoint 状态 · 缺失页恢复 · child → parent 容量交接</a:t>
            </a:r>
          </a:p>
        </p:txBody>
      </p:sp>
      <p:cxnSp>
        <p:nvCxnSpPr>
          <p:cNvPr id="4" name="line 3"/>
          <p:cNvCxnSpPr/>
          <p:nvPr/>
        </p:nvCxnSpPr>
        <p:spPr>
          <a:xfrm>
            <a:off x="292600" y="790020"/>
            <a:ext cx="12581800" cy="0"/>
          </a:xfrm>
          <a:prstGeom prst="line">
            <a:avLst/>
          </a:prstGeom>
          <a:ln w="11704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4"/>
          <p:cNvSpPr/>
          <p:nvPr/>
        </p:nvSpPr>
        <p:spPr>
          <a:xfrm>
            <a:off x="292600" y="965580"/>
            <a:ext cx="7607600" cy="2084775"/>
          </a:xfrm>
          <a:prstGeom prst="roundRect">
            <a:avLst>
              <a:gd name="adj" fmla="val 701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 5"/>
          <p:cNvSpPr/>
          <p:nvPr/>
        </p:nvSpPr>
        <p:spPr>
          <a:xfrm>
            <a:off x="292600" y="965580"/>
            <a:ext cx="760760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(a) 稳定 FULL：增量 PREPARE_HOST"/>
          <p:cNvSpPr txBox="1"/>
          <p:nvPr/>
        </p:nvSpPr>
        <p:spPr>
          <a:xfrm>
            <a:off x="395010" y="973700"/>
            <a:ext cx="3387588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(a) 稳定 FULL：增量 PREPARE_HOST</a:t>
            </a:r>
          </a:p>
        </p:txBody>
      </p:sp>
      <p:sp>
        <p:nvSpPr>
          <p:cNvPr id="8" name="HBM"/>
          <p:cNvSpPr txBox="1"/>
          <p:nvPr/>
        </p:nvSpPr>
        <p:spPr>
          <a:xfrm>
            <a:off x="497420" y="1547122"/>
            <a:ext cx="556997" cy="3273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HBM</a:t>
            </a:r>
          </a:p>
        </p:txBody>
      </p:sp>
      <p:sp>
        <p:nvSpPr>
          <p:cNvPr id="9" name="Host"/>
          <p:cNvSpPr txBox="1"/>
          <p:nvPr/>
        </p:nvSpPr>
        <p:spPr>
          <a:xfrm>
            <a:off x="497420" y="2154268"/>
            <a:ext cx="552911" cy="3273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Host</a:t>
            </a:r>
          </a:p>
        </p:txBody>
      </p:sp>
      <p:sp>
        <p:nvSpPr>
          <p:cNvPr id="10" name="path 9"/>
          <p:cNvSpPr/>
          <p:nvPr/>
        </p:nvSpPr>
        <p:spPr>
          <a:xfrm>
            <a:off x="1558095" y="1477630"/>
            <a:ext cx="1097250" cy="51205"/>
          </a:xfrm>
          <a:custGeom>
            <a:avLst/>
            <a:gdLst/>
            <a:ahLst/>
            <a:cxnLst/>
            <a:rect l="l" t="t" r="r" b="b"/>
            <a:pathLst>
              <a:path w="150" h="7">
                <a:moveTo>
                  <a:pt x="0" y="7"/>
                </a:moveTo>
                <a:lnTo>
                  <a:pt x="0" y="0"/>
                </a:lnTo>
                <a:lnTo>
                  <a:pt x="150" y="0"/>
                </a:lnTo>
                <a:lnTo>
                  <a:pt x="150" y="7"/>
                </a:lnTo>
              </a:path>
            </a:pathLst>
          </a:custGeom>
          <a:noFill/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"/>
          <p:cNvSpPr txBox="1"/>
          <p:nvPr/>
        </p:nvSpPr>
        <p:spPr>
          <a:xfrm>
            <a:off x="2032098" y="1254522"/>
            <a:ext cx="165702" cy="2249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e</a:t>
            </a:r>
          </a:p>
        </p:txBody>
      </p:sp>
      <p:sp>
        <p:nvSpPr>
          <p:cNvPr id="12" name="0"/>
          <p:cNvSpPr txBox="1"/>
          <p:nvPr/>
        </p:nvSpPr>
        <p:spPr>
          <a:xfrm>
            <a:off x="2117335" y="1353275"/>
            <a:ext cx="144471" cy="1572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0</a:t>
            </a:r>
          </a:p>
        </p:txBody>
      </p:sp>
      <p:sp>
        <p:nvSpPr>
          <p:cNvPr id="13" name="path 12"/>
          <p:cNvSpPr/>
          <p:nvPr/>
        </p:nvSpPr>
        <p:spPr>
          <a:xfrm>
            <a:off x="2816275" y="1477630"/>
            <a:ext cx="1097250" cy="51205"/>
          </a:xfrm>
          <a:custGeom>
            <a:avLst/>
            <a:gdLst/>
            <a:ahLst/>
            <a:cxnLst/>
            <a:rect l="l" t="t" r="r" b="b"/>
            <a:pathLst>
              <a:path w="150" h="7">
                <a:moveTo>
                  <a:pt x="0" y="7"/>
                </a:moveTo>
                <a:lnTo>
                  <a:pt x="0" y="0"/>
                </a:lnTo>
                <a:lnTo>
                  <a:pt x="150" y="0"/>
                </a:lnTo>
                <a:lnTo>
                  <a:pt x="150" y="7"/>
                </a:lnTo>
              </a:path>
            </a:pathLst>
          </a:custGeom>
          <a:noFill/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"/>
          <p:cNvSpPr txBox="1"/>
          <p:nvPr/>
        </p:nvSpPr>
        <p:spPr>
          <a:xfrm>
            <a:off x="3290278" y="1254522"/>
            <a:ext cx="165702" cy="2249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e</a:t>
            </a:r>
          </a:p>
        </p:txBody>
      </p:sp>
      <p:sp>
        <p:nvSpPr>
          <p:cNvPr id="15" name="1"/>
          <p:cNvSpPr txBox="1"/>
          <p:nvPr/>
        </p:nvSpPr>
        <p:spPr>
          <a:xfrm>
            <a:off x="3375515" y="1353275"/>
            <a:ext cx="144471" cy="1572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1</a:t>
            </a:r>
          </a:p>
        </p:txBody>
      </p:sp>
      <p:sp>
        <p:nvSpPr>
          <p:cNvPr id="16" name="path 15"/>
          <p:cNvSpPr/>
          <p:nvPr/>
        </p:nvSpPr>
        <p:spPr>
          <a:xfrm>
            <a:off x="4074455" y="1477630"/>
            <a:ext cx="1097250" cy="51205"/>
          </a:xfrm>
          <a:custGeom>
            <a:avLst/>
            <a:gdLst/>
            <a:ahLst/>
            <a:cxnLst/>
            <a:rect l="l" t="t" r="r" b="b"/>
            <a:pathLst>
              <a:path w="150" h="7">
                <a:moveTo>
                  <a:pt x="0" y="7"/>
                </a:moveTo>
                <a:lnTo>
                  <a:pt x="0" y="0"/>
                </a:lnTo>
                <a:lnTo>
                  <a:pt x="150" y="0"/>
                </a:lnTo>
                <a:lnTo>
                  <a:pt x="150" y="7"/>
                </a:lnTo>
              </a:path>
            </a:pathLst>
          </a:custGeom>
          <a:noFill/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"/>
          <p:cNvSpPr txBox="1"/>
          <p:nvPr/>
        </p:nvSpPr>
        <p:spPr>
          <a:xfrm>
            <a:off x="4548458" y="1254522"/>
            <a:ext cx="165702" cy="2249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e</a:t>
            </a:r>
          </a:p>
        </p:txBody>
      </p:sp>
      <p:sp>
        <p:nvSpPr>
          <p:cNvPr id="18" name="2"/>
          <p:cNvSpPr txBox="1"/>
          <p:nvPr/>
        </p:nvSpPr>
        <p:spPr>
          <a:xfrm>
            <a:off x="4633695" y="1353275"/>
            <a:ext cx="144471" cy="1572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2</a:t>
            </a:r>
          </a:p>
        </p:txBody>
      </p:sp>
      <p:sp>
        <p:nvSpPr>
          <p:cNvPr id="19" name="path 18"/>
          <p:cNvSpPr/>
          <p:nvPr/>
        </p:nvSpPr>
        <p:spPr>
          <a:xfrm>
            <a:off x="5332635" y="1477630"/>
            <a:ext cx="1097250" cy="51205"/>
          </a:xfrm>
          <a:custGeom>
            <a:avLst/>
            <a:gdLst/>
            <a:ahLst/>
            <a:cxnLst/>
            <a:rect l="l" t="t" r="r" b="b"/>
            <a:pathLst>
              <a:path w="150" h="7">
                <a:moveTo>
                  <a:pt x="0" y="7"/>
                </a:moveTo>
                <a:lnTo>
                  <a:pt x="0" y="0"/>
                </a:lnTo>
                <a:lnTo>
                  <a:pt x="150" y="0"/>
                </a:lnTo>
                <a:lnTo>
                  <a:pt x="150" y="7"/>
                </a:lnTo>
              </a:path>
            </a:pathLst>
          </a:custGeom>
          <a:noFill/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"/>
          <p:cNvSpPr txBox="1"/>
          <p:nvPr/>
        </p:nvSpPr>
        <p:spPr>
          <a:xfrm>
            <a:off x="5806638" y="1254522"/>
            <a:ext cx="165702" cy="2249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e</a:t>
            </a:r>
          </a:p>
        </p:txBody>
      </p:sp>
      <p:sp>
        <p:nvSpPr>
          <p:cNvPr id="21" name="3"/>
          <p:cNvSpPr txBox="1"/>
          <p:nvPr/>
        </p:nvSpPr>
        <p:spPr>
          <a:xfrm>
            <a:off x="5891875" y="1353275"/>
            <a:ext cx="144471" cy="1572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3</a:t>
            </a:r>
          </a:p>
        </p:txBody>
      </p:sp>
      <p:sp>
        <p:nvSpPr>
          <p:cNvPr id="22" name="rect 21"/>
          <p:cNvSpPr/>
          <p:nvPr/>
        </p:nvSpPr>
        <p:spPr>
          <a:xfrm>
            <a:off x="1558095" y="1558095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0"/>
          <p:cNvSpPr txBox="1"/>
          <p:nvPr/>
        </p:nvSpPr>
        <p:spPr>
          <a:xfrm>
            <a:off x="1653504" y="159203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24" name="rect 23"/>
          <p:cNvSpPr/>
          <p:nvPr/>
        </p:nvSpPr>
        <p:spPr>
          <a:xfrm>
            <a:off x="1558095" y="2165240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0"/>
          <p:cNvSpPr txBox="1"/>
          <p:nvPr/>
        </p:nvSpPr>
        <p:spPr>
          <a:xfrm>
            <a:off x="1653504" y="219918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26" name="rect 25"/>
          <p:cNvSpPr/>
          <p:nvPr/>
        </p:nvSpPr>
        <p:spPr>
          <a:xfrm>
            <a:off x="2187185" y="1558095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1"/>
          <p:cNvSpPr txBox="1"/>
          <p:nvPr/>
        </p:nvSpPr>
        <p:spPr>
          <a:xfrm>
            <a:off x="2282594" y="159203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28" name="rect 27"/>
          <p:cNvSpPr/>
          <p:nvPr/>
        </p:nvSpPr>
        <p:spPr>
          <a:xfrm>
            <a:off x="2187185" y="2165240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1"/>
          <p:cNvSpPr txBox="1"/>
          <p:nvPr/>
        </p:nvSpPr>
        <p:spPr>
          <a:xfrm>
            <a:off x="2282594" y="219918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30" name="rect 29"/>
          <p:cNvSpPr/>
          <p:nvPr/>
        </p:nvSpPr>
        <p:spPr>
          <a:xfrm>
            <a:off x="2816275" y="1558095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p2"/>
          <p:cNvSpPr txBox="1"/>
          <p:nvPr/>
        </p:nvSpPr>
        <p:spPr>
          <a:xfrm>
            <a:off x="2911684" y="159203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sp>
        <p:nvSpPr>
          <p:cNvPr id="32" name="rect 31"/>
          <p:cNvSpPr/>
          <p:nvPr/>
        </p:nvSpPr>
        <p:spPr>
          <a:xfrm>
            <a:off x="2816275" y="2165240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2"/>
          <p:cNvSpPr txBox="1"/>
          <p:nvPr/>
        </p:nvSpPr>
        <p:spPr>
          <a:xfrm>
            <a:off x="2911684" y="219918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sp>
        <p:nvSpPr>
          <p:cNvPr id="34" name="rect 33"/>
          <p:cNvSpPr/>
          <p:nvPr/>
        </p:nvSpPr>
        <p:spPr>
          <a:xfrm>
            <a:off x="3445365" y="1558095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p3"/>
          <p:cNvSpPr txBox="1"/>
          <p:nvPr/>
        </p:nvSpPr>
        <p:spPr>
          <a:xfrm>
            <a:off x="3540774" y="159203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sp>
        <p:nvSpPr>
          <p:cNvPr id="36" name="rect 35"/>
          <p:cNvSpPr/>
          <p:nvPr/>
        </p:nvSpPr>
        <p:spPr>
          <a:xfrm>
            <a:off x="3445365" y="2165240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3"/>
          <p:cNvSpPr txBox="1"/>
          <p:nvPr/>
        </p:nvSpPr>
        <p:spPr>
          <a:xfrm>
            <a:off x="3540774" y="219918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sp>
        <p:nvSpPr>
          <p:cNvPr id="38" name="rect 37"/>
          <p:cNvSpPr/>
          <p:nvPr/>
        </p:nvSpPr>
        <p:spPr>
          <a:xfrm>
            <a:off x="4074455" y="1558095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4"/>
          <p:cNvSpPr txBox="1"/>
          <p:nvPr/>
        </p:nvSpPr>
        <p:spPr>
          <a:xfrm>
            <a:off x="4169864" y="159203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p4</a:t>
            </a:r>
          </a:p>
        </p:txBody>
      </p:sp>
      <p:sp>
        <p:nvSpPr>
          <p:cNvPr id="40" name="rect 39"/>
          <p:cNvSpPr/>
          <p:nvPr/>
        </p:nvSpPr>
        <p:spPr>
          <a:xfrm>
            <a:off x="4074455" y="2165240"/>
            <a:ext cx="468160" cy="32186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p4"/>
          <p:cNvSpPr txBox="1"/>
          <p:nvPr/>
        </p:nvSpPr>
        <p:spPr>
          <a:xfrm>
            <a:off x="4169864" y="219918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p4</a:t>
            </a:r>
          </a:p>
        </p:txBody>
      </p:sp>
      <p:cxnSp>
        <p:nvCxnSpPr>
          <p:cNvPr id="42" name="path 41"/>
          <p:cNvCxnSpPr/>
          <p:nvPr/>
        </p:nvCxnSpPr>
        <p:spPr>
          <a:xfrm>
            <a:off x="4308535" y="1894585"/>
            <a:ext cx="0" cy="23408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head 42"/>
          <p:cNvSpPr/>
          <p:nvPr/>
        </p:nvSpPr>
        <p:spPr>
          <a:xfrm>
            <a:off x="4257330" y="20408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 43"/>
          <p:cNvSpPr/>
          <p:nvPr/>
        </p:nvSpPr>
        <p:spPr>
          <a:xfrm>
            <a:off x="4703545" y="1558095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5"/>
          <p:cNvSpPr txBox="1"/>
          <p:nvPr/>
        </p:nvSpPr>
        <p:spPr>
          <a:xfrm>
            <a:off x="4798954" y="159203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sp>
        <p:nvSpPr>
          <p:cNvPr id="46" name="rect 45"/>
          <p:cNvSpPr/>
          <p:nvPr/>
        </p:nvSpPr>
        <p:spPr>
          <a:xfrm>
            <a:off x="4703545" y="2165240"/>
            <a:ext cx="468160" cy="32186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p5"/>
          <p:cNvSpPr txBox="1"/>
          <p:nvPr/>
        </p:nvSpPr>
        <p:spPr>
          <a:xfrm>
            <a:off x="4798954" y="219918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cxnSp>
        <p:nvCxnSpPr>
          <p:cNvPr id="48" name="path 47"/>
          <p:cNvCxnSpPr/>
          <p:nvPr/>
        </p:nvCxnSpPr>
        <p:spPr>
          <a:xfrm>
            <a:off x="4937625" y="1894585"/>
            <a:ext cx="0" cy="23408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arrowhead 48"/>
          <p:cNvSpPr/>
          <p:nvPr/>
        </p:nvSpPr>
        <p:spPr>
          <a:xfrm>
            <a:off x="4886420" y="20408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 49"/>
          <p:cNvSpPr/>
          <p:nvPr/>
        </p:nvSpPr>
        <p:spPr>
          <a:xfrm>
            <a:off x="5332635" y="1558095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6"/>
          <p:cNvSpPr txBox="1"/>
          <p:nvPr/>
        </p:nvSpPr>
        <p:spPr>
          <a:xfrm>
            <a:off x="5428044" y="159203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p6</a:t>
            </a:r>
          </a:p>
        </p:txBody>
      </p:sp>
      <p:sp>
        <p:nvSpPr>
          <p:cNvPr id="52" name="rect 51"/>
          <p:cNvSpPr/>
          <p:nvPr/>
        </p:nvSpPr>
        <p:spPr>
          <a:xfrm>
            <a:off x="5332635" y="2165240"/>
            <a:ext cx="468160" cy="32186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p6"/>
          <p:cNvSpPr txBox="1"/>
          <p:nvPr/>
        </p:nvSpPr>
        <p:spPr>
          <a:xfrm>
            <a:off x="5428044" y="219918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p6</a:t>
            </a:r>
          </a:p>
        </p:txBody>
      </p:sp>
      <p:cxnSp>
        <p:nvCxnSpPr>
          <p:cNvPr id="54" name="path 53"/>
          <p:cNvCxnSpPr/>
          <p:nvPr/>
        </p:nvCxnSpPr>
        <p:spPr>
          <a:xfrm>
            <a:off x="5566715" y="1894585"/>
            <a:ext cx="0" cy="23408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arrowhead 54"/>
          <p:cNvSpPr/>
          <p:nvPr/>
        </p:nvSpPr>
        <p:spPr>
          <a:xfrm>
            <a:off x="5515510" y="20408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 55"/>
          <p:cNvSpPr/>
          <p:nvPr/>
        </p:nvSpPr>
        <p:spPr>
          <a:xfrm>
            <a:off x="5961725" y="1558095"/>
            <a:ext cx="468160" cy="321860"/>
          </a:xfrm>
          <a:prstGeom prst="roundRect">
            <a:avLst>
              <a:gd name="adj" fmla="val 2272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p7"/>
          <p:cNvSpPr txBox="1"/>
          <p:nvPr/>
        </p:nvSpPr>
        <p:spPr>
          <a:xfrm>
            <a:off x="6057134" y="159203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p7</a:t>
            </a:r>
          </a:p>
        </p:txBody>
      </p:sp>
      <p:sp>
        <p:nvSpPr>
          <p:cNvPr id="58" name="rect 57"/>
          <p:cNvSpPr/>
          <p:nvPr/>
        </p:nvSpPr>
        <p:spPr>
          <a:xfrm>
            <a:off x="5961725" y="2165240"/>
            <a:ext cx="468160" cy="32186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p7"/>
          <p:cNvSpPr txBox="1"/>
          <p:nvPr/>
        </p:nvSpPr>
        <p:spPr>
          <a:xfrm>
            <a:off x="6057134" y="219918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p7</a:t>
            </a:r>
          </a:p>
        </p:txBody>
      </p:sp>
      <p:cxnSp>
        <p:nvCxnSpPr>
          <p:cNvPr id="60" name="path 59"/>
          <p:cNvCxnSpPr/>
          <p:nvPr/>
        </p:nvCxnSpPr>
        <p:spPr>
          <a:xfrm>
            <a:off x="6195805" y="1894585"/>
            <a:ext cx="0" cy="23408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arrowhead 60"/>
          <p:cNvSpPr/>
          <p:nvPr/>
        </p:nvSpPr>
        <p:spPr>
          <a:xfrm>
            <a:off x="6144600" y="20408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ΔFULL"/>
          <p:cNvSpPr txBox="1"/>
          <p:nvPr/>
        </p:nvSpPr>
        <p:spPr>
          <a:xfrm>
            <a:off x="7080920" y="1914701"/>
            <a:ext cx="685581" cy="2413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ΔFULL</a:t>
            </a:r>
          </a:p>
        </p:txBody>
      </p:sp>
      <p:sp>
        <p:nvSpPr>
          <p:cNvPr id="63" name="Host 有效位"/>
          <p:cNvSpPr txBox="1"/>
          <p:nvPr/>
        </p:nvSpPr>
        <p:spPr>
          <a:xfrm>
            <a:off x="497420" y="2657174"/>
            <a:ext cx="972552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Host 有效位</a:t>
            </a:r>
          </a:p>
        </p:txBody>
      </p:sp>
      <p:sp>
        <p:nvSpPr>
          <p:cNvPr id="64" name="rect 63"/>
          <p:cNvSpPr/>
          <p:nvPr/>
        </p:nvSpPr>
        <p:spPr>
          <a:xfrm>
            <a:off x="1558095" y="2648030"/>
            <a:ext cx="46816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1"/>
          <p:cNvSpPr txBox="1"/>
          <p:nvPr/>
        </p:nvSpPr>
        <p:spPr>
          <a:xfrm>
            <a:off x="1703509" y="2639413"/>
            <a:ext cx="17733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1</a:t>
            </a:r>
          </a:p>
        </p:txBody>
      </p:sp>
      <p:sp>
        <p:nvSpPr>
          <p:cNvPr id="66" name="rect 65"/>
          <p:cNvSpPr/>
          <p:nvPr/>
        </p:nvSpPr>
        <p:spPr>
          <a:xfrm>
            <a:off x="2187185" y="2648030"/>
            <a:ext cx="46816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1"/>
          <p:cNvSpPr txBox="1"/>
          <p:nvPr/>
        </p:nvSpPr>
        <p:spPr>
          <a:xfrm>
            <a:off x="2332599" y="2639413"/>
            <a:ext cx="17733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1</a:t>
            </a:r>
          </a:p>
        </p:txBody>
      </p:sp>
      <p:sp>
        <p:nvSpPr>
          <p:cNvPr id="68" name="rect 67"/>
          <p:cNvSpPr/>
          <p:nvPr/>
        </p:nvSpPr>
        <p:spPr>
          <a:xfrm>
            <a:off x="2816275" y="2648030"/>
            <a:ext cx="46816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1"/>
          <p:cNvSpPr txBox="1"/>
          <p:nvPr/>
        </p:nvSpPr>
        <p:spPr>
          <a:xfrm>
            <a:off x="2961689" y="2639413"/>
            <a:ext cx="17733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1</a:t>
            </a:r>
          </a:p>
        </p:txBody>
      </p:sp>
      <p:sp>
        <p:nvSpPr>
          <p:cNvPr id="70" name="rect 69"/>
          <p:cNvSpPr/>
          <p:nvPr/>
        </p:nvSpPr>
        <p:spPr>
          <a:xfrm>
            <a:off x="3445365" y="2648030"/>
            <a:ext cx="468160" cy="234080"/>
          </a:xfrm>
          <a:prstGeom prst="roundRect">
            <a:avLst>
              <a:gd name="adj" fmla="val 31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1"/>
          <p:cNvSpPr txBox="1"/>
          <p:nvPr/>
        </p:nvSpPr>
        <p:spPr>
          <a:xfrm>
            <a:off x="3590779" y="2639413"/>
            <a:ext cx="17733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1</a:t>
            </a:r>
          </a:p>
        </p:txBody>
      </p:sp>
      <p:sp>
        <p:nvSpPr>
          <p:cNvPr id="72" name="rect 71"/>
          <p:cNvSpPr/>
          <p:nvPr/>
        </p:nvSpPr>
        <p:spPr>
          <a:xfrm>
            <a:off x="4074455" y="2648030"/>
            <a:ext cx="468160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0"/>
          <p:cNvSpPr txBox="1"/>
          <p:nvPr/>
        </p:nvSpPr>
        <p:spPr>
          <a:xfrm>
            <a:off x="4219869" y="2639413"/>
            <a:ext cx="17733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0</a:t>
            </a:r>
          </a:p>
        </p:txBody>
      </p:sp>
      <p:sp>
        <p:nvSpPr>
          <p:cNvPr id="74" name="rect 73"/>
          <p:cNvSpPr/>
          <p:nvPr/>
        </p:nvSpPr>
        <p:spPr>
          <a:xfrm>
            <a:off x="4703545" y="2648030"/>
            <a:ext cx="468160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0"/>
          <p:cNvSpPr txBox="1"/>
          <p:nvPr/>
        </p:nvSpPr>
        <p:spPr>
          <a:xfrm>
            <a:off x="4848959" y="2639413"/>
            <a:ext cx="17733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0</a:t>
            </a:r>
          </a:p>
        </p:txBody>
      </p:sp>
      <p:sp>
        <p:nvSpPr>
          <p:cNvPr id="76" name="rect 75"/>
          <p:cNvSpPr/>
          <p:nvPr/>
        </p:nvSpPr>
        <p:spPr>
          <a:xfrm>
            <a:off x="5332635" y="2648030"/>
            <a:ext cx="468160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0"/>
          <p:cNvSpPr txBox="1"/>
          <p:nvPr/>
        </p:nvSpPr>
        <p:spPr>
          <a:xfrm>
            <a:off x="5478049" y="2639413"/>
            <a:ext cx="17733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0</a:t>
            </a:r>
          </a:p>
        </p:txBody>
      </p:sp>
      <p:sp>
        <p:nvSpPr>
          <p:cNvPr id="78" name="rect 77"/>
          <p:cNvSpPr/>
          <p:nvPr/>
        </p:nvSpPr>
        <p:spPr>
          <a:xfrm>
            <a:off x="5961725" y="2648030"/>
            <a:ext cx="468160" cy="234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0"/>
          <p:cNvSpPr txBox="1"/>
          <p:nvPr/>
        </p:nvSpPr>
        <p:spPr>
          <a:xfrm>
            <a:off x="6107139" y="2639413"/>
            <a:ext cx="177332" cy="2505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0</a:t>
            </a:r>
          </a:p>
        </p:txBody>
      </p:sp>
      <p:sp>
        <p:nvSpPr>
          <p:cNvPr id="80" name="Δ"/>
          <p:cNvSpPr txBox="1"/>
          <p:nvPr/>
        </p:nvSpPr>
        <p:spPr>
          <a:xfrm>
            <a:off x="6885730" y="2680948"/>
            <a:ext cx="195105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Δ</a:t>
            </a:r>
          </a:p>
        </p:txBody>
      </p:sp>
      <p:sp>
        <p:nvSpPr>
          <p:cNvPr id="81" name=" only"/>
          <p:cNvSpPr txBox="1"/>
          <p:nvPr/>
        </p:nvSpPr>
        <p:spPr>
          <a:xfrm>
            <a:off x="6993054" y="2680948"/>
            <a:ext cx="458616" cy="2340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only</a:t>
            </a:r>
          </a:p>
        </p:txBody>
      </p:sp>
      <p:sp>
        <p:nvSpPr>
          <p:cNvPr id="82" name="rect 81"/>
          <p:cNvSpPr/>
          <p:nvPr/>
        </p:nvSpPr>
        <p:spPr>
          <a:xfrm>
            <a:off x="8192800" y="965580"/>
            <a:ext cx="4681600" cy="2084775"/>
          </a:xfrm>
          <a:prstGeom prst="roundRect">
            <a:avLst>
              <a:gd name="adj" fmla="val 701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 82"/>
          <p:cNvSpPr/>
          <p:nvPr/>
        </p:nvSpPr>
        <p:spPr>
          <a:xfrm>
            <a:off x="8192800" y="965580"/>
            <a:ext cx="468160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(b) Checkpoint 匹配的 Mamba"/>
          <p:cNvSpPr txBox="1"/>
          <p:nvPr/>
        </p:nvSpPr>
        <p:spPr>
          <a:xfrm>
            <a:off x="8295210" y="973700"/>
            <a:ext cx="2817761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(b) Checkpoint 匹配的 Mamba</a:t>
            </a:r>
          </a:p>
        </p:txBody>
      </p:sp>
      <p:sp>
        <p:nvSpPr>
          <p:cNvPr id="85" name="rect 84"/>
          <p:cNvSpPr/>
          <p:nvPr/>
        </p:nvSpPr>
        <p:spPr>
          <a:xfrm>
            <a:off x="8412250" y="1580040"/>
            <a:ext cx="473866" cy="353900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10972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 85"/>
          <p:cNvSpPr/>
          <p:nvPr/>
        </p:nvSpPr>
        <p:spPr>
          <a:xfrm>
            <a:off x="8472233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 86"/>
          <p:cNvSpPr/>
          <p:nvPr/>
        </p:nvSpPr>
        <p:spPr>
          <a:xfrm>
            <a:off x="8604196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 87"/>
          <p:cNvSpPr/>
          <p:nvPr/>
        </p:nvSpPr>
        <p:spPr>
          <a:xfrm>
            <a:off x="8736158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 88"/>
          <p:cNvSpPr/>
          <p:nvPr/>
        </p:nvSpPr>
        <p:spPr>
          <a:xfrm>
            <a:off x="8472233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 89"/>
          <p:cNvSpPr/>
          <p:nvPr/>
        </p:nvSpPr>
        <p:spPr>
          <a:xfrm>
            <a:off x="8604196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 90"/>
          <p:cNvSpPr/>
          <p:nvPr/>
        </p:nvSpPr>
        <p:spPr>
          <a:xfrm>
            <a:off x="8736158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s"/>
          <p:cNvSpPr txBox="1"/>
          <p:nvPr/>
        </p:nvSpPr>
        <p:spPr>
          <a:xfrm>
            <a:off x="8575280" y="1962249"/>
            <a:ext cx="173188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969696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93" name="0"/>
          <p:cNvSpPr txBox="1"/>
          <p:nvPr/>
        </p:nvSpPr>
        <p:spPr>
          <a:xfrm>
            <a:off x="8668004" y="2084775"/>
            <a:ext cx="159101" cy="18836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3" b="0" i="0" lang="zh-CN" spc="0">
                <a:solidFill>
                  <a:srgbClr val="969696"/>
                </a:solidFill>
                <a:latin typeface="Liberation Serif"/>
                <a:ea typeface="Liberation Serif"/>
                <a:effectLst/>
              </a:rPr>
              <a:t>0</a:t>
            </a:r>
          </a:p>
        </p:txBody>
      </p:sp>
      <p:sp>
        <p:nvSpPr>
          <p:cNvPr id="94" name="rect 93"/>
          <p:cNvSpPr/>
          <p:nvPr/>
        </p:nvSpPr>
        <p:spPr>
          <a:xfrm>
            <a:off x="9802100" y="1580040"/>
            <a:ext cx="473866" cy="353900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10972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 94"/>
          <p:cNvSpPr/>
          <p:nvPr/>
        </p:nvSpPr>
        <p:spPr>
          <a:xfrm>
            <a:off x="9862083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 95"/>
          <p:cNvSpPr/>
          <p:nvPr/>
        </p:nvSpPr>
        <p:spPr>
          <a:xfrm>
            <a:off x="9994046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 96"/>
          <p:cNvSpPr/>
          <p:nvPr/>
        </p:nvSpPr>
        <p:spPr>
          <a:xfrm>
            <a:off x="10126008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 97"/>
          <p:cNvSpPr/>
          <p:nvPr/>
        </p:nvSpPr>
        <p:spPr>
          <a:xfrm>
            <a:off x="9862083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 98"/>
          <p:cNvSpPr/>
          <p:nvPr/>
        </p:nvSpPr>
        <p:spPr>
          <a:xfrm>
            <a:off x="9994046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 99"/>
          <p:cNvSpPr/>
          <p:nvPr/>
        </p:nvSpPr>
        <p:spPr>
          <a:xfrm>
            <a:off x="10126008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"/>
          <p:cNvSpPr txBox="1"/>
          <p:nvPr/>
        </p:nvSpPr>
        <p:spPr>
          <a:xfrm>
            <a:off x="9965130" y="1962249"/>
            <a:ext cx="173188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969696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102" name="1"/>
          <p:cNvSpPr txBox="1"/>
          <p:nvPr/>
        </p:nvSpPr>
        <p:spPr>
          <a:xfrm>
            <a:off x="10057854" y="2084775"/>
            <a:ext cx="159101" cy="18836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3" b="0" i="0" lang="zh-CN" spc="0">
                <a:solidFill>
                  <a:srgbClr val="969696"/>
                </a:solidFill>
                <a:latin typeface="Liberation Serif"/>
                <a:ea typeface="Liberation Serif"/>
                <a:effectLst/>
              </a:rPr>
              <a:t>1</a:t>
            </a:r>
          </a:p>
        </p:txBody>
      </p:sp>
      <p:sp>
        <p:nvSpPr>
          <p:cNvPr id="103" name="rect 102"/>
          <p:cNvSpPr/>
          <p:nvPr/>
        </p:nvSpPr>
        <p:spPr>
          <a:xfrm>
            <a:off x="11382140" y="1580040"/>
            <a:ext cx="473866" cy="353900"/>
          </a:xfrm>
          <a:prstGeom prst="roundRect">
            <a:avLst>
              <a:gd name="adj" fmla="val 2066"/>
            </a:avLst>
          </a:prstGeom>
          <a:solidFill>
            <a:srgbClr val="E9A6B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 103"/>
          <p:cNvSpPr/>
          <p:nvPr/>
        </p:nvSpPr>
        <p:spPr>
          <a:xfrm>
            <a:off x="11442123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 104"/>
          <p:cNvSpPr/>
          <p:nvPr/>
        </p:nvSpPr>
        <p:spPr>
          <a:xfrm>
            <a:off x="11574086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 105"/>
          <p:cNvSpPr/>
          <p:nvPr/>
        </p:nvSpPr>
        <p:spPr>
          <a:xfrm>
            <a:off x="11706048" y="1640023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 106"/>
          <p:cNvSpPr/>
          <p:nvPr/>
        </p:nvSpPr>
        <p:spPr>
          <a:xfrm>
            <a:off x="11442123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 107"/>
          <p:cNvSpPr/>
          <p:nvPr/>
        </p:nvSpPr>
        <p:spPr>
          <a:xfrm>
            <a:off x="11574086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 108"/>
          <p:cNvSpPr/>
          <p:nvPr/>
        </p:nvSpPr>
        <p:spPr>
          <a:xfrm>
            <a:off x="11706048" y="1771986"/>
            <a:ext cx="89974" cy="83976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"/>
          <p:cNvSpPr txBox="1"/>
          <p:nvPr/>
        </p:nvSpPr>
        <p:spPr>
          <a:xfrm>
            <a:off x="11545170" y="1962249"/>
            <a:ext cx="173188" cy="2724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111" name="*"/>
          <p:cNvSpPr txBox="1"/>
          <p:nvPr/>
        </p:nvSpPr>
        <p:spPr>
          <a:xfrm>
            <a:off x="11637894" y="1915798"/>
            <a:ext cx="159101" cy="18836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3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cxnSp>
        <p:nvCxnSpPr>
          <p:cNvPr id="112" name="path 111"/>
          <p:cNvCxnSpPr/>
          <p:nvPr/>
        </p:nvCxnSpPr>
        <p:spPr>
          <a:xfrm>
            <a:off x="9019395" y="1821435"/>
            <a:ext cx="665665" cy="0"/>
          </a:xfrm>
          <a:prstGeom prst="line">
            <a:avLst/>
          </a:prstGeom>
          <a:ln w="14630">
            <a:solidFill>
              <a:srgbClr val="9696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arrowhead 112"/>
          <p:cNvSpPr/>
          <p:nvPr/>
        </p:nvSpPr>
        <p:spPr>
          <a:xfrm>
            <a:off x="9597280" y="177023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9696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path 113"/>
          <p:cNvCxnSpPr/>
          <p:nvPr/>
        </p:nvCxnSpPr>
        <p:spPr>
          <a:xfrm>
            <a:off x="10416560" y="1821435"/>
            <a:ext cx="855855" cy="0"/>
          </a:xfrm>
          <a:prstGeom prst="line">
            <a:avLst/>
          </a:prstGeom>
          <a:ln w="14630">
            <a:solidFill>
              <a:srgbClr val="9696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arrowhead 114"/>
          <p:cNvSpPr/>
          <p:nvPr/>
        </p:nvSpPr>
        <p:spPr>
          <a:xfrm>
            <a:off x="11184635" y="177023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9696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decode"/>
          <p:cNvSpPr txBox="1"/>
          <p:nvPr/>
        </p:nvSpPr>
        <p:spPr>
          <a:xfrm>
            <a:off x="10438505" y="1422768"/>
            <a:ext cx="616203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decode</a:t>
            </a:r>
          </a:p>
        </p:txBody>
      </p:sp>
      <p:sp>
        <p:nvSpPr>
          <p:cNvPr id="117" name="c"/>
          <p:cNvSpPr txBox="1"/>
          <p:nvPr/>
        </p:nvSpPr>
        <p:spPr>
          <a:xfrm>
            <a:off x="12316346" y="1669649"/>
            <a:ext cx="191676" cy="290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118" name="*"/>
          <p:cNvSpPr txBox="1"/>
          <p:nvPr/>
        </p:nvSpPr>
        <p:spPr>
          <a:xfrm>
            <a:off x="12427556" y="1622906"/>
            <a:ext cx="163673" cy="1975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98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cxnSp>
        <p:nvCxnSpPr>
          <p:cNvPr id="119" name="line 118"/>
          <p:cNvCxnSpPr/>
          <p:nvPr/>
        </p:nvCxnSpPr>
        <p:spPr>
          <a:xfrm>
            <a:off x="11996600" y="1828750"/>
            <a:ext cx="204820" cy="0"/>
          </a:xfrm>
          <a:prstGeom prst="line">
            <a:avLst/>
          </a:prstGeom>
          <a:ln w="11704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ect 119"/>
          <p:cNvSpPr/>
          <p:nvPr/>
        </p:nvSpPr>
        <p:spPr>
          <a:xfrm>
            <a:off x="8353730" y="2355430"/>
            <a:ext cx="907060" cy="20482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context"/>
          <p:cNvSpPr txBox="1"/>
          <p:nvPr/>
        </p:nvSpPr>
        <p:spPr>
          <a:xfrm>
            <a:off x="8412250" y="2321635"/>
            <a:ext cx="653492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context</a:t>
            </a:r>
          </a:p>
        </p:txBody>
      </p:sp>
      <p:sp>
        <p:nvSpPr>
          <p:cNvPr id="122" name="rect 121"/>
          <p:cNvSpPr/>
          <p:nvPr/>
        </p:nvSpPr>
        <p:spPr>
          <a:xfrm>
            <a:off x="9260790" y="2355430"/>
            <a:ext cx="987525" cy="20482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poch"/>
          <p:cNvSpPr txBox="1"/>
          <p:nvPr/>
        </p:nvSpPr>
        <p:spPr>
          <a:xfrm>
            <a:off x="9319310" y="2321635"/>
            <a:ext cx="55136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epoch</a:t>
            </a:r>
          </a:p>
        </p:txBody>
      </p:sp>
      <p:sp>
        <p:nvSpPr>
          <p:cNvPr id="124" name="rect 123"/>
          <p:cNvSpPr/>
          <p:nvPr/>
        </p:nvSpPr>
        <p:spPr>
          <a:xfrm>
            <a:off x="10248315" y="2355430"/>
            <a:ext cx="2435895" cy="204820"/>
          </a:xfrm>
          <a:prstGeom prst="rect">
            <a:avLst/>
          </a:prstGeom>
          <a:solidFill>
            <a:srgbClr val="A9CEE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Host checkpoint"/>
          <p:cNvSpPr txBox="1"/>
          <p:nvPr/>
        </p:nvSpPr>
        <p:spPr>
          <a:xfrm>
            <a:off x="10306835" y="2321635"/>
            <a:ext cx="131861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Host checkpoint</a:t>
            </a:r>
          </a:p>
        </p:txBody>
      </p:sp>
      <p:sp>
        <p:nvSpPr>
          <p:cNvPr id="126" name="rect 125"/>
          <p:cNvSpPr/>
          <p:nvPr/>
        </p:nvSpPr>
        <p:spPr>
          <a:xfrm>
            <a:off x="8353730" y="2560250"/>
            <a:ext cx="907060" cy="20482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P"/>
          <p:cNvSpPr txBox="1"/>
          <p:nvPr/>
        </p:nvSpPr>
        <p:spPr>
          <a:xfrm>
            <a:off x="8412250" y="2526455"/>
            <a:ext cx="185018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28" name="rect 127"/>
          <p:cNvSpPr/>
          <p:nvPr/>
        </p:nvSpPr>
        <p:spPr>
          <a:xfrm>
            <a:off x="9260790" y="2560250"/>
            <a:ext cx="987525" cy="20482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"/>
          <p:cNvSpPr txBox="1"/>
          <p:nvPr/>
        </p:nvSpPr>
        <p:spPr>
          <a:xfrm>
            <a:off x="9319310" y="2526455"/>
            <a:ext cx="172874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e</a:t>
            </a:r>
          </a:p>
        </p:txBody>
      </p:sp>
      <p:sp>
        <p:nvSpPr>
          <p:cNvPr id="130" name="rect 129"/>
          <p:cNvSpPr/>
          <p:nvPr/>
        </p:nvSpPr>
        <p:spPr>
          <a:xfrm>
            <a:off x="10248315" y="2560250"/>
            <a:ext cx="2435895" cy="20482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c*"/>
          <p:cNvSpPr txBox="1"/>
          <p:nvPr/>
        </p:nvSpPr>
        <p:spPr>
          <a:xfrm>
            <a:off x="10306835" y="2526455"/>
            <a:ext cx="23788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c*</a:t>
            </a:r>
          </a:p>
        </p:txBody>
      </p:sp>
      <p:sp>
        <p:nvSpPr>
          <p:cNvPr id="132" name="PREPARE"/>
          <p:cNvSpPr txBox="1"/>
          <p:nvPr/>
        </p:nvSpPr>
        <p:spPr>
          <a:xfrm>
            <a:off x="8382990" y="2776042"/>
            <a:ext cx="74310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PREPARE</a:t>
            </a:r>
          </a:p>
        </p:txBody>
      </p:sp>
      <p:cxnSp>
        <p:nvCxnSpPr>
          <p:cNvPr id="133" name="line 132"/>
          <p:cNvCxnSpPr/>
          <p:nvPr/>
        </p:nvCxnSpPr>
        <p:spPr>
          <a:xfrm>
            <a:off x="9216900" y="2816275"/>
            <a:ext cx="138985" cy="138985"/>
          </a:xfrm>
          <a:prstGeom prst="line">
            <a:avLst/>
          </a:prstGeom>
          <a:ln w="20482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line 133"/>
          <p:cNvCxnSpPr/>
          <p:nvPr/>
        </p:nvCxnSpPr>
        <p:spPr>
          <a:xfrm flipV="1">
            <a:off x="9216900" y="2816275"/>
            <a:ext cx="138985" cy="138985"/>
          </a:xfrm>
          <a:prstGeom prst="line">
            <a:avLst/>
          </a:prstGeom>
          <a:ln w="20482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path 134"/>
          <p:cNvSpPr/>
          <p:nvPr/>
        </p:nvSpPr>
        <p:spPr>
          <a:xfrm>
            <a:off x="11872245" y="1777545"/>
            <a:ext cx="541310" cy="577885"/>
          </a:xfrm>
          <a:custGeom>
            <a:avLst/>
            <a:gdLst/>
            <a:ahLst/>
            <a:cxnLst/>
            <a:rect l="l" t="t" r="r" b="b"/>
            <a:pathLst>
              <a:path w="74" h="79">
                <a:moveTo>
                  <a:pt x="74" y="79"/>
                </a:moveTo>
                <a:lnTo>
                  <a:pt x="74" y="44"/>
                </a:lnTo>
                <a:lnTo>
                  <a:pt x="17" y="44"/>
                </a:lnTo>
                <a:lnTo>
                  <a:pt x="17" y="0"/>
                </a:lnTo>
                <a:lnTo>
                  <a:pt x="0" y="0"/>
                </a:lnTo>
              </a:path>
            </a:pathLst>
          </a:custGeom>
          <a:noFill/>
          <a:ln w="14630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arrowhead 135"/>
          <p:cNvSpPr/>
          <p:nvPr/>
        </p:nvSpPr>
        <p:spPr>
          <a:xfrm>
            <a:off x="11857615" y="172634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0" y="7"/>
                </a:moveTo>
                <a:lnTo>
                  <a:pt x="14" y="0"/>
                </a:lnTo>
                <a:lnTo>
                  <a:pt x="14" y="14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只恢复匹配状态"/>
          <p:cNvSpPr txBox="1"/>
          <p:nvPr/>
        </p:nvSpPr>
        <p:spPr>
          <a:xfrm>
            <a:off x="10972500" y="2783358"/>
            <a:ext cx="116308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只恢复匹配状态</a:t>
            </a:r>
          </a:p>
        </p:txBody>
      </p:sp>
      <p:sp>
        <p:nvSpPr>
          <p:cNvPr id="138" name="rect 137"/>
          <p:cNvSpPr/>
          <p:nvPr/>
        </p:nvSpPr>
        <p:spPr>
          <a:xfrm>
            <a:off x="292600" y="3357585"/>
            <a:ext cx="12581800" cy="2384690"/>
          </a:xfrm>
          <a:prstGeom prst="roundRect">
            <a:avLst>
              <a:gd name="adj" fmla="val 613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 138"/>
          <p:cNvSpPr/>
          <p:nvPr/>
        </p:nvSpPr>
        <p:spPr>
          <a:xfrm>
            <a:off x="292600" y="3357585"/>
            <a:ext cx="1258180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(c) 安全输入 checkpoint → 缺失页 → 原生逐层流水线"/>
          <p:cNvSpPr txBox="1"/>
          <p:nvPr/>
        </p:nvSpPr>
        <p:spPr>
          <a:xfrm>
            <a:off x="395010" y="3365705"/>
            <a:ext cx="4682800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(c) 安全输入 checkpoint → 缺失页 → 原生逐层流水线</a:t>
            </a:r>
          </a:p>
        </p:txBody>
      </p:sp>
      <p:sp>
        <p:nvSpPr>
          <p:cNvPr id="141" name="原生前缀树"/>
          <p:cNvSpPr txBox="1"/>
          <p:nvPr/>
        </p:nvSpPr>
        <p:spPr>
          <a:xfrm>
            <a:off x="490105" y="3818430"/>
            <a:ext cx="965580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原生前缀树</a:t>
            </a:r>
          </a:p>
        </p:txBody>
      </p:sp>
      <p:sp>
        <p:nvSpPr>
          <p:cNvPr id="142" name="rect 141"/>
          <p:cNvSpPr/>
          <p:nvPr/>
        </p:nvSpPr>
        <p:spPr>
          <a:xfrm>
            <a:off x="592515" y="4425575"/>
            <a:ext cx="409640" cy="314545"/>
          </a:xfrm>
          <a:prstGeom prst="roundRect">
            <a:avLst>
              <a:gd name="adj" fmla="val 2325"/>
            </a:avLst>
          </a:prstGeom>
          <a:solidFill>
            <a:srgbClr val="DDDDD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p0"/>
          <p:cNvSpPr txBox="1"/>
          <p:nvPr/>
        </p:nvSpPr>
        <p:spPr>
          <a:xfrm>
            <a:off x="658664" y="4455859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144" name="rect 143"/>
          <p:cNvSpPr/>
          <p:nvPr/>
        </p:nvSpPr>
        <p:spPr>
          <a:xfrm>
            <a:off x="1594670" y="4132975"/>
            <a:ext cx="409640" cy="314545"/>
          </a:xfrm>
          <a:prstGeom prst="roundRect">
            <a:avLst>
              <a:gd name="adj" fmla="val 23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p1"/>
          <p:cNvSpPr txBox="1"/>
          <p:nvPr/>
        </p:nvSpPr>
        <p:spPr>
          <a:xfrm>
            <a:off x="1660819" y="4163259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146" name="rect 145"/>
          <p:cNvSpPr/>
          <p:nvPr/>
        </p:nvSpPr>
        <p:spPr>
          <a:xfrm>
            <a:off x="2560250" y="4425575"/>
            <a:ext cx="409640" cy="314545"/>
          </a:xfrm>
          <a:prstGeom prst="roundRect">
            <a:avLst>
              <a:gd name="adj" fmla="val 23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p5"/>
          <p:cNvSpPr txBox="1"/>
          <p:nvPr/>
        </p:nvSpPr>
        <p:spPr>
          <a:xfrm>
            <a:off x="2626399" y="4455859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sp>
        <p:nvSpPr>
          <p:cNvPr id="148" name="rect 147"/>
          <p:cNvSpPr/>
          <p:nvPr/>
        </p:nvSpPr>
        <p:spPr>
          <a:xfrm>
            <a:off x="1594670" y="4988830"/>
            <a:ext cx="409640" cy="314545"/>
          </a:xfrm>
          <a:prstGeom prst="roundRect">
            <a:avLst>
              <a:gd name="adj" fmla="val 2325"/>
            </a:avLst>
          </a:prstGeom>
          <a:solidFill>
            <a:srgbClr val="DDDDDD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"/>
          <p:cNvSpPr txBox="1"/>
          <p:nvPr/>
        </p:nvSpPr>
        <p:spPr>
          <a:xfrm>
            <a:off x="1709753" y="5019114"/>
            <a:ext cx="17947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</a:t>
            </a:r>
          </a:p>
        </p:txBody>
      </p:sp>
      <p:cxnSp>
        <p:nvCxnSpPr>
          <p:cNvPr id="150" name="path 149"/>
          <p:cNvCxnSpPr/>
          <p:nvPr/>
        </p:nvCxnSpPr>
        <p:spPr>
          <a:xfrm flipV="1">
            <a:off x="1009470" y="4315850"/>
            <a:ext cx="563255" cy="226765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arrowhead 150"/>
          <p:cNvSpPr/>
          <p:nvPr/>
        </p:nvSpPr>
        <p:spPr>
          <a:xfrm>
            <a:off x="1441055" y="4293905"/>
            <a:ext cx="153615" cy="124355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21" y="2"/>
                </a:moveTo>
                <a:lnTo>
                  <a:pt x="7" y="17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path 151"/>
          <p:cNvCxnSpPr/>
          <p:nvPr/>
        </p:nvCxnSpPr>
        <p:spPr>
          <a:xfrm>
            <a:off x="2011625" y="4315850"/>
            <a:ext cx="526680" cy="219450"/>
          </a:xfrm>
          <a:prstGeom prst="line">
            <a:avLst/>
          </a:prstGeom>
          <a:ln w="19019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arrowhead 152"/>
          <p:cNvSpPr/>
          <p:nvPr/>
        </p:nvSpPr>
        <p:spPr>
          <a:xfrm>
            <a:off x="2406635" y="4432890"/>
            <a:ext cx="153615" cy="117040"/>
          </a:xfrm>
          <a:custGeom>
            <a:avLst/>
            <a:gdLst/>
            <a:ahLst/>
            <a:cxnLst/>
            <a:rect l="l" t="t" r="r" b="b"/>
            <a:pathLst>
              <a:path w="21" h="16">
                <a:moveTo>
                  <a:pt x="21" y="15"/>
                </a:moveTo>
                <a:lnTo>
                  <a:pt x="0" y="16"/>
                </a:lnTo>
                <a:lnTo>
                  <a:pt x="7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path 153"/>
          <p:cNvCxnSpPr/>
          <p:nvPr/>
        </p:nvCxnSpPr>
        <p:spPr>
          <a:xfrm>
            <a:off x="958265" y="4747435"/>
            <a:ext cx="629090" cy="351120"/>
          </a:xfrm>
          <a:prstGeom prst="line">
            <a:avLst/>
          </a:prstGeom>
          <a:ln w="19019">
            <a:solidFill>
              <a:srgbClr val="9696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arrowhead 154"/>
          <p:cNvSpPr/>
          <p:nvPr/>
        </p:nvSpPr>
        <p:spPr>
          <a:xfrm>
            <a:off x="1455685" y="4988830"/>
            <a:ext cx="146300" cy="117040"/>
          </a:xfrm>
          <a:custGeom>
            <a:avLst/>
            <a:gdLst/>
            <a:ahLst/>
            <a:cxnLst/>
            <a:rect l="l" t="t" r="r" b="b"/>
            <a:pathLst>
              <a:path w="20" h="16">
                <a:moveTo>
                  <a:pt x="20" y="16"/>
                </a:moveTo>
                <a:lnTo>
                  <a:pt x="0" y="15"/>
                </a:lnTo>
                <a:lnTo>
                  <a:pt x="9" y="0"/>
                </a:lnTo>
                <a:close/>
              </a:path>
            </a:pathLst>
          </a:custGeom>
          <a:solidFill>
            <a:srgbClr val="9696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6" name="line 155"/>
          <p:cNvCxnSpPr/>
          <p:nvPr/>
        </p:nvCxnSpPr>
        <p:spPr>
          <a:xfrm>
            <a:off x="2084775" y="5061980"/>
            <a:ext cx="146300" cy="146300"/>
          </a:xfrm>
          <a:prstGeom prst="line">
            <a:avLst/>
          </a:prstGeom>
          <a:ln w="20482">
            <a:solidFill>
              <a:srgbClr val="9696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line 156"/>
          <p:cNvCxnSpPr/>
          <p:nvPr/>
        </p:nvCxnSpPr>
        <p:spPr>
          <a:xfrm flipV="1">
            <a:off x="2084775" y="5061980"/>
            <a:ext cx="146300" cy="146300"/>
          </a:xfrm>
          <a:prstGeom prst="line">
            <a:avLst/>
          </a:prstGeom>
          <a:ln w="20482">
            <a:solidFill>
              <a:srgbClr val="9696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path 157"/>
          <p:cNvSpPr/>
          <p:nvPr/>
        </p:nvSpPr>
        <p:spPr>
          <a:xfrm>
            <a:off x="680295" y="4798640"/>
            <a:ext cx="65835" cy="51205"/>
          </a:xfrm>
          <a:custGeom>
            <a:avLst/>
            <a:gdLst/>
            <a:ahLst/>
            <a:cxnLst/>
            <a:rect l="l" t="t" r="r" b="b"/>
            <a:pathLst>
              <a:path w="9" h="7">
                <a:moveTo>
                  <a:pt x="0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 158"/>
          <p:cNvSpPr/>
          <p:nvPr/>
        </p:nvSpPr>
        <p:spPr>
          <a:xfrm>
            <a:off x="658350" y="4853137"/>
            <a:ext cx="114114" cy="9509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circle 159"/>
          <p:cNvSpPr/>
          <p:nvPr/>
        </p:nvSpPr>
        <p:spPr>
          <a:xfrm>
            <a:off x="705898" y="4881665"/>
            <a:ext cx="19019" cy="19019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"/>
          <p:cNvSpPr txBox="1"/>
          <p:nvPr/>
        </p:nvSpPr>
        <p:spPr>
          <a:xfrm>
            <a:off x="2663089" y="4098229"/>
            <a:ext cx="188418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162" name="*"/>
          <p:cNvSpPr txBox="1"/>
          <p:nvPr/>
        </p:nvSpPr>
        <p:spPr>
          <a:xfrm>
            <a:off x="2771042" y="4049803"/>
            <a:ext cx="161844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163" name="session / epoch"/>
          <p:cNvSpPr txBox="1"/>
          <p:nvPr/>
        </p:nvSpPr>
        <p:spPr>
          <a:xfrm>
            <a:off x="490105" y="5319834"/>
            <a:ext cx="129684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session / epoch</a:t>
            </a:r>
          </a:p>
        </p:txBody>
      </p:sp>
      <p:cxnSp>
        <p:nvCxnSpPr>
          <p:cNvPr id="164" name="path 163"/>
          <p:cNvCxnSpPr/>
          <p:nvPr/>
        </p:nvCxnSpPr>
        <p:spPr>
          <a:xfrm>
            <a:off x="2991835" y="4571875"/>
            <a:ext cx="621775" cy="0"/>
          </a:xfrm>
          <a:prstGeom prst="line">
            <a:avLst/>
          </a:prstGeom>
          <a:ln w="19019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arrowhead 164"/>
          <p:cNvSpPr/>
          <p:nvPr/>
        </p:nvSpPr>
        <p:spPr>
          <a:xfrm>
            <a:off x="3503885" y="450604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Host"/>
          <p:cNvSpPr txBox="1"/>
          <p:nvPr/>
        </p:nvSpPr>
        <p:spPr>
          <a:xfrm>
            <a:off x="3737965" y="3955586"/>
            <a:ext cx="519736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Host</a:t>
            </a:r>
          </a:p>
        </p:txBody>
      </p:sp>
      <p:sp>
        <p:nvSpPr>
          <p:cNvPr id="167" name="HBM"/>
          <p:cNvSpPr txBox="1"/>
          <p:nvPr/>
        </p:nvSpPr>
        <p:spPr>
          <a:xfrm>
            <a:off x="3737965" y="4562731"/>
            <a:ext cx="523537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HBM</a:t>
            </a:r>
          </a:p>
        </p:txBody>
      </p:sp>
      <p:sp>
        <p:nvSpPr>
          <p:cNvPr id="168" name="rect 167"/>
          <p:cNvSpPr/>
          <p:nvPr/>
        </p:nvSpPr>
        <p:spPr>
          <a:xfrm>
            <a:off x="4571875" y="3972045"/>
            <a:ext cx="373065" cy="307230"/>
          </a:xfrm>
          <a:prstGeom prst="roundRect">
            <a:avLst>
              <a:gd name="adj" fmla="val 2380"/>
            </a:avLst>
          </a:prstGeom>
          <a:solidFill>
            <a:srgbClr val="DDDDD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p0"/>
          <p:cNvSpPr txBox="1"/>
          <p:nvPr/>
        </p:nvSpPr>
        <p:spPr>
          <a:xfrm>
            <a:off x="4619737" y="399867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170" name="rect 169"/>
          <p:cNvSpPr/>
          <p:nvPr/>
        </p:nvSpPr>
        <p:spPr>
          <a:xfrm>
            <a:off x="4571875" y="4579190"/>
            <a:ext cx="373065" cy="307230"/>
          </a:xfrm>
          <a:prstGeom prst="roundRect">
            <a:avLst>
              <a:gd name="adj" fmla="val 2380"/>
            </a:avLst>
          </a:prstGeom>
          <a:solidFill>
            <a:srgbClr val="DDDDD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p0"/>
          <p:cNvSpPr txBox="1"/>
          <p:nvPr/>
        </p:nvSpPr>
        <p:spPr>
          <a:xfrm>
            <a:off x="4619737" y="460581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172" name="rect 171"/>
          <p:cNvSpPr/>
          <p:nvPr/>
        </p:nvSpPr>
        <p:spPr>
          <a:xfrm>
            <a:off x="5032720" y="3972045"/>
            <a:ext cx="373065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p1"/>
          <p:cNvSpPr txBox="1"/>
          <p:nvPr/>
        </p:nvSpPr>
        <p:spPr>
          <a:xfrm>
            <a:off x="5080582" y="399867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174" name="rect 173"/>
          <p:cNvSpPr/>
          <p:nvPr/>
        </p:nvSpPr>
        <p:spPr>
          <a:xfrm>
            <a:off x="5032720" y="4579190"/>
            <a:ext cx="373065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p1"/>
          <p:cNvSpPr txBox="1"/>
          <p:nvPr/>
        </p:nvSpPr>
        <p:spPr>
          <a:xfrm>
            <a:off x="5080582" y="460581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176" name="rect 175"/>
          <p:cNvSpPr/>
          <p:nvPr/>
        </p:nvSpPr>
        <p:spPr>
          <a:xfrm>
            <a:off x="5493565" y="3972045"/>
            <a:ext cx="373065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p2"/>
          <p:cNvSpPr txBox="1"/>
          <p:nvPr/>
        </p:nvSpPr>
        <p:spPr>
          <a:xfrm>
            <a:off x="5541427" y="399867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sp>
        <p:nvSpPr>
          <p:cNvPr id="178" name="rect 177"/>
          <p:cNvSpPr/>
          <p:nvPr/>
        </p:nvSpPr>
        <p:spPr>
          <a:xfrm>
            <a:off x="5493565" y="4579190"/>
            <a:ext cx="373065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p2"/>
          <p:cNvSpPr txBox="1"/>
          <p:nvPr/>
        </p:nvSpPr>
        <p:spPr>
          <a:xfrm>
            <a:off x="5541427" y="460581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cxnSp>
        <p:nvCxnSpPr>
          <p:cNvPr id="180" name="path 179"/>
          <p:cNvCxnSpPr/>
          <p:nvPr/>
        </p:nvCxnSpPr>
        <p:spPr>
          <a:xfrm>
            <a:off x="5676440" y="4308535"/>
            <a:ext cx="0" cy="226765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arrowhead 180"/>
          <p:cNvSpPr/>
          <p:nvPr/>
        </p:nvSpPr>
        <p:spPr>
          <a:xfrm>
            <a:off x="5625235" y="444752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 181"/>
          <p:cNvSpPr/>
          <p:nvPr/>
        </p:nvSpPr>
        <p:spPr>
          <a:xfrm>
            <a:off x="5954410" y="3972045"/>
            <a:ext cx="373065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p3"/>
          <p:cNvSpPr txBox="1"/>
          <p:nvPr/>
        </p:nvSpPr>
        <p:spPr>
          <a:xfrm>
            <a:off x="6002272" y="399867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sp>
        <p:nvSpPr>
          <p:cNvPr id="184" name="rect 183"/>
          <p:cNvSpPr/>
          <p:nvPr/>
        </p:nvSpPr>
        <p:spPr>
          <a:xfrm>
            <a:off x="5954410" y="4579190"/>
            <a:ext cx="373065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p3"/>
          <p:cNvSpPr txBox="1"/>
          <p:nvPr/>
        </p:nvSpPr>
        <p:spPr>
          <a:xfrm>
            <a:off x="6002272" y="460581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cxnSp>
        <p:nvCxnSpPr>
          <p:cNvPr id="186" name="path 185"/>
          <p:cNvCxnSpPr/>
          <p:nvPr/>
        </p:nvCxnSpPr>
        <p:spPr>
          <a:xfrm>
            <a:off x="6137285" y="4308535"/>
            <a:ext cx="0" cy="226765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arrowhead 186"/>
          <p:cNvSpPr/>
          <p:nvPr/>
        </p:nvSpPr>
        <p:spPr>
          <a:xfrm>
            <a:off x="6086080" y="444752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 187"/>
          <p:cNvSpPr/>
          <p:nvPr/>
        </p:nvSpPr>
        <p:spPr>
          <a:xfrm>
            <a:off x="6415255" y="3972045"/>
            <a:ext cx="373065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p4"/>
          <p:cNvSpPr txBox="1"/>
          <p:nvPr/>
        </p:nvSpPr>
        <p:spPr>
          <a:xfrm>
            <a:off x="6463117" y="399867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p4</a:t>
            </a:r>
          </a:p>
        </p:txBody>
      </p:sp>
      <p:sp>
        <p:nvSpPr>
          <p:cNvPr id="190" name="rect 189"/>
          <p:cNvSpPr/>
          <p:nvPr/>
        </p:nvSpPr>
        <p:spPr>
          <a:xfrm>
            <a:off x="6415255" y="4579190"/>
            <a:ext cx="373065" cy="30723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p4"/>
          <p:cNvSpPr txBox="1"/>
          <p:nvPr/>
        </p:nvSpPr>
        <p:spPr>
          <a:xfrm>
            <a:off x="6463117" y="460581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p4</a:t>
            </a:r>
          </a:p>
        </p:txBody>
      </p:sp>
      <p:sp>
        <p:nvSpPr>
          <p:cNvPr id="192" name="rect 191"/>
          <p:cNvSpPr/>
          <p:nvPr/>
        </p:nvSpPr>
        <p:spPr>
          <a:xfrm>
            <a:off x="6876100" y="3972045"/>
            <a:ext cx="373065" cy="307230"/>
          </a:xfrm>
          <a:prstGeom prst="roundRect">
            <a:avLst>
              <a:gd name="adj" fmla="val 2380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p5"/>
          <p:cNvSpPr txBox="1"/>
          <p:nvPr/>
        </p:nvSpPr>
        <p:spPr>
          <a:xfrm>
            <a:off x="6923962" y="3998672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sp>
        <p:nvSpPr>
          <p:cNvPr id="194" name="rect 193"/>
          <p:cNvSpPr/>
          <p:nvPr/>
        </p:nvSpPr>
        <p:spPr>
          <a:xfrm>
            <a:off x="6876100" y="4579190"/>
            <a:ext cx="373065" cy="30723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3167">
            <a:solidFill>
              <a:srgbClr val="9696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p5"/>
          <p:cNvSpPr txBox="1"/>
          <p:nvPr/>
        </p:nvSpPr>
        <p:spPr>
          <a:xfrm>
            <a:off x="6923962" y="4605817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cxnSp>
        <p:nvCxnSpPr>
          <p:cNvPr id="196" name="line 195"/>
          <p:cNvCxnSpPr/>
          <p:nvPr/>
        </p:nvCxnSpPr>
        <p:spPr>
          <a:xfrm>
            <a:off x="4571875" y="4988830"/>
            <a:ext cx="833910" cy="0"/>
          </a:xfrm>
          <a:prstGeom prst="line">
            <a:avLst/>
          </a:prstGeom>
          <a:ln w="11704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line 196"/>
          <p:cNvCxnSpPr/>
          <p:nvPr/>
        </p:nvCxnSpPr>
        <p:spPr>
          <a:xfrm>
            <a:off x="5493565" y="4988830"/>
            <a:ext cx="833910" cy="0"/>
          </a:xfrm>
          <a:prstGeom prst="line">
            <a:avLst/>
          </a:prstGeom>
          <a:ln w="17556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已驻留"/>
          <p:cNvSpPr txBox="1"/>
          <p:nvPr/>
        </p:nvSpPr>
        <p:spPr>
          <a:xfrm>
            <a:off x="4601135" y="5060151"/>
            <a:ext cx="526680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已驻留</a:t>
            </a:r>
          </a:p>
        </p:txBody>
      </p:sp>
      <p:sp>
        <p:nvSpPr>
          <p:cNvPr id="199" name="本次恢复"/>
          <p:cNvSpPr txBox="1"/>
          <p:nvPr/>
        </p:nvSpPr>
        <p:spPr>
          <a:xfrm>
            <a:off x="5508195" y="5060151"/>
            <a:ext cx="672980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BF3335"/>
                </a:solidFill>
                <a:latin typeface="Noto Sans CJK SC"/>
                <a:ea typeface="Noto Sans CJK SC"/>
                <a:effectLst/>
              </a:rPr>
              <a:t>本次恢复</a:t>
            </a:r>
          </a:p>
        </p:txBody>
      </p:sp>
      <p:sp>
        <p:nvSpPr>
          <p:cNvPr id="200" name="延后"/>
          <p:cNvSpPr txBox="1"/>
          <p:nvPr/>
        </p:nvSpPr>
        <p:spPr>
          <a:xfrm>
            <a:off x="6488405" y="5060151"/>
            <a:ext cx="380380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延后</a:t>
            </a:r>
          </a:p>
        </p:txBody>
      </p:sp>
      <p:sp>
        <p:nvSpPr>
          <p:cNvPr id="201" name="B"/>
          <p:cNvSpPr txBox="1"/>
          <p:nvPr/>
        </p:nvSpPr>
        <p:spPr>
          <a:xfrm>
            <a:off x="3745280" y="5356409"/>
            <a:ext cx="226308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B</a:t>
            </a:r>
          </a:p>
        </p:txBody>
      </p:sp>
      <p:sp>
        <p:nvSpPr>
          <p:cNvPr id="202" name=" ≤ "/>
          <p:cNvSpPr txBox="1"/>
          <p:nvPr/>
        </p:nvSpPr>
        <p:spPr>
          <a:xfrm>
            <a:off x="3883808" y="5356409"/>
            <a:ext cx="325632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≤ </a:t>
            </a:r>
          </a:p>
        </p:txBody>
      </p:sp>
      <p:sp>
        <p:nvSpPr>
          <p:cNvPr id="203" name="C"/>
          <p:cNvSpPr txBox="1"/>
          <p:nvPr/>
        </p:nvSpPr>
        <p:spPr>
          <a:xfrm>
            <a:off x="4121660" y="5356409"/>
            <a:ext cx="239023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204" name="free"/>
          <p:cNvSpPr txBox="1"/>
          <p:nvPr/>
        </p:nvSpPr>
        <p:spPr>
          <a:xfrm>
            <a:off x="4280218" y="5482592"/>
            <a:ext cx="317917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free</a:t>
            </a:r>
          </a:p>
        </p:txBody>
      </p:sp>
      <p:sp>
        <p:nvSpPr>
          <p:cNvPr id="205" name=" + "/>
          <p:cNvSpPr txBox="1"/>
          <p:nvPr/>
        </p:nvSpPr>
        <p:spPr>
          <a:xfrm>
            <a:off x="4517670" y="5356409"/>
            <a:ext cx="329061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+ </a:t>
            </a:r>
          </a:p>
        </p:txBody>
      </p:sp>
      <p:sp>
        <p:nvSpPr>
          <p:cNvPr id="206" name="C"/>
          <p:cNvSpPr txBox="1"/>
          <p:nvPr/>
        </p:nvSpPr>
        <p:spPr>
          <a:xfrm>
            <a:off x="4758950" y="5356409"/>
            <a:ext cx="239023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207" name="cold"/>
          <p:cNvSpPr txBox="1"/>
          <p:nvPr/>
        </p:nvSpPr>
        <p:spPr>
          <a:xfrm>
            <a:off x="4917509" y="5482592"/>
            <a:ext cx="342805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cold</a:t>
            </a:r>
          </a:p>
        </p:txBody>
      </p:sp>
      <p:sp>
        <p:nvSpPr>
          <p:cNvPr id="208" name=" − "/>
          <p:cNvSpPr txBox="1"/>
          <p:nvPr/>
        </p:nvSpPr>
        <p:spPr>
          <a:xfrm>
            <a:off x="5179849" y="5356409"/>
            <a:ext cx="329061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 − </a:t>
            </a:r>
          </a:p>
        </p:txBody>
      </p:sp>
      <p:sp>
        <p:nvSpPr>
          <p:cNvPr id="209" name="G"/>
          <p:cNvSpPr txBox="1"/>
          <p:nvPr/>
        </p:nvSpPr>
        <p:spPr>
          <a:xfrm>
            <a:off x="5421129" y="5356409"/>
            <a:ext cx="251539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G</a:t>
            </a:r>
          </a:p>
        </p:txBody>
      </p:sp>
      <p:sp>
        <p:nvSpPr>
          <p:cNvPr id="210" name="next"/>
          <p:cNvSpPr txBox="1"/>
          <p:nvPr/>
        </p:nvSpPr>
        <p:spPr>
          <a:xfrm>
            <a:off x="5592203" y="5482592"/>
            <a:ext cx="342805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next</a:t>
            </a:r>
          </a:p>
        </p:txBody>
      </p:sp>
      <p:sp>
        <p:nvSpPr>
          <p:cNvPr id="211" name="path 210"/>
          <p:cNvSpPr/>
          <p:nvPr/>
        </p:nvSpPr>
        <p:spPr>
          <a:xfrm>
            <a:off x="7358890" y="4403630"/>
            <a:ext cx="614460" cy="329175"/>
          </a:xfrm>
          <a:custGeom>
            <a:avLst/>
            <a:gdLst/>
            <a:ahLst/>
            <a:cxnLst/>
            <a:rect l="l" t="t" r="r" b="b"/>
            <a:pathLst>
              <a:path w="84" h="45">
                <a:moveTo>
                  <a:pt x="0" y="45"/>
                </a:moveTo>
                <a:lnTo>
                  <a:pt x="34" y="45"/>
                </a:lnTo>
                <a:lnTo>
                  <a:pt x="34" y="0"/>
                </a:lnTo>
                <a:lnTo>
                  <a:pt x="84" y="0"/>
                </a:lnTo>
              </a:path>
            </a:pathLst>
          </a:custGeom>
          <a:noFill/>
          <a:ln w="19019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arrowhead 211"/>
          <p:cNvSpPr/>
          <p:nvPr/>
        </p:nvSpPr>
        <p:spPr>
          <a:xfrm>
            <a:off x="7863625" y="433779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 212"/>
          <p:cNvSpPr/>
          <p:nvPr/>
        </p:nvSpPr>
        <p:spPr>
          <a:xfrm>
            <a:off x="8053815" y="4030565"/>
            <a:ext cx="1192345" cy="738815"/>
          </a:xfrm>
          <a:prstGeom prst="roundRect">
            <a:avLst>
              <a:gd name="adj" fmla="val 2970"/>
            </a:avLst>
          </a:prstGeom>
          <a:solidFill>
            <a:srgbClr val="F5D460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HiCache"/>
          <p:cNvSpPr txBox="1"/>
          <p:nvPr/>
        </p:nvSpPr>
        <p:spPr>
          <a:xfrm>
            <a:off x="8220388" y="4050681"/>
            <a:ext cx="859198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HiCache</a:t>
            </a:r>
          </a:p>
        </p:txBody>
      </p:sp>
      <p:cxnSp>
        <p:nvCxnSpPr>
          <p:cNvPr id="215" name="path 214"/>
          <p:cNvCxnSpPr/>
          <p:nvPr/>
        </p:nvCxnSpPr>
        <p:spPr>
          <a:xfrm>
            <a:off x="8192800" y="4496018"/>
            <a:ext cx="914375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arrowhead 215"/>
          <p:cNvSpPr/>
          <p:nvPr/>
        </p:nvSpPr>
        <p:spPr>
          <a:xfrm>
            <a:off x="9019395" y="444752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7" name="path 216"/>
          <p:cNvCxnSpPr/>
          <p:nvPr/>
        </p:nvCxnSpPr>
        <p:spPr>
          <a:xfrm flipH="1">
            <a:off x="8192800" y="4636393"/>
            <a:ext cx="914375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arrowhead 217"/>
          <p:cNvSpPr/>
          <p:nvPr/>
        </p:nvSpPr>
        <p:spPr>
          <a:xfrm>
            <a:off x="8178170" y="458650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0" y="7"/>
                </a:moveTo>
                <a:lnTo>
                  <a:pt x="14" y="0"/>
                </a:lnTo>
                <a:lnTo>
                  <a:pt x="14" y="14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 218"/>
          <p:cNvSpPr/>
          <p:nvPr/>
        </p:nvSpPr>
        <p:spPr>
          <a:xfrm>
            <a:off x="8222060" y="5105870"/>
            <a:ext cx="306279" cy="228740"/>
          </a:xfrm>
          <a:prstGeom prst="roundRect">
            <a:avLst>
              <a:gd name="adj" fmla="val 3197"/>
            </a:avLst>
          </a:prstGeom>
          <a:solidFill>
            <a:srgbClr val="E9A6BF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 219"/>
          <p:cNvSpPr/>
          <p:nvPr/>
        </p:nvSpPr>
        <p:spPr>
          <a:xfrm>
            <a:off x="8260830" y="5144640"/>
            <a:ext cx="58154" cy="5427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 220"/>
          <p:cNvSpPr/>
          <p:nvPr/>
        </p:nvSpPr>
        <p:spPr>
          <a:xfrm>
            <a:off x="8346122" y="5144640"/>
            <a:ext cx="58154" cy="5427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 221"/>
          <p:cNvSpPr/>
          <p:nvPr/>
        </p:nvSpPr>
        <p:spPr>
          <a:xfrm>
            <a:off x="8431415" y="5144640"/>
            <a:ext cx="58154" cy="5427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 222"/>
          <p:cNvSpPr/>
          <p:nvPr/>
        </p:nvSpPr>
        <p:spPr>
          <a:xfrm>
            <a:off x="8260830" y="5229932"/>
            <a:ext cx="58154" cy="5427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 223"/>
          <p:cNvSpPr/>
          <p:nvPr/>
        </p:nvSpPr>
        <p:spPr>
          <a:xfrm>
            <a:off x="8346122" y="5229932"/>
            <a:ext cx="58154" cy="5427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 224"/>
          <p:cNvSpPr/>
          <p:nvPr/>
        </p:nvSpPr>
        <p:spPr>
          <a:xfrm>
            <a:off x="8431415" y="5229932"/>
            <a:ext cx="58154" cy="54277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s"/>
          <p:cNvSpPr txBox="1"/>
          <p:nvPr/>
        </p:nvSpPr>
        <p:spPr>
          <a:xfrm>
            <a:off x="8887725" y="5100384"/>
            <a:ext cx="176017" cy="2816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227" name="*"/>
          <p:cNvSpPr txBox="1"/>
          <p:nvPr/>
        </p:nvSpPr>
        <p:spPr>
          <a:xfrm>
            <a:off x="8983277" y="5051958"/>
            <a:ext cx="161844" cy="19567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228" name="path 227"/>
          <p:cNvSpPr/>
          <p:nvPr/>
        </p:nvSpPr>
        <p:spPr>
          <a:xfrm>
            <a:off x="9260790" y="4403630"/>
            <a:ext cx="453530" cy="358435"/>
          </a:xfrm>
          <a:custGeom>
            <a:avLst/>
            <a:gdLst/>
            <a:ahLst/>
            <a:cxnLst/>
            <a:rect l="l" t="t" r="r" b="b"/>
            <a:pathLst>
              <a:path w="62" h="49">
                <a:moveTo>
                  <a:pt x="0" y="0"/>
                </a:moveTo>
                <a:lnTo>
                  <a:pt x="62" y="0"/>
                </a:lnTo>
                <a:lnTo>
                  <a:pt x="62" y="49"/>
                </a:lnTo>
              </a:path>
            </a:pathLst>
          </a:custGeom>
          <a:noFill/>
          <a:ln w="19019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arrowhead 228"/>
          <p:cNvSpPr/>
          <p:nvPr/>
        </p:nvSpPr>
        <p:spPr>
          <a:xfrm>
            <a:off x="9648485" y="465234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9" y="18"/>
                </a:moveTo>
                <a:lnTo>
                  <a:pt x="0" y="0"/>
                </a:lnTo>
                <a:lnTo>
                  <a:pt x="18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path 229"/>
          <p:cNvSpPr/>
          <p:nvPr/>
        </p:nvSpPr>
        <p:spPr>
          <a:xfrm>
            <a:off x="9158380" y="4996145"/>
            <a:ext cx="555940" cy="234080"/>
          </a:xfrm>
          <a:custGeom>
            <a:avLst/>
            <a:gdLst/>
            <a:ahLst/>
            <a:cxnLst/>
            <a:rect l="l" t="t" r="r" b="b"/>
            <a:pathLst>
              <a:path w="76" h="32">
                <a:moveTo>
                  <a:pt x="0" y="32"/>
                </a:moveTo>
                <a:lnTo>
                  <a:pt x="76" y="32"/>
                </a:lnTo>
                <a:lnTo>
                  <a:pt x="76" y="0"/>
                </a:lnTo>
              </a:path>
            </a:pathLst>
          </a:custGeom>
          <a:noFill/>
          <a:ln w="19019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arrowhead 230"/>
          <p:cNvSpPr/>
          <p:nvPr/>
        </p:nvSpPr>
        <p:spPr>
          <a:xfrm>
            <a:off x="9648485" y="497420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9" y="0"/>
                </a:moveTo>
                <a:lnTo>
                  <a:pt x="18" y="18"/>
                </a:lnTo>
                <a:lnTo>
                  <a:pt x="0" y="18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circle 231"/>
          <p:cNvSpPr/>
          <p:nvPr/>
        </p:nvSpPr>
        <p:spPr>
          <a:xfrm>
            <a:off x="9582650" y="4747435"/>
            <a:ext cx="263340" cy="263340"/>
          </a:xfrm>
          <a:prstGeom prst="ellipse">
            <a:avLst/>
          </a:prstGeom>
          <a:solidFill>
            <a:srgbClr val="FFFFFF"/>
          </a:solidFill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path 232"/>
          <p:cNvSpPr/>
          <p:nvPr/>
        </p:nvSpPr>
        <p:spPr>
          <a:xfrm>
            <a:off x="9655800" y="4820585"/>
            <a:ext cx="117040" cy="102410"/>
          </a:xfrm>
          <a:custGeom>
            <a:avLst/>
            <a:gdLst/>
            <a:ahLst/>
            <a:cxnLst/>
            <a:rect l="l" t="t" r="r" b="b"/>
            <a:pathLst>
              <a:path w="16" h="14">
                <a:moveTo>
                  <a:pt x="0" y="14"/>
                </a:moveTo>
                <a:lnTo>
                  <a:pt x="8" y="0"/>
                </a:lnTo>
                <a:lnTo>
                  <a:pt x="16" y="14"/>
                </a:lnTo>
              </a:path>
            </a:pathLst>
          </a:custGeom>
          <a:noFill/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path 233"/>
          <p:cNvSpPr/>
          <p:nvPr/>
        </p:nvSpPr>
        <p:spPr>
          <a:xfrm>
            <a:off x="9867935" y="3979360"/>
            <a:ext cx="738815" cy="899745"/>
          </a:xfrm>
          <a:custGeom>
            <a:avLst/>
            <a:gdLst/>
            <a:ahLst/>
            <a:cxnLst/>
            <a:rect l="l" t="t" r="r" b="b"/>
            <a:pathLst>
              <a:path w="101" h="123">
                <a:moveTo>
                  <a:pt x="0" y="123"/>
                </a:moveTo>
                <a:lnTo>
                  <a:pt x="27" y="123"/>
                </a:lnTo>
                <a:lnTo>
                  <a:pt x="27" y="0"/>
                </a:lnTo>
                <a:lnTo>
                  <a:pt x="101" y="0"/>
                </a:lnTo>
                <a:lnTo>
                  <a:pt x="101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arrowhead 234"/>
          <p:cNvSpPr/>
          <p:nvPr/>
        </p:nvSpPr>
        <p:spPr>
          <a:xfrm>
            <a:off x="10555545" y="3942785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7" y="14"/>
                </a:moveTo>
                <a:lnTo>
                  <a:pt x="0" y="0"/>
                </a:lnTo>
                <a:lnTo>
                  <a:pt x="14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H2D"/>
          <p:cNvSpPr txBox="1"/>
          <p:nvPr/>
        </p:nvSpPr>
        <p:spPr>
          <a:xfrm>
            <a:off x="10628695" y="3688589"/>
            <a:ext cx="419441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sp>
        <p:nvSpPr>
          <p:cNvPr id="237" name="GPU"/>
          <p:cNvSpPr txBox="1"/>
          <p:nvPr/>
        </p:nvSpPr>
        <p:spPr>
          <a:xfrm>
            <a:off x="11755205" y="3688589"/>
            <a:ext cx="430899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GPU</a:t>
            </a:r>
          </a:p>
        </p:txBody>
      </p:sp>
      <p:sp>
        <p:nvSpPr>
          <p:cNvPr id="238" name="ℓ"/>
          <p:cNvSpPr txBox="1"/>
          <p:nvPr/>
        </p:nvSpPr>
        <p:spPr>
          <a:xfrm>
            <a:off x="10235685" y="4030565"/>
            <a:ext cx="176131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ℓ</a:t>
            </a:r>
          </a:p>
        </p:txBody>
      </p:sp>
      <p:sp>
        <p:nvSpPr>
          <p:cNvPr id="239" name="0"/>
          <p:cNvSpPr txBox="1"/>
          <p:nvPr/>
        </p:nvSpPr>
        <p:spPr>
          <a:xfrm>
            <a:off x="10331352" y="4151262"/>
            <a:ext cx="156358" cy="182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0</a:t>
            </a:r>
          </a:p>
        </p:txBody>
      </p:sp>
      <p:cxnSp>
        <p:nvCxnSpPr>
          <p:cNvPr id="240" name="line 239"/>
          <p:cNvCxnSpPr/>
          <p:nvPr/>
        </p:nvCxnSpPr>
        <p:spPr>
          <a:xfrm>
            <a:off x="10518970" y="4330480"/>
            <a:ext cx="219450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rect 240"/>
          <p:cNvSpPr/>
          <p:nvPr/>
        </p:nvSpPr>
        <p:spPr>
          <a:xfrm>
            <a:off x="10606750" y="4052510"/>
            <a:ext cx="599830" cy="212135"/>
          </a:xfrm>
          <a:prstGeom prst="rect">
            <a:avLst/>
          </a:prstGeom>
          <a:solidFill>
            <a:srgbClr val="F5D460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 241"/>
          <p:cNvSpPr/>
          <p:nvPr/>
        </p:nvSpPr>
        <p:spPr>
          <a:xfrm>
            <a:off x="10665270" y="4103715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 242"/>
          <p:cNvSpPr/>
          <p:nvPr/>
        </p:nvSpPr>
        <p:spPr>
          <a:xfrm>
            <a:off x="10826200" y="4103715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 243"/>
          <p:cNvSpPr/>
          <p:nvPr/>
        </p:nvSpPr>
        <p:spPr>
          <a:xfrm>
            <a:off x="10987130" y="4103715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5" name="path 244"/>
          <p:cNvCxnSpPr/>
          <p:nvPr/>
        </p:nvCxnSpPr>
        <p:spPr>
          <a:xfrm>
            <a:off x="11228525" y="4154920"/>
            <a:ext cx="168245" cy="0"/>
          </a:xfrm>
          <a:prstGeom prst="line">
            <a:avLst/>
          </a:prstGeom>
          <a:ln w="12435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arrowhead 245"/>
          <p:cNvSpPr/>
          <p:nvPr/>
        </p:nvSpPr>
        <p:spPr>
          <a:xfrm>
            <a:off x="11323620" y="411103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 246"/>
          <p:cNvSpPr/>
          <p:nvPr/>
        </p:nvSpPr>
        <p:spPr>
          <a:xfrm>
            <a:off x="11433345" y="4052510"/>
            <a:ext cx="1265495" cy="212135"/>
          </a:xfrm>
          <a:prstGeom prst="rect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ℓ"/>
          <p:cNvSpPr txBox="1"/>
          <p:nvPr/>
        </p:nvSpPr>
        <p:spPr>
          <a:xfrm>
            <a:off x="10235685" y="4564560"/>
            <a:ext cx="176131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ℓ</a:t>
            </a:r>
          </a:p>
        </p:txBody>
      </p:sp>
      <p:sp>
        <p:nvSpPr>
          <p:cNvPr id="249" name="1"/>
          <p:cNvSpPr txBox="1"/>
          <p:nvPr/>
        </p:nvSpPr>
        <p:spPr>
          <a:xfrm>
            <a:off x="10331352" y="4685258"/>
            <a:ext cx="156358" cy="182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1</a:t>
            </a:r>
          </a:p>
        </p:txBody>
      </p:sp>
      <p:cxnSp>
        <p:nvCxnSpPr>
          <p:cNvPr id="250" name="line 249"/>
          <p:cNvCxnSpPr/>
          <p:nvPr/>
        </p:nvCxnSpPr>
        <p:spPr>
          <a:xfrm>
            <a:off x="10518970" y="4864475"/>
            <a:ext cx="219450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 250"/>
          <p:cNvSpPr/>
          <p:nvPr/>
        </p:nvSpPr>
        <p:spPr>
          <a:xfrm>
            <a:off x="10884720" y="4586505"/>
            <a:ext cx="599830" cy="212135"/>
          </a:xfrm>
          <a:prstGeom prst="rect">
            <a:avLst/>
          </a:prstGeom>
          <a:solidFill>
            <a:srgbClr val="F5D460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 251"/>
          <p:cNvSpPr/>
          <p:nvPr/>
        </p:nvSpPr>
        <p:spPr>
          <a:xfrm>
            <a:off x="10943240" y="4637710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 252"/>
          <p:cNvSpPr/>
          <p:nvPr/>
        </p:nvSpPr>
        <p:spPr>
          <a:xfrm>
            <a:off x="11104170" y="4637710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 253"/>
          <p:cNvSpPr/>
          <p:nvPr/>
        </p:nvSpPr>
        <p:spPr>
          <a:xfrm>
            <a:off x="11265100" y="4637710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5" name="path 254"/>
          <p:cNvCxnSpPr/>
          <p:nvPr/>
        </p:nvCxnSpPr>
        <p:spPr>
          <a:xfrm>
            <a:off x="11506495" y="4688915"/>
            <a:ext cx="285285" cy="0"/>
          </a:xfrm>
          <a:prstGeom prst="line">
            <a:avLst/>
          </a:prstGeom>
          <a:ln w="12435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arrowhead 255"/>
          <p:cNvSpPr/>
          <p:nvPr/>
        </p:nvSpPr>
        <p:spPr>
          <a:xfrm>
            <a:off x="11718630" y="464502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 256"/>
          <p:cNvSpPr/>
          <p:nvPr/>
        </p:nvSpPr>
        <p:spPr>
          <a:xfrm>
            <a:off x="11828355" y="4586505"/>
            <a:ext cx="870485" cy="212135"/>
          </a:xfrm>
          <a:prstGeom prst="rect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path 257"/>
          <p:cNvSpPr/>
          <p:nvPr/>
        </p:nvSpPr>
        <p:spPr>
          <a:xfrm>
            <a:off x="11616220" y="4286590"/>
            <a:ext cx="336490" cy="277970"/>
          </a:xfrm>
          <a:custGeom>
            <a:avLst/>
            <a:gdLst/>
            <a:ahLst/>
            <a:cxnLst/>
            <a:rect l="l" t="t" r="r" b="b"/>
            <a:pathLst>
              <a:path w="46" h="38">
                <a:moveTo>
                  <a:pt x="0" y="0"/>
                </a:moveTo>
                <a:lnTo>
                  <a:pt x="0" y="28"/>
                </a:lnTo>
                <a:lnTo>
                  <a:pt x="46" y="28"/>
                </a:lnTo>
                <a:lnTo>
                  <a:pt x="46" y="38"/>
                </a:lnTo>
              </a:path>
            </a:pathLst>
          </a:custGeom>
          <a:noFill/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arrowhead 258"/>
          <p:cNvSpPr/>
          <p:nvPr/>
        </p:nvSpPr>
        <p:spPr>
          <a:xfrm>
            <a:off x="11908820" y="449141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6" y="12"/>
                </a:moveTo>
                <a:lnTo>
                  <a:pt x="0" y="0"/>
                </a:lnTo>
                <a:lnTo>
                  <a:pt x="12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ℓ"/>
          <p:cNvSpPr txBox="1"/>
          <p:nvPr/>
        </p:nvSpPr>
        <p:spPr>
          <a:xfrm>
            <a:off x="10235685" y="5098555"/>
            <a:ext cx="176131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ℓ</a:t>
            </a:r>
          </a:p>
        </p:txBody>
      </p:sp>
      <p:sp>
        <p:nvSpPr>
          <p:cNvPr id="261" name="2"/>
          <p:cNvSpPr txBox="1"/>
          <p:nvPr/>
        </p:nvSpPr>
        <p:spPr>
          <a:xfrm>
            <a:off x="10331352" y="5219252"/>
            <a:ext cx="156358" cy="182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5" b="0" i="0" lang="zh-CN" spc="0">
                <a:solidFill>
                  <a:srgbClr val="181818"/>
                </a:solidFill>
                <a:latin typeface="Liberation Serif"/>
                <a:ea typeface="Liberation Serif"/>
                <a:effectLst/>
              </a:rPr>
              <a:t>2</a:t>
            </a:r>
          </a:p>
        </p:txBody>
      </p:sp>
      <p:cxnSp>
        <p:nvCxnSpPr>
          <p:cNvPr id="262" name="line 261"/>
          <p:cNvCxnSpPr/>
          <p:nvPr/>
        </p:nvCxnSpPr>
        <p:spPr>
          <a:xfrm>
            <a:off x="10518970" y="5398470"/>
            <a:ext cx="2194500" cy="0"/>
          </a:xfrm>
          <a:prstGeom prst="line">
            <a:avLst/>
          </a:prstGeom>
          <a:ln w="7315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rect 262"/>
          <p:cNvSpPr/>
          <p:nvPr/>
        </p:nvSpPr>
        <p:spPr>
          <a:xfrm>
            <a:off x="11162690" y="5120500"/>
            <a:ext cx="599830" cy="212135"/>
          </a:xfrm>
          <a:prstGeom prst="rect">
            <a:avLst/>
          </a:prstGeom>
          <a:solidFill>
            <a:srgbClr val="F5D460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 263"/>
          <p:cNvSpPr/>
          <p:nvPr/>
        </p:nvSpPr>
        <p:spPr>
          <a:xfrm>
            <a:off x="11221210" y="5171705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 264"/>
          <p:cNvSpPr/>
          <p:nvPr/>
        </p:nvSpPr>
        <p:spPr>
          <a:xfrm>
            <a:off x="11382140" y="5171705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 265"/>
          <p:cNvSpPr/>
          <p:nvPr/>
        </p:nvSpPr>
        <p:spPr>
          <a:xfrm>
            <a:off x="11543070" y="5171705"/>
            <a:ext cx="124355" cy="109725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7" name="path 266"/>
          <p:cNvCxnSpPr/>
          <p:nvPr/>
        </p:nvCxnSpPr>
        <p:spPr>
          <a:xfrm>
            <a:off x="11784465" y="5222910"/>
            <a:ext cx="402325" cy="0"/>
          </a:xfrm>
          <a:prstGeom prst="line">
            <a:avLst/>
          </a:prstGeom>
          <a:ln w="12435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8" name="arrowhead 267"/>
          <p:cNvSpPr/>
          <p:nvPr/>
        </p:nvSpPr>
        <p:spPr>
          <a:xfrm>
            <a:off x="12113640" y="517902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 268"/>
          <p:cNvSpPr/>
          <p:nvPr/>
        </p:nvSpPr>
        <p:spPr>
          <a:xfrm>
            <a:off x="12223365" y="5120500"/>
            <a:ext cx="475475" cy="212135"/>
          </a:xfrm>
          <a:prstGeom prst="rect">
            <a:avLst/>
          </a:prstGeom>
          <a:solidFill>
            <a:srgbClr val="A9CEE8"/>
          </a:solidFill>
          <a:ln w="10241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path 269"/>
          <p:cNvSpPr/>
          <p:nvPr/>
        </p:nvSpPr>
        <p:spPr>
          <a:xfrm>
            <a:off x="12011230" y="4820585"/>
            <a:ext cx="336490" cy="277970"/>
          </a:xfrm>
          <a:custGeom>
            <a:avLst/>
            <a:gdLst/>
            <a:ahLst/>
            <a:cxnLst/>
            <a:rect l="l" t="t" r="r" b="b"/>
            <a:pathLst>
              <a:path w="46" h="38">
                <a:moveTo>
                  <a:pt x="0" y="0"/>
                </a:moveTo>
                <a:lnTo>
                  <a:pt x="0" y="28"/>
                </a:lnTo>
                <a:lnTo>
                  <a:pt x="46" y="28"/>
                </a:lnTo>
                <a:lnTo>
                  <a:pt x="46" y="38"/>
                </a:lnTo>
              </a:path>
            </a:pathLst>
          </a:custGeom>
          <a:noFill/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rrowhead 270"/>
          <p:cNvSpPr/>
          <p:nvPr/>
        </p:nvSpPr>
        <p:spPr>
          <a:xfrm>
            <a:off x="12303830" y="502540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6" y="12"/>
                </a:moveTo>
                <a:lnTo>
                  <a:pt x="0" y="0"/>
                </a:lnTo>
                <a:lnTo>
                  <a:pt x="12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path 271"/>
          <p:cNvSpPr/>
          <p:nvPr/>
        </p:nvSpPr>
        <p:spPr>
          <a:xfrm>
            <a:off x="7549080" y="4784010"/>
            <a:ext cx="3057670" cy="819280"/>
          </a:xfrm>
          <a:custGeom>
            <a:avLst/>
            <a:gdLst/>
            <a:ahLst/>
            <a:cxnLst/>
            <a:rect l="l" t="t" r="r" b="b"/>
            <a:pathLst>
              <a:path w="418" h="112">
                <a:moveTo>
                  <a:pt x="151" y="0"/>
                </a:moveTo>
                <a:lnTo>
                  <a:pt x="151" y="19"/>
                </a:lnTo>
                <a:lnTo>
                  <a:pt x="0" y="19"/>
                </a:lnTo>
                <a:lnTo>
                  <a:pt x="0" y="112"/>
                </a:lnTo>
                <a:lnTo>
                  <a:pt x="418" y="112"/>
                </a:lnTo>
              </a:path>
            </a:pathLst>
          </a:custGeom>
          <a:noFill/>
          <a:ln w="12435">
            <a:solidFill>
              <a:srgbClr val="2676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rrowhead 272"/>
          <p:cNvSpPr/>
          <p:nvPr/>
        </p:nvSpPr>
        <p:spPr>
          <a:xfrm>
            <a:off x="10533600" y="555940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CK"/>
          <p:cNvSpPr txBox="1"/>
          <p:nvPr/>
        </p:nvSpPr>
        <p:spPr>
          <a:xfrm>
            <a:off x="9897195" y="5336292"/>
            <a:ext cx="37675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2676B8"/>
                </a:solidFill>
                <a:latin typeface="Noto Sans CJK SC"/>
                <a:ea typeface="Noto Sans CJK SC"/>
                <a:effectLst/>
              </a:rPr>
              <a:t>ACK</a:t>
            </a:r>
          </a:p>
        </p:txBody>
      </p:sp>
      <p:sp>
        <p:nvSpPr>
          <p:cNvPr id="275" name="rect 274"/>
          <p:cNvSpPr/>
          <p:nvPr/>
        </p:nvSpPr>
        <p:spPr>
          <a:xfrm>
            <a:off x="292600" y="6071450"/>
            <a:ext cx="7827050" cy="2384690"/>
          </a:xfrm>
          <a:prstGeom prst="roundRect">
            <a:avLst>
              <a:gd name="adj" fmla="val 613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 275"/>
          <p:cNvSpPr/>
          <p:nvPr/>
        </p:nvSpPr>
        <p:spPr>
          <a:xfrm>
            <a:off x="292600" y="6071450"/>
            <a:ext cx="7827050" cy="277970"/>
          </a:xfrm>
          <a:prstGeom prst="roundRect">
            <a:avLst>
              <a:gd name="adj" fmla="val 5263"/>
            </a:avLst>
          </a:prstGeom>
          <a:solidFill>
            <a:srgbClr val="A9CEE8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(d) 终态 child → 原生可用容量"/>
          <p:cNvSpPr txBox="1"/>
          <p:nvPr/>
        </p:nvSpPr>
        <p:spPr>
          <a:xfrm>
            <a:off x="395010" y="6079570"/>
            <a:ext cx="2700607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(d) 终态 child → 原生可用容量</a:t>
            </a:r>
          </a:p>
        </p:txBody>
      </p:sp>
      <p:sp>
        <p:nvSpPr>
          <p:cNvPr id="278" name="circle 277"/>
          <p:cNvSpPr/>
          <p:nvPr/>
        </p:nvSpPr>
        <p:spPr>
          <a:xfrm>
            <a:off x="533995" y="6963880"/>
            <a:ext cx="395010" cy="395010"/>
          </a:xfrm>
          <a:prstGeom prst="ellipse">
            <a:avLst/>
          </a:prstGeom>
          <a:solidFill>
            <a:srgbClr val="E9A6BF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P"/>
          <p:cNvSpPr txBox="1"/>
          <p:nvPr/>
        </p:nvSpPr>
        <p:spPr>
          <a:xfrm>
            <a:off x="626618" y="7011428"/>
            <a:ext cx="209763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280" name="circle 279"/>
          <p:cNvSpPr/>
          <p:nvPr/>
        </p:nvSpPr>
        <p:spPr>
          <a:xfrm>
            <a:off x="1653190" y="6568870"/>
            <a:ext cx="395010" cy="395010"/>
          </a:xfrm>
          <a:prstGeom prst="ellipse">
            <a:avLst/>
          </a:prstGeom>
          <a:solidFill>
            <a:srgbClr val="B5D68B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C1"/>
          <p:cNvSpPr txBox="1"/>
          <p:nvPr/>
        </p:nvSpPr>
        <p:spPr>
          <a:xfrm>
            <a:off x="1692880" y="6616418"/>
            <a:ext cx="315631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282" name="circle 281"/>
          <p:cNvSpPr/>
          <p:nvPr/>
        </p:nvSpPr>
        <p:spPr>
          <a:xfrm>
            <a:off x="1653190" y="7702695"/>
            <a:ext cx="395010" cy="395010"/>
          </a:xfrm>
          <a:prstGeom prst="ellipse">
            <a:avLst/>
          </a:prstGeom>
          <a:solidFill>
            <a:srgbClr val="F2BD7D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C2"/>
          <p:cNvSpPr txBox="1"/>
          <p:nvPr/>
        </p:nvSpPr>
        <p:spPr>
          <a:xfrm>
            <a:off x="1692880" y="7750242"/>
            <a:ext cx="315631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cxnSp>
        <p:nvCxnSpPr>
          <p:cNvPr id="284" name="path 283"/>
          <p:cNvCxnSpPr/>
          <p:nvPr/>
        </p:nvCxnSpPr>
        <p:spPr>
          <a:xfrm flipV="1">
            <a:off x="936320" y="6839525"/>
            <a:ext cx="702240" cy="24871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arrowhead 284"/>
          <p:cNvSpPr/>
          <p:nvPr/>
        </p:nvSpPr>
        <p:spPr>
          <a:xfrm>
            <a:off x="1506890" y="6817580"/>
            <a:ext cx="153615" cy="124355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21" y="2"/>
                </a:moveTo>
                <a:lnTo>
                  <a:pt x="6" y="17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6" name="path 285"/>
          <p:cNvCxnSpPr/>
          <p:nvPr/>
        </p:nvCxnSpPr>
        <p:spPr>
          <a:xfrm>
            <a:off x="914375" y="7271110"/>
            <a:ext cx="738815" cy="51205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arrowhead 286"/>
          <p:cNvSpPr/>
          <p:nvPr/>
        </p:nvSpPr>
        <p:spPr>
          <a:xfrm>
            <a:off x="1521520" y="7666120"/>
            <a:ext cx="146300" cy="131670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20" y="18"/>
                </a:moveTo>
                <a:lnTo>
                  <a:pt x="0" y="15"/>
                </a:lnTo>
                <a:lnTo>
                  <a:pt x="1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path 287"/>
          <p:cNvSpPr/>
          <p:nvPr/>
        </p:nvSpPr>
        <p:spPr>
          <a:xfrm>
            <a:off x="2099405" y="656887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9"/>
                </a:moveTo>
                <a:lnTo>
                  <a:pt x="6" y="18"/>
                </a:lnTo>
                <a:lnTo>
                  <a:pt x="18" y="0"/>
                </a:lnTo>
              </a:path>
            </a:pathLst>
          </a:custGeom>
          <a:noFill/>
          <a:ln w="2048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9" name="path 288"/>
          <p:cNvCxnSpPr/>
          <p:nvPr/>
        </p:nvCxnSpPr>
        <p:spPr>
          <a:xfrm>
            <a:off x="2070145" y="6766375"/>
            <a:ext cx="497420" cy="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arrowhead 289"/>
          <p:cNvSpPr/>
          <p:nvPr/>
        </p:nvSpPr>
        <p:spPr>
          <a:xfrm>
            <a:off x="2457840" y="670054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 290"/>
          <p:cNvSpPr/>
          <p:nvPr/>
        </p:nvSpPr>
        <p:spPr>
          <a:xfrm>
            <a:off x="2626085" y="6407940"/>
            <a:ext cx="585200" cy="16093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private"/>
          <p:cNvSpPr txBox="1"/>
          <p:nvPr/>
        </p:nvSpPr>
        <p:spPr>
          <a:xfrm>
            <a:off x="2684605" y="6377729"/>
            <a:ext cx="491448" cy="21030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private</a:t>
            </a:r>
          </a:p>
        </p:txBody>
      </p:sp>
      <p:sp>
        <p:nvSpPr>
          <p:cNvPr id="293" name="rect 292"/>
          <p:cNvSpPr/>
          <p:nvPr/>
        </p:nvSpPr>
        <p:spPr>
          <a:xfrm>
            <a:off x="3211285" y="6407940"/>
            <a:ext cx="585200" cy="16093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fs=0"/>
          <p:cNvSpPr txBox="1"/>
          <p:nvPr/>
        </p:nvSpPr>
        <p:spPr>
          <a:xfrm>
            <a:off x="3269805" y="6377729"/>
            <a:ext cx="439700" cy="21030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refs=0</a:t>
            </a:r>
          </a:p>
        </p:txBody>
      </p:sp>
      <p:sp>
        <p:nvSpPr>
          <p:cNvPr id="295" name="rect 294"/>
          <p:cNvSpPr/>
          <p:nvPr/>
        </p:nvSpPr>
        <p:spPr>
          <a:xfrm>
            <a:off x="3796485" y="6407940"/>
            <a:ext cx="585200" cy="160930"/>
          </a:xfrm>
          <a:prstGeom prst="rect">
            <a:avLst/>
          </a:prstGeom>
          <a:solidFill>
            <a:srgbClr val="FFFFFF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DMA=0"/>
          <p:cNvSpPr txBox="1"/>
          <p:nvPr/>
        </p:nvSpPr>
        <p:spPr>
          <a:xfrm>
            <a:off x="3855005" y="6377729"/>
            <a:ext cx="487933" cy="21030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DMA=0</a:t>
            </a:r>
          </a:p>
        </p:txBody>
      </p:sp>
      <p:sp>
        <p:nvSpPr>
          <p:cNvPr id="297" name="rect 296"/>
          <p:cNvSpPr/>
          <p:nvPr/>
        </p:nvSpPr>
        <p:spPr>
          <a:xfrm>
            <a:off x="2640715" y="6627390"/>
            <a:ext cx="263340" cy="248710"/>
          </a:xfrm>
          <a:prstGeom prst="roundRect">
            <a:avLst>
              <a:gd name="adj" fmla="val 2941"/>
            </a:avLst>
          </a:prstGeom>
          <a:solidFill>
            <a:srgbClr val="DDDDDD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 297"/>
          <p:cNvSpPr/>
          <p:nvPr/>
        </p:nvSpPr>
        <p:spPr>
          <a:xfrm>
            <a:off x="2969890" y="6627390"/>
            <a:ext cx="263340" cy="248710"/>
          </a:xfrm>
          <a:prstGeom prst="roundRect">
            <a:avLst>
              <a:gd name="adj" fmla="val 2941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 298"/>
          <p:cNvSpPr/>
          <p:nvPr/>
        </p:nvSpPr>
        <p:spPr>
          <a:xfrm>
            <a:off x="3299065" y="6627390"/>
            <a:ext cx="263340" cy="248710"/>
          </a:xfrm>
          <a:prstGeom prst="roundRect">
            <a:avLst>
              <a:gd name="adj" fmla="val 2941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 299"/>
          <p:cNvSpPr/>
          <p:nvPr/>
        </p:nvSpPr>
        <p:spPr>
          <a:xfrm>
            <a:off x="3628240" y="6627390"/>
            <a:ext cx="263340" cy="248710"/>
          </a:xfrm>
          <a:prstGeom prst="roundRect">
            <a:avLst>
              <a:gd name="adj" fmla="val 2941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path 300"/>
          <p:cNvSpPr/>
          <p:nvPr/>
        </p:nvSpPr>
        <p:spPr>
          <a:xfrm>
            <a:off x="2721180" y="6927305"/>
            <a:ext cx="58520" cy="51205"/>
          </a:xfrm>
          <a:custGeom>
            <a:avLst/>
            <a:gdLst/>
            <a:ahLst/>
            <a:cxnLst/>
            <a:rect l="l" t="t" r="r" b="b"/>
            <a:pathLst>
              <a:path w="8" h="7">
                <a:moveTo>
                  <a:pt x="0" y="7"/>
                </a:moveTo>
                <a:lnTo>
                  <a:pt x="0" y="0"/>
                </a:lnTo>
                <a:lnTo>
                  <a:pt x="8" y="0"/>
                </a:lnTo>
                <a:lnTo>
                  <a:pt x="8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 301"/>
          <p:cNvSpPr/>
          <p:nvPr/>
        </p:nvSpPr>
        <p:spPr>
          <a:xfrm>
            <a:off x="2699235" y="6977047"/>
            <a:ext cx="105336" cy="8778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ircle 302"/>
          <p:cNvSpPr/>
          <p:nvPr/>
        </p:nvSpPr>
        <p:spPr>
          <a:xfrm>
            <a:off x="2743125" y="7003381"/>
            <a:ext cx="17556" cy="17556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私有后缀"/>
          <p:cNvSpPr txBox="1"/>
          <p:nvPr/>
        </p:nvSpPr>
        <p:spPr>
          <a:xfrm>
            <a:off x="3094245" y="6967538"/>
            <a:ext cx="70224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私有后缀</a:t>
            </a:r>
          </a:p>
        </p:txBody>
      </p:sp>
      <p:cxnSp>
        <p:nvCxnSpPr>
          <p:cNvPr id="305" name="path 304"/>
          <p:cNvCxnSpPr/>
          <p:nvPr/>
        </p:nvCxnSpPr>
        <p:spPr>
          <a:xfrm>
            <a:off x="4008620" y="6751745"/>
            <a:ext cx="636405" cy="0"/>
          </a:xfrm>
          <a:prstGeom prst="line">
            <a:avLst/>
          </a:prstGeom>
          <a:ln w="19019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arrowhead 305"/>
          <p:cNvSpPr/>
          <p:nvPr/>
        </p:nvSpPr>
        <p:spPr>
          <a:xfrm>
            <a:off x="4535300" y="668591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 306"/>
          <p:cNvSpPr/>
          <p:nvPr/>
        </p:nvSpPr>
        <p:spPr>
          <a:xfrm>
            <a:off x="4740120" y="6590815"/>
            <a:ext cx="899745" cy="35112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243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 307"/>
          <p:cNvSpPr/>
          <p:nvPr/>
        </p:nvSpPr>
        <p:spPr>
          <a:xfrm>
            <a:off x="4805955" y="6678595"/>
            <a:ext cx="146300" cy="175560"/>
          </a:xfrm>
          <a:prstGeom prst="rect">
            <a:avLst/>
          </a:prstGeom>
          <a:solidFill>
            <a:srgbClr val="FFFFFF"/>
          </a:solidFill>
          <a:ln w="877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 308"/>
          <p:cNvSpPr/>
          <p:nvPr/>
        </p:nvSpPr>
        <p:spPr>
          <a:xfrm>
            <a:off x="5010775" y="6678595"/>
            <a:ext cx="146300" cy="175560"/>
          </a:xfrm>
          <a:prstGeom prst="rect">
            <a:avLst/>
          </a:prstGeom>
          <a:solidFill>
            <a:srgbClr val="FFFFFF"/>
          </a:solidFill>
          <a:ln w="877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 309"/>
          <p:cNvSpPr/>
          <p:nvPr/>
        </p:nvSpPr>
        <p:spPr>
          <a:xfrm>
            <a:off x="5215595" y="6678595"/>
            <a:ext cx="146300" cy="175560"/>
          </a:xfrm>
          <a:prstGeom prst="rect">
            <a:avLst/>
          </a:prstGeom>
          <a:solidFill>
            <a:srgbClr val="FFFFFF"/>
          </a:solidFill>
          <a:ln w="877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 310"/>
          <p:cNvSpPr/>
          <p:nvPr/>
        </p:nvSpPr>
        <p:spPr>
          <a:xfrm>
            <a:off x="5420415" y="6678595"/>
            <a:ext cx="146300" cy="175560"/>
          </a:xfrm>
          <a:prstGeom prst="rect">
            <a:avLst/>
          </a:prstGeom>
          <a:solidFill>
            <a:srgbClr val="FFFFFF"/>
          </a:solidFill>
          <a:ln w="8778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空闲列表"/>
          <p:cNvSpPr txBox="1"/>
          <p:nvPr/>
        </p:nvSpPr>
        <p:spPr>
          <a:xfrm>
            <a:off x="4740120" y="6973024"/>
            <a:ext cx="73150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空闲列表</a:t>
            </a:r>
          </a:p>
        </p:txBody>
      </p:sp>
      <p:cxnSp>
        <p:nvCxnSpPr>
          <p:cNvPr id="313" name="path 312"/>
          <p:cNvCxnSpPr/>
          <p:nvPr/>
        </p:nvCxnSpPr>
        <p:spPr>
          <a:xfrm>
            <a:off x="5676440" y="6751745"/>
            <a:ext cx="694925" cy="0"/>
          </a:xfrm>
          <a:prstGeom prst="line">
            <a:avLst/>
          </a:prstGeom>
          <a:ln w="19019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arrowhead 313"/>
          <p:cNvSpPr/>
          <p:nvPr/>
        </p:nvSpPr>
        <p:spPr>
          <a:xfrm>
            <a:off x="6261640" y="668591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 314"/>
          <p:cNvSpPr/>
          <p:nvPr/>
        </p:nvSpPr>
        <p:spPr>
          <a:xfrm>
            <a:off x="6481090" y="6605445"/>
            <a:ext cx="365750" cy="314545"/>
          </a:xfrm>
          <a:prstGeom prst="roundRect">
            <a:avLst>
              <a:gd name="adj" fmla="val 23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q0"/>
          <p:cNvSpPr txBox="1"/>
          <p:nvPr/>
        </p:nvSpPr>
        <p:spPr>
          <a:xfrm>
            <a:off x="6525294" y="6635729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q0</a:t>
            </a:r>
          </a:p>
        </p:txBody>
      </p:sp>
      <p:sp>
        <p:nvSpPr>
          <p:cNvPr id="317" name="rect 316"/>
          <p:cNvSpPr/>
          <p:nvPr/>
        </p:nvSpPr>
        <p:spPr>
          <a:xfrm>
            <a:off x="6927305" y="6605445"/>
            <a:ext cx="365750" cy="314545"/>
          </a:xfrm>
          <a:prstGeom prst="roundRect">
            <a:avLst>
              <a:gd name="adj" fmla="val 23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q1"/>
          <p:cNvSpPr txBox="1"/>
          <p:nvPr/>
        </p:nvSpPr>
        <p:spPr>
          <a:xfrm>
            <a:off x="6971509" y="6635729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q1</a:t>
            </a:r>
          </a:p>
        </p:txBody>
      </p:sp>
      <p:sp>
        <p:nvSpPr>
          <p:cNvPr id="319" name="rect 318"/>
          <p:cNvSpPr/>
          <p:nvPr/>
        </p:nvSpPr>
        <p:spPr>
          <a:xfrm>
            <a:off x="7373520" y="6605445"/>
            <a:ext cx="365750" cy="314545"/>
          </a:xfrm>
          <a:prstGeom prst="roundRect">
            <a:avLst>
              <a:gd name="adj" fmla="val 232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q2"/>
          <p:cNvSpPr txBox="1"/>
          <p:nvPr/>
        </p:nvSpPr>
        <p:spPr>
          <a:xfrm>
            <a:off x="7417724" y="6635729"/>
            <a:ext cx="27734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q2</a:t>
            </a:r>
          </a:p>
        </p:txBody>
      </p:sp>
      <p:sp>
        <p:nvSpPr>
          <p:cNvPr id="321" name="Parent KV"/>
          <p:cNvSpPr txBox="1"/>
          <p:nvPr/>
        </p:nvSpPr>
        <p:spPr>
          <a:xfrm>
            <a:off x="6539610" y="6951079"/>
            <a:ext cx="894859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Parent KV</a:t>
            </a:r>
          </a:p>
        </p:txBody>
      </p:sp>
      <p:cxnSp>
        <p:nvCxnSpPr>
          <p:cNvPr id="322" name="line 321"/>
          <p:cNvCxnSpPr/>
          <p:nvPr/>
        </p:nvCxnSpPr>
        <p:spPr>
          <a:xfrm>
            <a:off x="6810265" y="7402780"/>
            <a:ext cx="0" cy="936320"/>
          </a:xfrm>
          <a:prstGeom prst="line">
            <a:avLst/>
          </a:prstGeom>
          <a:ln w="12435">
            <a:solidFill>
              <a:srgbClr val="9696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RETURN"/>
          <p:cNvSpPr txBox="1"/>
          <p:nvPr/>
        </p:nvSpPr>
        <p:spPr>
          <a:xfrm>
            <a:off x="6890730" y="7355232"/>
            <a:ext cx="71772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RETURN</a:t>
            </a:r>
          </a:p>
        </p:txBody>
      </p:sp>
      <p:sp>
        <p:nvSpPr>
          <p:cNvPr id="324" name="rect 323"/>
          <p:cNvSpPr/>
          <p:nvPr/>
        </p:nvSpPr>
        <p:spPr>
          <a:xfrm>
            <a:off x="2713865" y="8061130"/>
            <a:ext cx="4096400" cy="234080"/>
          </a:xfrm>
          <a:prstGeom prst="roundRect">
            <a:avLst>
              <a:gd name="adj" fmla="val 3125"/>
            </a:avLst>
          </a:prstGeom>
          <a:solidFill>
            <a:srgbClr val="F2BD7D"/>
          </a:solidFill>
          <a:ln w="11704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C2: decode"/>
          <p:cNvSpPr txBox="1"/>
          <p:nvPr/>
        </p:nvSpPr>
        <p:spPr>
          <a:xfrm>
            <a:off x="4117931" y="8033699"/>
            <a:ext cx="951779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C2: decode</a:t>
            </a:r>
          </a:p>
        </p:txBody>
      </p:sp>
      <p:sp>
        <p:nvSpPr>
          <p:cNvPr id="326" name="rect 325"/>
          <p:cNvSpPr/>
          <p:nvPr/>
        </p:nvSpPr>
        <p:spPr>
          <a:xfrm>
            <a:off x="5274115" y="7666120"/>
            <a:ext cx="1324015" cy="241395"/>
          </a:xfrm>
          <a:prstGeom prst="roundRect">
            <a:avLst>
              <a:gd name="adj" fmla="val 3030"/>
            </a:avLst>
          </a:prstGeom>
          <a:solidFill>
            <a:srgbClr val="F5D460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H2D"/>
          <p:cNvSpPr txBox="1"/>
          <p:nvPr/>
        </p:nvSpPr>
        <p:spPr>
          <a:xfrm>
            <a:off x="5715558" y="7636860"/>
            <a:ext cx="433814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sp>
        <p:nvSpPr>
          <p:cNvPr id="328" name="rect 327"/>
          <p:cNvSpPr/>
          <p:nvPr/>
        </p:nvSpPr>
        <p:spPr>
          <a:xfrm>
            <a:off x="6824895" y="7666120"/>
            <a:ext cx="1082620" cy="241395"/>
          </a:xfrm>
          <a:prstGeom prst="roundRect">
            <a:avLst>
              <a:gd name="adj" fmla="val 3030"/>
            </a:avLst>
          </a:prstGeom>
          <a:solidFill>
            <a:srgbClr val="DDDDDD"/>
          </a:solidFill>
          <a:ln w="10972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demand"/>
          <p:cNvSpPr txBox="1"/>
          <p:nvPr/>
        </p:nvSpPr>
        <p:spPr>
          <a:xfrm>
            <a:off x="7023314" y="7662462"/>
            <a:ext cx="68578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demand</a:t>
            </a:r>
          </a:p>
        </p:txBody>
      </p:sp>
      <p:sp>
        <p:nvSpPr>
          <p:cNvPr id="330" name="path 329"/>
          <p:cNvSpPr/>
          <p:nvPr/>
        </p:nvSpPr>
        <p:spPr>
          <a:xfrm>
            <a:off x="4498725" y="6883415"/>
            <a:ext cx="1433740" cy="753445"/>
          </a:xfrm>
          <a:custGeom>
            <a:avLst/>
            <a:gdLst/>
            <a:ahLst/>
            <a:cxnLst/>
            <a:rect l="l" t="t" r="r" b="b"/>
            <a:pathLst>
              <a:path w="196" h="103">
                <a:moveTo>
                  <a:pt x="33" y="0"/>
                </a:moveTo>
                <a:lnTo>
                  <a:pt x="0" y="0"/>
                </a:lnTo>
                <a:lnTo>
                  <a:pt x="0" y="60"/>
                </a:lnTo>
                <a:lnTo>
                  <a:pt x="196" y="60"/>
                </a:lnTo>
                <a:lnTo>
                  <a:pt x="196" y="103"/>
                </a:lnTo>
              </a:path>
            </a:pathLst>
          </a:custGeom>
          <a:noFill/>
          <a:ln w="19019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arrowhead 330"/>
          <p:cNvSpPr/>
          <p:nvPr/>
        </p:nvSpPr>
        <p:spPr>
          <a:xfrm>
            <a:off x="5866630" y="752713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9" y="18"/>
                </a:moveTo>
                <a:lnTo>
                  <a:pt x="0" y="0"/>
                </a:lnTo>
                <a:lnTo>
                  <a:pt x="18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path 331"/>
          <p:cNvSpPr/>
          <p:nvPr/>
        </p:nvSpPr>
        <p:spPr>
          <a:xfrm>
            <a:off x="1792175" y="8156225"/>
            <a:ext cx="65835" cy="51205"/>
          </a:xfrm>
          <a:custGeom>
            <a:avLst/>
            <a:gdLst/>
            <a:ahLst/>
            <a:cxnLst/>
            <a:rect l="l" t="t" r="r" b="b"/>
            <a:pathLst>
              <a:path w="9" h="7">
                <a:moveTo>
                  <a:pt x="0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 332"/>
          <p:cNvSpPr/>
          <p:nvPr/>
        </p:nvSpPr>
        <p:spPr>
          <a:xfrm>
            <a:off x="1770230" y="8210722"/>
            <a:ext cx="114114" cy="9509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circle 333"/>
          <p:cNvSpPr/>
          <p:nvPr/>
        </p:nvSpPr>
        <p:spPr>
          <a:xfrm>
            <a:off x="1817778" y="8239250"/>
            <a:ext cx="19019" cy="19019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 334"/>
          <p:cNvSpPr/>
          <p:nvPr/>
        </p:nvSpPr>
        <p:spPr>
          <a:xfrm>
            <a:off x="8412250" y="6071450"/>
            <a:ext cx="4462150" cy="2384690"/>
          </a:xfrm>
          <a:prstGeom prst="roundRect">
            <a:avLst>
              <a:gd name="adj" fmla="val 613"/>
            </a:avLst>
          </a:prstGeom>
          <a:solidFill>
            <a:srgbClr val="EEEEEE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 335"/>
          <p:cNvSpPr/>
          <p:nvPr/>
        </p:nvSpPr>
        <p:spPr>
          <a:xfrm>
            <a:off x="8412250" y="6071450"/>
            <a:ext cx="4462150" cy="277970"/>
          </a:xfrm>
          <a:prstGeom prst="roundRect">
            <a:avLst>
              <a:gd name="adj" fmla="val 5263"/>
            </a:avLst>
          </a:prstGeom>
          <a:solidFill>
            <a:srgbClr val="9DC3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(e) 驻留、准入与首次消费"/>
          <p:cNvSpPr txBox="1"/>
          <p:nvPr/>
        </p:nvSpPr>
        <p:spPr>
          <a:xfrm>
            <a:off x="8514660" y="6079570"/>
            <a:ext cx="2287138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(e) 驻留、准入与首次消费</a:t>
            </a:r>
          </a:p>
        </p:txBody>
      </p:sp>
      <p:sp>
        <p:nvSpPr>
          <p:cNvPr id="338" name="ACK"/>
          <p:cNvSpPr txBox="1"/>
          <p:nvPr/>
        </p:nvSpPr>
        <p:spPr>
          <a:xfrm>
            <a:off x="8602440" y="6345762"/>
            <a:ext cx="37675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2676B8"/>
                </a:solidFill>
                <a:latin typeface="Noto Sans CJK SC"/>
                <a:ea typeface="Noto Sans CJK SC"/>
                <a:effectLst/>
              </a:rPr>
              <a:t>ACK</a:t>
            </a:r>
          </a:p>
        </p:txBody>
      </p:sp>
      <p:cxnSp>
        <p:nvCxnSpPr>
          <p:cNvPr id="339" name="path 338"/>
          <p:cNvCxnSpPr/>
          <p:nvPr/>
        </p:nvCxnSpPr>
        <p:spPr>
          <a:xfrm>
            <a:off x="9004765" y="6473775"/>
            <a:ext cx="314545" cy="0"/>
          </a:xfrm>
          <a:prstGeom prst="line">
            <a:avLst/>
          </a:prstGeom>
          <a:ln w="11704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arrowhead 339"/>
          <p:cNvSpPr/>
          <p:nvPr/>
        </p:nvSpPr>
        <p:spPr>
          <a:xfrm>
            <a:off x="9246160" y="642988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path 340"/>
          <p:cNvSpPr/>
          <p:nvPr/>
        </p:nvSpPr>
        <p:spPr>
          <a:xfrm>
            <a:off x="9421720" y="6342105"/>
            <a:ext cx="65835" cy="51205"/>
          </a:xfrm>
          <a:custGeom>
            <a:avLst/>
            <a:gdLst/>
            <a:ahLst/>
            <a:cxnLst/>
            <a:rect l="l" t="t" r="r" b="b"/>
            <a:pathLst>
              <a:path w="9" h="7">
                <a:moveTo>
                  <a:pt x="0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 341"/>
          <p:cNvSpPr/>
          <p:nvPr/>
        </p:nvSpPr>
        <p:spPr>
          <a:xfrm>
            <a:off x="9399775" y="6396602"/>
            <a:ext cx="114114" cy="9509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circle 342"/>
          <p:cNvSpPr/>
          <p:nvPr/>
        </p:nvSpPr>
        <p:spPr>
          <a:xfrm>
            <a:off x="9447322" y="6425130"/>
            <a:ext cx="19019" cy="19019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lease"/>
          <p:cNvSpPr txBox="1"/>
          <p:nvPr/>
        </p:nvSpPr>
        <p:spPr>
          <a:xfrm>
            <a:off x="9582650" y="6345762"/>
            <a:ext cx="45753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lease</a:t>
            </a:r>
          </a:p>
        </p:txBody>
      </p:sp>
      <p:cxnSp>
        <p:nvCxnSpPr>
          <p:cNvPr id="345" name="path 344"/>
          <p:cNvCxnSpPr/>
          <p:nvPr/>
        </p:nvCxnSpPr>
        <p:spPr>
          <a:xfrm>
            <a:off x="10036180" y="6473775"/>
            <a:ext cx="285285" cy="0"/>
          </a:xfrm>
          <a:prstGeom prst="line">
            <a:avLst/>
          </a:prstGeom>
          <a:ln w="11704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6" name="arrowhead 345"/>
          <p:cNvSpPr/>
          <p:nvPr/>
        </p:nvSpPr>
        <p:spPr>
          <a:xfrm>
            <a:off x="10248315" y="642988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消费 / 到期"/>
          <p:cNvSpPr txBox="1"/>
          <p:nvPr/>
        </p:nvSpPr>
        <p:spPr>
          <a:xfrm>
            <a:off x="10445820" y="6345762"/>
            <a:ext cx="831253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消费 / 到期</a:t>
            </a:r>
          </a:p>
        </p:txBody>
      </p:sp>
      <p:sp>
        <p:nvSpPr>
          <p:cNvPr id="348" name="circle 347"/>
          <p:cNvSpPr/>
          <p:nvPr/>
        </p:nvSpPr>
        <p:spPr>
          <a:xfrm>
            <a:off x="12069750" y="6364050"/>
            <a:ext cx="190190" cy="19019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path 348"/>
          <p:cNvSpPr/>
          <p:nvPr/>
        </p:nvSpPr>
        <p:spPr>
          <a:xfrm>
            <a:off x="12164845" y="6400625"/>
            <a:ext cx="51205" cy="80465"/>
          </a:xfrm>
          <a:custGeom>
            <a:avLst/>
            <a:gdLst/>
            <a:ahLst/>
            <a:cxnLst/>
            <a:rect l="l" t="t" r="r" b="b"/>
            <a:pathLst>
              <a:path w="7" h="11">
                <a:moveTo>
                  <a:pt x="0" y="0"/>
                </a:moveTo>
                <a:lnTo>
                  <a:pt x="0" y="8"/>
                </a:lnTo>
                <a:lnTo>
                  <a:pt x="7" y="11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 349"/>
          <p:cNvSpPr/>
          <p:nvPr/>
        </p:nvSpPr>
        <p:spPr>
          <a:xfrm>
            <a:off x="8639015" y="6627390"/>
            <a:ext cx="1433740" cy="3803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 350"/>
          <p:cNvSpPr/>
          <p:nvPr/>
        </p:nvSpPr>
        <p:spPr>
          <a:xfrm>
            <a:off x="8646330" y="6634705"/>
            <a:ext cx="73150" cy="36575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ld"/>
          <p:cNvSpPr txBox="1"/>
          <p:nvPr/>
        </p:nvSpPr>
        <p:spPr>
          <a:xfrm>
            <a:off x="8812903" y="6679107"/>
            <a:ext cx="354463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old</a:t>
            </a:r>
          </a:p>
        </p:txBody>
      </p:sp>
      <p:sp>
        <p:nvSpPr>
          <p:cNvPr id="353" name="rect 352"/>
          <p:cNvSpPr/>
          <p:nvPr/>
        </p:nvSpPr>
        <p:spPr>
          <a:xfrm>
            <a:off x="9524130" y="673711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 353"/>
          <p:cNvSpPr/>
          <p:nvPr/>
        </p:nvSpPr>
        <p:spPr>
          <a:xfrm>
            <a:off x="9670430" y="673711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 354"/>
          <p:cNvSpPr/>
          <p:nvPr/>
        </p:nvSpPr>
        <p:spPr>
          <a:xfrm>
            <a:off x="9816730" y="673711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 355"/>
          <p:cNvSpPr/>
          <p:nvPr/>
        </p:nvSpPr>
        <p:spPr>
          <a:xfrm>
            <a:off x="8639015" y="7197960"/>
            <a:ext cx="1433740" cy="3803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 356"/>
          <p:cNvSpPr/>
          <p:nvPr/>
        </p:nvSpPr>
        <p:spPr>
          <a:xfrm>
            <a:off x="8646330" y="7205275"/>
            <a:ext cx="73150" cy="365750"/>
          </a:xfrm>
          <a:prstGeom prst="rect">
            <a:avLst/>
          </a:prstGeom>
          <a:solidFill>
            <a:srgbClr val="B5D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hit"/>
          <p:cNvSpPr txBox="1"/>
          <p:nvPr/>
        </p:nvSpPr>
        <p:spPr>
          <a:xfrm>
            <a:off x="8831420" y="7249677"/>
            <a:ext cx="31743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hit</a:t>
            </a:r>
          </a:p>
        </p:txBody>
      </p:sp>
      <p:sp>
        <p:nvSpPr>
          <p:cNvPr id="359" name="rect 358"/>
          <p:cNvSpPr/>
          <p:nvPr/>
        </p:nvSpPr>
        <p:spPr>
          <a:xfrm>
            <a:off x="9524130" y="730768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 359"/>
          <p:cNvSpPr/>
          <p:nvPr/>
        </p:nvSpPr>
        <p:spPr>
          <a:xfrm>
            <a:off x="9670430" y="730768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 360"/>
          <p:cNvSpPr/>
          <p:nvPr/>
        </p:nvSpPr>
        <p:spPr>
          <a:xfrm>
            <a:off x="9816730" y="730768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 361"/>
          <p:cNvSpPr/>
          <p:nvPr/>
        </p:nvSpPr>
        <p:spPr>
          <a:xfrm>
            <a:off x="8639015" y="7768530"/>
            <a:ext cx="1433740" cy="3803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 362"/>
          <p:cNvSpPr/>
          <p:nvPr/>
        </p:nvSpPr>
        <p:spPr>
          <a:xfrm>
            <a:off x="8646330" y="7775845"/>
            <a:ext cx="73150" cy="365750"/>
          </a:xfrm>
          <a:prstGeom prst="rect">
            <a:avLst/>
          </a:prstGeom>
          <a:solidFill>
            <a:srgbClr val="E9A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P"/>
          <p:cNvSpPr txBox="1"/>
          <p:nvPr/>
        </p:nvSpPr>
        <p:spPr>
          <a:xfrm>
            <a:off x="8890140" y="7820247"/>
            <a:ext cx="19999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365" name="rect 364"/>
          <p:cNvSpPr/>
          <p:nvPr/>
        </p:nvSpPr>
        <p:spPr>
          <a:xfrm>
            <a:off x="9524130" y="787825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 365"/>
          <p:cNvSpPr/>
          <p:nvPr/>
        </p:nvSpPr>
        <p:spPr>
          <a:xfrm>
            <a:off x="9670430" y="787825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 366"/>
          <p:cNvSpPr/>
          <p:nvPr/>
        </p:nvSpPr>
        <p:spPr>
          <a:xfrm>
            <a:off x="9816730" y="7878255"/>
            <a:ext cx="109725" cy="160930"/>
          </a:xfrm>
          <a:prstGeom prst="roundRect">
            <a:avLst>
              <a:gd name="adj" fmla="val 6666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path 367"/>
          <p:cNvSpPr/>
          <p:nvPr/>
        </p:nvSpPr>
        <p:spPr>
          <a:xfrm>
            <a:off x="9948400" y="7644175"/>
            <a:ext cx="58520" cy="51205"/>
          </a:xfrm>
          <a:custGeom>
            <a:avLst/>
            <a:gdLst/>
            <a:ahLst/>
            <a:cxnLst/>
            <a:rect l="l" t="t" r="r" b="b"/>
            <a:pathLst>
              <a:path w="8" h="7">
                <a:moveTo>
                  <a:pt x="0" y="7"/>
                </a:moveTo>
                <a:lnTo>
                  <a:pt x="0" y="0"/>
                </a:lnTo>
                <a:lnTo>
                  <a:pt x="8" y="0"/>
                </a:lnTo>
                <a:lnTo>
                  <a:pt x="8" y="7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 368"/>
          <p:cNvSpPr/>
          <p:nvPr/>
        </p:nvSpPr>
        <p:spPr>
          <a:xfrm>
            <a:off x="9926455" y="7693917"/>
            <a:ext cx="105336" cy="8778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circle 369"/>
          <p:cNvSpPr/>
          <p:nvPr/>
        </p:nvSpPr>
        <p:spPr>
          <a:xfrm>
            <a:off x="9970345" y="7720251"/>
            <a:ext cx="17556" cy="17556"/>
          </a:xfrm>
          <a:prstGeom prst="ellipse">
            <a:avLst/>
          </a:prstGeom>
          <a:solidFill>
            <a:srgbClr val="181818"/>
          </a:solidFill>
          <a:ln w="7315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circle 370"/>
          <p:cNvSpPr/>
          <p:nvPr/>
        </p:nvSpPr>
        <p:spPr>
          <a:xfrm>
            <a:off x="10145905" y="6656650"/>
            <a:ext cx="219450" cy="21945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path 371"/>
          <p:cNvSpPr/>
          <p:nvPr/>
        </p:nvSpPr>
        <p:spPr>
          <a:xfrm>
            <a:off x="10255630" y="6693225"/>
            <a:ext cx="58520" cy="102410"/>
          </a:xfrm>
          <a:custGeom>
            <a:avLst/>
            <a:gdLst/>
            <a:ahLst/>
            <a:cxnLst/>
            <a:rect l="l" t="t" r="r" b="b"/>
            <a:pathLst>
              <a:path w="8" h="14">
                <a:moveTo>
                  <a:pt x="0" y="0"/>
                </a:moveTo>
                <a:lnTo>
                  <a:pt x="0" y="10"/>
                </a:lnTo>
                <a:lnTo>
                  <a:pt x="8" y="14"/>
                </a:lnTo>
              </a:path>
            </a:pathLst>
          </a:custGeom>
          <a:noFill/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老化"/>
          <p:cNvSpPr txBox="1"/>
          <p:nvPr/>
        </p:nvSpPr>
        <p:spPr>
          <a:xfrm>
            <a:off x="10431190" y="6645678"/>
            <a:ext cx="39501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535353"/>
                </a:solidFill>
                <a:latin typeface="Noto Sans CJK SC"/>
                <a:ea typeface="Noto Sans CJK SC"/>
                <a:effectLst/>
              </a:rPr>
              <a:t>老化</a:t>
            </a:r>
          </a:p>
        </p:txBody>
      </p:sp>
      <p:cxnSp>
        <p:nvCxnSpPr>
          <p:cNvPr id="374" name="line 373"/>
          <p:cNvCxnSpPr/>
          <p:nvPr/>
        </p:nvCxnSpPr>
        <p:spPr>
          <a:xfrm>
            <a:off x="11513810" y="701508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line 374"/>
          <p:cNvCxnSpPr/>
          <p:nvPr/>
        </p:nvCxnSpPr>
        <p:spPr>
          <a:xfrm>
            <a:off x="11513810" y="807576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line 375"/>
          <p:cNvCxnSpPr/>
          <p:nvPr/>
        </p:nvCxnSpPr>
        <p:spPr>
          <a:xfrm>
            <a:off x="11660110" y="701508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line 376"/>
          <p:cNvCxnSpPr/>
          <p:nvPr/>
        </p:nvCxnSpPr>
        <p:spPr>
          <a:xfrm>
            <a:off x="11660110" y="807576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line 377"/>
          <p:cNvCxnSpPr/>
          <p:nvPr/>
        </p:nvCxnSpPr>
        <p:spPr>
          <a:xfrm>
            <a:off x="11806410" y="701508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line 378"/>
          <p:cNvCxnSpPr/>
          <p:nvPr/>
        </p:nvCxnSpPr>
        <p:spPr>
          <a:xfrm>
            <a:off x="11806410" y="807576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line 379"/>
          <p:cNvCxnSpPr/>
          <p:nvPr/>
        </p:nvCxnSpPr>
        <p:spPr>
          <a:xfrm>
            <a:off x="11952710" y="701508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line 380"/>
          <p:cNvCxnSpPr/>
          <p:nvPr/>
        </p:nvCxnSpPr>
        <p:spPr>
          <a:xfrm>
            <a:off x="11952710" y="807576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line 381"/>
          <p:cNvCxnSpPr/>
          <p:nvPr/>
        </p:nvCxnSpPr>
        <p:spPr>
          <a:xfrm>
            <a:off x="12099010" y="701508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line 382"/>
          <p:cNvCxnSpPr/>
          <p:nvPr/>
        </p:nvCxnSpPr>
        <p:spPr>
          <a:xfrm>
            <a:off x="12099010" y="807576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line 383"/>
          <p:cNvCxnSpPr/>
          <p:nvPr/>
        </p:nvCxnSpPr>
        <p:spPr>
          <a:xfrm>
            <a:off x="12245310" y="701508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line 384"/>
          <p:cNvCxnSpPr/>
          <p:nvPr/>
        </p:nvCxnSpPr>
        <p:spPr>
          <a:xfrm>
            <a:off x="12245310" y="807576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line 385"/>
          <p:cNvCxnSpPr/>
          <p:nvPr/>
        </p:nvCxnSpPr>
        <p:spPr>
          <a:xfrm>
            <a:off x="12391610" y="7015085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line 386"/>
          <p:cNvCxnSpPr/>
          <p:nvPr/>
        </p:nvCxnSpPr>
        <p:spPr>
          <a:xfrm>
            <a:off x="12391610" y="8075760"/>
            <a:ext cx="0" cy="7315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line 387"/>
          <p:cNvCxnSpPr/>
          <p:nvPr/>
        </p:nvCxnSpPr>
        <p:spPr>
          <a:xfrm>
            <a:off x="11338250" y="71979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line 388"/>
          <p:cNvCxnSpPr/>
          <p:nvPr/>
        </p:nvCxnSpPr>
        <p:spPr>
          <a:xfrm>
            <a:off x="12442815" y="71979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line 389"/>
          <p:cNvCxnSpPr/>
          <p:nvPr/>
        </p:nvCxnSpPr>
        <p:spPr>
          <a:xfrm>
            <a:off x="11338250" y="73442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line 390"/>
          <p:cNvCxnSpPr/>
          <p:nvPr/>
        </p:nvCxnSpPr>
        <p:spPr>
          <a:xfrm>
            <a:off x="12442815" y="73442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line 391"/>
          <p:cNvCxnSpPr/>
          <p:nvPr/>
        </p:nvCxnSpPr>
        <p:spPr>
          <a:xfrm>
            <a:off x="11338250" y="74905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line 392"/>
          <p:cNvCxnSpPr/>
          <p:nvPr/>
        </p:nvCxnSpPr>
        <p:spPr>
          <a:xfrm>
            <a:off x="12442815" y="74905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line 393"/>
          <p:cNvCxnSpPr/>
          <p:nvPr/>
        </p:nvCxnSpPr>
        <p:spPr>
          <a:xfrm>
            <a:off x="11338250" y="76368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line 394"/>
          <p:cNvCxnSpPr/>
          <p:nvPr/>
        </p:nvCxnSpPr>
        <p:spPr>
          <a:xfrm>
            <a:off x="12442815" y="76368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line 395"/>
          <p:cNvCxnSpPr/>
          <p:nvPr/>
        </p:nvCxnSpPr>
        <p:spPr>
          <a:xfrm>
            <a:off x="11338250" y="77831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line 396"/>
          <p:cNvCxnSpPr/>
          <p:nvPr/>
        </p:nvCxnSpPr>
        <p:spPr>
          <a:xfrm>
            <a:off x="12442815" y="77831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line 397"/>
          <p:cNvCxnSpPr/>
          <p:nvPr/>
        </p:nvCxnSpPr>
        <p:spPr>
          <a:xfrm>
            <a:off x="11338250" y="79294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9" name="line 398"/>
          <p:cNvCxnSpPr/>
          <p:nvPr/>
        </p:nvCxnSpPr>
        <p:spPr>
          <a:xfrm>
            <a:off x="12442815" y="7929460"/>
            <a:ext cx="73150" cy="0"/>
          </a:xfrm>
          <a:prstGeom prst="line">
            <a:avLst/>
          </a:prstGeom>
          <a:ln w="14630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rect 399"/>
          <p:cNvSpPr/>
          <p:nvPr/>
        </p:nvSpPr>
        <p:spPr>
          <a:xfrm>
            <a:off x="11411400" y="7088235"/>
            <a:ext cx="1031415" cy="987525"/>
          </a:xfrm>
          <a:prstGeom prst="roundRect">
            <a:avLst>
              <a:gd name="adj" fmla="val 1481"/>
            </a:avLst>
          </a:prstGeom>
          <a:solidFill>
            <a:srgbClr val="A9CEE8"/>
          </a:solidFill>
          <a:ln w="14630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PU"/>
          <p:cNvSpPr txBox="1"/>
          <p:nvPr/>
        </p:nvSpPr>
        <p:spPr>
          <a:xfrm>
            <a:off x="11696071" y="7095550"/>
            <a:ext cx="462074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GPU</a:t>
            </a:r>
          </a:p>
        </p:txBody>
      </p:sp>
      <p:sp>
        <p:nvSpPr>
          <p:cNvPr id="402" name="rect 401"/>
          <p:cNvSpPr/>
          <p:nvPr/>
        </p:nvSpPr>
        <p:spPr>
          <a:xfrm>
            <a:off x="11506495" y="7395465"/>
            <a:ext cx="258463" cy="252368"/>
          </a:xfrm>
          <a:prstGeom prst="roundRect">
            <a:avLst>
              <a:gd name="adj" fmla="val 2898"/>
            </a:avLst>
          </a:prstGeom>
          <a:solidFill>
            <a:srgbClr val="E9A6BF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 402"/>
          <p:cNvSpPr/>
          <p:nvPr/>
        </p:nvSpPr>
        <p:spPr>
          <a:xfrm>
            <a:off x="11796657" y="7395465"/>
            <a:ext cx="258463" cy="252368"/>
          </a:xfrm>
          <a:prstGeom prst="roundRect">
            <a:avLst>
              <a:gd name="adj" fmla="val 2898"/>
            </a:avLst>
          </a:prstGeom>
          <a:solidFill>
            <a:srgbClr val="B5D68B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 403"/>
          <p:cNvSpPr/>
          <p:nvPr/>
        </p:nvSpPr>
        <p:spPr>
          <a:xfrm>
            <a:off x="12086818" y="7395465"/>
            <a:ext cx="258463" cy="252368"/>
          </a:xfrm>
          <a:prstGeom prst="roundRect">
            <a:avLst>
              <a:gd name="adj" fmla="val 2898"/>
            </a:avLst>
          </a:prstGeom>
          <a:solidFill>
            <a:srgbClr val="DDDDDD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 404"/>
          <p:cNvSpPr/>
          <p:nvPr/>
        </p:nvSpPr>
        <p:spPr>
          <a:xfrm>
            <a:off x="11506495" y="7695380"/>
            <a:ext cx="258463" cy="252368"/>
          </a:xfrm>
          <a:prstGeom prst="roundRect">
            <a:avLst>
              <a:gd name="adj" fmla="val 2898"/>
            </a:avLst>
          </a:prstGeom>
          <a:solidFill>
            <a:srgbClr val="E9A6BF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 405"/>
          <p:cNvSpPr/>
          <p:nvPr/>
        </p:nvSpPr>
        <p:spPr>
          <a:xfrm>
            <a:off x="11796657" y="7695380"/>
            <a:ext cx="258463" cy="252368"/>
          </a:xfrm>
          <a:prstGeom prst="roundRect">
            <a:avLst>
              <a:gd name="adj" fmla="val 2898"/>
            </a:avLst>
          </a:prstGeom>
          <a:solidFill>
            <a:srgbClr val="F2BD7D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 406"/>
          <p:cNvSpPr/>
          <p:nvPr/>
        </p:nvSpPr>
        <p:spPr>
          <a:xfrm>
            <a:off x="12086818" y="7695380"/>
            <a:ext cx="258463" cy="252368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8046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path 407"/>
          <p:cNvSpPr/>
          <p:nvPr/>
        </p:nvSpPr>
        <p:spPr>
          <a:xfrm>
            <a:off x="10102015" y="6927305"/>
            <a:ext cx="1221605" cy="292600"/>
          </a:xfrm>
          <a:custGeom>
            <a:avLst/>
            <a:gdLst/>
            <a:ahLst/>
            <a:cxnLst/>
            <a:rect l="l" t="t" r="r" b="b"/>
            <a:pathLst>
              <a:path w="167" h="40">
                <a:moveTo>
                  <a:pt x="0" y="0"/>
                </a:moveTo>
                <a:lnTo>
                  <a:pt x="136" y="0"/>
                </a:lnTo>
                <a:lnTo>
                  <a:pt x="136" y="40"/>
                </a:lnTo>
                <a:lnTo>
                  <a:pt x="167" y="40"/>
                </a:lnTo>
              </a:path>
            </a:pathLst>
          </a:custGeom>
          <a:noFill/>
          <a:ln w="14630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arrowhead 408"/>
          <p:cNvSpPr/>
          <p:nvPr/>
        </p:nvSpPr>
        <p:spPr>
          <a:xfrm>
            <a:off x="11235840" y="716870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0" name="path 409"/>
          <p:cNvCxnSpPr/>
          <p:nvPr/>
        </p:nvCxnSpPr>
        <p:spPr>
          <a:xfrm>
            <a:off x="10102015" y="7388150"/>
            <a:ext cx="1221605" cy="0"/>
          </a:xfrm>
          <a:prstGeom prst="line">
            <a:avLst/>
          </a:prstGeom>
          <a:ln w="19019">
            <a:solidFill>
              <a:srgbClr val="1818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arrowhead 410"/>
          <p:cNvSpPr/>
          <p:nvPr/>
        </p:nvSpPr>
        <p:spPr>
          <a:xfrm>
            <a:off x="11213895" y="732231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path 411"/>
          <p:cNvSpPr/>
          <p:nvPr/>
        </p:nvSpPr>
        <p:spPr>
          <a:xfrm>
            <a:off x="10102015" y="7856310"/>
            <a:ext cx="1221605" cy="102410"/>
          </a:xfrm>
          <a:custGeom>
            <a:avLst/>
            <a:gdLst/>
            <a:ahLst/>
            <a:cxnLst/>
            <a:rect l="l" t="t" r="r" b="b"/>
            <a:pathLst>
              <a:path w="167" h="14">
                <a:moveTo>
                  <a:pt x="0" y="14"/>
                </a:moveTo>
                <a:lnTo>
                  <a:pt x="136" y="14"/>
                </a:lnTo>
                <a:lnTo>
                  <a:pt x="136" y="0"/>
                </a:lnTo>
                <a:lnTo>
                  <a:pt x="167" y="0"/>
                </a:lnTo>
              </a:path>
            </a:pathLst>
          </a:custGeom>
          <a:noFill/>
          <a:ln w="19019">
            <a:solidFill>
              <a:srgbClr val="BF3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arrowhead 412"/>
          <p:cNvSpPr/>
          <p:nvPr/>
        </p:nvSpPr>
        <p:spPr>
          <a:xfrm>
            <a:off x="11213895" y="779047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KV ∧ slot  /  batch fill"/>
          <p:cNvSpPr txBox="1"/>
          <p:nvPr/>
        </p:nvSpPr>
        <p:spPr>
          <a:xfrm>
            <a:off x="10167850" y="8143424"/>
            <a:ext cx="1716482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KV ∧ slot  /  batch fill</a:t>
            </a:r>
          </a:p>
        </p:txBody>
      </p:sp>
      <p:sp>
        <p:nvSpPr>
          <p:cNvPr id="415" name="rect 414"/>
          <p:cNvSpPr/>
          <p:nvPr/>
        </p:nvSpPr>
        <p:spPr>
          <a:xfrm>
            <a:off x="475475" y="8587810"/>
            <a:ext cx="204820" cy="160930"/>
          </a:xfrm>
          <a:prstGeom prst="roundRect">
            <a:avLst>
              <a:gd name="adj" fmla="val 4545"/>
            </a:avLst>
          </a:prstGeom>
          <a:solidFill>
            <a:srgbClr val="E9A6BF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Parent 页"/>
          <p:cNvSpPr txBox="1"/>
          <p:nvPr/>
        </p:nvSpPr>
        <p:spPr>
          <a:xfrm>
            <a:off x="782705" y="8503688"/>
            <a:ext cx="746787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Parent 页</a:t>
            </a:r>
          </a:p>
        </p:txBody>
      </p:sp>
      <p:sp>
        <p:nvSpPr>
          <p:cNvPr id="417" name="rect 416"/>
          <p:cNvSpPr/>
          <p:nvPr/>
        </p:nvSpPr>
        <p:spPr>
          <a:xfrm>
            <a:off x="2574880" y="8587810"/>
            <a:ext cx="204820" cy="16093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3167">
            <a:solidFill>
              <a:srgbClr val="18181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缺失 / 延后"/>
          <p:cNvSpPr txBox="1"/>
          <p:nvPr/>
        </p:nvSpPr>
        <p:spPr>
          <a:xfrm>
            <a:off x="2882110" y="8503688"/>
            <a:ext cx="831253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缺失 / 延后</a:t>
            </a:r>
          </a:p>
        </p:txBody>
      </p:sp>
      <p:sp>
        <p:nvSpPr>
          <p:cNvPr id="419" name="rect 418"/>
          <p:cNvSpPr/>
          <p:nvPr/>
        </p:nvSpPr>
        <p:spPr>
          <a:xfrm>
            <a:off x="5252170" y="8587810"/>
            <a:ext cx="204820" cy="160930"/>
          </a:xfrm>
          <a:prstGeom prst="roundRect">
            <a:avLst>
              <a:gd name="adj" fmla="val 4545"/>
            </a:avLst>
          </a:prstGeom>
          <a:solidFill>
            <a:srgbClr val="B5D68B"/>
          </a:solidFill>
          <a:ln w="13167">
            <a:solidFill>
              <a:srgbClr val="181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Child 私有页"/>
          <p:cNvSpPr txBox="1"/>
          <p:nvPr/>
        </p:nvSpPr>
        <p:spPr>
          <a:xfrm>
            <a:off x="5559400" y="8503688"/>
            <a:ext cx="955379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Child 私有页</a:t>
            </a:r>
          </a:p>
        </p:txBody>
      </p:sp>
      <p:cxnSp>
        <p:nvCxnSpPr>
          <p:cNvPr id="421" name="path 420"/>
          <p:cNvCxnSpPr/>
          <p:nvPr/>
        </p:nvCxnSpPr>
        <p:spPr>
          <a:xfrm>
            <a:off x="8924300" y="8653645"/>
            <a:ext cx="314545" cy="0"/>
          </a:xfrm>
          <a:prstGeom prst="line">
            <a:avLst/>
          </a:prstGeom>
          <a:ln w="14630">
            <a:solidFill>
              <a:srgbClr val="BF33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arrowhead 421"/>
          <p:cNvSpPr/>
          <p:nvPr/>
        </p:nvSpPr>
        <p:spPr>
          <a:xfrm>
            <a:off x="9151065" y="860244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BF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控制动作"/>
          <p:cNvSpPr txBox="1"/>
          <p:nvPr/>
        </p:nvSpPr>
        <p:spPr>
          <a:xfrm>
            <a:off x="9370515" y="8503688"/>
            <a:ext cx="70224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控制动作</a:t>
            </a:r>
          </a:p>
        </p:txBody>
      </p:sp>
      <p:cxnSp>
        <p:nvCxnSpPr>
          <p:cNvPr id="424" name="path 423"/>
          <p:cNvCxnSpPr/>
          <p:nvPr/>
        </p:nvCxnSpPr>
        <p:spPr>
          <a:xfrm>
            <a:off x="10782310" y="8653645"/>
            <a:ext cx="314545" cy="0"/>
          </a:xfrm>
          <a:prstGeom prst="line">
            <a:avLst/>
          </a:prstGeom>
          <a:ln w="14630">
            <a:solidFill>
              <a:srgbClr val="2676B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arrowhead 424"/>
          <p:cNvSpPr/>
          <p:nvPr/>
        </p:nvSpPr>
        <p:spPr>
          <a:xfrm>
            <a:off x="11009075" y="8602440"/>
            <a:ext cx="102410" cy="10241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0" y="14"/>
                </a:lnTo>
                <a:lnTo>
                  <a:pt x="0" y="0"/>
                </a:lnTo>
                <a:close/>
              </a:path>
            </a:pathLst>
          </a:custGeom>
          <a:solidFill>
            <a:srgbClr val="267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ACK"/>
          <p:cNvSpPr txBox="1"/>
          <p:nvPr/>
        </p:nvSpPr>
        <p:spPr>
          <a:xfrm>
            <a:off x="11221210" y="8503688"/>
            <a:ext cx="37675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181818"/>
                </a:solidFill>
                <a:latin typeface="Noto Sans CJK SC"/>
                <a:ea typeface="Noto Sans CJK SC"/>
                <a:effectLst/>
              </a:rPr>
              <a:t>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BeliefKV 系统架构图</dc:title>
  <dc:subject>Current development architecture as of 2026-10-15</dc:subject>
  <dc:creator>BeliefKV</dc:creator>
  <cp:keywords>BeliefKV, dynamic agent workflows, KV cache, native editable diagrams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