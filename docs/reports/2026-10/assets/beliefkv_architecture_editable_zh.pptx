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3167360" cy="87782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架构基线：2026-10-15 当前开发实现，不代表所有运行实验的冻结代码。RCCG 接收运行时事件，GraphDelta 增量更新受影响的等待成员组。文本阶段/工作量推理在独立 CPU 进程执行，工具历史提供条件时机提示。NativeAdmissionRuntime 联合因果身份、checkpoint、时机、容量和下一批观测。受支持的 overlap 配置下，等待迁移规划安排在 forward 发射后。原生可见等待队列、PrefillAdder、分配器和数据依赖保持权威。虚线表达观测反馈，不表示所有控制工作均异步。显式完成通知属于 harness 协议，应在所有对照组保持一致。root 可以在 JOIN 后再次 spawn；当前 child harness 不提供嵌套 task 委派。页和请求票据的颜色表示归属，驻留状态由位置及实虚边框表达。代码：causal_graph.py、semantic_report_worker.py、sglang_v0520_runtime.py 的 scheduler_step / dispatch_after_forward / plan_native_prefill，以及 staging patch。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阶段模型融合冻结文本表示与事件/进度特征，条件剩余工作头可独立拟合。圆内平行线表示特征拼接，不是相加；网络和权重矩阵图形不表示实际层数。两头共享冻结编码器权重，配置工作头独立文本窗口时可另外编码已送达正文。工作量区间不是已校准的完整 JOIN 联合区间。当前内容驱动的 JOIN_ALL 路径关注唯一未返回 child；较早通知可以保留，在 sibling 返回后重新绑定。新预测可在入队前前移或后移工作端点，center 被越过时仅使用仍有效的 upper。max(W−ΔN,0)/实测速率是剩余生成时长提示，不包含未来排队，也不是 RETURN 墙钟保证。无工具 EOS 作为独立证据。工具 CDF 以仍在执行为条件，使用已完成调用历史及回退；当前工具迁移路径要求至多一个活跃调用。H 严格对应 transfer_start_window：min(提前驻留上限, ACK P90 + 入队 P90 + 观测间隔 + 提前完成余量)。服务耗时按方向、形态、大小从实际 ACK 历史取得。同 checkpoint 的计划缩小时，直接估计优先，缺支持可沿用较大已支持计划的当前成本预算，不按字节缩放固定 ACK 开销。时序仅为机制示意，允许部分重叠。代码：child_semantic_work.py、conditional_work.py、native_transfer_policy.py、native_transfer_service.py 与 runtime 的 _roll_final_stage / _roll_tool_prefetch / _wait_prefetch_timing_valid / _h2d_start_window。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真实压力下增量备份稳定 FULL 前缀。PREPARE_HOST 不释放 HBM、不投机备份 Mamba；原生压力回收可释放已备份冷 FULL，并保留仍需使用的 Mamba。选择可复用的安全输入 checkpoint，从根到叶恢复缺失祖先和必要状态，并非恢复所有历史 Mamba。FULL、Mamba、字节与输入增长预算分别核算。容量不足允许页对齐的部分 FULL 恢复，状态或尾段可以延后。FULL pipeline 按原生逐层依赖准入；必要 Mamba 或旧式加载依赖未就绪时仍等待。ACK 管理事务和驻留生命周期，不是所有请求执行的统一屏障。有界原生锁、恢复/HBM命中排序和普通请求老化支持消费，但不保证每次命中。终态 child 只回收已失去用途的私有后缀，受阻部分重试，共享祖先保留。回收容量不是 parent 独占预留，也不要求复用 child 原来的物理页号。较早 sibling 可以支持 RETURN 前 H2D；最后 child 释放容量后属于需求恢复。代码：physical 的 plan_prefetch_gpu_steps、native_residency_budget、runtime 的 _apply_terminal_child_reclaim / _wait_prefetch_opportunity / defer_prefill_for_prefetch / plan_native_prefill，以及 staging patch 对应缓存 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eliefKV：动态 Agent 执行与 KV 协同管理"/>
          <p:cNvSpPr txBox="1"/>
          <p:nvPr/>
        </p:nvSpPr>
        <p:spPr>
          <a:xfrm>
            <a:off x="292600" y="58520"/>
            <a:ext cx="5276515" cy="4224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1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BeliefKV：动态 Agent 执行与 KV 协同管理</a:t>
            </a:r>
          </a:p>
        </p:txBody>
      </p:sp>
      <p:sp>
        <p:nvSpPr>
          <p:cNvPr id="3" name="谁即将执行？  →  哪些缓存应保留或迁移？  →  怎样及时消费？"/>
          <p:cNvSpPr txBox="1"/>
          <p:nvPr/>
        </p:nvSpPr>
        <p:spPr>
          <a:xfrm>
            <a:off x="292600" y="438900"/>
            <a:ext cx="4966885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 lang="zh-CN" spc="0">
                <a:solidFill>
                  <a:srgbClr val="535353"/>
                </a:solidFill>
                <a:latin typeface="Noto Sans CJK SC"/>
                <a:ea typeface="Noto Sans CJK SC"/>
              </a:rPr>
              <a:t>谁即将执行？  →  哪些缓存应保留或迁移？  →  怎样及时消费？</a:t>
            </a:r>
          </a:p>
        </p:txBody>
      </p:sp>
      <p:cxnSp>
        <p:nvCxnSpPr>
          <p:cNvPr id="4" name="line 3"/>
          <p:cNvCxnSpPr/>
          <p:nvPr/>
        </p:nvCxnSpPr>
        <p:spPr>
          <a:xfrm>
            <a:off x="292600" y="790020"/>
            <a:ext cx="12581800" cy="0"/>
          </a:xfrm>
          <a:prstGeom prst="line">
            <a:avLst/>
          </a:prstGeom>
          <a:ln w="11704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 4"/>
          <p:cNvSpPr/>
          <p:nvPr/>
        </p:nvSpPr>
        <p:spPr>
          <a:xfrm>
            <a:off x="292600" y="965580"/>
            <a:ext cx="12581800" cy="1477630"/>
          </a:xfrm>
          <a:prstGeom prst="roundRect">
            <a:avLst>
              <a:gd name="adj" fmla="val 2970"/>
            </a:avLst>
          </a:prstGeom>
          <a:solidFill>
            <a:srgbClr val="EEEEEE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 5"/>
          <p:cNvSpPr/>
          <p:nvPr/>
        </p:nvSpPr>
        <p:spPr>
          <a:xfrm>
            <a:off x="292600" y="965580"/>
            <a:ext cx="12581800" cy="351120"/>
          </a:xfrm>
          <a:prstGeom prst="roundRect">
            <a:avLst>
              <a:gd name="adj" fmla="val 12500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 6"/>
          <p:cNvSpPr/>
          <p:nvPr/>
        </p:nvSpPr>
        <p:spPr>
          <a:xfrm>
            <a:off x="301378" y="1163085"/>
            <a:ext cx="12564244" cy="146300"/>
          </a:xfrm>
          <a:prstGeom prst="rect">
            <a:avLst/>
          </a:prstGeom>
          <a:solidFill>
            <a:srgbClr val="A9C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line 7"/>
          <p:cNvCxnSpPr/>
          <p:nvPr/>
        </p:nvCxnSpPr>
        <p:spPr>
          <a:xfrm>
            <a:off x="292600" y="1316700"/>
            <a:ext cx="12581800" cy="0"/>
          </a:xfrm>
          <a:prstGeom prst="line">
            <a:avLst/>
          </a:prstGeom>
          <a:ln w="12435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(a) 已观测工作流"/>
          <p:cNvSpPr txBox="1"/>
          <p:nvPr/>
        </p:nvSpPr>
        <p:spPr>
          <a:xfrm>
            <a:off x="438900" y="969238"/>
            <a:ext cx="1639103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(a) 已观测工作流</a:t>
            </a:r>
          </a:p>
        </p:txBody>
      </p:sp>
      <p:sp>
        <p:nvSpPr>
          <p:cNvPr id="10" name="circle 9"/>
          <p:cNvSpPr/>
          <p:nvPr/>
        </p:nvSpPr>
        <p:spPr>
          <a:xfrm>
            <a:off x="614460" y="1682450"/>
            <a:ext cx="395010" cy="395010"/>
          </a:xfrm>
          <a:prstGeom prst="ellipse">
            <a:avLst/>
          </a:prstGeom>
          <a:solidFill>
            <a:srgbClr val="E9A6BF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"/>
          <p:cNvSpPr txBox="1"/>
          <p:nvPr/>
        </p:nvSpPr>
        <p:spPr>
          <a:xfrm>
            <a:off x="707083" y="1729998"/>
            <a:ext cx="209763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</a:t>
            </a:r>
          </a:p>
        </p:txBody>
      </p:sp>
      <p:sp>
        <p:nvSpPr>
          <p:cNvPr id="12" name="circle 11"/>
          <p:cNvSpPr/>
          <p:nvPr/>
        </p:nvSpPr>
        <p:spPr>
          <a:xfrm>
            <a:off x="2048200" y="1426425"/>
            <a:ext cx="395010" cy="395010"/>
          </a:xfrm>
          <a:prstGeom prst="ellipse">
            <a:avLst/>
          </a:prstGeom>
          <a:solidFill>
            <a:srgbClr val="B5D68B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1"/>
          <p:cNvSpPr txBox="1"/>
          <p:nvPr/>
        </p:nvSpPr>
        <p:spPr>
          <a:xfrm>
            <a:off x="2087890" y="1473972"/>
            <a:ext cx="315631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C1</a:t>
            </a:r>
          </a:p>
        </p:txBody>
      </p:sp>
      <p:sp>
        <p:nvSpPr>
          <p:cNvPr id="14" name="circle 13"/>
          <p:cNvSpPr/>
          <p:nvPr/>
        </p:nvSpPr>
        <p:spPr>
          <a:xfrm>
            <a:off x="2048200" y="1953105"/>
            <a:ext cx="395010" cy="395010"/>
          </a:xfrm>
          <a:prstGeom prst="ellipse">
            <a:avLst/>
          </a:prstGeom>
          <a:solidFill>
            <a:srgbClr val="F2BD7D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2"/>
          <p:cNvSpPr txBox="1"/>
          <p:nvPr/>
        </p:nvSpPr>
        <p:spPr>
          <a:xfrm>
            <a:off x="2087890" y="2000652"/>
            <a:ext cx="315631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C2</a:t>
            </a:r>
          </a:p>
        </p:txBody>
      </p:sp>
      <p:sp>
        <p:nvSpPr>
          <p:cNvPr id="16" name="rect 15"/>
          <p:cNvSpPr/>
          <p:nvPr/>
        </p:nvSpPr>
        <p:spPr>
          <a:xfrm>
            <a:off x="3240545" y="1441055"/>
            <a:ext cx="797335" cy="38038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 16"/>
          <p:cNvSpPr/>
          <p:nvPr/>
        </p:nvSpPr>
        <p:spPr>
          <a:xfrm>
            <a:off x="3247860" y="1448370"/>
            <a:ext cx="782705" cy="9509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th 17"/>
          <p:cNvSpPr/>
          <p:nvPr/>
        </p:nvSpPr>
        <p:spPr>
          <a:xfrm>
            <a:off x="3357585" y="1645875"/>
            <a:ext cx="80465" cy="146300"/>
          </a:xfrm>
          <a:custGeom>
            <a:avLst/>
            <a:gdLst/>
            <a:ahLst/>
            <a:cxnLst/>
            <a:rect l="l" t="t" r="r" b="b"/>
            <a:pathLst>
              <a:path w="11" h="20">
                <a:moveTo>
                  <a:pt x="0" y="0"/>
                </a:moveTo>
                <a:lnTo>
                  <a:pt x="11" y="10"/>
                </a:lnTo>
                <a:lnTo>
                  <a:pt x="0" y="20"/>
                </a:lnTo>
              </a:path>
            </a:pathLst>
          </a:custGeom>
          <a:noFill/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line 18"/>
          <p:cNvCxnSpPr/>
          <p:nvPr/>
        </p:nvCxnSpPr>
        <p:spPr>
          <a:xfrm>
            <a:off x="3518515" y="1784860"/>
            <a:ext cx="416955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ool"/>
          <p:cNvSpPr txBox="1"/>
          <p:nvPr/>
        </p:nvSpPr>
        <p:spPr>
          <a:xfrm>
            <a:off x="3277120" y="1874469"/>
            <a:ext cx="427785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Tool</a:t>
            </a:r>
          </a:p>
        </p:txBody>
      </p:sp>
      <p:sp>
        <p:nvSpPr>
          <p:cNvPr id="21" name="polygon 20"/>
          <p:cNvSpPr/>
          <p:nvPr/>
        </p:nvSpPr>
        <p:spPr>
          <a:xfrm>
            <a:off x="4725490" y="1580040"/>
            <a:ext cx="907060" cy="599830"/>
          </a:xfrm>
          <a:custGeom>
            <a:avLst/>
            <a:gdLst/>
            <a:ahLst/>
            <a:cxnLst/>
            <a:rect l="l" t="t" r="r" b="b"/>
            <a:pathLst>
              <a:path w="124" h="82">
                <a:moveTo>
                  <a:pt x="62" y="0"/>
                </a:moveTo>
                <a:lnTo>
                  <a:pt x="124" y="41"/>
                </a:lnTo>
                <a:lnTo>
                  <a:pt x="62" y="82"/>
                </a:lnTo>
                <a:lnTo>
                  <a:pt x="0" y="41"/>
                </a:lnTo>
                <a:close/>
              </a:path>
            </a:pathLst>
          </a:custGeom>
          <a:solidFill>
            <a:srgbClr val="FFFFF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JOIN"/>
          <p:cNvSpPr txBox="1"/>
          <p:nvPr/>
        </p:nvSpPr>
        <p:spPr>
          <a:xfrm>
            <a:off x="4914123" y="1733655"/>
            <a:ext cx="529795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JOIN</a:t>
            </a:r>
          </a:p>
        </p:txBody>
      </p:sp>
      <p:sp>
        <p:nvSpPr>
          <p:cNvPr id="23" name="circle 22"/>
          <p:cNvSpPr/>
          <p:nvPr/>
        </p:nvSpPr>
        <p:spPr>
          <a:xfrm>
            <a:off x="6181175" y="1682450"/>
            <a:ext cx="395010" cy="395010"/>
          </a:xfrm>
          <a:prstGeom prst="ellipse">
            <a:avLst/>
          </a:prstGeom>
          <a:solidFill>
            <a:srgbClr val="E9A6BF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"/>
          <p:cNvSpPr txBox="1"/>
          <p:nvPr/>
        </p:nvSpPr>
        <p:spPr>
          <a:xfrm>
            <a:off x="6273798" y="1729998"/>
            <a:ext cx="209763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</a:t>
            </a:r>
          </a:p>
        </p:txBody>
      </p:sp>
      <p:cxnSp>
        <p:nvCxnSpPr>
          <p:cNvPr id="25" name="path 24"/>
          <p:cNvCxnSpPr/>
          <p:nvPr/>
        </p:nvCxnSpPr>
        <p:spPr>
          <a:xfrm flipV="1">
            <a:off x="1024100" y="1638560"/>
            <a:ext cx="1002155" cy="168245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ath 25"/>
          <p:cNvCxnSpPr/>
          <p:nvPr/>
        </p:nvCxnSpPr>
        <p:spPr>
          <a:xfrm>
            <a:off x="1024100" y="1967735"/>
            <a:ext cx="1002155" cy="17556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path 26"/>
          <p:cNvCxnSpPr/>
          <p:nvPr/>
        </p:nvCxnSpPr>
        <p:spPr>
          <a:xfrm>
            <a:off x="2465155" y="1623930"/>
            <a:ext cx="760760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ath 27"/>
          <p:cNvSpPr/>
          <p:nvPr/>
        </p:nvSpPr>
        <p:spPr>
          <a:xfrm>
            <a:off x="4052510" y="1623930"/>
            <a:ext cx="709555" cy="168245"/>
          </a:xfrm>
          <a:custGeom>
            <a:avLst/>
            <a:gdLst/>
            <a:ahLst/>
            <a:cxnLst/>
            <a:rect l="l" t="t" r="r" b="b"/>
            <a:pathLst>
              <a:path w="97" h="23">
                <a:moveTo>
                  <a:pt x="0" y="0"/>
                </a:moveTo>
                <a:lnTo>
                  <a:pt x="51" y="0"/>
                </a:lnTo>
                <a:lnTo>
                  <a:pt x="97" y="23"/>
                </a:lnTo>
              </a:path>
            </a:pathLst>
          </a:custGeom>
          <a:noFill/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th 28"/>
          <p:cNvSpPr/>
          <p:nvPr/>
        </p:nvSpPr>
        <p:spPr>
          <a:xfrm>
            <a:off x="2465155" y="1975050"/>
            <a:ext cx="2296910" cy="175560"/>
          </a:xfrm>
          <a:custGeom>
            <a:avLst/>
            <a:gdLst/>
            <a:ahLst/>
            <a:cxnLst/>
            <a:rect l="l" t="t" r="r" b="b"/>
            <a:pathLst>
              <a:path w="314" h="24">
                <a:moveTo>
                  <a:pt x="0" y="24"/>
                </a:moveTo>
                <a:lnTo>
                  <a:pt x="268" y="24"/>
                </a:lnTo>
                <a:lnTo>
                  <a:pt x="314" y="0"/>
                </a:lnTo>
              </a:path>
            </a:pathLst>
          </a:custGeom>
          <a:noFill/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path 29"/>
          <p:cNvCxnSpPr/>
          <p:nvPr/>
        </p:nvCxnSpPr>
        <p:spPr>
          <a:xfrm>
            <a:off x="5639865" y="1879955"/>
            <a:ext cx="519365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PAWN"/>
          <p:cNvSpPr txBox="1"/>
          <p:nvPr/>
        </p:nvSpPr>
        <p:spPr>
          <a:xfrm>
            <a:off x="1163085" y="1377049"/>
            <a:ext cx="656778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SPAWN</a:t>
            </a:r>
          </a:p>
        </p:txBody>
      </p:sp>
      <p:sp>
        <p:nvSpPr>
          <p:cNvPr id="32" name="RETURN"/>
          <p:cNvSpPr txBox="1"/>
          <p:nvPr/>
        </p:nvSpPr>
        <p:spPr>
          <a:xfrm>
            <a:off x="4074455" y="2159754"/>
            <a:ext cx="744273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RETURN</a:t>
            </a:r>
          </a:p>
        </p:txBody>
      </p:sp>
      <p:sp>
        <p:nvSpPr>
          <p:cNvPr id="33" name="path 32"/>
          <p:cNvSpPr/>
          <p:nvPr/>
        </p:nvSpPr>
        <p:spPr>
          <a:xfrm>
            <a:off x="6378680" y="1938475"/>
            <a:ext cx="811965" cy="329175"/>
          </a:xfrm>
          <a:custGeom>
            <a:avLst/>
            <a:gdLst/>
            <a:ahLst/>
            <a:cxnLst/>
            <a:rect l="l" t="t" r="r" b="b"/>
            <a:pathLst>
              <a:path w="111" h="45">
                <a:moveTo>
                  <a:pt x="27" y="0"/>
                </a:moveTo>
                <a:lnTo>
                  <a:pt x="111" y="0"/>
                </a:lnTo>
                <a:lnTo>
                  <a:pt x="111" y="45"/>
                </a:lnTo>
                <a:lnTo>
                  <a:pt x="0" y="45"/>
                </a:lnTo>
                <a:lnTo>
                  <a:pt x="0" y="23"/>
                </a:lnTo>
              </a:path>
            </a:pathLst>
          </a:custGeom>
          <a:noFill/>
          <a:ln w="19019">
            <a:solidFill>
              <a:srgbClr val="181818"/>
            </a:solidFill>
            <a:prstDash val="dash"/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下一轮"/>
          <p:cNvSpPr txBox="1"/>
          <p:nvPr/>
        </p:nvSpPr>
        <p:spPr>
          <a:xfrm>
            <a:off x="6620075" y="1428254"/>
            <a:ext cx="592515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 lang="zh-CN" spc="0">
                <a:solidFill>
                  <a:srgbClr val="535353"/>
                </a:solidFill>
                <a:latin typeface="Noto Sans CJK SC"/>
                <a:ea typeface="Noto Sans CJK SC"/>
              </a:rPr>
              <a:t>下一轮</a:t>
            </a:r>
          </a:p>
        </p:txBody>
      </p:sp>
      <p:cxnSp>
        <p:nvCxnSpPr>
          <p:cNvPr id="35" name="line 34"/>
          <p:cNvCxnSpPr/>
          <p:nvPr/>
        </p:nvCxnSpPr>
        <p:spPr>
          <a:xfrm>
            <a:off x="7534450" y="1463000"/>
            <a:ext cx="0" cy="848540"/>
          </a:xfrm>
          <a:prstGeom prst="line">
            <a:avLst/>
          </a:prstGeom>
          <a:ln w="10241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 35"/>
          <p:cNvSpPr/>
          <p:nvPr/>
        </p:nvSpPr>
        <p:spPr>
          <a:xfrm>
            <a:off x="7841680" y="1558095"/>
            <a:ext cx="936320" cy="212135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PAWN"/>
          <p:cNvSpPr txBox="1"/>
          <p:nvPr/>
        </p:nvSpPr>
        <p:spPr>
          <a:xfrm>
            <a:off x="7914830" y="1548951"/>
            <a:ext cx="557854" cy="2322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SPAWN</a:t>
            </a:r>
          </a:p>
        </p:txBody>
      </p:sp>
      <p:sp>
        <p:nvSpPr>
          <p:cNvPr id="38" name="rect 37"/>
          <p:cNvSpPr/>
          <p:nvPr/>
        </p:nvSpPr>
        <p:spPr>
          <a:xfrm>
            <a:off x="7885570" y="1740970"/>
            <a:ext cx="936320" cy="212135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WAIT"/>
          <p:cNvSpPr txBox="1"/>
          <p:nvPr/>
        </p:nvSpPr>
        <p:spPr>
          <a:xfrm>
            <a:off x="7958720" y="1731826"/>
            <a:ext cx="418298" cy="2322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WAIT</a:t>
            </a:r>
          </a:p>
        </p:txBody>
      </p:sp>
      <p:sp>
        <p:nvSpPr>
          <p:cNvPr id="40" name="rect 39"/>
          <p:cNvSpPr/>
          <p:nvPr/>
        </p:nvSpPr>
        <p:spPr>
          <a:xfrm>
            <a:off x="7929460" y="1923845"/>
            <a:ext cx="936320" cy="212135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TURN"/>
          <p:cNvSpPr txBox="1"/>
          <p:nvPr/>
        </p:nvSpPr>
        <p:spPr>
          <a:xfrm>
            <a:off x="8002610" y="1914701"/>
            <a:ext cx="630147" cy="2322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RETURN</a:t>
            </a:r>
          </a:p>
        </p:txBody>
      </p:sp>
      <p:sp>
        <p:nvSpPr>
          <p:cNvPr id="42" name="rect 41"/>
          <p:cNvSpPr/>
          <p:nvPr/>
        </p:nvSpPr>
        <p:spPr>
          <a:xfrm>
            <a:off x="9290050" y="1499575"/>
            <a:ext cx="833910" cy="64372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3898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olygon 42"/>
          <p:cNvSpPr/>
          <p:nvPr/>
        </p:nvSpPr>
        <p:spPr>
          <a:xfrm>
            <a:off x="9948400" y="1499575"/>
            <a:ext cx="175560" cy="175560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0" y="0"/>
                </a:moveTo>
                <a:lnTo>
                  <a:pt x="24" y="24"/>
                </a:lnTo>
                <a:lnTo>
                  <a:pt x="0" y="24"/>
                </a:lnTo>
                <a:close/>
              </a:path>
            </a:pathLst>
          </a:cu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 43"/>
          <p:cNvSpPr/>
          <p:nvPr/>
        </p:nvSpPr>
        <p:spPr>
          <a:xfrm>
            <a:off x="9377830" y="1675135"/>
            <a:ext cx="468745" cy="731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 44"/>
          <p:cNvSpPr/>
          <p:nvPr/>
        </p:nvSpPr>
        <p:spPr>
          <a:xfrm>
            <a:off x="9377830" y="1814120"/>
            <a:ext cx="546869" cy="73150"/>
          </a:xfrm>
          <a:prstGeom prst="rect">
            <a:avLst/>
          </a:prstGeom>
          <a:solidFill>
            <a:srgbClr val="F2B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 45"/>
          <p:cNvSpPr/>
          <p:nvPr/>
        </p:nvSpPr>
        <p:spPr>
          <a:xfrm>
            <a:off x="9377830" y="1953105"/>
            <a:ext cx="423173" cy="731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ath 46"/>
          <p:cNvSpPr/>
          <p:nvPr/>
        </p:nvSpPr>
        <p:spPr>
          <a:xfrm>
            <a:off x="10826200" y="1550780"/>
            <a:ext cx="731500" cy="460845"/>
          </a:xfrm>
          <a:custGeom>
            <a:avLst/>
            <a:gdLst/>
            <a:ahLst/>
            <a:cxnLst/>
            <a:rect l="l" t="t" r="r" b="b"/>
            <a:pathLst>
              <a:path w="100" h="63">
                <a:moveTo>
                  <a:pt x="0" y="63"/>
                </a:moveTo>
                <a:lnTo>
                  <a:pt x="20" y="63"/>
                </a:lnTo>
                <a:lnTo>
                  <a:pt x="20" y="43"/>
                </a:lnTo>
                <a:lnTo>
                  <a:pt x="44" y="43"/>
                </a:lnTo>
                <a:lnTo>
                  <a:pt x="44" y="26"/>
                </a:lnTo>
                <a:lnTo>
                  <a:pt x="71" y="26"/>
                </a:lnTo>
                <a:lnTo>
                  <a:pt x="71" y="0"/>
                </a:lnTo>
                <a:lnTo>
                  <a:pt x="100" y="0"/>
                </a:lnTo>
              </a:path>
            </a:pathLst>
          </a:custGeom>
          <a:noFill/>
          <a:ln w="21945">
            <a:solidFill>
              <a:srgbClr val="267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ircle 47"/>
          <p:cNvSpPr/>
          <p:nvPr/>
        </p:nvSpPr>
        <p:spPr>
          <a:xfrm>
            <a:off x="11967340" y="1609300"/>
            <a:ext cx="365750" cy="365750"/>
          </a:xfrm>
          <a:prstGeom prst="ellipse">
            <a:avLst/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ath 48"/>
          <p:cNvSpPr/>
          <p:nvPr/>
        </p:nvSpPr>
        <p:spPr>
          <a:xfrm>
            <a:off x="12150215" y="1675135"/>
            <a:ext cx="102410" cy="160930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0" y="0"/>
                </a:moveTo>
                <a:lnTo>
                  <a:pt x="0" y="16"/>
                </a:lnTo>
                <a:lnTo>
                  <a:pt x="14" y="22"/>
                </a:lnTo>
              </a:path>
            </a:pathLst>
          </a:custGeom>
          <a:noFill/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依赖事件"/>
          <p:cNvSpPr txBox="1"/>
          <p:nvPr/>
        </p:nvSpPr>
        <p:spPr>
          <a:xfrm>
            <a:off x="7951405" y="2145124"/>
            <a:ext cx="760760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依赖事件</a:t>
            </a:r>
          </a:p>
        </p:txBody>
      </p:sp>
      <p:sp>
        <p:nvSpPr>
          <p:cNvPr id="51" name="正文 + 通知"/>
          <p:cNvSpPr txBox="1"/>
          <p:nvPr/>
        </p:nvSpPr>
        <p:spPr>
          <a:xfrm>
            <a:off x="9242245" y="2145124"/>
            <a:ext cx="929519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正文 + 通知</a:t>
            </a:r>
          </a:p>
        </p:txBody>
      </p:sp>
      <p:sp>
        <p:nvSpPr>
          <p:cNvPr id="52" name="生成进度"/>
          <p:cNvSpPr txBox="1"/>
          <p:nvPr/>
        </p:nvSpPr>
        <p:spPr>
          <a:xfrm>
            <a:off x="11148060" y="2145124"/>
            <a:ext cx="760760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生成进度</a:t>
            </a:r>
          </a:p>
        </p:txBody>
      </p:sp>
      <p:sp>
        <p:nvSpPr>
          <p:cNvPr id="53" name="path 52"/>
          <p:cNvSpPr/>
          <p:nvPr/>
        </p:nvSpPr>
        <p:spPr>
          <a:xfrm>
            <a:off x="2267650" y="2443210"/>
            <a:ext cx="6071450" cy="431585"/>
          </a:xfrm>
          <a:custGeom>
            <a:avLst/>
            <a:gdLst/>
            <a:ahLst/>
            <a:cxnLst/>
            <a:rect l="l" t="t" r="r" b="b"/>
            <a:pathLst>
              <a:path w="830" h="59">
                <a:moveTo>
                  <a:pt x="830" y="0"/>
                </a:moveTo>
                <a:lnTo>
                  <a:pt x="830" y="25"/>
                </a:lnTo>
                <a:lnTo>
                  <a:pt x="0" y="25"/>
                </a:lnTo>
                <a:lnTo>
                  <a:pt x="0" y="59"/>
                </a:lnTo>
              </a:path>
            </a:pathLst>
          </a:custGeom>
          <a:noFill/>
          <a:ln w="19019">
            <a:solidFill>
              <a:srgbClr val="2676B8"/>
            </a:solidFill>
            <a:prstDash val="dash"/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ath 53"/>
          <p:cNvSpPr/>
          <p:nvPr/>
        </p:nvSpPr>
        <p:spPr>
          <a:xfrm>
            <a:off x="3321010" y="2443210"/>
            <a:ext cx="6385995" cy="431585"/>
          </a:xfrm>
          <a:custGeom>
            <a:avLst/>
            <a:gdLst/>
            <a:ahLst/>
            <a:cxnLst/>
            <a:rect l="l" t="t" r="r" b="b"/>
            <a:pathLst>
              <a:path w="873" h="59">
                <a:moveTo>
                  <a:pt x="873" y="0"/>
                </a:moveTo>
                <a:lnTo>
                  <a:pt x="873" y="41"/>
                </a:lnTo>
                <a:lnTo>
                  <a:pt x="0" y="41"/>
                </a:lnTo>
                <a:lnTo>
                  <a:pt x="0" y="59"/>
                </a:lnTo>
              </a:path>
            </a:pathLst>
          </a:custGeom>
          <a:noFill/>
          <a:ln w="19019">
            <a:solidFill>
              <a:srgbClr val="2676B8"/>
            </a:solidFill>
            <a:prstDash val="dash"/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 54"/>
          <p:cNvSpPr/>
          <p:nvPr/>
        </p:nvSpPr>
        <p:spPr>
          <a:xfrm>
            <a:off x="292600" y="2882110"/>
            <a:ext cx="3950100" cy="3525830"/>
          </a:xfrm>
          <a:prstGeom prst="roundRect">
            <a:avLst>
              <a:gd name="adj" fmla="val 1244"/>
            </a:avLst>
          </a:prstGeom>
          <a:solidFill>
            <a:srgbClr val="EEEEEE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 55"/>
          <p:cNvSpPr/>
          <p:nvPr/>
        </p:nvSpPr>
        <p:spPr>
          <a:xfrm>
            <a:off x="292600" y="2882110"/>
            <a:ext cx="3950100" cy="351120"/>
          </a:xfrm>
          <a:prstGeom prst="roundRect">
            <a:avLst>
              <a:gd name="adj" fmla="val 12500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 56"/>
          <p:cNvSpPr/>
          <p:nvPr/>
        </p:nvSpPr>
        <p:spPr>
          <a:xfrm>
            <a:off x="301378" y="3079615"/>
            <a:ext cx="3932544" cy="146300"/>
          </a:xfrm>
          <a:prstGeom prst="rect">
            <a:avLst/>
          </a:prstGeom>
          <a:solidFill>
            <a:srgbClr val="A9C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line 57"/>
          <p:cNvCxnSpPr/>
          <p:nvPr/>
        </p:nvCxnSpPr>
        <p:spPr>
          <a:xfrm>
            <a:off x="292600" y="3233230"/>
            <a:ext cx="3950100" cy="0"/>
          </a:xfrm>
          <a:prstGeom prst="line">
            <a:avLst/>
          </a:prstGeom>
          <a:ln w="12435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1  执行需求预测"/>
          <p:cNvSpPr txBox="1"/>
          <p:nvPr/>
        </p:nvSpPr>
        <p:spPr>
          <a:xfrm>
            <a:off x="438900" y="2885768"/>
            <a:ext cx="1530521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1  执行需求预测</a:t>
            </a:r>
          </a:p>
        </p:txBody>
      </p:sp>
      <p:sp>
        <p:nvSpPr>
          <p:cNvPr id="60" name="rect 59"/>
          <p:cNvSpPr/>
          <p:nvPr/>
        </p:nvSpPr>
        <p:spPr>
          <a:xfrm>
            <a:off x="4608450" y="2882110"/>
            <a:ext cx="3950100" cy="3525830"/>
          </a:xfrm>
          <a:prstGeom prst="roundRect">
            <a:avLst>
              <a:gd name="adj" fmla="val 1244"/>
            </a:avLst>
          </a:prstGeom>
          <a:solidFill>
            <a:srgbClr val="EEEEEE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 60"/>
          <p:cNvSpPr/>
          <p:nvPr/>
        </p:nvSpPr>
        <p:spPr>
          <a:xfrm>
            <a:off x="4608450" y="2882110"/>
            <a:ext cx="3950100" cy="351120"/>
          </a:xfrm>
          <a:prstGeom prst="roundRect">
            <a:avLst>
              <a:gd name="adj" fmla="val 12500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 61"/>
          <p:cNvSpPr/>
          <p:nvPr/>
        </p:nvSpPr>
        <p:spPr>
          <a:xfrm>
            <a:off x="4617228" y="3079615"/>
            <a:ext cx="3932544" cy="146300"/>
          </a:xfrm>
          <a:prstGeom prst="rect">
            <a:avLst/>
          </a:prstGeom>
          <a:solidFill>
            <a:srgbClr val="A9C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line 62"/>
          <p:cNvCxnSpPr/>
          <p:nvPr/>
        </p:nvCxnSpPr>
        <p:spPr>
          <a:xfrm>
            <a:off x="4608450" y="3233230"/>
            <a:ext cx="3950100" cy="0"/>
          </a:xfrm>
          <a:prstGeom prst="line">
            <a:avLst/>
          </a:prstGeom>
          <a:ln w="12435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2  KV 生命周期"/>
          <p:cNvSpPr txBox="1"/>
          <p:nvPr/>
        </p:nvSpPr>
        <p:spPr>
          <a:xfrm>
            <a:off x="4754750" y="2885768"/>
            <a:ext cx="1430768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2  KV 生命周期</a:t>
            </a:r>
          </a:p>
        </p:txBody>
      </p:sp>
      <p:sp>
        <p:nvSpPr>
          <p:cNvPr id="65" name="rect 64"/>
          <p:cNvSpPr/>
          <p:nvPr/>
        </p:nvSpPr>
        <p:spPr>
          <a:xfrm>
            <a:off x="8924300" y="2882110"/>
            <a:ext cx="3950100" cy="3525830"/>
          </a:xfrm>
          <a:prstGeom prst="roundRect">
            <a:avLst>
              <a:gd name="adj" fmla="val 1244"/>
            </a:avLst>
          </a:prstGeom>
          <a:solidFill>
            <a:srgbClr val="EEEEEE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 65"/>
          <p:cNvSpPr/>
          <p:nvPr/>
        </p:nvSpPr>
        <p:spPr>
          <a:xfrm>
            <a:off x="8924300" y="2882110"/>
            <a:ext cx="3950100" cy="351120"/>
          </a:xfrm>
          <a:prstGeom prst="roundRect">
            <a:avLst>
              <a:gd name="adj" fmla="val 12500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 66"/>
          <p:cNvSpPr/>
          <p:nvPr/>
        </p:nvSpPr>
        <p:spPr>
          <a:xfrm>
            <a:off x="8933078" y="3079615"/>
            <a:ext cx="3932544" cy="146300"/>
          </a:xfrm>
          <a:prstGeom prst="rect">
            <a:avLst/>
          </a:prstGeom>
          <a:solidFill>
            <a:srgbClr val="A9C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line 67"/>
          <p:cNvCxnSpPr/>
          <p:nvPr/>
        </p:nvCxnSpPr>
        <p:spPr>
          <a:xfrm>
            <a:off x="8924300" y="3233230"/>
            <a:ext cx="3950100" cy="0"/>
          </a:xfrm>
          <a:prstGeom prst="line">
            <a:avLst/>
          </a:prstGeom>
          <a:ln w="12435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3  准入与预取协同"/>
          <p:cNvSpPr txBox="1"/>
          <p:nvPr/>
        </p:nvSpPr>
        <p:spPr>
          <a:xfrm>
            <a:off x="9070600" y="2885768"/>
            <a:ext cx="1735341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3  准入与预取协同</a:t>
            </a:r>
          </a:p>
        </p:txBody>
      </p:sp>
      <p:sp>
        <p:nvSpPr>
          <p:cNvPr id="70" name="RCCG"/>
          <p:cNvSpPr txBox="1"/>
          <p:nvPr/>
        </p:nvSpPr>
        <p:spPr>
          <a:xfrm>
            <a:off x="512050" y="3346612"/>
            <a:ext cx="607774" cy="3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RCCG</a:t>
            </a:r>
          </a:p>
        </p:txBody>
      </p:sp>
      <p:sp>
        <p:nvSpPr>
          <p:cNvPr id="71" name="circle 70"/>
          <p:cNvSpPr/>
          <p:nvPr/>
        </p:nvSpPr>
        <p:spPr>
          <a:xfrm>
            <a:off x="555940" y="4089085"/>
            <a:ext cx="395010" cy="395010"/>
          </a:xfrm>
          <a:prstGeom prst="ellipse">
            <a:avLst/>
          </a:prstGeom>
          <a:solidFill>
            <a:srgbClr val="E9A6BF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P"/>
          <p:cNvSpPr txBox="1"/>
          <p:nvPr/>
        </p:nvSpPr>
        <p:spPr>
          <a:xfrm>
            <a:off x="648563" y="4136632"/>
            <a:ext cx="209763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</a:t>
            </a:r>
          </a:p>
        </p:txBody>
      </p:sp>
      <p:sp>
        <p:nvSpPr>
          <p:cNvPr id="73" name="circle 72"/>
          <p:cNvSpPr/>
          <p:nvPr/>
        </p:nvSpPr>
        <p:spPr>
          <a:xfrm>
            <a:off x="1441055" y="3708705"/>
            <a:ext cx="395010" cy="395010"/>
          </a:xfrm>
          <a:prstGeom prst="ellipse">
            <a:avLst/>
          </a:prstGeom>
          <a:solidFill>
            <a:srgbClr val="B5D68B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1"/>
          <p:cNvSpPr txBox="1"/>
          <p:nvPr/>
        </p:nvSpPr>
        <p:spPr>
          <a:xfrm>
            <a:off x="1480745" y="3756252"/>
            <a:ext cx="315631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C1</a:t>
            </a:r>
          </a:p>
        </p:txBody>
      </p:sp>
      <p:sp>
        <p:nvSpPr>
          <p:cNvPr id="75" name="circle 74"/>
          <p:cNvSpPr/>
          <p:nvPr/>
        </p:nvSpPr>
        <p:spPr>
          <a:xfrm>
            <a:off x="1441055" y="4601135"/>
            <a:ext cx="395010" cy="395010"/>
          </a:xfrm>
          <a:prstGeom prst="ellipse">
            <a:avLst/>
          </a:prstGeom>
          <a:solidFill>
            <a:srgbClr val="F2BD7D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2"/>
          <p:cNvSpPr txBox="1"/>
          <p:nvPr/>
        </p:nvSpPr>
        <p:spPr>
          <a:xfrm>
            <a:off x="1480745" y="4648682"/>
            <a:ext cx="315631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C2</a:t>
            </a:r>
          </a:p>
        </p:txBody>
      </p:sp>
      <p:cxnSp>
        <p:nvCxnSpPr>
          <p:cNvPr id="77" name="path 76"/>
          <p:cNvCxnSpPr/>
          <p:nvPr/>
        </p:nvCxnSpPr>
        <p:spPr>
          <a:xfrm flipV="1">
            <a:off x="958265" y="3993990"/>
            <a:ext cx="460845" cy="20482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path 77"/>
          <p:cNvCxnSpPr/>
          <p:nvPr/>
        </p:nvCxnSpPr>
        <p:spPr>
          <a:xfrm>
            <a:off x="936320" y="4410945"/>
            <a:ext cx="497420" cy="27797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path 78"/>
          <p:cNvSpPr/>
          <p:nvPr/>
        </p:nvSpPr>
        <p:spPr>
          <a:xfrm>
            <a:off x="1850695" y="3708705"/>
            <a:ext cx="146300" cy="146300"/>
          </a:xfrm>
          <a:custGeom>
            <a:avLst/>
            <a:gdLst/>
            <a:ahLst/>
            <a:cxnLst/>
            <a:rect l="l" t="t" r="r" b="b"/>
            <a:pathLst>
              <a:path w="20" h="20">
                <a:moveTo>
                  <a:pt x="0" y="10"/>
                </a:moveTo>
                <a:lnTo>
                  <a:pt x="7" y="20"/>
                </a:lnTo>
                <a:lnTo>
                  <a:pt x="20" y="0"/>
                </a:lnTo>
              </a:path>
            </a:pathLst>
          </a:custGeom>
          <a:noFill/>
          <a:ln w="2048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ircle 79"/>
          <p:cNvSpPr/>
          <p:nvPr/>
        </p:nvSpPr>
        <p:spPr>
          <a:xfrm>
            <a:off x="1784860" y="4666970"/>
            <a:ext cx="234080" cy="234080"/>
          </a:xfrm>
          <a:prstGeom prst="ellipse">
            <a:avLst/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path 80"/>
          <p:cNvSpPr/>
          <p:nvPr/>
        </p:nvSpPr>
        <p:spPr>
          <a:xfrm>
            <a:off x="1901900" y="4710860"/>
            <a:ext cx="65835" cy="102410"/>
          </a:xfrm>
          <a:custGeom>
            <a:avLst/>
            <a:gdLst/>
            <a:ahLst/>
            <a:cxnLst/>
            <a:rect l="l" t="t" r="r" b="b"/>
            <a:pathLst>
              <a:path w="9" h="14">
                <a:moveTo>
                  <a:pt x="0" y="0"/>
                </a:moveTo>
                <a:lnTo>
                  <a:pt x="0" y="10"/>
                </a:lnTo>
                <a:lnTo>
                  <a:pt x="9" y="14"/>
                </a:lnTo>
              </a:path>
            </a:pathLst>
          </a:custGeom>
          <a:noFill/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aphDelta"/>
          <p:cNvSpPr txBox="1"/>
          <p:nvPr/>
        </p:nvSpPr>
        <p:spPr>
          <a:xfrm>
            <a:off x="512050" y="5085754"/>
            <a:ext cx="976495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 lang="zh-CN" spc="0">
                <a:solidFill>
                  <a:srgbClr val="2676B8"/>
                </a:solidFill>
                <a:latin typeface="Noto Sans CJK SC"/>
                <a:ea typeface="Noto Sans CJK SC"/>
              </a:rPr>
              <a:t>GraphDelta</a:t>
            </a:r>
          </a:p>
        </p:txBody>
      </p:sp>
      <p:sp>
        <p:nvSpPr>
          <p:cNvPr id="83" name="rect 82"/>
          <p:cNvSpPr/>
          <p:nvPr/>
        </p:nvSpPr>
        <p:spPr>
          <a:xfrm>
            <a:off x="2333485" y="3452680"/>
            <a:ext cx="1711710" cy="1960420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0972">
            <a:solidFill>
              <a:srgbClr val="18181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异步 CPU"/>
          <p:cNvSpPr txBox="1"/>
          <p:nvPr/>
        </p:nvSpPr>
        <p:spPr>
          <a:xfrm>
            <a:off x="2450525" y="3481940"/>
            <a:ext cx="842339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异步 CPU</a:t>
            </a:r>
          </a:p>
        </p:txBody>
      </p:sp>
      <p:sp>
        <p:nvSpPr>
          <p:cNvPr id="85" name="circle 84"/>
          <p:cNvSpPr/>
          <p:nvPr/>
        </p:nvSpPr>
        <p:spPr>
          <a:xfrm>
            <a:off x="2560250" y="3906210"/>
            <a:ext cx="131670" cy="131670"/>
          </a:xfrm>
          <a:prstGeom prst="ellipse">
            <a:avLst/>
          </a:prstGeom>
          <a:solidFill>
            <a:srgbClr val="A9CEE8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ircle 85"/>
          <p:cNvSpPr/>
          <p:nvPr/>
        </p:nvSpPr>
        <p:spPr>
          <a:xfrm>
            <a:off x="2560250" y="4140290"/>
            <a:ext cx="131670" cy="131670"/>
          </a:xfrm>
          <a:prstGeom prst="ellipse">
            <a:avLst/>
          </a:prstGeom>
          <a:solidFill>
            <a:srgbClr val="A9CEE8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ircle 86"/>
          <p:cNvSpPr/>
          <p:nvPr/>
        </p:nvSpPr>
        <p:spPr>
          <a:xfrm>
            <a:off x="2560250" y="4374370"/>
            <a:ext cx="131670" cy="131670"/>
          </a:xfrm>
          <a:prstGeom prst="ellipse">
            <a:avLst/>
          </a:prstGeom>
          <a:solidFill>
            <a:srgbClr val="A9CEE8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circle 87"/>
          <p:cNvSpPr/>
          <p:nvPr/>
        </p:nvSpPr>
        <p:spPr>
          <a:xfrm>
            <a:off x="2947945" y="3906210"/>
            <a:ext cx="131670" cy="131670"/>
          </a:xfrm>
          <a:prstGeom prst="ellipse">
            <a:avLst/>
          </a:prstGeom>
          <a:solidFill>
            <a:srgbClr val="A9CEE8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line 88"/>
          <p:cNvCxnSpPr/>
          <p:nvPr/>
        </p:nvCxnSpPr>
        <p:spPr>
          <a:xfrm>
            <a:off x="2699235" y="3972045"/>
            <a:ext cx="241395" cy="0"/>
          </a:xfrm>
          <a:prstGeom prst="line">
            <a:avLst/>
          </a:prstGeom>
          <a:ln w="9509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ircle 89"/>
          <p:cNvSpPr/>
          <p:nvPr/>
        </p:nvSpPr>
        <p:spPr>
          <a:xfrm>
            <a:off x="2947945" y="4140290"/>
            <a:ext cx="131670" cy="131670"/>
          </a:xfrm>
          <a:prstGeom prst="ellipse">
            <a:avLst/>
          </a:prstGeom>
          <a:solidFill>
            <a:srgbClr val="A9CEE8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line 90"/>
          <p:cNvCxnSpPr/>
          <p:nvPr/>
        </p:nvCxnSpPr>
        <p:spPr>
          <a:xfrm>
            <a:off x="2699235" y="4206125"/>
            <a:ext cx="241395" cy="0"/>
          </a:xfrm>
          <a:prstGeom prst="line">
            <a:avLst/>
          </a:prstGeom>
          <a:ln w="9509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circle 91"/>
          <p:cNvSpPr/>
          <p:nvPr/>
        </p:nvSpPr>
        <p:spPr>
          <a:xfrm>
            <a:off x="2947945" y="4374370"/>
            <a:ext cx="131670" cy="131670"/>
          </a:xfrm>
          <a:prstGeom prst="ellipse">
            <a:avLst/>
          </a:prstGeom>
          <a:solidFill>
            <a:srgbClr val="A9CEE8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line 92"/>
          <p:cNvCxnSpPr/>
          <p:nvPr/>
        </p:nvCxnSpPr>
        <p:spPr>
          <a:xfrm>
            <a:off x="2699235" y="4440205"/>
            <a:ext cx="241395" cy="0"/>
          </a:xfrm>
          <a:prstGeom prst="line">
            <a:avLst/>
          </a:prstGeom>
          <a:ln w="9509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ircle 93"/>
          <p:cNvSpPr/>
          <p:nvPr/>
        </p:nvSpPr>
        <p:spPr>
          <a:xfrm>
            <a:off x="3335640" y="3906210"/>
            <a:ext cx="131670" cy="131670"/>
          </a:xfrm>
          <a:prstGeom prst="ellipse">
            <a:avLst/>
          </a:prstGeom>
          <a:solidFill>
            <a:srgbClr val="F2BD7D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line 94"/>
          <p:cNvCxnSpPr/>
          <p:nvPr/>
        </p:nvCxnSpPr>
        <p:spPr>
          <a:xfrm>
            <a:off x="3086930" y="3972045"/>
            <a:ext cx="241395" cy="0"/>
          </a:xfrm>
          <a:prstGeom prst="line">
            <a:avLst/>
          </a:prstGeom>
          <a:ln w="9509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circle 95"/>
          <p:cNvSpPr/>
          <p:nvPr/>
        </p:nvSpPr>
        <p:spPr>
          <a:xfrm>
            <a:off x="3335640" y="4140290"/>
            <a:ext cx="131670" cy="131670"/>
          </a:xfrm>
          <a:prstGeom prst="ellipse">
            <a:avLst/>
          </a:prstGeom>
          <a:solidFill>
            <a:srgbClr val="F2BD7D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line 96"/>
          <p:cNvCxnSpPr/>
          <p:nvPr/>
        </p:nvCxnSpPr>
        <p:spPr>
          <a:xfrm>
            <a:off x="3086930" y="4206125"/>
            <a:ext cx="241395" cy="0"/>
          </a:xfrm>
          <a:prstGeom prst="line">
            <a:avLst/>
          </a:prstGeom>
          <a:ln w="9509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circle 97"/>
          <p:cNvSpPr/>
          <p:nvPr/>
        </p:nvSpPr>
        <p:spPr>
          <a:xfrm>
            <a:off x="3335640" y="4374370"/>
            <a:ext cx="131670" cy="131670"/>
          </a:xfrm>
          <a:prstGeom prst="ellipse">
            <a:avLst/>
          </a:prstGeom>
          <a:solidFill>
            <a:srgbClr val="F2BD7D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line 98"/>
          <p:cNvCxnSpPr/>
          <p:nvPr/>
        </p:nvCxnSpPr>
        <p:spPr>
          <a:xfrm>
            <a:off x="3086930" y="4440205"/>
            <a:ext cx="241395" cy="0"/>
          </a:xfrm>
          <a:prstGeom prst="line">
            <a:avLst/>
          </a:prstGeom>
          <a:ln w="9509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path 99"/>
          <p:cNvSpPr/>
          <p:nvPr/>
        </p:nvSpPr>
        <p:spPr>
          <a:xfrm>
            <a:off x="1850695" y="4279275"/>
            <a:ext cx="475475" cy="519365"/>
          </a:xfrm>
          <a:custGeom>
            <a:avLst/>
            <a:gdLst/>
            <a:ahLst/>
            <a:cxnLst/>
            <a:rect l="l" t="t" r="r" b="b"/>
            <a:pathLst>
              <a:path w="65" h="71">
                <a:moveTo>
                  <a:pt x="0" y="71"/>
                </a:moveTo>
                <a:lnTo>
                  <a:pt x="41" y="71"/>
                </a:lnTo>
                <a:lnTo>
                  <a:pt x="41" y="0"/>
                </a:lnTo>
                <a:lnTo>
                  <a:pt x="65" y="0"/>
                </a:lnTo>
              </a:path>
            </a:pathLst>
          </a:custGeom>
          <a:noFill/>
          <a:ln w="19019">
            <a:solidFill>
              <a:srgbClr val="2676B8"/>
            </a:solidFill>
            <a:prstDash val="dash"/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p"/>
          <p:cNvSpPr txBox="1"/>
          <p:nvPr/>
        </p:nvSpPr>
        <p:spPr>
          <a:xfrm>
            <a:off x="3003322" y="4601135"/>
            <a:ext cx="193848" cy="2669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0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p</a:t>
            </a:r>
          </a:p>
        </p:txBody>
      </p:sp>
      <p:sp>
        <p:nvSpPr>
          <p:cNvPr id="102" name="final"/>
          <p:cNvSpPr txBox="1"/>
          <p:nvPr/>
        </p:nvSpPr>
        <p:spPr>
          <a:xfrm>
            <a:off x="3116704" y="4721832"/>
            <a:ext cx="339119" cy="18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final</a:t>
            </a:r>
          </a:p>
        </p:txBody>
      </p:sp>
      <p:cxnSp>
        <p:nvCxnSpPr>
          <p:cNvPr id="103" name="line 102"/>
          <p:cNvCxnSpPr/>
          <p:nvPr/>
        </p:nvCxnSpPr>
        <p:spPr>
          <a:xfrm>
            <a:off x="2574880" y="5018090"/>
            <a:ext cx="1228920" cy="0"/>
          </a:xfrm>
          <a:prstGeom prst="line">
            <a:avLst/>
          </a:prstGeom>
          <a:ln w="18288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line 103"/>
          <p:cNvCxnSpPr/>
          <p:nvPr/>
        </p:nvCxnSpPr>
        <p:spPr>
          <a:xfrm>
            <a:off x="2574880" y="4952255"/>
            <a:ext cx="0" cy="13167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line 104"/>
          <p:cNvCxnSpPr/>
          <p:nvPr/>
        </p:nvCxnSpPr>
        <p:spPr>
          <a:xfrm>
            <a:off x="3803800" y="4952255"/>
            <a:ext cx="0" cy="13167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ircle 105"/>
          <p:cNvSpPr/>
          <p:nvPr/>
        </p:nvSpPr>
        <p:spPr>
          <a:xfrm>
            <a:off x="3240545" y="4981515"/>
            <a:ext cx="73150" cy="73150"/>
          </a:xfrm>
          <a:prstGeom prst="ellipse">
            <a:avLst/>
          </a:prstGeom>
          <a:solidFill>
            <a:srgbClr val="181818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["/>
          <p:cNvSpPr txBox="1"/>
          <p:nvPr/>
        </p:nvSpPr>
        <p:spPr>
          <a:xfrm>
            <a:off x="2795444" y="5118671"/>
            <a:ext cx="153558" cy="2505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[</a:t>
            </a:r>
          </a:p>
        </p:txBody>
      </p:sp>
      <p:sp>
        <p:nvSpPr>
          <p:cNvPr id="108" name="W"/>
          <p:cNvSpPr txBox="1"/>
          <p:nvPr/>
        </p:nvSpPr>
        <p:spPr>
          <a:xfrm>
            <a:off x="2861222" y="5118671"/>
            <a:ext cx="252310" cy="2505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W</a:t>
            </a:r>
          </a:p>
        </p:txBody>
      </p:sp>
      <p:sp>
        <p:nvSpPr>
          <p:cNvPr id="109" name="lo"/>
          <p:cNvSpPr txBox="1"/>
          <p:nvPr/>
        </p:nvSpPr>
        <p:spPr>
          <a:xfrm>
            <a:off x="3033068" y="5230225"/>
            <a:ext cx="187361" cy="1737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lo</a:t>
            </a:r>
          </a:p>
        </p:txBody>
      </p:sp>
      <p:sp>
        <p:nvSpPr>
          <p:cNvPr id="110" name=", "/>
          <p:cNvSpPr txBox="1"/>
          <p:nvPr/>
        </p:nvSpPr>
        <p:spPr>
          <a:xfrm>
            <a:off x="3139964" y="5118671"/>
            <a:ext cx="186532" cy="2505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, </a:t>
            </a:r>
          </a:p>
        </p:txBody>
      </p:sp>
      <p:sp>
        <p:nvSpPr>
          <p:cNvPr id="111" name="W"/>
          <p:cNvSpPr txBox="1"/>
          <p:nvPr/>
        </p:nvSpPr>
        <p:spPr>
          <a:xfrm>
            <a:off x="3238716" y="5118671"/>
            <a:ext cx="252310" cy="2505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W</a:t>
            </a:r>
          </a:p>
        </p:txBody>
      </p:sp>
      <p:sp>
        <p:nvSpPr>
          <p:cNvPr id="112" name="hi"/>
          <p:cNvSpPr txBox="1"/>
          <p:nvPr/>
        </p:nvSpPr>
        <p:spPr>
          <a:xfrm>
            <a:off x="3410562" y="5230225"/>
            <a:ext cx="187361" cy="1737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hi</a:t>
            </a:r>
          </a:p>
        </p:txBody>
      </p:sp>
      <p:sp>
        <p:nvSpPr>
          <p:cNvPr id="113" name="]"/>
          <p:cNvSpPr txBox="1"/>
          <p:nvPr/>
        </p:nvSpPr>
        <p:spPr>
          <a:xfrm>
            <a:off x="3517458" y="5118671"/>
            <a:ext cx="153558" cy="2505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]</a:t>
            </a:r>
          </a:p>
        </p:txBody>
      </p:sp>
      <p:sp>
        <p:nvSpPr>
          <p:cNvPr id="114" name="path 113"/>
          <p:cNvSpPr/>
          <p:nvPr/>
        </p:nvSpPr>
        <p:spPr>
          <a:xfrm>
            <a:off x="1228920" y="5010775"/>
            <a:ext cx="409640" cy="694925"/>
          </a:xfrm>
          <a:custGeom>
            <a:avLst/>
            <a:gdLst/>
            <a:ahLst/>
            <a:cxnLst/>
            <a:rect l="l" t="t" r="r" b="b"/>
            <a:pathLst>
              <a:path w="56" h="95">
                <a:moveTo>
                  <a:pt x="56" y="0"/>
                </a:moveTo>
                <a:lnTo>
                  <a:pt x="56" y="72"/>
                </a:lnTo>
                <a:lnTo>
                  <a:pt x="0" y="72"/>
                </a:lnTo>
                <a:lnTo>
                  <a:pt x="0" y="95"/>
                </a:lnTo>
              </a:path>
            </a:pathLst>
          </a:custGeom>
          <a:noFill/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path 114"/>
          <p:cNvCxnSpPr/>
          <p:nvPr/>
        </p:nvCxnSpPr>
        <p:spPr>
          <a:xfrm>
            <a:off x="3189340" y="5427730"/>
            <a:ext cx="0" cy="270655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 115"/>
          <p:cNvSpPr/>
          <p:nvPr/>
        </p:nvSpPr>
        <p:spPr>
          <a:xfrm>
            <a:off x="512050" y="5720330"/>
            <a:ext cx="3533145" cy="475475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 116"/>
          <p:cNvSpPr/>
          <p:nvPr/>
        </p:nvSpPr>
        <p:spPr>
          <a:xfrm>
            <a:off x="519365" y="5727645"/>
            <a:ext cx="73150" cy="460845"/>
          </a:xfrm>
          <a:prstGeom prst="rect">
            <a:avLst/>
          </a:prstGeom>
          <a:solidFill>
            <a:srgbClr val="E9A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P / A"/>
          <p:cNvSpPr txBox="1"/>
          <p:nvPr/>
        </p:nvSpPr>
        <p:spPr>
          <a:xfrm>
            <a:off x="638491" y="5819595"/>
            <a:ext cx="449358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 / A</a:t>
            </a:r>
          </a:p>
        </p:txBody>
      </p:sp>
      <p:sp>
        <p:nvSpPr>
          <p:cNvPr id="119" name="rect 118"/>
          <p:cNvSpPr/>
          <p:nvPr/>
        </p:nvSpPr>
        <p:spPr>
          <a:xfrm>
            <a:off x="3496570" y="5877602"/>
            <a:ext cx="109725" cy="16093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3167">
            <a:solidFill>
              <a:srgbClr val="18181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 119"/>
          <p:cNvSpPr/>
          <p:nvPr/>
        </p:nvSpPr>
        <p:spPr>
          <a:xfrm>
            <a:off x="3642870" y="5877602"/>
            <a:ext cx="109725" cy="16093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3167">
            <a:solidFill>
              <a:srgbClr val="18181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 120"/>
          <p:cNvSpPr/>
          <p:nvPr/>
        </p:nvSpPr>
        <p:spPr>
          <a:xfrm>
            <a:off x="3789170" y="5877602"/>
            <a:ext cx="109725" cy="16093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3167">
            <a:solidFill>
              <a:srgbClr val="18181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下一消费者"/>
          <p:cNvSpPr txBox="1"/>
          <p:nvPr/>
        </p:nvSpPr>
        <p:spPr>
          <a:xfrm>
            <a:off x="1773888" y="5815425"/>
            <a:ext cx="1002155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下一消费者</a:t>
            </a:r>
          </a:p>
        </p:txBody>
      </p:sp>
      <p:cxnSp>
        <p:nvCxnSpPr>
          <p:cNvPr id="123" name="path 122"/>
          <p:cNvCxnSpPr/>
          <p:nvPr/>
        </p:nvCxnSpPr>
        <p:spPr>
          <a:xfrm>
            <a:off x="4257330" y="5947095"/>
            <a:ext cx="336490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 123"/>
          <p:cNvSpPr/>
          <p:nvPr/>
        </p:nvSpPr>
        <p:spPr>
          <a:xfrm>
            <a:off x="4827900" y="3789170"/>
            <a:ext cx="1477630" cy="64372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 124"/>
          <p:cNvSpPr/>
          <p:nvPr/>
        </p:nvSpPr>
        <p:spPr>
          <a:xfrm>
            <a:off x="4871790" y="3833060"/>
            <a:ext cx="1389850" cy="8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 125"/>
          <p:cNvSpPr/>
          <p:nvPr/>
        </p:nvSpPr>
        <p:spPr>
          <a:xfrm>
            <a:off x="4901050" y="4001305"/>
            <a:ext cx="299915" cy="329175"/>
          </a:xfrm>
          <a:prstGeom prst="roundRect">
            <a:avLst>
              <a:gd name="adj" fmla="val 2439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 126"/>
          <p:cNvSpPr/>
          <p:nvPr/>
        </p:nvSpPr>
        <p:spPr>
          <a:xfrm>
            <a:off x="5244855" y="4001305"/>
            <a:ext cx="299915" cy="329175"/>
          </a:xfrm>
          <a:prstGeom prst="roundRect">
            <a:avLst>
              <a:gd name="adj" fmla="val 2439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 127"/>
          <p:cNvSpPr/>
          <p:nvPr/>
        </p:nvSpPr>
        <p:spPr>
          <a:xfrm>
            <a:off x="5588660" y="4001305"/>
            <a:ext cx="299915" cy="329175"/>
          </a:xfrm>
          <a:prstGeom prst="roundRect">
            <a:avLst>
              <a:gd name="adj" fmla="val 2439"/>
            </a:avLst>
          </a:prstGeom>
          <a:solidFill>
            <a:srgbClr val="B5D68B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 128"/>
          <p:cNvSpPr/>
          <p:nvPr/>
        </p:nvSpPr>
        <p:spPr>
          <a:xfrm>
            <a:off x="5932465" y="4001305"/>
            <a:ext cx="299915" cy="329175"/>
          </a:xfrm>
          <a:prstGeom prst="roundRect">
            <a:avLst>
              <a:gd name="adj" fmla="val 2439"/>
            </a:avLst>
          </a:prstGeom>
          <a:solidFill>
            <a:srgbClr val="F2BD7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 129"/>
          <p:cNvSpPr/>
          <p:nvPr/>
        </p:nvSpPr>
        <p:spPr>
          <a:xfrm>
            <a:off x="4922995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 130"/>
          <p:cNvSpPr/>
          <p:nvPr/>
        </p:nvSpPr>
        <p:spPr>
          <a:xfrm>
            <a:off x="5047350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 131"/>
          <p:cNvSpPr/>
          <p:nvPr/>
        </p:nvSpPr>
        <p:spPr>
          <a:xfrm>
            <a:off x="5171705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 132"/>
          <p:cNvSpPr/>
          <p:nvPr/>
        </p:nvSpPr>
        <p:spPr>
          <a:xfrm>
            <a:off x="5296060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 133"/>
          <p:cNvSpPr/>
          <p:nvPr/>
        </p:nvSpPr>
        <p:spPr>
          <a:xfrm>
            <a:off x="5420415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 134"/>
          <p:cNvSpPr/>
          <p:nvPr/>
        </p:nvSpPr>
        <p:spPr>
          <a:xfrm>
            <a:off x="5544770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 135"/>
          <p:cNvSpPr/>
          <p:nvPr/>
        </p:nvSpPr>
        <p:spPr>
          <a:xfrm>
            <a:off x="5669125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 136"/>
          <p:cNvSpPr/>
          <p:nvPr/>
        </p:nvSpPr>
        <p:spPr>
          <a:xfrm>
            <a:off x="5793480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 137"/>
          <p:cNvSpPr/>
          <p:nvPr/>
        </p:nvSpPr>
        <p:spPr>
          <a:xfrm>
            <a:off x="5917835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 138"/>
          <p:cNvSpPr/>
          <p:nvPr/>
        </p:nvSpPr>
        <p:spPr>
          <a:xfrm>
            <a:off x="6042190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 139"/>
          <p:cNvSpPr/>
          <p:nvPr/>
        </p:nvSpPr>
        <p:spPr>
          <a:xfrm>
            <a:off x="6166545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HBM"/>
          <p:cNvSpPr txBox="1"/>
          <p:nvPr/>
        </p:nvSpPr>
        <p:spPr>
          <a:xfrm>
            <a:off x="5296589" y="3449022"/>
            <a:ext cx="540253" cy="3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HBM</a:t>
            </a:r>
          </a:p>
        </p:txBody>
      </p:sp>
      <p:sp>
        <p:nvSpPr>
          <p:cNvPr id="142" name="rect 141"/>
          <p:cNvSpPr/>
          <p:nvPr/>
        </p:nvSpPr>
        <p:spPr>
          <a:xfrm>
            <a:off x="6898045" y="3789170"/>
            <a:ext cx="1477630" cy="64372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 142"/>
          <p:cNvSpPr/>
          <p:nvPr/>
        </p:nvSpPr>
        <p:spPr>
          <a:xfrm>
            <a:off x="6941935" y="3833060"/>
            <a:ext cx="1389850" cy="8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 143"/>
          <p:cNvSpPr/>
          <p:nvPr/>
        </p:nvSpPr>
        <p:spPr>
          <a:xfrm>
            <a:off x="6971195" y="4001305"/>
            <a:ext cx="299915" cy="329175"/>
          </a:xfrm>
          <a:prstGeom prst="roundRect">
            <a:avLst>
              <a:gd name="adj" fmla="val 2439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 144"/>
          <p:cNvSpPr/>
          <p:nvPr/>
        </p:nvSpPr>
        <p:spPr>
          <a:xfrm>
            <a:off x="7315000" y="4001305"/>
            <a:ext cx="299915" cy="329175"/>
          </a:xfrm>
          <a:prstGeom prst="roundRect">
            <a:avLst>
              <a:gd name="adj" fmla="val 2439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 145"/>
          <p:cNvSpPr/>
          <p:nvPr/>
        </p:nvSpPr>
        <p:spPr>
          <a:xfrm>
            <a:off x="7658805" y="4001305"/>
            <a:ext cx="299915" cy="329175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3167">
            <a:solidFill>
              <a:srgbClr val="18181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 146"/>
          <p:cNvSpPr/>
          <p:nvPr/>
        </p:nvSpPr>
        <p:spPr>
          <a:xfrm>
            <a:off x="8002610" y="4001305"/>
            <a:ext cx="299915" cy="329175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3167">
            <a:solidFill>
              <a:srgbClr val="18181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 147"/>
          <p:cNvSpPr/>
          <p:nvPr/>
        </p:nvSpPr>
        <p:spPr>
          <a:xfrm>
            <a:off x="6993140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 148"/>
          <p:cNvSpPr/>
          <p:nvPr/>
        </p:nvSpPr>
        <p:spPr>
          <a:xfrm>
            <a:off x="7117495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 149"/>
          <p:cNvSpPr/>
          <p:nvPr/>
        </p:nvSpPr>
        <p:spPr>
          <a:xfrm>
            <a:off x="7241850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 150"/>
          <p:cNvSpPr/>
          <p:nvPr/>
        </p:nvSpPr>
        <p:spPr>
          <a:xfrm>
            <a:off x="7366205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 151"/>
          <p:cNvSpPr/>
          <p:nvPr/>
        </p:nvSpPr>
        <p:spPr>
          <a:xfrm>
            <a:off x="7490560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 152"/>
          <p:cNvSpPr/>
          <p:nvPr/>
        </p:nvSpPr>
        <p:spPr>
          <a:xfrm>
            <a:off x="7614915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 153"/>
          <p:cNvSpPr/>
          <p:nvPr/>
        </p:nvSpPr>
        <p:spPr>
          <a:xfrm>
            <a:off x="7739270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 154"/>
          <p:cNvSpPr/>
          <p:nvPr/>
        </p:nvSpPr>
        <p:spPr>
          <a:xfrm>
            <a:off x="7863625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 155"/>
          <p:cNvSpPr/>
          <p:nvPr/>
        </p:nvSpPr>
        <p:spPr>
          <a:xfrm>
            <a:off x="7987980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 156"/>
          <p:cNvSpPr/>
          <p:nvPr/>
        </p:nvSpPr>
        <p:spPr>
          <a:xfrm>
            <a:off x="8112335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 157"/>
          <p:cNvSpPr/>
          <p:nvPr/>
        </p:nvSpPr>
        <p:spPr>
          <a:xfrm>
            <a:off x="8236690" y="443289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Host"/>
          <p:cNvSpPr txBox="1"/>
          <p:nvPr/>
        </p:nvSpPr>
        <p:spPr>
          <a:xfrm>
            <a:off x="7368720" y="3449022"/>
            <a:ext cx="536281" cy="3182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Host</a:t>
            </a:r>
          </a:p>
        </p:txBody>
      </p:sp>
      <p:cxnSp>
        <p:nvCxnSpPr>
          <p:cNvPr id="160" name="path 159"/>
          <p:cNvCxnSpPr/>
          <p:nvPr/>
        </p:nvCxnSpPr>
        <p:spPr>
          <a:xfrm>
            <a:off x="6334790" y="3913525"/>
            <a:ext cx="526680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D2H"/>
          <p:cNvSpPr txBox="1"/>
          <p:nvPr/>
        </p:nvSpPr>
        <p:spPr>
          <a:xfrm>
            <a:off x="6371365" y="3648356"/>
            <a:ext cx="376151" cy="243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D2H</a:t>
            </a:r>
          </a:p>
        </p:txBody>
      </p:sp>
      <p:cxnSp>
        <p:nvCxnSpPr>
          <p:cNvPr id="162" name="path 161"/>
          <p:cNvCxnSpPr/>
          <p:nvPr/>
        </p:nvCxnSpPr>
        <p:spPr>
          <a:xfrm flipH="1">
            <a:off x="6342105" y="4315850"/>
            <a:ext cx="526680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H2D"/>
          <p:cNvSpPr txBox="1"/>
          <p:nvPr/>
        </p:nvSpPr>
        <p:spPr>
          <a:xfrm>
            <a:off x="6371365" y="4409116"/>
            <a:ext cx="376151" cy="243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H2D</a:t>
            </a:r>
          </a:p>
        </p:txBody>
      </p:sp>
      <p:sp>
        <p:nvSpPr>
          <p:cNvPr id="164" name="rect 163"/>
          <p:cNvSpPr/>
          <p:nvPr/>
        </p:nvSpPr>
        <p:spPr>
          <a:xfrm>
            <a:off x="4886420" y="4893735"/>
            <a:ext cx="168245" cy="138985"/>
          </a:xfrm>
          <a:prstGeom prst="roundRect">
            <a:avLst>
              <a:gd name="adj" fmla="val 526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 164"/>
          <p:cNvSpPr/>
          <p:nvPr/>
        </p:nvSpPr>
        <p:spPr>
          <a:xfrm>
            <a:off x="5091240" y="4893735"/>
            <a:ext cx="168245" cy="138985"/>
          </a:xfrm>
          <a:prstGeom prst="roundRect">
            <a:avLst>
              <a:gd name="adj" fmla="val 526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 165"/>
          <p:cNvSpPr/>
          <p:nvPr/>
        </p:nvSpPr>
        <p:spPr>
          <a:xfrm>
            <a:off x="5296060" y="4893735"/>
            <a:ext cx="168245" cy="138985"/>
          </a:xfrm>
          <a:prstGeom prst="roundRect">
            <a:avLst>
              <a:gd name="adj" fmla="val 526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HBM"/>
          <p:cNvSpPr txBox="1"/>
          <p:nvPr/>
        </p:nvSpPr>
        <p:spPr>
          <a:xfrm>
            <a:off x="4966385" y="5197308"/>
            <a:ext cx="425270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HBM</a:t>
            </a:r>
          </a:p>
        </p:txBody>
      </p:sp>
      <p:sp>
        <p:nvSpPr>
          <p:cNvPr id="168" name="rect 167"/>
          <p:cNvSpPr/>
          <p:nvPr/>
        </p:nvSpPr>
        <p:spPr>
          <a:xfrm>
            <a:off x="6188490" y="4893735"/>
            <a:ext cx="168245" cy="138985"/>
          </a:xfrm>
          <a:prstGeom prst="roundRect">
            <a:avLst>
              <a:gd name="adj" fmla="val 526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 168"/>
          <p:cNvSpPr/>
          <p:nvPr/>
        </p:nvSpPr>
        <p:spPr>
          <a:xfrm>
            <a:off x="6393310" y="4893735"/>
            <a:ext cx="168245" cy="138985"/>
          </a:xfrm>
          <a:prstGeom prst="roundRect">
            <a:avLst>
              <a:gd name="adj" fmla="val 526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 169"/>
          <p:cNvSpPr/>
          <p:nvPr/>
        </p:nvSpPr>
        <p:spPr>
          <a:xfrm>
            <a:off x="6598130" y="4893735"/>
            <a:ext cx="168245" cy="138985"/>
          </a:xfrm>
          <a:prstGeom prst="roundRect">
            <a:avLst>
              <a:gd name="adj" fmla="val 526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 170"/>
          <p:cNvSpPr/>
          <p:nvPr/>
        </p:nvSpPr>
        <p:spPr>
          <a:xfrm>
            <a:off x="6188490" y="5069295"/>
            <a:ext cx="168245" cy="138985"/>
          </a:xfrm>
          <a:prstGeom prst="roundRect">
            <a:avLst>
              <a:gd name="adj" fmla="val 526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 171"/>
          <p:cNvSpPr/>
          <p:nvPr/>
        </p:nvSpPr>
        <p:spPr>
          <a:xfrm>
            <a:off x="6393310" y="5069295"/>
            <a:ext cx="168245" cy="138985"/>
          </a:xfrm>
          <a:prstGeom prst="roundRect">
            <a:avLst>
              <a:gd name="adj" fmla="val 526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 172"/>
          <p:cNvSpPr/>
          <p:nvPr/>
        </p:nvSpPr>
        <p:spPr>
          <a:xfrm>
            <a:off x="6598130" y="5069295"/>
            <a:ext cx="168245" cy="138985"/>
          </a:xfrm>
          <a:prstGeom prst="roundRect">
            <a:avLst>
              <a:gd name="adj" fmla="val 526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H+Host"/>
          <p:cNvSpPr txBox="1"/>
          <p:nvPr/>
        </p:nvSpPr>
        <p:spPr>
          <a:xfrm>
            <a:off x="6172960" y="5197308"/>
            <a:ext cx="616260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H+Host</a:t>
            </a:r>
          </a:p>
        </p:txBody>
      </p:sp>
      <p:sp>
        <p:nvSpPr>
          <p:cNvPr id="175" name="rect 174"/>
          <p:cNvSpPr/>
          <p:nvPr/>
        </p:nvSpPr>
        <p:spPr>
          <a:xfrm>
            <a:off x="7483245" y="4893735"/>
            <a:ext cx="168245" cy="138985"/>
          </a:xfrm>
          <a:prstGeom prst="roundRect">
            <a:avLst>
              <a:gd name="adj" fmla="val 526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 175"/>
          <p:cNvSpPr/>
          <p:nvPr/>
        </p:nvSpPr>
        <p:spPr>
          <a:xfrm>
            <a:off x="7688065" y="4893735"/>
            <a:ext cx="168245" cy="138985"/>
          </a:xfrm>
          <a:prstGeom prst="roundRect">
            <a:avLst>
              <a:gd name="adj" fmla="val 526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 176"/>
          <p:cNvSpPr/>
          <p:nvPr/>
        </p:nvSpPr>
        <p:spPr>
          <a:xfrm>
            <a:off x="7892885" y="4893735"/>
            <a:ext cx="168245" cy="138985"/>
          </a:xfrm>
          <a:prstGeom prst="roundRect">
            <a:avLst>
              <a:gd name="adj" fmla="val 526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Host-only"/>
          <p:cNvSpPr txBox="1"/>
          <p:nvPr/>
        </p:nvSpPr>
        <p:spPr>
          <a:xfrm>
            <a:off x="7386621" y="5197308"/>
            <a:ext cx="778447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Host-only</a:t>
            </a:r>
          </a:p>
        </p:txBody>
      </p:sp>
      <p:cxnSp>
        <p:nvCxnSpPr>
          <p:cNvPr id="179" name="path 178"/>
          <p:cNvCxnSpPr/>
          <p:nvPr/>
        </p:nvCxnSpPr>
        <p:spPr>
          <a:xfrm>
            <a:off x="5515510" y="4974200"/>
            <a:ext cx="621775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path 179"/>
          <p:cNvCxnSpPr/>
          <p:nvPr/>
        </p:nvCxnSpPr>
        <p:spPr>
          <a:xfrm>
            <a:off x="6817580" y="4974200"/>
            <a:ext cx="621775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prepare"/>
          <p:cNvSpPr txBox="1"/>
          <p:nvPr/>
        </p:nvSpPr>
        <p:spPr>
          <a:xfrm>
            <a:off x="5559400" y="4657826"/>
            <a:ext cx="621632" cy="243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prepare</a:t>
            </a:r>
          </a:p>
        </p:txBody>
      </p:sp>
      <p:sp>
        <p:nvSpPr>
          <p:cNvPr id="182" name="压力"/>
          <p:cNvSpPr txBox="1"/>
          <p:nvPr/>
        </p:nvSpPr>
        <p:spPr>
          <a:xfrm>
            <a:off x="6876100" y="4657826"/>
            <a:ext cx="380380" cy="243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压力</a:t>
            </a:r>
          </a:p>
        </p:txBody>
      </p:sp>
      <p:sp>
        <p:nvSpPr>
          <p:cNvPr id="183" name="rect 182"/>
          <p:cNvSpPr/>
          <p:nvPr/>
        </p:nvSpPr>
        <p:spPr>
          <a:xfrm>
            <a:off x="4966885" y="5764220"/>
            <a:ext cx="285285" cy="299915"/>
          </a:xfrm>
          <a:prstGeom prst="roundRect">
            <a:avLst>
              <a:gd name="adj" fmla="val 2564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 183"/>
          <p:cNvSpPr/>
          <p:nvPr/>
        </p:nvSpPr>
        <p:spPr>
          <a:xfrm>
            <a:off x="5296060" y="5764220"/>
            <a:ext cx="285285" cy="299915"/>
          </a:xfrm>
          <a:prstGeom prst="roundRect">
            <a:avLst>
              <a:gd name="adj" fmla="val 2564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ΔFULL"/>
          <p:cNvSpPr txBox="1"/>
          <p:nvPr/>
        </p:nvSpPr>
        <p:spPr>
          <a:xfrm>
            <a:off x="5793480" y="5819082"/>
            <a:ext cx="662550" cy="234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ΔFULL</a:t>
            </a:r>
          </a:p>
        </p:txBody>
      </p:sp>
      <p:sp>
        <p:nvSpPr>
          <p:cNvPr id="186" name="+"/>
          <p:cNvSpPr txBox="1"/>
          <p:nvPr/>
        </p:nvSpPr>
        <p:spPr>
          <a:xfrm>
            <a:off x="6701412" y="5696556"/>
            <a:ext cx="217707" cy="369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3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+</a:t>
            </a:r>
          </a:p>
        </p:txBody>
      </p:sp>
      <p:sp>
        <p:nvSpPr>
          <p:cNvPr id="187" name="rect 186"/>
          <p:cNvSpPr/>
          <p:nvPr/>
        </p:nvSpPr>
        <p:spPr>
          <a:xfrm>
            <a:off x="7268769" y="5643961"/>
            <a:ext cx="358289" cy="267583"/>
          </a:xfrm>
          <a:prstGeom prst="roundRect">
            <a:avLst>
              <a:gd name="adj" fmla="val 2733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 187"/>
          <p:cNvSpPr/>
          <p:nvPr/>
        </p:nvSpPr>
        <p:spPr>
          <a:xfrm>
            <a:off x="7237022" y="5671173"/>
            <a:ext cx="358289" cy="267583"/>
          </a:xfrm>
          <a:prstGeom prst="roundRect">
            <a:avLst>
              <a:gd name="adj" fmla="val 2733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 188"/>
          <p:cNvSpPr/>
          <p:nvPr/>
        </p:nvSpPr>
        <p:spPr>
          <a:xfrm>
            <a:off x="7205275" y="5698385"/>
            <a:ext cx="358289" cy="267583"/>
          </a:xfrm>
          <a:prstGeom prst="roundRect">
            <a:avLst>
              <a:gd name="adj" fmla="val 2733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 189"/>
          <p:cNvSpPr/>
          <p:nvPr/>
        </p:nvSpPr>
        <p:spPr>
          <a:xfrm>
            <a:off x="7250628" y="5743738"/>
            <a:ext cx="68030" cy="63494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 190"/>
          <p:cNvSpPr/>
          <p:nvPr/>
        </p:nvSpPr>
        <p:spPr>
          <a:xfrm>
            <a:off x="7350405" y="5743738"/>
            <a:ext cx="68030" cy="63494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 191"/>
          <p:cNvSpPr/>
          <p:nvPr/>
        </p:nvSpPr>
        <p:spPr>
          <a:xfrm>
            <a:off x="7450181" y="5743738"/>
            <a:ext cx="68030" cy="63494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 192"/>
          <p:cNvSpPr/>
          <p:nvPr/>
        </p:nvSpPr>
        <p:spPr>
          <a:xfrm>
            <a:off x="7250628" y="5843515"/>
            <a:ext cx="68030" cy="63494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 193"/>
          <p:cNvSpPr/>
          <p:nvPr/>
        </p:nvSpPr>
        <p:spPr>
          <a:xfrm>
            <a:off x="7350405" y="5843515"/>
            <a:ext cx="68030" cy="63494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 194"/>
          <p:cNvSpPr/>
          <p:nvPr/>
        </p:nvSpPr>
        <p:spPr>
          <a:xfrm>
            <a:off x="7450181" y="5843515"/>
            <a:ext cx="68030" cy="63494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s"/>
          <p:cNvSpPr txBox="1"/>
          <p:nvPr/>
        </p:nvSpPr>
        <p:spPr>
          <a:xfrm>
            <a:off x="8046500" y="5773364"/>
            <a:ext cx="173188" cy="272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7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s</a:t>
            </a:r>
          </a:p>
        </p:txBody>
      </p:sp>
      <p:sp>
        <p:nvSpPr>
          <p:cNvPr id="197" name="*"/>
          <p:cNvSpPr txBox="1"/>
          <p:nvPr/>
        </p:nvSpPr>
        <p:spPr>
          <a:xfrm>
            <a:off x="8139223" y="5726914"/>
            <a:ext cx="159101" cy="188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*</a:t>
            </a:r>
          </a:p>
        </p:txBody>
      </p:sp>
      <p:cxnSp>
        <p:nvCxnSpPr>
          <p:cNvPr id="198" name="path 197"/>
          <p:cNvCxnSpPr/>
          <p:nvPr/>
        </p:nvCxnSpPr>
        <p:spPr>
          <a:xfrm>
            <a:off x="8565865" y="5947095"/>
            <a:ext cx="343805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原生等待队列"/>
          <p:cNvSpPr txBox="1"/>
          <p:nvPr/>
        </p:nvSpPr>
        <p:spPr>
          <a:xfrm>
            <a:off x="9143750" y="3364900"/>
            <a:ext cx="1185030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原生等待队列</a:t>
            </a:r>
          </a:p>
        </p:txBody>
      </p:sp>
      <p:sp>
        <p:nvSpPr>
          <p:cNvPr id="200" name="rect 199"/>
          <p:cNvSpPr/>
          <p:nvPr/>
        </p:nvSpPr>
        <p:spPr>
          <a:xfrm>
            <a:off x="9143750" y="3767225"/>
            <a:ext cx="1521520" cy="3803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 200"/>
          <p:cNvSpPr/>
          <p:nvPr/>
        </p:nvSpPr>
        <p:spPr>
          <a:xfrm>
            <a:off x="9151065" y="3774540"/>
            <a:ext cx="73150" cy="3657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ld"/>
          <p:cNvSpPr txBox="1"/>
          <p:nvPr/>
        </p:nvSpPr>
        <p:spPr>
          <a:xfrm>
            <a:off x="9317638" y="3818942"/>
            <a:ext cx="354463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old</a:t>
            </a:r>
          </a:p>
        </p:txBody>
      </p:sp>
      <p:sp>
        <p:nvSpPr>
          <p:cNvPr id="203" name="rect 202"/>
          <p:cNvSpPr/>
          <p:nvPr/>
        </p:nvSpPr>
        <p:spPr>
          <a:xfrm>
            <a:off x="10116645" y="3876950"/>
            <a:ext cx="109725" cy="16093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3167">
            <a:solidFill>
              <a:srgbClr val="18181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 203"/>
          <p:cNvSpPr/>
          <p:nvPr/>
        </p:nvSpPr>
        <p:spPr>
          <a:xfrm>
            <a:off x="10262945" y="3876950"/>
            <a:ext cx="109725" cy="16093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3167">
            <a:solidFill>
              <a:srgbClr val="18181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 204"/>
          <p:cNvSpPr/>
          <p:nvPr/>
        </p:nvSpPr>
        <p:spPr>
          <a:xfrm>
            <a:off x="10409245" y="3876950"/>
            <a:ext cx="109725" cy="16093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3167">
            <a:solidFill>
              <a:srgbClr val="18181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 205"/>
          <p:cNvSpPr/>
          <p:nvPr/>
        </p:nvSpPr>
        <p:spPr>
          <a:xfrm>
            <a:off x="9143750" y="4462150"/>
            <a:ext cx="1521520" cy="3803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 206"/>
          <p:cNvSpPr/>
          <p:nvPr/>
        </p:nvSpPr>
        <p:spPr>
          <a:xfrm>
            <a:off x="9151065" y="4469465"/>
            <a:ext cx="73150" cy="365750"/>
          </a:xfrm>
          <a:prstGeom prst="rect">
            <a:avLst/>
          </a:prstGeom>
          <a:solidFill>
            <a:srgbClr val="B5D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hit"/>
          <p:cNvSpPr txBox="1"/>
          <p:nvPr/>
        </p:nvSpPr>
        <p:spPr>
          <a:xfrm>
            <a:off x="9336155" y="4513867"/>
            <a:ext cx="317431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hit</a:t>
            </a:r>
          </a:p>
        </p:txBody>
      </p:sp>
      <p:sp>
        <p:nvSpPr>
          <p:cNvPr id="209" name="rect 208"/>
          <p:cNvSpPr/>
          <p:nvPr/>
        </p:nvSpPr>
        <p:spPr>
          <a:xfrm>
            <a:off x="10116645" y="4571875"/>
            <a:ext cx="109725" cy="160930"/>
          </a:xfrm>
          <a:prstGeom prst="roundRect">
            <a:avLst>
              <a:gd name="adj" fmla="val 6666"/>
            </a:avLst>
          </a:prstGeom>
          <a:solidFill>
            <a:srgbClr val="B5D68B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 209"/>
          <p:cNvSpPr/>
          <p:nvPr/>
        </p:nvSpPr>
        <p:spPr>
          <a:xfrm>
            <a:off x="10262945" y="4571875"/>
            <a:ext cx="109725" cy="160930"/>
          </a:xfrm>
          <a:prstGeom prst="roundRect">
            <a:avLst>
              <a:gd name="adj" fmla="val 6666"/>
            </a:avLst>
          </a:prstGeom>
          <a:solidFill>
            <a:srgbClr val="B5D68B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 210"/>
          <p:cNvSpPr/>
          <p:nvPr/>
        </p:nvSpPr>
        <p:spPr>
          <a:xfrm>
            <a:off x="10409245" y="4571875"/>
            <a:ext cx="109725" cy="160930"/>
          </a:xfrm>
          <a:prstGeom prst="roundRect">
            <a:avLst>
              <a:gd name="adj" fmla="val 6666"/>
            </a:avLst>
          </a:prstGeom>
          <a:solidFill>
            <a:srgbClr val="B5D68B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 211"/>
          <p:cNvSpPr/>
          <p:nvPr/>
        </p:nvSpPr>
        <p:spPr>
          <a:xfrm>
            <a:off x="9143750" y="5157075"/>
            <a:ext cx="1521520" cy="3803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 212"/>
          <p:cNvSpPr/>
          <p:nvPr/>
        </p:nvSpPr>
        <p:spPr>
          <a:xfrm>
            <a:off x="9151065" y="5164390"/>
            <a:ext cx="73150" cy="365750"/>
          </a:xfrm>
          <a:prstGeom prst="rect">
            <a:avLst/>
          </a:prstGeom>
          <a:solidFill>
            <a:srgbClr val="E9A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P"/>
          <p:cNvSpPr txBox="1"/>
          <p:nvPr/>
        </p:nvSpPr>
        <p:spPr>
          <a:xfrm>
            <a:off x="9394875" y="5208792"/>
            <a:ext cx="199991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</a:t>
            </a:r>
          </a:p>
        </p:txBody>
      </p:sp>
      <p:sp>
        <p:nvSpPr>
          <p:cNvPr id="215" name="rect 214"/>
          <p:cNvSpPr/>
          <p:nvPr/>
        </p:nvSpPr>
        <p:spPr>
          <a:xfrm>
            <a:off x="10116645" y="5266800"/>
            <a:ext cx="109725" cy="160930"/>
          </a:xfrm>
          <a:prstGeom prst="roundRect">
            <a:avLst>
              <a:gd name="adj" fmla="val 6666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 215"/>
          <p:cNvSpPr/>
          <p:nvPr/>
        </p:nvSpPr>
        <p:spPr>
          <a:xfrm>
            <a:off x="10262945" y="5266800"/>
            <a:ext cx="109725" cy="160930"/>
          </a:xfrm>
          <a:prstGeom prst="roundRect">
            <a:avLst>
              <a:gd name="adj" fmla="val 6666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 216"/>
          <p:cNvSpPr/>
          <p:nvPr/>
        </p:nvSpPr>
        <p:spPr>
          <a:xfrm>
            <a:off x="10409245" y="5266800"/>
            <a:ext cx="109725" cy="160930"/>
          </a:xfrm>
          <a:prstGeom prst="roundRect">
            <a:avLst>
              <a:gd name="adj" fmla="val 6666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path 217"/>
          <p:cNvSpPr/>
          <p:nvPr/>
        </p:nvSpPr>
        <p:spPr>
          <a:xfrm>
            <a:off x="10540915" y="5032720"/>
            <a:ext cx="58520" cy="51205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7"/>
                </a:moveTo>
                <a:lnTo>
                  <a:pt x="0" y="0"/>
                </a:lnTo>
                <a:lnTo>
                  <a:pt x="8" y="0"/>
                </a:lnTo>
                <a:lnTo>
                  <a:pt x="8" y="7"/>
                </a:lnTo>
              </a:path>
            </a:pathLst>
          </a:custGeom>
          <a:noFill/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 218"/>
          <p:cNvSpPr/>
          <p:nvPr/>
        </p:nvSpPr>
        <p:spPr>
          <a:xfrm>
            <a:off x="10518970" y="5082462"/>
            <a:ext cx="105336" cy="8778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circle 219"/>
          <p:cNvSpPr/>
          <p:nvPr/>
        </p:nvSpPr>
        <p:spPr>
          <a:xfrm>
            <a:off x="10562860" y="5108796"/>
            <a:ext cx="17556" cy="17556"/>
          </a:xfrm>
          <a:prstGeom prst="ellipse">
            <a:avLst/>
          </a:prstGeom>
          <a:solidFill>
            <a:srgbClr val="181818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老化"/>
          <p:cNvSpPr txBox="1"/>
          <p:nvPr/>
        </p:nvSpPr>
        <p:spPr>
          <a:xfrm>
            <a:off x="9143750" y="4178694"/>
            <a:ext cx="409640" cy="265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7" b="0" i="0" lang="zh-CN" spc="0">
                <a:solidFill>
                  <a:srgbClr val="535353"/>
                </a:solidFill>
                <a:latin typeface="Noto Sans CJK SC"/>
                <a:ea typeface="Noto Sans CJK SC"/>
              </a:rPr>
              <a:t>老化</a:t>
            </a:r>
          </a:p>
        </p:txBody>
      </p:sp>
      <p:sp>
        <p:nvSpPr>
          <p:cNvPr id="222" name="HBM 命中"/>
          <p:cNvSpPr txBox="1"/>
          <p:nvPr/>
        </p:nvSpPr>
        <p:spPr>
          <a:xfrm>
            <a:off x="9143750" y="4880934"/>
            <a:ext cx="799249" cy="265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7" b="0" i="0" lang="zh-CN" spc="0">
                <a:solidFill>
                  <a:srgbClr val="535353"/>
                </a:solidFill>
                <a:latin typeface="Noto Sans CJK SC"/>
                <a:ea typeface="Noto Sans CJK SC"/>
              </a:rPr>
              <a:t>HBM 命中</a:t>
            </a:r>
          </a:p>
        </p:txBody>
      </p:sp>
      <p:sp>
        <p:nvSpPr>
          <p:cNvPr id="223" name="恢复就绪"/>
          <p:cNvSpPr txBox="1"/>
          <p:nvPr/>
        </p:nvSpPr>
        <p:spPr>
          <a:xfrm>
            <a:off x="9143750" y="5575859"/>
            <a:ext cx="731500" cy="265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7" b="0" i="0" lang="zh-CN" spc="0">
                <a:solidFill>
                  <a:srgbClr val="535353"/>
                </a:solidFill>
                <a:latin typeface="Noto Sans CJK SC"/>
                <a:ea typeface="Noto Sans CJK SC"/>
              </a:rPr>
              <a:t>恢复就绪</a:t>
            </a:r>
          </a:p>
        </p:txBody>
      </p:sp>
      <p:cxnSp>
        <p:nvCxnSpPr>
          <p:cNvPr id="224" name="line 223"/>
          <p:cNvCxnSpPr/>
          <p:nvPr/>
        </p:nvCxnSpPr>
        <p:spPr>
          <a:xfrm>
            <a:off x="11586960" y="4228070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line 224"/>
          <p:cNvCxnSpPr/>
          <p:nvPr/>
        </p:nvCxnSpPr>
        <p:spPr>
          <a:xfrm>
            <a:off x="11586960" y="527411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line 225"/>
          <p:cNvCxnSpPr/>
          <p:nvPr/>
        </p:nvCxnSpPr>
        <p:spPr>
          <a:xfrm>
            <a:off x="11733260" y="4228070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line 226"/>
          <p:cNvCxnSpPr/>
          <p:nvPr/>
        </p:nvCxnSpPr>
        <p:spPr>
          <a:xfrm>
            <a:off x="11733260" y="527411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line 227"/>
          <p:cNvCxnSpPr/>
          <p:nvPr/>
        </p:nvCxnSpPr>
        <p:spPr>
          <a:xfrm>
            <a:off x="11879560" y="4228070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line 228"/>
          <p:cNvCxnSpPr/>
          <p:nvPr/>
        </p:nvCxnSpPr>
        <p:spPr>
          <a:xfrm>
            <a:off x="11879560" y="527411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line 229"/>
          <p:cNvCxnSpPr/>
          <p:nvPr/>
        </p:nvCxnSpPr>
        <p:spPr>
          <a:xfrm>
            <a:off x="12025860" y="4228070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line 230"/>
          <p:cNvCxnSpPr/>
          <p:nvPr/>
        </p:nvCxnSpPr>
        <p:spPr>
          <a:xfrm>
            <a:off x="12025860" y="527411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line 231"/>
          <p:cNvCxnSpPr/>
          <p:nvPr/>
        </p:nvCxnSpPr>
        <p:spPr>
          <a:xfrm>
            <a:off x="12172160" y="4228070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line 232"/>
          <p:cNvCxnSpPr/>
          <p:nvPr/>
        </p:nvCxnSpPr>
        <p:spPr>
          <a:xfrm>
            <a:off x="12172160" y="527411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line 233"/>
          <p:cNvCxnSpPr/>
          <p:nvPr/>
        </p:nvCxnSpPr>
        <p:spPr>
          <a:xfrm>
            <a:off x="12318460" y="4228070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line 234"/>
          <p:cNvCxnSpPr/>
          <p:nvPr/>
        </p:nvCxnSpPr>
        <p:spPr>
          <a:xfrm>
            <a:off x="12318460" y="527411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line 235"/>
          <p:cNvCxnSpPr/>
          <p:nvPr/>
        </p:nvCxnSpPr>
        <p:spPr>
          <a:xfrm>
            <a:off x="12464760" y="4228070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line 236"/>
          <p:cNvCxnSpPr/>
          <p:nvPr/>
        </p:nvCxnSpPr>
        <p:spPr>
          <a:xfrm>
            <a:off x="12464760" y="527411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line 237"/>
          <p:cNvCxnSpPr/>
          <p:nvPr/>
        </p:nvCxnSpPr>
        <p:spPr>
          <a:xfrm>
            <a:off x="11411400" y="4410945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line 238"/>
          <p:cNvCxnSpPr/>
          <p:nvPr/>
        </p:nvCxnSpPr>
        <p:spPr>
          <a:xfrm>
            <a:off x="12508650" y="4410945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line 239"/>
          <p:cNvCxnSpPr/>
          <p:nvPr/>
        </p:nvCxnSpPr>
        <p:spPr>
          <a:xfrm>
            <a:off x="11411400" y="4557245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line 240"/>
          <p:cNvCxnSpPr/>
          <p:nvPr/>
        </p:nvCxnSpPr>
        <p:spPr>
          <a:xfrm>
            <a:off x="12508650" y="4557245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line 241"/>
          <p:cNvCxnSpPr/>
          <p:nvPr/>
        </p:nvCxnSpPr>
        <p:spPr>
          <a:xfrm>
            <a:off x="11411400" y="4703545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line 242"/>
          <p:cNvCxnSpPr/>
          <p:nvPr/>
        </p:nvCxnSpPr>
        <p:spPr>
          <a:xfrm>
            <a:off x="12508650" y="4703545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line 243"/>
          <p:cNvCxnSpPr/>
          <p:nvPr/>
        </p:nvCxnSpPr>
        <p:spPr>
          <a:xfrm>
            <a:off x="11411400" y="4849845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line 244"/>
          <p:cNvCxnSpPr/>
          <p:nvPr/>
        </p:nvCxnSpPr>
        <p:spPr>
          <a:xfrm>
            <a:off x="12508650" y="4849845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line 245"/>
          <p:cNvCxnSpPr/>
          <p:nvPr/>
        </p:nvCxnSpPr>
        <p:spPr>
          <a:xfrm>
            <a:off x="11411400" y="4996145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line 246"/>
          <p:cNvCxnSpPr/>
          <p:nvPr/>
        </p:nvCxnSpPr>
        <p:spPr>
          <a:xfrm>
            <a:off x="12508650" y="4996145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line 247"/>
          <p:cNvCxnSpPr/>
          <p:nvPr/>
        </p:nvCxnSpPr>
        <p:spPr>
          <a:xfrm>
            <a:off x="11411400" y="5142445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line 248"/>
          <p:cNvCxnSpPr/>
          <p:nvPr/>
        </p:nvCxnSpPr>
        <p:spPr>
          <a:xfrm>
            <a:off x="12508650" y="5142445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rect 249"/>
          <p:cNvSpPr/>
          <p:nvPr/>
        </p:nvSpPr>
        <p:spPr>
          <a:xfrm>
            <a:off x="11484550" y="4301220"/>
            <a:ext cx="1024100" cy="972895"/>
          </a:xfrm>
          <a:prstGeom prst="roundRect">
            <a:avLst>
              <a:gd name="adj" fmla="val 1503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PU"/>
          <p:cNvSpPr txBox="1"/>
          <p:nvPr/>
        </p:nvSpPr>
        <p:spPr>
          <a:xfrm>
            <a:off x="11765563" y="4308535"/>
            <a:ext cx="462074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GPU</a:t>
            </a:r>
          </a:p>
        </p:txBody>
      </p:sp>
      <p:sp>
        <p:nvSpPr>
          <p:cNvPr id="252" name="rect 251"/>
          <p:cNvSpPr/>
          <p:nvPr/>
        </p:nvSpPr>
        <p:spPr>
          <a:xfrm>
            <a:off x="11579645" y="4608450"/>
            <a:ext cx="256025" cy="245052"/>
          </a:xfrm>
          <a:prstGeom prst="roundRect">
            <a:avLst>
              <a:gd name="adj" fmla="val 2985"/>
            </a:avLst>
          </a:prstGeom>
          <a:solidFill>
            <a:srgbClr val="E9A6B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 252"/>
          <p:cNvSpPr/>
          <p:nvPr/>
        </p:nvSpPr>
        <p:spPr>
          <a:xfrm>
            <a:off x="11867368" y="4608450"/>
            <a:ext cx="256025" cy="245052"/>
          </a:xfrm>
          <a:prstGeom prst="roundRect">
            <a:avLst>
              <a:gd name="adj" fmla="val 2985"/>
            </a:avLst>
          </a:prstGeom>
          <a:solidFill>
            <a:srgbClr val="B5D68B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 253"/>
          <p:cNvSpPr/>
          <p:nvPr/>
        </p:nvSpPr>
        <p:spPr>
          <a:xfrm>
            <a:off x="12155092" y="4608450"/>
            <a:ext cx="256025" cy="245052"/>
          </a:xfrm>
          <a:prstGeom prst="roundRect">
            <a:avLst>
              <a:gd name="adj" fmla="val 2985"/>
            </a:avLst>
          </a:prstGeom>
          <a:solidFill>
            <a:srgbClr val="F2BD7D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 254"/>
          <p:cNvSpPr/>
          <p:nvPr/>
        </p:nvSpPr>
        <p:spPr>
          <a:xfrm>
            <a:off x="11579645" y="4901050"/>
            <a:ext cx="256025" cy="24505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 255"/>
          <p:cNvSpPr/>
          <p:nvPr/>
        </p:nvSpPr>
        <p:spPr>
          <a:xfrm>
            <a:off x="11867368" y="4901050"/>
            <a:ext cx="256025" cy="245052"/>
          </a:xfrm>
          <a:prstGeom prst="roundRect">
            <a:avLst>
              <a:gd name="adj" fmla="val 2985"/>
            </a:avLst>
          </a:prstGeom>
          <a:solidFill>
            <a:srgbClr val="E9A6B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 256"/>
          <p:cNvSpPr/>
          <p:nvPr/>
        </p:nvSpPr>
        <p:spPr>
          <a:xfrm>
            <a:off x="12155092" y="4901050"/>
            <a:ext cx="256025" cy="24505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path 257"/>
          <p:cNvSpPr/>
          <p:nvPr/>
        </p:nvSpPr>
        <p:spPr>
          <a:xfrm>
            <a:off x="10687215" y="3957415"/>
            <a:ext cx="702240" cy="497420"/>
          </a:xfrm>
          <a:custGeom>
            <a:avLst/>
            <a:gdLst/>
            <a:ahLst/>
            <a:cxnLst/>
            <a:rect l="l" t="t" r="r" b="b"/>
            <a:pathLst>
              <a:path w="96" h="68">
                <a:moveTo>
                  <a:pt x="0" y="0"/>
                </a:moveTo>
                <a:lnTo>
                  <a:pt x="53" y="0"/>
                </a:lnTo>
                <a:lnTo>
                  <a:pt x="53" y="68"/>
                </a:lnTo>
                <a:lnTo>
                  <a:pt x="96" y="68"/>
                </a:lnTo>
              </a:path>
            </a:pathLst>
          </a:custGeom>
          <a:noFill/>
          <a:ln w="19019">
            <a:solidFill>
              <a:srgbClr val="181818"/>
            </a:solidFill>
            <a:prstDash val="dash"/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9" name="path 258"/>
          <p:cNvCxnSpPr/>
          <p:nvPr/>
        </p:nvCxnSpPr>
        <p:spPr>
          <a:xfrm>
            <a:off x="10687215" y="4652340"/>
            <a:ext cx="702240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path 259"/>
          <p:cNvSpPr/>
          <p:nvPr/>
        </p:nvSpPr>
        <p:spPr>
          <a:xfrm>
            <a:off x="10687215" y="5069295"/>
            <a:ext cx="702240" cy="277970"/>
          </a:xfrm>
          <a:custGeom>
            <a:avLst/>
            <a:gdLst/>
            <a:ahLst/>
            <a:cxnLst/>
            <a:rect l="l" t="t" r="r" b="b"/>
            <a:pathLst>
              <a:path w="96" h="38">
                <a:moveTo>
                  <a:pt x="0" y="38"/>
                </a:moveTo>
                <a:lnTo>
                  <a:pt x="53" y="38"/>
                </a:lnTo>
                <a:lnTo>
                  <a:pt x="53" y="0"/>
                </a:lnTo>
                <a:lnTo>
                  <a:pt x="96" y="0"/>
                </a:lnTo>
              </a:path>
            </a:pathLst>
          </a:custGeom>
          <a:noFill/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path 260"/>
          <p:cNvSpPr/>
          <p:nvPr/>
        </p:nvSpPr>
        <p:spPr>
          <a:xfrm>
            <a:off x="11235840" y="5764220"/>
            <a:ext cx="124355" cy="124355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0" y="8"/>
                </a:moveTo>
                <a:lnTo>
                  <a:pt x="6" y="17"/>
                </a:lnTo>
                <a:lnTo>
                  <a:pt x="17" y="0"/>
                </a:lnTo>
              </a:path>
            </a:pathLst>
          </a:custGeom>
          <a:noFill/>
          <a:ln w="2048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KV ∧ slot"/>
          <p:cNvSpPr txBox="1"/>
          <p:nvPr/>
        </p:nvSpPr>
        <p:spPr>
          <a:xfrm>
            <a:off x="11426030" y="5691070"/>
            <a:ext cx="887115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KV ∧ slot</a:t>
            </a:r>
          </a:p>
        </p:txBody>
      </p:sp>
      <p:sp>
        <p:nvSpPr>
          <p:cNvPr id="263" name="PrefillAdder"/>
          <p:cNvSpPr txBox="1"/>
          <p:nvPr/>
        </p:nvSpPr>
        <p:spPr>
          <a:xfrm>
            <a:off x="11199265" y="6020245"/>
            <a:ext cx="1126739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PrefillAdder</a:t>
            </a:r>
          </a:p>
        </p:txBody>
      </p:sp>
      <p:sp>
        <p:nvSpPr>
          <p:cNvPr id="264" name="rect 263"/>
          <p:cNvSpPr/>
          <p:nvPr/>
        </p:nvSpPr>
        <p:spPr>
          <a:xfrm>
            <a:off x="292600" y="6861470"/>
            <a:ext cx="12581800" cy="1506890"/>
          </a:xfrm>
          <a:prstGeom prst="roundRect">
            <a:avLst>
              <a:gd name="adj" fmla="val 2912"/>
            </a:avLst>
          </a:prstGeom>
          <a:solidFill>
            <a:srgbClr val="EEEEEE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 264"/>
          <p:cNvSpPr/>
          <p:nvPr/>
        </p:nvSpPr>
        <p:spPr>
          <a:xfrm>
            <a:off x="292600" y="6861470"/>
            <a:ext cx="12581800" cy="351120"/>
          </a:xfrm>
          <a:prstGeom prst="roundRect">
            <a:avLst>
              <a:gd name="adj" fmla="val 12500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 265"/>
          <p:cNvSpPr/>
          <p:nvPr/>
        </p:nvSpPr>
        <p:spPr>
          <a:xfrm>
            <a:off x="301378" y="7058975"/>
            <a:ext cx="12564244" cy="146300"/>
          </a:xfrm>
          <a:prstGeom prst="rect">
            <a:avLst/>
          </a:prstGeom>
          <a:solidFill>
            <a:srgbClr val="A9C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line 266"/>
          <p:cNvCxnSpPr/>
          <p:nvPr/>
        </p:nvCxnSpPr>
        <p:spPr>
          <a:xfrm>
            <a:off x="292600" y="7212590"/>
            <a:ext cx="12581800" cy="0"/>
          </a:xfrm>
          <a:prstGeom prst="line">
            <a:avLst/>
          </a:prstGeom>
          <a:ln w="12435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(b) 原生 SGLang 数据路径"/>
          <p:cNvSpPr txBox="1"/>
          <p:nvPr/>
        </p:nvSpPr>
        <p:spPr>
          <a:xfrm>
            <a:off x="438900" y="6865128"/>
            <a:ext cx="2510588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(b) 原生 SGLang 数据路径</a:t>
            </a:r>
          </a:p>
        </p:txBody>
      </p:sp>
      <p:sp>
        <p:nvSpPr>
          <p:cNvPr id="269" name="path 268"/>
          <p:cNvSpPr/>
          <p:nvPr/>
        </p:nvSpPr>
        <p:spPr>
          <a:xfrm>
            <a:off x="4293905" y="6407940"/>
            <a:ext cx="2282280" cy="811965"/>
          </a:xfrm>
          <a:custGeom>
            <a:avLst/>
            <a:gdLst/>
            <a:ahLst/>
            <a:cxnLst/>
            <a:rect l="l" t="t" r="r" b="b"/>
            <a:pathLst>
              <a:path w="312" h="111">
                <a:moveTo>
                  <a:pt x="312" y="0"/>
                </a:moveTo>
                <a:lnTo>
                  <a:pt x="312" y="34"/>
                </a:lnTo>
                <a:lnTo>
                  <a:pt x="0" y="34"/>
                </a:lnTo>
                <a:lnTo>
                  <a:pt x="0" y="111"/>
                </a:lnTo>
              </a:path>
            </a:pathLst>
          </a:custGeom>
          <a:noFill/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0" name="path 269"/>
          <p:cNvCxnSpPr/>
          <p:nvPr/>
        </p:nvCxnSpPr>
        <p:spPr>
          <a:xfrm>
            <a:off x="11908820" y="6407940"/>
            <a:ext cx="0" cy="43890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rect 270"/>
          <p:cNvSpPr/>
          <p:nvPr/>
        </p:nvSpPr>
        <p:spPr>
          <a:xfrm>
            <a:off x="804650" y="7571025"/>
            <a:ext cx="365750" cy="212135"/>
          </a:xfrm>
          <a:prstGeom prst="roundRect">
            <a:avLst>
              <a:gd name="adj" fmla="val 3448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 271"/>
          <p:cNvSpPr/>
          <p:nvPr/>
        </p:nvSpPr>
        <p:spPr>
          <a:xfrm>
            <a:off x="1623930" y="7344260"/>
            <a:ext cx="365750" cy="212135"/>
          </a:xfrm>
          <a:prstGeom prst="roundRect">
            <a:avLst>
              <a:gd name="adj" fmla="val 3448"/>
            </a:avLst>
          </a:prstGeom>
          <a:solidFill>
            <a:srgbClr val="B5D68B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 272"/>
          <p:cNvSpPr/>
          <p:nvPr/>
        </p:nvSpPr>
        <p:spPr>
          <a:xfrm>
            <a:off x="1623930" y="7885570"/>
            <a:ext cx="365750" cy="212135"/>
          </a:xfrm>
          <a:prstGeom prst="roundRect">
            <a:avLst>
              <a:gd name="adj" fmla="val 3448"/>
            </a:avLst>
          </a:prstGeom>
          <a:solidFill>
            <a:srgbClr val="F2BD7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4" name="line 273"/>
          <p:cNvCxnSpPr/>
          <p:nvPr/>
        </p:nvCxnSpPr>
        <p:spPr>
          <a:xfrm flipV="1">
            <a:off x="1170400" y="7461300"/>
            <a:ext cx="431585" cy="20482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line 274"/>
          <p:cNvCxnSpPr/>
          <p:nvPr/>
        </p:nvCxnSpPr>
        <p:spPr>
          <a:xfrm>
            <a:off x="1170400" y="7680750"/>
            <a:ext cx="431585" cy="30723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Unified"/>
          <p:cNvSpPr txBox="1"/>
          <p:nvPr/>
        </p:nvSpPr>
        <p:spPr>
          <a:xfrm>
            <a:off x="2201815" y="7329630"/>
            <a:ext cx="744844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Unified</a:t>
            </a:r>
          </a:p>
        </p:txBody>
      </p:sp>
      <p:sp>
        <p:nvSpPr>
          <p:cNvPr id="277" name="RadixCache"/>
          <p:cNvSpPr txBox="1"/>
          <p:nvPr/>
        </p:nvSpPr>
        <p:spPr>
          <a:xfrm>
            <a:off x="2201815" y="7600285"/>
            <a:ext cx="1140769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RadixCache</a:t>
            </a:r>
          </a:p>
        </p:txBody>
      </p:sp>
      <p:cxnSp>
        <p:nvCxnSpPr>
          <p:cNvPr id="278" name="path 277"/>
          <p:cNvCxnSpPr/>
          <p:nvPr/>
        </p:nvCxnSpPr>
        <p:spPr>
          <a:xfrm>
            <a:off x="3342955" y="7688065"/>
            <a:ext cx="351120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rect 278"/>
          <p:cNvSpPr/>
          <p:nvPr/>
        </p:nvSpPr>
        <p:spPr>
          <a:xfrm>
            <a:off x="3745280" y="7373520"/>
            <a:ext cx="1185030" cy="636405"/>
          </a:xfrm>
          <a:prstGeom prst="roundRect">
            <a:avLst>
              <a:gd name="adj" fmla="val 3448"/>
            </a:avLst>
          </a:prstGeom>
          <a:solidFill>
            <a:srgbClr val="F5D460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HiCache"/>
          <p:cNvSpPr txBox="1"/>
          <p:nvPr/>
        </p:nvSpPr>
        <p:spPr>
          <a:xfrm>
            <a:off x="3908196" y="7364376"/>
            <a:ext cx="859198" cy="3054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HiCache</a:t>
            </a:r>
          </a:p>
        </p:txBody>
      </p:sp>
      <p:cxnSp>
        <p:nvCxnSpPr>
          <p:cNvPr id="281" name="path 280"/>
          <p:cNvCxnSpPr/>
          <p:nvPr/>
        </p:nvCxnSpPr>
        <p:spPr>
          <a:xfrm>
            <a:off x="3884265" y="7774455"/>
            <a:ext cx="907060" cy="0"/>
          </a:xfrm>
          <a:prstGeom prst="line">
            <a:avLst/>
          </a:prstGeom>
          <a:ln w="14630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path 281"/>
          <p:cNvCxnSpPr/>
          <p:nvPr/>
        </p:nvCxnSpPr>
        <p:spPr>
          <a:xfrm flipH="1">
            <a:off x="3884265" y="7895372"/>
            <a:ext cx="907060" cy="0"/>
          </a:xfrm>
          <a:prstGeom prst="line">
            <a:avLst/>
          </a:prstGeom>
          <a:ln w="14630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path 282"/>
          <p:cNvCxnSpPr/>
          <p:nvPr/>
        </p:nvCxnSpPr>
        <p:spPr>
          <a:xfrm>
            <a:off x="4981515" y="7688065"/>
            <a:ext cx="438900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rect 283"/>
          <p:cNvSpPr/>
          <p:nvPr/>
        </p:nvSpPr>
        <p:spPr>
          <a:xfrm>
            <a:off x="5493565" y="7512505"/>
            <a:ext cx="1719025" cy="460845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 284"/>
          <p:cNvSpPr/>
          <p:nvPr/>
        </p:nvSpPr>
        <p:spPr>
          <a:xfrm>
            <a:off x="5537455" y="7556395"/>
            <a:ext cx="1631245" cy="8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 285"/>
          <p:cNvSpPr/>
          <p:nvPr/>
        </p:nvSpPr>
        <p:spPr>
          <a:xfrm>
            <a:off x="5566715" y="7724640"/>
            <a:ext cx="360264" cy="146300"/>
          </a:xfrm>
          <a:prstGeom prst="roundRect">
            <a:avLst>
              <a:gd name="adj" fmla="val 5000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 286"/>
          <p:cNvSpPr/>
          <p:nvPr/>
        </p:nvSpPr>
        <p:spPr>
          <a:xfrm>
            <a:off x="5970869" y="7724640"/>
            <a:ext cx="360264" cy="146300"/>
          </a:xfrm>
          <a:prstGeom prst="roundRect">
            <a:avLst>
              <a:gd name="adj" fmla="val 5000"/>
            </a:avLst>
          </a:prstGeom>
          <a:solidFill>
            <a:srgbClr val="B5D68B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 287"/>
          <p:cNvSpPr/>
          <p:nvPr/>
        </p:nvSpPr>
        <p:spPr>
          <a:xfrm>
            <a:off x="6375022" y="7724640"/>
            <a:ext cx="360264" cy="146300"/>
          </a:xfrm>
          <a:prstGeom prst="roundRect">
            <a:avLst>
              <a:gd name="adj" fmla="val 5000"/>
            </a:avLst>
          </a:prstGeom>
          <a:solidFill>
            <a:srgbClr val="F2BD7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 288"/>
          <p:cNvSpPr/>
          <p:nvPr/>
        </p:nvSpPr>
        <p:spPr>
          <a:xfrm>
            <a:off x="6779176" y="7724640"/>
            <a:ext cx="360264" cy="146300"/>
          </a:xfrm>
          <a:prstGeom prst="roundRect">
            <a:avLst>
              <a:gd name="adj" fmla="val 5000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 289"/>
          <p:cNvSpPr/>
          <p:nvPr/>
        </p:nvSpPr>
        <p:spPr>
          <a:xfrm>
            <a:off x="5588660" y="797335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 290"/>
          <p:cNvSpPr/>
          <p:nvPr/>
        </p:nvSpPr>
        <p:spPr>
          <a:xfrm>
            <a:off x="5713015" y="797335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 291"/>
          <p:cNvSpPr/>
          <p:nvPr/>
        </p:nvSpPr>
        <p:spPr>
          <a:xfrm>
            <a:off x="5837370" y="797335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 292"/>
          <p:cNvSpPr/>
          <p:nvPr/>
        </p:nvSpPr>
        <p:spPr>
          <a:xfrm>
            <a:off x="5961725" y="797335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 293"/>
          <p:cNvSpPr/>
          <p:nvPr/>
        </p:nvSpPr>
        <p:spPr>
          <a:xfrm>
            <a:off x="6086080" y="797335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 294"/>
          <p:cNvSpPr/>
          <p:nvPr/>
        </p:nvSpPr>
        <p:spPr>
          <a:xfrm>
            <a:off x="6210435" y="797335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 295"/>
          <p:cNvSpPr/>
          <p:nvPr/>
        </p:nvSpPr>
        <p:spPr>
          <a:xfrm>
            <a:off x="6334790" y="797335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 296"/>
          <p:cNvSpPr/>
          <p:nvPr/>
        </p:nvSpPr>
        <p:spPr>
          <a:xfrm>
            <a:off x="6459145" y="797335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 297"/>
          <p:cNvSpPr/>
          <p:nvPr/>
        </p:nvSpPr>
        <p:spPr>
          <a:xfrm>
            <a:off x="6583500" y="797335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 298"/>
          <p:cNvSpPr/>
          <p:nvPr/>
        </p:nvSpPr>
        <p:spPr>
          <a:xfrm>
            <a:off x="6707855" y="797335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 299"/>
          <p:cNvSpPr/>
          <p:nvPr/>
        </p:nvSpPr>
        <p:spPr>
          <a:xfrm>
            <a:off x="6832210" y="797335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 300"/>
          <p:cNvSpPr/>
          <p:nvPr/>
        </p:nvSpPr>
        <p:spPr>
          <a:xfrm>
            <a:off x="6956565" y="797335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 301"/>
          <p:cNvSpPr/>
          <p:nvPr/>
        </p:nvSpPr>
        <p:spPr>
          <a:xfrm>
            <a:off x="7080920" y="7973350"/>
            <a:ext cx="51205" cy="58520"/>
          </a:xfrm>
          <a:prstGeom prst="rect">
            <a:avLst/>
          </a:prstGeom>
          <a:solidFill>
            <a:srgbClr val="F5D460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 302"/>
          <p:cNvSpPr/>
          <p:nvPr/>
        </p:nvSpPr>
        <p:spPr>
          <a:xfrm>
            <a:off x="7530792" y="7446670"/>
            <a:ext cx="433414" cy="323689"/>
          </a:xfrm>
          <a:prstGeom prst="roundRect">
            <a:avLst>
              <a:gd name="adj" fmla="val 2259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 303"/>
          <p:cNvSpPr/>
          <p:nvPr/>
        </p:nvSpPr>
        <p:spPr>
          <a:xfrm>
            <a:off x="7492389" y="7479588"/>
            <a:ext cx="433414" cy="323689"/>
          </a:xfrm>
          <a:prstGeom prst="roundRect">
            <a:avLst>
              <a:gd name="adj" fmla="val 2259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 304"/>
          <p:cNvSpPr/>
          <p:nvPr/>
        </p:nvSpPr>
        <p:spPr>
          <a:xfrm>
            <a:off x="7453985" y="7512505"/>
            <a:ext cx="433414" cy="323689"/>
          </a:xfrm>
          <a:prstGeom prst="roundRect">
            <a:avLst>
              <a:gd name="adj" fmla="val 2259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 305"/>
          <p:cNvSpPr/>
          <p:nvPr/>
        </p:nvSpPr>
        <p:spPr>
          <a:xfrm>
            <a:off x="7508848" y="7567368"/>
            <a:ext cx="82294" cy="76808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 306"/>
          <p:cNvSpPr/>
          <p:nvPr/>
        </p:nvSpPr>
        <p:spPr>
          <a:xfrm>
            <a:off x="7629545" y="7567368"/>
            <a:ext cx="82294" cy="76808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 307"/>
          <p:cNvSpPr/>
          <p:nvPr/>
        </p:nvSpPr>
        <p:spPr>
          <a:xfrm>
            <a:off x="7750242" y="7567368"/>
            <a:ext cx="82294" cy="76808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 308"/>
          <p:cNvSpPr/>
          <p:nvPr/>
        </p:nvSpPr>
        <p:spPr>
          <a:xfrm>
            <a:off x="7508848" y="7688065"/>
            <a:ext cx="82294" cy="76808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 309"/>
          <p:cNvSpPr/>
          <p:nvPr/>
        </p:nvSpPr>
        <p:spPr>
          <a:xfrm>
            <a:off x="7629545" y="7688065"/>
            <a:ext cx="82294" cy="76808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 310"/>
          <p:cNvSpPr/>
          <p:nvPr/>
        </p:nvSpPr>
        <p:spPr>
          <a:xfrm>
            <a:off x="7750242" y="7688065"/>
            <a:ext cx="82294" cy="76808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ULL"/>
          <p:cNvSpPr txBox="1"/>
          <p:nvPr/>
        </p:nvSpPr>
        <p:spPr>
          <a:xfrm>
            <a:off x="5866630" y="8041014"/>
            <a:ext cx="484647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FULL</a:t>
            </a:r>
          </a:p>
        </p:txBody>
      </p:sp>
      <p:sp>
        <p:nvSpPr>
          <p:cNvPr id="313" name="Mamba"/>
          <p:cNvSpPr txBox="1"/>
          <p:nvPr/>
        </p:nvSpPr>
        <p:spPr>
          <a:xfrm>
            <a:off x="7432040" y="8041014"/>
            <a:ext cx="670923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Mamba</a:t>
            </a:r>
          </a:p>
        </p:txBody>
      </p:sp>
      <p:cxnSp>
        <p:nvCxnSpPr>
          <p:cNvPr id="314" name="path 313"/>
          <p:cNvCxnSpPr/>
          <p:nvPr/>
        </p:nvCxnSpPr>
        <p:spPr>
          <a:xfrm>
            <a:off x="8083075" y="7688065"/>
            <a:ext cx="402325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rect 314"/>
          <p:cNvSpPr/>
          <p:nvPr/>
        </p:nvSpPr>
        <p:spPr>
          <a:xfrm>
            <a:off x="8595125" y="7388150"/>
            <a:ext cx="1243550" cy="182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 315"/>
          <p:cNvSpPr/>
          <p:nvPr/>
        </p:nvSpPr>
        <p:spPr>
          <a:xfrm>
            <a:off x="8602440" y="7395465"/>
            <a:ext cx="73150" cy="16824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0"/>
          <p:cNvSpPr txBox="1"/>
          <p:nvPr/>
        </p:nvSpPr>
        <p:spPr>
          <a:xfrm>
            <a:off x="8831048" y="7364084"/>
            <a:ext cx="230394" cy="2322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r0</a:t>
            </a:r>
          </a:p>
        </p:txBody>
      </p:sp>
      <p:sp>
        <p:nvSpPr>
          <p:cNvPr id="318" name="rect 317"/>
          <p:cNvSpPr/>
          <p:nvPr/>
        </p:nvSpPr>
        <p:spPr>
          <a:xfrm>
            <a:off x="9290050" y="7417410"/>
            <a:ext cx="109725" cy="124355"/>
          </a:xfrm>
          <a:prstGeom prst="roundRect">
            <a:avLst>
              <a:gd name="adj" fmla="val 6666"/>
            </a:avLst>
          </a:pr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 318"/>
          <p:cNvSpPr/>
          <p:nvPr/>
        </p:nvSpPr>
        <p:spPr>
          <a:xfrm>
            <a:off x="9436350" y="7417410"/>
            <a:ext cx="109725" cy="124355"/>
          </a:xfrm>
          <a:prstGeom prst="roundRect">
            <a:avLst>
              <a:gd name="adj" fmla="val 6666"/>
            </a:avLst>
          </a:pr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 319"/>
          <p:cNvSpPr/>
          <p:nvPr/>
        </p:nvSpPr>
        <p:spPr>
          <a:xfrm>
            <a:off x="9582650" y="7417410"/>
            <a:ext cx="109725" cy="124355"/>
          </a:xfrm>
          <a:prstGeom prst="roundRect">
            <a:avLst>
              <a:gd name="adj" fmla="val 6666"/>
            </a:avLst>
          </a:pr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 320"/>
          <p:cNvSpPr/>
          <p:nvPr/>
        </p:nvSpPr>
        <p:spPr>
          <a:xfrm>
            <a:off x="8595125" y="7607600"/>
            <a:ext cx="1243550" cy="182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 321"/>
          <p:cNvSpPr/>
          <p:nvPr/>
        </p:nvSpPr>
        <p:spPr>
          <a:xfrm>
            <a:off x="8602440" y="7614915"/>
            <a:ext cx="73150" cy="16824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1"/>
          <p:cNvSpPr txBox="1"/>
          <p:nvPr/>
        </p:nvSpPr>
        <p:spPr>
          <a:xfrm>
            <a:off x="8831048" y="7583534"/>
            <a:ext cx="230394" cy="2322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r1</a:t>
            </a:r>
          </a:p>
        </p:txBody>
      </p:sp>
      <p:sp>
        <p:nvSpPr>
          <p:cNvPr id="324" name="rect 323"/>
          <p:cNvSpPr/>
          <p:nvPr/>
        </p:nvSpPr>
        <p:spPr>
          <a:xfrm>
            <a:off x="9290050" y="7636860"/>
            <a:ext cx="109725" cy="124355"/>
          </a:xfrm>
          <a:prstGeom prst="roundRect">
            <a:avLst>
              <a:gd name="adj" fmla="val 6666"/>
            </a:avLst>
          </a:pr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 324"/>
          <p:cNvSpPr/>
          <p:nvPr/>
        </p:nvSpPr>
        <p:spPr>
          <a:xfrm>
            <a:off x="9436350" y="7636860"/>
            <a:ext cx="109725" cy="124355"/>
          </a:xfrm>
          <a:prstGeom prst="roundRect">
            <a:avLst>
              <a:gd name="adj" fmla="val 6666"/>
            </a:avLst>
          </a:pr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 325"/>
          <p:cNvSpPr/>
          <p:nvPr/>
        </p:nvSpPr>
        <p:spPr>
          <a:xfrm>
            <a:off x="9582650" y="7636860"/>
            <a:ext cx="109725" cy="124355"/>
          </a:xfrm>
          <a:prstGeom prst="roundRect">
            <a:avLst>
              <a:gd name="adj" fmla="val 6666"/>
            </a:avLst>
          </a:pr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 326"/>
          <p:cNvSpPr/>
          <p:nvPr/>
        </p:nvSpPr>
        <p:spPr>
          <a:xfrm>
            <a:off x="8595125" y="7827050"/>
            <a:ext cx="1243550" cy="182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 327"/>
          <p:cNvSpPr/>
          <p:nvPr/>
        </p:nvSpPr>
        <p:spPr>
          <a:xfrm>
            <a:off x="8602440" y="7834365"/>
            <a:ext cx="73150" cy="16824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2"/>
          <p:cNvSpPr txBox="1"/>
          <p:nvPr/>
        </p:nvSpPr>
        <p:spPr>
          <a:xfrm>
            <a:off x="8831048" y="7802984"/>
            <a:ext cx="230394" cy="2322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r2</a:t>
            </a:r>
          </a:p>
        </p:txBody>
      </p:sp>
      <p:sp>
        <p:nvSpPr>
          <p:cNvPr id="330" name="rect 329"/>
          <p:cNvSpPr/>
          <p:nvPr/>
        </p:nvSpPr>
        <p:spPr>
          <a:xfrm>
            <a:off x="9290050" y="7856310"/>
            <a:ext cx="109725" cy="124355"/>
          </a:xfrm>
          <a:prstGeom prst="roundRect">
            <a:avLst>
              <a:gd name="adj" fmla="val 6666"/>
            </a:avLst>
          </a:pr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 330"/>
          <p:cNvSpPr/>
          <p:nvPr/>
        </p:nvSpPr>
        <p:spPr>
          <a:xfrm>
            <a:off x="9436350" y="7856310"/>
            <a:ext cx="109725" cy="124355"/>
          </a:xfrm>
          <a:prstGeom prst="roundRect">
            <a:avLst>
              <a:gd name="adj" fmla="val 6666"/>
            </a:avLst>
          </a:pr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 331"/>
          <p:cNvSpPr/>
          <p:nvPr/>
        </p:nvSpPr>
        <p:spPr>
          <a:xfrm>
            <a:off x="9582650" y="7856310"/>
            <a:ext cx="109725" cy="124355"/>
          </a:xfrm>
          <a:prstGeom prst="roundRect">
            <a:avLst>
              <a:gd name="adj" fmla="val 6666"/>
            </a:avLst>
          </a:pr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3" name="path 332"/>
          <p:cNvCxnSpPr/>
          <p:nvPr/>
        </p:nvCxnSpPr>
        <p:spPr>
          <a:xfrm>
            <a:off x="9897195" y="7688065"/>
            <a:ext cx="387695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line 333"/>
          <p:cNvCxnSpPr/>
          <p:nvPr/>
        </p:nvCxnSpPr>
        <p:spPr>
          <a:xfrm>
            <a:off x="10665270" y="727842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line 334"/>
          <p:cNvCxnSpPr/>
          <p:nvPr/>
        </p:nvCxnSpPr>
        <p:spPr>
          <a:xfrm>
            <a:off x="10665270" y="818548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line 335"/>
          <p:cNvCxnSpPr/>
          <p:nvPr/>
        </p:nvCxnSpPr>
        <p:spPr>
          <a:xfrm>
            <a:off x="10811570" y="727842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line 336"/>
          <p:cNvCxnSpPr/>
          <p:nvPr/>
        </p:nvCxnSpPr>
        <p:spPr>
          <a:xfrm>
            <a:off x="10811570" y="818548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line 337"/>
          <p:cNvCxnSpPr/>
          <p:nvPr/>
        </p:nvCxnSpPr>
        <p:spPr>
          <a:xfrm>
            <a:off x="10957870" y="727842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line 338"/>
          <p:cNvCxnSpPr/>
          <p:nvPr/>
        </p:nvCxnSpPr>
        <p:spPr>
          <a:xfrm>
            <a:off x="10957870" y="818548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line 339"/>
          <p:cNvCxnSpPr/>
          <p:nvPr/>
        </p:nvCxnSpPr>
        <p:spPr>
          <a:xfrm>
            <a:off x="11104170" y="727842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line 340"/>
          <p:cNvCxnSpPr/>
          <p:nvPr/>
        </p:nvCxnSpPr>
        <p:spPr>
          <a:xfrm>
            <a:off x="11104170" y="818548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line 341"/>
          <p:cNvCxnSpPr/>
          <p:nvPr/>
        </p:nvCxnSpPr>
        <p:spPr>
          <a:xfrm>
            <a:off x="11250470" y="727842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line 342"/>
          <p:cNvCxnSpPr/>
          <p:nvPr/>
        </p:nvCxnSpPr>
        <p:spPr>
          <a:xfrm>
            <a:off x="11250470" y="818548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line 343"/>
          <p:cNvCxnSpPr/>
          <p:nvPr/>
        </p:nvCxnSpPr>
        <p:spPr>
          <a:xfrm>
            <a:off x="11396770" y="727842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line 344"/>
          <p:cNvCxnSpPr/>
          <p:nvPr/>
        </p:nvCxnSpPr>
        <p:spPr>
          <a:xfrm>
            <a:off x="11396770" y="818548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line 345"/>
          <p:cNvCxnSpPr/>
          <p:nvPr/>
        </p:nvCxnSpPr>
        <p:spPr>
          <a:xfrm>
            <a:off x="10489710" y="746130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line 346"/>
          <p:cNvCxnSpPr/>
          <p:nvPr/>
        </p:nvCxnSpPr>
        <p:spPr>
          <a:xfrm>
            <a:off x="11565015" y="746130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line 347"/>
          <p:cNvCxnSpPr/>
          <p:nvPr/>
        </p:nvCxnSpPr>
        <p:spPr>
          <a:xfrm>
            <a:off x="10489710" y="760760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line 348"/>
          <p:cNvCxnSpPr/>
          <p:nvPr/>
        </p:nvCxnSpPr>
        <p:spPr>
          <a:xfrm>
            <a:off x="11565015" y="760760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line 349"/>
          <p:cNvCxnSpPr/>
          <p:nvPr/>
        </p:nvCxnSpPr>
        <p:spPr>
          <a:xfrm>
            <a:off x="10489710" y="775390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line 350"/>
          <p:cNvCxnSpPr/>
          <p:nvPr/>
        </p:nvCxnSpPr>
        <p:spPr>
          <a:xfrm>
            <a:off x="11565015" y="775390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line 351"/>
          <p:cNvCxnSpPr/>
          <p:nvPr/>
        </p:nvCxnSpPr>
        <p:spPr>
          <a:xfrm>
            <a:off x="10489710" y="790020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line 352"/>
          <p:cNvCxnSpPr/>
          <p:nvPr/>
        </p:nvCxnSpPr>
        <p:spPr>
          <a:xfrm>
            <a:off x="11565015" y="790020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line 353"/>
          <p:cNvCxnSpPr/>
          <p:nvPr/>
        </p:nvCxnSpPr>
        <p:spPr>
          <a:xfrm>
            <a:off x="10489710" y="804650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line 354"/>
          <p:cNvCxnSpPr/>
          <p:nvPr/>
        </p:nvCxnSpPr>
        <p:spPr>
          <a:xfrm>
            <a:off x="11565015" y="804650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rect 355"/>
          <p:cNvSpPr/>
          <p:nvPr/>
        </p:nvSpPr>
        <p:spPr>
          <a:xfrm>
            <a:off x="10562860" y="7351575"/>
            <a:ext cx="1002155" cy="833910"/>
          </a:xfrm>
          <a:prstGeom prst="roundRect">
            <a:avLst>
              <a:gd name="adj" fmla="val 1754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GPU"/>
          <p:cNvSpPr txBox="1"/>
          <p:nvPr/>
        </p:nvSpPr>
        <p:spPr>
          <a:xfrm>
            <a:off x="10832901" y="7358890"/>
            <a:ext cx="462074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GPU</a:t>
            </a:r>
          </a:p>
        </p:txBody>
      </p:sp>
      <p:sp>
        <p:nvSpPr>
          <p:cNvPr id="358" name="rect 357"/>
          <p:cNvSpPr/>
          <p:nvPr/>
        </p:nvSpPr>
        <p:spPr>
          <a:xfrm>
            <a:off x="10657955" y="7658805"/>
            <a:ext cx="248710" cy="175560"/>
          </a:xfrm>
          <a:prstGeom prst="roundRect">
            <a:avLst>
              <a:gd name="adj" fmla="val 4166"/>
            </a:avLst>
          </a:prstGeom>
          <a:solidFill>
            <a:srgbClr val="E9A6B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 358"/>
          <p:cNvSpPr/>
          <p:nvPr/>
        </p:nvSpPr>
        <p:spPr>
          <a:xfrm>
            <a:off x="10938363" y="7658805"/>
            <a:ext cx="248710" cy="175560"/>
          </a:xfrm>
          <a:prstGeom prst="roundRect">
            <a:avLst>
              <a:gd name="adj" fmla="val 4166"/>
            </a:avLst>
          </a:prstGeom>
          <a:solidFill>
            <a:srgbClr val="B5D68B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 359"/>
          <p:cNvSpPr/>
          <p:nvPr/>
        </p:nvSpPr>
        <p:spPr>
          <a:xfrm>
            <a:off x="11218772" y="7658805"/>
            <a:ext cx="248710" cy="175560"/>
          </a:xfrm>
          <a:prstGeom prst="roundRect">
            <a:avLst>
              <a:gd name="adj" fmla="val 4166"/>
            </a:avLst>
          </a:prstGeom>
          <a:solidFill>
            <a:srgbClr val="E9A6B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 360"/>
          <p:cNvSpPr/>
          <p:nvPr/>
        </p:nvSpPr>
        <p:spPr>
          <a:xfrm>
            <a:off x="10657955" y="7881912"/>
            <a:ext cx="248710" cy="175560"/>
          </a:xfrm>
          <a:prstGeom prst="roundRect">
            <a:avLst>
              <a:gd name="adj" fmla="val 4166"/>
            </a:avLst>
          </a:prstGeom>
          <a:solidFill>
            <a:srgbClr val="F2BD7D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 361"/>
          <p:cNvSpPr/>
          <p:nvPr/>
        </p:nvSpPr>
        <p:spPr>
          <a:xfrm>
            <a:off x="10938363" y="7881912"/>
            <a:ext cx="248710" cy="17556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 362"/>
          <p:cNvSpPr/>
          <p:nvPr/>
        </p:nvSpPr>
        <p:spPr>
          <a:xfrm>
            <a:off x="11218772" y="7881912"/>
            <a:ext cx="248710" cy="17556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Native"/>
          <p:cNvSpPr txBox="1"/>
          <p:nvPr/>
        </p:nvSpPr>
        <p:spPr>
          <a:xfrm>
            <a:off x="11777150" y="7402780"/>
            <a:ext cx="648720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Native</a:t>
            </a:r>
          </a:p>
        </p:txBody>
      </p:sp>
      <p:sp>
        <p:nvSpPr>
          <p:cNvPr id="365" name="batch"/>
          <p:cNvSpPr txBox="1"/>
          <p:nvPr/>
        </p:nvSpPr>
        <p:spPr>
          <a:xfrm>
            <a:off x="11777150" y="7644175"/>
            <a:ext cx="574256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batch</a:t>
            </a:r>
          </a:p>
        </p:txBody>
      </p:sp>
      <p:sp>
        <p:nvSpPr>
          <p:cNvPr id="366" name="path 365"/>
          <p:cNvSpPr/>
          <p:nvPr/>
        </p:nvSpPr>
        <p:spPr>
          <a:xfrm>
            <a:off x="146300" y="4791325"/>
            <a:ext cx="12508650" cy="3723335"/>
          </a:xfrm>
          <a:custGeom>
            <a:avLst/>
            <a:gdLst/>
            <a:ahLst/>
            <a:cxnLst/>
            <a:rect l="l" t="t" r="r" b="b"/>
            <a:pathLst>
              <a:path w="1710" h="509">
                <a:moveTo>
                  <a:pt x="1710" y="468"/>
                </a:moveTo>
                <a:lnTo>
                  <a:pt x="1710" y="509"/>
                </a:lnTo>
                <a:lnTo>
                  <a:pt x="0" y="509"/>
                </a:lnTo>
                <a:lnTo>
                  <a:pt x="0" y="0"/>
                </a:lnTo>
                <a:lnTo>
                  <a:pt x="19" y="0"/>
                </a:lnTo>
              </a:path>
            </a:pathLst>
          </a:custGeom>
          <a:noFill/>
          <a:ln w="14630">
            <a:solidFill>
              <a:srgbClr val="2676B8"/>
            </a:solidFill>
            <a:prstDash val="dash"/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 366"/>
          <p:cNvSpPr/>
          <p:nvPr/>
        </p:nvSpPr>
        <p:spPr>
          <a:xfrm>
            <a:off x="512050" y="8602440"/>
            <a:ext cx="182875" cy="138985"/>
          </a:xfrm>
          <a:prstGeom prst="roundRect">
            <a:avLst>
              <a:gd name="adj" fmla="val 5263"/>
            </a:avLst>
          </a:prstGeom>
          <a:solidFill>
            <a:srgbClr val="E9A6BF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Parent"/>
          <p:cNvSpPr txBox="1"/>
          <p:nvPr/>
        </p:nvSpPr>
        <p:spPr>
          <a:xfrm>
            <a:off x="775390" y="8503688"/>
            <a:ext cx="558769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Parent</a:t>
            </a:r>
          </a:p>
        </p:txBody>
      </p:sp>
      <p:sp>
        <p:nvSpPr>
          <p:cNvPr id="369" name="rect 368"/>
          <p:cNvSpPr/>
          <p:nvPr/>
        </p:nvSpPr>
        <p:spPr>
          <a:xfrm>
            <a:off x="2055515" y="8602440"/>
            <a:ext cx="182875" cy="138985"/>
          </a:xfrm>
          <a:prstGeom prst="roundRect">
            <a:avLst>
              <a:gd name="adj" fmla="val 5263"/>
            </a:avLst>
          </a:prstGeom>
          <a:solidFill>
            <a:srgbClr val="B5D68B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Child 1"/>
          <p:cNvSpPr txBox="1"/>
          <p:nvPr/>
        </p:nvSpPr>
        <p:spPr>
          <a:xfrm>
            <a:off x="2318855" y="8503688"/>
            <a:ext cx="579799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Child 1</a:t>
            </a:r>
          </a:p>
        </p:txBody>
      </p:sp>
      <p:sp>
        <p:nvSpPr>
          <p:cNvPr id="371" name="rect 370"/>
          <p:cNvSpPr/>
          <p:nvPr/>
        </p:nvSpPr>
        <p:spPr>
          <a:xfrm>
            <a:off x="3584350" y="8602440"/>
            <a:ext cx="182875" cy="138985"/>
          </a:xfrm>
          <a:prstGeom prst="roundRect">
            <a:avLst>
              <a:gd name="adj" fmla="val 5263"/>
            </a:avLst>
          </a:prstGeom>
          <a:solidFill>
            <a:srgbClr val="F2BD7D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Child 2"/>
          <p:cNvSpPr txBox="1"/>
          <p:nvPr/>
        </p:nvSpPr>
        <p:spPr>
          <a:xfrm>
            <a:off x="3847690" y="8503688"/>
            <a:ext cx="579799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Child 2</a:t>
            </a:r>
          </a:p>
        </p:txBody>
      </p:sp>
      <p:cxnSp>
        <p:nvCxnSpPr>
          <p:cNvPr id="373" name="path 372"/>
          <p:cNvCxnSpPr/>
          <p:nvPr/>
        </p:nvCxnSpPr>
        <p:spPr>
          <a:xfrm>
            <a:off x="5537455" y="8660960"/>
            <a:ext cx="321860" cy="0"/>
          </a:xfrm>
          <a:prstGeom prst="line">
            <a:avLst/>
          </a:prstGeom>
          <a:ln w="14630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控制动作"/>
          <p:cNvSpPr txBox="1"/>
          <p:nvPr/>
        </p:nvSpPr>
        <p:spPr>
          <a:xfrm>
            <a:off x="5976355" y="8503688"/>
            <a:ext cx="702240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控制动作</a:t>
            </a:r>
          </a:p>
        </p:txBody>
      </p:sp>
      <p:cxnSp>
        <p:nvCxnSpPr>
          <p:cNvPr id="375" name="path 374"/>
          <p:cNvCxnSpPr/>
          <p:nvPr/>
        </p:nvCxnSpPr>
        <p:spPr>
          <a:xfrm>
            <a:off x="7783160" y="8660960"/>
            <a:ext cx="321860" cy="0"/>
          </a:xfrm>
          <a:prstGeom prst="line">
            <a:avLst/>
          </a:prstGeom>
          <a:ln w="14630">
            <a:solidFill>
              <a:srgbClr val="2676B8"/>
            </a:solidFill>
            <a:prstDash val="dash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ACK / service / reuse"/>
          <p:cNvSpPr txBox="1"/>
          <p:nvPr/>
        </p:nvSpPr>
        <p:spPr>
          <a:xfrm>
            <a:off x="8229375" y="8503688"/>
            <a:ext cx="1531092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ACK / service / reuse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事件与内容驱动的执行需求预测"/>
          <p:cNvSpPr txBox="1"/>
          <p:nvPr/>
        </p:nvSpPr>
        <p:spPr>
          <a:xfrm>
            <a:off x="292600" y="58520"/>
            <a:ext cx="3876950" cy="4224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1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事件与内容驱动的执行需求预测</a:t>
            </a:r>
          </a:p>
        </p:txBody>
      </p:sp>
      <p:sp>
        <p:nvSpPr>
          <p:cNvPr id="3" name="已送达正文 + 服务进度 → 阶段 / 工作量双头 → Runtime 决定启动时机"/>
          <p:cNvSpPr txBox="1"/>
          <p:nvPr/>
        </p:nvSpPr>
        <p:spPr>
          <a:xfrm>
            <a:off x="292600" y="438900"/>
            <a:ext cx="5520739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 lang="zh-CN" spc="0">
                <a:solidFill>
                  <a:srgbClr val="535353"/>
                </a:solidFill>
                <a:latin typeface="Noto Sans CJK SC"/>
                <a:ea typeface="Noto Sans CJK SC"/>
              </a:rPr>
              <a:t>已送达正文 + 服务进度 → 阶段 / 工作量双头 → Runtime 决定启动时机</a:t>
            </a:r>
          </a:p>
        </p:txBody>
      </p:sp>
      <p:cxnSp>
        <p:nvCxnSpPr>
          <p:cNvPr id="4" name="line 3"/>
          <p:cNvCxnSpPr/>
          <p:nvPr/>
        </p:nvCxnSpPr>
        <p:spPr>
          <a:xfrm>
            <a:off x="292600" y="790020"/>
            <a:ext cx="12581800" cy="0"/>
          </a:xfrm>
          <a:prstGeom prst="line">
            <a:avLst/>
          </a:prstGeom>
          <a:ln w="11704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 4"/>
          <p:cNvSpPr/>
          <p:nvPr/>
        </p:nvSpPr>
        <p:spPr>
          <a:xfrm>
            <a:off x="292600" y="965580"/>
            <a:ext cx="8119650" cy="3218600"/>
          </a:xfrm>
          <a:prstGeom prst="roundRect">
            <a:avLst>
              <a:gd name="adj" fmla="val 1363"/>
            </a:avLst>
          </a:prstGeom>
          <a:solidFill>
            <a:srgbClr val="EEEEEE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 5"/>
          <p:cNvSpPr/>
          <p:nvPr/>
        </p:nvSpPr>
        <p:spPr>
          <a:xfrm>
            <a:off x="292600" y="965580"/>
            <a:ext cx="8119650" cy="351120"/>
          </a:xfrm>
          <a:prstGeom prst="roundRect">
            <a:avLst>
              <a:gd name="adj" fmla="val 12500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 6"/>
          <p:cNvSpPr/>
          <p:nvPr/>
        </p:nvSpPr>
        <p:spPr>
          <a:xfrm>
            <a:off x="301378" y="1163085"/>
            <a:ext cx="8102094" cy="146300"/>
          </a:xfrm>
          <a:prstGeom prst="rect">
            <a:avLst/>
          </a:prstGeom>
          <a:solidFill>
            <a:srgbClr val="A9C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line 7"/>
          <p:cNvCxnSpPr/>
          <p:nvPr/>
        </p:nvCxnSpPr>
        <p:spPr>
          <a:xfrm>
            <a:off x="292600" y="1316700"/>
            <a:ext cx="8119650" cy="0"/>
          </a:xfrm>
          <a:prstGeom prst="line">
            <a:avLst/>
          </a:prstGeom>
          <a:ln w="12435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(a) 异步 Child 模型"/>
          <p:cNvSpPr txBox="1"/>
          <p:nvPr/>
        </p:nvSpPr>
        <p:spPr>
          <a:xfrm>
            <a:off x="438900" y="969238"/>
            <a:ext cx="1846580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(a) 异步 Child 模型</a:t>
            </a:r>
          </a:p>
        </p:txBody>
      </p:sp>
      <p:sp>
        <p:nvSpPr>
          <p:cNvPr id="10" name="rect 9"/>
          <p:cNvSpPr/>
          <p:nvPr/>
        </p:nvSpPr>
        <p:spPr>
          <a:xfrm>
            <a:off x="555940" y="1740970"/>
            <a:ext cx="1060675" cy="899745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3898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lygon 10"/>
          <p:cNvSpPr/>
          <p:nvPr/>
        </p:nvSpPr>
        <p:spPr>
          <a:xfrm>
            <a:off x="1441055" y="1740970"/>
            <a:ext cx="175560" cy="175560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0" y="0"/>
                </a:moveTo>
                <a:lnTo>
                  <a:pt x="24" y="24"/>
                </a:lnTo>
                <a:lnTo>
                  <a:pt x="0" y="24"/>
                </a:lnTo>
                <a:close/>
              </a:path>
            </a:pathLst>
          </a:cu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 11"/>
          <p:cNvSpPr/>
          <p:nvPr/>
        </p:nvSpPr>
        <p:spPr>
          <a:xfrm>
            <a:off x="643720" y="1916530"/>
            <a:ext cx="632016" cy="731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 12"/>
          <p:cNvSpPr/>
          <p:nvPr/>
        </p:nvSpPr>
        <p:spPr>
          <a:xfrm>
            <a:off x="643720" y="2055515"/>
            <a:ext cx="737352" cy="73150"/>
          </a:xfrm>
          <a:prstGeom prst="rect">
            <a:avLst/>
          </a:prstGeom>
          <a:solidFill>
            <a:srgbClr val="F2B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 13"/>
          <p:cNvSpPr/>
          <p:nvPr/>
        </p:nvSpPr>
        <p:spPr>
          <a:xfrm>
            <a:off x="643720" y="2194500"/>
            <a:ext cx="570570" cy="731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 14"/>
          <p:cNvSpPr/>
          <p:nvPr/>
        </p:nvSpPr>
        <p:spPr>
          <a:xfrm>
            <a:off x="643720" y="2333485"/>
            <a:ext cx="675906" cy="73150"/>
          </a:xfrm>
          <a:prstGeom prst="rect">
            <a:avLst/>
          </a:prstGeom>
          <a:solidFill>
            <a:srgbClr val="F2B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x"/>
          <p:cNvSpPr txBox="1"/>
          <p:nvPr/>
        </p:nvSpPr>
        <p:spPr>
          <a:xfrm>
            <a:off x="891273" y="1406309"/>
            <a:ext cx="185190" cy="272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7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x</a:t>
            </a:r>
          </a:p>
        </p:txBody>
      </p:sp>
      <p:sp>
        <p:nvSpPr>
          <p:cNvPr id="17" name="t−k:t"/>
          <p:cNvSpPr txBox="1"/>
          <p:nvPr/>
        </p:nvSpPr>
        <p:spPr>
          <a:xfrm>
            <a:off x="995997" y="1528835"/>
            <a:ext cx="358435" cy="188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t−k:t</a:t>
            </a:r>
          </a:p>
        </p:txBody>
      </p:sp>
      <p:cxnSp>
        <p:nvCxnSpPr>
          <p:cNvPr id="18" name="path 17"/>
          <p:cNvCxnSpPr/>
          <p:nvPr/>
        </p:nvCxnSpPr>
        <p:spPr>
          <a:xfrm>
            <a:off x="1631245" y="2179870"/>
            <a:ext cx="497420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line 18"/>
          <p:cNvCxnSpPr/>
          <p:nvPr/>
        </p:nvCxnSpPr>
        <p:spPr>
          <a:xfrm>
            <a:off x="2384690" y="1828750"/>
            <a:ext cx="446215" cy="0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ne 19"/>
          <p:cNvCxnSpPr/>
          <p:nvPr/>
        </p:nvCxnSpPr>
        <p:spPr>
          <a:xfrm>
            <a:off x="2384690" y="1828750"/>
            <a:ext cx="446215" cy="329175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line 20"/>
          <p:cNvCxnSpPr/>
          <p:nvPr/>
        </p:nvCxnSpPr>
        <p:spPr>
          <a:xfrm>
            <a:off x="2384690" y="1828750"/>
            <a:ext cx="446215" cy="658350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ne 21"/>
          <p:cNvCxnSpPr/>
          <p:nvPr/>
        </p:nvCxnSpPr>
        <p:spPr>
          <a:xfrm flipV="1">
            <a:off x="2384690" y="1828750"/>
            <a:ext cx="446215" cy="329175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ine 22"/>
          <p:cNvCxnSpPr/>
          <p:nvPr/>
        </p:nvCxnSpPr>
        <p:spPr>
          <a:xfrm>
            <a:off x="2384690" y="2157925"/>
            <a:ext cx="446215" cy="0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line 23"/>
          <p:cNvCxnSpPr/>
          <p:nvPr/>
        </p:nvCxnSpPr>
        <p:spPr>
          <a:xfrm>
            <a:off x="2384690" y="2157925"/>
            <a:ext cx="446215" cy="329175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line 24"/>
          <p:cNvCxnSpPr/>
          <p:nvPr/>
        </p:nvCxnSpPr>
        <p:spPr>
          <a:xfrm flipV="1">
            <a:off x="2384690" y="1828750"/>
            <a:ext cx="446215" cy="658350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line 25"/>
          <p:cNvCxnSpPr/>
          <p:nvPr/>
        </p:nvCxnSpPr>
        <p:spPr>
          <a:xfrm flipV="1">
            <a:off x="2384690" y="2157925"/>
            <a:ext cx="446215" cy="329175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line 26"/>
          <p:cNvCxnSpPr/>
          <p:nvPr/>
        </p:nvCxnSpPr>
        <p:spPr>
          <a:xfrm>
            <a:off x="2384690" y="2487100"/>
            <a:ext cx="446215" cy="0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line 27"/>
          <p:cNvCxnSpPr/>
          <p:nvPr/>
        </p:nvCxnSpPr>
        <p:spPr>
          <a:xfrm>
            <a:off x="2991835" y="1828750"/>
            <a:ext cx="446215" cy="0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line 28"/>
          <p:cNvCxnSpPr/>
          <p:nvPr/>
        </p:nvCxnSpPr>
        <p:spPr>
          <a:xfrm>
            <a:off x="2991835" y="1828750"/>
            <a:ext cx="446215" cy="329175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ine 29"/>
          <p:cNvCxnSpPr/>
          <p:nvPr/>
        </p:nvCxnSpPr>
        <p:spPr>
          <a:xfrm>
            <a:off x="2991835" y="1828750"/>
            <a:ext cx="446215" cy="658350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ne 30"/>
          <p:cNvCxnSpPr/>
          <p:nvPr/>
        </p:nvCxnSpPr>
        <p:spPr>
          <a:xfrm flipV="1">
            <a:off x="2991835" y="1828750"/>
            <a:ext cx="446215" cy="329175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line 31"/>
          <p:cNvCxnSpPr/>
          <p:nvPr/>
        </p:nvCxnSpPr>
        <p:spPr>
          <a:xfrm>
            <a:off x="2991835" y="2157925"/>
            <a:ext cx="446215" cy="0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line 32"/>
          <p:cNvCxnSpPr/>
          <p:nvPr/>
        </p:nvCxnSpPr>
        <p:spPr>
          <a:xfrm>
            <a:off x="2991835" y="2157925"/>
            <a:ext cx="446215" cy="329175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ine 33"/>
          <p:cNvCxnSpPr/>
          <p:nvPr/>
        </p:nvCxnSpPr>
        <p:spPr>
          <a:xfrm flipV="1">
            <a:off x="2991835" y="1828750"/>
            <a:ext cx="446215" cy="658350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line 34"/>
          <p:cNvCxnSpPr/>
          <p:nvPr/>
        </p:nvCxnSpPr>
        <p:spPr>
          <a:xfrm flipV="1">
            <a:off x="2991835" y="2157925"/>
            <a:ext cx="446215" cy="329175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line 35"/>
          <p:cNvCxnSpPr/>
          <p:nvPr/>
        </p:nvCxnSpPr>
        <p:spPr>
          <a:xfrm>
            <a:off x="2991835" y="2487100"/>
            <a:ext cx="446215" cy="0"/>
          </a:xfrm>
          <a:prstGeom prst="line">
            <a:avLst/>
          </a:prstGeom>
          <a:ln w="8046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ircle 36"/>
          <p:cNvSpPr/>
          <p:nvPr/>
        </p:nvSpPr>
        <p:spPr>
          <a:xfrm>
            <a:off x="2216445" y="1740970"/>
            <a:ext cx="175560" cy="175560"/>
          </a:xfrm>
          <a:prstGeom prst="ellipse">
            <a:avLst/>
          </a:prstGeom>
          <a:solidFill>
            <a:srgbClr val="A9CEE8"/>
          </a:solidFill>
          <a:ln w="11704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ircle 37"/>
          <p:cNvSpPr/>
          <p:nvPr/>
        </p:nvSpPr>
        <p:spPr>
          <a:xfrm>
            <a:off x="2216445" y="2070145"/>
            <a:ext cx="175560" cy="175560"/>
          </a:xfrm>
          <a:prstGeom prst="ellipse">
            <a:avLst/>
          </a:prstGeom>
          <a:solidFill>
            <a:srgbClr val="A9CEE8"/>
          </a:solidFill>
          <a:ln w="11704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ircle 38"/>
          <p:cNvSpPr/>
          <p:nvPr/>
        </p:nvSpPr>
        <p:spPr>
          <a:xfrm>
            <a:off x="2216445" y="2399320"/>
            <a:ext cx="175560" cy="175560"/>
          </a:xfrm>
          <a:prstGeom prst="ellipse">
            <a:avLst/>
          </a:prstGeom>
          <a:solidFill>
            <a:srgbClr val="A9CEE8"/>
          </a:solidFill>
          <a:ln w="11704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ircle 39"/>
          <p:cNvSpPr/>
          <p:nvPr/>
        </p:nvSpPr>
        <p:spPr>
          <a:xfrm>
            <a:off x="2823590" y="1740970"/>
            <a:ext cx="175560" cy="175560"/>
          </a:xfrm>
          <a:prstGeom prst="ellipse">
            <a:avLst/>
          </a:prstGeom>
          <a:solidFill>
            <a:srgbClr val="A9CEE8"/>
          </a:solidFill>
          <a:ln w="11704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ircle 40"/>
          <p:cNvSpPr/>
          <p:nvPr/>
        </p:nvSpPr>
        <p:spPr>
          <a:xfrm>
            <a:off x="2823590" y="2070145"/>
            <a:ext cx="175560" cy="175560"/>
          </a:xfrm>
          <a:prstGeom prst="ellipse">
            <a:avLst/>
          </a:prstGeom>
          <a:solidFill>
            <a:srgbClr val="A9CEE8"/>
          </a:solidFill>
          <a:ln w="11704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ircle 41"/>
          <p:cNvSpPr/>
          <p:nvPr/>
        </p:nvSpPr>
        <p:spPr>
          <a:xfrm>
            <a:off x="2823590" y="2399320"/>
            <a:ext cx="175560" cy="175560"/>
          </a:xfrm>
          <a:prstGeom prst="ellipse">
            <a:avLst/>
          </a:prstGeom>
          <a:solidFill>
            <a:srgbClr val="A9CEE8"/>
          </a:solidFill>
          <a:ln w="11704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ircle 42"/>
          <p:cNvSpPr/>
          <p:nvPr/>
        </p:nvSpPr>
        <p:spPr>
          <a:xfrm>
            <a:off x="3430735" y="1740970"/>
            <a:ext cx="175560" cy="175560"/>
          </a:xfrm>
          <a:prstGeom prst="ellipse">
            <a:avLst/>
          </a:prstGeom>
          <a:solidFill>
            <a:srgbClr val="B5D68B"/>
          </a:solidFill>
          <a:ln w="11704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ircle 43"/>
          <p:cNvSpPr/>
          <p:nvPr/>
        </p:nvSpPr>
        <p:spPr>
          <a:xfrm>
            <a:off x="3430735" y="2070145"/>
            <a:ext cx="175560" cy="175560"/>
          </a:xfrm>
          <a:prstGeom prst="ellipse">
            <a:avLst/>
          </a:prstGeom>
          <a:solidFill>
            <a:srgbClr val="B5D68B"/>
          </a:solidFill>
          <a:ln w="11704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ircle 44"/>
          <p:cNvSpPr/>
          <p:nvPr/>
        </p:nvSpPr>
        <p:spPr>
          <a:xfrm>
            <a:off x="3430735" y="2399320"/>
            <a:ext cx="175560" cy="175560"/>
          </a:xfrm>
          <a:prstGeom prst="ellipse">
            <a:avLst/>
          </a:prstGeom>
          <a:solidFill>
            <a:srgbClr val="B5D68B"/>
          </a:solidFill>
          <a:ln w="11704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th 45"/>
          <p:cNvSpPr/>
          <p:nvPr/>
        </p:nvSpPr>
        <p:spPr>
          <a:xfrm>
            <a:off x="3474625" y="1448370"/>
            <a:ext cx="73150" cy="65835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0" y="9"/>
                </a:moveTo>
                <a:lnTo>
                  <a:pt x="0" y="0"/>
                </a:lnTo>
                <a:lnTo>
                  <a:pt x="10" y="0"/>
                </a:lnTo>
                <a:lnTo>
                  <a:pt x="10" y="9"/>
                </a:lnTo>
              </a:path>
            </a:pathLst>
          </a:custGeom>
          <a:noFill/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 46"/>
          <p:cNvSpPr/>
          <p:nvPr/>
        </p:nvSpPr>
        <p:spPr>
          <a:xfrm>
            <a:off x="3445365" y="1512376"/>
            <a:ext cx="131670" cy="1097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ircle 47"/>
          <p:cNvSpPr/>
          <p:nvPr/>
        </p:nvSpPr>
        <p:spPr>
          <a:xfrm>
            <a:off x="3500228" y="1545294"/>
            <a:ext cx="21945" cy="21945"/>
          </a:xfrm>
          <a:prstGeom prst="ellipse">
            <a:avLst/>
          </a:prstGeom>
          <a:solidFill>
            <a:srgbClr val="181818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冻结编码器"/>
          <p:cNvSpPr txBox="1"/>
          <p:nvPr/>
        </p:nvSpPr>
        <p:spPr>
          <a:xfrm>
            <a:off x="2428580" y="2713865"/>
            <a:ext cx="965580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冻结编码器</a:t>
            </a:r>
          </a:p>
        </p:txBody>
      </p:sp>
      <p:cxnSp>
        <p:nvCxnSpPr>
          <p:cNvPr id="50" name="path 49"/>
          <p:cNvCxnSpPr/>
          <p:nvPr/>
        </p:nvCxnSpPr>
        <p:spPr>
          <a:xfrm>
            <a:off x="3628240" y="2172555"/>
            <a:ext cx="416955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 50"/>
          <p:cNvSpPr/>
          <p:nvPr/>
        </p:nvSpPr>
        <p:spPr>
          <a:xfrm>
            <a:off x="4154920" y="1711710"/>
            <a:ext cx="219450" cy="124355"/>
          </a:xfrm>
          <a:prstGeom prst="rect">
            <a:avLst/>
          </a:prstGeom>
          <a:solidFill>
            <a:srgbClr val="A9CEE8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 51"/>
          <p:cNvSpPr/>
          <p:nvPr/>
        </p:nvSpPr>
        <p:spPr>
          <a:xfrm>
            <a:off x="4154920" y="1858010"/>
            <a:ext cx="219450" cy="124355"/>
          </a:xfrm>
          <a:prstGeom prst="rect">
            <a:avLst/>
          </a:prstGeom>
          <a:solidFill>
            <a:srgbClr val="F2BD7D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 52"/>
          <p:cNvSpPr/>
          <p:nvPr/>
        </p:nvSpPr>
        <p:spPr>
          <a:xfrm>
            <a:off x="4154920" y="2004310"/>
            <a:ext cx="219450" cy="124355"/>
          </a:xfrm>
          <a:prstGeom prst="rect">
            <a:avLst/>
          </a:prstGeom>
          <a:solidFill>
            <a:srgbClr val="A9CEE8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 53"/>
          <p:cNvSpPr/>
          <p:nvPr/>
        </p:nvSpPr>
        <p:spPr>
          <a:xfrm>
            <a:off x="4154920" y="2150610"/>
            <a:ext cx="219450" cy="124355"/>
          </a:xfrm>
          <a:prstGeom prst="rect">
            <a:avLst/>
          </a:prstGeom>
          <a:solidFill>
            <a:srgbClr val="B5D68B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 54"/>
          <p:cNvSpPr/>
          <p:nvPr/>
        </p:nvSpPr>
        <p:spPr>
          <a:xfrm>
            <a:off x="4154920" y="2296910"/>
            <a:ext cx="219450" cy="124355"/>
          </a:xfrm>
          <a:prstGeom prst="rect">
            <a:avLst/>
          </a:prstGeom>
          <a:solidFill>
            <a:srgbClr val="E9A6B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 55"/>
          <p:cNvSpPr/>
          <p:nvPr/>
        </p:nvSpPr>
        <p:spPr>
          <a:xfrm>
            <a:off x="4154920" y="2443210"/>
            <a:ext cx="219450" cy="124355"/>
          </a:xfrm>
          <a:prstGeom prst="rect">
            <a:avLst/>
          </a:prstGeom>
          <a:solidFill>
            <a:srgbClr val="A9CEE8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z"/>
          <p:cNvSpPr txBox="1"/>
          <p:nvPr/>
        </p:nvSpPr>
        <p:spPr>
          <a:xfrm>
            <a:off x="4194810" y="2693749"/>
            <a:ext cx="173188" cy="272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7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z</a:t>
            </a:r>
          </a:p>
        </p:txBody>
      </p:sp>
      <p:sp>
        <p:nvSpPr>
          <p:cNvPr id="58" name="t"/>
          <p:cNvSpPr txBox="1"/>
          <p:nvPr/>
        </p:nvSpPr>
        <p:spPr>
          <a:xfrm>
            <a:off x="4287533" y="2816275"/>
            <a:ext cx="127412" cy="188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t</a:t>
            </a:r>
          </a:p>
        </p:txBody>
      </p:sp>
      <p:sp>
        <p:nvSpPr>
          <p:cNvPr id="59" name="circle 58"/>
          <p:cNvSpPr/>
          <p:nvPr/>
        </p:nvSpPr>
        <p:spPr>
          <a:xfrm>
            <a:off x="4696230" y="1982365"/>
            <a:ext cx="380380" cy="380380"/>
          </a:xfrm>
          <a:prstGeom prst="ellipse">
            <a:avLst/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∥"/>
          <p:cNvSpPr txBox="1"/>
          <p:nvPr/>
        </p:nvSpPr>
        <p:spPr>
          <a:xfrm>
            <a:off x="4801069" y="2050029"/>
            <a:ext cx="258482" cy="272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7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∥</a:t>
            </a:r>
          </a:p>
        </p:txBody>
      </p:sp>
      <p:cxnSp>
        <p:nvCxnSpPr>
          <p:cNvPr id="61" name="path 60"/>
          <p:cNvCxnSpPr/>
          <p:nvPr/>
        </p:nvCxnSpPr>
        <p:spPr>
          <a:xfrm>
            <a:off x="4396315" y="2172555"/>
            <a:ext cx="277970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olygon 61"/>
          <p:cNvSpPr/>
          <p:nvPr/>
        </p:nvSpPr>
        <p:spPr>
          <a:xfrm>
            <a:off x="599830" y="3277120"/>
            <a:ext cx="972895" cy="526680"/>
          </a:xfrm>
          <a:custGeom>
            <a:avLst/>
            <a:gdLst/>
            <a:ahLst/>
            <a:cxnLst/>
            <a:rect l="l" t="t" r="r" b="b"/>
            <a:pathLst>
              <a:path w="133" h="72">
                <a:moveTo>
                  <a:pt x="0" y="0"/>
                </a:moveTo>
                <a:lnTo>
                  <a:pt x="133" y="0"/>
                </a:lnTo>
                <a:lnTo>
                  <a:pt x="133" y="56"/>
                </a:lnTo>
                <a:lnTo>
                  <a:pt x="63" y="56"/>
                </a:lnTo>
                <a:lnTo>
                  <a:pt x="44" y="72"/>
                </a:lnTo>
                <a:lnTo>
                  <a:pt x="44" y="56"/>
                </a:lnTo>
                <a:lnTo>
                  <a:pt x="0" y="56"/>
                </a:lnTo>
                <a:close/>
              </a:path>
            </a:pathLst>
          </a:custGeom>
          <a:solidFill>
            <a:srgbClr val="F2BD7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收尾通知"/>
          <p:cNvSpPr txBox="1"/>
          <p:nvPr/>
        </p:nvSpPr>
        <p:spPr>
          <a:xfrm>
            <a:off x="687610" y="3328325"/>
            <a:ext cx="790020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收尾通知</a:t>
            </a:r>
          </a:p>
        </p:txBody>
      </p:sp>
      <p:sp>
        <p:nvSpPr>
          <p:cNvPr id="64" name="path 63"/>
          <p:cNvSpPr/>
          <p:nvPr/>
        </p:nvSpPr>
        <p:spPr>
          <a:xfrm>
            <a:off x="2267650" y="3291750"/>
            <a:ext cx="819280" cy="395010"/>
          </a:xfrm>
          <a:custGeom>
            <a:avLst/>
            <a:gdLst/>
            <a:ahLst/>
            <a:cxnLst/>
            <a:rect l="l" t="t" r="r" b="b"/>
            <a:pathLst>
              <a:path w="112" h="54">
                <a:moveTo>
                  <a:pt x="0" y="54"/>
                </a:moveTo>
                <a:lnTo>
                  <a:pt x="25" y="54"/>
                </a:lnTo>
                <a:lnTo>
                  <a:pt x="25" y="38"/>
                </a:lnTo>
                <a:lnTo>
                  <a:pt x="55" y="38"/>
                </a:lnTo>
                <a:lnTo>
                  <a:pt x="55" y="20"/>
                </a:lnTo>
                <a:lnTo>
                  <a:pt x="86" y="20"/>
                </a:lnTo>
                <a:lnTo>
                  <a:pt x="86" y="0"/>
                </a:lnTo>
                <a:lnTo>
                  <a:pt x="112" y="0"/>
                </a:lnTo>
              </a:path>
            </a:pathLst>
          </a:custGeom>
          <a:noFill/>
          <a:ln w="19751">
            <a:solidFill>
              <a:srgbClr val="267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N"/>
          <p:cNvSpPr txBox="1"/>
          <p:nvPr/>
        </p:nvSpPr>
        <p:spPr>
          <a:xfrm>
            <a:off x="2362231" y="3745280"/>
            <a:ext cx="229280" cy="2669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0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N</a:t>
            </a:r>
          </a:p>
        </p:txBody>
      </p:sp>
      <p:sp>
        <p:nvSpPr>
          <p:cNvPr id="66" name="t"/>
          <p:cNvSpPr txBox="1"/>
          <p:nvPr/>
        </p:nvSpPr>
        <p:spPr>
          <a:xfrm>
            <a:off x="2511045" y="3865978"/>
            <a:ext cx="125898" cy="18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t</a:t>
            </a:r>
          </a:p>
        </p:txBody>
      </p:sp>
      <p:sp>
        <p:nvSpPr>
          <p:cNvPr id="67" name=", { }"/>
          <p:cNvSpPr txBox="1"/>
          <p:nvPr/>
        </p:nvSpPr>
        <p:spPr>
          <a:xfrm>
            <a:off x="2556478" y="3745280"/>
            <a:ext cx="450501" cy="2669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, { }</a:t>
            </a:r>
          </a:p>
        </p:txBody>
      </p:sp>
      <p:sp>
        <p:nvSpPr>
          <p:cNvPr id="68" name="path 67"/>
          <p:cNvSpPr/>
          <p:nvPr/>
        </p:nvSpPr>
        <p:spPr>
          <a:xfrm>
            <a:off x="1587355" y="3057670"/>
            <a:ext cx="3299065" cy="431585"/>
          </a:xfrm>
          <a:custGeom>
            <a:avLst/>
            <a:gdLst/>
            <a:ahLst/>
            <a:cxnLst/>
            <a:rect l="l" t="t" r="r" b="b"/>
            <a:pathLst>
              <a:path w="451" h="59">
                <a:moveTo>
                  <a:pt x="0" y="59"/>
                </a:moveTo>
                <a:lnTo>
                  <a:pt x="41" y="59"/>
                </a:lnTo>
                <a:lnTo>
                  <a:pt x="41" y="0"/>
                </a:lnTo>
                <a:lnTo>
                  <a:pt x="451" y="0"/>
                </a:lnTo>
              </a:path>
            </a:pathLst>
          </a:custGeom>
          <a:noFill/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path 68"/>
          <p:cNvSpPr/>
          <p:nvPr/>
        </p:nvSpPr>
        <p:spPr>
          <a:xfrm>
            <a:off x="3123505" y="2392005"/>
            <a:ext cx="1762915" cy="1097250"/>
          </a:xfrm>
          <a:custGeom>
            <a:avLst/>
            <a:gdLst/>
            <a:ahLst/>
            <a:cxnLst/>
            <a:rect l="l" t="t" r="r" b="b"/>
            <a:pathLst>
              <a:path w="241" h="150">
                <a:moveTo>
                  <a:pt x="0" y="150"/>
                </a:moveTo>
                <a:lnTo>
                  <a:pt x="241" y="150"/>
                </a:lnTo>
                <a:lnTo>
                  <a:pt x="241" y="0"/>
                </a:lnTo>
              </a:path>
            </a:pathLst>
          </a:custGeom>
          <a:noFill/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ath 69"/>
          <p:cNvSpPr/>
          <p:nvPr/>
        </p:nvSpPr>
        <p:spPr>
          <a:xfrm>
            <a:off x="5098555" y="1872640"/>
            <a:ext cx="585200" cy="299915"/>
          </a:xfrm>
          <a:custGeom>
            <a:avLst/>
            <a:gdLst/>
            <a:ahLst/>
            <a:cxnLst/>
            <a:rect l="l" t="t" r="r" b="b"/>
            <a:pathLst>
              <a:path w="80" h="41">
                <a:moveTo>
                  <a:pt x="0" y="41"/>
                </a:moveTo>
                <a:lnTo>
                  <a:pt x="33" y="41"/>
                </a:lnTo>
                <a:lnTo>
                  <a:pt x="33" y="0"/>
                </a:lnTo>
                <a:lnTo>
                  <a:pt x="80" y="0"/>
                </a:lnTo>
              </a:path>
            </a:pathLst>
          </a:custGeom>
          <a:noFill/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ath 70"/>
          <p:cNvSpPr/>
          <p:nvPr/>
        </p:nvSpPr>
        <p:spPr>
          <a:xfrm>
            <a:off x="5339950" y="2172555"/>
            <a:ext cx="343805" cy="1060675"/>
          </a:xfrm>
          <a:custGeom>
            <a:avLst/>
            <a:gdLst/>
            <a:ahLst/>
            <a:cxnLst/>
            <a:rect l="l" t="t" r="r" b="b"/>
            <a:pathLst>
              <a:path w="47" h="145">
                <a:moveTo>
                  <a:pt x="0" y="0"/>
                </a:moveTo>
                <a:lnTo>
                  <a:pt x="0" y="145"/>
                </a:lnTo>
                <a:lnTo>
                  <a:pt x="47" y="145"/>
                </a:lnTo>
              </a:path>
            </a:pathLst>
          </a:custGeom>
          <a:noFill/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 71"/>
          <p:cNvSpPr/>
          <p:nvPr/>
        </p:nvSpPr>
        <p:spPr>
          <a:xfrm>
            <a:off x="5778850" y="1609300"/>
            <a:ext cx="80465" cy="80465"/>
          </a:xfrm>
          <a:prstGeom prst="rect">
            <a:avLst/>
          </a:prstGeom>
          <a:solidFill>
            <a:srgbClr val="F2BD7D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 72"/>
          <p:cNvSpPr/>
          <p:nvPr/>
        </p:nvSpPr>
        <p:spPr>
          <a:xfrm>
            <a:off x="5888575" y="1609300"/>
            <a:ext cx="80465" cy="80465"/>
          </a:xfrm>
          <a:prstGeom prst="rect">
            <a:avLst/>
          </a:prstGeom>
          <a:solidFill>
            <a:srgbClr val="A9CEE8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 73"/>
          <p:cNvSpPr/>
          <p:nvPr/>
        </p:nvSpPr>
        <p:spPr>
          <a:xfrm>
            <a:off x="5998300" y="1609300"/>
            <a:ext cx="80465" cy="80465"/>
          </a:xfrm>
          <a:prstGeom prst="rect">
            <a:avLst/>
          </a:prstGeom>
          <a:solidFill>
            <a:srgbClr val="A9CEE8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 74"/>
          <p:cNvSpPr/>
          <p:nvPr/>
        </p:nvSpPr>
        <p:spPr>
          <a:xfrm>
            <a:off x="5778850" y="1719025"/>
            <a:ext cx="80465" cy="80465"/>
          </a:xfrm>
          <a:prstGeom prst="rect">
            <a:avLst/>
          </a:prstGeom>
          <a:solidFill>
            <a:srgbClr val="A9CEE8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 75"/>
          <p:cNvSpPr/>
          <p:nvPr/>
        </p:nvSpPr>
        <p:spPr>
          <a:xfrm>
            <a:off x="5888575" y="1719025"/>
            <a:ext cx="80465" cy="80465"/>
          </a:xfrm>
          <a:prstGeom prst="rect">
            <a:avLst/>
          </a:prstGeom>
          <a:solidFill>
            <a:srgbClr val="F2BD7D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 76"/>
          <p:cNvSpPr/>
          <p:nvPr/>
        </p:nvSpPr>
        <p:spPr>
          <a:xfrm>
            <a:off x="5998300" y="1719025"/>
            <a:ext cx="80465" cy="80465"/>
          </a:xfrm>
          <a:prstGeom prst="rect">
            <a:avLst/>
          </a:prstGeom>
          <a:solidFill>
            <a:srgbClr val="A9CEE8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 77"/>
          <p:cNvSpPr/>
          <p:nvPr/>
        </p:nvSpPr>
        <p:spPr>
          <a:xfrm>
            <a:off x="5778850" y="1828750"/>
            <a:ext cx="80465" cy="80465"/>
          </a:xfrm>
          <a:prstGeom prst="rect">
            <a:avLst/>
          </a:prstGeom>
          <a:solidFill>
            <a:srgbClr val="A9CEE8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 78"/>
          <p:cNvSpPr/>
          <p:nvPr/>
        </p:nvSpPr>
        <p:spPr>
          <a:xfrm>
            <a:off x="5888575" y="1828750"/>
            <a:ext cx="80465" cy="80465"/>
          </a:xfrm>
          <a:prstGeom prst="rect">
            <a:avLst/>
          </a:prstGeom>
          <a:solidFill>
            <a:srgbClr val="A9CEE8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 79"/>
          <p:cNvSpPr/>
          <p:nvPr/>
        </p:nvSpPr>
        <p:spPr>
          <a:xfrm>
            <a:off x="5998300" y="1828750"/>
            <a:ext cx="80465" cy="80465"/>
          </a:xfrm>
          <a:prstGeom prst="rect">
            <a:avLst/>
          </a:prstGeom>
          <a:solidFill>
            <a:srgbClr val="F2BD7D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阶段头"/>
          <p:cNvSpPr txBox="1"/>
          <p:nvPr/>
        </p:nvSpPr>
        <p:spPr>
          <a:xfrm>
            <a:off x="6217750" y="1623930"/>
            <a:ext cx="636405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阶段头</a:t>
            </a:r>
          </a:p>
        </p:txBody>
      </p:sp>
      <p:sp>
        <p:nvSpPr>
          <p:cNvPr id="82" name="rect 81"/>
          <p:cNvSpPr/>
          <p:nvPr/>
        </p:nvSpPr>
        <p:spPr>
          <a:xfrm>
            <a:off x="5778850" y="2962575"/>
            <a:ext cx="80465" cy="80465"/>
          </a:xfrm>
          <a:prstGeom prst="rect">
            <a:avLst/>
          </a:prstGeom>
          <a:solidFill>
            <a:srgbClr val="F2BD7D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 82"/>
          <p:cNvSpPr/>
          <p:nvPr/>
        </p:nvSpPr>
        <p:spPr>
          <a:xfrm>
            <a:off x="5888575" y="2962575"/>
            <a:ext cx="80465" cy="80465"/>
          </a:xfrm>
          <a:prstGeom prst="rect">
            <a:avLst/>
          </a:prstGeom>
          <a:solidFill>
            <a:srgbClr val="A9CEE8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 83"/>
          <p:cNvSpPr/>
          <p:nvPr/>
        </p:nvSpPr>
        <p:spPr>
          <a:xfrm>
            <a:off x="5998300" y="2962575"/>
            <a:ext cx="80465" cy="80465"/>
          </a:xfrm>
          <a:prstGeom prst="rect">
            <a:avLst/>
          </a:prstGeom>
          <a:solidFill>
            <a:srgbClr val="A9CEE8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 84"/>
          <p:cNvSpPr/>
          <p:nvPr/>
        </p:nvSpPr>
        <p:spPr>
          <a:xfrm>
            <a:off x="5778850" y="3072300"/>
            <a:ext cx="80465" cy="80465"/>
          </a:xfrm>
          <a:prstGeom prst="rect">
            <a:avLst/>
          </a:prstGeom>
          <a:solidFill>
            <a:srgbClr val="A9CEE8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 85"/>
          <p:cNvSpPr/>
          <p:nvPr/>
        </p:nvSpPr>
        <p:spPr>
          <a:xfrm>
            <a:off x="5888575" y="3072300"/>
            <a:ext cx="80465" cy="80465"/>
          </a:xfrm>
          <a:prstGeom prst="rect">
            <a:avLst/>
          </a:prstGeom>
          <a:solidFill>
            <a:srgbClr val="F2BD7D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 86"/>
          <p:cNvSpPr/>
          <p:nvPr/>
        </p:nvSpPr>
        <p:spPr>
          <a:xfrm>
            <a:off x="5998300" y="3072300"/>
            <a:ext cx="80465" cy="80465"/>
          </a:xfrm>
          <a:prstGeom prst="rect">
            <a:avLst/>
          </a:prstGeom>
          <a:solidFill>
            <a:srgbClr val="A9CEE8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 87"/>
          <p:cNvSpPr/>
          <p:nvPr/>
        </p:nvSpPr>
        <p:spPr>
          <a:xfrm>
            <a:off x="5778850" y="3182025"/>
            <a:ext cx="80465" cy="80465"/>
          </a:xfrm>
          <a:prstGeom prst="rect">
            <a:avLst/>
          </a:prstGeom>
          <a:solidFill>
            <a:srgbClr val="A9CEE8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 88"/>
          <p:cNvSpPr/>
          <p:nvPr/>
        </p:nvSpPr>
        <p:spPr>
          <a:xfrm>
            <a:off x="5888575" y="3182025"/>
            <a:ext cx="80465" cy="80465"/>
          </a:xfrm>
          <a:prstGeom prst="rect">
            <a:avLst/>
          </a:prstGeom>
          <a:solidFill>
            <a:srgbClr val="A9CEE8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 89"/>
          <p:cNvSpPr/>
          <p:nvPr/>
        </p:nvSpPr>
        <p:spPr>
          <a:xfrm>
            <a:off x="5998300" y="3182025"/>
            <a:ext cx="80465" cy="80465"/>
          </a:xfrm>
          <a:prstGeom prst="rect">
            <a:avLst/>
          </a:prstGeom>
          <a:solidFill>
            <a:srgbClr val="F2BD7D"/>
          </a:solidFill>
          <a:ln w="585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工作量头"/>
          <p:cNvSpPr txBox="1"/>
          <p:nvPr/>
        </p:nvSpPr>
        <p:spPr>
          <a:xfrm>
            <a:off x="6217750" y="2977205"/>
            <a:ext cx="819280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工作量头</a:t>
            </a:r>
          </a:p>
        </p:txBody>
      </p:sp>
      <p:cxnSp>
        <p:nvCxnSpPr>
          <p:cNvPr id="92" name="path 91"/>
          <p:cNvCxnSpPr/>
          <p:nvPr/>
        </p:nvCxnSpPr>
        <p:spPr>
          <a:xfrm>
            <a:off x="6773690" y="1865325"/>
            <a:ext cx="234080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path 92"/>
          <p:cNvCxnSpPr/>
          <p:nvPr/>
        </p:nvCxnSpPr>
        <p:spPr>
          <a:xfrm>
            <a:off x="6839525" y="3218600"/>
            <a:ext cx="212135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 93"/>
          <p:cNvSpPr/>
          <p:nvPr/>
        </p:nvSpPr>
        <p:spPr>
          <a:xfrm>
            <a:off x="7183330" y="2165240"/>
            <a:ext cx="212135" cy="182875"/>
          </a:xfrm>
          <a:prstGeom prst="rect">
            <a:avLst/>
          </a:prstGeom>
          <a:solidFill>
            <a:srgbClr val="A9CEE8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W"/>
          <p:cNvSpPr txBox="1"/>
          <p:nvPr/>
        </p:nvSpPr>
        <p:spPr>
          <a:xfrm>
            <a:off x="7174415" y="2395662"/>
            <a:ext cx="222650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W</a:t>
            </a:r>
          </a:p>
        </p:txBody>
      </p:sp>
      <p:sp>
        <p:nvSpPr>
          <p:cNvPr id="96" name="rect 95"/>
          <p:cNvSpPr/>
          <p:nvPr/>
        </p:nvSpPr>
        <p:spPr>
          <a:xfrm>
            <a:off x="7541765" y="2033570"/>
            <a:ext cx="212135" cy="314545"/>
          </a:xfrm>
          <a:prstGeom prst="rect">
            <a:avLst/>
          </a:prstGeom>
          <a:solidFill>
            <a:srgbClr val="F2BD7D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N"/>
          <p:cNvSpPr txBox="1"/>
          <p:nvPr/>
        </p:nvSpPr>
        <p:spPr>
          <a:xfrm>
            <a:off x="7544751" y="2395662"/>
            <a:ext cx="198848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N</a:t>
            </a:r>
          </a:p>
        </p:txBody>
      </p:sp>
      <p:sp>
        <p:nvSpPr>
          <p:cNvPr id="98" name="rect 97"/>
          <p:cNvSpPr/>
          <p:nvPr/>
        </p:nvSpPr>
        <p:spPr>
          <a:xfrm>
            <a:off x="7900200" y="1740970"/>
            <a:ext cx="212135" cy="607145"/>
          </a:xfrm>
          <a:prstGeom prst="rect">
            <a:avLst/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"/>
          <p:cNvSpPr txBox="1"/>
          <p:nvPr/>
        </p:nvSpPr>
        <p:spPr>
          <a:xfrm>
            <a:off x="7916316" y="2395662"/>
            <a:ext cx="172588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F</a:t>
            </a:r>
          </a:p>
        </p:txBody>
      </p:sp>
      <p:sp>
        <p:nvSpPr>
          <p:cNvPr id="100" name="p"/>
          <p:cNvSpPr txBox="1"/>
          <p:nvPr/>
        </p:nvSpPr>
        <p:spPr>
          <a:xfrm>
            <a:off x="7435012" y="1375220"/>
            <a:ext cx="193848" cy="2669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0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p</a:t>
            </a:r>
          </a:p>
        </p:txBody>
      </p:sp>
      <p:sp>
        <p:nvSpPr>
          <p:cNvPr id="101" name="phase"/>
          <p:cNvSpPr txBox="1"/>
          <p:nvPr/>
        </p:nvSpPr>
        <p:spPr>
          <a:xfrm>
            <a:off x="7548394" y="1495918"/>
            <a:ext cx="400039" cy="18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phase</a:t>
            </a:r>
          </a:p>
        </p:txBody>
      </p:sp>
      <p:cxnSp>
        <p:nvCxnSpPr>
          <p:cNvPr id="102" name="line 101"/>
          <p:cNvCxnSpPr/>
          <p:nvPr/>
        </p:nvCxnSpPr>
        <p:spPr>
          <a:xfrm>
            <a:off x="7154070" y="3218600"/>
            <a:ext cx="1009470" cy="0"/>
          </a:xfrm>
          <a:prstGeom prst="line">
            <a:avLst/>
          </a:prstGeom>
          <a:ln w="18288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line 102"/>
          <p:cNvCxnSpPr/>
          <p:nvPr/>
        </p:nvCxnSpPr>
        <p:spPr>
          <a:xfrm>
            <a:off x="7154070" y="3152765"/>
            <a:ext cx="0" cy="13167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line 103"/>
          <p:cNvCxnSpPr/>
          <p:nvPr/>
        </p:nvCxnSpPr>
        <p:spPr>
          <a:xfrm>
            <a:off x="8163540" y="3152765"/>
            <a:ext cx="0" cy="13167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ircle 104"/>
          <p:cNvSpPr/>
          <p:nvPr/>
        </p:nvSpPr>
        <p:spPr>
          <a:xfrm>
            <a:off x="7519820" y="3182025"/>
            <a:ext cx="73150" cy="73150"/>
          </a:xfrm>
          <a:prstGeom prst="ellipse">
            <a:avLst/>
          </a:prstGeom>
          <a:solidFill>
            <a:srgbClr val="181818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["/>
          <p:cNvSpPr txBox="1"/>
          <p:nvPr/>
        </p:nvSpPr>
        <p:spPr>
          <a:xfrm>
            <a:off x="7109108" y="3472796"/>
            <a:ext cx="151129" cy="241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[</a:t>
            </a:r>
          </a:p>
        </p:txBody>
      </p:sp>
      <p:sp>
        <p:nvSpPr>
          <p:cNvPr id="107" name="W"/>
          <p:cNvSpPr txBox="1"/>
          <p:nvPr/>
        </p:nvSpPr>
        <p:spPr>
          <a:xfrm>
            <a:off x="7172458" y="3472796"/>
            <a:ext cx="246224" cy="241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W</a:t>
            </a:r>
          </a:p>
        </p:txBody>
      </p:sp>
      <p:sp>
        <p:nvSpPr>
          <p:cNvPr id="108" name="lo"/>
          <p:cNvSpPr txBox="1"/>
          <p:nvPr/>
        </p:nvSpPr>
        <p:spPr>
          <a:xfrm>
            <a:off x="7338217" y="3578864"/>
            <a:ext cx="184504" cy="1682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3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lo</a:t>
            </a:r>
          </a:p>
        </p:txBody>
      </p:sp>
      <p:sp>
        <p:nvSpPr>
          <p:cNvPr id="109" name=", "/>
          <p:cNvSpPr txBox="1"/>
          <p:nvPr/>
        </p:nvSpPr>
        <p:spPr>
          <a:xfrm>
            <a:off x="7442255" y="3472796"/>
            <a:ext cx="182875" cy="241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, </a:t>
            </a:r>
          </a:p>
        </p:txBody>
      </p:sp>
      <p:sp>
        <p:nvSpPr>
          <p:cNvPr id="110" name="W"/>
          <p:cNvSpPr txBox="1"/>
          <p:nvPr/>
        </p:nvSpPr>
        <p:spPr>
          <a:xfrm>
            <a:off x="7537350" y="3472796"/>
            <a:ext cx="246224" cy="241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W</a:t>
            </a:r>
          </a:p>
        </p:txBody>
      </p:sp>
      <p:sp>
        <p:nvSpPr>
          <p:cNvPr id="111" name="c"/>
          <p:cNvSpPr txBox="1"/>
          <p:nvPr/>
        </p:nvSpPr>
        <p:spPr>
          <a:xfrm>
            <a:off x="7703109" y="3578864"/>
            <a:ext cx="142985" cy="1682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3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c</a:t>
            </a:r>
          </a:p>
        </p:txBody>
      </p:sp>
      <p:sp>
        <p:nvSpPr>
          <p:cNvPr id="112" name=", "/>
          <p:cNvSpPr txBox="1"/>
          <p:nvPr/>
        </p:nvSpPr>
        <p:spPr>
          <a:xfrm>
            <a:off x="7765630" y="3472796"/>
            <a:ext cx="182875" cy="241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, </a:t>
            </a:r>
          </a:p>
        </p:txBody>
      </p:sp>
      <p:sp>
        <p:nvSpPr>
          <p:cNvPr id="113" name="W"/>
          <p:cNvSpPr txBox="1"/>
          <p:nvPr/>
        </p:nvSpPr>
        <p:spPr>
          <a:xfrm>
            <a:off x="7860725" y="3472796"/>
            <a:ext cx="246224" cy="241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W</a:t>
            </a:r>
          </a:p>
        </p:txBody>
      </p:sp>
      <p:sp>
        <p:nvSpPr>
          <p:cNvPr id="114" name="hi"/>
          <p:cNvSpPr txBox="1"/>
          <p:nvPr/>
        </p:nvSpPr>
        <p:spPr>
          <a:xfrm>
            <a:off x="8026484" y="3578864"/>
            <a:ext cx="184504" cy="1682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3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hi</a:t>
            </a:r>
          </a:p>
        </p:txBody>
      </p:sp>
      <p:sp>
        <p:nvSpPr>
          <p:cNvPr id="115" name="]"/>
          <p:cNvSpPr txBox="1"/>
          <p:nvPr/>
        </p:nvSpPr>
        <p:spPr>
          <a:xfrm>
            <a:off x="8130522" y="3472796"/>
            <a:ext cx="151129" cy="241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]</a:t>
            </a:r>
          </a:p>
        </p:txBody>
      </p:sp>
      <p:sp>
        <p:nvSpPr>
          <p:cNvPr id="116" name="path 115"/>
          <p:cNvSpPr/>
          <p:nvPr/>
        </p:nvSpPr>
        <p:spPr>
          <a:xfrm>
            <a:off x="395010" y="2267650"/>
            <a:ext cx="7505190" cy="1740970"/>
          </a:xfrm>
          <a:custGeom>
            <a:avLst/>
            <a:gdLst/>
            <a:ahLst/>
            <a:cxnLst/>
            <a:rect l="l" t="t" r="r" b="b"/>
            <a:pathLst>
              <a:path w="1026" h="238">
                <a:moveTo>
                  <a:pt x="1026" y="238"/>
                </a:moveTo>
                <a:lnTo>
                  <a:pt x="0" y="238"/>
                </a:lnTo>
                <a:lnTo>
                  <a:pt x="0" y="0"/>
                </a:lnTo>
                <a:lnTo>
                  <a:pt x="21" y="0"/>
                </a:lnTo>
              </a:path>
            </a:pathLst>
          </a:custGeom>
          <a:noFill/>
          <a:ln w="13167">
            <a:solidFill>
              <a:srgbClr val="2676B8"/>
            </a:solidFill>
            <a:prstDash val="dash"/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 116"/>
          <p:cNvSpPr/>
          <p:nvPr/>
        </p:nvSpPr>
        <p:spPr>
          <a:xfrm>
            <a:off x="3789170" y="3884265"/>
            <a:ext cx="1565410" cy="21945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"/>
          <p:cNvSpPr txBox="1"/>
          <p:nvPr/>
        </p:nvSpPr>
        <p:spPr>
          <a:xfrm>
            <a:off x="4192895" y="3882436"/>
            <a:ext cx="140614" cy="241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1" lang="zh-CN" spc="0">
                <a:solidFill>
                  <a:srgbClr val="2676B8"/>
                </a:solidFill>
                <a:latin typeface="Liberation Serif"/>
                <a:ea typeface="Liberation Serif"/>
              </a:rPr>
              <a:t>t</a:t>
            </a:r>
          </a:p>
        </p:txBody>
      </p:sp>
      <p:sp>
        <p:nvSpPr>
          <p:cNvPr id="119" name=" → "/>
          <p:cNvSpPr txBox="1"/>
          <p:nvPr/>
        </p:nvSpPr>
        <p:spPr>
          <a:xfrm>
            <a:off x="4245729" y="3882436"/>
            <a:ext cx="373065" cy="241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 lang="zh-CN" spc="0">
                <a:solidFill>
                  <a:srgbClr val="2676B8"/>
                </a:solidFill>
                <a:latin typeface="Liberation Serif"/>
                <a:ea typeface="Liberation Serif"/>
              </a:rPr>
              <a:t> → </a:t>
            </a:r>
          </a:p>
        </p:txBody>
      </p:sp>
      <p:sp>
        <p:nvSpPr>
          <p:cNvPr id="120" name="t"/>
          <p:cNvSpPr txBox="1"/>
          <p:nvPr/>
        </p:nvSpPr>
        <p:spPr>
          <a:xfrm>
            <a:off x="4531014" y="3882436"/>
            <a:ext cx="140614" cy="241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1" lang="zh-CN" spc="0">
                <a:solidFill>
                  <a:srgbClr val="2676B8"/>
                </a:solidFill>
                <a:latin typeface="Liberation Serif"/>
                <a:ea typeface="Liberation Serif"/>
              </a:rPr>
              <a:t>t</a:t>
            </a:r>
          </a:p>
        </p:txBody>
      </p:sp>
      <p:sp>
        <p:nvSpPr>
          <p:cNvPr id="121" name=" + Δ"/>
          <p:cNvSpPr txBox="1"/>
          <p:nvPr/>
        </p:nvSpPr>
        <p:spPr>
          <a:xfrm>
            <a:off x="4583848" y="3882436"/>
            <a:ext cx="401954" cy="241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 lang="zh-CN" spc="0">
                <a:solidFill>
                  <a:srgbClr val="2676B8"/>
                </a:solidFill>
                <a:latin typeface="Liberation Serif"/>
                <a:ea typeface="Liberation Serif"/>
              </a:rPr>
              <a:t> + Δ</a:t>
            </a:r>
          </a:p>
        </p:txBody>
      </p:sp>
      <p:sp>
        <p:nvSpPr>
          <p:cNvPr id="122" name="t"/>
          <p:cNvSpPr txBox="1"/>
          <p:nvPr/>
        </p:nvSpPr>
        <p:spPr>
          <a:xfrm>
            <a:off x="4898021" y="3882436"/>
            <a:ext cx="140614" cy="241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1" lang="zh-CN" spc="0">
                <a:solidFill>
                  <a:srgbClr val="2676B8"/>
                </a:solidFill>
                <a:latin typeface="Liberation Serif"/>
                <a:ea typeface="Liberation Serif"/>
              </a:rPr>
              <a:t>t</a:t>
            </a:r>
          </a:p>
        </p:txBody>
      </p:sp>
      <p:sp>
        <p:nvSpPr>
          <p:cNvPr id="123" name="rect 122"/>
          <p:cNvSpPr/>
          <p:nvPr/>
        </p:nvSpPr>
        <p:spPr>
          <a:xfrm>
            <a:off x="8704850" y="965580"/>
            <a:ext cx="4169550" cy="3218600"/>
          </a:xfrm>
          <a:prstGeom prst="roundRect">
            <a:avLst>
              <a:gd name="adj" fmla="val 1363"/>
            </a:avLst>
          </a:prstGeom>
          <a:solidFill>
            <a:srgbClr val="EEEEEE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 123"/>
          <p:cNvSpPr/>
          <p:nvPr/>
        </p:nvSpPr>
        <p:spPr>
          <a:xfrm>
            <a:off x="8704850" y="965580"/>
            <a:ext cx="4169550" cy="351120"/>
          </a:xfrm>
          <a:prstGeom prst="roundRect">
            <a:avLst>
              <a:gd name="adj" fmla="val 12500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 124"/>
          <p:cNvSpPr/>
          <p:nvPr/>
        </p:nvSpPr>
        <p:spPr>
          <a:xfrm>
            <a:off x="8713628" y="1163085"/>
            <a:ext cx="4151994" cy="146300"/>
          </a:xfrm>
          <a:prstGeom prst="rect">
            <a:avLst/>
          </a:prstGeom>
          <a:solidFill>
            <a:srgbClr val="A9C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line 125"/>
          <p:cNvCxnSpPr/>
          <p:nvPr/>
        </p:nvCxnSpPr>
        <p:spPr>
          <a:xfrm>
            <a:off x="8704850" y="1316700"/>
            <a:ext cx="4169550" cy="0"/>
          </a:xfrm>
          <a:prstGeom prst="line">
            <a:avLst/>
          </a:prstGeom>
          <a:ln w="12435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(b) 直接 JOIN"/>
          <p:cNvSpPr txBox="1"/>
          <p:nvPr/>
        </p:nvSpPr>
        <p:spPr>
          <a:xfrm>
            <a:off x="8851150" y="969238"/>
            <a:ext cx="1372191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(b) 直接 JOIN</a:t>
            </a:r>
          </a:p>
        </p:txBody>
      </p:sp>
      <p:sp>
        <p:nvSpPr>
          <p:cNvPr id="128" name="circle 127"/>
          <p:cNvSpPr/>
          <p:nvPr/>
        </p:nvSpPr>
        <p:spPr>
          <a:xfrm>
            <a:off x="8946245" y="2062830"/>
            <a:ext cx="365750" cy="365750"/>
          </a:xfrm>
          <a:prstGeom prst="ellipse">
            <a:avLst/>
          </a:prstGeom>
          <a:solidFill>
            <a:srgbClr val="E9A6BF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P"/>
          <p:cNvSpPr txBox="1"/>
          <p:nvPr/>
        </p:nvSpPr>
        <p:spPr>
          <a:xfrm>
            <a:off x="9026681" y="2100575"/>
            <a:ext cx="204877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</a:t>
            </a:r>
          </a:p>
        </p:txBody>
      </p:sp>
      <p:sp>
        <p:nvSpPr>
          <p:cNvPr id="130" name="circle 129"/>
          <p:cNvSpPr/>
          <p:nvPr/>
        </p:nvSpPr>
        <p:spPr>
          <a:xfrm>
            <a:off x="9933770" y="1594670"/>
            <a:ext cx="365750" cy="365750"/>
          </a:xfrm>
          <a:prstGeom prst="ellipse">
            <a:avLst/>
          </a:prstGeom>
          <a:solidFill>
            <a:srgbClr val="B5D68B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C1"/>
          <p:cNvSpPr txBox="1"/>
          <p:nvPr/>
        </p:nvSpPr>
        <p:spPr>
          <a:xfrm>
            <a:off x="9967930" y="1639072"/>
            <a:ext cx="297429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C1</a:t>
            </a:r>
          </a:p>
        </p:txBody>
      </p:sp>
      <p:sp>
        <p:nvSpPr>
          <p:cNvPr id="132" name="circle 131"/>
          <p:cNvSpPr/>
          <p:nvPr/>
        </p:nvSpPr>
        <p:spPr>
          <a:xfrm>
            <a:off x="9933770" y="2494415"/>
            <a:ext cx="365750" cy="365750"/>
          </a:xfrm>
          <a:prstGeom prst="ellipse">
            <a:avLst/>
          </a:prstGeom>
          <a:solidFill>
            <a:srgbClr val="F2BD7D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C2"/>
          <p:cNvSpPr txBox="1"/>
          <p:nvPr/>
        </p:nvSpPr>
        <p:spPr>
          <a:xfrm>
            <a:off x="9967930" y="2538817"/>
            <a:ext cx="297429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C2</a:t>
            </a:r>
          </a:p>
        </p:txBody>
      </p:sp>
      <p:sp>
        <p:nvSpPr>
          <p:cNvPr id="134" name="path 133"/>
          <p:cNvSpPr/>
          <p:nvPr/>
        </p:nvSpPr>
        <p:spPr>
          <a:xfrm>
            <a:off x="10372670" y="1594670"/>
            <a:ext cx="146300" cy="146300"/>
          </a:xfrm>
          <a:custGeom>
            <a:avLst/>
            <a:gdLst/>
            <a:ahLst/>
            <a:cxnLst/>
            <a:rect l="l" t="t" r="r" b="b"/>
            <a:pathLst>
              <a:path w="20" h="20">
                <a:moveTo>
                  <a:pt x="0" y="10"/>
                </a:moveTo>
                <a:lnTo>
                  <a:pt x="7" y="20"/>
                </a:lnTo>
                <a:lnTo>
                  <a:pt x="20" y="0"/>
                </a:lnTo>
              </a:path>
            </a:pathLst>
          </a:custGeom>
          <a:noFill/>
          <a:ln w="2048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polygon 134"/>
          <p:cNvSpPr/>
          <p:nvPr/>
        </p:nvSpPr>
        <p:spPr>
          <a:xfrm>
            <a:off x="11060280" y="1960420"/>
            <a:ext cx="775390" cy="570570"/>
          </a:xfrm>
          <a:custGeom>
            <a:avLst/>
            <a:gdLst/>
            <a:ahLst/>
            <a:cxnLst/>
            <a:rect l="l" t="t" r="r" b="b"/>
            <a:pathLst>
              <a:path w="106" h="78">
                <a:moveTo>
                  <a:pt x="53" y="0"/>
                </a:moveTo>
                <a:lnTo>
                  <a:pt x="106" y="39"/>
                </a:lnTo>
                <a:lnTo>
                  <a:pt x="53" y="78"/>
                </a:lnTo>
                <a:lnTo>
                  <a:pt x="0" y="39"/>
                </a:lnTo>
                <a:close/>
              </a:path>
            </a:pathLst>
          </a:custGeom>
          <a:solidFill>
            <a:srgbClr val="FFFFF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ALL"/>
          <p:cNvSpPr txBox="1"/>
          <p:nvPr/>
        </p:nvSpPr>
        <p:spPr>
          <a:xfrm>
            <a:off x="11239783" y="2099405"/>
            <a:ext cx="416384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ALL</a:t>
            </a:r>
          </a:p>
        </p:txBody>
      </p:sp>
      <p:sp>
        <p:nvSpPr>
          <p:cNvPr id="137" name="circle 136"/>
          <p:cNvSpPr/>
          <p:nvPr/>
        </p:nvSpPr>
        <p:spPr>
          <a:xfrm>
            <a:off x="12252625" y="2062830"/>
            <a:ext cx="365750" cy="365750"/>
          </a:xfrm>
          <a:prstGeom prst="ellipse">
            <a:avLst/>
          </a:prstGeom>
          <a:solidFill>
            <a:srgbClr val="E9A6BF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P"/>
          <p:cNvSpPr txBox="1"/>
          <p:nvPr/>
        </p:nvSpPr>
        <p:spPr>
          <a:xfrm>
            <a:off x="12333061" y="2100575"/>
            <a:ext cx="204877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</a:t>
            </a:r>
          </a:p>
        </p:txBody>
      </p:sp>
      <p:cxnSp>
        <p:nvCxnSpPr>
          <p:cNvPr id="139" name="path 138"/>
          <p:cNvCxnSpPr/>
          <p:nvPr/>
        </p:nvCxnSpPr>
        <p:spPr>
          <a:xfrm flipV="1">
            <a:off x="9319310" y="1850695"/>
            <a:ext cx="599830" cy="299915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path 139"/>
          <p:cNvCxnSpPr/>
          <p:nvPr/>
        </p:nvCxnSpPr>
        <p:spPr>
          <a:xfrm>
            <a:off x="9319310" y="2348115"/>
            <a:ext cx="599830" cy="24871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path 140"/>
          <p:cNvSpPr/>
          <p:nvPr/>
        </p:nvSpPr>
        <p:spPr>
          <a:xfrm>
            <a:off x="10321465" y="1777545"/>
            <a:ext cx="775390" cy="358435"/>
          </a:xfrm>
          <a:custGeom>
            <a:avLst/>
            <a:gdLst/>
            <a:ahLst/>
            <a:cxnLst/>
            <a:rect l="l" t="t" r="r" b="b"/>
            <a:pathLst>
              <a:path w="106" h="49">
                <a:moveTo>
                  <a:pt x="0" y="0"/>
                </a:moveTo>
                <a:lnTo>
                  <a:pt x="55" y="0"/>
                </a:lnTo>
                <a:lnTo>
                  <a:pt x="106" y="49"/>
                </a:lnTo>
              </a:path>
            </a:pathLst>
          </a:custGeom>
          <a:noFill/>
          <a:ln w="19019">
            <a:solidFill>
              <a:srgbClr val="969696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path 141"/>
          <p:cNvSpPr/>
          <p:nvPr/>
        </p:nvSpPr>
        <p:spPr>
          <a:xfrm>
            <a:off x="10321465" y="2348115"/>
            <a:ext cx="775390" cy="329175"/>
          </a:xfrm>
          <a:custGeom>
            <a:avLst/>
            <a:gdLst/>
            <a:ahLst/>
            <a:cxnLst/>
            <a:rect l="l" t="t" r="r" b="b"/>
            <a:pathLst>
              <a:path w="106" h="45">
                <a:moveTo>
                  <a:pt x="0" y="45"/>
                </a:moveTo>
                <a:lnTo>
                  <a:pt x="55" y="45"/>
                </a:lnTo>
                <a:lnTo>
                  <a:pt x="106" y="0"/>
                </a:lnTo>
              </a:path>
            </a:pathLst>
          </a:custGeom>
          <a:noFill/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path 142"/>
          <p:cNvCxnSpPr/>
          <p:nvPr/>
        </p:nvCxnSpPr>
        <p:spPr>
          <a:xfrm>
            <a:off x="11857615" y="2245705"/>
            <a:ext cx="365750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pending = {C2}"/>
          <p:cNvSpPr txBox="1"/>
          <p:nvPr/>
        </p:nvSpPr>
        <p:spPr>
          <a:xfrm>
            <a:off x="9099860" y="2894911"/>
            <a:ext cx="1437740" cy="3054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pending = {C2}</a:t>
            </a:r>
          </a:p>
        </p:txBody>
      </p:sp>
      <p:sp>
        <p:nvSpPr>
          <p:cNvPr id="145" name="τ"/>
          <p:cNvSpPr txBox="1"/>
          <p:nvPr/>
        </p:nvSpPr>
        <p:spPr>
          <a:xfrm>
            <a:off x="9055970" y="3383188"/>
            <a:ext cx="176789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τ</a:t>
            </a:r>
          </a:p>
        </p:txBody>
      </p:sp>
      <p:sp>
        <p:nvSpPr>
          <p:cNvPr id="146" name="join"/>
          <p:cNvSpPr txBox="1"/>
          <p:nvPr/>
        </p:nvSpPr>
        <p:spPr>
          <a:xfrm>
            <a:off x="9152294" y="3524001"/>
            <a:ext cx="338147" cy="2103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2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join</a:t>
            </a:r>
          </a:p>
        </p:txBody>
      </p:sp>
      <p:sp>
        <p:nvSpPr>
          <p:cNvPr id="147" name=" = "/>
          <p:cNvSpPr txBox="1"/>
          <p:nvPr/>
        </p:nvSpPr>
        <p:spPr>
          <a:xfrm>
            <a:off x="9409976" y="3383188"/>
            <a:ext cx="352406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 = </a:t>
            </a:r>
          </a:p>
        </p:txBody>
      </p:sp>
      <p:sp>
        <p:nvSpPr>
          <p:cNvPr id="148" name="["/>
          <p:cNvSpPr txBox="1"/>
          <p:nvPr/>
        </p:nvSpPr>
        <p:spPr>
          <a:xfrm>
            <a:off x="10123960" y="3229572"/>
            <a:ext cx="168159" cy="298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[</a:t>
            </a:r>
          </a:p>
        </p:txBody>
      </p:sp>
      <p:sp>
        <p:nvSpPr>
          <p:cNvPr id="149" name="W"/>
          <p:cNvSpPr txBox="1"/>
          <p:nvPr/>
        </p:nvSpPr>
        <p:spPr>
          <a:xfrm>
            <a:off x="10204339" y="3229572"/>
            <a:ext cx="288857" cy="298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W</a:t>
            </a:r>
          </a:p>
        </p:txBody>
      </p:sp>
      <p:sp>
        <p:nvSpPr>
          <p:cNvPr id="150" name=" − Δ"/>
          <p:cNvSpPr txBox="1"/>
          <p:nvPr/>
        </p:nvSpPr>
        <p:spPr>
          <a:xfrm>
            <a:off x="10405416" y="3229572"/>
            <a:ext cx="486533" cy="298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 − Δ</a:t>
            </a:r>
          </a:p>
        </p:txBody>
      </p:sp>
      <p:sp>
        <p:nvSpPr>
          <p:cNvPr id="151" name="N"/>
          <p:cNvSpPr txBox="1"/>
          <p:nvPr/>
        </p:nvSpPr>
        <p:spPr>
          <a:xfrm>
            <a:off x="10804169" y="3229572"/>
            <a:ext cx="248796" cy="298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N</a:t>
            </a:r>
          </a:p>
        </p:txBody>
      </p:sp>
      <p:sp>
        <p:nvSpPr>
          <p:cNvPr id="152" name="]"/>
          <p:cNvSpPr txBox="1"/>
          <p:nvPr/>
        </p:nvSpPr>
        <p:spPr>
          <a:xfrm>
            <a:off x="10965185" y="3229572"/>
            <a:ext cx="181732" cy="298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]</a:t>
            </a:r>
          </a:p>
        </p:txBody>
      </p:sp>
      <p:sp>
        <p:nvSpPr>
          <p:cNvPr id="153" name="+"/>
          <p:cNvSpPr txBox="1"/>
          <p:nvPr/>
        </p:nvSpPr>
        <p:spPr>
          <a:xfrm>
            <a:off x="11066452" y="3364900"/>
            <a:ext cx="176474" cy="2048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5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+</a:t>
            </a:r>
          </a:p>
        </p:txBody>
      </p:sp>
      <p:cxnSp>
        <p:nvCxnSpPr>
          <p:cNvPr id="154" name="line 153"/>
          <p:cNvCxnSpPr/>
          <p:nvPr/>
        </p:nvCxnSpPr>
        <p:spPr>
          <a:xfrm>
            <a:off x="10050810" y="3511200"/>
            <a:ext cx="1184801" cy="0"/>
          </a:xfrm>
          <a:prstGeom prst="line">
            <a:avLst/>
          </a:prstGeom>
          <a:ln w="13167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v"/>
          <p:cNvSpPr txBox="1"/>
          <p:nvPr/>
        </p:nvSpPr>
        <p:spPr>
          <a:xfrm>
            <a:off x="10475723" y="3558748"/>
            <a:ext cx="194933" cy="298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v</a:t>
            </a:r>
          </a:p>
        </p:txBody>
      </p:sp>
      <p:sp>
        <p:nvSpPr>
          <p:cNvPr id="156" name="("/>
          <p:cNvSpPr txBox="1"/>
          <p:nvPr/>
        </p:nvSpPr>
        <p:spPr>
          <a:xfrm>
            <a:off x="10582876" y="3558748"/>
            <a:ext cx="168159" cy="298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(</a:t>
            </a:r>
          </a:p>
        </p:txBody>
      </p:sp>
      <p:sp>
        <p:nvSpPr>
          <p:cNvPr id="157" name="t"/>
          <p:cNvSpPr txBox="1"/>
          <p:nvPr/>
        </p:nvSpPr>
        <p:spPr>
          <a:xfrm>
            <a:off x="10663256" y="3558748"/>
            <a:ext cx="154844" cy="298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t</a:t>
            </a:r>
          </a:p>
        </p:txBody>
      </p:sp>
      <p:sp>
        <p:nvSpPr>
          <p:cNvPr id="158" name=")"/>
          <p:cNvSpPr txBox="1"/>
          <p:nvPr/>
        </p:nvSpPr>
        <p:spPr>
          <a:xfrm>
            <a:off x="10730319" y="3558748"/>
            <a:ext cx="168159" cy="298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)</a:t>
            </a:r>
          </a:p>
        </p:txBody>
      </p:sp>
      <p:sp>
        <p:nvSpPr>
          <p:cNvPr id="159" name="实测服务速率；排队单独处理"/>
          <p:cNvSpPr txBox="1"/>
          <p:nvPr/>
        </p:nvSpPr>
        <p:spPr>
          <a:xfrm>
            <a:off x="9055970" y="3842204"/>
            <a:ext cx="2179870" cy="265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7" b="0" i="0" lang="zh-CN" spc="0">
                <a:solidFill>
                  <a:srgbClr val="535353"/>
                </a:solidFill>
                <a:latin typeface="Noto Sans CJK SC"/>
                <a:ea typeface="Noto Sans CJK SC"/>
              </a:rPr>
              <a:t>实测服务速率；排队单独处理</a:t>
            </a:r>
          </a:p>
        </p:txBody>
      </p:sp>
      <p:sp>
        <p:nvSpPr>
          <p:cNvPr id="160" name="path 159"/>
          <p:cNvSpPr/>
          <p:nvPr/>
        </p:nvSpPr>
        <p:spPr>
          <a:xfrm>
            <a:off x="8185485" y="3218600"/>
            <a:ext cx="833910" cy="292600"/>
          </a:xfrm>
          <a:custGeom>
            <a:avLst/>
            <a:gdLst/>
            <a:ahLst/>
            <a:cxnLst/>
            <a:rect l="l" t="t" r="r" b="b"/>
            <a:pathLst>
              <a:path w="114" h="40">
                <a:moveTo>
                  <a:pt x="0" y="0"/>
                </a:moveTo>
                <a:lnTo>
                  <a:pt x="93" y="0"/>
                </a:lnTo>
                <a:lnTo>
                  <a:pt x="93" y="40"/>
                </a:lnTo>
                <a:lnTo>
                  <a:pt x="114" y="40"/>
                </a:lnTo>
              </a:path>
            </a:pathLst>
          </a:custGeom>
          <a:noFill/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path 160"/>
          <p:cNvSpPr/>
          <p:nvPr/>
        </p:nvSpPr>
        <p:spPr>
          <a:xfrm>
            <a:off x="9377830" y="4191495"/>
            <a:ext cx="3642870" cy="2450525"/>
          </a:xfrm>
          <a:custGeom>
            <a:avLst/>
            <a:gdLst/>
            <a:ahLst/>
            <a:cxnLst/>
            <a:rect l="l" t="t" r="r" b="b"/>
            <a:pathLst>
              <a:path w="498" h="335">
                <a:moveTo>
                  <a:pt x="220" y="0"/>
                </a:moveTo>
                <a:lnTo>
                  <a:pt x="220" y="22"/>
                </a:lnTo>
                <a:lnTo>
                  <a:pt x="498" y="22"/>
                </a:lnTo>
                <a:lnTo>
                  <a:pt x="498" y="267"/>
                </a:lnTo>
                <a:lnTo>
                  <a:pt x="0" y="267"/>
                </a:lnTo>
                <a:lnTo>
                  <a:pt x="0" y="335"/>
                </a:lnTo>
              </a:path>
            </a:pathLst>
          </a:custGeom>
          <a:noFill/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 161"/>
          <p:cNvSpPr/>
          <p:nvPr/>
        </p:nvSpPr>
        <p:spPr>
          <a:xfrm>
            <a:off x="292600" y="4520670"/>
            <a:ext cx="12581800" cy="1506890"/>
          </a:xfrm>
          <a:prstGeom prst="roundRect">
            <a:avLst>
              <a:gd name="adj" fmla="val 2912"/>
            </a:avLst>
          </a:prstGeom>
          <a:solidFill>
            <a:srgbClr val="EEEEEE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 162"/>
          <p:cNvSpPr/>
          <p:nvPr/>
        </p:nvSpPr>
        <p:spPr>
          <a:xfrm>
            <a:off x="292600" y="4520670"/>
            <a:ext cx="12581800" cy="351120"/>
          </a:xfrm>
          <a:prstGeom prst="roundRect">
            <a:avLst>
              <a:gd name="adj" fmla="val 12500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 163"/>
          <p:cNvSpPr/>
          <p:nvPr/>
        </p:nvSpPr>
        <p:spPr>
          <a:xfrm>
            <a:off x="301378" y="4718175"/>
            <a:ext cx="12564244" cy="146300"/>
          </a:xfrm>
          <a:prstGeom prst="rect">
            <a:avLst/>
          </a:prstGeom>
          <a:solidFill>
            <a:srgbClr val="A9C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5" name="line 164"/>
          <p:cNvCxnSpPr/>
          <p:nvPr/>
        </p:nvCxnSpPr>
        <p:spPr>
          <a:xfrm>
            <a:off x="292600" y="4871790"/>
            <a:ext cx="12581800" cy="0"/>
          </a:xfrm>
          <a:prstGeom prst="line">
            <a:avLst/>
          </a:prstGeom>
          <a:ln w="12435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(c) 仍在执行条件下的工具时机"/>
          <p:cNvSpPr txBox="1"/>
          <p:nvPr/>
        </p:nvSpPr>
        <p:spPr>
          <a:xfrm>
            <a:off x="438900" y="4524328"/>
            <a:ext cx="2854936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(c) 仍在执行条件下的工具时机</a:t>
            </a:r>
          </a:p>
        </p:txBody>
      </p:sp>
      <p:sp>
        <p:nvSpPr>
          <p:cNvPr id="167" name="circle 166"/>
          <p:cNvSpPr/>
          <p:nvPr/>
        </p:nvSpPr>
        <p:spPr>
          <a:xfrm>
            <a:off x="541310" y="5040035"/>
            <a:ext cx="424270" cy="424270"/>
          </a:xfrm>
          <a:prstGeom prst="ellipse">
            <a:avLst/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path 167"/>
          <p:cNvSpPr/>
          <p:nvPr/>
        </p:nvSpPr>
        <p:spPr>
          <a:xfrm>
            <a:off x="753445" y="5113185"/>
            <a:ext cx="117040" cy="190190"/>
          </a:xfrm>
          <a:custGeom>
            <a:avLst/>
            <a:gdLst/>
            <a:ahLst/>
            <a:cxnLst/>
            <a:rect l="l" t="t" r="r" b="b"/>
            <a:pathLst>
              <a:path w="16" h="26">
                <a:moveTo>
                  <a:pt x="0" y="0"/>
                </a:moveTo>
                <a:lnTo>
                  <a:pt x="0" y="19"/>
                </a:lnTo>
                <a:lnTo>
                  <a:pt x="16" y="26"/>
                </a:lnTo>
              </a:path>
            </a:pathLst>
          </a:custGeom>
          <a:noFill/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a"/>
          <p:cNvSpPr txBox="1"/>
          <p:nvPr/>
        </p:nvSpPr>
        <p:spPr>
          <a:xfrm>
            <a:off x="595001" y="5531969"/>
            <a:ext cx="197505" cy="272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7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a</a:t>
            </a:r>
          </a:p>
        </p:txBody>
      </p:sp>
      <p:sp>
        <p:nvSpPr>
          <p:cNvPr id="170" name="("/>
          <p:cNvSpPr txBox="1"/>
          <p:nvPr/>
        </p:nvSpPr>
        <p:spPr>
          <a:xfrm>
            <a:off x="704726" y="5531969"/>
            <a:ext cx="160873" cy="272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7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(</a:t>
            </a:r>
          </a:p>
        </p:txBody>
      </p:sp>
      <p:sp>
        <p:nvSpPr>
          <p:cNvPr id="171" name="t"/>
          <p:cNvSpPr txBox="1"/>
          <p:nvPr/>
        </p:nvSpPr>
        <p:spPr>
          <a:xfrm>
            <a:off x="777819" y="5531969"/>
            <a:ext cx="148757" cy="272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7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t</a:t>
            </a:r>
          </a:p>
        </p:txBody>
      </p:sp>
      <p:sp>
        <p:nvSpPr>
          <p:cNvPr id="172" name=")"/>
          <p:cNvSpPr txBox="1"/>
          <p:nvPr/>
        </p:nvSpPr>
        <p:spPr>
          <a:xfrm>
            <a:off x="838796" y="5531969"/>
            <a:ext cx="160873" cy="272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7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)</a:t>
            </a:r>
          </a:p>
        </p:txBody>
      </p:sp>
      <p:sp>
        <p:nvSpPr>
          <p:cNvPr id="173" name="rect 172"/>
          <p:cNvSpPr/>
          <p:nvPr/>
        </p:nvSpPr>
        <p:spPr>
          <a:xfrm>
            <a:off x="1345960" y="5054665"/>
            <a:ext cx="848540" cy="475475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 173"/>
          <p:cNvSpPr/>
          <p:nvPr/>
        </p:nvSpPr>
        <p:spPr>
          <a:xfrm>
            <a:off x="1353275" y="5061980"/>
            <a:ext cx="833910" cy="9509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path 174"/>
          <p:cNvSpPr/>
          <p:nvPr/>
        </p:nvSpPr>
        <p:spPr>
          <a:xfrm>
            <a:off x="1463000" y="5259485"/>
            <a:ext cx="80465" cy="146300"/>
          </a:xfrm>
          <a:custGeom>
            <a:avLst/>
            <a:gdLst/>
            <a:ahLst/>
            <a:cxnLst/>
            <a:rect l="l" t="t" r="r" b="b"/>
            <a:pathLst>
              <a:path w="11" h="20">
                <a:moveTo>
                  <a:pt x="0" y="0"/>
                </a:moveTo>
                <a:lnTo>
                  <a:pt x="11" y="10"/>
                </a:lnTo>
                <a:lnTo>
                  <a:pt x="0" y="20"/>
                </a:lnTo>
              </a:path>
            </a:pathLst>
          </a:custGeom>
          <a:noFill/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6" name="line 175"/>
          <p:cNvCxnSpPr/>
          <p:nvPr/>
        </p:nvCxnSpPr>
        <p:spPr>
          <a:xfrm>
            <a:off x="1623930" y="5398470"/>
            <a:ext cx="46816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cmd / project"/>
          <p:cNvSpPr txBox="1"/>
          <p:nvPr/>
        </p:nvSpPr>
        <p:spPr>
          <a:xfrm>
            <a:off x="1294755" y="5612434"/>
            <a:ext cx="1086192" cy="265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7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cmd / project</a:t>
            </a:r>
          </a:p>
        </p:txBody>
      </p:sp>
      <p:cxnSp>
        <p:nvCxnSpPr>
          <p:cNvPr id="178" name="path 177"/>
          <p:cNvCxnSpPr/>
          <p:nvPr/>
        </p:nvCxnSpPr>
        <p:spPr>
          <a:xfrm>
            <a:off x="987525" y="5252170"/>
            <a:ext cx="336490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path 178"/>
          <p:cNvCxnSpPr/>
          <p:nvPr/>
        </p:nvCxnSpPr>
        <p:spPr>
          <a:xfrm>
            <a:off x="2216445" y="5252170"/>
            <a:ext cx="548625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 179"/>
          <p:cNvSpPr/>
          <p:nvPr/>
        </p:nvSpPr>
        <p:spPr>
          <a:xfrm>
            <a:off x="2962575" y="4966885"/>
            <a:ext cx="1316700" cy="42427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 180"/>
          <p:cNvSpPr/>
          <p:nvPr/>
        </p:nvSpPr>
        <p:spPr>
          <a:xfrm>
            <a:off x="2904055" y="5025405"/>
            <a:ext cx="1316700" cy="42427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 181"/>
          <p:cNvSpPr/>
          <p:nvPr/>
        </p:nvSpPr>
        <p:spPr>
          <a:xfrm>
            <a:off x="2845535" y="5083925"/>
            <a:ext cx="1316700" cy="42427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完成历史"/>
          <p:cNvSpPr txBox="1"/>
          <p:nvPr/>
        </p:nvSpPr>
        <p:spPr>
          <a:xfrm>
            <a:off x="3094245" y="5149760"/>
            <a:ext cx="819280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完成历史</a:t>
            </a:r>
          </a:p>
        </p:txBody>
      </p:sp>
      <p:sp>
        <p:nvSpPr>
          <p:cNvPr id="184" name="path 183"/>
          <p:cNvSpPr/>
          <p:nvPr/>
        </p:nvSpPr>
        <p:spPr>
          <a:xfrm>
            <a:off x="4052510" y="4908365"/>
            <a:ext cx="124355" cy="124355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0" y="9"/>
                </a:moveTo>
                <a:lnTo>
                  <a:pt x="6" y="17"/>
                </a:lnTo>
                <a:lnTo>
                  <a:pt x="17" y="0"/>
                </a:lnTo>
              </a:path>
            </a:pathLst>
          </a:custGeom>
          <a:noFill/>
          <a:ln w="2048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path 184"/>
          <p:cNvCxnSpPr/>
          <p:nvPr/>
        </p:nvCxnSpPr>
        <p:spPr>
          <a:xfrm>
            <a:off x="4323165" y="5252170"/>
            <a:ext cx="468160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 185"/>
          <p:cNvSpPr/>
          <p:nvPr/>
        </p:nvSpPr>
        <p:spPr>
          <a:xfrm>
            <a:off x="5808110" y="4952255"/>
            <a:ext cx="1265495" cy="738815"/>
          </a:xfrm>
          <a:prstGeom prst="rect">
            <a:avLst/>
          </a:prstGeom>
          <a:solidFill>
            <a:srgbClr val="B5D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line 186"/>
          <p:cNvCxnSpPr/>
          <p:nvPr/>
        </p:nvCxnSpPr>
        <p:spPr>
          <a:xfrm>
            <a:off x="4988830" y="5698385"/>
            <a:ext cx="2092090" cy="0"/>
          </a:xfrm>
          <a:prstGeom prst="line">
            <a:avLst/>
          </a:prstGeom>
          <a:ln w="13167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line 187"/>
          <p:cNvCxnSpPr/>
          <p:nvPr/>
        </p:nvCxnSpPr>
        <p:spPr>
          <a:xfrm flipV="1">
            <a:off x="4988830" y="4974200"/>
            <a:ext cx="0" cy="724185"/>
          </a:xfrm>
          <a:prstGeom prst="line">
            <a:avLst/>
          </a:prstGeom>
          <a:ln w="13167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path 188"/>
          <p:cNvSpPr/>
          <p:nvPr/>
        </p:nvSpPr>
        <p:spPr>
          <a:xfrm>
            <a:off x="4996145" y="4974200"/>
            <a:ext cx="2062830" cy="716870"/>
          </a:xfrm>
          <a:custGeom>
            <a:avLst/>
            <a:gdLst/>
            <a:ahLst/>
            <a:cxnLst/>
            <a:rect l="l" t="t" r="r" b="b"/>
            <a:pathLst>
              <a:path w="282" h="98">
                <a:moveTo>
                  <a:pt x="0" y="98"/>
                </a:moveTo>
                <a:lnTo>
                  <a:pt x="34" y="98"/>
                </a:lnTo>
                <a:lnTo>
                  <a:pt x="34" y="80"/>
                </a:lnTo>
                <a:lnTo>
                  <a:pt x="68" y="80"/>
                </a:lnTo>
                <a:lnTo>
                  <a:pt x="68" y="60"/>
                </a:lnTo>
                <a:lnTo>
                  <a:pt x="111" y="60"/>
                </a:lnTo>
                <a:lnTo>
                  <a:pt x="111" y="30"/>
                </a:lnTo>
                <a:lnTo>
                  <a:pt x="158" y="30"/>
                </a:lnTo>
                <a:lnTo>
                  <a:pt x="158" y="11"/>
                </a:lnTo>
                <a:lnTo>
                  <a:pt x="226" y="11"/>
                </a:lnTo>
                <a:lnTo>
                  <a:pt x="226" y="0"/>
                </a:lnTo>
                <a:lnTo>
                  <a:pt x="282" y="0"/>
                </a:lnTo>
              </a:path>
            </a:pathLst>
          </a:custGeom>
          <a:noFill/>
          <a:ln w="1901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line 189"/>
          <p:cNvCxnSpPr/>
          <p:nvPr/>
        </p:nvCxnSpPr>
        <p:spPr>
          <a:xfrm>
            <a:off x="5800795" y="4981515"/>
            <a:ext cx="0" cy="760760"/>
          </a:xfrm>
          <a:prstGeom prst="line">
            <a:avLst/>
          </a:prstGeom>
          <a:ln w="14630">
            <a:solidFill>
              <a:srgbClr val="BF333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a"/>
          <p:cNvSpPr txBox="1"/>
          <p:nvPr/>
        </p:nvSpPr>
        <p:spPr>
          <a:xfrm>
            <a:off x="5755076" y="5760562"/>
            <a:ext cx="179218" cy="234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1" lang="zh-CN" spc="0">
                <a:solidFill>
                  <a:srgbClr val="BF3335"/>
                </a:solidFill>
                <a:latin typeface="Liberation Serif"/>
                <a:ea typeface="Liberation Serif"/>
              </a:rPr>
              <a:t>a</a:t>
            </a:r>
          </a:p>
        </p:txBody>
      </p:sp>
      <p:sp>
        <p:nvSpPr>
          <p:cNvPr id="192" name="T"/>
          <p:cNvSpPr txBox="1"/>
          <p:nvPr/>
        </p:nvSpPr>
        <p:spPr>
          <a:xfrm>
            <a:off x="6934620" y="5760562"/>
            <a:ext cx="189476" cy="234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T</a:t>
            </a:r>
          </a:p>
        </p:txBody>
      </p:sp>
      <p:sp>
        <p:nvSpPr>
          <p:cNvPr id="193" name="F"/>
          <p:cNvSpPr txBox="1"/>
          <p:nvPr/>
        </p:nvSpPr>
        <p:spPr>
          <a:xfrm>
            <a:off x="4808441" y="4897392"/>
            <a:ext cx="195019" cy="2249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F</a:t>
            </a:r>
          </a:p>
        </p:txBody>
      </p:sp>
      <p:cxnSp>
        <p:nvCxnSpPr>
          <p:cNvPr id="194" name="path 193"/>
          <p:cNvCxnSpPr/>
          <p:nvPr/>
        </p:nvCxnSpPr>
        <p:spPr>
          <a:xfrm>
            <a:off x="7219905" y="5252170"/>
            <a:ext cx="358435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P("/>
          <p:cNvSpPr txBox="1"/>
          <p:nvPr/>
        </p:nvSpPr>
        <p:spPr>
          <a:xfrm>
            <a:off x="7753900" y="4992488"/>
            <a:ext cx="308944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P(</a:t>
            </a:r>
          </a:p>
        </p:txBody>
      </p:sp>
      <p:sp>
        <p:nvSpPr>
          <p:cNvPr id="196" name="T"/>
          <p:cNvSpPr txBox="1"/>
          <p:nvPr/>
        </p:nvSpPr>
        <p:spPr>
          <a:xfrm>
            <a:off x="7975064" y="4992488"/>
            <a:ext cx="226108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T</a:t>
            </a:r>
          </a:p>
        </p:txBody>
      </p:sp>
      <p:sp>
        <p:nvSpPr>
          <p:cNvPr id="197" name=" ≤ "/>
          <p:cNvSpPr txBox="1"/>
          <p:nvPr/>
        </p:nvSpPr>
        <p:spPr>
          <a:xfrm>
            <a:off x="8113392" y="4992488"/>
            <a:ext cx="348634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 ≤ </a:t>
            </a:r>
          </a:p>
        </p:txBody>
      </p:sp>
      <p:sp>
        <p:nvSpPr>
          <p:cNvPr id="198" name="a"/>
          <p:cNvSpPr txBox="1"/>
          <p:nvPr/>
        </p:nvSpPr>
        <p:spPr>
          <a:xfrm>
            <a:off x="8374246" y="4992488"/>
            <a:ext cx="212135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a</a:t>
            </a:r>
          </a:p>
        </p:txBody>
      </p:sp>
      <p:sp>
        <p:nvSpPr>
          <p:cNvPr id="199" name=" + "/>
          <p:cNvSpPr txBox="1"/>
          <p:nvPr/>
        </p:nvSpPr>
        <p:spPr>
          <a:xfrm>
            <a:off x="8498601" y="4992488"/>
            <a:ext cx="352406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 + </a:t>
            </a:r>
          </a:p>
        </p:txBody>
      </p:sp>
      <p:sp>
        <p:nvSpPr>
          <p:cNvPr id="200" name="r"/>
          <p:cNvSpPr txBox="1"/>
          <p:nvPr/>
        </p:nvSpPr>
        <p:spPr>
          <a:xfrm>
            <a:off x="8763227" y="4992488"/>
            <a:ext cx="184561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r</a:t>
            </a:r>
          </a:p>
        </p:txBody>
      </p:sp>
      <p:sp>
        <p:nvSpPr>
          <p:cNvPr id="201" name=" | "/>
          <p:cNvSpPr txBox="1"/>
          <p:nvPr/>
        </p:nvSpPr>
        <p:spPr>
          <a:xfrm>
            <a:off x="8860008" y="4992488"/>
            <a:ext cx="261940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 | </a:t>
            </a:r>
          </a:p>
        </p:txBody>
      </p:sp>
      <p:sp>
        <p:nvSpPr>
          <p:cNvPr id="202" name="T"/>
          <p:cNvSpPr txBox="1"/>
          <p:nvPr/>
        </p:nvSpPr>
        <p:spPr>
          <a:xfrm>
            <a:off x="9034168" y="4992488"/>
            <a:ext cx="226108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T</a:t>
            </a:r>
          </a:p>
        </p:txBody>
      </p:sp>
      <p:sp>
        <p:nvSpPr>
          <p:cNvPr id="203" name=" &gt; "/>
          <p:cNvSpPr txBox="1"/>
          <p:nvPr/>
        </p:nvSpPr>
        <p:spPr>
          <a:xfrm>
            <a:off x="9172496" y="4992488"/>
            <a:ext cx="352406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 &gt; </a:t>
            </a:r>
          </a:p>
        </p:txBody>
      </p:sp>
      <p:sp>
        <p:nvSpPr>
          <p:cNvPr id="204" name="a"/>
          <p:cNvSpPr txBox="1"/>
          <p:nvPr/>
        </p:nvSpPr>
        <p:spPr>
          <a:xfrm>
            <a:off x="9437122" y="4992488"/>
            <a:ext cx="212135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a</a:t>
            </a:r>
          </a:p>
        </p:txBody>
      </p:sp>
      <p:sp>
        <p:nvSpPr>
          <p:cNvPr id="205" name=")"/>
          <p:cNvSpPr txBox="1"/>
          <p:nvPr/>
        </p:nvSpPr>
        <p:spPr>
          <a:xfrm>
            <a:off x="9561477" y="4992488"/>
            <a:ext cx="170617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)</a:t>
            </a:r>
          </a:p>
        </p:txBody>
      </p:sp>
      <p:cxnSp>
        <p:nvCxnSpPr>
          <p:cNvPr id="206" name="line 205"/>
          <p:cNvCxnSpPr/>
          <p:nvPr/>
        </p:nvCxnSpPr>
        <p:spPr>
          <a:xfrm>
            <a:off x="7973350" y="5574030"/>
            <a:ext cx="2787015" cy="0"/>
          </a:xfrm>
          <a:prstGeom prst="line">
            <a:avLst/>
          </a:prstGeom>
          <a:ln w="18288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line 206"/>
          <p:cNvCxnSpPr/>
          <p:nvPr/>
        </p:nvCxnSpPr>
        <p:spPr>
          <a:xfrm>
            <a:off x="7973350" y="5508195"/>
            <a:ext cx="0" cy="13167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line 207"/>
          <p:cNvCxnSpPr/>
          <p:nvPr/>
        </p:nvCxnSpPr>
        <p:spPr>
          <a:xfrm>
            <a:off x="10760365" y="5508195"/>
            <a:ext cx="0" cy="13167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ircle 208"/>
          <p:cNvSpPr/>
          <p:nvPr/>
        </p:nvSpPr>
        <p:spPr>
          <a:xfrm>
            <a:off x="9173010" y="5537455"/>
            <a:ext cx="73150" cy="73150"/>
          </a:xfrm>
          <a:prstGeom prst="ellipse">
            <a:avLst/>
          </a:prstGeom>
          <a:solidFill>
            <a:srgbClr val="181818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q"/>
          <p:cNvSpPr txBox="1"/>
          <p:nvPr/>
        </p:nvSpPr>
        <p:spPr>
          <a:xfrm>
            <a:off x="7852652" y="5711186"/>
            <a:ext cx="186532" cy="2505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q</a:t>
            </a:r>
          </a:p>
        </p:txBody>
      </p:sp>
      <p:sp>
        <p:nvSpPr>
          <p:cNvPr id="211" name="10"/>
          <p:cNvSpPr txBox="1"/>
          <p:nvPr/>
        </p:nvSpPr>
        <p:spPr>
          <a:xfrm>
            <a:off x="7958720" y="5822740"/>
            <a:ext cx="215792" cy="1737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10</a:t>
            </a:r>
          </a:p>
        </p:txBody>
      </p:sp>
      <p:sp>
        <p:nvSpPr>
          <p:cNvPr id="212" name="q"/>
          <p:cNvSpPr txBox="1"/>
          <p:nvPr/>
        </p:nvSpPr>
        <p:spPr>
          <a:xfrm>
            <a:off x="9088888" y="5711186"/>
            <a:ext cx="186532" cy="2505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q</a:t>
            </a:r>
          </a:p>
        </p:txBody>
      </p:sp>
      <p:sp>
        <p:nvSpPr>
          <p:cNvPr id="213" name="50"/>
          <p:cNvSpPr txBox="1"/>
          <p:nvPr/>
        </p:nvSpPr>
        <p:spPr>
          <a:xfrm>
            <a:off x="9194955" y="5822740"/>
            <a:ext cx="215792" cy="1737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50</a:t>
            </a:r>
          </a:p>
        </p:txBody>
      </p:sp>
      <p:sp>
        <p:nvSpPr>
          <p:cNvPr id="214" name="q"/>
          <p:cNvSpPr txBox="1"/>
          <p:nvPr/>
        </p:nvSpPr>
        <p:spPr>
          <a:xfrm>
            <a:off x="10639668" y="5711186"/>
            <a:ext cx="186532" cy="2505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q</a:t>
            </a:r>
          </a:p>
        </p:txBody>
      </p:sp>
      <p:sp>
        <p:nvSpPr>
          <p:cNvPr id="215" name="90"/>
          <p:cNvSpPr txBox="1"/>
          <p:nvPr/>
        </p:nvSpPr>
        <p:spPr>
          <a:xfrm>
            <a:off x="10745735" y="5822740"/>
            <a:ext cx="215792" cy="1737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90</a:t>
            </a:r>
          </a:p>
        </p:txBody>
      </p:sp>
      <p:cxnSp>
        <p:nvCxnSpPr>
          <p:cNvPr id="216" name="path 215"/>
          <p:cNvCxnSpPr/>
          <p:nvPr/>
        </p:nvCxnSpPr>
        <p:spPr>
          <a:xfrm>
            <a:off x="10899350" y="5442360"/>
            <a:ext cx="460845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τ"/>
          <p:cNvSpPr txBox="1"/>
          <p:nvPr/>
        </p:nvSpPr>
        <p:spPr>
          <a:xfrm>
            <a:off x="11744404" y="5279601"/>
            <a:ext cx="179418" cy="3145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τ</a:t>
            </a:r>
          </a:p>
        </p:txBody>
      </p:sp>
      <p:sp>
        <p:nvSpPr>
          <p:cNvPr id="218" name="tool"/>
          <p:cNvSpPr txBox="1"/>
          <p:nvPr/>
        </p:nvSpPr>
        <p:spPr>
          <a:xfrm>
            <a:off x="11843356" y="5422244"/>
            <a:ext cx="346662" cy="215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tool</a:t>
            </a:r>
          </a:p>
        </p:txBody>
      </p:sp>
      <p:sp>
        <p:nvSpPr>
          <p:cNvPr id="219" name="("/>
          <p:cNvSpPr txBox="1"/>
          <p:nvPr/>
        </p:nvSpPr>
        <p:spPr>
          <a:xfrm>
            <a:off x="12109554" y="5279601"/>
            <a:ext cx="173045" cy="3145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(</a:t>
            </a:r>
          </a:p>
        </p:txBody>
      </p:sp>
      <p:sp>
        <p:nvSpPr>
          <p:cNvPr id="220" name="t"/>
          <p:cNvSpPr txBox="1"/>
          <p:nvPr/>
        </p:nvSpPr>
        <p:spPr>
          <a:xfrm>
            <a:off x="12194819" y="5279601"/>
            <a:ext cx="158901" cy="3145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t</a:t>
            </a:r>
          </a:p>
        </p:txBody>
      </p:sp>
      <p:sp>
        <p:nvSpPr>
          <p:cNvPr id="221" name=")"/>
          <p:cNvSpPr txBox="1"/>
          <p:nvPr/>
        </p:nvSpPr>
        <p:spPr>
          <a:xfrm>
            <a:off x="12265941" y="5279601"/>
            <a:ext cx="173045" cy="3145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)</a:t>
            </a:r>
          </a:p>
        </p:txBody>
      </p:sp>
      <p:cxnSp>
        <p:nvCxnSpPr>
          <p:cNvPr id="222" name="line 221"/>
          <p:cNvCxnSpPr/>
          <p:nvPr/>
        </p:nvCxnSpPr>
        <p:spPr>
          <a:xfrm>
            <a:off x="12047805" y="6034875"/>
            <a:ext cx="0" cy="109725"/>
          </a:xfrm>
          <a:prstGeom prst="line">
            <a:avLst/>
          </a:prstGeom>
          <a:ln w="19019">
            <a:solidFill>
              <a:srgbClr val="BF3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circle 222"/>
          <p:cNvSpPr/>
          <p:nvPr/>
        </p:nvSpPr>
        <p:spPr>
          <a:xfrm>
            <a:off x="12018545" y="6115340"/>
            <a:ext cx="58520" cy="58520"/>
          </a:xfrm>
          <a:prstGeom prst="ellipse">
            <a:avLst/>
          </a:prstGeom>
          <a:solidFill>
            <a:srgbClr val="BF3335"/>
          </a:solidFill>
          <a:ln w="7315">
            <a:solidFill>
              <a:srgbClr val="BF3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 223"/>
          <p:cNvSpPr/>
          <p:nvPr/>
        </p:nvSpPr>
        <p:spPr>
          <a:xfrm>
            <a:off x="292600" y="6320160"/>
            <a:ext cx="12581800" cy="965580"/>
          </a:xfrm>
          <a:prstGeom prst="roundRect">
            <a:avLst>
              <a:gd name="adj" fmla="val 4545"/>
            </a:avLst>
          </a:prstGeom>
          <a:solidFill>
            <a:srgbClr val="EEEEEE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 224"/>
          <p:cNvSpPr/>
          <p:nvPr/>
        </p:nvSpPr>
        <p:spPr>
          <a:xfrm>
            <a:off x="292600" y="6320160"/>
            <a:ext cx="12581800" cy="351120"/>
          </a:xfrm>
          <a:prstGeom prst="roundRect">
            <a:avLst>
              <a:gd name="adj" fmla="val 12500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 225"/>
          <p:cNvSpPr/>
          <p:nvPr/>
        </p:nvSpPr>
        <p:spPr>
          <a:xfrm>
            <a:off x="301378" y="6517665"/>
            <a:ext cx="12564244" cy="146300"/>
          </a:xfrm>
          <a:prstGeom prst="rect">
            <a:avLst/>
          </a:prstGeom>
          <a:solidFill>
            <a:srgbClr val="A9C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line 226"/>
          <p:cNvCxnSpPr/>
          <p:nvPr/>
        </p:nvCxnSpPr>
        <p:spPr>
          <a:xfrm>
            <a:off x="292600" y="6671280"/>
            <a:ext cx="12581800" cy="0"/>
          </a:xfrm>
          <a:prstGeom prst="line">
            <a:avLst/>
          </a:prstGeom>
          <a:ln w="12435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(d) Runtime 传输窗口"/>
          <p:cNvSpPr txBox="1"/>
          <p:nvPr/>
        </p:nvSpPr>
        <p:spPr>
          <a:xfrm>
            <a:off x="438900" y="6323818"/>
            <a:ext cx="2153239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(d) Runtime 传输窗口</a:t>
            </a:r>
          </a:p>
        </p:txBody>
      </p:sp>
      <p:sp>
        <p:nvSpPr>
          <p:cNvPr id="229" name="ACK history"/>
          <p:cNvSpPr txBox="1"/>
          <p:nvPr/>
        </p:nvSpPr>
        <p:spPr>
          <a:xfrm>
            <a:off x="468160" y="6795635"/>
            <a:ext cx="1123910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ACK history</a:t>
            </a:r>
          </a:p>
        </p:txBody>
      </p:sp>
      <p:sp>
        <p:nvSpPr>
          <p:cNvPr id="230" name="rect 229"/>
          <p:cNvSpPr/>
          <p:nvPr/>
        </p:nvSpPr>
        <p:spPr>
          <a:xfrm>
            <a:off x="1770230" y="6985825"/>
            <a:ext cx="73150" cy="138985"/>
          </a:xfrm>
          <a:prstGeom prst="rect">
            <a:avLst/>
          </a:prstGeom>
          <a:solidFill>
            <a:srgbClr val="A9CEE8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 230"/>
          <p:cNvSpPr/>
          <p:nvPr/>
        </p:nvSpPr>
        <p:spPr>
          <a:xfrm>
            <a:off x="1879955" y="6912675"/>
            <a:ext cx="73150" cy="212135"/>
          </a:xfrm>
          <a:prstGeom prst="rect">
            <a:avLst/>
          </a:prstGeom>
          <a:solidFill>
            <a:srgbClr val="A9CEE8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 231"/>
          <p:cNvSpPr/>
          <p:nvPr/>
        </p:nvSpPr>
        <p:spPr>
          <a:xfrm>
            <a:off x="1989680" y="6956565"/>
            <a:ext cx="73150" cy="168245"/>
          </a:xfrm>
          <a:prstGeom prst="rect">
            <a:avLst/>
          </a:prstGeom>
          <a:solidFill>
            <a:srgbClr val="A9CEE8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 232"/>
          <p:cNvSpPr/>
          <p:nvPr/>
        </p:nvSpPr>
        <p:spPr>
          <a:xfrm>
            <a:off x="2099405" y="6839525"/>
            <a:ext cx="73150" cy="285285"/>
          </a:xfrm>
          <a:prstGeom prst="rect">
            <a:avLst/>
          </a:prstGeom>
          <a:solidFill>
            <a:srgbClr val="A9CEE8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path 233"/>
          <p:cNvCxnSpPr/>
          <p:nvPr/>
        </p:nvCxnSpPr>
        <p:spPr>
          <a:xfrm>
            <a:off x="2267650" y="6919990"/>
            <a:ext cx="351120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H"/>
          <p:cNvSpPr txBox="1"/>
          <p:nvPr/>
        </p:nvSpPr>
        <p:spPr>
          <a:xfrm>
            <a:off x="2823590" y="6784662"/>
            <a:ext cx="267398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H</a:t>
            </a:r>
          </a:p>
        </p:txBody>
      </p:sp>
      <p:sp>
        <p:nvSpPr>
          <p:cNvPr id="236" name=" = min("/>
          <p:cNvSpPr txBox="1"/>
          <p:nvPr/>
        </p:nvSpPr>
        <p:spPr>
          <a:xfrm>
            <a:off x="3003208" y="6784662"/>
            <a:ext cx="822137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 = min(</a:t>
            </a:r>
          </a:p>
        </p:txBody>
      </p:sp>
      <p:sp>
        <p:nvSpPr>
          <p:cNvPr id="237" name="L"/>
          <p:cNvSpPr txBox="1"/>
          <p:nvPr/>
        </p:nvSpPr>
        <p:spPr>
          <a:xfrm>
            <a:off x="3737565" y="6784662"/>
            <a:ext cx="226108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L</a:t>
            </a:r>
          </a:p>
        </p:txBody>
      </p:sp>
      <p:sp>
        <p:nvSpPr>
          <p:cNvPr id="238" name=", "/>
          <p:cNvSpPr txBox="1"/>
          <p:nvPr/>
        </p:nvSpPr>
        <p:spPr>
          <a:xfrm>
            <a:off x="3875893" y="6784662"/>
            <a:ext cx="212135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, </a:t>
            </a:r>
          </a:p>
        </p:txBody>
      </p:sp>
      <p:sp>
        <p:nvSpPr>
          <p:cNvPr id="239" name="S"/>
          <p:cNvSpPr txBox="1"/>
          <p:nvPr/>
        </p:nvSpPr>
        <p:spPr>
          <a:xfrm>
            <a:off x="4000248" y="6784662"/>
            <a:ext cx="212135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S</a:t>
            </a:r>
          </a:p>
        </p:txBody>
      </p:sp>
      <p:sp>
        <p:nvSpPr>
          <p:cNvPr id="240" name="90"/>
          <p:cNvSpPr txBox="1"/>
          <p:nvPr/>
        </p:nvSpPr>
        <p:spPr>
          <a:xfrm>
            <a:off x="4131918" y="6925476"/>
            <a:ext cx="248710" cy="2103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2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90</a:t>
            </a:r>
          </a:p>
        </p:txBody>
      </p:sp>
      <p:sp>
        <p:nvSpPr>
          <p:cNvPr id="241" name=" + "/>
          <p:cNvSpPr txBox="1"/>
          <p:nvPr/>
        </p:nvSpPr>
        <p:spPr>
          <a:xfrm>
            <a:off x="4300163" y="6784662"/>
            <a:ext cx="352406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 + </a:t>
            </a:r>
          </a:p>
        </p:txBody>
      </p:sp>
      <p:sp>
        <p:nvSpPr>
          <p:cNvPr id="242" name="Q"/>
          <p:cNvSpPr txBox="1"/>
          <p:nvPr/>
        </p:nvSpPr>
        <p:spPr>
          <a:xfrm>
            <a:off x="4564789" y="6784662"/>
            <a:ext cx="267398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Q</a:t>
            </a:r>
          </a:p>
        </p:txBody>
      </p:sp>
      <p:sp>
        <p:nvSpPr>
          <p:cNvPr id="243" name="90"/>
          <p:cNvSpPr txBox="1"/>
          <p:nvPr/>
        </p:nvSpPr>
        <p:spPr>
          <a:xfrm>
            <a:off x="4751721" y="6925476"/>
            <a:ext cx="248710" cy="2103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2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90</a:t>
            </a:r>
          </a:p>
        </p:txBody>
      </p:sp>
      <p:sp>
        <p:nvSpPr>
          <p:cNvPr id="244" name=" + "/>
          <p:cNvSpPr txBox="1"/>
          <p:nvPr/>
        </p:nvSpPr>
        <p:spPr>
          <a:xfrm>
            <a:off x="4919966" y="6784662"/>
            <a:ext cx="352406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 + </a:t>
            </a:r>
          </a:p>
        </p:txBody>
      </p:sp>
      <p:sp>
        <p:nvSpPr>
          <p:cNvPr id="245" name="Δ"/>
          <p:cNvSpPr txBox="1"/>
          <p:nvPr/>
        </p:nvSpPr>
        <p:spPr>
          <a:xfrm>
            <a:off x="5184592" y="6784662"/>
            <a:ext cx="233766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Δ</a:t>
            </a:r>
          </a:p>
        </p:txBody>
      </p:sp>
      <p:sp>
        <p:nvSpPr>
          <p:cNvPr id="246" name="obs"/>
          <p:cNvSpPr txBox="1"/>
          <p:nvPr/>
        </p:nvSpPr>
        <p:spPr>
          <a:xfrm>
            <a:off x="5337893" y="6925476"/>
            <a:ext cx="311345" cy="2103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2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obs</a:t>
            </a:r>
          </a:p>
        </p:txBody>
      </p:sp>
      <p:sp>
        <p:nvSpPr>
          <p:cNvPr id="247" name=" + "/>
          <p:cNvSpPr txBox="1"/>
          <p:nvPr/>
        </p:nvSpPr>
        <p:spPr>
          <a:xfrm>
            <a:off x="5568772" y="6784662"/>
            <a:ext cx="352406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 + </a:t>
            </a:r>
          </a:p>
        </p:txBody>
      </p:sp>
      <p:sp>
        <p:nvSpPr>
          <p:cNvPr id="248" name="ε"/>
          <p:cNvSpPr txBox="1"/>
          <p:nvPr/>
        </p:nvSpPr>
        <p:spPr>
          <a:xfrm>
            <a:off x="5833398" y="6784662"/>
            <a:ext cx="185790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ε</a:t>
            </a:r>
          </a:p>
        </p:txBody>
      </p:sp>
      <p:sp>
        <p:nvSpPr>
          <p:cNvPr id="249" name="early"/>
          <p:cNvSpPr txBox="1"/>
          <p:nvPr/>
        </p:nvSpPr>
        <p:spPr>
          <a:xfrm>
            <a:off x="5938723" y="6925476"/>
            <a:ext cx="409440" cy="2103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2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early</a:t>
            </a:r>
          </a:p>
        </p:txBody>
      </p:sp>
      <p:sp>
        <p:nvSpPr>
          <p:cNvPr id="250" name=")"/>
          <p:cNvSpPr txBox="1"/>
          <p:nvPr/>
        </p:nvSpPr>
        <p:spPr>
          <a:xfrm>
            <a:off x="6267698" y="6784662"/>
            <a:ext cx="170617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)</a:t>
            </a:r>
          </a:p>
        </p:txBody>
      </p:sp>
      <p:cxnSp>
        <p:nvCxnSpPr>
          <p:cNvPr id="251" name="path 250"/>
          <p:cNvCxnSpPr/>
          <p:nvPr/>
        </p:nvCxnSpPr>
        <p:spPr>
          <a:xfrm>
            <a:off x="7980665" y="6919990"/>
            <a:ext cx="563255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polygon 251"/>
          <p:cNvSpPr/>
          <p:nvPr/>
        </p:nvSpPr>
        <p:spPr>
          <a:xfrm>
            <a:off x="8580495" y="6656650"/>
            <a:ext cx="1594670" cy="526680"/>
          </a:xfrm>
          <a:custGeom>
            <a:avLst/>
            <a:gdLst/>
            <a:ahLst/>
            <a:cxnLst/>
            <a:rect l="l" t="t" r="r" b="b"/>
            <a:pathLst>
              <a:path w="218" h="72">
                <a:moveTo>
                  <a:pt x="109" y="0"/>
                </a:moveTo>
                <a:lnTo>
                  <a:pt x="218" y="36"/>
                </a:lnTo>
                <a:lnTo>
                  <a:pt x="109" y="72"/>
                </a:lnTo>
                <a:lnTo>
                  <a:pt x="0" y="36"/>
                </a:lnTo>
                <a:close/>
              </a:path>
            </a:pathLst>
          </a:custGeom>
          <a:solidFill>
            <a:srgbClr val="FFFFF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τ"/>
          <p:cNvSpPr txBox="1"/>
          <p:nvPr/>
        </p:nvSpPr>
        <p:spPr>
          <a:xfrm>
            <a:off x="9113090" y="6784662"/>
            <a:ext cx="176789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τ</a:t>
            </a:r>
          </a:p>
        </p:txBody>
      </p:sp>
      <p:sp>
        <p:nvSpPr>
          <p:cNvPr id="254" name=" ≤ "/>
          <p:cNvSpPr txBox="1"/>
          <p:nvPr/>
        </p:nvSpPr>
        <p:spPr>
          <a:xfrm>
            <a:off x="9202099" y="6784662"/>
            <a:ext cx="348634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 ≤ </a:t>
            </a:r>
          </a:p>
        </p:txBody>
      </p:sp>
      <p:sp>
        <p:nvSpPr>
          <p:cNvPr id="255" name="H"/>
          <p:cNvSpPr txBox="1"/>
          <p:nvPr/>
        </p:nvSpPr>
        <p:spPr>
          <a:xfrm>
            <a:off x="9462953" y="6784662"/>
            <a:ext cx="267398" cy="307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8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H</a:t>
            </a:r>
          </a:p>
        </p:txBody>
      </p:sp>
      <p:cxnSp>
        <p:nvCxnSpPr>
          <p:cNvPr id="256" name="path 255"/>
          <p:cNvCxnSpPr/>
          <p:nvPr/>
        </p:nvCxnSpPr>
        <p:spPr>
          <a:xfrm>
            <a:off x="10204425" y="6919990"/>
            <a:ext cx="1133825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rect 256"/>
          <p:cNvSpPr/>
          <p:nvPr/>
        </p:nvSpPr>
        <p:spPr>
          <a:xfrm>
            <a:off x="11462605" y="6766375"/>
            <a:ext cx="1206975" cy="424270"/>
          </a:xfrm>
          <a:prstGeom prst="roundRect">
            <a:avLst>
              <a:gd name="adj" fmla="val 5172"/>
            </a:avLst>
          </a:prstGeom>
          <a:solidFill>
            <a:srgbClr val="F5D460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H2D"/>
          <p:cNvSpPr txBox="1"/>
          <p:nvPr/>
        </p:nvSpPr>
        <p:spPr>
          <a:xfrm>
            <a:off x="11826212" y="6736018"/>
            <a:ext cx="479761" cy="3054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H2D</a:t>
            </a:r>
          </a:p>
        </p:txBody>
      </p:sp>
      <p:cxnSp>
        <p:nvCxnSpPr>
          <p:cNvPr id="259" name="path 258"/>
          <p:cNvCxnSpPr/>
          <p:nvPr/>
        </p:nvCxnSpPr>
        <p:spPr>
          <a:xfrm>
            <a:off x="11601590" y="7033665"/>
            <a:ext cx="929005" cy="0"/>
          </a:xfrm>
          <a:prstGeom prst="line">
            <a:avLst/>
          </a:prstGeom>
          <a:ln w="14630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path 259"/>
          <p:cNvCxnSpPr/>
          <p:nvPr/>
        </p:nvCxnSpPr>
        <p:spPr>
          <a:xfrm flipH="1">
            <a:off x="11601590" y="7114276"/>
            <a:ext cx="929005" cy="0"/>
          </a:xfrm>
          <a:prstGeom prst="line">
            <a:avLst/>
          </a:prstGeom>
          <a:ln w="14630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line 260"/>
          <p:cNvCxnSpPr/>
          <p:nvPr/>
        </p:nvCxnSpPr>
        <p:spPr>
          <a:xfrm>
            <a:off x="8485400" y="7527135"/>
            <a:ext cx="0" cy="1177715"/>
          </a:xfrm>
          <a:prstGeom prst="line">
            <a:avLst/>
          </a:prstGeom>
          <a:ln w="12435">
            <a:solidFill>
              <a:srgbClr val="96969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RETURN / TOOL_END"/>
          <p:cNvSpPr txBox="1"/>
          <p:nvPr/>
        </p:nvSpPr>
        <p:spPr>
          <a:xfrm>
            <a:off x="8573180" y="7309514"/>
            <a:ext cx="1745170" cy="265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7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RETURN / TOOL_END</a:t>
            </a:r>
          </a:p>
        </p:txBody>
      </p:sp>
      <p:cxnSp>
        <p:nvCxnSpPr>
          <p:cNvPr id="263" name="line 262"/>
          <p:cNvCxnSpPr/>
          <p:nvPr/>
        </p:nvCxnSpPr>
        <p:spPr>
          <a:xfrm>
            <a:off x="6583500" y="7519820"/>
            <a:ext cx="1872640" cy="0"/>
          </a:xfrm>
          <a:prstGeom prst="line">
            <a:avLst/>
          </a:prstGeom>
          <a:ln w="14630">
            <a:solidFill>
              <a:srgbClr val="BF3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line 263"/>
          <p:cNvCxnSpPr/>
          <p:nvPr/>
        </p:nvCxnSpPr>
        <p:spPr>
          <a:xfrm>
            <a:off x="6583500" y="7475930"/>
            <a:ext cx="0" cy="80465"/>
          </a:xfrm>
          <a:prstGeom prst="line">
            <a:avLst/>
          </a:prstGeom>
          <a:ln w="14630">
            <a:solidFill>
              <a:srgbClr val="BF3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Δ"/>
          <p:cNvSpPr txBox="1"/>
          <p:nvPr/>
        </p:nvSpPr>
        <p:spPr>
          <a:xfrm>
            <a:off x="7377092" y="7304028"/>
            <a:ext cx="205391" cy="234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spc="0">
                <a:solidFill>
                  <a:srgbClr val="BF3335"/>
                </a:solidFill>
                <a:latin typeface="Liberation Serif"/>
                <a:ea typeface="Liberation Serif"/>
              </a:rPr>
              <a:t>Δ</a:t>
            </a:r>
          </a:p>
        </p:txBody>
      </p:sp>
      <p:sp>
        <p:nvSpPr>
          <p:cNvPr id="266" name="t"/>
          <p:cNvSpPr txBox="1"/>
          <p:nvPr/>
        </p:nvSpPr>
        <p:spPr>
          <a:xfrm>
            <a:off x="7494703" y="7304028"/>
            <a:ext cx="138585" cy="234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1" lang="zh-CN" spc="0">
                <a:solidFill>
                  <a:srgbClr val="BF3335"/>
                </a:solidFill>
                <a:latin typeface="Liberation Serif"/>
                <a:ea typeface="Liberation Serif"/>
              </a:rPr>
              <a:t>t</a:t>
            </a:r>
          </a:p>
        </p:txBody>
      </p:sp>
      <p:sp>
        <p:nvSpPr>
          <p:cNvPr id="267" name="child / tool"/>
          <p:cNvSpPr txBox="1"/>
          <p:nvPr/>
        </p:nvSpPr>
        <p:spPr>
          <a:xfrm>
            <a:off x="475475" y="7561881"/>
            <a:ext cx="1084420" cy="3054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child / tool</a:t>
            </a:r>
          </a:p>
        </p:txBody>
      </p:sp>
      <p:cxnSp>
        <p:nvCxnSpPr>
          <p:cNvPr id="268" name="line 267"/>
          <p:cNvCxnSpPr/>
          <p:nvPr/>
        </p:nvCxnSpPr>
        <p:spPr>
          <a:xfrm>
            <a:off x="2633400" y="7724640"/>
            <a:ext cx="10241000" cy="0"/>
          </a:xfrm>
          <a:prstGeom prst="line">
            <a:avLst/>
          </a:prstGeom>
          <a:ln w="7315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预取"/>
          <p:cNvSpPr txBox="1"/>
          <p:nvPr/>
        </p:nvSpPr>
        <p:spPr>
          <a:xfrm>
            <a:off x="475475" y="7986151"/>
            <a:ext cx="468160" cy="3054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预取</a:t>
            </a:r>
          </a:p>
        </p:txBody>
      </p:sp>
      <p:cxnSp>
        <p:nvCxnSpPr>
          <p:cNvPr id="270" name="line 269"/>
          <p:cNvCxnSpPr/>
          <p:nvPr/>
        </p:nvCxnSpPr>
        <p:spPr>
          <a:xfrm>
            <a:off x="2633400" y="8148910"/>
            <a:ext cx="10241000" cy="0"/>
          </a:xfrm>
          <a:prstGeom prst="line">
            <a:avLst/>
          </a:prstGeom>
          <a:ln w="7315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响应式"/>
          <p:cNvSpPr txBox="1"/>
          <p:nvPr/>
        </p:nvSpPr>
        <p:spPr>
          <a:xfrm>
            <a:off x="475475" y="8410421"/>
            <a:ext cx="658350" cy="3054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响应式</a:t>
            </a:r>
          </a:p>
        </p:txBody>
      </p:sp>
      <p:cxnSp>
        <p:nvCxnSpPr>
          <p:cNvPr id="272" name="line 271"/>
          <p:cNvCxnSpPr/>
          <p:nvPr/>
        </p:nvCxnSpPr>
        <p:spPr>
          <a:xfrm>
            <a:off x="2633400" y="8573180"/>
            <a:ext cx="10241000" cy="0"/>
          </a:xfrm>
          <a:prstGeom prst="line">
            <a:avLst/>
          </a:prstGeom>
          <a:ln w="7315">
            <a:solidFill>
              <a:srgbClr val="A6A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rect 272"/>
          <p:cNvSpPr/>
          <p:nvPr/>
        </p:nvSpPr>
        <p:spPr>
          <a:xfrm>
            <a:off x="2633400" y="7600285"/>
            <a:ext cx="5852000" cy="248710"/>
          </a:xfrm>
          <a:prstGeom prst="roundRect">
            <a:avLst>
              <a:gd name="adj" fmla="val 2941"/>
            </a:avLst>
          </a:prstGeom>
          <a:solidFill>
            <a:srgbClr val="F2BD7D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decode / tool"/>
          <p:cNvSpPr txBox="1"/>
          <p:nvPr/>
        </p:nvSpPr>
        <p:spPr>
          <a:xfrm>
            <a:off x="4544615" y="7571025"/>
            <a:ext cx="1210290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decode / tool</a:t>
            </a:r>
          </a:p>
        </p:txBody>
      </p:sp>
      <p:sp>
        <p:nvSpPr>
          <p:cNvPr id="275" name="rect 274"/>
          <p:cNvSpPr/>
          <p:nvPr/>
        </p:nvSpPr>
        <p:spPr>
          <a:xfrm>
            <a:off x="6583500" y="8024555"/>
            <a:ext cx="2926000" cy="248710"/>
          </a:xfrm>
          <a:prstGeom prst="roundRect">
            <a:avLst>
              <a:gd name="adj" fmla="val 2941"/>
            </a:avLst>
          </a:prstGeom>
          <a:solidFill>
            <a:srgbClr val="F5D460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H2D"/>
          <p:cNvSpPr txBox="1"/>
          <p:nvPr/>
        </p:nvSpPr>
        <p:spPr>
          <a:xfrm>
            <a:off x="7676092" y="7995295"/>
            <a:ext cx="448215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H2D</a:t>
            </a:r>
          </a:p>
        </p:txBody>
      </p:sp>
      <p:sp>
        <p:nvSpPr>
          <p:cNvPr id="277" name="rect 276"/>
          <p:cNvSpPr/>
          <p:nvPr/>
        </p:nvSpPr>
        <p:spPr>
          <a:xfrm>
            <a:off x="9509500" y="8024555"/>
            <a:ext cx="1170400" cy="248710"/>
          </a:xfrm>
          <a:prstGeom prst="roundRect">
            <a:avLst>
              <a:gd name="adj" fmla="val 2941"/>
            </a:avLst>
          </a:prstGeom>
          <a:solidFill>
            <a:srgbClr val="DDDDDD"/>
          </a:solidFill>
          <a:ln w="9509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 277"/>
          <p:cNvSpPr/>
          <p:nvPr/>
        </p:nvSpPr>
        <p:spPr>
          <a:xfrm>
            <a:off x="10679900" y="8024555"/>
            <a:ext cx="2194500" cy="248710"/>
          </a:xfrm>
          <a:prstGeom prst="roundRect">
            <a:avLst>
              <a:gd name="adj" fmla="val 2941"/>
            </a:avLst>
          </a:prstGeom>
          <a:solidFill>
            <a:srgbClr val="A9CEE8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PU"/>
          <p:cNvSpPr txBox="1"/>
          <p:nvPr/>
        </p:nvSpPr>
        <p:spPr>
          <a:xfrm>
            <a:off x="11546456" y="7995295"/>
            <a:ext cx="461388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GPU</a:t>
            </a:r>
          </a:p>
        </p:txBody>
      </p:sp>
      <p:sp>
        <p:nvSpPr>
          <p:cNvPr id="280" name="ACK"/>
          <p:cNvSpPr txBox="1"/>
          <p:nvPr/>
        </p:nvSpPr>
        <p:spPr>
          <a:xfrm>
            <a:off x="9538760" y="7794132"/>
            <a:ext cx="37675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ACK</a:t>
            </a:r>
          </a:p>
        </p:txBody>
      </p:sp>
      <p:sp>
        <p:nvSpPr>
          <p:cNvPr id="281" name="首次复用"/>
          <p:cNvSpPr txBox="1"/>
          <p:nvPr/>
        </p:nvSpPr>
        <p:spPr>
          <a:xfrm>
            <a:off x="10731105" y="7794132"/>
            <a:ext cx="702240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首次复用</a:t>
            </a:r>
          </a:p>
        </p:txBody>
      </p:sp>
      <p:sp>
        <p:nvSpPr>
          <p:cNvPr id="282" name="rect 281"/>
          <p:cNvSpPr/>
          <p:nvPr/>
        </p:nvSpPr>
        <p:spPr>
          <a:xfrm>
            <a:off x="8485400" y="8448825"/>
            <a:ext cx="2926000" cy="248710"/>
          </a:xfrm>
          <a:prstGeom prst="roundRect">
            <a:avLst>
              <a:gd name="adj" fmla="val 2941"/>
            </a:avLst>
          </a:prstGeom>
          <a:solidFill>
            <a:srgbClr val="F5D460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H2D"/>
          <p:cNvSpPr txBox="1"/>
          <p:nvPr/>
        </p:nvSpPr>
        <p:spPr>
          <a:xfrm>
            <a:off x="9724292" y="8419565"/>
            <a:ext cx="448215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H2D</a:t>
            </a:r>
          </a:p>
        </p:txBody>
      </p:sp>
      <p:sp>
        <p:nvSpPr>
          <p:cNvPr id="284" name="rect 283"/>
          <p:cNvSpPr/>
          <p:nvPr/>
        </p:nvSpPr>
        <p:spPr>
          <a:xfrm>
            <a:off x="11411400" y="8448825"/>
            <a:ext cx="1463000" cy="248710"/>
          </a:xfrm>
          <a:prstGeom prst="roundRect">
            <a:avLst>
              <a:gd name="adj" fmla="val 2941"/>
            </a:avLst>
          </a:prstGeom>
          <a:solidFill>
            <a:srgbClr val="A9CEE8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PU"/>
          <p:cNvSpPr txBox="1"/>
          <p:nvPr/>
        </p:nvSpPr>
        <p:spPr>
          <a:xfrm>
            <a:off x="11912206" y="8419565"/>
            <a:ext cx="461388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GPU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工作流感知的 KV 生命周期与恢复感知准入"/>
          <p:cNvSpPr txBox="1"/>
          <p:nvPr/>
        </p:nvSpPr>
        <p:spPr>
          <a:xfrm>
            <a:off x="292600" y="58520"/>
            <a:ext cx="5159847" cy="4224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1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工作流感知的 KV 生命周期与恢复感知准入</a:t>
            </a:r>
          </a:p>
        </p:txBody>
      </p:sp>
      <p:sp>
        <p:nvSpPr>
          <p:cNvPr id="3" name="稳定 FULL 前缀 · checkpoint 状态 · 缺失页恢复 · child → parent 容量交接"/>
          <p:cNvSpPr txBox="1"/>
          <p:nvPr/>
        </p:nvSpPr>
        <p:spPr>
          <a:xfrm>
            <a:off x="292600" y="438900"/>
            <a:ext cx="6170574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 lang="zh-CN" spc="0">
                <a:solidFill>
                  <a:srgbClr val="535353"/>
                </a:solidFill>
                <a:latin typeface="Noto Sans CJK SC"/>
                <a:ea typeface="Noto Sans CJK SC"/>
              </a:rPr>
              <a:t>稳定 FULL 前缀 · checkpoint 状态 · 缺失页恢复 · child → parent 容量交接</a:t>
            </a:r>
          </a:p>
        </p:txBody>
      </p:sp>
      <p:cxnSp>
        <p:nvCxnSpPr>
          <p:cNvPr id="4" name="line 3"/>
          <p:cNvCxnSpPr/>
          <p:nvPr/>
        </p:nvCxnSpPr>
        <p:spPr>
          <a:xfrm>
            <a:off x="292600" y="790020"/>
            <a:ext cx="12581800" cy="0"/>
          </a:xfrm>
          <a:prstGeom prst="line">
            <a:avLst/>
          </a:prstGeom>
          <a:ln w="11704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 4"/>
          <p:cNvSpPr/>
          <p:nvPr/>
        </p:nvSpPr>
        <p:spPr>
          <a:xfrm>
            <a:off x="292600" y="965580"/>
            <a:ext cx="7607600" cy="2084775"/>
          </a:xfrm>
          <a:prstGeom prst="roundRect">
            <a:avLst>
              <a:gd name="adj" fmla="val 2105"/>
            </a:avLst>
          </a:prstGeom>
          <a:solidFill>
            <a:srgbClr val="EEEEEE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 5"/>
          <p:cNvSpPr/>
          <p:nvPr/>
        </p:nvSpPr>
        <p:spPr>
          <a:xfrm>
            <a:off x="292600" y="965580"/>
            <a:ext cx="7607600" cy="351120"/>
          </a:xfrm>
          <a:prstGeom prst="roundRect">
            <a:avLst>
              <a:gd name="adj" fmla="val 12500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 6"/>
          <p:cNvSpPr/>
          <p:nvPr/>
        </p:nvSpPr>
        <p:spPr>
          <a:xfrm>
            <a:off x="301378" y="1163085"/>
            <a:ext cx="7590044" cy="146300"/>
          </a:xfrm>
          <a:prstGeom prst="rect">
            <a:avLst/>
          </a:prstGeom>
          <a:solidFill>
            <a:srgbClr val="A9C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line 7"/>
          <p:cNvCxnSpPr/>
          <p:nvPr/>
        </p:nvCxnSpPr>
        <p:spPr>
          <a:xfrm>
            <a:off x="292600" y="1316700"/>
            <a:ext cx="7607600" cy="0"/>
          </a:xfrm>
          <a:prstGeom prst="line">
            <a:avLst/>
          </a:prstGeom>
          <a:ln w="12435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(a) 稳定 FULL：增量 PREPARE_HOST"/>
          <p:cNvSpPr txBox="1"/>
          <p:nvPr/>
        </p:nvSpPr>
        <p:spPr>
          <a:xfrm>
            <a:off x="438900" y="969238"/>
            <a:ext cx="3641413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(a) 稳定 FULL：增量 PREPARE_HOST</a:t>
            </a:r>
          </a:p>
        </p:txBody>
      </p:sp>
      <p:sp>
        <p:nvSpPr>
          <p:cNvPr id="10" name="HBM"/>
          <p:cNvSpPr txBox="1"/>
          <p:nvPr/>
        </p:nvSpPr>
        <p:spPr>
          <a:xfrm>
            <a:off x="497420" y="1547122"/>
            <a:ext cx="556997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HBM</a:t>
            </a:r>
          </a:p>
        </p:txBody>
      </p:sp>
      <p:sp>
        <p:nvSpPr>
          <p:cNvPr id="11" name="Host"/>
          <p:cNvSpPr txBox="1"/>
          <p:nvPr/>
        </p:nvSpPr>
        <p:spPr>
          <a:xfrm>
            <a:off x="497420" y="2154268"/>
            <a:ext cx="552911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Host</a:t>
            </a:r>
          </a:p>
        </p:txBody>
      </p:sp>
      <p:sp>
        <p:nvSpPr>
          <p:cNvPr id="12" name="rect 11"/>
          <p:cNvSpPr/>
          <p:nvPr/>
        </p:nvSpPr>
        <p:spPr>
          <a:xfrm>
            <a:off x="1558095" y="1558095"/>
            <a:ext cx="468160" cy="321860"/>
          </a:xfrm>
          <a:prstGeom prst="roundRect">
            <a:avLst>
              <a:gd name="adj" fmla="val 2272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0"/>
          <p:cNvSpPr txBox="1"/>
          <p:nvPr/>
        </p:nvSpPr>
        <p:spPr>
          <a:xfrm>
            <a:off x="1653504" y="1592037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p0</a:t>
            </a:r>
          </a:p>
        </p:txBody>
      </p:sp>
      <p:sp>
        <p:nvSpPr>
          <p:cNvPr id="14" name="rect 13"/>
          <p:cNvSpPr/>
          <p:nvPr/>
        </p:nvSpPr>
        <p:spPr>
          <a:xfrm>
            <a:off x="1558095" y="2165240"/>
            <a:ext cx="468160" cy="321860"/>
          </a:xfrm>
          <a:prstGeom prst="roundRect">
            <a:avLst>
              <a:gd name="adj" fmla="val 2272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0"/>
          <p:cNvSpPr txBox="1"/>
          <p:nvPr/>
        </p:nvSpPr>
        <p:spPr>
          <a:xfrm>
            <a:off x="1653504" y="2199182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p0</a:t>
            </a:r>
          </a:p>
        </p:txBody>
      </p:sp>
      <p:sp>
        <p:nvSpPr>
          <p:cNvPr id="16" name="rect 15"/>
          <p:cNvSpPr/>
          <p:nvPr/>
        </p:nvSpPr>
        <p:spPr>
          <a:xfrm>
            <a:off x="2187185" y="1558095"/>
            <a:ext cx="468160" cy="321860"/>
          </a:xfrm>
          <a:prstGeom prst="roundRect">
            <a:avLst>
              <a:gd name="adj" fmla="val 2272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1"/>
          <p:cNvSpPr txBox="1"/>
          <p:nvPr/>
        </p:nvSpPr>
        <p:spPr>
          <a:xfrm>
            <a:off x="2282594" y="1592037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p1</a:t>
            </a:r>
          </a:p>
        </p:txBody>
      </p:sp>
      <p:sp>
        <p:nvSpPr>
          <p:cNvPr id="18" name="rect 17"/>
          <p:cNvSpPr/>
          <p:nvPr/>
        </p:nvSpPr>
        <p:spPr>
          <a:xfrm>
            <a:off x="2187185" y="2165240"/>
            <a:ext cx="468160" cy="321860"/>
          </a:xfrm>
          <a:prstGeom prst="roundRect">
            <a:avLst>
              <a:gd name="adj" fmla="val 2272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1"/>
          <p:cNvSpPr txBox="1"/>
          <p:nvPr/>
        </p:nvSpPr>
        <p:spPr>
          <a:xfrm>
            <a:off x="2282594" y="2199182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p1</a:t>
            </a:r>
          </a:p>
        </p:txBody>
      </p:sp>
      <p:sp>
        <p:nvSpPr>
          <p:cNvPr id="20" name="rect 19"/>
          <p:cNvSpPr/>
          <p:nvPr/>
        </p:nvSpPr>
        <p:spPr>
          <a:xfrm>
            <a:off x="2816275" y="1558095"/>
            <a:ext cx="468160" cy="321860"/>
          </a:xfrm>
          <a:prstGeom prst="roundRect">
            <a:avLst>
              <a:gd name="adj" fmla="val 2272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2"/>
          <p:cNvSpPr txBox="1"/>
          <p:nvPr/>
        </p:nvSpPr>
        <p:spPr>
          <a:xfrm>
            <a:off x="2911684" y="1592037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p2</a:t>
            </a:r>
          </a:p>
        </p:txBody>
      </p:sp>
      <p:sp>
        <p:nvSpPr>
          <p:cNvPr id="22" name="rect 21"/>
          <p:cNvSpPr/>
          <p:nvPr/>
        </p:nvSpPr>
        <p:spPr>
          <a:xfrm>
            <a:off x="2816275" y="2165240"/>
            <a:ext cx="468160" cy="321860"/>
          </a:xfrm>
          <a:prstGeom prst="roundRect">
            <a:avLst>
              <a:gd name="adj" fmla="val 2272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2"/>
          <p:cNvSpPr txBox="1"/>
          <p:nvPr/>
        </p:nvSpPr>
        <p:spPr>
          <a:xfrm>
            <a:off x="2911684" y="2199182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p2</a:t>
            </a:r>
          </a:p>
        </p:txBody>
      </p:sp>
      <p:sp>
        <p:nvSpPr>
          <p:cNvPr id="24" name="rect 23"/>
          <p:cNvSpPr/>
          <p:nvPr/>
        </p:nvSpPr>
        <p:spPr>
          <a:xfrm>
            <a:off x="3445365" y="1558095"/>
            <a:ext cx="468160" cy="321860"/>
          </a:xfrm>
          <a:prstGeom prst="roundRect">
            <a:avLst>
              <a:gd name="adj" fmla="val 2272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3"/>
          <p:cNvSpPr txBox="1"/>
          <p:nvPr/>
        </p:nvSpPr>
        <p:spPr>
          <a:xfrm>
            <a:off x="3540774" y="1592037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p3</a:t>
            </a:r>
          </a:p>
        </p:txBody>
      </p:sp>
      <p:sp>
        <p:nvSpPr>
          <p:cNvPr id="26" name="rect 25"/>
          <p:cNvSpPr/>
          <p:nvPr/>
        </p:nvSpPr>
        <p:spPr>
          <a:xfrm>
            <a:off x="3445365" y="2165240"/>
            <a:ext cx="468160" cy="321860"/>
          </a:xfrm>
          <a:prstGeom prst="roundRect">
            <a:avLst>
              <a:gd name="adj" fmla="val 2272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3"/>
          <p:cNvSpPr txBox="1"/>
          <p:nvPr/>
        </p:nvSpPr>
        <p:spPr>
          <a:xfrm>
            <a:off x="3540774" y="2199182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p3</a:t>
            </a:r>
          </a:p>
        </p:txBody>
      </p:sp>
      <p:sp>
        <p:nvSpPr>
          <p:cNvPr id="28" name="rect 27"/>
          <p:cNvSpPr/>
          <p:nvPr/>
        </p:nvSpPr>
        <p:spPr>
          <a:xfrm>
            <a:off x="4074455" y="1558095"/>
            <a:ext cx="468160" cy="321860"/>
          </a:xfrm>
          <a:prstGeom prst="roundRect">
            <a:avLst>
              <a:gd name="adj" fmla="val 2272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4"/>
          <p:cNvSpPr txBox="1"/>
          <p:nvPr/>
        </p:nvSpPr>
        <p:spPr>
          <a:xfrm>
            <a:off x="4169864" y="1592037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p4</a:t>
            </a:r>
          </a:p>
        </p:txBody>
      </p:sp>
      <p:sp>
        <p:nvSpPr>
          <p:cNvPr id="30" name="rect 29"/>
          <p:cNvSpPr/>
          <p:nvPr/>
        </p:nvSpPr>
        <p:spPr>
          <a:xfrm>
            <a:off x="4074455" y="2165240"/>
            <a:ext cx="468160" cy="32186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3167">
            <a:solidFill>
              <a:srgbClr val="9696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4"/>
          <p:cNvSpPr txBox="1"/>
          <p:nvPr/>
        </p:nvSpPr>
        <p:spPr>
          <a:xfrm>
            <a:off x="4169864" y="2199182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p4</a:t>
            </a:r>
          </a:p>
        </p:txBody>
      </p:sp>
      <p:cxnSp>
        <p:nvCxnSpPr>
          <p:cNvPr id="32" name="path 31"/>
          <p:cNvCxnSpPr/>
          <p:nvPr/>
        </p:nvCxnSpPr>
        <p:spPr>
          <a:xfrm>
            <a:off x="4308535" y="1894585"/>
            <a:ext cx="0" cy="234080"/>
          </a:xfrm>
          <a:prstGeom prst="line">
            <a:avLst/>
          </a:prstGeom>
          <a:ln w="14630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 32"/>
          <p:cNvSpPr/>
          <p:nvPr/>
        </p:nvSpPr>
        <p:spPr>
          <a:xfrm>
            <a:off x="4703545" y="1558095"/>
            <a:ext cx="468160" cy="321860"/>
          </a:xfrm>
          <a:prstGeom prst="roundRect">
            <a:avLst>
              <a:gd name="adj" fmla="val 2272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5"/>
          <p:cNvSpPr txBox="1"/>
          <p:nvPr/>
        </p:nvSpPr>
        <p:spPr>
          <a:xfrm>
            <a:off x="4798954" y="1592037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p5</a:t>
            </a:r>
          </a:p>
        </p:txBody>
      </p:sp>
      <p:sp>
        <p:nvSpPr>
          <p:cNvPr id="35" name="rect 34"/>
          <p:cNvSpPr/>
          <p:nvPr/>
        </p:nvSpPr>
        <p:spPr>
          <a:xfrm>
            <a:off x="4703545" y="2165240"/>
            <a:ext cx="468160" cy="32186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3167">
            <a:solidFill>
              <a:srgbClr val="9696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5"/>
          <p:cNvSpPr txBox="1"/>
          <p:nvPr/>
        </p:nvSpPr>
        <p:spPr>
          <a:xfrm>
            <a:off x="4798954" y="2199182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p5</a:t>
            </a:r>
          </a:p>
        </p:txBody>
      </p:sp>
      <p:cxnSp>
        <p:nvCxnSpPr>
          <p:cNvPr id="37" name="path 36"/>
          <p:cNvCxnSpPr/>
          <p:nvPr/>
        </p:nvCxnSpPr>
        <p:spPr>
          <a:xfrm>
            <a:off x="4937625" y="1894585"/>
            <a:ext cx="0" cy="234080"/>
          </a:xfrm>
          <a:prstGeom prst="line">
            <a:avLst/>
          </a:prstGeom>
          <a:ln w="14630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 37"/>
          <p:cNvSpPr/>
          <p:nvPr/>
        </p:nvSpPr>
        <p:spPr>
          <a:xfrm>
            <a:off x="5332635" y="1558095"/>
            <a:ext cx="468160" cy="321860"/>
          </a:xfrm>
          <a:prstGeom prst="roundRect">
            <a:avLst>
              <a:gd name="adj" fmla="val 2272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6"/>
          <p:cNvSpPr txBox="1"/>
          <p:nvPr/>
        </p:nvSpPr>
        <p:spPr>
          <a:xfrm>
            <a:off x="5428044" y="1592037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p6</a:t>
            </a:r>
          </a:p>
        </p:txBody>
      </p:sp>
      <p:sp>
        <p:nvSpPr>
          <p:cNvPr id="40" name="rect 39"/>
          <p:cNvSpPr/>
          <p:nvPr/>
        </p:nvSpPr>
        <p:spPr>
          <a:xfrm>
            <a:off x="5332635" y="2165240"/>
            <a:ext cx="468160" cy="32186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3167">
            <a:solidFill>
              <a:srgbClr val="9696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6"/>
          <p:cNvSpPr txBox="1"/>
          <p:nvPr/>
        </p:nvSpPr>
        <p:spPr>
          <a:xfrm>
            <a:off x="5428044" y="2199182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p6</a:t>
            </a:r>
          </a:p>
        </p:txBody>
      </p:sp>
      <p:cxnSp>
        <p:nvCxnSpPr>
          <p:cNvPr id="42" name="path 41"/>
          <p:cNvCxnSpPr/>
          <p:nvPr/>
        </p:nvCxnSpPr>
        <p:spPr>
          <a:xfrm>
            <a:off x="5566715" y="1894585"/>
            <a:ext cx="0" cy="234080"/>
          </a:xfrm>
          <a:prstGeom prst="line">
            <a:avLst/>
          </a:prstGeom>
          <a:ln w="14630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 42"/>
          <p:cNvSpPr/>
          <p:nvPr/>
        </p:nvSpPr>
        <p:spPr>
          <a:xfrm>
            <a:off x="5961725" y="1558095"/>
            <a:ext cx="468160" cy="321860"/>
          </a:xfrm>
          <a:prstGeom prst="roundRect">
            <a:avLst>
              <a:gd name="adj" fmla="val 2272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7"/>
          <p:cNvSpPr txBox="1"/>
          <p:nvPr/>
        </p:nvSpPr>
        <p:spPr>
          <a:xfrm>
            <a:off x="6057134" y="1592037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p7</a:t>
            </a:r>
          </a:p>
        </p:txBody>
      </p:sp>
      <p:sp>
        <p:nvSpPr>
          <p:cNvPr id="45" name="rect 44"/>
          <p:cNvSpPr/>
          <p:nvPr/>
        </p:nvSpPr>
        <p:spPr>
          <a:xfrm>
            <a:off x="5961725" y="2165240"/>
            <a:ext cx="468160" cy="32186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3167">
            <a:solidFill>
              <a:srgbClr val="9696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7"/>
          <p:cNvSpPr txBox="1"/>
          <p:nvPr/>
        </p:nvSpPr>
        <p:spPr>
          <a:xfrm>
            <a:off x="6057134" y="2199182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p7</a:t>
            </a:r>
          </a:p>
        </p:txBody>
      </p:sp>
      <p:cxnSp>
        <p:nvCxnSpPr>
          <p:cNvPr id="47" name="path 46"/>
          <p:cNvCxnSpPr/>
          <p:nvPr/>
        </p:nvCxnSpPr>
        <p:spPr>
          <a:xfrm>
            <a:off x="6195805" y="1894585"/>
            <a:ext cx="0" cy="234080"/>
          </a:xfrm>
          <a:prstGeom prst="line">
            <a:avLst/>
          </a:prstGeom>
          <a:ln w="14630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ΔFULL"/>
          <p:cNvSpPr txBox="1"/>
          <p:nvPr/>
        </p:nvSpPr>
        <p:spPr>
          <a:xfrm>
            <a:off x="7080920" y="1914701"/>
            <a:ext cx="685581" cy="241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ΔFULL</a:t>
            </a:r>
          </a:p>
        </p:txBody>
      </p:sp>
      <p:sp>
        <p:nvSpPr>
          <p:cNvPr id="49" name="rect 48"/>
          <p:cNvSpPr/>
          <p:nvPr/>
        </p:nvSpPr>
        <p:spPr>
          <a:xfrm>
            <a:off x="658350" y="2648030"/>
            <a:ext cx="124355" cy="87780"/>
          </a:xfrm>
          <a:prstGeom prst="roundRect">
            <a:avLst>
              <a:gd name="adj" fmla="val 833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 49"/>
          <p:cNvSpPr/>
          <p:nvPr/>
        </p:nvSpPr>
        <p:spPr>
          <a:xfrm>
            <a:off x="819280" y="2648030"/>
            <a:ext cx="124355" cy="87780"/>
          </a:xfrm>
          <a:prstGeom prst="roundRect">
            <a:avLst>
              <a:gd name="adj" fmla="val 833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 50"/>
          <p:cNvSpPr/>
          <p:nvPr/>
        </p:nvSpPr>
        <p:spPr>
          <a:xfrm>
            <a:off x="980210" y="2648030"/>
            <a:ext cx="124355" cy="87780"/>
          </a:xfrm>
          <a:prstGeom prst="roundRect">
            <a:avLst>
              <a:gd name="adj" fmla="val 833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BM"/>
          <p:cNvSpPr txBox="1"/>
          <p:nvPr/>
        </p:nvSpPr>
        <p:spPr>
          <a:xfrm>
            <a:off x="1280125" y="2635229"/>
            <a:ext cx="441329" cy="265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7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HBM</a:t>
            </a:r>
          </a:p>
        </p:txBody>
      </p:sp>
      <p:sp>
        <p:nvSpPr>
          <p:cNvPr id="53" name="rect 52"/>
          <p:cNvSpPr/>
          <p:nvPr/>
        </p:nvSpPr>
        <p:spPr>
          <a:xfrm>
            <a:off x="3284435" y="2648030"/>
            <a:ext cx="124355" cy="87780"/>
          </a:xfrm>
          <a:prstGeom prst="roundRect">
            <a:avLst>
              <a:gd name="adj" fmla="val 833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 53"/>
          <p:cNvSpPr/>
          <p:nvPr/>
        </p:nvSpPr>
        <p:spPr>
          <a:xfrm>
            <a:off x="3445365" y="2648030"/>
            <a:ext cx="124355" cy="87780"/>
          </a:xfrm>
          <a:prstGeom prst="roundRect">
            <a:avLst>
              <a:gd name="adj" fmla="val 833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 54"/>
          <p:cNvSpPr/>
          <p:nvPr/>
        </p:nvSpPr>
        <p:spPr>
          <a:xfrm>
            <a:off x="3606295" y="2648030"/>
            <a:ext cx="124355" cy="87780"/>
          </a:xfrm>
          <a:prstGeom prst="roundRect">
            <a:avLst>
              <a:gd name="adj" fmla="val 833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 55"/>
          <p:cNvSpPr/>
          <p:nvPr/>
        </p:nvSpPr>
        <p:spPr>
          <a:xfrm>
            <a:off x="3284435" y="2757755"/>
            <a:ext cx="124355" cy="87780"/>
          </a:xfrm>
          <a:prstGeom prst="roundRect">
            <a:avLst>
              <a:gd name="adj" fmla="val 833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 56"/>
          <p:cNvSpPr/>
          <p:nvPr/>
        </p:nvSpPr>
        <p:spPr>
          <a:xfrm>
            <a:off x="3445365" y="2757755"/>
            <a:ext cx="124355" cy="87780"/>
          </a:xfrm>
          <a:prstGeom prst="roundRect">
            <a:avLst>
              <a:gd name="adj" fmla="val 833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 57"/>
          <p:cNvSpPr/>
          <p:nvPr/>
        </p:nvSpPr>
        <p:spPr>
          <a:xfrm>
            <a:off x="3606295" y="2757755"/>
            <a:ext cx="124355" cy="87780"/>
          </a:xfrm>
          <a:prstGeom prst="roundRect">
            <a:avLst>
              <a:gd name="adj" fmla="val 833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HBM + Host"/>
          <p:cNvSpPr txBox="1"/>
          <p:nvPr/>
        </p:nvSpPr>
        <p:spPr>
          <a:xfrm>
            <a:off x="3906210" y="2635229"/>
            <a:ext cx="949893" cy="265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7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HBM + Host</a:t>
            </a:r>
          </a:p>
        </p:txBody>
      </p:sp>
      <p:sp>
        <p:nvSpPr>
          <p:cNvPr id="60" name="rect 59"/>
          <p:cNvSpPr/>
          <p:nvPr/>
        </p:nvSpPr>
        <p:spPr>
          <a:xfrm>
            <a:off x="6144600" y="2648030"/>
            <a:ext cx="124355" cy="87780"/>
          </a:xfrm>
          <a:prstGeom prst="roundRect">
            <a:avLst>
              <a:gd name="adj" fmla="val 833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 60"/>
          <p:cNvSpPr/>
          <p:nvPr/>
        </p:nvSpPr>
        <p:spPr>
          <a:xfrm>
            <a:off x="6305530" y="2648030"/>
            <a:ext cx="124355" cy="87780"/>
          </a:xfrm>
          <a:prstGeom prst="roundRect">
            <a:avLst>
              <a:gd name="adj" fmla="val 833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 61"/>
          <p:cNvSpPr/>
          <p:nvPr/>
        </p:nvSpPr>
        <p:spPr>
          <a:xfrm>
            <a:off x="6466460" y="2648030"/>
            <a:ext cx="124355" cy="87780"/>
          </a:xfrm>
          <a:prstGeom prst="roundRect">
            <a:avLst>
              <a:gd name="adj" fmla="val 8333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Host-only"/>
          <p:cNvSpPr txBox="1"/>
          <p:nvPr/>
        </p:nvSpPr>
        <p:spPr>
          <a:xfrm>
            <a:off x="6766375" y="2635229"/>
            <a:ext cx="811308" cy="265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7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Host-only</a:t>
            </a:r>
          </a:p>
        </p:txBody>
      </p:sp>
      <p:cxnSp>
        <p:nvCxnSpPr>
          <p:cNvPr id="64" name="path 63"/>
          <p:cNvCxnSpPr/>
          <p:nvPr/>
        </p:nvCxnSpPr>
        <p:spPr>
          <a:xfrm>
            <a:off x="1953105" y="2765070"/>
            <a:ext cx="1250865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prepare"/>
          <p:cNvSpPr txBox="1"/>
          <p:nvPr/>
        </p:nvSpPr>
        <p:spPr>
          <a:xfrm>
            <a:off x="2245705" y="2485271"/>
            <a:ext cx="621632" cy="243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prepare</a:t>
            </a:r>
          </a:p>
        </p:txBody>
      </p:sp>
      <p:cxnSp>
        <p:nvCxnSpPr>
          <p:cNvPr id="66" name="path 65"/>
          <p:cNvCxnSpPr/>
          <p:nvPr/>
        </p:nvCxnSpPr>
        <p:spPr>
          <a:xfrm>
            <a:off x="5149760" y="2765070"/>
            <a:ext cx="899745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真实压力"/>
          <p:cNvSpPr txBox="1"/>
          <p:nvPr/>
        </p:nvSpPr>
        <p:spPr>
          <a:xfrm>
            <a:off x="5252170" y="2485271"/>
            <a:ext cx="672980" cy="243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真实压力</a:t>
            </a:r>
          </a:p>
        </p:txBody>
      </p:sp>
      <p:sp>
        <p:nvSpPr>
          <p:cNvPr id="68" name="rect 67"/>
          <p:cNvSpPr/>
          <p:nvPr/>
        </p:nvSpPr>
        <p:spPr>
          <a:xfrm>
            <a:off x="8192800" y="965580"/>
            <a:ext cx="4681600" cy="2084775"/>
          </a:xfrm>
          <a:prstGeom prst="roundRect">
            <a:avLst>
              <a:gd name="adj" fmla="val 2105"/>
            </a:avLst>
          </a:prstGeom>
          <a:solidFill>
            <a:srgbClr val="EEEEEE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 68"/>
          <p:cNvSpPr/>
          <p:nvPr/>
        </p:nvSpPr>
        <p:spPr>
          <a:xfrm>
            <a:off x="8192800" y="965580"/>
            <a:ext cx="4681600" cy="351120"/>
          </a:xfrm>
          <a:prstGeom prst="roundRect">
            <a:avLst>
              <a:gd name="adj" fmla="val 12500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 69"/>
          <p:cNvSpPr/>
          <p:nvPr/>
        </p:nvSpPr>
        <p:spPr>
          <a:xfrm>
            <a:off x="8201578" y="1163085"/>
            <a:ext cx="4664044" cy="146300"/>
          </a:xfrm>
          <a:prstGeom prst="rect">
            <a:avLst/>
          </a:prstGeom>
          <a:solidFill>
            <a:srgbClr val="A9C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line 70"/>
          <p:cNvCxnSpPr/>
          <p:nvPr/>
        </p:nvCxnSpPr>
        <p:spPr>
          <a:xfrm>
            <a:off x="8192800" y="1316700"/>
            <a:ext cx="4681600" cy="0"/>
          </a:xfrm>
          <a:prstGeom prst="line">
            <a:avLst/>
          </a:prstGeom>
          <a:ln w="12435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(b) 必要 Mamba 状态"/>
          <p:cNvSpPr txBox="1"/>
          <p:nvPr/>
        </p:nvSpPr>
        <p:spPr>
          <a:xfrm>
            <a:off x="8339100" y="969238"/>
            <a:ext cx="2076574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(b) 必要 Mamba 状态</a:t>
            </a:r>
          </a:p>
        </p:txBody>
      </p:sp>
      <p:sp>
        <p:nvSpPr>
          <p:cNvPr id="73" name="rect 72"/>
          <p:cNvSpPr/>
          <p:nvPr/>
        </p:nvSpPr>
        <p:spPr>
          <a:xfrm>
            <a:off x="8496226" y="1581210"/>
            <a:ext cx="473866" cy="353900"/>
          </a:xfrm>
          <a:prstGeom prst="roundRect">
            <a:avLst>
              <a:gd name="adj" fmla="val 2066"/>
            </a:avLst>
          </a:prstGeom>
          <a:solidFill>
            <a:srgbClr val="DDDDDD"/>
          </a:solidFill>
          <a:ln w="10972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 73"/>
          <p:cNvSpPr/>
          <p:nvPr/>
        </p:nvSpPr>
        <p:spPr>
          <a:xfrm>
            <a:off x="8454238" y="1617200"/>
            <a:ext cx="473866" cy="353900"/>
          </a:xfrm>
          <a:prstGeom prst="roundRect">
            <a:avLst>
              <a:gd name="adj" fmla="val 2066"/>
            </a:avLst>
          </a:prstGeom>
          <a:solidFill>
            <a:srgbClr val="DDDDDD"/>
          </a:solidFill>
          <a:ln w="10972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 74"/>
          <p:cNvSpPr/>
          <p:nvPr/>
        </p:nvSpPr>
        <p:spPr>
          <a:xfrm>
            <a:off x="8412250" y="1653190"/>
            <a:ext cx="473866" cy="353900"/>
          </a:xfrm>
          <a:prstGeom prst="roundRect">
            <a:avLst>
              <a:gd name="adj" fmla="val 2066"/>
            </a:avLst>
          </a:prstGeom>
          <a:solidFill>
            <a:srgbClr val="DDDDDD"/>
          </a:solidFill>
          <a:ln w="10972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 75"/>
          <p:cNvSpPr/>
          <p:nvPr/>
        </p:nvSpPr>
        <p:spPr>
          <a:xfrm>
            <a:off x="8472233" y="1713173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 76"/>
          <p:cNvSpPr/>
          <p:nvPr/>
        </p:nvSpPr>
        <p:spPr>
          <a:xfrm>
            <a:off x="8604196" y="1713173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 77"/>
          <p:cNvSpPr/>
          <p:nvPr/>
        </p:nvSpPr>
        <p:spPr>
          <a:xfrm>
            <a:off x="8736158" y="1713173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 78"/>
          <p:cNvSpPr/>
          <p:nvPr/>
        </p:nvSpPr>
        <p:spPr>
          <a:xfrm>
            <a:off x="8472233" y="1845136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 79"/>
          <p:cNvSpPr/>
          <p:nvPr/>
        </p:nvSpPr>
        <p:spPr>
          <a:xfrm>
            <a:off x="8604196" y="1845136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 80"/>
          <p:cNvSpPr/>
          <p:nvPr/>
        </p:nvSpPr>
        <p:spPr>
          <a:xfrm>
            <a:off x="8736158" y="1845136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"/>
          <p:cNvSpPr txBox="1"/>
          <p:nvPr/>
        </p:nvSpPr>
        <p:spPr>
          <a:xfrm>
            <a:off x="8575280" y="2042714"/>
            <a:ext cx="173188" cy="272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7" b="0" i="1" lang="zh-CN" spc="0">
                <a:solidFill>
                  <a:srgbClr val="969696"/>
                </a:solidFill>
                <a:latin typeface="Liberation Serif"/>
                <a:ea typeface="Liberation Serif"/>
              </a:rPr>
              <a:t>s</a:t>
            </a:r>
          </a:p>
        </p:txBody>
      </p:sp>
      <p:sp>
        <p:nvSpPr>
          <p:cNvPr id="83" name="0"/>
          <p:cNvSpPr txBox="1"/>
          <p:nvPr/>
        </p:nvSpPr>
        <p:spPr>
          <a:xfrm>
            <a:off x="8668004" y="2165240"/>
            <a:ext cx="159101" cy="188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 lang="zh-CN" spc="0">
                <a:solidFill>
                  <a:srgbClr val="969696"/>
                </a:solidFill>
                <a:latin typeface="Liberation Serif"/>
                <a:ea typeface="Liberation Serif"/>
              </a:rPr>
              <a:t>0</a:t>
            </a:r>
          </a:p>
        </p:txBody>
      </p:sp>
      <p:sp>
        <p:nvSpPr>
          <p:cNvPr id="84" name="rect 83"/>
          <p:cNvSpPr/>
          <p:nvPr/>
        </p:nvSpPr>
        <p:spPr>
          <a:xfrm>
            <a:off x="9886076" y="1581210"/>
            <a:ext cx="473866" cy="353900"/>
          </a:xfrm>
          <a:prstGeom prst="roundRect">
            <a:avLst>
              <a:gd name="adj" fmla="val 2066"/>
            </a:avLst>
          </a:prstGeom>
          <a:solidFill>
            <a:srgbClr val="DDDDDD"/>
          </a:solidFill>
          <a:ln w="10972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 84"/>
          <p:cNvSpPr/>
          <p:nvPr/>
        </p:nvSpPr>
        <p:spPr>
          <a:xfrm>
            <a:off x="9844088" y="1617200"/>
            <a:ext cx="473866" cy="353900"/>
          </a:xfrm>
          <a:prstGeom prst="roundRect">
            <a:avLst>
              <a:gd name="adj" fmla="val 2066"/>
            </a:avLst>
          </a:prstGeom>
          <a:solidFill>
            <a:srgbClr val="DDDDDD"/>
          </a:solidFill>
          <a:ln w="10972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 85"/>
          <p:cNvSpPr/>
          <p:nvPr/>
        </p:nvSpPr>
        <p:spPr>
          <a:xfrm>
            <a:off x="9802100" y="1653190"/>
            <a:ext cx="473866" cy="353900"/>
          </a:xfrm>
          <a:prstGeom prst="roundRect">
            <a:avLst>
              <a:gd name="adj" fmla="val 2066"/>
            </a:avLst>
          </a:prstGeom>
          <a:solidFill>
            <a:srgbClr val="DDDDDD"/>
          </a:solidFill>
          <a:ln w="10972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 86"/>
          <p:cNvSpPr/>
          <p:nvPr/>
        </p:nvSpPr>
        <p:spPr>
          <a:xfrm>
            <a:off x="9862083" y="1713173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 87"/>
          <p:cNvSpPr/>
          <p:nvPr/>
        </p:nvSpPr>
        <p:spPr>
          <a:xfrm>
            <a:off x="9994046" y="1713173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 88"/>
          <p:cNvSpPr/>
          <p:nvPr/>
        </p:nvSpPr>
        <p:spPr>
          <a:xfrm>
            <a:off x="10126008" y="1713173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 89"/>
          <p:cNvSpPr/>
          <p:nvPr/>
        </p:nvSpPr>
        <p:spPr>
          <a:xfrm>
            <a:off x="9862083" y="1845136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 90"/>
          <p:cNvSpPr/>
          <p:nvPr/>
        </p:nvSpPr>
        <p:spPr>
          <a:xfrm>
            <a:off x="9994046" y="1845136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 91"/>
          <p:cNvSpPr/>
          <p:nvPr/>
        </p:nvSpPr>
        <p:spPr>
          <a:xfrm>
            <a:off x="10126008" y="1845136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"/>
          <p:cNvSpPr txBox="1"/>
          <p:nvPr/>
        </p:nvSpPr>
        <p:spPr>
          <a:xfrm>
            <a:off x="9965130" y="2042714"/>
            <a:ext cx="173188" cy="272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7" b="0" i="1" lang="zh-CN" spc="0">
                <a:solidFill>
                  <a:srgbClr val="969696"/>
                </a:solidFill>
                <a:latin typeface="Liberation Serif"/>
                <a:ea typeface="Liberation Serif"/>
              </a:rPr>
              <a:t>s</a:t>
            </a:r>
          </a:p>
        </p:txBody>
      </p:sp>
      <p:sp>
        <p:nvSpPr>
          <p:cNvPr id="94" name="1"/>
          <p:cNvSpPr txBox="1"/>
          <p:nvPr/>
        </p:nvSpPr>
        <p:spPr>
          <a:xfrm>
            <a:off x="10057854" y="2165240"/>
            <a:ext cx="159101" cy="188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 lang="zh-CN" spc="0">
                <a:solidFill>
                  <a:srgbClr val="969696"/>
                </a:solidFill>
                <a:latin typeface="Liberation Serif"/>
                <a:ea typeface="Liberation Serif"/>
              </a:rPr>
              <a:t>1</a:t>
            </a:r>
          </a:p>
        </p:txBody>
      </p:sp>
      <p:sp>
        <p:nvSpPr>
          <p:cNvPr id="95" name="rect 94"/>
          <p:cNvSpPr/>
          <p:nvPr/>
        </p:nvSpPr>
        <p:spPr>
          <a:xfrm>
            <a:off x="11466116" y="1581210"/>
            <a:ext cx="473866" cy="353900"/>
          </a:xfrm>
          <a:prstGeom prst="roundRect">
            <a:avLst>
              <a:gd name="adj" fmla="val 2066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 95"/>
          <p:cNvSpPr/>
          <p:nvPr/>
        </p:nvSpPr>
        <p:spPr>
          <a:xfrm>
            <a:off x="11424128" y="1617200"/>
            <a:ext cx="473866" cy="353900"/>
          </a:xfrm>
          <a:prstGeom prst="roundRect">
            <a:avLst>
              <a:gd name="adj" fmla="val 2066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 96"/>
          <p:cNvSpPr/>
          <p:nvPr/>
        </p:nvSpPr>
        <p:spPr>
          <a:xfrm>
            <a:off x="11382140" y="1653190"/>
            <a:ext cx="473866" cy="353900"/>
          </a:xfrm>
          <a:prstGeom prst="roundRect">
            <a:avLst>
              <a:gd name="adj" fmla="val 2066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 97"/>
          <p:cNvSpPr/>
          <p:nvPr/>
        </p:nvSpPr>
        <p:spPr>
          <a:xfrm>
            <a:off x="11442123" y="1713173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 98"/>
          <p:cNvSpPr/>
          <p:nvPr/>
        </p:nvSpPr>
        <p:spPr>
          <a:xfrm>
            <a:off x="11574086" y="1713173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 99"/>
          <p:cNvSpPr/>
          <p:nvPr/>
        </p:nvSpPr>
        <p:spPr>
          <a:xfrm>
            <a:off x="11706048" y="1713173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 100"/>
          <p:cNvSpPr/>
          <p:nvPr/>
        </p:nvSpPr>
        <p:spPr>
          <a:xfrm>
            <a:off x="11442123" y="1845136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 101"/>
          <p:cNvSpPr/>
          <p:nvPr/>
        </p:nvSpPr>
        <p:spPr>
          <a:xfrm>
            <a:off x="11574086" y="1845136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 102"/>
          <p:cNvSpPr/>
          <p:nvPr/>
        </p:nvSpPr>
        <p:spPr>
          <a:xfrm>
            <a:off x="11706048" y="1845136"/>
            <a:ext cx="89974" cy="83976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"/>
          <p:cNvSpPr txBox="1"/>
          <p:nvPr/>
        </p:nvSpPr>
        <p:spPr>
          <a:xfrm>
            <a:off x="11545170" y="2042714"/>
            <a:ext cx="173188" cy="272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7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s</a:t>
            </a:r>
          </a:p>
        </p:txBody>
      </p:sp>
      <p:sp>
        <p:nvSpPr>
          <p:cNvPr id="105" name="*"/>
          <p:cNvSpPr txBox="1"/>
          <p:nvPr/>
        </p:nvSpPr>
        <p:spPr>
          <a:xfrm>
            <a:off x="11637894" y="1996263"/>
            <a:ext cx="159101" cy="188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*</a:t>
            </a:r>
          </a:p>
        </p:txBody>
      </p:sp>
      <p:cxnSp>
        <p:nvCxnSpPr>
          <p:cNvPr id="106" name="path 105"/>
          <p:cNvCxnSpPr/>
          <p:nvPr/>
        </p:nvCxnSpPr>
        <p:spPr>
          <a:xfrm>
            <a:off x="9019395" y="1821435"/>
            <a:ext cx="665665" cy="0"/>
          </a:xfrm>
          <a:prstGeom prst="line">
            <a:avLst/>
          </a:prstGeom>
          <a:ln w="14630">
            <a:solidFill>
              <a:srgbClr val="969696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path 106"/>
          <p:cNvCxnSpPr/>
          <p:nvPr/>
        </p:nvCxnSpPr>
        <p:spPr>
          <a:xfrm>
            <a:off x="10416560" y="1821435"/>
            <a:ext cx="855855" cy="0"/>
          </a:xfrm>
          <a:prstGeom prst="line">
            <a:avLst/>
          </a:prstGeom>
          <a:ln w="14630">
            <a:solidFill>
              <a:srgbClr val="969696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decode"/>
          <p:cNvSpPr txBox="1"/>
          <p:nvPr/>
        </p:nvSpPr>
        <p:spPr>
          <a:xfrm>
            <a:off x="10438505" y="1422768"/>
            <a:ext cx="616203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535353"/>
                </a:solidFill>
                <a:latin typeface="Noto Sans CJK SC"/>
                <a:ea typeface="Noto Sans CJK SC"/>
              </a:rPr>
              <a:t>decode</a:t>
            </a:r>
          </a:p>
        </p:txBody>
      </p:sp>
      <p:sp>
        <p:nvSpPr>
          <p:cNvPr id="109" name="c"/>
          <p:cNvSpPr txBox="1"/>
          <p:nvPr/>
        </p:nvSpPr>
        <p:spPr>
          <a:xfrm>
            <a:off x="12316346" y="1669649"/>
            <a:ext cx="191676" cy="2907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3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c</a:t>
            </a:r>
          </a:p>
        </p:txBody>
      </p:sp>
      <p:sp>
        <p:nvSpPr>
          <p:cNvPr id="110" name="*"/>
          <p:cNvSpPr txBox="1"/>
          <p:nvPr/>
        </p:nvSpPr>
        <p:spPr>
          <a:xfrm>
            <a:off x="12427556" y="1622906"/>
            <a:ext cx="163673" cy="1975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8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*</a:t>
            </a:r>
          </a:p>
        </p:txBody>
      </p:sp>
      <p:cxnSp>
        <p:nvCxnSpPr>
          <p:cNvPr id="111" name="line 110"/>
          <p:cNvCxnSpPr/>
          <p:nvPr/>
        </p:nvCxnSpPr>
        <p:spPr>
          <a:xfrm>
            <a:off x="11996600" y="1828750"/>
            <a:ext cx="204820" cy="0"/>
          </a:xfrm>
          <a:prstGeom prst="line">
            <a:avLst/>
          </a:prstGeom>
          <a:ln w="11704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PREPARE"/>
          <p:cNvSpPr txBox="1"/>
          <p:nvPr/>
        </p:nvSpPr>
        <p:spPr>
          <a:xfrm>
            <a:off x="8397620" y="2589510"/>
            <a:ext cx="836710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 lang="zh-CN" spc="0">
                <a:solidFill>
                  <a:srgbClr val="535353"/>
                </a:solidFill>
                <a:latin typeface="Noto Sans CJK SC"/>
                <a:ea typeface="Noto Sans CJK SC"/>
              </a:rPr>
              <a:t>PREPARE</a:t>
            </a:r>
          </a:p>
        </p:txBody>
      </p:sp>
      <p:cxnSp>
        <p:nvCxnSpPr>
          <p:cNvPr id="113" name="line 112"/>
          <p:cNvCxnSpPr/>
          <p:nvPr/>
        </p:nvCxnSpPr>
        <p:spPr>
          <a:xfrm>
            <a:off x="9509500" y="2611455"/>
            <a:ext cx="175560" cy="175560"/>
          </a:xfrm>
          <a:prstGeom prst="line">
            <a:avLst/>
          </a:prstGeom>
          <a:ln w="20482">
            <a:solidFill>
              <a:srgbClr val="BF3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line 113"/>
          <p:cNvCxnSpPr/>
          <p:nvPr/>
        </p:nvCxnSpPr>
        <p:spPr>
          <a:xfrm flipV="1">
            <a:off x="9509500" y="2611455"/>
            <a:ext cx="175560" cy="175560"/>
          </a:xfrm>
          <a:prstGeom prst="line">
            <a:avLst/>
          </a:prstGeom>
          <a:ln w="20482">
            <a:solidFill>
              <a:srgbClr val="BF3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 114"/>
          <p:cNvSpPr/>
          <p:nvPr/>
        </p:nvSpPr>
        <p:spPr>
          <a:xfrm>
            <a:off x="11443586" y="2536842"/>
            <a:ext cx="346731" cy="258951"/>
          </a:xfrm>
          <a:prstGeom prst="roundRect">
            <a:avLst>
              <a:gd name="adj" fmla="val 2824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 115"/>
          <p:cNvSpPr/>
          <p:nvPr/>
        </p:nvSpPr>
        <p:spPr>
          <a:xfrm>
            <a:off x="11412863" y="2563176"/>
            <a:ext cx="346731" cy="258951"/>
          </a:xfrm>
          <a:prstGeom prst="roundRect">
            <a:avLst>
              <a:gd name="adj" fmla="val 2824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 116"/>
          <p:cNvSpPr/>
          <p:nvPr/>
        </p:nvSpPr>
        <p:spPr>
          <a:xfrm>
            <a:off x="11382140" y="2589510"/>
            <a:ext cx="346731" cy="258951"/>
          </a:xfrm>
          <a:prstGeom prst="roundRect">
            <a:avLst>
              <a:gd name="adj" fmla="val 2824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 117"/>
          <p:cNvSpPr/>
          <p:nvPr/>
        </p:nvSpPr>
        <p:spPr>
          <a:xfrm>
            <a:off x="11426030" y="2633400"/>
            <a:ext cx="65835" cy="61446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 118"/>
          <p:cNvSpPr/>
          <p:nvPr/>
        </p:nvSpPr>
        <p:spPr>
          <a:xfrm>
            <a:off x="11522588" y="2633400"/>
            <a:ext cx="65835" cy="61446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 119"/>
          <p:cNvSpPr/>
          <p:nvPr/>
        </p:nvSpPr>
        <p:spPr>
          <a:xfrm>
            <a:off x="11619146" y="2633400"/>
            <a:ext cx="65835" cy="61446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 120"/>
          <p:cNvSpPr/>
          <p:nvPr/>
        </p:nvSpPr>
        <p:spPr>
          <a:xfrm>
            <a:off x="11426030" y="2729958"/>
            <a:ext cx="65835" cy="61446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 121"/>
          <p:cNvSpPr/>
          <p:nvPr/>
        </p:nvSpPr>
        <p:spPr>
          <a:xfrm>
            <a:off x="11522588" y="2729958"/>
            <a:ext cx="65835" cy="61446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 122"/>
          <p:cNvSpPr/>
          <p:nvPr/>
        </p:nvSpPr>
        <p:spPr>
          <a:xfrm>
            <a:off x="11619146" y="2729958"/>
            <a:ext cx="65835" cy="61446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Host"/>
          <p:cNvSpPr txBox="1"/>
          <p:nvPr/>
        </p:nvSpPr>
        <p:spPr>
          <a:xfrm>
            <a:off x="10241000" y="2655345"/>
            <a:ext cx="503078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Host</a:t>
            </a:r>
          </a:p>
        </p:txBody>
      </p:sp>
      <p:cxnSp>
        <p:nvCxnSpPr>
          <p:cNvPr id="125" name="path 124"/>
          <p:cNvCxnSpPr/>
          <p:nvPr/>
        </p:nvCxnSpPr>
        <p:spPr>
          <a:xfrm flipV="1">
            <a:off x="11557700" y="2318855"/>
            <a:ext cx="0" cy="182875"/>
          </a:xfrm>
          <a:prstGeom prst="line">
            <a:avLst/>
          </a:prstGeom>
          <a:ln w="14630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H2D"/>
          <p:cNvSpPr txBox="1"/>
          <p:nvPr/>
        </p:nvSpPr>
        <p:spPr>
          <a:xfrm>
            <a:off x="11945395" y="2481614"/>
            <a:ext cx="404982" cy="265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7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H2D</a:t>
            </a:r>
          </a:p>
        </p:txBody>
      </p:sp>
      <p:sp>
        <p:nvSpPr>
          <p:cNvPr id="127" name="rect 126"/>
          <p:cNvSpPr/>
          <p:nvPr/>
        </p:nvSpPr>
        <p:spPr>
          <a:xfrm>
            <a:off x="292600" y="3357585"/>
            <a:ext cx="12581800" cy="2384690"/>
          </a:xfrm>
          <a:prstGeom prst="roundRect">
            <a:avLst>
              <a:gd name="adj" fmla="val 1840"/>
            </a:avLst>
          </a:prstGeom>
          <a:solidFill>
            <a:srgbClr val="EEEEEE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 127"/>
          <p:cNvSpPr/>
          <p:nvPr/>
        </p:nvSpPr>
        <p:spPr>
          <a:xfrm>
            <a:off x="292600" y="3357585"/>
            <a:ext cx="12581800" cy="351120"/>
          </a:xfrm>
          <a:prstGeom prst="roundRect">
            <a:avLst>
              <a:gd name="adj" fmla="val 12500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 128"/>
          <p:cNvSpPr/>
          <p:nvPr/>
        </p:nvSpPr>
        <p:spPr>
          <a:xfrm>
            <a:off x="301378" y="3555090"/>
            <a:ext cx="12564244" cy="146300"/>
          </a:xfrm>
          <a:prstGeom prst="rect">
            <a:avLst/>
          </a:prstGeom>
          <a:solidFill>
            <a:srgbClr val="A9C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line 129"/>
          <p:cNvCxnSpPr/>
          <p:nvPr/>
        </p:nvCxnSpPr>
        <p:spPr>
          <a:xfrm>
            <a:off x="292600" y="3708705"/>
            <a:ext cx="12581800" cy="0"/>
          </a:xfrm>
          <a:prstGeom prst="line">
            <a:avLst/>
          </a:prstGeom>
          <a:ln w="12435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(c) 安全输入 checkpoint → 缺失页 → 原生逐层流水线"/>
          <p:cNvSpPr txBox="1"/>
          <p:nvPr/>
        </p:nvSpPr>
        <p:spPr>
          <a:xfrm>
            <a:off x="438900" y="3361242"/>
            <a:ext cx="5036292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(c) 安全输入 checkpoint → 缺失页 → 原生逐层流水线</a:t>
            </a:r>
          </a:p>
        </p:txBody>
      </p:sp>
      <p:sp>
        <p:nvSpPr>
          <p:cNvPr id="132" name="原生前缀树"/>
          <p:cNvSpPr txBox="1"/>
          <p:nvPr/>
        </p:nvSpPr>
        <p:spPr>
          <a:xfrm>
            <a:off x="490105" y="3818430"/>
            <a:ext cx="965580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原生前缀树</a:t>
            </a:r>
          </a:p>
        </p:txBody>
      </p:sp>
      <p:sp>
        <p:nvSpPr>
          <p:cNvPr id="133" name="rect 132"/>
          <p:cNvSpPr/>
          <p:nvPr/>
        </p:nvSpPr>
        <p:spPr>
          <a:xfrm>
            <a:off x="592515" y="4425575"/>
            <a:ext cx="409640" cy="314545"/>
          </a:xfrm>
          <a:prstGeom prst="roundRect">
            <a:avLst>
              <a:gd name="adj" fmla="val 2325"/>
            </a:avLst>
          </a:pr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p0"/>
          <p:cNvSpPr txBox="1"/>
          <p:nvPr/>
        </p:nvSpPr>
        <p:spPr>
          <a:xfrm>
            <a:off x="658664" y="4455859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p0</a:t>
            </a:r>
          </a:p>
        </p:txBody>
      </p:sp>
      <p:sp>
        <p:nvSpPr>
          <p:cNvPr id="135" name="rect 134"/>
          <p:cNvSpPr/>
          <p:nvPr/>
        </p:nvSpPr>
        <p:spPr>
          <a:xfrm>
            <a:off x="1594670" y="4132975"/>
            <a:ext cx="409640" cy="314545"/>
          </a:xfrm>
          <a:prstGeom prst="roundRect">
            <a:avLst>
              <a:gd name="adj" fmla="val 2325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p1"/>
          <p:cNvSpPr txBox="1"/>
          <p:nvPr/>
        </p:nvSpPr>
        <p:spPr>
          <a:xfrm>
            <a:off x="1660819" y="4163259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p1</a:t>
            </a:r>
          </a:p>
        </p:txBody>
      </p:sp>
      <p:sp>
        <p:nvSpPr>
          <p:cNvPr id="137" name="rect 136"/>
          <p:cNvSpPr/>
          <p:nvPr/>
        </p:nvSpPr>
        <p:spPr>
          <a:xfrm>
            <a:off x="2560250" y="4425575"/>
            <a:ext cx="409640" cy="314545"/>
          </a:xfrm>
          <a:prstGeom prst="roundRect">
            <a:avLst>
              <a:gd name="adj" fmla="val 2325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p5"/>
          <p:cNvSpPr txBox="1"/>
          <p:nvPr/>
        </p:nvSpPr>
        <p:spPr>
          <a:xfrm>
            <a:off x="2626399" y="4455859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p5</a:t>
            </a:r>
          </a:p>
        </p:txBody>
      </p:sp>
      <p:sp>
        <p:nvSpPr>
          <p:cNvPr id="139" name="rect 138"/>
          <p:cNvSpPr/>
          <p:nvPr/>
        </p:nvSpPr>
        <p:spPr>
          <a:xfrm>
            <a:off x="1594670" y="4988830"/>
            <a:ext cx="409640" cy="314545"/>
          </a:xfrm>
          <a:prstGeom prst="roundRect">
            <a:avLst>
              <a:gd name="adj" fmla="val 2325"/>
            </a:avLst>
          </a:prstGeom>
          <a:solidFill>
            <a:srgbClr val="DDDDDD"/>
          </a:solidFill>
          <a:ln w="13167">
            <a:solidFill>
              <a:srgbClr val="18181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"/>
          <p:cNvSpPr txBox="1"/>
          <p:nvPr/>
        </p:nvSpPr>
        <p:spPr>
          <a:xfrm>
            <a:off x="1709753" y="5019114"/>
            <a:ext cx="179475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g</a:t>
            </a:r>
          </a:p>
        </p:txBody>
      </p:sp>
      <p:cxnSp>
        <p:nvCxnSpPr>
          <p:cNvPr id="141" name="path 140"/>
          <p:cNvCxnSpPr/>
          <p:nvPr/>
        </p:nvCxnSpPr>
        <p:spPr>
          <a:xfrm flipV="1">
            <a:off x="1009470" y="4315850"/>
            <a:ext cx="563255" cy="226765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path 141"/>
          <p:cNvCxnSpPr/>
          <p:nvPr/>
        </p:nvCxnSpPr>
        <p:spPr>
          <a:xfrm>
            <a:off x="2011625" y="4315850"/>
            <a:ext cx="526680" cy="21945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path 142"/>
          <p:cNvCxnSpPr/>
          <p:nvPr/>
        </p:nvCxnSpPr>
        <p:spPr>
          <a:xfrm>
            <a:off x="958265" y="4747435"/>
            <a:ext cx="629090" cy="351120"/>
          </a:xfrm>
          <a:prstGeom prst="line">
            <a:avLst/>
          </a:prstGeom>
          <a:ln w="19019">
            <a:solidFill>
              <a:srgbClr val="969696"/>
            </a:solidFill>
            <a:prstDash val="dash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line 143"/>
          <p:cNvCxnSpPr/>
          <p:nvPr/>
        </p:nvCxnSpPr>
        <p:spPr>
          <a:xfrm>
            <a:off x="2084775" y="5061980"/>
            <a:ext cx="146300" cy="146300"/>
          </a:xfrm>
          <a:prstGeom prst="line">
            <a:avLst/>
          </a:prstGeom>
          <a:ln w="20482">
            <a:solidFill>
              <a:srgbClr val="9696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line 144"/>
          <p:cNvCxnSpPr/>
          <p:nvPr/>
        </p:nvCxnSpPr>
        <p:spPr>
          <a:xfrm flipV="1">
            <a:off x="2084775" y="5061980"/>
            <a:ext cx="146300" cy="146300"/>
          </a:xfrm>
          <a:prstGeom prst="line">
            <a:avLst/>
          </a:prstGeom>
          <a:ln w="20482">
            <a:solidFill>
              <a:srgbClr val="9696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path 145"/>
          <p:cNvSpPr/>
          <p:nvPr/>
        </p:nvSpPr>
        <p:spPr>
          <a:xfrm>
            <a:off x="680295" y="4798640"/>
            <a:ext cx="65835" cy="51205"/>
          </a:xfrm>
          <a:custGeom>
            <a:avLst/>
            <a:gdLst/>
            <a:ahLst/>
            <a:cxnLst/>
            <a:rect l="l" t="t" r="r" b="b"/>
            <a:pathLst>
              <a:path w="9" h="7">
                <a:moveTo>
                  <a:pt x="0" y="7"/>
                </a:moveTo>
                <a:lnTo>
                  <a:pt x="0" y="0"/>
                </a:lnTo>
                <a:lnTo>
                  <a:pt x="9" y="0"/>
                </a:lnTo>
                <a:lnTo>
                  <a:pt x="9" y="7"/>
                </a:lnTo>
              </a:path>
            </a:pathLst>
          </a:custGeom>
          <a:noFill/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 146"/>
          <p:cNvSpPr/>
          <p:nvPr/>
        </p:nvSpPr>
        <p:spPr>
          <a:xfrm>
            <a:off x="658350" y="4853137"/>
            <a:ext cx="114114" cy="9509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circle 147"/>
          <p:cNvSpPr/>
          <p:nvPr/>
        </p:nvSpPr>
        <p:spPr>
          <a:xfrm>
            <a:off x="705898" y="4881665"/>
            <a:ext cx="19019" cy="19019"/>
          </a:xfrm>
          <a:prstGeom prst="ellipse">
            <a:avLst/>
          </a:prstGeom>
          <a:solidFill>
            <a:srgbClr val="181818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c"/>
          <p:cNvSpPr txBox="1"/>
          <p:nvPr/>
        </p:nvSpPr>
        <p:spPr>
          <a:xfrm>
            <a:off x="2663089" y="4098229"/>
            <a:ext cx="188418" cy="2816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c</a:t>
            </a:r>
          </a:p>
        </p:txBody>
      </p:sp>
      <p:sp>
        <p:nvSpPr>
          <p:cNvPr id="150" name="*"/>
          <p:cNvSpPr txBox="1"/>
          <p:nvPr/>
        </p:nvSpPr>
        <p:spPr>
          <a:xfrm>
            <a:off x="2771042" y="4049803"/>
            <a:ext cx="161844" cy="195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*</a:t>
            </a:r>
          </a:p>
        </p:txBody>
      </p:sp>
      <p:sp>
        <p:nvSpPr>
          <p:cNvPr id="151" name="session / epoch"/>
          <p:cNvSpPr txBox="1"/>
          <p:nvPr/>
        </p:nvSpPr>
        <p:spPr>
          <a:xfrm>
            <a:off x="490105" y="5319834"/>
            <a:ext cx="1296841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 lang="zh-CN" spc="0">
                <a:solidFill>
                  <a:srgbClr val="535353"/>
                </a:solidFill>
                <a:latin typeface="Noto Sans CJK SC"/>
                <a:ea typeface="Noto Sans CJK SC"/>
              </a:rPr>
              <a:t>session / epoch</a:t>
            </a:r>
          </a:p>
        </p:txBody>
      </p:sp>
      <p:cxnSp>
        <p:nvCxnSpPr>
          <p:cNvPr id="152" name="path 151"/>
          <p:cNvCxnSpPr/>
          <p:nvPr/>
        </p:nvCxnSpPr>
        <p:spPr>
          <a:xfrm>
            <a:off x="2991835" y="4571875"/>
            <a:ext cx="621775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Host"/>
          <p:cNvSpPr txBox="1"/>
          <p:nvPr/>
        </p:nvSpPr>
        <p:spPr>
          <a:xfrm>
            <a:off x="3737965" y="3955586"/>
            <a:ext cx="519736" cy="3054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Host</a:t>
            </a:r>
          </a:p>
        </p:txBody>
      </p:sp>
      <p:sp>
        <p:nvSpPr>
          <p:cNvPr id="154" name="HBM"/>
          <p:cNvSpPr txBox="1"/>
          <p:nvPr/>
        </p:nvSpPr>
        <p:spPr>
          <a:xfrm>
            <a:off x="3737965" y="4562731"/>
            <a:ext cx="523537" cy="3054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HBM</a:t>
            </a:r>
          </a:p>
        </p:txBody>
      </p:sp>
      <p:sp>
        <p:nvSpPr>
          <p:cNvPr id="155" name="rect 154"/>
          <p:cNvSpPr/>
          <p:nvPr/>
        </p:nvSpPr>
        <p:spPr>
          <a:xfrm>
            <a:off x="4571875" y="3972045"/>
            <a:ext cx="373065" cy="307230"/>
          </a:xfrm>
          <a:prstGeom prst="roundRect">
            <a:avLst>
              <a:gd name="adj" fmla="val 2380"/>
            </a:avLst>
          </a:pr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p0"/>
          <p:cNvSpPr txBox="1"/>
          <p:nvPr/>
        </p:nvSpPr>
        <p:spPr>
          <a:xfrm>
            <a:off x="4619737" y="3998672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p0</a:t>
            </a:r>
          </a:p>
        </p:txBody>
      </p:sp>
      <p:sp>
        <p:nvSpPr>
          <p:cNvPr id="157" name="rect 156"/>
          <p:cNvSpPr/>
          <p:nvPr/>
        </p:nvSpPr>
        <p:spPr>
          <a:xfrm>
            <a:off x="4571875" y="4579190"/>
            <a:ext cx="373065" cy="307230"/>
          </a:xfrm>
          <a:prstGeom prst="roundRect">
            <a:avLst>
              <a:gd name="adj" fmla="val 2380"/>
            </a:avLst>
          </a:pr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p0"/>
          <p:cNvSpPr txBox="1"/>
          <p:nvPr/>
        </p:nvSpPr>
        <p:spPr>
          <a:xfrm>
            <a:off x="4619737" y="4605817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p0</a:t>
            </a:r>
          </a:p>
        </p:txBody>
      </p:sp>
      <p:sp>
        <p:nvSpPr>
          <p:cNvPr id="159" name="rect 158"/>
          <p:cNvSpPr/>
          <p:nvPr/>
        </p:nvSpPr>
        <p:spPr>
          <a:xfrm>
            <a:off x="5032720" y="3972045"/>
            <a:ext cx="373065" cy="307230"/>
          </a:xfrm>
          <a:prstGeom prst="roundRect">
            <a:avLst>
              <a:gd name="adj" fmla="val 2380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p1"/>
          <p:cNvSpPr txBox="1"/>
          <p:nvPr/>
        </p:nvSpPr>
        <p:spPr>
          <a:xfrm>
            <a:off x="5080582" y="3998672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p1</a:t>
            </a:r>
          </a:p>
        </p:txBody>
      </p:sp>
      <p:sp>
        <p:nvSpPr>
          <p:cNvPr id="161" name="rect 160"/>
          <p:cNvSpPr/>
          <p:nvPr/>
        </p:nvSpPr>
        <p:spPr>
          <a:xfrm>
            <a:off x="5032720" y="4579190"/>
            <a:ext cx="373065" cy="307230"/>
          </a:xfrm>
          <a:prstGeom prst="roundRect">
            <a:avLst>
              <a:gd name="adj" fmla="val 2380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p1"/>
          <p:cNvSpPr txBox="1"/>
          <p:nvPr/>
        </p:nvSpPr>
        <p:spPr>
          <a:xfrm>
            <a:off x="5080582" y="4605817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p1</a:t>
            </a:r>
          </a:p>
        </p:txBody>
      </p:sp>
      <p:sp>
        <p:nvSpPr>
          <p:cNvPr id="163" name="rect 162"/>
          <p:cNvSpPr/>
          <p:nvPr/>
        </p:nvSpPr>
        <p:spPr>
          <a:xfrm>
            <a:off x="5493565" y="3972045"/>
            <a:ext cx="373065" cy="307230"/>
          </a:xfrm>
          <a:prstGeom prst="roundRect">
            <a:avLst>
              <a:gd name="adj" fmla="val 2380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p2"/>
          <p:cNvSpPr txBox="1"/>
          <p:nvPr/>
        </p:nvSpPr>
        <p:spPr>
          <a:xfrm>
            <a:off x="5541427" y="3998672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p2</a:t>
            </a:r>
          </a:p>
        </p:txBody>
      </p:sp>
      <p:sp>
        <p:nvSpPr>
          <p:cNvPr id="165" name="rect 164"/>
          <p:cNvSpPr/>
          <p:nvPr/>
        </p:nvSpPr>
        <p:spPr>
          <a:xfrm>
            <a:off x="5493565" y="4579190"/>
            <a:ext cx="373065" cy="307230"/>
          </a:xfrm>
          <a:prstGeom prst="roundRect">
            <a:avLst>
              <a:gd name="adj" fmla="val 2380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p2"/>
          <p:cNvSpPr txBox="1"/>
          <p:nvPr/>
        </p:nvSpPr>
        <p:spPr>
          <a:xfrm>
            <a:off x="5541427" y="4605817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p2</a:t>
            </a:r>
          </a:p>
        </p:txBody>
      </p:sp>
      <p:cxnSp>
        <p:nvCxnSpPr>
          <p:cNvPr id="167" name="path 166"/>
          <p:cNvCxnSpPr/>
          <p:nvPr/>
        </p:nvCxnSpPr>
        <p:spPr>
          <a:xfrm>
            <a:off x="5676440" y="4308535"/>
            <a:ext cx="0" cy="226765"/>
          </a:xfrm>
          <a:prstGeom prst="line">
            <a:avLst/>
          </a:prstGeom>
          <a:ln w="14630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rect 167"/>
          <p:cNvSpPr/>
          <p:nvPr/>
        </p:nvSpPr>
        <p:spPr>
          <a:xfrm>
            <a:off x="5954410" y="3972045"/>
            <a:ext cx="373065" cy="307230"/>
          </a:xfrm>
          <a:prstGeom prst="roundRect">
            <a:avLst>
              <a:gd name="adj" fmla="val 2380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p3"/>
          <p:cNvSpPr txBox="1"/>
          <p:nvPr/>
        </p:nvSpPr>
        <p:spPr>
          <a:xfrm>
            <a:off x="6002272" y="3998672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p3</a:t>
            </a:r>
          </a:p>
        </p:txBody>
      </p:sp>
      <p:sp>
        <p:nvSpPr>
          <p:cNvPr id="170" name="rect 169"/>
          <p:cNvSpPr/>
          <p:nvPr/>
        </p:nvSpPr>
        <p:spPr>
          <a:xfrm>
            <a:off x="5954410" y="4579190"/>
            <a:ext cx="373065" cy="307230"/>
          </a:xfrm>
          <a:prstGeom prst="roundRect">
            <a:avLst>
              <a:gd name="adj" fmla="val 2380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p3"/>
          <p:cNvSpPr txBox="1"/>
          <p:nvPr/>
        </p:nvSpPr>
        <p:spPr>
          <a:xfrm>
            <a:off x="6002272" y="4605817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p3</a:t>
            </a:r>
          </a:p>
        </p:txBody>
      </p:sp>
      <p:cxnSp>
        <p:nvCxnSpPr>
          <p:cNvPr id="172" name="path 171"/>
          <p:cNvCxnSpPr/>
          <p:nvPr/>
        </p:nvCxnSpPr>
        <p:spPr>
          <a:xfrm>
            <a:off x="6137285" y="4308535"/>
            <a:ext cx="0" cy="226765"/>
          </a:xfrm>
          <a:prstGeom prst="line">
            <a:avLst/>
          </a:prstGeom>
          <a:ln w="14630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 172"/>
          <p:cNvSpPr/>
          <p:nvPr/>
        </p:nvSpPr>
        <p:spPr>
          <a:xfrm>
            <a:off x="6415255" y="3972045"/>
            <a:ext cx="373065" cy="307230"/>
          </a:xfrm>
          <a:prstGeom prst="roundRect">
            <a:avLst>
              <a:gd name="adj" fmla="val 2380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p4"/>
          <p:cNvSpPr txBox="1"/>
          <p:nvPr/>
        </p:nvSpPr>
        <p:spPr>
          <a:xfrm>
            <a:off x="6463117" y="3998672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p4</a:t>
            </a:r>
          </a:p>
        </p:txBody>
      </p:sp>
      <p:sp>
        <p:nvSpPr>
          <p:cNvPr id="175" name="rect 174"/>
          <p:cNvSpPr/>
          <p:nvPr/>
        </p:nvSpPr>
        <p:spPr>
          <a:xfrm>
            <a:off x="6415255" y="4579190"/>
            <a:ext cx="373065" cy="30723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3167">
            <a:solidFill>
              <a:srgbClr val="9696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p4"/>
          <p:cNvSpPr txBox="1"/>
          <p:nvPr/>
        </p:nvSpPr>
        <p:spPr>
          <a:xfrm>
            <a:off x="6463117" y="4605817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p4</a:t>
            </a:r>
          </a:p>
        </p:txBody>
      </p:sp>
      <p:sp>
        <p:nvSpPr>
          <p:cNvPr id="177" name="rect 176"/>
          <p:cNvSpPr/>
          <p:nvPr/>
        </p:nvSpPr>
        <p:spPr>
          <a:xfrm>
            <a:off x="6876100" y="3972045"/>
            <a:ext cx="373065" cy="307230"/>
          </a:xfrm>
          <a:prstGeom prst="roundRect">
            <a:avLst>
              <a:gd name="adj" fmla="val 2380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p5"/>
          <p:cNvSpPr txBox="1"/>
          <p:nvPr/>
        </p:nvSpPr>
        <p:spPr>
          <a:xfrm>
            <a:off x="6923962" y="3998672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p5</a:t>
            </a:r>
          </a:p>
        </p:txBody>
      </p:sp>
      <p:sp>
        <p:nvSpPr>
          <p:cNvPr id="179" name="rect 178"/>
          <p:cNvSpPr/>
          <p:nvPr/>
        </p:nvSpPr>
        <p:spPr>
          <a:xfrm>
            <a:off x="6876100" y="4579190"/>
            <a:ext cx="373065" cy="30723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3167">
            <a:solidFill>
              <a:srgbClr val="9696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p5"/>
          <p:cNvSpPr txBox="1"/>
          <p:nvPr/>
        </p:nvSpPr>
        <p:spPr>
          <a:xfrm>
            <a:off x="6923962" y="4605817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p5</a:t>
            </a:r>
          </a:p>
        </p:txBody>
      </p:sp>
      <p:cxnSp>
        <p:nvCxnSpPr>
          <p:cNvPr id="181" name="line 180"/>
          <p:cNvCxnSpPr/>
          <p:nvPr/>
        </p:nvCxnSpPr>
        <p:spPr>
          <a:xfrm>
            <a:off x="4571875" y="4988830"/>
            <a:ext cx="833910" cy="0"/>
          </a:xfrm>
          <a:prstGeom prst="line">
            <a:avLst/>
          </a:prstGeom>
          <a:ln w="11704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line 181"/>
          <p:cNvCxnSpPr/>
          <p:nvPr/>
        </p:nvCxnSpPr>
        <p:spPr>
          <a:xfrm>
            <a:off x="5493565" y="4988830"/>
            <a:ext cx="833910" cy="0"/>
          </a:xfrm>
          <a:prstGeom prst="line">
            <a:avLst/>
          </a:prstGeom>
          <a:ln w="17556">
            <a:solidFill>
              <a:srgbClr val="BF3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已驻留"/>
          <p:cNvSpPr txBox="1"/>
          <p:nvPr/>
        </p:nvSpPr>
        <p:spPr>
          <a:xfrm>
            <a:off x="4601135" y="5060151"/>
            <a:ext cx="526680" cy="243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已驻留</a:t>
            </a:r>
          </a:p>
        </p:txBody>
      </p:sp>
      <p:sp>
        <p:nvSpPr>
          <p:cNvPr id="184" name="本次恢复"/>
          <p:cNvSpPr txBox="1"/>
          <p:nvPr/>
        </p:nvSpPr>
        <p:spPr>
          <a:xfrm>
            <a:off x="5508195" y="5060151"/>
            <a:ext cx="672980" cy="243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spc="0">
                <a:solidFill>
                  <a:srgbClr val="BF3335"/>
                </a:solidFill>
                <a:latin typeface="Noto Sans CJK SC"/>
                <a:ea typeface="Noto Sans CJK SC"/>
              </a:rPr>
              <a:t>本次恢复</a:t>
            </a:r>
          </a:p>
        </p:txBody>
      </p:sp>
      <p:sp>
        <p:nvSpPr>
          <p:cNvPr id="185" name="延后"/>
          <p:cNvSpPr txBox="1"/>
          <p:nvPr/>
        </p:nvSpPr>
        <p:spPr>
          <a:xfrm>
            <a:off x="6488405" y="5060151"/>
            <a:ext cx="380380" cy="243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spc="0">
                <a:solidFill>
                  <a:srgbClr val="535353"/>
                </a:solidFill>
                <a:latin typeface="Noto Sans CJK SC"/>
                <a:ea typeface="Noto Sans CJK SC"/>
              </a:rPr>
              <a:t>延后</a:t>
            </a:r>
          </a:p>
        </p:txBody>
      </p:sp>
      <p:sp>
        <p:nvSpPr>
          <p:cNvPr id="186" name="B"/>
          <p:cNvSpPr txBox="1"/>
          <p:nvPr/>
        </p:nvSpPr>
        <p:spPr>
          <a:xfrm>
            <a:off x="3745280" y="5356409"/>
            <a:ext cx="226308" cy="2816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B</a:t>
            </a:r>
          </a:p>
        </p:txBody>
      </p:sp>
      <p:sp>
        <p:nvSpPr>
          <p:cNvPr id="187" name=" ≤ "/>
          <p:cNvSpPr txBox="1"/>
          <p:nvPr/>
        </p:nvSpPr>
        <p:spPr>
          <a:xfrm>
            <a:off x="3883808" y="5356409"/>
            <a:ext cx="325632" cy="2816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 ≤ </a:t>
            </a:r>
          </a:p>
        </p:txBody>
      </p:sp>
      <p:sp>
        <p:nvSpPr>
          <p:cNvPr id="188" name="C"/>
          <p:cNvSpPr txBox="1"/>
          <p:nvPr/>
        </p:nvSpPr>
        <p:spPr>
          <a:xfrm>
            <a:off x="4121660" y="5356409"/>
            <a:ext cx="239023" cy="2816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C</a:t>
            </a:r>
          </a:p>
        </p:txBody>
      </p:sp>
      <p:sp>
        <p:nvSpPr>
          <p:cNvPr id="189" name="free"/>
          <p:cNvSpPr txBox="1"/>
          <p:nvPr/>
        </p:nvSpPr>
        <p:spPr>
          <a:xfrm>
            <a:off x="4280218" y="5482592"/>
            <a:ext cx="317917" cy="195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free</a:t>
            </a:r>
          </a:p>
        </p:txBody>
      </p:sp>
      <p:sp>
        <p:nvSpPr>
          <p:cNvPr id="190" name=" + "/>
          <p:cNvSpPr txBox="1"/>
          <p:nvPr/>
        </p:nvSpPr>
        <p:spPr>
          <a:xfrm>
            <a:off x="4517670" y="5356409"/>
            <a:ext cx="329061" cy="2816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 + </a:t>
            </a:r>
          </a:p>
        </p:txBody>
      </p:sp>
      <p:sp>
        <p:nvSpPr>
          <p:cNvPr id="191" name="C"/>
          <p:cNvSpPr txBox="1"/>
          <p:nvPr/>
        </p:nvSpPr>
        <p:spPr>
          <a:xfrm>
            <a:off x="4758950" y="5356409"/>
            <a:ext cx="239023" cy="2816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C</a:t>
            </a:r>
          </a:p>
        </p:txBody>
      </p:sp>
      <p:sp>
        <p:nvSpPr>
          <p:cNvPr id="192" name="cold"/>
          <p:cNvSpPr txBox="1"/>
          <p:nvPr/>
        </p:nvSpPr>
        <p:spPr>
          <a:xfrm>
            <a:off x="4917509" y="5482592"/>
            <a:ext cx="342805" cy="195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cold</a:t>
            </a:r>
          </a:p>
        </p:txBody>
      </p:sp>
      <p:sp>
        <p:nvSpPr>
          <p:cNvPr id="193" name=" − "/>
          <p:cNvSpPr txBox="1"/>
          <p:nvPr/>
        </p:nvSpPr>
        <p:spPr>
          <a:xfrm>
            <a:off x="5179849" y="5356409"/>
            <a:ext cx="329061" cy="2816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 − </a:t>
            </a:r>
          </a:p>
        </p:txBody>
      </p:sp>
      <p:sp>
        <p:nvSpPr>
          <p:cNvPr id="194" name="G"/>
          <p:cNvSpPr txBox="1"/>
          <p:nvPr/>
        </p:nvSpPr>
        <p:spPr>
          <a:xfrm>
            <a:off x="5421129" y="5356409"/>
            <a:ext cx="251539" cy="2816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G</a:t>
            </a:r>
          </a:p>
        </p:txBody>
      </p:sp>
      <p:sp>
        <p:nvSpPr>
          <p:cNvPr id="195" name="next"/>
          <p:cNvSpPr txBox="1"/>
          <p:nvPr/>
        </p:nvSpPr>
        <p:spPr>
          <a:xfrm>
            <a:off x="5592203" y="5482592"/>
            <a:ext cx="342805" cy="195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next</a:t>
            </a:r>
          </a:p>
        </p:txBody>
      </p:sp>
      <p:sp>
        <p:nvSpPr>
          <p:cNvPr id="196" name="path 195"/>
          <p:cNvSpPr/>
          <p:nvPr/>
        </p:nvSpPr>
        <p:spPr>
          <a:xfrm>
            <a:off x="7358890" y="4403630"/>
            <a:ext cx="614460" cy="329175"/>
          </a:xfrm>
          <a:custGeom>
            <a:avLst/>
            <a:gdLst/>
            <a:ahLst/>
            <a:cxnLst/>
            <a:rect l="l" t="t" r="r" b="b"/>
            <a:pathLst>
              <a:path w="84" h="45">
                <a:moveTo>
                  <a:pt x="0" y="45"/>
                </a:moveTo>
                <a:lnTo>
                  <a:pt x="34" y="45"/>
                </a:lnTo>
                <a:lnTo>
                  <a:pt x="34" y="0"/>
                </a:lnTo>
                <a:lnTo>
                  <a:pt x="84" y="0"/>
                </a:lnTo>
              </a:path>
            </a:pathLst>
          </a:custGeom>
          <a:noFill/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 196"/>
          <p:cNvSpPr/>
          <p:nvPr/>
        </p:nvSpPr>
        <p:spPr>
          <a:xfrm>
            <a:off x="8053815" y="4030565"/>
            <a:ext cx="1192345" cy="738815"/>
          </a:xfrm>
          <a:prstGeom prst="roundRect">
            <a:avLst>
              <a:gd name="adj" fmla="val 2970"/>
            </a:avLst>
          </a:prstGeom>
          <a:solidFill>
            <a:srgbClr val="F5D460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HiCache"/>
          <p:cNvSpPr txBox="1"/>
          <p:nvPr/>
        </p:nvSpPr>
        <p:spPr>
          <a:xfrm>
            <a:off x="8220388" y="4021421"/>
            <a:ext cx="859198" cy="3054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HiCache</a:t>
            </a:r>
          </a:p>
        </p:txBody>
      </p:sp>
      <p:cxnSp>
        <p:nvCxnSpPr>
          <p:cNvPr id="199" name="path 198"/>
          <p:cNvCxnSpPr/>
          <p:nvPr/>
        </p:nvCxnSpPr>
        <p:spPr>
          <a:xfrm>
            <a:off x="8192800" y="4496018"/>
            <a:ext cx="914375" cy="0"/>
          </a:xfrm>
          <a:prstGeom prst="line">
            <a:avLst/>
          </a:prstGeom>
          <a:ln w="14630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path 199"/>
          <p:cNvCxnSpPr/>
          <p:nvPr/>
        </p:nvCxnSpPr>
        <p:spPr>
          <a:xfrm flipH="1">
            <a:off x="8192800" y="4636393"/>
            <a:ext cx="914375" cy="0"/>
          </a:xfrm>
          <a:prstGeom prst="line">
            <a:avLst/>
          </a:prstGeom>
          <a:ln w="14630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 200"/>
          <p:cNvSpPr/>
          <p:nvPr/>
        </p:nvSpPr>
        <p:spPr>
          <a:xfrm>
            <a:off x="8276337" y="5059347"/>
            <a:ext cx="306279" cy="228740"/>
          </a:xfrm>
          <a:prstGeom prst="roundRect">
            <a:avLst>
              <a:gd name="adj" fmla="val 3197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 201"/>
          <p:cNvSpPr/>
          <p:nvPr/>
        </p:nvSpPr>
        <p:spPr>
          <a:xfrm>
            <a:off x="8249199" y="5082608"/>
            <a:ext cx="306279" cy="228740"/>
          </a:xfrm>
          <a:prstGeom prst="roundRect">
            <a:avLst>
              <a:gd name="adj" fmla="val 3197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 202"/>
          <p:cNvSpPr/>
          <p:nvPr/>
        </p:nvSpPr>
        <p:spPr>
          <a:xfrm>
            <a:off x="8222060" y="5105870"/>
            <a:ext cx="306279" cy="228740"/>
          </a:xfrm>
          <a:prstGeom prst="roundRect">
            <a:avLst>
              <a:gd name="adj" fmla="val 3197"/>
            </a:avLst>
          </a:prstGeom>
          <a:solidFill>
            <a:srgbClr val="E9A6BF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 203"/>
          <p:cNvSpPr/>
          <p:nvPr/>
        </p:nvSpPr>
        <p:spPr>
          <a:xfrm>
            <a:off x="8260830" y="5144640"/>
            <a:ext cx="58154" cy="54277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 204"/>
          <p:cNvSpPr/>
          <p:nvPr/>
        </p:nvSpPr>
        <p:spPr>
          <a:xfrm>
            <a:off x="8346122" y="5144640"/>
            <a:ext cx="58154" cy="54277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 205"/>
          <p:cNvSpPr/>
          <p:nvPr/>
        </p:nvSpPr>
        <p:spPr>
          <a:xfrm>
            <a:off x="8431415" y="5144640"/>
            <a:ext cx="58154" cy="54277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 206"/>
          <p:cNvSpPr/>
          <p:nvPr/>
        </p:nvSpPr>
        <p:spPr>
          <a:xfrm>
            <a:off x="8260830" y="5229932"/>
            <a:ext cx="58154" cy="54277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 207"/>
          <p:cNvSpPr/>
          <p:nvPr/>
        </p:nvSpPr>
        <p:spPr>
          <a:xfrm>
            <a:off x="8346122" y="5229932"/>
            <a:ext cx="58154" cy="54277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 208"/>
          <p:cNvSpPr/>
          <p:nvPr/>
        </p:nvSpPr>
        <p:spPr>
          <a:xfrm>
            <a:off x="8431415" y="5229932"/>
            <a:ext cx="58154" cy="54277"/>
          </a:xfrm>
          <a:prstGeom prst="rect">
            <a:avLst/>
          </a:prstGeom>
          <a:solidFill>
            <a:srgbClr val="FFFFFF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s"/>
          <p:cNvSpPr txBox="1"/>
          <p:nvPr/>
        </p:nvSpPr>
        <p:spPr>
          <a:xfrm>
            <a:off x="8887725" y="5100384"/>
            <a:ext cx="176017" cy="2816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s</a:t>
            </a:r>
          </a:p>
        </p:txBody>
      </p:sp>
      <p:sp>
        <p:nvSpPr>
          <p:cNvPr id="211" name="*"/>
          <p:cNvSpPr txBox="1"/>
          <p:nvPr/>
        </p:nvSpPr>
        <p:spPr>
          <a:xfrm>
            <a:off x="8983277" y="5051958"/>
            <a:ext cx="161844" cy="195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*</a:t>
            </a:r>
          </a:p>
        </p:txBody>
      </p:sp>
      <p:sp>
        <p:nvSpPr>
          <p:cNvPr id="212" name="path 211"/>
          <p:cNvSpPr/>
          <p:nvPr/>
        </p:nvSpPr>
        <p:spPr>
          <a:xfrm>
            <a:off x="9260790" y="4403630"/>
            <a:ext cx="453530" cy="358435"/>
          </a:xfrm>
          <a:custGeom>
            <a:avLst/>
            <a:gdLst/>
            <a:ahLst/>
            <a:cxnLst/>
            <a:rect l="l" t="t" r="r" b="b"/>
            <a:pathLst>
              <a:path w="62" h="49">
                <a:moveTo>
                  <a:pt x="0" y="0"/>
                </a:moveTo>
                <a:lnTo>
                  <a:pt x="62" y="0"/>
                </a:lnTo>
                <a:lnTo>
                  <a:pt x="62" y="49"/>
                </a:lnTo>
              </a:path>
            </a:pathLst>
          </a:custGeom>
          <a:noFill/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path 212"/>
          <p:cNvSpPr/>
          <p:nvPr/>
        </p:nvSpPr>
        <p:spPr>
          <a:xfrm>
            <a:off x="9158380" y="4996145"/>
            <a:ext cx="555940" cy="234080"/>
          </a:xfrm>
          <a:custGeom>
            <a:avLst/>
            <a:gdLst/>
            <a:ahLst/>
            <a:cxnLst/>
            <a:rect l="l" t="t" r="r" b="b"/>
            <a:pathLst>
              <a:path w="76" h="32">
                <a:moveTo>
                  <a:pt x="0" y="32"/>
                </a:moveTo>
                <a:lnTo>
                  <a:pt x="76" y="32"/>
                </a:lnTo>
                <a:lnTo>
                  <a:pt x="76" y="0"/>
                </a:lnTo>
              </a:path>
            </a:pathLst>
          </a:custGeom>
          <a:noFill/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circle 213"/>
          <p:cNvSpPr/>
          <p:nvPr/>
        </p:nvSpPr>
        <p:spPr>
          <a:xfrm>
            <a:off x="9582650" y="4747435"/>
            <a:ext cx="263340" cy="263340"/>
          </a:xfrm>
          <a:prstGeom prst="ellipse">
            <a:avLst/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∧"/>
          <p:cNvSpPr txBox="1"/>
          <p:nvPr/>
        </p:nvSpPr>
        <p:spPr>
          <a:xfrm>
            <a:off x="9634655" y="4762065"/>
            <a:ext cx="247110" cy="2578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∧</a:t>
            </a:r>
          </a:p>
        </p:txBody>
      </p:sp>
      <p:sp>
        <p:nvSpPr>
          <p:cNvPr id="216" name="path 215"/>
          <p:cNvSpPr/>
          <p:nvPr/>
        </p:nvSpPr>
        <p:spPr>
          <a:xfrm>
            <a:off x="9867935" y="4103715"/>
            <a:ext cx="760760" cy="775390"/>
          </a:xfrm>
          <a:custGeom>
            <a:avLst/>
            <a:gdLst/>
            <a:ahLst/>
            <a:cxnLst/>
            <a:rect l="l" t="t" r="r" b="b"/>
            <a:pathLst>
              <a:path w="104" h="106">
                <a:moveTo>
                  <a:pt x="0" y="106"/>
                </a:moveTo>
                <a:lnTo>
                  <a:pt x="44" y="106"/>
                </a:lnTo>
                <a:lnTo>
                  <a:pt x="44" y="0"/>
                </a:lnTo>
                <a:lnTo>
                  <a:pt x="104" y="0"/>
                </a:lnTo>
              </a:path>
            </a:pathLst>
          </a:custGeom>
          <a:noFill/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 216"/>
          <p:cNvSpPr/>
          <p:nvPr/>
        </p:nvSpPr>
        <p:spPr>
          <a:xfrm>
            <a:off x="10657955" y="3906210"/>
            <a:ext cx="1923845" cy="402325"/>
          </a:xfrm>
          <a:prstGeom prst="roundRect">
            <a:avLst>
              <a:gd name="adj" fmla="val 5454"/>
            </a:avLst>
          </a:prstGeom>
          <a:solidFill>
            <a:srgbClr val="A9CEE8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ℓ"/>
          <p:cNvSpPr txBox="1"/>
          <p:nvPr/>
        </p:nvSpPr>
        <p:spPr>
          <a:xfrm>
            <a:off x="10884720" y="3966559"/>
            <a:ext cx="179189" cy="272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7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ℓ</a:t>
            </a:r>
          </a:p>
        </p:txBody>
      </p:sp>
      <p:sp>
        <p:nvSpPr>
          <p:cNvPr id="219" name="0"/>
          <p:cNvSpPr txBox="1"/>
          <p:nvPr/>
        </p:nvSpPr>
        <p:spPr>
          <a:xfrm>
            <a:off x="10983444" y="4089085"/>
            <a:ext cx="159101" cy="188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0</a:t>
            </a:r>
          </a:p>
        </p:txBody>
      </p:sp>
      <p:sp>
        <p:nvSpPr>
          <p:cNvPr id="220" name="rect 219"/>
          <p:cNvSpPr/>
          <p:nvPr/>
        </p:nvSpPr>
        <p:spPr>
          <a:xfrm>
            <a:off x="11338250" y="4023250"/>
            <a:ext cx="197505" cy="182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 220"/>
          <p:cNvSpPr/>
          <p:nvPr/>
        </p:nvSpPr>
        <p:spPr>
          <a:xfrm>
            <a:off x="11608905" y="4023250"/>
            <a:ext cx="197505" cy="182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 221"/>
          <p:cNvSpPr/>
          <p:nvPr/>
        </p:nvSpPr>
        <p:spPr>
          <a:xfrm>
            <a:off x="11879560" y="4023250"/>
            <a:ext cx="197505" cy="182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 222"/>
          <p:cNvSpPr/>
          <p:nvPr/>
        </p:nvSpPr>
        <p:spPr>
          <a:xfrm>
            <a:off x="12150215" y="4023250"/>
            <a:ext cx="197505" cy="182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path 223"/>
          <p:cNvCxnSpPr/>
          <p:nvPr/>
        </p:nvCxnSpPr>
        <p:spPr>
          <a:xfrm>
            <a:off x="11630850" y="4323165"/>
            <a:ext cx="0" cy="131670"/>
          </a:xfrm>
          <a:prstGeom prst="line">
            <a:avLst/>
          </a:prstGeom>
          <a:ln w="14630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 224"/>
          <p:cNvSpPr/>
          <p:nvPr/>
        </p:nvSpPr>
        <p:spPr>
          <a:xfrm>
            <a:off x="10657955" y="4476780"/>
            <a:ext cx="1923845" cy="402325"/>
          </a:xfrm>
          <a:prstGeom prst="roundRect">
            <a:avLst>
              <a:gd name="adj" fmla="val 5454"/>
            </a:avLst>
          </a:prstGeom>
          <a:solidFill>
            <a:srgbClr val="A9CEE8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ℓ"/>
          <p:cNvSpPr txBox="1"/>
          <p:nvPr/>
        </p:nvSpPr>
        <p:spPr>
          <a:xfrm>
            <a:off x="10884720" y="4537129"/>
            <a:ext cx="179189" cy="272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7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ℓ</a:t>
            </a:r>
          </a:p>
        </p:txBody>
      </p:sp>
      <p:sp>
        <p:nvSpPr>
          <p:cNvPr id="227" name="1"/>
          <p:cNvSpPr txBox="1"/>
          <p:nvPr/>
        </p:nvSpPr>
        <p:spPr>
          <a:xfrm>
            <a:off x="10983444" y="4659655"/>
            <a:ext cx="159101" cy="188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1</a:t>
            </a:r>
          </a:p>
        </p:txBody>
      </p:sp>
      <p:sp>
        <p:nvSpPr>
          <p:cNvPr id="228" name="rect 227"/>
          <p:cNvSpPr/>
          <p:nvPr/>
        </p:nvSpPr>
        <p:spPr>
          <a:xfrm>
            <a:off x="11338250" y="4593820"/>
            <a:ext cx="197505" cy="182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 228"/>
          <p:cNvSpPr/>
          <p:nvPr/>
        </p:nvSpPr>
        <p:spPr>
          <a:xfrm>
            <a:off x="11608905" y="4593820"/>
            <a:ext cx="197505" cy="182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 229"/>
          <p:cNvSpPr/>
          <p:nvPr/>
        </p:nvSpPr>
        <p:spPr>
          <a:xfrm>
            <a:off x="11879560" y="4593820"/>
            <a:ext cx="197505" cy="182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 230"/>
          <p:cNvSpPr/>
          <p:nvPr/>
        </p:nvSpPr>
        <p:spPr>
          <a:xfrm>
            <a:off x="12150215" y="4593820"/>
            <a:ext cx="197505" cy="182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path 231"/>
          <p:cNvCxnSpPr/>
          <p:nvPr/>
        </p:nvCxnSpPr>
        <p:spPr>
          <a:xfrm>
            <a:off x="11630850" y="4893735"/>
            <a:ext cx="0" cy="131670"/>
          </a:xfrm>
          <a:prstGeom prst="line">
            <a:avLst/>
          </a:prstGeom>
          <a:ln w="14630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ect 232"/>
          <p:cNvSpPr/>
          <p:nvPr/>
        </p:nvSpPr>
        <p:spPr>
          <a:xfrm>
            <a:off x="10657955" y="5047350"/>
            <a:ext cx="1923845" cy="402325"/>
          </a:xfrm>
          <a:prstGeom prst="roundRect">
            <a:avLst>
              <a:gd name="adj" fmla="val 5454"/>
            </a:avLst>
          </a:prstGeom>
          <a:solidFill>
            <a:srgbClr val="A9CEE8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ℓ"/>
          <p:cNvSpPr txBox="1"/>
          <p:nvPr/>
        </p:nvSpPr>
        <p:spPr>
          <a:xfrm>
            <a:off x="10884720" y="5107699"/>
            <a:ext cx="179189" cy="272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7" b="0" i="1" lang="zh-CN" spc="0">
                <a:solidFill>
                  <a:srgbClr val="181818"/>
                </a:solidFill>
                <a:latin typeface="Liberation Serif"/>
                <a:ea typeface="Liberation Serif"/>
              </a:rPr>
              <a:t>ℓ</a:t>
            </a:r>
          </a:p>
        </p:txBody>
      </p:sp>
      <p:sp>
        <p:nvSpPr>
          <p:cNvPr id="235" name="2"/>
          <p:cNvSpPr txBox="1"/>
          <p:nvPr/>
        </p:nvSpPr>
        <p:spPr>
          <a:xfrm>
            <a:off x="10983444" y="5230225"/>
            <a:ext cx="159101" cy="188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 lang="zh-CN" spc="0">
                <a:solidFill>
                  <a:srgbClr val="181818"/>
                </a:solidFill>
                <a:latin typeface="Liberation Serif"/>
                <a:ea typeface="Liberation Serif"/>
              </a:rPr>
              <a:t>2</a:t>
            </a:r>
          </a:p>
        </p:txBody>
      </p:sp>
      <p:sp>
        <p:nvSpPr>
          <p:cNvPr id="236" name="rect 235"/>
          <p:cNvSpPr/>
          <p:nvPr/>
        </p:nvSpPr>
        <p:spPr>
          <a:xfrm>
            <a:off x="11338250" y="5164390"/>
            <a:ext cx="197505" cy="182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 236"/>
          <p:cNvSpPr/>
          <p:nvPr/>
        </p:nvSpPr>
        <p:spPr>
          <a:xfrm>
            <a:off x="11608905" y="5164390"/>
            <a:ext cx="197505" cy="182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 237"/>
          <p:cNvSpPr/>
          <p:nvPr/>
        </p:nvSpPr>
        <p:spPr>
          <a:xfrm>
            <a:off x="11879560" y="5164390"/>
            <a:ext cx="197505" cy="182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 238"/>
          <p:cNvSpPr/>
          <p:nvPr/>
        </p:nvSpPr>
        <p:spPr>
          <a:xfrm>
            <a:off x="12150215" y="5164390"/>
            <a:ext cx="197505" cy="182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path 239"/>
          <p:cNvSpPr/>
          <p:nvPr/>
        </p:nvSpPr>
        <p:spPr>
          <a:xfrm>
            <a:off x="7549080" y="4784010"/>
            <a:ext cx="3057670" cy="819280"/>
          </a:xfrm>
          <a:custGeom>
            <a:avLst/>
            <a:gdLst/>
            <a:ahLst/>
            <a:cxnLst/>
            <a:rect l="l" t="t" r="r" b="b"/>
            <a:pathLst>
              <a:path w="418" h="112">
                <a:moveTo>
                  <a:pt x="151" y="0"/>
                </a:moveTo>
                <a:lnTo>
                  <a:pt x="151" y="19"/>
                </a:lnTo>
                <a:lnTo>
                  <a:pt x="0" y="19"/>
                </a:lnTo>
                <a:lnTo>
                  <a:pt x="0" y="112"/>
                </a:lnTo>
                <a:lnTo>
                  <a:pt x="418" y="112"/>
                </a:lnTo>
              </a:path>
            </a:pathLst>
          </a:custGeom>
          <a:noFill/>
          <a:ln w="12435">
            <a:solidFill>
              <a:srgbClr val="2676B8"/>
            </a:solidFill>
            <a:prstDash val="dash"/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ACK"/>
          <p:cNvSpPr txBox="1"/>
          <p:nvPr/>
        </p:nvSpPr>
        <p:spPr>
          <a:xfrm>
            <a:off x="9897195" y="5336292"/>
            <a:ext cx="37675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2676B8"/>
                </a:solidFill>
                <a:latin typeface="Noto Sans CJK SC"/>
                <a:ea typeface="Noto Sans CJK SC"/>
              </a:rPr>
              <a:t>ACK</a:t>
            </a:r>
          </a:p>
        </p:txBody>
      </p:sp>
      <p:sp>
        <p:nvSpPr>
          <p:cNvPr id="242" name="rect 241"/>
          <p:cNvSpPr/>
          <p:nvPr/>
        </p:nvSpPr>
        <p:spPr>
          <a:xfrm>
            <a:off x="292600" y="6071450"/>
            <a:ext cx="7827050" cy="2384690"/>
          </a:xfrm>
          <a:prstGeom prst="roundRect">
            <a:avLst>
              <a:gd name="adj" fmla="val 1840"/>
            </a:avLst>
          </a:prstGeom>
          <a:solidFill>
            <a:srgbClr val="EEEEEE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 242"/>
          <p:cNvSpPr/>
          <p:nvPr/>
        </p:nvSpPr>
        <p:spPr>
          <a:xfrm>
            <a:off x="292600" y="6071450"/>
            <a:ext cx="7827050" cy="351120"/>
          </a:xfrm>
          <a:prstGeom prst="roundRect">
            <a:avLst>
              <a:gd name="adj" fmla="val 12500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 243"/>
          <p:cNvSpPr/>
          <p:nvPr/>
        </p:nvSpPr>
        <p:spPr>
          <a:xfrm>
            <a:off x="301378" y="6268955"/>
            <a:ext cx="7809494" cy="146300"/>
          </a:xfrm>
          <a:prstGeom prst="rect">
            <a:avLst/>
          </a:prstGeom>
          <a:solidFill>
            <a:srgbClr val="A9C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5" name="line 244"/>
          <p:cNvCxnSpPr/>
          <p:nvPr/>
        </p:nvCxnSpPr>
        <p:spPr>
          <a:xfrm>
            <a:off x="292600" y="6422570"/>
            <a:ext cx="7827050" cy="0"/>
          </a:xfrm>
          <a:prstGeom prst="line">
            <a:avLst/>
          </a:prstGeom>
          <a:ln w="12435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(d) 终态 child → 原生可用容量"/>
          <p:cNvSpPr txBox="1"/>
          <p:nvPr/>
        </p:nvSpPr>
        <p:spPr>
          <a:xfrm>
            <a:off x="438900" y="6075108"/>
            <a:ext cx="2901626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(d) 终态 child → 原生可用容量</a:t>
            </a:r>
          </a:p>
        </p:txBody>
      </p:sp>
      <p:sp>
        <p:nvSpPr>
          <p:cNvPr id="247" name="circle 246"/>
          <p:cNvSpPr/>
          <p:nvPr/>
        </p:nvSpPr>
        <p:spPr>
          <a:xfrm>
            <a:off x="533995" y="6963880"/>
            <a:ext cx="395010" cy="395010"/>
          </a:xfrm>
          <a:prstGeom prst="ellipse">
            <a:avLst/>
          </a:prstGeom>
          <a:solidFill>
            <a:srgbClr val="E9A6BF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P"/>
          <p:cNvSpPr txBox="1"/>
          <p:nvPr/>
        </p:nvSpPr>
        <p:spPr>
          <a:xfrm>
            <a:off x="626618" y="7011428"/>
            <a:ext cx="209763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</a:t>
            </a:r>
          </a:p>
        </p:txBody>
      </p:sp>
      <p:sp>
        <p:nvSpPr>
          <p:cNvPr id="249" name="circle 248"/>
          <p:cNvSpPr/>
          <p:nvPr/>
        </p:nvSpPr>
        <p:spPr>
          <a:xfrm>
            <a:off x="1653190" y="6568870"/>
            <a:ext cx="395010" cy="395010"/>
          </a:xfrm>
          <a:prstGeom prst="ellipse">
            <a:avLst/>
          </a:prstGeom>
          <a:solidFill>
            <a:srgbClr val="B5D68B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C1"/>
          <p:cNvSpPr txBox="1"/>
          <p:nvPr/>
        </p:nvSpPr>
        <p:spPr>
          <a:xfrm>
            <a:off x="1692880" y="6616418"/>
            <a:ext cx="315631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C1</a:t>
            </a:r>
          </a:p>
        </p:txBody>
      </p:sp>
      <p:sp>
        <p:nvSpPr>
          <p:cNvPr id="251" name="circle 250"/>
          <p:cNvSpPr/>
          <p:nvPr/>
        </p:nvSpPr>
        <p:spPr>
          <a:xfrm>
            <a:off x="1653190" y="7702695"/>
            <a:ext cx="395010" cy="395010"/>
          </a:xfrm>
          <a:prstGeom prst="ellipse">
            <a:avLst/>
          </a:prstGeom>
          <a:solidFill>
            <a:srgbClr val="F2BD7D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C2"/>
          <p:cNvSpPr txBox="1"/>
          <p:nvPr/>
        </p:nvSpPr>
        <p:spPr>
          <a:xfrm>
            <a:off x="1692880" y="7750242"/>
            <a:ext cx="315631" cy="29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C2</a:t>
            </a:r>
          </a:p>
        </p:txBody>
      </p:sp>
      <p:cxnSp>
        <p:nvCxnSpPr>
          <p:cNvPr id="253" name="path 252"/>
          <p:cNvCxnSpPr/>
          <p:nvPr/>
        </p:nvCxnSpPr>
        <p:spPr>
          <a:xfrm flipV="1">
            <a:off x="936320" y="6839525"/>
            <a:ext cx="702240" cy="24871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path 253"/>
          <p:cNvCxnSpPr/>
          <p:nvPr/>
        </p:nvCxnSpPr>
        <p:spPr>
          <a:xfrm>
            <a:off x="914375" y="7271110"/>
            <a:ext cx="738815" cy="51205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path 254"/>
          <p:cNvSpPr/>
          <p:nvPr/>
        </p:nvSpPr>
        <p:spPr>
          <a:xfrm>
            <a:off x="2099405" y="6568870"/>
            <a:ext cx="131670" cy="131670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0" y="9"/>
                </a:moveTo>
                <a:lnTo>
                  <a:pt x="6" y="18"/>
                </a:lnTo>
                <a:lnTo>
                  <a:pt x="18" y="0"/>
                </a:lnTo>
              </a:path>
            </a:pathLst>
          </a:custGeom>
          <a:noFill/>
          <a:ln w="2048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6" name="path 255"/>
          <p:cNvCxnSpPr/>
          <p:nvPr/>
        </p:nvCxnSpPr>
        <p:spPr>
          <a:xfrm>
            <a:off x="2070145" y="6766375"/>
            <a:ext cx="497420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rect 256"/>
          <p:cNvSpPr/>
          <p:nvPr/>
        </p:nvSpPr>
        <p:spPr>
          <a:xfrm>
            <a:off x="2640715" y="6627390"/>
            <a:ext cx="263340" cy="248710"/>
          </a:xfrm>
          <a:prstGeom prst="roundRect">
            <a:avLst>
              <a:gd name="adj" fmla="val 2941"/>
            </a:avLst>
          </a:prstGeom>
          <a:solidFill>
            <a:srgbClr val="DDDDDD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 257"/>
          <p:cNvSpPr/>
          <p:nvPr/>
        </p:nvSpPr>
        <p:spPr>
          <a:xfrm>
            <a:off x="2969890" y="6627390"/>
            <a:ext cx="263340" cy="248710"/>
          </a:xfrm>
          <a:prstGeom prst="roundRect">
            <a:avLst>
              <a:gd name="adj" fmla="val 2941"/>
            </a:avLst>
          </a:prstGeom>
          <a:solidFill>
            <a:srgbClr val="B5D68B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 258"/>
          <p:cNvSpPr/>
          <p:nvPr/>
        </p:nvSpPr>
        <p:spPr>
          <a:xfrm>
            <a:off x="3299065" y="6627390"/>
            <a:ext cx="263340" cy="248710"/>
          </a:xfrm>
          <a:prstGeom prst="roundRect">
            <a:avLst>
              <a:gd name="adj" fmla="val 2941"/>
            </a:avLst>
          </a:prstGeom>
          <a:solidFill>
            <a:srgbClr val="B5D68B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 259"/>
          <p:cNvSpPr/>
          <p:nvPr/>
        </p:nvSpPr>
        <p:spPr>
          <a:xfrm>
            <a:off x="3628240" y="6627390"/>
            <a:ext cx="263340" cy="248710"/>
          </a:xfrm>
          <a:prstGeom prst="roundRect">
            <a:avLst>
              <a:gd name="adj" fmla="val 2941"/>
            </a:avLst>
          </a:prstGeom>
          <a:solidFill>
            <a:srgbClr val="B5D68B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path 260"/>
          <p:cNvSpPr/>
          <p:nvPr/>
        </p:nvSpPr>
        <p:spPr>
          <a:xfrm>
            <a:off x="2721180" y="6927305"/>
            <a:ext cx="58520" cy="51205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7"/>
                </a:moveTo>
                <a:lnTo>
                  <a:pt x="0" y="0"/>
                </a:lnTo>
                <a:lnTo>
                  <a:pt x="8" y="0"/>
                </a:lnTo>
                <a:lnTo>
                  <a:pt x="8" y="7"/>
                </a:lnTo>
              </a:path>
            </a:pathLst>
          </a:custGeom>
          <a:noFill/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 261"/>
          <p:cNvSpPr/>
          <p:nvPr/>
        </p:nvSpPr>
        <p:spPr>
          <a:xfrm>
            <a:off x="2699235" y="6977047"/>
            <a:ext cx="105336" cy="8778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circle 262"/>
          <p:cNvSpPr/>
          <p:nvPr/>
        </p:nvSpPr>
        <p:spPr>
          <a:xfrm>
            <a:off x="2743125" y="7003381"/>
            <a:ext cx="17556" cy="17556"/>
          </a:xfrm>
          <a:prstGeom prst="ellipse">
            <a:avLst/>
          </a:prstGeom>
          <a:solidFill>
            <a:srgbClr val="181818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私有后缀"/>
          <p:cNvSpPr txBox="1"/>
          <p:nvPr/>
        </p:nvSpPr>
        <p:spPr>
          <a:xfrm>
            <a:off x="3094245" y="6967538"/>
            <a:ext cx="702240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私有后缀</a:t>
            </a:r>
          </a:p>
        </p:txBody>
      </p:sp>
      <p:cxnSp>
        <p:nvCxnSpPr>
          <p:cNvPr id="265" name="path 264"/>
          <p:cNvCxnSpPr/>
          <p:nvPr/>
        </p:nvCxnSpPr>
        <p:spPr>
          <a:xfrm>
            <a:off x="4008620" y="6751745"/>
            <a:ext cx="636405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rect 265"/>
          <p:cNvSpPr/>
          <p:nvPr/>
        </p:nvSpPr>
        <p:spPr>
          <a:xfrm>
            <a:off x="4740120" y="6590815"/>
            <a:ext cx="899745" cy="35112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43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 266"/>
          <p:cNvSpPr/>
          <p:nvPr/>
        </p:nvSpPr>
        <p:spPr>
          <a:xfrm>
            <a:off x="4805955" y="6678595"/>
            <a:ext cx="146300" cy="175560"/>
          </a:xfrm>
          <a:prstGeom prst="rect">
            <a:avLst/>
          </a:prstGeom>
          <a:solidFill>
            <a:srgbClr val="FFFFFF"/>
          </a:solidFill>
          <a:ln w="8778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 267"/>
          <p:cNvSpPr/>
          <p:nvPr/>
        </p:nvSpPr>
        <p:spPr>
          <a:xfrm>
            <a:off x="5010775" y="6678595"/>
            <a:ext cx="146300" cy="175560"/>
          </a:xfrm>
          <a:prstGeom prst="rect">
            <a:avLst/>
          </a:prstGeom>
          <a:solidFill>
            <a:srgbClr val="FFFFFF"/>
          </a:solidFill>
          <a:ln w="8778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 268"/>
          <p:cNvSpPr/>
          <p:nvPr/>
        </p:nvSpPr>
        <p:spPr>
          <a:xfrm>
            <a:off x="5215595" y="6678595"/>
            <a:ext cx="146300" cy="175560"/>
          </a:xfrm>
          <a:prstGeom prst="rect">
            <a:avLst/>
          </a:prstGeom>
          <a:solidFill>
            <a:srgbClr val="FFFFFF"/>
          </a:solidFill>
          <a:ln w="8778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 269"/>
          <p:cNvSpPr/>
          <p:nvPr/>
        </p:nvSpPr>
        <p:spPr>
          <a:xfrm>
            <a:off x="5420415" y="6678595"/>
            <a:ext cx="146300" cy="175560"/>
          </a:xfrm>
          <a:prstGeom prst="rect">
            <a:avLst/>
          </a:prstGeom>
          <a:solidFill>
            <a:srgbClr val="FFFFFF"/>
          </a:solidFill>
          <a:ln w="8778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空闲列表"/>
          <p:cNvSpPr txBox="1"/>
          <p:nvPr/>
        </p:nvSpPr>
        <p:spPr>
          <a:xfrm>
            <a:off x="4740120" y="6973024"/>
            <a:ext cx="731500" cy="265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7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空闲列表</a:t>
            </a:r>
          </a:p>
        </p:txBody>
      </p:sp>
      <p:cxnSp>
        <p:nvCxnSpPr>
          <p:cNvPr id="272" name="path 271"/>
          <p:cNvCxnSpPr/>
          <p:nvPr/>
        </p:nvCxnSpPr>
        <p:spPr>
          <a:xfrm>
            <a:off x="5676440" y="6751745"/>
            <a:ext cx="694925" cy="0"/>
          </a:xfrm>
          <a:prstGeom prst="line">
            <a:avLst/>
          </a:prstGeom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rect 272"/>
          <p:cNvSpPr/>
          <p:nvPr/>
        </p:nvSpPr>
        <p:spPr>
          <a:xfrm>
            <a:off x="6481090" y="6605445"/>
            <a:ext cx="365750" cy="314545"/>
          </a:xfrm>
          <a:prstGeom prst="roundRect">
            <a:avLst>
              <a:gd name="adj" fmla="val 2325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q0"/>
          <p:cNvSpPr txBox="1"/>
          <p:nvPr/>
        </p:nvSpPr>
        <p:spPr>
          <a:xfrm>
            <a:off x="6525294" y="6635729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q0</a:t>
            </a:r>
          </a:p>
        </p:txBody>
      </p:sp>
      <p:sp>
        <p:nvSpPr>
          <p:cNvPr id="275" name="rect 274"/>
          <p:cNvSpPr/>
          <p:nvPr/>
        </p:nvSpPr>
        <p:spPr>
          <a:xfrm>
            <a:off x="6927305" y="6605445"/>
            <a:ext cx="365750" cy="314545"/>
          </a:xfrm>
          <a:prstGeom prst="roundRect">
            <a:avLst>
              <a:gd name="adj" fmla="val 2325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q1"/>
          <p:cNvSpPr txBox="1"/>
          <p:nvPr/>
        </p:nvSpPr>
        <p:spPr>
          <a:xfrm>
            <a:off x="6971509" y="6635729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q1</a:t>
            </a:r>
          </a:p>
        </p:txBody>
      </p:sp>
      <p:sp>
        <p:nvSpPr>
          <p:cNvPr id="277" name="rect 276"/>
          <p:cNvSpPr/>
          <p:nvPr/>
        </p:nvSpPr>
        <p:spPr>
          <a:xfrm>
            <a:off x="7373520" y="6605445"/>
            <a:ext cx="365750" cy="314545"/>
          </a:xfrm>
          <a:prstGeom prst="roundRect">
            <a:avLst>
              <a:gd name="adj" fmla="val 2325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q2"/>
          <p:cNvSpPr txBox="1"/>
          <p:nvPr/>
        </p:nvSpPr>
        <p:spPr>
          <a:xfrm>
            <a:off x="7417724" y="6635729"/>
            <a:ext cx="27734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q2</a:t>
            </a:r>
          </a:p>
        </p:txBody>
      </p:sp>
      <p:sp>
        <p:nvSpPr>
          <p:cNvPr id="279" name="Parent KV"/>
          <p:cNvSpPr txBox="1"/>
          <p:nvPr/>
        </p:nvSpPr>
        <p:spPr>
          <a:xfrm>
            <a:off x="6539610" y="6951079"/>
            <a:ext cx="894859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Parent KV</a:t>
            </a:r>
          </a:p>
        </p:txBody>
      </p:sp>
      <p:cxnSp>
        <p:nvCxnSpPr>
          <p:cNvPr id="280" name="line 279"/>
          <p:cNvCxnSpPr/>
          <p:nvPr/>
        </p:nvCxnSpPr>
        <p:spPr>
          <a:xfrm>
            <a:off x="6810265" y="7402780"/>
            <a:ext cx="0" cy="936320"/>
          </a:xfrm>
          <a:prstGeom prst="line">
            <a:avLst/>
          </a:prstGeom>
          <a:ln w="12435">
            <a:solidFill>
              <a:srgbClr val="96969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RETURN"/>
          <p:cNvSpPr txBox="1"/>
          <p:nvPr/>
        </p:nvSpPr>
        <p:spPr>
          <a:xfrm>
            <a:off x="6890730" y="7355232"/>
            <a:ext cx="717727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RETURN</a:t>
            </a:r>
          </a:p>
        </p:txBody>
      </p:sp>
      <p:sp>
        <p:nvSpPr>
          <p:cNvPr id="282" name="rect 281"/>
          <p:cNvSpPr/>
          <p:nvPr/>
        </p:nvSpPr>
        <p:spPr>
          <a:xfrm>
            <a:off x="2713865" y="8061130"/>
            <a:ext cx="4096400" cy="234080"/>
          </a:xfrm>
          <a:prstGeom prst="roundRect">
            <a:avLst>
              <a:gd name="adj" fmla="val 3125"/>
            </a:avLst>
          </a:prstGeom>
          <a:solidFill>
            <a:srgbClr val="F2BD7D"/>
          </a:solidFill>
          <a:ln w="11704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C2: decode"/>
          <p:cNvSpPr txBox="1"/>
          <p:nvPr/>
        </p:nvSpPr>
        <p:spPr>
          <a:xfrm>
            <a:off x="4117931" y="8033699"/>
            <a:ext cx="951779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C2: decode</a:t>
            </a:r>
          </a:p>
        </p:txBody>
      </p:sp>
      <p:sp>
        <p:nvSpPr>
          <p:cNvPr id="284" name="rect 283"/>
          <p:cNvSpPr/>
          <p:nvPr/>
        </p:nvSpPr>
        <p:spPr>
          <a:xfrm>
            <a:off x="5274115" y="7666120"/>
            <a:ext cx="1324015" cy="241395"/>
          </a:xfrm>
          <a:prstGeom prst="roundRect">
            <a:avLst>
              <a:gd name="adj" fmla="val 3030"/>
            </a:avLst>
          </a:prstGeom>
          <a:solidFill>
            <a:srgbClr val="F5D460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H2D"/>
          <p:cNvSpPr txBox="1"/>
          <p:nvPr/>
        </p:nvSpPr>
        <p:spPr>
          <a:xfrm>
            <a:off x="5715558" y="7636860"/>
            <a:ext cx="433814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H2D</a:t>
            </a:r>
          </a:p>
        </p:txBody>
      </p:sp>
      <p:sp>
        <p:nvSpPr>
          <p:cNvPr id="286" name="rect 285"/>
          <p:cNvSpPr/>
          <p:nvPr/>
        </p:nvSpPr>
        <p:spPr>
          <a:xfrm>
            <a:off x="6824895" y="7666120"/>
            <a:ext cx="1082620" cy="241395"/>
          </a:xfrm>
          <a:prstGeom prst="roundRect">
            <a:avLst>
              <a:gd name="adj" fmla="val 3030"/>
            </a:avLst>
          </a:prstGeom>
          <a:solidFill>
            <a:srgbClr val="DDDDDD"/>
          </a:solidFill>
          <a:ln w="10972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demand"/>
          <p:cNvSpPr txBox="1"/>
          <p:nvPr/>
        </p:nvSpPr>
        <p:spPr>
          <a:xfrm>
            <a:off x="7023314" y="7662462"/>
            <a:ext cx="68578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demand</a:t>
            </a:r>
          </a:p>
        </p:txBody>
      </p:sp>
      <p:sp>
        <p:nvSpPr>
          <p:cNvPr id="288" name="path 287"/>
          <p:cNvSpPr/>
          <p:nvPr/>
        </p:nvSpPr>
        <p:spPr>
          <a:xfrm>
            <a:off x="4498725" y="6883415"/>
            <a:ext cx="1433740" cy="753445"/>
          </a:xfrm>
          <a:custGeom>
            <a:avLst/>
            <a:gdLst/>
            <a:ahLst/>
            <a:cxnLst/>
            <a:rect l="l" t="t" r="r" b="b"/>
            <a:pathLst>
              <a:path w="196" h="103">
                <a:moveTo>
                  <a:pt x="33" y="0"/>
                </a:moveTo>
                <a:lnTo>
                  <a:pt x="0" y="0"/>
                </a:lnTo>
                <a:lnTo>
                  <a:pt x="0" y="60"/>
                </a:lnTo>
                <a:lnTo>
                  <a:pt x="196" y="60"/>
                </a:lnTo>
                <a:lnTo>
                  <a:pt x="196" y="103"/>
                </a:lnTo>
              </a:path>
            </a:pathLst>
          </a:custGeom>
          <a:noFill/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path 288"/>
          <p:cNvSpPr/>
          <p:nvPr/>
        </p:nvSpPr>
        <p:spPr>
          <a:xfrm>
            <a:off x="1792175" y="8156225"/>
            <a:ext cx="65835" cy="51205"/>
          </a:xfrm>
          <a:custGeom>
            <a:avLst/>
            <a:gdLst/>
            <a:ahLst/>
            <a:cxnLst/>
            <a:rect l="l" t="t" r="r" b="b"/>
            <a:pathLst>
              <a:path w="9" h="7">
                <a:moveTo>
                  <a:pt x="0" y="7"/>
                </a:moveTo>
                <a:lnTo>
                  <a:pt x="0" y="0"/>
                </a:lnTo>
                <a:lnTo>
                  <a:pt x="9" y="0"/>
                </a:lnTo>
                <a:lnTo>
                  <a:pt x="9" y="7"/>
                </a:lnTo>
              </a:path>
            </a:pathLst>
          </a:custGeom>
          <a:noFill/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 289"/>
          <p:cNvSpPr/>
          <p:nvPr/>
        </p:nvSpPr>
        <p:spPr>
          <a:xfrm>
            <a:off x="1770230" y="8210722"/>
            <a:ext cx="114114" cy="9509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circle 290"/>
          <p:cNvSpPr/>
          <p:nvPr/>
        </p:nvSpPr>
        <p:spPr>
          <a:xfrm>
            <a:off x="1817778" y="8239250"/>
            <a:ext cx="19019" cy="19019"/>
          </a:xfrm>
          <a:prstGeom prst="ellipse">
            <a:avLst/>
          </a:prstGeom>
          <a:solidFill>
            <a:srgbClr val="181818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 291"/>
          <p:cNvSpPr/>
          <p:nvPr/>
        </p:nvSpPr>
        <p:spPr>
          <a:xfrm>
            <a:off x="8412250" y="6071450"/>
            <a:ext cx="4462150" cy="2384690"/>
          </a:xfrm>
          <a:prstGeom prst="roundRect">
            <a:avLst>
              <a:gd name="adj" fmla="val 1840"/>
            </a:avLst>
          </a:prstGeom>
          <a:solidFill>
            <a:srgbClr val="EEEEEE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 292"/>
          <p:cNvSpPr/>
          <p:nvPr/>
        </p:nvSpPr>
        <p:spPr>
          <a:xfrm>
            <a:off x="8412250" y="6071450"/>
            <a:ext cx="4462150" cy="351120"/>
          </a:xfrm>
          <a:prstGeom prst="roundRect">
            <a:avLst>
              <a:gd name="adj" fmla="val 12500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 293"/>
          <p:cNvSpPr/>
          <p:nvPr/>
        </p:nvSpPr>
        <p:spPr>
          <a:xfrm>
            <a:off x="8421028" y="6268955"/>
            <a:ext cx="4444594" cy="146300"/>
          </a:xfrm>
          <a:prstGeom prst="rect">
            <a:avLst/>
          </a:prstGeom>
          <a:solidFill>
            <a:srgbClr val="A9C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5" name="line 294"/>
          <p:cNvCxnSpPr/>
          <p:nvPr/>
        </p:nvCxnSpPr>
        <p:spPr>
          <a:xfrm>
            <a:off x="8412250" y="6422570"/>
            <a:ext cx="4462150" cy="0"/>
          </a:xfrm>
          <a:prstGeom prst="line">
            <a:avLst/>
          </a:prstGeom>
          <a:ln w="12435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(e) 恢复后及时消费"/>
          <p:cNvSpPr txBox="1"/>
          <p:nvPr/>
        </p:nvSpPr>
        <p:spPr>
          <a:xfrm>
            <a:off x="8558550" y="6075108"/>
            <a:ext cx="1841894" cy="327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(e) 恢复后及时消费</a:t>
            </a:r>
          </a:p>
        </p:txBody>
      </p:sp>
      <p:sp>
        <p:nvSpPr>
          <p:cNvPr id="297" name="rect 296"/>
          <p:cNvSpPr/>
          <p:nvPr/>
        </p:nvSpPr>
        <p:spPr>
          <a:xfrm>
            <a:off x="8639015" y="6627390"/>
            <a:ext cx="1433740" cy="3803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 297"/>
          <p:cNvSpPr/>
          <p:nvPr/>
        </p:nvSpPr>
        <p:spPr>
          <a:xfrm>
            <a:off x="8646330" y="6634705"/>
            <a:ext cx="73150" cy="3657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ld"/>
          <p:cNvSpPr txBox="1"/>
          <p:nvPr/>
        </p:nvSpPr>
        <p:spPr>
          <a:xfrm>
            <a:off x="8812903" y="6679107"/>
            <a:ext cx="354463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old</a:t>
            </a:r>
          </a:p>
        </p:txBody>
      </p:sp>
      <p:sp>
        <p:nvSpPr>
          <p:cNvPr id="300" name="rect 299"/>
          <p:cNvSpPr/>
          <p:nvPr/>
        </p:nvSpPr>
        <p:spPr>
          <a:xfrm>
            <a:off x="9524130" y="6737115"/>
            <a:ext cx="109725" cy="16093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3167">
            <a:solidFill>
              <a:srgbClr val="18181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 300"/>
          <p:cNvSpPr/>
          <p:nvPr/>
        </p:nvSpPr>
        <p:spPr>
          <a:xfrm>
            <a:off x="9670430" y="6737115"/>
            <a:ext cx="109725" cy="16093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3167">
            <a:solidFill>
              <a:srgbClr val="18181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 301"/>
          <p:cNvSpPr/>
          <p:nvPr/>
        </p:nvSpPr>
        <p:spPr>
          <a:xfrm>
            <a:off x="9816730" y="6737115"/>
            <a:ext cx="109725" cy="16093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3167">
            <a:solidFill>
              <a:srgbClr val="18181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 302"/>
          <p:cNvSpPr/>
          <p:nvPr/>
        </p:nvSpPr>
        <p:spPr>
          <a:xfrm>
            <a:off x="8639015" y="7197960"/>
            <a:ext cx="1433740" cy="3803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 303"/>
          <p:cNvSpPr/>
          <p:nvPr/>
        </p:nvSpPr>
        <p:spPr>
          <a:xfrm>
            <a:off x="8646330" y="7205275"/>
            <a:ext cx="73150" cy="365750"/>
          </a:xfrm>
          <a:prstGeom prst="rect">
            <a:avLst/>
          </a:prstGeom>
          <a:solidFill>
            <a:srgbClr val="B5D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hit"/>
          <p:cNvSpPr txBox="1"/>
          <p:nvPr/>
        </p:nvSpPr>
        <p:spPr>
          <a:xfrm>
            <a:off x="8831420" y="7249677"/>
            <a:ext cx="317431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hit</a:t>
            </a:r>
          </a:p>
        </p:txBody>
      </p:sp>
      <p:sp>
        <p:nvSpPr>
          <p:cNvPr id="306" name="rect 305"/>
          <p:cNvSpPr/>
          <p:nvPr/>
        </p:nvSpPr>
        <p:spPr>
          <a:xfrm>
            <a:off x="9524130" y="7307685"/>
            <a:ext cx="109725" cy="160930"/>
          </a:xfrm>
          <a:prstGeom prst="roundRect">
            <a:avLst>
              <a:gd name="adj" fmla="val 6666"/>
            </a:avLst>
          </a:prstGeom>
          <a:solidFill>
            <a:srgbClr val="B5D68B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 306"/>
          <p:cNvSpPr/>
          <p:nvPr/>
        </p:nvSpPr>
        <p:spPr>
          <a:xfrm>
            <a:off x="9670430" y="7307685"/>
            <a:ext cx="109725" cy="160930"/>
          </a:xfrm>
          <a:prstGeom prst="roundRect">
            <a:avLst>
              <a:gd name="adj" fmla="val 6666"/>
            </a:avLst>
          </a:prstGeom>
          <a:solidFill>
            <a:srgbClr val="B5D68B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 307"/>
          <p:cNvSpPr/>
          <p:nvPr/>
        </p:nvSpPr>
        <p:spPr>
          <a:xfrm>
            <a:off x="9816730" y="7307685"/>
            <a:ext cx="109725" cy="160930"/>
          </a:xfrm>
          <a:prstGeom prst="roundRect">
            <a:avLst>
              <a:gd name="adj" fmla="val 6666"/>
            </a:avLst>
          </a:prstGeom>
          <a:solidFill>
            <a:srgbClr val="B5D68B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 308"/>
          <p:cNvSpPr/>
          <p:nvPr/>
        </p:nvSpPr>
        <p:spPr>
          <a:xfrm>
            <a:off x="8639015" y="7768530"/>
            <a:ext cx="1433740" cy="3803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 309"/>
          <p:cNvSpPr/>
          <p:nvPr/>
        </p:nvSpPr>
        <p:spPr>
          <a:xfrm>
            <a:off x="8646330" y="7775845"/>
            <a:ext cx="73150" cy="365750"/>
          </a:xfrm>
          <a:prstGeom prst="rect">
            <a:avLst/>
          </a:prstGeom>
          <a:solidFill>
            <a:srgbClr val="E9A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P"/>
          <p:cNvSpPr txBox="1"/>
          <p:nvPr/>
        </p:nvSpPr>
        <p:spPr>
          <a:xfrm>
            <a:off x="8890140" y="7820247"/>
            <a:ext cx="199991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</a:t>
            </a:r>
          </a:p>
        </p:txBody>
      </p:sp>
      <p:sp>
        <p:nvSpPr>
          <p:cNvPr id="312" name="rect 311"/>
          <p:cNvSpPr/>
          <p:nvPr/>
        </p:nvSpPr>
        <p:spPr>
          <a:xfrm>
            <a:off x="9524130" y="7878255"/>
            <a:ext cx="109725" cy="160930"/>
          </a:xfrm>
          <a:prstGeom prst="roundRect">
            <a:avLst>
              <a:gd name="adj" fmla="val 6666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 312"/>
          <p:cNvSpPr/>
          <p:nvPr/>
        </p:nvSpPr>
        <p:spPr>
          <a:xfrm>
            <a:off x="9670430" y="7878255"/>
            <a:ext cx="109725" cy="160930"/>
          </a:xfrm>
          <a:prstGeom prst="roundRect">
            <a:avLst>
              <a:gd name="adj" fmla="val 6666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 313"/>
          <p:cNvSpPr/>
          <p:nvPr/>
        </p:nvSpPr>
        <p:spPr>
          <a:xfrm>
            <a:off x="9816730" y="7878255"/>
            <a:ext cx="109725" cy="160930"/>
          </a:xfrm>
          <a:prstGeom prst="roundRect">
            <a:avLst>
              <a:gd name="adj" fmla="val 6666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path 314"/>
          <p:cNvSpPr/>
          <p:nvPr/>
        </p:nvSpPr>
        <p:spPr>
          <a:xfrm>
            <a:off x="9948400" y="7644175"/>
            <a:ext cx="58520" cy="51205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7"/>
                </a:moveTo>
                <a:lnTo>
                  <a:pt x="0" y="0"/>
                </a:lnTo>
                <a:lnTo>
                  <a:pt x="8" y="0"/>
                </a:lnTo>
                <a:lnTo>
                  <a:pt x="8" y="7"/>
                </a:lnTo>
              </a:path>
            </a:pathLst>
          </a:custGeom>
          <a:noFill/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 315"/>
          <p:cNvSpPr/>
          <p:nvPr/>
        </p:nvSpPr>
        <p:spPr>
          <a:xfrm>
            <a:off x="9926455" y="7693917"/>
            <a:ext cx="105336" cy="8778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circle 316"/>
          <p:cNvSpPr/>
          <p:nvPr/>
        </p:nvSpPr>
        <p:spPr>
          <a:xfrm>
            <a:off x="9970345" y="7720251"/>
            <a:ext cx="17556" cy="17556"/>
          </a:xfrm>
          <a:prstGeom prst="ellipse">
            <a:avLst/>
          </a:prstGeom>
          <a:solidFill>
            <a:srgbClr val="181818"/>
          </a:solidFill>
          <a:ln w="7315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circle 317"/>
          <p:cNvSpPr/>
          <p:nvPr/>
        </p:nvSpPr>
        <p:spPr>
          <a:xfrm>
            <a:off x="10145905" y="6656650"/>
            <a:ext cx="219450" cy="219450"/>
          </a:xfrm>
          <a:prstGeom prst="ellipse">
            <a:avLst/>
          </a:prstGeom>
          <a:solidFill>
            <a:srgbClr val="FFFFF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path 318"/>
          <p:cNvSpPr/>
          <p:nvPr/>
        </p:nvSpPr>
        <p:spPr>
          <a:xfrm>
            <a:off x="10255630" y="6693225"/>
            <a:ext cx="58520" cy="102410"/>
          </a:xfrm>
          <a:custGeom>
            <a:avLst/>
            <a:gdLst/>
            <a:ahLst/>
            <a:cxnLst/>
            <a:rect l="l" t="t" r="r" b="b"/>
            <a:pathLst>
              <a:path w="8" h="14">
                <a:moveTo>
                  <a:pt x="0" y="0"/>
                </a:moveTo>
                <a:lnTo>
                  <a:pt x="0" y="10"/>
                </a:lnTo>
                <a:lnTo>
                  <a:pt x="8" y="14"/>
                </a:lnTo>
              </a:path>
            </a:pathLst>
          </a:custGeom>
          <a:noFill/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老化"/>
          <p:cNvSpPr txBox="1"/>
          <p:nvPr/>
        </p:nvSpPr>
        <p:spPr>
          <a:xfrm>
            <a:off x="10431190" y="6645678"/>
            <a:ext cx="395010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535353"/>
                </a:solidFill>
                <a:latin typeface="Noto Sans CJK SC"/>
                <a:ea typeface="Noto Sans CJK SC"/>
              </a:rPr>
              <a:t>老化</a:t>
            </a:r>
          </a:p>
        </p:txBody>
      </p:sp>
      <p:cxnSp>
        <p:nvCxnSpPr>
          <p:cNvPr id="321" name="line 320"/>
          <p:cNvCxnSpPr/>
          <p:nvPr/>
        </p:nvCxnSpPr>
        <p:spPr>
          <a:xfrm>
            <a:off x="11513810" y="701508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line 321"/>
          <p:cNvCxnSpPr/>
          <p:nvPr/>
        </p:nvCxnSpPr>
        <p:spPr>
          <a:xfrm>
            <a:off x="11513810" y="8075760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line 322"/>
          <p:cNvCxnSpPr/>
          <p:nvPr/>
        </p:nvCxnSpPr>
        <p:spPr>
          <a:xfrm>
            <a:off x="11660110" y="701508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line 323"/>
          <p:cNvCxnSpPr/>
          <p:nvPr/>
        </p:nvCxnSpPr>
        <p:spPr>
          <a:xfrm>
            <a:off x="11660110" y="8075760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line 324"/>
          <p:cNvCxnSpPr/>
          <p:nvPr/>
        </p:nvCxnSpPr>
        <p:spPr>
          <a:xfrm>
            <a:off x="11806410" y="701508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line 325"/>
          <p:cNvCxnSpPr/>
          <p:nvPr/>
        </p:nvCxnSpPr>
        <p:spPr>
          <a:xfrm>
            <a:off x="11806410" y="8075760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line 326"/>
          <p:cNvCxnSpPr/>
          <p:nvPr/>
        </p:nvCxnSpPr>
        <p:spPr>
          <a:xfrm>
            <a:off x="11952710" y="701508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line 327"/>
          <p:cNvCxnSpPr/>
          <p:nvPr/>
        </p:nvCxnSpPr>
        <p:spPr>
          <a:xfrm>
            <a:off x="11952710" y="8075760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line 328"/>
          <p:cNvCxnSpPr/>
          <p:nvPr/>
        </p:nvCxnSpPr>
        <p:spPr>
          <a:xfrm>
            <a:off x="12099010" y="701508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line 329"/>
          <p:cNvCxnSpPr/>
          <p:nvPr/>
        </p:nvCxnSpPr>
        <p:spPr>
          <a:xfrm>
            <a:off x="12099010" y="8075760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line 330"/>
          <p:cNvCxnSpPr/>
          <p:nvPr/>
        </p:nvCxnSpPr>
        <p:spPr>
          <a:xfrm>
            <a:off x="12245310" y="701508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line 331"/>
          <p:cNvCxnSpPr/>
          <p:nvPr/>
        </p:nvCxnSpPr>
        <p:spPr>
          <a:xfrm>
            <a:off x="12245310" y="8075760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line 332"/>
          <p:cNvCxnSpPr/>
          <p:nvPr/>
        </p:nvCxnSpPr>
        <p:spPr>
          <a:xfrm>
            <a:off x="12391610" y="7015085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line 333"/>
          <p:cNvCxnSpPr/>
          <p:nvPr/>
        </p:nvCxnSpPr>
        <p:spPr>
          <a:xfrm>
            <a:off x="12391610" y="8075760"/>
            <a:ext cx="0" cy="7315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line 334"/>
          <p:cNvCxnSpPr/>
          <p:nvPr/>
        </p:nvCxnSpPr>
        <p:spPr>
          <a:xfrm>
            <a:off x="11338250" y="719796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line 335"/>
          <p:cNvCxnSpPr/>
          <p:nvPr/>
        </p:nvCxnSpPr>
        <p:spPr>
          <a:xfrm>
            <a:off x="12442815" y="719796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line 336"/>
          <p:cNvCxnSpPr/>
          <p:nvPr/>
        </p:nvCxnSpPr>
        <p:spPr>
          <a:xfrm>
            <a:off x="11338250" y="734426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line 337"/>
          <p:cNvCxnSpPr/>
          <p:nvPr/>
        </p:nvCxnSpPr>
        <p:spPr>
          <a:xfrm>
            <a:off x="12442815" y="734426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line 338"/>
          <p:cNvCxnSpPr/>
          <p:nvPr/>
        </p:nvCxnSpPr>
        <p:spPr>
          <a:xfrm>
            <a:off x="11338250" y="749056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line 339"/>
          <p:cNvCxnSpPr/>
          <p:nvPr/>
        </p:nvCxnSpPr>
        <p:spPr>
          <a:xfrm>
            <a:off x="12442815" y="749056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line 340"/>
          <p:cNvCxnSpPr/>
          <p:nvPr/>
        </p:nvCxnSpPr>
        <p:spPr>
          <a:xfrm>
            <a:off x="11338250" y="763686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line 341"/>
          <p:cNvCxnSpPr/>
          <p:nvPr/>
        </p:nvCxnSpPr>
        <p:spPr>
          <a:xfrm>
            <a:off x="12442815" y="763686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line 342"/>
          <p:cNvCxnSpPr/>
          <p:nvPr/>
        </p:nvCxnSpPr>
        <p:spPr>
          <a:xfrm>
            <a:off x="11338250" y="778316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line 343"/>
          <p:cNvCxnSpPr/>
          <p:nvPr/>
        </p:nvCxnSpPr>
        <p:spPr>
          <a:xfrm>
            <a:off x="12442815" y="778316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line 344"/>
          <p:cNvCxnSpPr/>
          <p:nvPr/>
        </p:nvCxnSpPr>
        <p:spPr>
          <a:xfrm>
            <a:off x="11338250" y="792946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line 345"/>
          <p:cNvCxnSpPr/>
          <p:nvPr/>
        </p:nvCxnSpPr>
        <p:spPr>
          <a:xfrm>
            <a:off x="12442815" y="7929460"/>
            <a:ext cx="73150" cy="0"/>
          </a:xfrm>
          <a:prstGeom prst="line">
            <a:avLst/>
          </a:prstGeom>
          <a:ln w="1463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7" name="rect 346"/>
          <p:cNvSpPr/>
          <p:nvPr/>
        </p:nvSpPr>
        <p:spPr>
          <a:xfrm>
            <a:off x="11411400" y="7088235"/>
            <a:ext cx="1031415" cy="987525"/>
          </a:xfrm>
          <a:prstGeom prst="roundRect">
            <a:avLst>
              <a:gd name="adj" fmla="val 1481"/>
            </a:avLst>
          </a:prstGeom>
          <a:solidFill>
            <a:srgbClr val="A9CEE8"/>
          </a:solidFill>
          <a:ln w="1463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PU"/>
          <p:cNvSpPr txBox="1"/>
          <p:nvPr/>
        </p:nvSpPr>
        <p:spPr>
          <a:xfrm>
            <a:off x="11696071" y="7095550"/>
            <a:ext cx="462074" cy="285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GPU</a:t>
            </a:r>
          </a:p>
        </p:txBody>
      </p:sp>
      <p:sp>
        <p:nvSpPr>
          <p:cNvPr id="349" name="rect 348"/>
          <p:cNvSpPr/>
          <p:nvPr/>
        </p:nvSpPr>
        <p:spPr>
          <a:xfrm>
            <a:off x="11506495" y="7395465"/>
            <a:ext cx="258463" cy="252368"/>
          </a:xfrm>
          <a:prstGeom prst="roundRect">
            <a:avLst>
              <a:gd name="adj" fmla="val 2898"/>
            </a:avLst>
          </a:prstGeom>
          <a:solidFill>
            <a:srgbClr val="E9A6B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 349"/>
          <p:cNvSpPr/>
          <p:nvPr/>
        </p:nvSpPr>
        <p:spPr>
          <a:xfrm>
            <a:off x="11796657" y="7395465"/>
            <a:ext cx="258463" cy="252368"/>
          </a:xfrm>
          <a:prstGeom prst="roundRect">
            <a:avLst>
              <a:gd name="adj" fmla="val 2898"/>
            </a:avLst>
          </a:prstGeom>
          <a:solidFill>
            <a:srgbClr val="B5D68B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 350"/>
          <p:cNvSpPr/>
          <p:nvPr/>
        </p:nvSpPr>
        <p:spPr>
          <a:xfrm>
            <a:off x="12086818" y="7395465"/>
            <a:ext cx="258463" cy="252368"/>
          </a:xfrm>
          <a:prstGeom prst="roundRect">
            <a:avLst>
              <a:gd name="adj" fmla="val 2898"/>
            </a:avLst>
          </a:prstGeom>
          <a:solidFill>
            <a:srgbClr val="DDDDDD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 351"/>
          <p:cNvSpPr/>
          <p:nvPr/>
        </p:nvSpPr>
        <p:spPr>
          <a:xfrm>
            <a:off x="11506495" y="7695380"/>
            <a:ext cx="258463" cy="252368"/>
          </a:xfrm>
          <a:prstGeom prst="roundRect">
            <a:avLst>
              <a:gd name="adj" fmla="val 2898"/>
            </a:avLst>
          </a:prstGeom>
          <a:solidFill>
            <a:srgbClr val="E9A6B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 352"/>
          <p:cNvSpPr/>
          <p:nvPr/>
        </p:nvSpPr>
        <p:spPr>
          <a:xfrm>
            <a:off x="11796657" y="7695380"/>
            <a:ext cx="258463" cy="252368"/>
          </a:xfrm>
          <a:prstGeom prst="roundRect">
            <a:avLst>
              <a:gd name="adj" fmla="val 2898"/>
            </a:avLst>
          </a:prstGeom>
          <a:solidFill>
            <a:srgbClr val="F2BD7D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 353"/>
          <p:cNvSpPr/>
          <p:nvPr/>
        </p:nvSpPr>
        <p:spPr>
          <a:xfrm>
            <a:off x="12086818" y="7695380"/>
            <a:ext cx="258463" cy="252368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8046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path 354"/>
          <p:cNvSpPr/>
          <p:nvPr/>
        </p:nvSpPr>
        <p:spPr>
          <a:xfrm>
            <a:off x="10102015" y="6927305"/>
            <a:ext cx="1221605" cy="292600"/>
          </a:xfrm>
          <a:custGeom>
            <a:avLst/>
            <a:gdLst/>
            <a:ahLst/>
            <a:cxnLst/>
            <a:rect l="l" t="t" r="r" b="b"/>
            <a:pathLst>
              <a:path w="167" h="40">
                <a:moveTo>
                  <a:pt x="0" y="0"/>
                </a:moveTo>
                <a:lnTo>
                  <a:pt x="136" y="0"/>
                </a:lnTo>
                <a:lnTo>
                  <a:pt x="136" y="40"/>
                </a:lnTo>
                <a:lnTo>
                  <a:pt x="167" y="40"/>
                </a:lnTo>
              </a:path>
            </a:pathLst>
          </a:custGeom>
          <a:noFill/>
          <a:ln w="14630">
            <a:solidFill>
              <a:srgbClr val="181818"/>
            </a:solidFill>
            <a:prstDash val="dash"/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6" name="path 355"/>
          <p:cNvCxnSpPr/>
          <p:nvPr/>
        </p:nvCxnSpPr>
        <p:spPr>
          <a:xfrm>
            <a:off x="10102015" y="7388150"/>
            <a:ext cx="1221605" cy="0"/>
          </a:xfrm>
          <a:prstGeom prst="line">
            <a:avLst/>
          </a:prstGeom>
          <a:ln w="19019">
            <a:solidFill>
              <a:srgbClr val="18181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path 356"/>
          <p:cNvSpPr/>
          <p:nvPr/>
        </p:nvSpPr>
        <p:spPr>
          <a:xfrm>
            <a:off x="10102015" y="7856310"/>
            <a:ext cx="1221605" cy="102410"/>
          </a:xfrm>
          <a:custGeom>
            <a:avLst/>
            <a:gdLst/>
            <a:ahLst/>
            <a:cxnLst/>
            <a:rect l="l" t="t" r="r" b="b"/>
            <a:pathLst>
              <a:path w="167" h="14">
                <a:moveTo>
                  <a:pt x="0" y="14"/>
                </a:moveTo>
                <a:lnTo>
                  <a:pt x="136" y="14"/>
                </a:lnTo>
                <a:lnTo>
                  <a:pt x="136" y="0"/>
                </a:lnTo>
                <a:lnTo>
                  <a:pt x="167" y="0"/>
                </a:lnTo>
              </a:path>
            </a:pathLst>
          </a:custGeom>
          <a:noFill/>
          <a:ln w="19019">
            <a:solidFill>
              <a:srgbClr val="BF3335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KV ∧ slot  /  batch fill"/>
          <p:cNvSpPr txBox="1"/>
          <p:nvPr/>
        </p:nvSpPr>
        <p:spPr>
          <a:xfrm>
            <a:off x="10167850" y="8143424"/>
            <a:ext cx="1716482" cy="27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KV ∧ slot  /  batch fill</a:t>
            </a:r>
          </a:p>
        </p:txBody>
      </p:sp>
      <p:sp>
        <p:nvSpPr>
          <p:cNvPr id="359" name="rect 358"/>
          <p:cNvSpPr/>
          <p:nvPr/>
        </p:nvSpPr>
        <p:spPr>
          <a:xfrm>
            <a:off x="475475" y="8587810"/>
            <a:ext cx="204820" cy="160930"/>
          </a:xfrm>
          <a:prstGeom prst="roundRect">
            <a:avLst>
              <a:gd name="adj" fmla="val 4545"/>
            </a:avLst>
          </a:prstGeom>
          <a:solidFill>
            <a:srgbClr val="E9A6BF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Parent 页"/>
          <p:cNvSpPr txBox="1"/>
          <p:nvPr/>
        </p:nvSpPr>
        <p:spPr>
          <a:xfrm>
            <a:off x="782705" y="8503688"/>
            <a:ext cx="746787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Parent 页</a:t>
            </a:r>
          </a:p>
        </p:txBody>
      </p:sp>
      <p:sp>
        <p:nvSpPr>
          <p:cNvPr id="361" name="rect 360"/>
          <p:cNvSpPr/>
          <p:nvPr/>
        </p:nvSpPr>
        <p:spPr>
          <a:xfrm>
            <a:off x="2574880" y="8587810"/>
            <a:ext cx="204820" cy="16093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3167">
            <a:solidFill>
              <a:srgbClr val="18181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缺失 / 延后"/>
          <p:cNvSpPr txBox="1"/>
          <p:nvPr/>
        </p:nvSpPr>
        <p:spPr>
          <a:xfrm>
            <a:off x="2882110" y="8503688"/>
            <a:ext cx="831253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缺失 / 延后</a:t>
            </a:r>
          </a:p>
        </p:txBody>
      </p:sp>
      <p:sp>
        <p:nvSpPr>
          <p:cNvPr id="363" name="rect 362"/>
          <p:cNvSpPr/>
          <p:nvPr/>
        </p:nvSpPr>
        <p:spPr>
          <a:xfrm>
            <a:off x="5252170" y="8587810"/>
            <a:ext cx="204820" cy="160930"/>
          </a:xfrm>
          <a:prstGeom prst="roundRect">
            <a:avLst>
              <a:gd name="adj" fmla="val 4545"/>
            </a:avLst>
          </a:prstGeom>
          <a:solidFill>
            <a:srgbClr val="B5D68B"/>
          </a:solidFill>
          <a:ln w="13167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Child 私有页"/>
          <p:cNvSpPr txBox="1"/>
          <p:nvPr/>
        </p:nvSpPr>
        <p:spPr>
          <a:xfrm>
            <a:off x="5559400" y="8503688"/>
            <a:ext cx="955379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Child 私有页</a:t>
            </a:r>
          </a:p>
        </p:txBody>
      </p:sp>
      <p:cxnSp>
        <p:nvCxnSpPr>
          <p:cNvPr id="365" name="path 364"/>
          <p:cNvCxnSpPr/>
          <p:nvPr/>
        </p:nvCxnSpPr>
        <p:spPr>
          <a:xfrm>
            <a:off x="8924300" y="8653645"/>
            <a:ext cx="314545" cy="0"/>
          </a:xfrm>
          <a:prstGeom prst="line">
            <a:avLst/>
          </a:prstGeom>
          <a:ln w="14630">
            <a:solidFill>
              <a:srgbClr val="BF3335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控制动作"/>
          <p:cNvSpPr txBox="1"/>
          <p:nvPr/>
        </p:nvSpPr>
        <p:spPr>
          <a:xfrm>
            <a:off x="9370515" y="8503688"/>
            <a:ext cx="702240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控制动作</a:t>
            </a:r>
          </a:p>
        </p:txBody>
      </p:sp>
      <p:cxnSp>
        <p:nvCxnSpPr>
          <p:cNvPr id="367" name="path 366"/>
          <p:cNvCxnSpPr/>
          <p:nvPr/>
        </p:nvCxnSpPr>
        <p:spPr>
          <a:xfrm>
            <a:off x="10782310" y="8653645"/>
            <a:ext cx="314545" cy="0"/>
          </a:xfrm>
          <a:prstGeom prst="line">
            <a:avLst/>
          </a:prstGeom>
          <a:ln w="14630">
            <a:solidFill>
              <a:srgbClr val="2676B8"/>
            </a:solidFill>
            <a:prstDash val="dash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ACK"/>
          <p:cNvSpPr txBox="1"/>
          <p:nvPr/>
        </p:nvSpPr>
        <p:spPr>
          <a:xfrm>
            <a:off x="11221210" y="8503688"/>
            <a:ext cx="376751" cy="254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 lang="zh-CN" spc="0">
                <a:solidFill>
                  <a:srgbClr val="181818"/>
                </a:solidFill>
                <a:latin typeface="Noto Sans CJK SC"/>
                <a:ea typeface="Noto Sans CJK SC"/>
              </a:rPr>
              <a:t>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BeliefKV 系统架构图</dc:title>
  <dc:subject>Current development architecture as of 2026-10-15</dc:subject>
  <dc:creator>BeliefKV</dc:creator>
  <cp:keywords>BeliefKV, dynamic agent workflows, KV cache, native editable diagrams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