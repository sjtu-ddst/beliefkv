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3167360" cy="87782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架构基线：2026-10-15 当前开发实现，不代表所有运行实验的冻结代码。RCCG 接收运行时事件，GraphDelta 增量更新受影响的等待成员组。四图设计编号一致：D1 执行需求推断，D2 工作流感知的 KV 生命周期，D3 准入与预取协同调度。页脚共同表达 D1 向 D3 提供候选与时机、D2 向 D3 提供物理状态、D3 更新 D2 的缓存生命周期、实际服务进度反馈到 D1。同一示例中的 P 为 parent，C1/C2 为其 children。文本阶段/工作量推理在独立 CPU 进程执行，工具历史提供条件时机提示。等待结束预测框分成两路：child 已送达正文、通知与生成进度进入异步 CPU 模型，输出最终报告阶段置信度及条件剩余 token；runtime 再结合观测有效速率给出 RETURN 时机提示。RCCG 将唯一未返回 child 对应到等待中的 parent。工具一路则用命令历史与已耗时，在仍未完成的条件下估计 TOOL_END，对应到工具所属 agent A。虚线只表示候选恢复需求，不把 P/A 标为 ready。该框向缓存与准入规划传递身份和时机提示，两路都不独立授权迁移或执行。NativeAdmissionRuntime 联合因果身份、checkpoint、时机、容量和下一批观测。受支持的 overlap 配置下，等待迁移规划安排在 forward 发射后。原生可见等待队列、PrefillAdder、分配器和数据依赖保持权威。虚线表达观测反馈，不表示所有控制工作均异步。显式完成通知属于 harness 协议，应在所有对照组保持一致。root 可以在 JOIN 后再次 spawn；当前 child harness 不提供嵌套 task 委派。工具完成只让 child 恢复执行，只有实际 child RETURN 才计入 JOIN 完成。圆角分组与对齐网格表达层级。控制面为蓝边浅蓝底，数据面为绿边浅绿底。HBM/Host 使用对等层级的几何形状和黑色边框，标题与页体分别采用紫色和黄色，背景分别为浅灰和浅桃色。全部显式颜色取自用户原图，取色记录保存在 manifest。相同页号和细 owner 色条跨副本保持一致，将存储位置与 agent 归属分开。前缀索引为紧凑中性分组，不是第三个存储池；原生准入有独立服务分组。驻留由位置及实虚边框表达。三角箭头为执行、凹尾箭头为控制、宽曲线带为 KV 迁移、开口虚线曲线为反馈。HiCache/DMA 表示传输子系统；D2H/H2D 标注传输边，不是独立设备。六边形 S 表示 Mamba checkpoint，与矩形 FULL 页分开。NOTICE 是已观测到的收尾通知，不是真实终态标签。控制面结合 checkpoint、实测时机、原生容量和候选顺序；数据面的 FULL 页与 Mamba 槽分别核算。代码：causal_graph.py、semantic_report_worker.py、sglang_v0520_runtime.py 的 scheduler_step / dispatch_after_forward / plan_native_prefill，以及 staging patch。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黑色圆圈标在执行箭头上。①将唯一未返回的 C2 绑定到等待中的 P，C1 已返回。②独立 CPU worker 根据已送达正文、通知与生成进度推断最终阶段置信度和条件剩余 token。③扣除预测快照之后新增的进度，滚动更新当前剩余工作，再结合观测有效速率换算时机。简式中的 W 已是更新后的剩余工作，不能重复扣除。0.5/2/5 秒速率包含已发生的服务间隙，未来排队不是在线输入；进度箭头表示滚动更新。④将候选身份与时机交给 D3。工具路径独立根据历史、已耗时及仍未结束这一条件估计 TOOL_END，并绑定工具所属 agent A；不经过内容模型。在线工具迁移路径至多处理一个活跃调用。主图省略编码器内部结构，分数和区间均为机制示意。NOTICE、EOS 与预测不直接满足 JOIN，也不授权 H2D；当前内容 JOIN 路径要求唯一未返回 child，工作区间不代表已校准的多 child JOIN 墙钟分布。代码：causal_graph.py、child_semantic_work.py、conditional_work.py、project_tool_history.py、semantic_report_worker.py 与 runtime 的语义/工具路径。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箭头序号对应典型操作，不表示全局强制执行顺序。①只补传 Host 中缺失的稳定FULL p4/p5，p0..p3 已有副本；PREPARE_HOST 本身不释放 HBM，也不投机备份持续更新的 Mamba。②有容量压力时回收 HBM 已备份的冷页 p2/p3。③C1 RETURN后直接释放已无用途的私有 p1..p3，无须 D2H；共享 p0 与 C2 活跃 KV 保留。释放必须满足无活跃引用、共享依赖及在途传输风险等原生条件。空页表示释放的容量，不表示 child 数据复制给 parent 或为其独占预留。④将安全输入 checkpoint c*、缺失 FULL、必要匹配状态及实际容量提供给 D3。c* 结束于 p5，生成后缀不作为恢复目标。状态六边形表示独立的匹配状态查找，不是 PREPARE 的另一个传输目标；最新 decode 状态未必匹配 c*。短等待可以直接保留 HBM。物理页及 FULL/Mamba 分池继续由原生系统管理。代码：runtime 等待备份/终态回收、sglang_v0520_physical.py 与原生缓存 staging patch。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箭头序号表达推断与原生服务的协同。①根据 D1 的滚动提示，以及同方向/形态/大小的实测传输耗时选择启动时机。②根据 D2 的空闲、可回收容量及下一批输入增长预留选择缺页，FULL/Mamba 分池核算。③只 H2D 缺失的 p2/p3 及匹配 c* 的必要状态，右侧其余页已驻留。两页是示例，不是固定上限。传输在真实 C2 RETURN 前开始、之后完成，表示有用的部分重叠，不代表实测时间。C1 此前已返回，与 D1/D2一致。④真实 JOIN 完成且请求提交后，对已恢复且可执行的 P 有界提升，同时保留HBM 命中倾向、老化和 batch 填充。原生 PrefillAdder、分配器、逐层数据依赖、必要 Mamba 与 slot 保持决定权。锁表示待首次消费期间的有界保护，不是永久固定。账本 ACK 管理生命周期，不是所有执行都要等待的统一屏障；其余尾部或依赖仍用原生恢复，失败、过期时原生回退。同轮观测复用和无机会轻量路径降低控制成本。示意图不声称已获得吞吐或 JCT 收益。代码：native_transfer_policy.py、native_transfer_service.py 及 runtime 的 _wait_prefetch_opportunity、defer_prefill_for_prefetch、plan_native_prefill。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eliefKV：工作流感知的执行与 KV 协同管理"/>
          <p:cNvSpPr txBox="1"/>
          <p:nvPr/>
        </p:nvSpPr>
        <p:spPr>
          <a:xfrm>
            <a:off x="292600" y="58640"/>
            <a:ext cx="5461619" cy="422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31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BeliefKV：工作流感知的执行与 KV 协同管理</a:t>
            </a:r>
          </a:p>
        </p:txBody>
      </p:sp>
      <p:sp>
        <p:nvSpPr>
          <p:cNvPr id="3" name="预测执行需求 → 管理 KV 生命周期 → 协同准入"/>
          <p:cNvSpPr txBox="1"/>
          <p:nvPr/>
        </p:nvSpPr>
        <p:spPr>
          <a:xfrm>
            <a:off x="292600" y="439020"/>
            <a:ext cx="3695675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预测执行需求 → 管理 KV 生命周期 → 协同准入</a:t>
            </a:r>
          </a:p>
        </p:txBody>
      </p:sp>
      <p:cxnSp>
        <p:nvCxnSpPr>
          <p:cNvPr id="4" name="line 3"/>
          <p:cNvCxnSpPr/>
          <p:nvPr/>
        </p:nvCxnSpPr>
        <p:spPr>
          <a:xfrm>
            <a:off x="292600" y="790140"/>
            <a:ext cx="12581800" cy="0"/>
          </a:xfrm>
          <a:prstGeom prst="line">
            <a:avLst/>
          </a:prstGeom>
          <a:ln w="11704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4"/>
          <p:cNvSpPr/>
          <p:nvPr/>
        </p:nvSpPr>
        <p:spPr>
          <a:xfrm>
            <a:off x="234080" y="907180"/>
            <a:ext cx="12698840" cy="11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 w="1463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 5"/>
          <p:cNvSpPr/>
          <p:nvPr/>
        </p:nvSpPr>
        <p:spPr>
          <a:xfrm>
            <a:off x="241395" y="914495"/>
            <a:ext cx="12684210" cy="270655"/>
          </a:xfrm>
          <a:prstGeom prst="roundRect">
            <a:avLst>
              <a:gd name="adj" fmla="val 18918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 6"/>
          <p:cNvSpPr/>
          <p:nvPr/>
        </p:nvSpPr>
        <p:spPr>
          <a:xfrm>
            <a:off x="241395" y="1046165"/>
            <a:ext cx="12684210" cy="13898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line 7"/>
          <p:cNvCxnSpPr/>
          <p:nvPr/>
        </p:nvCxnSpPr>
        <p:spPr>
          <a:xfrm>
            <a:off x="241395" y="1185150"/>
            <a:ext cx="12684210" cy="0"/>
          </a:xfrm>
          <a:prstGeom prst="line">
            <a:avLst/>
          </a:prstGeom>
          <a:ln w="8778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动态 Agent 工作流"/>
          <p:cNvSpPr txBox="1"/>
          <p:nvPr/>
        </p:nvSpPr>
        <p:spPr>
          <a:xfrm>
            <a:off x="336490" y="915300"/>
            <a:ext cx="1669449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动态 Agent 工作流</a:t>
            </a:r>
          </a:p>
        </p:txBody>
      </p:sp>
      <p:sp>
        <p:nvSpPr>
          <p:cNvPr id="10" name="circle 9"/>
          <p:cNvSpPr/>
          <p:nvPr/>
        </p:nvSpPr>
        <p:spPr>
          <a:xfrm>
            <a:off x="424270" y="1426545"/>
            <a:ext cx="365750" cy="365750"/>
          </a:xfrm>
          <a:prstGeom prst="ellipse">
            <a:avLst/>
          </a:prstGeom>
          <a:solidFill>
            <a:srgbClr val="A6CAEC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"/>
          <p:cNvSpPr txBox="1"/>
          <p:nvPr/>
        </p:nvSpPr>
        <p:spPr>
          <a:xfrm>
            <a:off x="504706" y="1464290"/>
            <a:ext cx="204877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2" name="circle 11"/>
          <p:cNvSpPr/>
          <p:nvPr/>
        </p:nvSpPr>
        <p:spPr>
          <a:xfrm>
            <a:off x="1565410" y="1221725"/>
            <a:ext cx="336490" cy="336490"/>
          </a:xfrm>
          <a:prstGeom prst="ellipse">
            <a:avLst/>
          </a:prstGeom>
          <a:solidFill>
            <a:srgbClr val="84E291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1"/>
          <p:cNvSpPr txBox="1"/>
          <p:nvPr/>
        </p:nvSpPr>
        <p:spPr>
          <a:xfrm>
            <a:off x="1589498" y="1256325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14" name="circle 13"/>
          <p:cNvSpPr/>
          <p:nvPr/>
        </p:nvSpPr>
        <p:spPr>
          <a:xfrm>
            <a:off x="1565410" y="1631365"/>
            <a:ext cx="336490" cy="336490"/>
          </a:xfrm>
          <a:prstGeom prst="ellipse">
            <a:avLst/>
          </a:prstGeom>
          <a:solidFill>
            <a:srgbClr val="F6C6AD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2"/>
          <p:cNvSpPr txBox="1"/>
          <p:nvPr/>
        </p:nvSpPr>
        <p:spPr>
          <a:xfrm>
            <a:off x="1589498" y="1665965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16" name="rect 15"/>
          <p:cNvSpPr/>
          <p:nvPr/>
        </p:nvSpPr>
        <p:spPr>
          <a:xfrm>
            <a:off x="2392005" y="1258300"/>
            <a:ext cx="497420" cy="2926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line 16"/>
          <p:cNvCxnSpPr/>
          <p:nvPr/>
        </p:nvCxnSpPr>
        <p:spPr>
          <a:xfrm>
            <a:off x="2399320" y="1319746"/>
            <a:ext cx="482790" cy="0"/>
          </a:xfrm>
          <a:prstGeom prst="line">
            <a:avLst/>
          </a:prstGeom>
          <a:ln w="731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ath 17"/>
          <p:cNvSpPr/>
          <p:nvPr/>
        </p:nvSpPr>
        <p:spPr>
          <a:xfrm>
            <a:off x="2509045" y="1382535"/>
            <a:ext cx="80465" cy="109725"/>
          </a:xfrm>
          <a:custGeom>
            <a:avLst/>
            <a:gdLst/>
            <a:ahLst/>
            <a:cxnLst/>
            <a:rect l="l" t="t" r="r" b="b"/>
            <a:pathLst>
              <a:path w="11" h="15">
                <a:moveTo>
                  <a:pt x="0" y="0"/>
                </a:moveTo>
                <a:lnTo>
                  <a:pt x="11" y="7"/>
                </a:lnTo>
                <a:lnTo>
                  <a:pt x="0" y="15"/>
                </a:lnTo>
              </a:path>
            </a:pathLst>
          </a:custGeom>
          <a:noFill/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line 18"/>
          <p:cNvCxnSpPr/>
          <p:nvPr/>
        </p:nvCxnSpPr>
        <p:spPr>
          <a:xfrm>
            <a:off x="2669975" y="1486528"/>
            <a:ext cx="11704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olygon 19"/>
          <p:cNvSpPr/>
          <p:nvPr/>
        </p:nvSpPr>
        <p:spPr>
          <a:xfrm>
            <a:off x="3174710" y="1360590"/>
            <a:ext cx="775390" cy="482790"/>
          </a:xfrm>
          <a:custGeom>
            <a:avLst/>
            <a:gdLst/>
            <a:ahLst/>
            <a:cxnLst/>
            <a:rect l="l" t="t" r="r" b="b"/>
            <a:pathLst>
              <a:path w="106" h="66">
                <a:moveTo>
                  <a:pt x="53" y="0"/>
                </a:moveTo>
                <a:lnTo>
                  <a:pt x="106" y="33"/>
                </a:lnTo>
                <a:lnTo>
                  <a:pt x="53" y="66"/>
                </a:lnTo>
                <a:lnTo>
                  <a:pt x="0" y="33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JOIN"/>
          <p:cNvSpPr txBox="1"/>
          <p:nvPr/>
        </p:nvSpPr>
        <p:spPr>
          <a:xfrm>
            <a:off x="3306337" y="1455805"/>
            <a:ext cx="512136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JOIN</a:t>
            </a:r>
          </a:p>
        </p:txBody>
      </p:sp>
      <p:sp>
        <p:nvSpPr>
          <p:cNvPr id="22" name="circle 21"/>
          <p:cNvSpPr/>
          <p:nvPr/>
        </p:nvSpPr>
        <p:spPr>
          <a:xfrm>
            <a:off x="4352425" y="1419230"/>
            <a:ext cx="365750" cy="365750"/>
          </a:xfrm>
          <a:prstGeom prst="ellipse">
            <a:avLst/>
          </a:prstGeom>
          <a:solidFill>
            <a:srgbClr val="A6CAEC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"/>
          <p:cNvSpPr txBox="1"/>
          <p:nvPr/>
        </p:nvSpPr>
        <p:spPr>
          <a:xfrm>
            <a:off x="4432861" y="1456975"/>
            <a:ext cx="204877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cxnSp>
        <p:nvCxnSpPr>
          <p:cNvPr id="24" name="path 23"/>
          <p:cNvCxnSpPr/>
          <p:nvPr/>
        </p:nvCxnSpPr>
        <p:spPr>
          <a:xfrm flipV="1">
            <a:off x="811965" y="1411915"/>
            <a:ext cx="724185" cy="13167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ath 24"/>
          <p:cNvCxnSpPr/>
          <p:nvPr/>
        </p:nvCxnSpPr>
        <p:spPr>
          <a:xfrm flipV="1">
            <a:off x="811965" y="1411915"/>
            <a:ext cx="724185" cy="131670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arrowhead 25"/>
          <p:cNvSpPr/>
          <p:nvPr/>
        </p:nvSpPr>
        <p:spPr>
          <a:xfrm>
            <a:off x="1397165" y="1367905"/>
            <a:ext cx="138985" cy="131670"/>
          </a:xfrm>
          <a:custGeom>
            <a:avLst/>
            <a:gdLst/>
            <a:ahLst/>
            <a:cxnLst/>
            <a:rect l="l" t="t" r="r" b="b"/>
            <a:pathLst>
              <a:path w="19" h="18">
                <a:moveTo>
                  <a:pt x="19" y="6"/>
                </a:moveTo>
                <a:lnTo>
                  <a:pt x="3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path 26"/>
          <p:cNvCxnSpPr/>
          <p:nvPr/>
        </p:nvCxnSpPr>
        <p:spPr>
          <a:xfrm>
            <a:off x="811965" y="1697200"/>
            <a:ext cx="724185" cy="80465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path 27"/>
          <p:cNvCxnSpPr/>
          <p:nvPr/>
        </p:nvCxnSpPr>
        <p:spPr>
          <a:xfrm>
            <a:off x="811965" y="1697200"/>
            <a:ext cx="724185" cy="80465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head 28"/>
          <p:cNvSpPr/>
          <p:nvPr/>
        </p:nvSpPr>
        <p:spPr>
          <a:xfrm>
            <a:off x="1397165" y="1697080"/>
            <a:ext cx="138985" cy="131670"/>
          </a:xfrm>
          <a:custGeom>
            <a:avLst/>
            <a:gdLst/>
            <a:ahLst/>
            <a:cxnLst/>
            <a:rect l="l" t="t" r="r" b="b"/>
            <a:pathLst>
              <a:path w="19" h="18">
                <a:moveTo>
                  <a:pt x="19" y="11"/>
                </a:moveTo>
                <a:lnTo>
                  <a:pt x="0" y="18"/>
                </a:lnTo>
                <a:lnTo>
                  <a:pt x="2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path 29"/>
          <p:cNvCxnSpPr/>
          <p:nvPr/>
        </p:nvCxnSpPr>
        <p:spPr>
          <a:xfrm>
            <a:off x="1923845" y="1389970"/>
            <a:ext cx="446215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path 30"/>
          <p:cNvCxnSpPr/>
          <p:nvPr/>
        </p:nvCxnSpPr>
        <p:spPr>
          <a:xfrm>
            <a:off x="1923845" y="1389970"/>
            <a:ext cx="446215" cy="0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arrowhead 31"/>
          <p:cNvSpPr/>
          <p:nvPr/>
        </p:nvSpPr>
        <p:spPr>
          <a:xfrm>
            <a:off x="2238390" y="132401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urve 32"/>
          <p:cNvSpPr/>
          <p:nvPr/>
        </p:nvSpPr>
        <p:spPr>
          <a:xfrm>
            <a:off x="2911370" y="1397165"/>
            <a:ext cx="256025" cy="95095"/>
          </a:xfrm>
          <a:custGeom>
            <a:avLst/>
            <a:gdLst/>
            <a:ahLst/>
            <a:cxnLst/>
            <a:rect l="l" t="t" r="r" b="b"/>
            <a:pathLst>
              <a:path w="35" h="13">
                <a:moveTo>
                  <a:pt x="0" y="0"/>
                </a:moveTo>
                <a:lnTo>
                  <a:pt x="13" y="0"/>
                </a:lnTo>
                <a:cubicBezTo>
                  <a:pt x="16" y="0"/>
                  <a:pt x="21" y="2"/>
                  <a:pt x="24" y="4"/>
                </a:cubicBezTo>
                <a:lnTo>
                  <a:pt x="35" y="13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urve 33"/>
          <p:cNvSpPr/>
          <p:nvPr/>
        </p:nvSpPr>
        <p:spPr>
          <a:xfrm>
            <a:off x="2911370" y="1397165"/>
            <a:ext cx="256025" cy="95095"/>
          </a:xfrm>
          <a:custGeom>
            <a:avLst/>
            <a:gdLst/>
            <a:ahLst/>
            <a:cxnLst/>
            <a:rect l="l" t="t" r="r" b="b"/>
            <a:pathLst>
              <a:path w="35" h="13">
                <a:moveTo>
                  <a:pt x="0" y="0"/>
                </a:moveTo>
                <a:lnTo>
                  <a:pt x="13" y="0"/>
                </a:lnTo>
                <a:cubicBezTo>
                  <a:pt x="16" y="0"/>
                  <a:pt x="21" y="2"/>
                  <a:pt x="24" y="4"/>
                </a:cubicBezTo>
                <a:lnTo>
                  <a:pt x="35" y="13"/>
                </a:lnTo>
              </a:path>
            </a:pathLst>
          </a:custGeom>
          <a:noFill/>
          <a:ln w="35112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rrowhead 34"/>
          <p:cNvSpPr/>
          <p:nvPr/>
        </p:nvSpPr>
        <p:spPr>
          <a:xfrm>
            <a:off x="3072300" y="1404480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12"/>
                </a:moveTo>
                <a:lnTo>
                  <a:pt x="0" y="9"/>
                </a:lnTo>
                <a:lnTo>
                  <a:pt x="7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urve 35"/>
          <p:cNvSpPr/>
          <p:nvPr/>
        </p:nvSpPr>
        <p:spPr>
          <a:xfrm>
            <a:off x="1923845" y="1704395"/>
            <a:ext cx="1243550" cy="95095"/>
          </a:xfrm>
          <a:custGeom>
            <a:avLst/>
            <a:gdLst/>
            <a:ahLst/>
            <a:cxnLst/>
            <a:rect l="l" t="t" r="r" b="b"/>
            <a:pathLst>
              <a:path w="170" h="13">
                <a:moveTo>
                  <a:pt x="0" y="13"/>
                </a:moveTo>
                <a:lnTo>
                  <a:pt x="143" y="13"/>
                </a:lnTo>
                <a:cubicBezTo>
                  <a:pt x="148" y="13"/>
                  <a:pt x="154" y="11"/>
                  <a:pt x="157" y="9"/>
                </a:cubicBezTo>
                <a:lnTo>
                  <a:pt x="170" y="0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urve 36"/>
          <p:cNvSpPr/>
          <p:nvPr/>
        </p:nvSpPr>
        <p:spPr>
          <a:xfrm>
            <a:off x="1923845" y="1704395"/>
            <a:ext cx="1243550" cy="95095"/>
          </a:xfrm>
          <a:custGeom>
            <a:avLst/>
            <a:gdLst/>
            <a:ahLst/>
            <a:cxnLst/>
            <a:rect l="l" t="t" r="r" b="b"/>
            <a:pathLst>
              <a:path w="170" h="13">
                <a:moveTo>
                  <a:pt x="0" y="13"/>
                </a:moveTo>
                <a:lnTo>
                  <a:pt x="143" y="13"/>
                </a:lnTo>
                <a:cubicBezTo>
                  <a:pt x="148" y="13"/>
                  <a:pt x="154" y="11"/>
                  <a:pt x="157" y="9"/>
                </a:cubicBezTo>
                <a:lnTo>
                  <a:pt x="170" y="0"/>
                </a:lnTo>
              </a:path>
            </a:pathLst>
          </a:custGeom>
          <a:noFill/>
          <a:ln w="35112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rowhead 37"/>
          <p:cNvSpPr/>
          <p:nvPr/>
        </p:nvSpPr>
        <p:spPr>
          <a:xfrm>
            <a:off x="3072300" y="1704395"/>
            <a:ext cx="95095" cy="8778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13" y="0"/>
                </a:moveTo>
                <a:lnTo>
                  <a:pt x="6" y="12"/>
                </a:lnTo>
                <a:lnTo>
                  <a:pt x="0" y="2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path 38"/>
          <p:cNvCxnSpPr/>
          <p:nvPr/>
        </p:nvCxnSpPr>
        <p:spPr>
          <a:xfrm>
            <a:off x="3979360" y="1602105"/>
            <a:ext cx="35112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path 39"/>
          <p:cNvCxnSpPr/>
          <p:nvPr/>
        </p:nvCxnSpPr>
        <p:spPr>
          <a:xfrm>
            <a:off x="3979360" y="1602105"/>
            <a:ext cx="351120" cy="0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head 40"/>
          <p:cNvSpPr/>
          <p:nvPr/>
        </p:nvSpPr>
        <p:spPr>
          <a:xfrm>
            <a:off x="4198810" y="153615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PAWN"/>
          <p:cNvSpPr txBox="1"/>
          <p:nvPr/>
        </p:nvSpPr>
        <p:spPr>
          <a:xfrm>
            <a:off x="929005" y="1166862"/>
            <a:ext cx="607316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SPAWN</a:t>
            </a:r>
          </a:p>
        </p:txBody>
      </p:sp>
      <p:sp>
        <p:nvSpPr>
          <p:cNvPr id="43" name="RETURN"/>
          <p:cNvSpPr txBox="1"/>
          <p:nvPr/>
        </p:nvSpPr>
        <p:spPr>
          <a:xfrm>
            <a:off x="2895883" y="1141260"/>
            <a:ext cx="601544" cy="2212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6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RETURN</a:t>
            </a:r>
          </a:p>
        </p:txBody>
      </p:sp>
      <p:sp>
        <p:nvSpPr>
          <p:cNvPr id="44" name="curve 43"/>
          <p:cNvSpPr/>
          <p:nvPr/>
        </p:nvSpPr>
        <p:spPr>
          <a:xfrm>
            <a:off x="4535300" y="1572725"/>
            <a:ext cx="892430" cy="395010"/>
          </a:xfrm>
          <a:custGeom>
            <a:avLst/>
            <a:gdLst/>
            <a:ahLst/>
            <a:cxnLst/>
            <a:rect l="l" t="t" r="r" b="b"/>
            <a:pathLst>
              <a:path w="122" h="54">
                <a:moveTo>
                  <a:pt x="28" y="9"/>
                </a:moveTo>
                <a:cubicBezTo>
                  <a:pt x="108" y="0"/>
                  <a:pt x="122" y="49"/>
                  <a:pt x="43" y="47"/>
                </a:cubicBezTo>
                <a:cubicBezTo>
                  <a:pt x="11" y="47"/>
                  <a:pt x="0" y="54"/>
                  <a:pt x="0" y="32"/>
                </a:cubicBez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urve 44"/>
          <p:cNvSpPr/>
          <p:nvPr/>
        </p:nvSpPr>
        <p:spPr>
          <a:xfrm>
            <a:off x="4535300" y="1572725"/>
            <a:ext cx="892430" cy="395010"/>
          </a:xfrm>
          <a:custGeom>
            <a:avLst/>
            <a:gdLst/>
            <a:ahLst/>
            <a:cxnLst/>
            <a:rect l="l" t="t" r="r" b="b"/>
            <a:pathLst>
              <a:path w="122" h="54">
                <a:moveTo>
                  <a:pt x="28" y="9"/>
                </a:moveTo>
                <a:cubicBezTo>
                  <a:pt x="108" y="0"/>
                  <a:pt x="122" y="49"/>
                  <a:pt x="43" y="47"/>
                </a:cubicBezTo>
                <a:cubicBezTo>
                  <a:pt x="11" y="47"/>
                  <a:pt x="0" y="54"/>
                  <a:pt x="0" y="32"/>
                </a:cubicBezTo>
              </a:path>
            </a:pathLst>
          </a:custGeom>
          <a:noFill/>
          <a:ln w="35112">
            <a:solidFill>
              <a:srgbClr val="15608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arrowhead 45"/>
          <p:cNvSpPr/>
          <p:nvPr/>
        </p:nvSpPr>
        <p:spPr>
          <a:xfrm>
            <a:off x="4491410" y="180680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6" y="0"/>
                </a:moveTo>
                <a:lnTo>
                  <a:pt x="12" y="12"/>
                </a:lnTo>
                <a:lnTo>
                  <a:pt x="0" y="12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下一轮"/>
          <p:cNvSpPr txBox="1"/>
          <p:nvPr/>
        </p:nvSpPr>
        <p:spPr>
          <a:xfrm>
            <a:off x="4912022" y="1174177"/>
            <a:ext cx="54862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下一轮</a:t>
            </a:r>
          </a:p>
        </p:txBody>
      </p:sp>
      <p:cxnSp>
        <p:nvCxnSpPr>
          <p:cNvPr id="48" name="line 47"/>
          <p:cNvCxnSpPr/>
          <p:nvPr/>
        </p:nvCxnSpPr>
        <p:spPr>
          <a:xfrm>
            <a:off x="5705700" y="1250985"/>
            <a:ext cx="0" cy="651035"/>
          </a:xfrm>
          <a:prstGeom prst="line">
            <a:avLst/>
          </a:prstGeom>
          <a:ln w="8778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path 48"/>
          <p:cNvCxnSpPr/>
          <p:nvPr/>
        </p:nvCxnSpPr>
        <p:spPr>
          <a:xfrm>
            <a:off x="5961725" y="1543585"/>
            <a:ext cx="2172555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path 49"/>
          <p:cNvCxnSpPr/>
          <p:nvPr/>
        </p:nvCxnSpPr>
        <p:spPr>
          <a:xfrm>
            <a:off x="5961725" y="1543585"/>
            <a:ext cx="2172555" cy="0"/>
          </a:xfrm>
          <a:prstGeom prst="line">
            <a:avLst/>
          </a:prstGeom>
          <a:ln w="3511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arrowhead 50"/>
          <p:cNvSpPr/>
          <p:nvPr/>
        </p:nvSpPr>
        <p:spPr>
          <a:xfrm>
            <a:off x="8002610" y="147763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18"/>
                </a:moveTo>
                <a:lnTo>
                  <a:pt x="18" y="9"/>
                </a:lnTo>
                <a:lnTo>
                  <a:pt x="0" y="0"/>
                </a:lnTo>
              </a:path>
            </a:pathLst>
          </a:custGeom>
          <a:noFill/>
          <a:ln w="20574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circle 51"/>
          <p:cNvSpPr/>
          <p:nvPr/>
        </p:nvSpPr>
        <p:spPr>
          <a:xfrm>
            <a:off x="6151915" y="1499695"/>
            <a:ext cx="87780" cy="87780"/>
          </a:xfrm>
          <a:prstGeom prst="ellipse">
            <a:avLst/>
          </a:prstGeom>
          <a:solidFill>
            <a:srgbClr val="215F9A"/>
          </a:solidFill>
          <a:ln w="73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ircle 52"/>
          <p:cNvSpPr/>
          <p:nvPr/>
        </p:nvSpPr>
        <p:spPr>
          <a:xfrm>
            <a:off x="6949250" y="1499695"/>
            <a:ext cx="87780" cy="87780"/>
          </a:xfrm>
          <a:prstGeom prst="ellipse">
            <a:avLst/>
          </a:prstGeom>
          <a:solidFill>
            <a:srgbClr val="215F9A"/>
          </a:solidFill>
          <a:ln w="73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ircle 53"/>
          <p:cNvSpPr/>
          <p:nvPr/>
        </p:nvSpPr>
        <p:spPr>
          <a:xfrm>
            <a:off x="7746585" y="1499695"/>
            <a:ext cx="87780" cy="87780"/>
          </a:xfrm>
          <a:prstGeom prst="ellipse">
            <a:avLst/>
          </a:prstGeom>
          <a:solidFill>
            <a:srgbClr val="215F9A"/>
          </a:solidFill>
          <a:ln w="73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事件"/>
          <p:cNvSpPr txBox="1"/>
          <p:nvPr/>
        </p:nvSpPr>
        <p:spPr>
          <a:xfrm>
            <a:off x="6788320" y="1677084"/>
            <a:ext cx="424270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事件</a:t>
            </a:r>
          </a:p>
        </p:txBody>
      </p:sp>
      <p:sp>
        <p:nvSpPr>
          <p:cNvPr id="56" name="rect 55"/>
          <p:cNvSpPr/>
          <p:nvPr/>
        </p:nvSpPr>
        <p:spPr>
          <a:xfrm>
            <a:off x="8704850" y="1250985"/>
            <a:ext cx="599830" cy="55594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3898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polygon 56"/>
          <p:cNvSpPr/>
          <p:nvPr/>
        </p:nvSpPr>
        <p:spPr>
          <a:xfrm>
            <a:off x="9129120" y="1250865"/>
            <a:ext cx="175560" cy="17556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0" y="0"/>
                </a:moveTo>
                <a:lnTo>
                  <a:pt x="24" y="24"/>
                </a:lnTo>
                <a:lnTo>
                  <a:pt x="0" y="24"/>
                </a:lnTo>
                <a:close/>
              </a:path>
            </a:pathLst>
          </a:cu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 57"/>
          <p:cNvSpPr/>
          <p:nvPr/>
        </p:nvSpPr>
        <p:spPr>
          <a:xfrm>
            <a:off x="8792630" y="1426545"/>
            <a:ext cx="300208" cy="731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 58"/>
          <p:cNvSpPr/>
          <p:nvPr/>
        </p:nvSpPr>
        <p:spPr>
          <a:xfrm>
            <a:off x="8792630" y="1565530"/>
            <a:ext cx="350242" cy="73150"/>
          </a:xfrm>
          <a:prstGeom prst="rect">
            <a:avLst/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正文"/>
          <p:cNvSpPr txBox="1"/>
          <p:nvPr/>
        </p:nvSpPr>
        <p:spPr>
          <a:xfrm>
            <a:off x="8799945" y="1772179"/>
            <a:ext cx="40964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正文</a:t>
            </a:r>
          </a:p>
        </p:txBody>
      </p:sp>
      <p:sp>
        <p:nvSpPr>
          <p:cNvPr id="61" name="polygon 60"/>
          <p:cNvSpPr/>
          <p:nvPr/>
        </p:nvSpPr>
        <p:spPr>
          <a:xfrm>
            <a:off x="9970345" y="1324015"/>
            <a:ext cx="892430" cy="409640"/>
          </a:xfrm>
          <a:custGeom>
            <a:avLst/>
            <a:gdLst/>
            <a:ahLst/>
            <a:cxnLst/>
            <a:rect l="l" t="t" r="r" b="b"/>
            <a:pathLst>
              <a:path w="122" h="56">
                <a:moveTo>
                  <a:pt x="0" y="0"/>
                </a:moveTo>
                <a:lnTo>
                  <a:pt x="122" y="0"/>
                </a:lnTo>
                <a:lnTo>
                  <a:pt x="122" y="42"/>
                </a:lnTo>
                <a:lnTo>
                  <a:pt x="57" y="42"/>
                </a:lnTo>
                <a:lnTo>
                  <a:pt x="41" y="56"/>
                </a:lnTo>
                <a:lnTo>
                  <a:pt x="41" y="42"/>
                </a:lnTo>
                <a:lnTo>
                  <a:pt x="0" y="42"/>
                </a:lnTo>
                <a:close/>
              </a:path>
            </a:pathLst>
          </a:custGeom>
          <a:solidFill>
            <a:srgbClr val="F2AA84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NOTICE"/>
          <p:cNvSpPr txBox="1"/>
          <p:nvPr/>
        </p:nvSpPr>
        <p:spPr>
          <a:xfrm>
            <a:off x="10073812" y="1340594"/>
            <a:ext cx="685496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NOTICE</a:t>
            </a:r>
          </a:p>
        </p:txBody>
      </p:sp>
      <p:sp>
        <p:nvSpPr>
          <p:cNvPr id="63" name="path 62"/>
          <p:cNvSpPr/>
          <p:nvPr/>
        </p:nvSpPr>
        <p:spPr>
          <a:xfrm>
            <a:off x="11586960" y="1331330"/>
            <a:ext cx="768075" cy="395010"/>
          </a:xfrm>
          <a:custGeom>
            <a:avLst/>
            <a:gdLst/>
            <a:ahLst/>
            <a:cxnLst/>
            <a:rect l="l" t="t" r="r" b="b"/>
            <a:pathLst>
              <a:path w="105" h="54">
                <a:moveTo>
                  <a:pt x="0" y="54"/>
                </a:moveTo>
                <a:lnTo>
                  <a:pt x="22" y="54"/>
                </a:lnTo>
                <a:lnTo>
                  <a:pt x="22" y="37"/>
                </a:lnTo>
                <a:lnTo>
                  <a:pt x="47" y="37"/>
                </a:lnTo>
                <a:lnTo>
                  <a:pt x="47" y="19"/>
                </a:lnTo>
                <a:lnTo>
                  <a:pt x="73" y="19"/>
                </a:lnTo>
                <a:lnTo>
                  <a:pt x="73" y="0"/>
                </a:lnTo>
                <a:lnTo>
                  <a:pt x="105" y="0"/>
                </a:lnTo>
              </a:path>
            </a:pathLst>
          </a:custGeom>
          <a:noFill/>
          <a:ln w="18288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进度"/>
          <p:cNvSpPr txBox="1"/>
          <p:nvPr/>
        </p:nvSpPr>
        <p:spPr>
          <a:xfrm>
            <a:off x="11769835" y="1772179"/>
            <a:ext cx="40964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进度</a:t>
            </a:r>
          </a:p>
        </p:txBody>
      </p:sp>
      <p:sp>
        <p:nvSpPr>
          <p:cNvPr id="65" name="rect 64"/>
          <p:cNvSpPr/>
          <p:nvPr/>
        </p:nvSpPr>
        <p:spPr>
          <a:xfrm>
            <a:off x="234080" y="2194620"/>
            <a:ext cx="6671280" cy="5881260"/>
          </a:xfrm>
          <a:prstGeom prst="roundRect">
            <a:avLst>
              <a:gd name="adj" fmla="val 995"/>
            </a:avLst>
          </a:prstGeom>
          <a:solidFill>
            <a:srgbClr val="DCEAF7"/>
          </a:solidFill>
          <a:ln w="1463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 65"/>
          <p:cNvSpPr/>
          <p:nvPr/>
        </p:nvSpPr>
        <p:spPr>
          <a:xfrm>
            <a:off x="241395" y="2201935"/>
            <a:ext cx="6656650" cy="270655"/>
          </a:xfrm>
          <a:prstGeom prst="roundRect">
            <a:avLst>
              <a:gd name="adj" fmla="val 18918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 66"/>
          <p:cNvSpPr/>
          <p:nvPr/>
        </p:nvSpPr>
        <p:spPr>
          <a:xfrm>
            <a:off x="241395" y="2333605"/>
            <a:ext cx="6656650" cy="138985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line 67"/>
          <p:cNvCxnSpPr/>
          <p:nvPr/>
        </p:nvCxnSpPr>
        <p:spPr>
          <a:xfrm>
            <a:off x="241395" y="2472590"/>
            <a:ext cx="6656650" cy="0"/>
          </a:xfrm>
          <a:prstGeom prst="line">
            <a:avLst/>
          </a:prstGeom>
          <a:ln w="8778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BeliefKV 控制面"/>
          <p:cNvSpPr txBox="1"/>
          <p:nvPr/>
        </p:nvSpPr>
        <p:spPr>
          <a:xfrm>
            <a:off x="336490" y="2186281"/>
            <a:ext cx="1591555" cy="3273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BeliefKV 控制面</a:t>
            </a:r>
          </a:p>
        </p:txBody>
      </p:sp>
      <p:sp>
        <p:nvSpPr>
          <p:cNvPr id="70" name="rect 69"/>
          <p:cNvSpPr/>
          <p:nvPr/>
        </p:nvSpPr>
        <p:spPr>
          <a:xfrm>
            <a:off x="7080920" y="2194620"/>
            <a:ext cx="5852000" cy="5881260"/>
          </a:xfrm>
          <a:prstGeom prst="roundRect">
            <a:avLst>
              <a:gd name="adj" fmla="val 1000"/>
            </a:avLst>
          </a:prstGeom>
          <a:solidFill>
            <a:srgbClr val="D9F2D0"/>
          </a:solidFill>
          <a:ln w="14630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 70"/>
          <p:cNvSpPr/>
          <p:nvPr/>
        </p:nvSpPr>
        <p:spPr>
          <a:xfrm>
            <a:off x="7088235" y="2201935"/>
            <a:ext cx="5837370" cy="270655"/>
          </a:xfrm>
          <a:prstGeom prst="roundRect">
            <a:avLst>
              <a:gd name="adj" fmla="val 18918"/>
            </a:avLst>
          </a:pr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 71"/>
          <p:cNvSpPr/>
          <p:nvPr/>
        </p:nvSpPr>
        <p:spPr>
          <a:xfrm>
            <a:off x="7088235" y="2333605"/>
            <a:ext cx="5837370" cy="138985"/>
          </a:xfrm>
          <a:prstGeom prst="rect">
            <a:avLst/>
          </a:pr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line 72"/>
          <p:cNvCxnSpPr/>
          <p:nvPr/>
        </p:nvCxnSpPr>
        <p:spPr>
          <a:xfrm>
            <a:off x="7088235" y="2472590"/>
            <a:ext cx="5837370" cy="0"/>
          </a:xfrm>
          <a:prstGeom prst="line">
            <a:avLst/>
          </a:prstGeom>
          <a:ln w="8778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原生 SGLang 数据面"/>
          <p:cNvSpPr txBox="1"/>
          <p:nvPr/>
        </p:nvSpPr>
        <p:spPr>
          <a:xfrm>
            <a:off x="7183330" y="2186281"/>
            <a:ext cx="1972507" cy="3273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原生 SGLang 数据面</a:t>
            </a:r>
          </a:p>
        </p:txBody>
      </p:sp>
      <p:sp>
        <p:nvSpPr>
          <p:cNvPr id="75" name="curve 74"/>
          <p:cNvSpPr/>
          <p:nvPr/>
        </p:nvSpPr>
        <p:spPr>
          <a:xfrm>
            <a:off x="3313695" y="2040885"/>
            <a:ext cx="5683755" cy="138985"/>
          </a:xfrm>
          <a:custGeom>
            <a:avLst/>
            <a:gdLst/>
            <a:ahLst/>
            <a:cxnLst/>
            <a:rect l="l" t="t" r="r" b="b"/>
            <a:pathLst>
              <a:path w="777" h="19">
                <a:moveTo>
                  <a:pt x="777" y="0"/>
                </a:moveTo>
                <a:lnTo>
                  <a:pt x="777" y="5"/>
                </a:lnTo>
                <a:cubicBezTo>
                  <a:pt x="777" y="7"/>
                  <a:pt x="776" y="8"/>
                  <a:pt x="774" y="8"/>
                </a:cubicBezTo>
                <a:lnTo>
                  <a:pt x="4" y="8"/>
                </a:lnTo>
                <a:cubicBezTo>
                  <a:pt x="2" y="8"/>
                  <a:pt x="0" y="10"/>
                  <a:pt x="0" y="12"/>
                </a:cubicBezTo>
                <a:lnTo>
                  <a:pt x="0" y="19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urve 75"/>
          <p:cNvSpPr/>
          <p:nvPr/>
        </p:nvSpPr>
        <p:spPr>
          <a:xfrm>
            <a:off x="3313695" y="2040885"/>
            <a:ext cx="5683755" cy="138985"/>
          </a:xfrm>
          <a:custGeom>
            <a:avLst/>
            <a:gdLst/>
            <a:ahLst/>
            <a:cxnLst/>
            <a:rect l="l" t="t" r="r" b="b"/>
            <a:pathLst>
              <a:path w="777" h="19">
                <a:moveTo>
                  <a:pt x="777" y="0"/>
                </a:moveTo>
                <a:lnTo>
                  <a:pt x="777" y="5"/>
                </a:lnTo>
                <a:cubicBezTo>
                  <a:pt x="777" y="7"/>
                  <a:pt x="776" y="8"/>
                  <a:pt x="774" y="8"/>
                </a:cubicBezTo>
                <a:lnTo>
                  <a:pt x="4" y="8"/>
                </a:lnTo>
                <a:cubicBezTo>
                  <a:pt x="2" y="8"/>
                  <a:pt x="0" y="10"/>
                  <a:pt x="0" y="12"/>
                </a:cubicBezTo>
                <a:lnTo>
                  <a:pt x="0" y="19"/>
                </a:lnTo>
              </a:path>
            </a:pathLst>
          </a:custGeom>
          <a:noFill/>
          <a:ln w="3511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arrowhead 76"/>
          <p:cNvSpPr/>
          <p:nvPr/>
        </p:nvSpPr>
        <p:spPr>
          <a:xfrm>
            <a:off x="3269805" y="209209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0" y="0"/>
                </a:moveTo>
                <a:lnTo>
                  <a:pt x="6" y="12"/>
                </a:lnTo>
                <a:lnTo>
                  <a:pt x="12" y="0"/>
                </a:lnTo>
              </a:path>
            </a:pathLst>
          </a:custGeom>
          <a:noFill/>
          <a:ln w="137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 77"/>
          <p:cNvSpPr/>
          <p:nvPr/>
        </p:nvSpPr>
        <p:spPr>
          <a:xfrm>
            <a:off x="351120" y="2560370"/>
            <a:ext cx="6437200" cy="2135980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463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 78"/>
          <p:cNvSpPr/>
          <p:nvPr/>
        </p:nvSpPr>
        <p:spPr>
          <a:xfrm>
            <a:off x="358435" y="2567685"/>
            <a:ext cx="6422570" cy="270655"/>
          </a:xfrm>
          <a:prstGeom prst="roundRect">
            <a:avLst>
              <a:gd name="adj" fmla="val 18918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 79"/>
          <p:cNvSpPr/>
          <p:nvPr/>
        </p:nvSpPr>
        <p:spPr>
          <a:xfrm>
            <a:off x="358435" y="2699355"/>
            <a:ext cx="6422570" cy="138985"/>
          </a:xfrm>
          <a:prstGeom prst="rect">
            <a:avLst/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line 80"/>
          <p:cNvCxnSpPr/>
          <p:nvPr/>
        </p:nvCxnSpPr>
        <p:spPr>
          <a:xfrm>
            <a:off x="358435" y="2838340"/>
            <a:ext cx="6422570" cy="0"/>
          </a:xfrm>
          <a:prstGeom prst="line">
            <a:avLst/>
          </a:prstGeom>
          <a:ln w="8778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D1  事件与内容驱动的需求预测"/>
          <p:cNvSpPr txBox="1"/>
          <p:nvPr/>
        </p:nvSpPr>
        <p:spPr>
          <a:xfrm>
            <a:off x="453530" y="2568490"/>
            <a:ext cx="2704407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D1  事件与内容驱动的需求预测</a:t>
            </a:r>
          </a:p>
        </p:txBody>
      </p:sp>
      <p:sp>
        <p:nvSpPr>
          <p:cNvPr id="83" name="circle 82"/>
          <p:cNvSpPr/>
          <p:nvPr/>
        </p:nvSpPr>
        <p:spPr>
          <a:xfrm>
            <a:off x="490105" y="3321130"/>
            <a:ext cx="351120" cy="351120"/>
          </a:xfrm>
          <a:prstGeom prst="ellipse">
            <a:avLst/>
          </a:prstGeom>
          <a:solidFill>
            <a:srgbClr val="A6CAEC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P"/>
          <p:cNvSpPr txBox="1"/>
          <p:nvPr/>
        </p:nvSpPr>
        <p:spPr>
          <a:xfrm>
            <a:off x="565670" y="3358217"/>
            <a:ext cx="199991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85" name="circle 84"/>
          <p:cNvSpPr/>
          <p:nvPr/>
        </p:nvSpPr>
        <p:spPr>
          <a:xfrm>
            <a:off x="1309385" y="2955380"/>
            <a:ext cx="336490" cy="336490"/>
          </a:xfrm>
          <a:prstGeom prst="ellipse">
            <a:avLst/>
          </a:prstGeom>
          <a:solidFill>
            <a:srgbClr val="84E291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1"/>
          <p:cNvSpPr txBox="1"/>
          <p:nvPr/>
        </p:nvSpPr>
        <p:spPr>
          <a:xfrm>
            <a:off x="1333473" y="2989980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87" name="circle 86"/>
          <p:cNvSpPr/>
          <p:nvPr/>
        </p:nvSpPr>
        <p:spPr>
          <a:xfrm>
            <a:off x="1309385" y="3760030"/>
            <a:ext cx="336490" cy="336490"/>
          </a:xfrm>
          <a:prstGeom prst="ellipse">
            <a:avLst/>
          </a:prstGeom>
          <a:solidFill>
            <a:srgbClr val="F6C6AD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C2"/>
          <p:cNvSpPr txBox="1"/>
          <p:nvPr/>
        </p:nvSpPr>
        <p:spPr>
          <a:xfrm>
            <a:off x="1333473" y="3794630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89" name="path 88"/>
          <p:cNvSpPr/>
          <p:nvPr/>
        </p:nvSpPr>
        <p:spPr>
          <a:xfrm>
            <a:off x="1711710" y="294794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9"/>
                </a:moveTo>
                <a:lnTo>
                  <a:pt x="6" y="18"/>
                </a:lnTo>
                <a:lnTo>
                  <a:pt x="18" y="0"/>
                </a:lnTo>
              </a:path>
            </a:pathLst>
          </a:custGeom>
          <a:noFill/>
          <a:ln w="2048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polygon 89"/>
          <p:cNvSpPr/>
          <p:nvPr/>
        </p:nvSpPr>
        <p:spPr>
          <a:xfrm>
            <a:off x="2062830" y="3277120"/>
            <a:ext cx="599830" cy="438900"/>
          </a:xfrm>
          <a:custGeom>
            <a:avLst/>
            <a:gdLst/>
            <a:ahLst/>
            <a:cxnLst/>
            <a:rect l="l" t="t" r="r" b="b"/>
            <a:pathLst>
              <a:path w="82" h="60">
                <a:moveTo>
                  <a:pt x="41" y="0"/>
                </a:moveTo>
                <a:lnTo>
                  <a:pt x="82" y="30"/>
                </a:lnTo>
                <a:lnTo>
                  <a:pt x="41" y="60"/>
                </a:lnTo>
                <a:lnTo>
                  <a:pt x="0" y="30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ALL"/>
          <p:cNvSpPr txBox="1"/>
          <p:nvPr/>
        </p:nvSpPr>
        <p:spPr>
          <a:xfrm>
            <a:off x="2174269" y="3374164"/>
            <a:ext cx="376951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ALL</a:t>
            </a:r>
          </a:p>
        </p:txBody>
      </p:sp>
      <p:cxnSp>
        <p:nvCxnSpPr>
          <p:cNvPr id="92" name="path 91"/>
          <p:cNvCxnSpPr/>
          <p:nvPr/>
        </p:nvCxnSpPr>
        <p:spPr>
          <a:xfrm flipV="1">
            <a:off x="863170" y="3211405"/>
            <a:ext cx="424270" cy="182875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path 92"/>
          <p:cNvCxnSpPr/>
          <p:nvPr/>
        </p:nvCxnSpPr>
        <p:spPr>
          <a:xfrm flipV="1">
            <a:off x="863170" y="3211405"/>
            <a:ext cx="424270" cy="182875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arrowhead 93"/>
          <p:cNvSpPr/>
          <p:nvPr/>
        </p:nvSpPr>
        <p:spPr>
          <a:xfrm>
            <a:off x="1141140" y="3203970"/>
            <a:ext cx="146300" cy="117040"/>
          </a:xfrm>
          <a:custGeom>
            <a:avLst/>
            <a:gdLst/>
            <a:ahLst/>
            <a:cxnLst/>
            <a:rect l="l" t="t" r="r" b="b"/>
            <a:pathLst>
              <a:path w="20" h="16">
                <a:moveTo>
                  <a:pt x="20" y="1"/>
                </a:moveTo>
                <a:lnTo>
                  <a:pt x="7" y="16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path 94"/>
          <p:cNvCxnSpPr/>
          <p:nvPr/>
        </p:nvCxnSpPr>
        <p:spPr>
          <a:xfrm>
            <a:off x="863170" y="3606415"/>
            <a:ext cx="424270" cy="226765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path 95"/>
          <p:cNvCxnSpPr/>
          <p:nvPr/>
        </p:nvCxnSpPr>
        <p:spPr>
          <a:xfrm>
            <a:off x="863170" y="3606415"/>
            <a:ext cx="424270" cy="226765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arrowhead 96"/>
          <p:cNvSpPr/>
          <p:nvPr/>
        </p:nvSpPr>
        <p:spPr>
          <a:xfrm>
            <a:off x="1141140" y="3716020"/>
            <a:ext cx="146300" cy="117040"/>
          </a:xfrm>
          <a:custGeom>
            <a:avLst/>
            <a:gdLst/>
            <a:ahLst/>
            <a:cxnLst/>
            <a:rect l="l" t="t" r="r" b="b"/>
            <a:pathLst>
              <a:path w="20" h="16">
                <a:moveTo>
                  <a:pt x="20" y="16"/>
                </a:moveTo>
                <a:lnTo>
                  <a:pt x="0" y="15"/>
                </a:lnTo>
                <a:lnTo>
                  <a:pt x="8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curve 97"/>
          <p:cNvSpPr/>
          <p:nvPr/>
        </p:nvSpPr>
        <p:spPr>
          <a:xfrm>
            <a:off x="1682450" y="3123505"/>
            <a:ext cx="380380" cy="263340"/>
          </a:xfrm>
          <a:custGeom>
            <a:avLst/>
            <a:gdLst/>
            <a:ahLst/>
            <a:cxnLst/>
            <a:rect l="l" t="t" r="r" b="b"/>
            <a:pathLst>
              <a:path w="52" h="36">
                <a:moveTo>
                  <a:pt x="0" y="0"/>
                </a:moveTo>
                <a:lnTo>
                  <a:pt x="15" y="0"/>
                </a:lnTo>
                <a:cubicBezTo>
                  <a:pt x="20" y="0"/>
                  <a:pt x="25" y="3"/>
                  <a:pt x="28" y="6"/>
                </a:cubicBezTo>
                <a:lnTo>
                  <a:pt x="52" y="36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curve 98"/>
          <p:cNvSpPr/>
          <p:nvPr/>
        </p:nvSpPr>
        <p:spPr>
          <a:xfrm>
            <a:off x="1682450" y="3123505"/>
            <a:ext cx="380380" cy="263340"/>
          </a:xfrm>
          <a:custGeom>
            <a:avLst/>
            <a:gdLst/>
            <a:ahLst/>
            <a:cxnLst/>
            <a:rect l="l" t="t" r="r" b="b"/>
            <a:pathLst>
              <a:path w="52" h="36">
                <a:moveTo>
                  <a:pt x="0" y="0"/>
                </a:moveTo>
                <a:lnTo>
                  <a:pt x="15" y="0"/>
                </a:lnTo>
                <a:cubicBezTo>
                  <a:pt x="20" y="0"/>
                  <a:pt x="25" y="3"/>
                  <a:pt x="28" y="6"/>
                </a:cubicBezTo>
                <a:lnTo>
                  <a:pt x="52" y="36"/>
                </a:lnTo>
              </a:path>
            </a:pathLst>
          </a:custGeom>
          <a:noFill/>
          <a:ln w="35112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arrowhead 99"/>
          <p:cNvSpPr/>
          <p:nvPr/>
        </p:nvSpPr>
        <p:spPr>
          <a:xfrm>
            <a:off x="1931160" y="3240545"/>
            <a:ext cx="131670" cy="14630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12"/>
                </a:moveTo>
                <a:lnTo>
                  <a:pt x="18" y="20"/>
                </a:lnTo>
                <a:lnTo>
                  <a:pt x="14" y="0"/>
                </a:lnTo>
              </a:path>
            </a:pathLst>
          </a:custGeom>
          <a:noFill/>
          <a:ln w="20574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curve 100"/>
          <p:cNvSpPr/>
          <p:nvPr/>
        </p:nvSpPr>
        <p:spPr>
          <a:xfrm>
            <a:off x="1682450" y="3606295"/>
            <a:ext cx="380380" cy="321860"/>
          </a:xfrm>
          <a:custGeom>
            <a:avLst/>
            <a:gdLst/>
            <a:ahLst/>
            <a:cxnLst/>
            <a:rect l="l" t="t" r="r" b="b"/>
            <a:pathLst>
              <a:path w="52" h="44">
                <a:moveTo>
                  <a:pt x="0" y="44"/>
                </a:moveTo>
                <a:lnTo>
                  <a:pt x="15" y="44"/>
                </a:lnTo>
                <a:cubicBezTo>
                  <a:pt x="20" y="44"/>
                  <a:pt x="25" y="41"/>
                  <a:pt x="27" y="38"/>
                </a:cubicBezTo>
                <a:lnTo>
                  <a:pt x="52" y="0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curve 101"/>
          <p:cNvSpPr/>
          <p:nvPr/>
        </p:nvSpPr>
        <p:spPr>
          <a:xfrm>
            <a:off x="1682450" y="3606295"/>
            <a:ext cx="380380" cy="321860"/>
          </a:xfrm>
          <a:custGeom>
            <a:avLst/>
            <a:gdLst/>
            <a:ahLst/>
            <a:cxnLst/>
            <a:rect l="l" t="t" r="r" b="b"/>
            <a:pathLst>
              <a:path w="52" h="44">
                <a:moveTo>
                  <a:pt x="0" y="44"/>
                </a:moveTo>
                <a:lnTo>
                  <a:pt x="15" y="44"/>
                </a:lnTo>
                <a:cubicBezTo>
                  <a:pt x="20" y="44"/>
                  <a:pt x="25" y="41"/>
                  <a:pt x="27" y="38"/>
                </a:cubicBezTo>
                <a:lnTo>
                  <a:pt x="52" y="0"/>
                </a:lnTo>
              </a:path>
            </a:pathLst>
          </a:custGeom>
          <a:noFill/>
          <a:ln w="3511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arrowhead 102"/>
          <p:cNvSpPr/>
          <p:nvPr/>
        </p:nvSpPr>
        <p:spPr>
          <a:xfrm>
            <a:off x="1938475" y="3606295"/>
            <a:ext cx="124355" cy="146300"/>
          </a:xfrm>
          <a:custGeom>
            <a:avLst/>
            <a:gdLst/>
            <a:ahLst/>
            <a:cxnLst/>
            <a:rect l="l" t="t" r="r" b="b"/>
            <a:pathLst>
              <a:path w="17" h="20">
                <a:moveTo>
                  <a:pt x="15" y="20"/>
                </a:moveTo>
                <a:lnTo>
                  <a:pt x="17" y="0"/>
                </a:lnTo>
                <a:lnTo>
                  <a:pt x="0" y="10"/>
                </a:lnTo>
              </a:path>
            </a:pathLst>
          </a:custGeom>
          <a:noFill/>
          <a:ln w="20574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pending {C2}"/>
          <p:cNvSpPr txBox="1"/>
          <p:nvPr/>
        </p:nvSpPr>
        <p:spPr>
          <a:xfrm>
            <a:off x="504735" y="4250135"/>
            <a:ext cx="1190459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pending {C2}</a:t>
            </a:r>
          </a:p>
        </p:txBody>
      </p:sp>
      <p:sp>
        <p:nvSpPr>
          <p:cNvPr id="105" name="rect 104"/>
          <p:cNvSpPr/>
          <p:nvPr/>
        </p:nvSpPr>
        <p:spPr>
          <a:xfrm>
            <a:off x="3123505" y="3087050"/>
            <a:ext cx="533995" cy="555940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3898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polygon 105"/>
          <p:cNvSpPr/>
          <p:nvPr/>
        </p:nvSpPr>
        <p:spPr>
          <a:xfrm>
            <a:off x="3481940" y="3086930"/>
            <a:ext cx="175560" cy="17556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0" y="0"/>
                </a:moveTo>
                <a:lnTo>
                  <a:pt x="24" y="24"/>
                </a:lnTo>
                <a:lnTo>
                  <a:pt x="0" y="24"/>
                </a:lnTo>
                <a:close/>
              </a:path>
            </a:pathLst>
          </a:cu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 106"/>
          <p:cNvSpPr/>
          <p:nvPr/>
        </p:nvSpPr>
        <p:spPr>
          <a:xfrm>
            <a:off x="3211285" y="3262610"/>
            <a:ext cx="252806" cy="731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 107"/>
          <p:cNvSpPr/>
          <p:nvPr/>
        </p:nvSpPr>
        <p:spPr>
          <a:xfrm>
            <a:off x="3211285" y="3401595"/>
            <a:ext cx="294941" cy="73150"/>
          </a:xfrm>
          <a:prstGeom prst="rect">
            <a:avLst/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polygon 108"/>
          <p:cNvSpPr/>
          <p:nvPr/>
        </p:nvSpPr>
        <p:spPr>
          <a:xfrm>
            <a:off x="3123505" y="3840375"/>
            <a:ext cx="658350" cy="321860"/>
          </a:xfrm>
          <a:custGeom>
            <a:avLst/>
            <a:gdLst/>
            <a:ahLst/>
            <a:cxnLst/>
            <a:rect l="l" t="t" r="r" b="b"/>
            <a:pathLst>
              <a:path w="90" h="44">
                <a:moveTo>
                  <a:pt x="0" y="0"/>
                </a:moveTo>
                <a:lnTo>
                  <a:pt x="90" y="0"/>
                </a:lnTo>
                <a:lnTo>
                  <a:pt x="90" y="32"/>
                </a:lnTo>
                <a:lnTo>
                  <a:pt x="44" y="32"/>
                </a:lnTo>
                <a:lnTo>
                  <a:pt x="31" y="44"/>
                </a:lnTo>
                <a:lnTo>
                  <a:pt x="31" y="32"/>
                </a:lnTo>
                <a:lnTo>
                  <a:pt x="0" y="32"/>
                </a:lnTo>
                <a:close/>
              </a:path>
            </a:pathLst>
          </a:custGeom>
          <a:solidFill>
            <a:srgbClr val="F6C6AD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NOTICE"/>
          <p:cNvSpPr txBox="1"/>
          <p:nvPr/>
        </p:nvSpPr>
        <p:spPr>
          <a:xfrm>
            <a:off x="3177867" y="3871584"/>
            <a:ext cx="549625" cy="21030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9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NOTICE</a:t>
            </a:r>
          </a:p>
        </p:txBody>
      </p:sp>
      <p:sp>
        <p:nvSpPr>
          <p:cNvPr id="111" name="curve 110"/>
          <p:cNvSpPr/>
          <p:nvPr/>
        </p:nvSpPr>
        <p:spPr>
          <a:xfrm>
            <a:off x="1682450" y="3357585"/>
            <a:ext cx="1411795" cy="570570"/>
          </a:xfrm>
          <a:custGeom>
            <a:avLst/>
            <a:gdLst/>
            <a:ahLst/>
            <a:cxnLst/>
            <a:rect l="l" t="t" r="r" b="b"/>
            <a:pathLst>
              <a:path w="193" h="78">
                <a:moveTo>
                  <a:pt x="0" y="78"/>
                </a:moveTo>
                <a:lnTo>
                  <a:pt x="142" y="78"/>
                </a:lnTo>
                <a:cubicBezTo>
                  <a:pt x="152" y="78"/>
                  <a:pt x="160" y="70"/>
                  <a:pt x="160" y="60"/>
                </a:cubicBezTo>
                <a:lnTo>
                  <a:pt x="160" y="11"/>
                </a:lnTo>
                <a:cubicBezTo>
                  <a:pt x="160" y="5"/>
                  <a:pt x="165" y="0"/>
                  <a:pt x="171" y="0"/>
                </a:cubicBezTo>
                <a:lnTo>
                  <a:pt x="193" y="0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curve 111"/>
          <p:cNvSpPr/>
          <p:nvPr/>
        </p:nvSpPr>
        <p:spPr>
          <a:xfrm>
            <a:off x="1682450" y="3357585"/>
            <a:ext cx="1411795" cy="570570"/>
          </a:xfrm>
          <a:custGeom>
            <a:avLst/>
            <a:gdLst/>
            <a:ahLst/>
            <a:cxnLst/>
            <a:rect l="l" t="t" r="r" b="b"/>
            <a:pathLst>
              <a:path w="193" h="78">
                <a:moveTo>
                  <a:pt x="0" y="78"/>
                </a:moveTo>
                <a:lnTo>
                  <a:pt x="142" y="78"/>
                </a:lnTo>
                <a:cubicBezTo>
                  <a:pt x="152" y="78"/>
                  <a:pt x="160" y="70"/>
                  <a:pt x="160" y="60"/>
                </a:cubicBezTo>
                <a:lnTo>
                  <a:pt x="160" y="11"/>
                </a:lnTo>
                <a:cubicBezTo>
                  <a:pt x="160" y="5"/>
                  <a:pt x="165" y="0"/>
                  <a:pt x="171" y="0"/>
                </a:cubicBezTo>
                <a:lnTo>
                  <a:pt x="193" y="0"/>
                </a:lnTo>
              </a:path>
            </a:pathLst>
          </a:custGeom>
          <a:noFill/>
          <a:ln w="35112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arrowhead 112"/>
          <p:cNvSpPr/>
          <p:nvPr/>
        </p:nvSpPr>
        <p:spPr>
          <a:xfrm>
            <a:off x="3006465" y="331369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path 113"/>
          <p:cNvCxnSpPr/>
          <p:nvPr/>
        </p:nvCxnSpPr>
        <p:spPr>
          <a:xfrm>
            <a:off x="3686760" y="3372335"/>
            <a:ext cx="460845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path 114"/>
          <p:cNvCxnSpPr/>
          <p:nvPr/>
        </p:nvCxnSpPr>
        <p:spPr>
          <a:xfrm>
            <a:off x="3686760" y="3372335"/>
            <a:ext cx="460845" cy="0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arrowhead 115"/>
          <p:cNvSpPr/>
          <p:nvPr/>
        </p:nvSpPr>
        <p:spPr>
          <a:xfrm>
            <a:off x="4015935" y="330638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curve 116"/>
          <p:cNvSpPr/>
          <p:nvPr/>
        </p:nvSpPr>
        <p:spPr>
          <a:xfrm>
            <a:off x="3803800" y="3372215"/>
            <a:ext cx="343805" cy="585200"/>
          </a:xfrm>
          <a:custGeom>
            <a:avLst/>
            <a:gdLst/>
            <a:ahLst/>
            <a:cxnLst/>
            <a:rect l="l" t="t" r="r" b="b"/>
            <a:pathLst>
              <a:path w="47" h="80">
                <a:moveTo>
                  <a:pt x="0" y="80"/>
                </a:moveTo>
                <a:lnTo>
                  <a:pt x="17" y="80"/>
                </a:lnTo>
                <a:cubicBezTo>
                  <a:pt x="21" y="80"/>
                  <a:pt x="25" y="76"/>
                  <a:pt x="25" y="72"/>
                </a:cubicBezTo>
                <a:lnTo>
                  <a:pt x="25" y="7"/>
                </a:lnTo>
                <a:cubicBezTo>
                  <a:pt x="25" y="3"/>
                  <a:pt x="28" y="0"/>
                  <a:pt x="32" y="0"/>
                </a:cubicBezTo>
                <a:lnTo>
                  <a:pt x="47" y="0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urve 117"/>
          <p:cNvSpPr/>
          <p:nvPr/>
        </p:nvSpPr>
        <p:spPr>
          <a:xfrm>
            <a:off x="3803800" y="3372215"/>
            <a:ext cx="343805" cy="585200"/>
          </a:xfrm>
          <a:custGeom>
            <a:avLst/>
            <a:gdLst/>
            <a:ahLst/>
            <a:cxnLst/>
            <a:rect l="l" t="t" r="r" b="b"/>
            <a:pathLst>
              <a:path w="47" h="80">
                <a:moveTo>
                  <a:pt x="0" y="80"/>
                </a:moveTo>
                <a:lnTo>
                  <a:pt x="17" y="80"/>
                </a:lnTo>
                <a:cubicBezTo>
                  <a:pt x="21" y="80"/>
                  <a:pt x="25" y="76"/>
                  <a:pt x="25" y="72"/>
                </a:cubicBezTo>
                <a:lnTo>
                  <a:pt x="25" y="7"/>
                </a:lnTo>
                <a:cubicBezTo>
                  <a:pt x="25" y="3"/>
                  <a:pt x="28" y="0"/>
                  <a:pt x="32" y="0"/>
                </a:cubicBezTo>
                <a:lnTo>
                  <a:pt x="47" y="0"/>
                </a:lnTo>
              </a:path>
            </a:pathLst>
          </a:custGeom>
          <a:noFill/>
          <a:ln w="35112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arrowhead 118"/>
          <p:cNvSpPr/>
          <p:nvPr/>
        </p:nvSpPr>
        <p:spPr>
          <a:xfrm>
            <a:off x="4059825" y="332832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阶段 / 工作"/>
          <p:cNvSpPr txBox="1"/>
          <p:nvPr/>
        </p:nvSpPr>
        <p:spPr>
          <a:xfrm>
            <a:off x="4184180" y="2876744"/>
            <a:ext cx="866828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阶段 / 工作</a:t>
            </a:r>
          </a:p>
        </p:txBody>
      </p:sp>
      <p:sp>
        <p:nvSpPr>
          <p:cNvPr id="121" name="rect 120"/>
          <p:cNvSpPr/>
          <p:nvPr/>
        </p:nvSpPr>
        <p:spPr>
          <a:xfrm>
            <a:off x="4220755" y="3204090"/>
            <a:ext cx="724185" cy="124355"/>
          </a:xfrm>
          <a:prstGeom prst="rect">
            <a:avLst/>
          </a:prstGeom>
          <a:solidFill>
            <a:srgbClr val="FFFFFF"/>
          </a:solidFill>
          <a:ln w="731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 121"/>
          <p:cNvSpPr/>
          <p:nvPr/>
        </p:nvSpPr>
        <p:spPr>
          <a:xfrm>
            <a:off x="4220755" y="3204090"/>
            <a:ext cx="512050" cy="124355"/>
          </a:xfrm>
          <a:prstGeom prst="rect">
            <a:avLst/>
          </a:prstGeom>
          <a:solidFill>
            <a:srgbClr val="A6CAEC"/>
          </a:solidFill>
          <a:ln w="731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line 122"/>
          <p:cNvCxnSpPr/>
          <p:nvPr/>
        </p:nvCxnSpPr>
        <p:spPr>
          <a:xfrm>
            <a:off x="4220755" y="3533265"/>
            <a:ext cx="724185" cy="0"/>
          </a:xfrm>
          <a:prstGeom prst="line">
            <a:avLst/>
          </a:prstGeom>
          <a:ln w="18288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line 123"/>
          <p:cNvCxnSpPr/>
          <p:nvPr/>
        </p:nvCxnSpPr>
        <p:spPr>
          <a:xfrm>
            <a:off x="4220755" y="3467430"/>
            <a:ext cx="0" cy="13167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line 124"/>
          <p:cNvCxnSpPr/>
          <p:nvPr/>
        </p:nvCxnSpPr>
        <p:spPr>
          <a:xfrm>
            <a:off x="4944940" y="3467430"/>
            <a:ext cx="0" cy="13167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circle 125"/>
          <p:cNvSpPr/>
          <p:nvPr/>
        </p:nvSpPr>
        <p:spPr>
          <a:xfrm>
            <a:off x="4623080" y="3496690"/>
            <a:ext cx="73150" cy="73150"/>
          </a:xfrm>
          <a:prstGeom prst="ellipse">
            <a:avLst/>
          </a:prstGeom>
          <a:solidFill>
            <a:srgbClr val="000000"/>
          </a:solidFill>
          <a:ln w="731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path 126"/>
          <p:cNvCxnSpPr/>
          <p:nvPr/>
        </p:nvCxnSpPr>
        <p:spPr>
          <a:xfrm>
            <a:off x="5010775" y="3372335"/>
            <a:ext cx="24871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path 127"/>
          <p:cNvCxnSpPr/>
          <p:nvPr/>
        </p:nvCxnSpPr>
        <p:spPr>
          <a:xfrm>
            <a:off x="5010775" y="3372335"/>
            <a:ext cx="248710" cy="0"/>
          </a:xfrm>
          <a:prstGeom prst="line">
            <a:avLst/>
          </a:prstGeom>
          <a:ln w="3511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arrowhead 128"/>
          <p:cNvSpPr/>
          <p:nvPr/>
        </p:nvSpPr>
        <p:spPr>
          <a:xfrm>
            <a:off x="5127815" y="330638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5" y="9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circle 129"/>
          <p:cNvSpPr/>
          <p:nvPr/>
        </p:nvSpPr>
        <p:spPr>
          <a:xfrm>
            <a:off x="5303375" y="3233350"/>
            <a:ext cx="277970" cy="27797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path 130"/>
          <p:cNvSpPr/>
          <p:nvPr/>
        </p:nvSpPr>
        <p:spPr>
          <a:xfrm>
            <a:off x="5442360" y="3284435"/>
            <a:ext cx="73150" cy="124355"/>
          </a:xfrm>
          <a:custGeom>
            <a:avLst/>
            <a:gdLst/>
            <a:ahLst/>
            <a:cxnLst/>
            <a:rect l="l" t="t" r="r" b="b"/>
            <a:pathLst>
              <a:path w="10" h="17">
                <a:moveTo>
                  <a:pt x="0" y="0"/>
                </a:moveTo>
                <a:lnTo>
                  <a:pt x="0" y="12"/>
                </a:lnTo>
                <a:lnTo>
                  <a:pt x="10" y="17"/>
                </a:lnTo>
              </a:path>
            </a:pathLst>
          </a:custGeom>
          <a:noFill/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2" name="path 131"/>
          <p:cNvCxnSpPr/>
          <p:nvPr/>
        </p:nvCxnSpPr>
        <p:spPr>
          <a:xfrm>
            <a:off x="5639865" y="3372335"/>
            <a:ext cx="42427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path 132"/>
          <p:cNvCxnSpPr/>
          <p:nvPr/>
        </p:nvCxnSpPr>
        <p:spPr>
          <a:xfrm>
            <a:off x="5639865" y="3372335"/>
            <a:ext cx="424270" cy="0"/>
          </a:xfrm>
          <a:prstGeom prst="line">
            <a:avLst/>
          </a:prstGeom>
          <a:ln w="3511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arrowhead 133"/>
          <p:cNvSpPr/>
          <p:nvPr/>
        </p:nvSpPr>
        <p:spPr>
          <a:xfrm>
            <a:off x="5932465" y="330638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18"/>
                </a:moveTo>
                <a:lnTo>
                  <a:pt x="18" y="9"/>
                </a:lnTo>
                <a:lnTo>
                  <a:pt x="0" y="0"/>
                </a:lnTo>
              </a:path>
            </a:pathLst>
          </a:custGeom>
          <a:noFill/>
          <a:ln w="20574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ircle 134"/>
          <p:cNvSpPr/>
          <p:nvPr/>
        </p:nvSpPr>
        <p:spPr>
          <a:xfrm>
            <a:off x="6129970" y="3204090"/>
            <a:ext cx="336490" cy="336490"/>
          </a:xfrm>
          <a:prstGeom prst="ellipse">
            <a:avLst/>
          </a:prstGeom>
          <a:solidFill>
            <a:srgbClr val="A6CAEC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P"/>
          <p:cNvSpPr txBox="1"/>
          <p:nvPr/>
        </p:nvSpPr>
        <p:spPr>
          <a:xfrm>
            <a:off x="6200648" y="3238690"/>
            <a:ext cx="195133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37" name="RETURN"/>
          <p:cNvSpPr txBox="1"/>
          <p:nvPr/>
        </p:nvSpPr>
        <p:spPr>
          <a:xfrm>
            <a:off x="5618134" y="3529607"/>
            <a:ext cx="687181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RETURN</a:t>
            </a:r>
          </a:p>
        </p:txBody>
      </p:sp>
      <p:sp>
        <p:nvSpPr>
          <p:cNvPr id="138" name="curve 137"/>
          <p:cNvSpPr/>
          <p:nvPr/>
        </p:nvSpPr>
        <p:spPr>
          <a:xfrm>
            <a:off x="2691920" y="2889425"/>
            <a:ext cx="3606295" cy="607145"/>
          </a:xfrm>
          <a:custGeom>
            <a:avLst/>
            <a:gdLst/>
            <a:ahLst/>
            <a:cxnLst/>
            <a:rect l="l" t="t" r="r" b="b"/>
            <a:pathLst>
              <a:path w="493" h="83">
                <a:moveTo>
                  <a:pt x="0" y="83"/>
                </a:moveTo>
                <a:lnTo>
                  <a:pt x="12" y="83"/>
                </a:lnTo>
                <a:cubicBezTo>
                  <a:pt x="15" y="83"/>
                  <a:pt x="18" y="80"/>
                  <a:pt x="18" y="77"/>
                </a:cubicBezTo>
                <a:lnTo>
                  <a:pt x="18" y="18"/>
                </a:lnTo>
                <a:cubicBezTo>
                  <a:pt x="18" y="8"/>
                  <a:pt x="26" y="0"/>
                  <a:pt x="36" y="0"/>
                </a:cubicBezTo>
                <a:lnTo>
                  <a:pt x="480" y="0"/>
                </a:lnTo>
                <a:cubicBezTo>
                  <a:pt x="487" y="0"/>
                  <a:pt x="493" y="6"/>
                  <a:pt x="493" y="13"/>
                </a:cubicBezTo>
                <a:lnTo>
                  <a:pt x="493" y="39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curve 138"/>
          <p:cNvSpPr/>
          <p:nvPr/>
        </p:nvSpPr>
        <p:spPr>
          <a:xfrm>
            <a:off x="2691920" y="2889425"/>
            <a:ext cx="3606295" cy="607145"/>
          </a:xfrm>
          <a:custGeom>
            <a:avLst/>
            <a:gdLst/>
            <a:ahLst/>
            <a:cxnLst/>
            <a:rect l="l" t="t" r="r" b="b"/>
            <a:pathLst>
              <a:path w="493" h="83">
                <a:moveTo>
                  <a:pt x="0" y="83"/>
                </a:moveTo>
                <a:lnTo>
                  <a:pt x="12" y="83"/>
                </a:lnTo>
                <a:cubicBezTo>
                  <a:pt x="15" y="83"/>
                  <a:pt x="18" y="80"/>
                  <a:pt x="18" y="77"/>
                </a:cubicBezTo>
                <a:lnTo>
                  <a:pt x="18" y="18"/>
                </a:lnTo>
                <a:cubicBezTo>
                  <a:pt x="18" y="8"/>
                  <a:pt x="26" y="0"/>
                  <a:pt x="36" y="0"/>
                </a:cubicBezTo>
                <a:lnTo>
                  <a:pt x="480" y="0"/>
                </a:lnTo>
                <a:cubicBezTo>
                  <a:pt x="487" y="0"/>
                  <a:pt x="493" y="6"/>
                  <a:pt x="493" y="13"/>
                </a:cubicBezTo>
                <a:lnTo>
                  <a:pt x="493" y="39"/>
                </a:lnTo>
              </a:path>
            </a:pathLst>
          </a:custGeom>
          <a:noFill/>
          <a:ln w="3511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arrowhead 139"/>
          <p:cNvSpPr/>
          <p:nvPr/>
        </p:nvSpPr>
        <p:spPr>
          <a:xfrm>
            <a:off x="6254325" y="308693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0" y="0"/>
                </a:moveTo>
                <a:lnTo>
                  <a:pt x="6" y="12"/>
                </a:lnTo>
                <a:lnTo>
                  <a:pt x="12" y="0"/>
                </a:lnTo>
              </a:path>
            </a:pathLst>
          </a:custGeom>
          <a:noFill/>
          <a:ln w="137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 140"/>
          <p:cNvSpPr/>
          <p:nvPr/>
        </p:nvSpPr>
        <p:spPr>
          <a:xfrm>
            <a:off x="3123505" y="4257450"/>
            <a:ext cx="490105" cy="31454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line 141"/>
          <p:cNvCxnSpPr/>
          <p:nvPr/>
        </p:nvCxnSpPr>
        <p:spPr>
          <a:xfrm>
            <a:off x="3130820" y="4323504"/>
            <a:ext cx="475475" cy="0"/>
          </a:xfrm>
          <a:prstGeom prst="line">
            <a:avLst/>
          </a:prstGeom>
          <a:ln w="731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path 142"/>
          <p:cNvSpPr/>
          <p:nvPr/>
        </p:nvSpPr>
        <p:spPr>
          <a:xfrm>
            <a:off x="3240545" y="4396315"/>
            <a:ext cx="80465" cy="109725"/>
          </a:xfrm>
          <a:custGeom>
            <a:avLst/>
            <a:gdLst/>
            <a:ahLst/>
            <a:cxnLst/>
            <a:rect l="l" t="t" r="r" b="b"/>
            <a:pathLst>
              <a:path w="11" h="15">
                <a:moveTo>
                  <a:pt x="0" y="0"/>
                </a:moveTo>
                <a:lnTo>
                  <a:pt x="11" y="7"/>
                </a:lnTo>
                <a:lnTo>
                  <a:pt x="0" y="15"/>
                </a:lnTo>
              </a:path>
            </a:pathLst>
          </a:custGeom>
          <a:noFill/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line 143"/>
          <p:cNvCxnSpPr/>
          <p:nvPr/>
        </p:nvCxnSpPr>
        <p:spPr>
          <a:xfrm>
            <a:off x="3401475" y="4502795"/>
            <a:ext cx="109725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circle 144"/>
          <p:cNvSpPr/>
          <p:nvPr/>
        </p:nvSpPr>
        <p:spPr>
          <a:xfrm>
            <a:off x="3781855" y="4301340"/>
            <a:ext cx="248710" cy="24871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path 145"/>
          <p:cNvSpPr/>
          <p:nvPr/>
        </p:nvSpPr>
        <p:spPr>
          <a:xfrm>
            <a:off x="3906210" y="4345110"/>
            <a:ext cx="65835" cy="109725"/>
          </a:xfrm>
          <a:custGeom>
            <a:avLst/>
            <a:gdLst/>
            <a:ahLst/>
            <a:cxnLst/>
            <a:rect l="l" t="t" r="r" b="b"/>
            <a:pathLst>
              <a:path w="9" h="15">
                <a:moveTo>
                  <a:pt x="0" y="0"/>
                </a:moveTo>
                <a:lnTo>
                  <a:pt x="0" y="11"/>
                </a:lnTo>
                <a:lnTo>
                  <a:pt x="9" y="15"/>
                </a:lnTo>
              </a:path>
            </a:pathLst>
          </a:custGeom>
          <a:noFill/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path 146"/>
          <p:cNvSpPr/>
          <p:nvPr/>
        </p:nvSpPr>
        <p:spPr>
          <a:xfrm>
            <a:off x="4228070" y="4323165"/>
            <a:ext cx="709555" cy="212135"/>
          </a:xfrm>
          <a:custGeom>
            <a:avLst/>
            <a:gdLst/>
            <a:ahLst/>
            <a:cxnLst/>
            <a:rect l="l" t="t" r="r" b="b"/>
            <a:pathLst>
              <a:path w="97" h="29">
                <a:moveTo>
                  <a:pt x="0" y="29"/>
                </a:moveTo>
                <a:lnTo>
                  <a:pt x="22" y="29"/>
                </a:lnTo>
                <a:lnTo>
                  <a:pt x="22" y="15"/>
                </a:lnTo>
                <a:lnTo>
                  <a:pt x="50" y="15"/>
                </a:lnTo>
                <a:lnTo>
                  <a:pt x="50" y="0"/>
                </a:lnTo>
                <a:lnTo>
                  <a:pt x="97" y="0"/>
                </a:lnTo>
              </a:path>
            </a:pathLst>
          </a:custGeom>
          <a:noFill/>
          <a:ln w="20482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path 147"/>
          <p:cNvCxnSpPr/>
          <p:nvPr/>
        </p:nvCxnSpPr>
        <p:spPr>
          <a:xfrm>
            <a:off x="4074455" y="4425695"/>
            <a:ext cx="109725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path 148"/>
          <p:cNvCxnSpPr/>
          <p:nvPr/>
        </p:nvCxnSpPr>
        <p:spPr>
          <a:xfrm>
            <a:off x="4074455" y="4425695"/>
            <a:ext cx="109725" cy="0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arrowhead 149"/>
          <p:cNvSpPr/>
          <p:nvPr/>
        </p:nvSpPr>
        <p:spPr>
          <a:xfrm>
            <a:off x="4096400" y="438168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1" name="path 150"/>
          <p:cNvCxnSpPr/>
          <p:nvPr/>
        </p:nvCxnSpPr>
        <p:spPr>
          <a:xfrm>
            <a:off x="5010775" y="4425695"/>
            <a:ext cx="24871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path 151"/>
          <p:cNvCxnSpPr/>
          <p:nvPr/>
        </p:nvCxnSpPr>
        <p:spPr>
          <a:xfrm>
            <a:off x="5010775" y="4425695"/>
            <a:ext cx="248710" cy="0"/>
          </a:xfrm>
          <a:prstGeom prst="line">
            <a:avLst/>
          </a:prstGeom>
          <a:ln w="3511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arrowhead 152"/>
          <p:cNvSpPr/>
          <p:nvPr/>
        </p:nvSpPr>
        <p:spPr>
          <a:xfrm>
            <a:off x="5127815" y="435974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5" y="9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line 153"/>
          <p:cNvCxnSpPr/>
          <p:nvPr/>
        </p:nvCxnSpPr>
        <p:spPr>
          <a:xfrm>
            <a:off x="5318005" y="4425695"/>
            <a:ext cx="563255" cy="0"/>
          </a:xfrm>
          <a:prstGeom prst="line">
            <a:avLst/>
          </a:prstGeom>
          <a:ln w="18288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line 154"/>
          <p:cNvCxnSpPr/>
          <p:nvPr/>
        </p:nvCxnSpPr>
        <p:spPr>
          <a:xfrm>
            <a:off x="5318005" y="4359860"/>
            <a:ext cx="0" cy="13167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line 155"/>
          <p:cNvCxnSpPr/>
          <p:nvPr/>
        </p:nvCxnSpPr>
        <p:spPr>
          <a:xfrm>
            <a:off x="5881260" y="4359860"/>
            <a:ext cx="0" cy="13167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circle 156"/>
          <p:cNvSpPr/>
          <p:nvPr/>
        </p:nvSpPr>
        <p:spPr>
          <a:xfrm>
            <a:off x="5595975" y="4389120"/>
            <a:ext cx="73150" cy="73150"/>
          </a:xfrm>
          <a:prstGeom prst="ellipse">
            <a:avLst/>
          </a:prstGeom>
          <a:solidFill>
            <a:srgbClr val="000000"/>
          </a:solidFill>
          <a:ln w="731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8" name="path 157"/>
          <p:cNvCxnSpPr/>
          <p:nvPr/>
        </p:nvCxnSpPr>
        <p:spPr>
          <a:xfrm>
            <a:off x="5939780" y="4425695"/>
            <a:ext cx="14630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path 158"/>
          <p:cNvCxnSpPr/>
          <p:nvPr/>
        </p:nvCxnSpPr>
        <p:spPr>
          <a:xfrm>
            <a:off x="5939780" y="4425695"/>
            <a:ext cx="146300" cy="0"/>
          </a:xfrm>
          <a:prstGeom prst="line">
            <a:avLst/>
          </a:prstGeom>
          <a:ln w="3511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arrowhead 159"/>
          <p:cNvSpPr/>
          <p:nvPr/>
        </p:nvSpPr>
        <p:spPr>
          <a:xfrm>
            <a:off x="5998300" y="438168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0" y="12"/>
                </a:moveTo>
                <a:lnTo>
                  <a:pt x="12" y="6"/>
                </a:lnTo>
                <a:lnTo>
                  <a:pt x="0" y="0"/>
                </a:lnTo>
              </a:path>
            </a:pathLst>
          </a:custGeom>
          <a:noFill/>
          <a:ln w="137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ircle 160"/>
          <p:cNvSpPr/>
          <p:nvPr/>
        </p:nvSpPr>
        <p:spPr>
          <a:xfrm>
            <a:off x="6129970" y="4257450"/>
            <a:ext cx="336490" cy="336490"/>
          </a:xfrm>
          <a:prstGeom prst="ellipse">
            <a:avLst/>
          </a:prstGeom>
          <a:solidFill>
            <a:srgbClr val="84E291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A"/>
          <p:cNvSpPr txBox="1"/>
          <p:nvPr/>
        </p:nvSpPr>
        <p:spPr>
          <a:xfrm>
            <a:off x="6202749" y="4292050"/>
            <a:ext cx="190933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A</a:t>
            </a:r>
          </a:p>
        </p:txBody>
      </p:sp>
      <p:sp>
        <p:nvSpPr>
          <p:cNvPr id="163" name="TOOL_END"/>
          <p:cNvSpPr txBox="1"/>
          <p:nvPr/>
        </p:nvSpPr>
        <p:spPr>
          <a:xfrm>
            <a:off x="5222896" y="4043486"/>
            <a:ext cx="804679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TOOL_END</a:t>
            </a:r>
          </a:p>
        </p:txBody>
      </p:sp>
      <p:sp>
        <p:nvSpPr>
          <p:cNvPr id="164" name="rect 163"/>
          <p:cNvSpPr/>
          <p:nvPr/>
        </p:nvSpPr>
        <p:spPr>
          <a:xfrm>
            <a:off x="351120" y="4901170"/>
            <a:ext cx="3145450" cy="317471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463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 164"/>
          <p:cNvSpPr/>
          <p:nvPr/>
        </p:nvSpPr>
        <p:spPr>
          <a:xfrm>
            <a:off x="358435" y="4908485"/>
            <a:ext cx="3130820" cy="270655"/>
          </a:xfrm>
          <a:prstGeom prst="roundRect">
            <a:avLst>
              <a:gd name="adj" fmla="val 18918"/>
            </a:avLst>
          </a:prstGeom>
          <a:solidFill>
            <a:srgbClr val="D9F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 165"/>
          <p:cNvSpPr/>
          <p:nvPr/>
        </p:nvSpPr>
        <p:spPr>
          <a:xfrm>
            <a:off x="358435" y="5040155"/>
            <a:ext cx="3130820" cy="138985"/>
          </a:xfrm>
          <a:prstGeom prst="rect">
            <a:avLst/>
          </a:prstGeom>
          <a:solidFill>
            <a:srgbClr val="D9F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7" name="line 166"/>
          <p:cNvCxnSpPr/>
          <p:nvPr/>
        </p:nvCxnSpPr>
        <p:spPr>
          <a:xfrm>
            <a:off x="358435" y="5179140"/>
            <a:ext cx="3130820" cy="0"/>
          </a:xfrm>
          <a:prstGeom prst="line">
            <a:avLst/>
          </a:prstGeom>
          <a:ln w="8778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D2  KV 生命周期"/>
          <p:cNvSpPr txBox="1"/>
          <p:nvPr/>
        </p:nvSpPr>
        <p:spPr>
          <a:xfrm>
            <a:off x="453530" y="4909290"/>
            <a:ext cx="1470658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D2  KV 生命周期</a:t>
            </a:r>
          </a:p>
        </p:txBody>
      </p:sp>
      <p:sp>
        <p:nvSpPr>
          <p:cNvPr id="169" name="WAIT_JOIN / WAIT_TOOL"/>
          <p:cNvSpPr txBox="1"/>
          <p:nvPr/>
        </p:nvSpPr>
        <p:spPr>
          <a:xfrm>
            <a:off x="468160" y="5299838"/>
            <a:ext cx="1950533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WAIT_JOIN / WAIT_TOOL</a:t>
            </a:r>
          </a:p>
        </p:txBody>
      </p:sp>
      <p:sp>
        <p:nvSpPr>
          <p:cNvPr id="170" name="circle 169"/>
          <p:cNvSpPr/>
          <p:nvPr/>
        </p:nvSpPr>
        <p:spPr>
          <a:xfrm>
            <a:off x="490105" y="5632670"/>
            <a:ext cx="292600" cy="292600"/>
          </a:xfrm>
          <a:prstGeom prst="ellipse">
            <a:avLst/>
          </a:prstGeom>
          <a:solidFill>
            <a:srgbClr val="A6CAEC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P"/>
          <p:cNvSpPr txBox="1"/>
          <p:nvPr/>
        </p:nvSpPr>
        <p:spPr>
          <a:xfrm>
            <a:off x="543725" y="5658638"/>
            <a:ext cx="185361" cy="2432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72" name="rect 171"/>
          <p:cNvSpPr/>
          <p:nvPr/>
        </p:nvSpPr>
        <p:spPr>
          <a:xfrm>
            <a:off x="994840" y="5588780"/>
            <a:ext cx="790020" cy="64372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 172"/>
          <p:cNvSpPr/>
          <p:nvPr/>
        </p:nvSpPr>
        <p:spPr>
          <a:xfrm>
            <a:off x="2238390" y="5588780"/>
            <a:ext cx="790020" cy="643720"/>
          </a:xfrm>
          <a:prstGeom prst="roundRect">
            <a:avLst>
              <a:gd name="adj" fmla="val 9090"/>
            </a:avLst>
          </a:prstGeom>
          <a:solidFill>
            <a:srgbClr val="FBE3D6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 173"/>
          <p:cNvSpPr/>
          <p:nvPr/>
        </p:nvSpPr>
        <p:spPr>
          <a:xfrm>
            <a:off x="1053360" y="566193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 174"/>
          <p:cNvSpPr/>
          <p:nvPr/>
        </p:nvSpPr>
        <p:spPr>
          <a:xfrm>
            <a:off x="1067990" y="567656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 175"/>
          <p:cNvSpPr/>
          <p:nvPr/>
        </p:nvSpPr>
        <p:spPr>
          <a:xfrm>
            <a:off x="2296910" y="566193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 176"/>
          <p:cNvSpPr/>
          <p:nvPr/>
        </p:nvSpPr>
        <p:spPr>
          <a:xfrm>
            <a:off x="2311540" y="567656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 177"/>
          <p:cNvSpPr/>
          <p:nvPr/>
        </p:nvSpPr>
        <p:spPr>
          <a:xfrm>
            <a:off x="1294755" y="566193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 178"/>
          <p:cNvSpPr/>
          <p:nvPr/>
        </p:nvSpPr>
        <p:spPr>
          <a:xfrm>
            <a:off x="1309385" y="567656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 179"/>
          <p:cNvSpPr/>
          <p:nvPr/>
        </p:nvSpPr>
        <p:spPr>
          <a:xfrm>
            <a:off x="2538305" y="566193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 180"/>
          <p:cNvSpPr/>
          <p:nvPr/>
        </p:nvSpPr>
        <p:spPr>
          <a:xfrm>
            <a:off x="2552935" y="567656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 181"/>
          <p:cNvSpPr/>
          <p:nvPr/>
        </p:nvSpPr>
        <p:spPr>
          <a:xfrm>
            <a:off x="1536150" y="566193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 182"/>
          <p:cNvSpPr/>
          <p:nvPr/>
        </p:nvSpPr>
        <p:spPr>
          <a:xfrm>
            <a:off x="1550780" y="567656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 183"/>
          <p:cNvSpPr/>
          <p:nvPr/>
        </p:nvSpPr>
        <p:spPr>
          <a:xfrm>
            <a:off x="2779700" y="566193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 184"/>
          <p:cNvSpPr/>
          <p:nvPr/>
        </p:nvSpPr>
        <p:spPr>
          <a:xfrm>
            <a:off x="2794330" y="567656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polygon 185"/>
          <p:cNvSpPr/>
          <p:nvPr/>
        </p:nvSpPr>
        <p:spPr>
          <a:xfrm>
            <a:off x="1828750" y="5683755"/>
            <a:ext cx="387695" cy="190190"/>
          </a:xfrm>
          <a:custGeom>
            <a:avLst/>
            <a:gdLst/>
            <a:ahLst/>
            <a:cxnLst/>
            <a:rect l="l" t="t" r="r" b="b"/>
            <a:pathLst>
              <a:path w="53" h="26">
                <a:moveTo>
                  <a:pt x="0" y="6"/>
                </a:moveTo>
                <a:lnTo>
                  <a:pt x="34" y="6"/>
                </a:lnTo>
                <a:lnTo>
                  <a:pt x="34" y="0"/>
                </a:lnTo>
                <a:lnTo>
                  <a:pt x="53" y="13"/>
                </a:lnTo>
                <a:lnTo>
                  <a:pt x="34" y="26"/>
                </a:lnTo>
                <a:lnTo>
                  <a:pt x="34" y="20"/>
                </a:lnTo>
                <a:lnTo>
                  <a:pt x="0" y="20"/>
                </a:lnTo>
                <a:close/>
              </a:path>
            </a:pathLst>
          </a:custGeom>
          <a:solidFill>
            <a:srgbClr val="F2AA84"/>
          </a:solidFill>
          <a:ln w="10241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D2H"/>
          <p:cNvSpPr txBox="1"/>
          <p:nvPr/>
        </p:nvSpPr>
        <p:spPr>
          <a:xfrm>
            <a:off x="1831822" y="5477226"/>
            <a:ext cx="374237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D2H</a:t>
            </a:r>
          </a:p>
        </p:txBody>
      </p:sp>
      <p:sp>
        <p:nvSpPr>
          <p:cNvPr id="188" name="HBM"/>
          <p:cNvSpPr txBox="1"/>
          <p:nvPr/>
        </p:nvSpPr>
        <p:spPr>
          <a:xfrm>
            <a:off x="1154556" y="5941729"/>
            <a:ext cx="441329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HBM</a:t>
            </a:r>
          </a:p>
        </p:txBody>
      </p:sp>
      <p:sp>
        <p:nvSpPr>
          <p:cNvPr id="189" name="Host"/>
          <p:cNvSpPr txBox="1"/>
          <p:nvPr/>
        </p:nvSpPr>
        <p:spPr>
          <a:xfrm>
            <a:off x="2401320" y="5941729"/>
            <a:ext cx="43490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Host</a:t>
            </a:r>
          </a:p>
        </p:txBody>
      </p:sp>
      <p:sp>
        <p:nvSpPr>
          <p:cNvPr id="190" name="稳定 FULL"/>
          <p:cNvSpPr txBox="1"/>
          <p:nvPr/>
        </p:nvSpPr>
        <p:spPr>
          <a:xfrm>
            <a:off x="1577011" y="6263589"/>
            <a:ext cx="825338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稳定 FULL</a:t>
            </a:r>
          </a:p>
        </p:txBody>
      </p:sp>
      <p:sp>
        <p:nvSpPr>
          <p:cNvPr id="191" name="circle 190"/>
          <p:cNvSpPr/>
          <p:nvPr/>
        </p:nvSpPr>
        <p:spPr>
          <a:xfrm>
            <a:off x="490105" y="6612880"/>
            <a:ext cx="292600" cy="292600"/>
          </a:xfrm>
          <a:prstGeom prst="ellipse">
            <a:avLst/>
          </a:prstGeom>
          <a:solidFill>
            <a:srgbClr val="84E291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C1"/>
          <p:cNvSpPr txBox="1"/>
          <p:nvPr/>
        </p:nvSpPr>
        <p:spPr>
          <a:xfrm>
            <a:off x="510478" y="6650333"/>
            <a:ext cx="251853" cy="2212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6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193" name="path 192"/>
          <p:cNvSpPr/>
          <p:nvPr/>
        </p:nvSpPr>
        <p:spPr>
          <a:xfrm>
            <a:off x="797335" y="6539610"/>
            <a:ext cx="124355" cy="124355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0" y="9"/>
                </a:moveTo>
                <a:lnTo>
                  <a:pt x="6" y="17"/>
                </a:lnTo>
                <a:lnTo>
                  <a:pt x="17" y="0"/>
                </a:lnTo>
              </a:path>
            </a:pathLst>
          </a:custGeom>
          <a:noFill/>
          <a:ln w="2048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 193"/>
          <p:cNvSpPr/>
          <p:nvPr/>
        </p:nvSpPr>
        <p:spPr>
          <a:xfrm>
            <a:off x="1024100" y="664214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 194"/>
          <p:cNvSpPr/>
          <p:nvPr/>
        </p:nvSpPr>
        <p:spPr>
          <a:xfrm>
            <a:off x="1038730" y="665677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 195"/>
          <p:cNvSpPr/>
          <p:nvPr/>
        </p:nvSpPr>
        <p:spPr>
          <a:xfrm>
            <a:off x="1265495" y="664214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 196"/>
          <p:cNvSpPr/>
          <p:nvPr/>
        </p:nvSpPr>
        <p:spPr>
          <a:xfrm>
            <a:off x="1280125" y="665677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 197"/>
          <p:cNvSpPr/>
          <p:nvPr/>
        </p:nvSpPr>
        <p:spPr>
          <a:xfrm>
            <a:off x="1506890" y="6642140"/>
            <a:ext cx="204820" cy="226765"/>
          </a:xfrm>
          <a:prstGeom prst="roundRect">
            <a:avLst>
              <a:gd name="adj" fmla="val 7142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 198"/>
          <p:cNvSpPr/>
          <p:nvPr/>
        </p:nvSpPr>
        <p:spPr>
          <a:xfrm>
            <a:off x="1521520" y="6656770"/>
            <a:ext cx="175560" cy="34015"/>
          </a:xfrm>
          <a:prstGeom prst="roundRect">
            <a:avLst>
              <a:gd name="adj" fmla="val 21505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path 199"/>
          <p:cNvSpPr/>
          <p:nvPr/>
        </p:nvSpPr>
        <p:spPr>
          <a:xfrm>
            <a:off x="1082620" y="6905360"/>
            <a:ext cx="58520" cy="43890"/>
          </a:xfrm>
          <a:custGeom>
            <a:avLst/>
            <a:gdLst/>
            <a:ahLst/>
            <a:cxnLst/>
            <a:rect l="l" t="t" r="r" b="b"/>
            <a:pathLst>
              <a:path w="8" h="6">
                <a:moveTo>
                  <a:pt x="0" y="6"/>
                </a:moveTo>
                <a:lnTo>
                  <a:pt x="0" y="0"/>
                </a:lnTo>
                <a:lnTo>
                  <a:pt x="8" y="0"/>
                </a:lnTo>
                <a:lnTo>
                  <a:pt x="8" y="6"/>
                </a:lnTo>
              </a:path>
            </a:pathLst>
          </a:custGeom>
          <a:noFill/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 200"/>
          <p:cNvSpPr/>
          <p:nvPr/>
        </p:nvSpPr>
        <p:spPr>
          <a:xfrm>
            <a:off x="1067990" y="6945712"/>
            <a:ext cx="87780" cy="731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circle 201"/>
          <p:cNvSpPr/>
          <p:nvPr/>
        </p:nvSpPr>
        <p:spPr>
          <a:xfrm>
            <a:off x="1104565" y="6967658"/>
            <a:ext cx="14630" cy="14630"/>
          </a:xfrm>
          <a:prstGeom prst="ellipse">
            <a:avLst/>
          </a:prstGeom>
          <a:solidFill>
            <a:srgbClr val="000000"/>
          </a:solidFill>
          <a:ln w="731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共享"/>
          <p:cNvSpPr txBox="1"/>
          <p:nvPr/>
        </p:nvSpPr>
        <p:spPr>
          <a:xfrm>
            <a:off x="1024100" y="7070068"/>
            <a:ext cx="395010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共享</a:t>
            </a:r>
          </a:p>
        </p:txBody>
      </p:sp>
      <p:cxnSp>
        <p:nvCxnSpPr>
          <p:cNvPr id="204" name="path 203"/>
          <p:cNvCxnSpPr/>
          <p:nvPr/>
        </p:nvCxnSpPr>
        <p:spPr>
          <a:xfrm>
            <a:off x="1799490" y="6759180"/>
            <a:ext cx="40964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path 204"/>
          <p:cNvCxnSpPr/>
          <p:nvPr/>
        </p:nvCxnSpPr>
        <p:spPr>
          <a:xfrm>
            <a:off x="1799490" y="6759180"/>
            <a:ext cx="409640" cy="0"/>
          </a:xfrm>
          <a:prstGeom prst="line">
            <a:avLst/>
          </a:prstGeom>
          <a:ln w="3511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arrowhead 205"/>
          <p:cNvSpPr/>
          <p:nvPr/>
        </p:nvSpPr>
        <p:spPr>
          <a:xfrm>
            <a:off x="2077460" y="669322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4" y="9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 206"/>
          <p:cNvSpPr/>
          <p:nvPr/>
        </p:nvSpPr>
        <p:spPr>
          <a:xfrm>
            <a:off x="2296910" y="6642140"/>
            <a:ext cx="204820" cy="226765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 207"/>
          <p:cNvSpPr/>
          <p:nvPr/>
        </p:nvSpPr>
        <p:spPr>
          <a:xfrm>
            <a:off x="2538305" y="6642140"/>
            <a:ext cx="204820" cy="226765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TURN：释放私有 KV"/>
          <p:cNvSpPr txBox="1"/>
          <p:nvPr/>
        </p:nvSpPr>
        <p:spPr>
          <a:xfrm>
            <a:off x="468160" y="7433989"/>
            <a:ext cx="1750657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RETURN：释放私有 KV</a:t>
            </a:r>
          </a:p>
        </p:txBody>
      </p:sp>
      <p:sp>
        <p:nvSpPr>
          <p:cNvPr id="210" name="rect 209"/>
          <p:cNvSpPr/>
          <p:nvPr/>
        </p:nvSpPr>
        <p:spPr>
          <a:xfrm>
            <a:off x="3642870" y="4901170"/>
            <a:ext cx="3145450" cy="317471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463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 210"/>
          <p:cNvSpPr/>
          <p:nvPr/>
        </p:nvSpPr>
        <p:spPr>
          <a:xfrm>
            <a:off x="3650185" y="4908485"/>
            <a:ext cx="3130820" cy="270655"/>
          </a:xfrm>
          <a:prstGeom prst="roundRect">
            <a:avLst>
              <a:gd name="adj" fmla="val 18918"/>
            </a:avLst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 211"/>
          <p:cNvSpPr/>
          <p:nvPr/>
        </p:nvSpPr>
        <p:spPr>
          <a:xfrm>
            <a:off x="3650185" y="5040155"/>
            <a:ext cx="3130820" cy="138985"/>
          </a:xfrm>
          <a:prstGeom prst="rect">
            <a:avLst/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3" name="line 212"/>
          <p:cNvCxnSpPr/>
          <p:nvPr/>
        </p:nvCxnSpPr>
        <p:spPr>
          <a:xfrm>
            <a:off x="3650185" y="5179140"/>
            <a:ext cx="3130820" cy="0"/>
          </a:xfrm>
          <a:prstGeom prst="line">
            <a:avLst/>
          </a:prstGeom>
          <a:ln w="8778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D3  预取与准入"/>
          <p:cNvSpPr txBox="1"/>
          <p:nvPr/>
        </p:nvSpPr>
        <p:spPr>
          <a:xfrm>
            <a:off x="3745280" y="4909290"/>
            <a:ext cx="1373077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D3  预取与准入</a:t>
            </a:r>
          </a:p>
        </p:txBody>
      </p:sp>
      <p:sp>
        <p:nvSpPr>
          <p:cNvPr id="215" name="circle 214"/>
          <p:cNvSpPr/>
          <p:nvPr/>
        </p:nvSpPr>
        <p:spPr>
          <a:xfrm>
            <a:off x="3759910" y="5413220"/>
            <a:ext cx="321860" cy="321860"/>
          </a:xfrm>
          <a:prstGeom prst="ellipse">
            <a:avLst/>
          </a:prstGeom>
          <a:solidFill>
            <a:srgbClr val="A6CAEC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P"/>
          <p:cNvSpPr txBox="1"/>
          <p:nvPr/>
        </p:nvSpPr>
        <p:spPr>
          <a:xfrm>
            <a:off x="3823273" y="5440505"/>
            <a:ext cx="195133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217" name="circle 216"/>
          <p:cNvSpPr/>
          <p:nvPr/>
        </p:nvSpPr>
        <p:spPr>
          <a:xfrm>
            <a:off x="4279275" y="5427850"/>
            <a:ext cx="292600" cy="29260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path 217"/>
          <p:cNvSpPr/>
          <p:nvPr/>
        </p:nvSpPr>
        <p:spPr>
          <a:xfrm>
            <a:off x="4425575" y="5478935"/>
            <a:ext cx="80465" cy="131670"/>
          </a:xfrm>
          <a:custGeom>
            <a:avLst/>
            <a:gdLst/>
            <a:ahLst/>
            <a:cxnLst/>
            <a:rect l="l" t="t" r="r" b="b"/>
            <a:pathLst>
              <a:path w="11" h="18">
                <a:moveTo>
                  <a:pt x="0" y="0"/>
                </a:moveTo>
                <a:lnTo>
                  <a:pt x="0" y="13"/>
                </a:lnTo>
                <a:lnTo>
                  <a:pt x="11" y="18"/>
                </a:lnTo>
              </a:path>
            </a:pathLst>
          </a:custGeom>
          <a:noFill/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9" name="line 218"/>
          <p:cNvCxnSpPr/>
          <p:nvPr/>
        </p:nvCxnSpPr>
        <p:spPr>
          <a:xfrm>
            <a:off x="4776695" y="5574150"/>
            <a:ext cx="1477630" cy="0"/>
          </a:xfrm>
          <a:prstGeom prst="line">
            <a:avLst/>
          </a:prstGeom>
          <a:ln w="18288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line 219"/>
          <p:cNvCxnSpPr/>
          <p:nvPr/>
        </p:nvCxnSpPr>
        <p:spPr>
          <a:xfrm>
            <a:off x="4776695" y="5508315"/>
            <a:ext cx="0" cy="13167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line 220"/>
          <p:cNvCxnSpPr/>
          <p:nvPr/>
        </p:nvCxnSpPr>
        <p:spPr>
          <a:xfrm>
            <a:off x="6254325" y="5508315"/>
            <a:ext cx="0" cy="13167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circle 221"/>
          <p:cNvSpPr/>
          <p:nvPr/>
        </p:nvSpPr>
        <p:spPr>
          <a:xfrm>
            <a:off x="5683755" y="5537575"/>
            <a:ext cx="73150" cy="73150"/>
          </a:xfrm>
          <a:prstGeom prst="ellipse">
            <a:avLst/>
          </a:prstGeom>
          <a:solidFill>
            <a:srgbClr val="000000"/>
          </a:solidFill>
          <a:ln w="731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 222"/>
          <p:cNvSpPr/>
          <p:nvPr/>
        </p:nvSpPr>
        <p:spPr>
          <a:xfrm>
            <a:off x="3847690" y="6034995"/>
            <a:ext cx="329175" cy="24871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 223"/>
          <p:cNvSpPr/>
          <p:nvPr/>
        </p:nvSpPr>
        <p:spPr>
          <a:xfrm>
            <a:off x="4228070" y="6034995"/>
            <a:ext cx="329175" cy="24871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 224"/>
          <p:cNvSpPr/>
          <p:nvPr/>
        </p:nvSpPr>
        <p:spPr>
          <a:xfrm>
            <a:off x="4608450" y="6034995"/>
            <a:ext cx="329175" cy="24871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 225"/>
          <p:cNvSpPr/>
          <p:nvPr/>
        </p:nvSpPr>
        <p:spPr>
          <a:xfrm>
            <a:off x="4988830" y="6034995"/>
            <a:ext cx="329175" cy="248710"/>
          </a:xfrm>
          <a:prstGeom prst="roundRect">
            <a:avLst>
              <a:gd name="adj" fmla="val 2941"/>
            </a:avLst>
          </a:prstGeom>
          <a:solidFill>
            <a:srgbClr val="84E291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 226"/>
          <p:cNvSpPr/>
          <p:nvPr/>
        </p:nvSpPr>
        <p:spPr>
          <a:xfrm>
            <a:off x="5369210" y="6034995"/>
            <a:ext cx="329175" cy="248710"/>
          </a:xfrm>
          <a:prstGeom prst="roundRect">
            <a:avLst>
              <a:gd name="adj" fmla="val 2941"/>
            </a:avLst>
          </a:prstGeom>
          <a:solidFill>
            <a:srgbClr val="84E291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 227"/>
          <p:cNvSpPr/>
          <p:nvPr/>
        </p:nvSpPr>
        <p:spPr>
          <a:xfrm>
            <a:off x="5749590" y="6034995"/>
            <a:ext cx="329175" cy="248710"/>
          </a:xfrm>
          <a:prstGeom prst="roundRect">
            <a:avLst>
              <a:gd name="adj" fmla="val 2941"/>
            </a:avLst>
          </a:prstGeom>
          <a:solidFill>
            <a:srgbClr val="D9D9D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 228"/>
          <p:cNvSpPr/>
          <p:nvPr/>
        </p:nvSpPr>
        <p:spPr>
          <a:xfrm>
            <a:off x="6129970" y="6034995"/>
            <a:ext cx="329175" cy="248710"/>
          </a:xfrm>
          <a:prstGeom prst="roundRect">
            <a:avLst>
              <a:gd name="adj" fmla="val 2941"/>
            </a:avLst>
          </a:prstGeom>
          <a:solidFill>
            <a:srgbClr val="D9D9D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空闲 / 冷页 / 增长"/>
          <p:cNvSpPr txBox="1"/>
          <p:nvPr/>
        </p:nvSpPr>
        <p:spPr>
          <a:xfrm>
            <a:off x="3847690" y="6373314"/>
            <a:ext cx="1379906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空闲 / 冷页 / 增长</a:t>
            </a:r>
          </a:p>
        </p:txBody>
      </p:sp>
      <p:sp>
        <p:nvSpPr>
          <p:cNvPr id="231" name="c"/>
          <p:cNvSpPr txBox="1"/>
          <p:nvPr/>
        </p:nvSpPr>
        <p:spPr>
          <a:xfrm>
            <a:off x="3825745" y="6781125"/>
            <a:ext cx="181932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232" name="*"/>
          <p:cNvSpPr txBox="1"/>
          <p:nvPr/>
        </p:nvSpPr>
        <p:spPr>
          <a:xfrm>
            <a:off x="3927212" y="6738479"/>
            <a:ext cx="156358" cy="182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5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233" name=" / ΔFULL"/>
          <p:cNvSpPr txBox="1"/>
          <p:nvPr/>
        </p:nvSpPr>
        <p:spPr>
          <a:xfrm>
            <a:off x="4003105" y="6781125"/>
            <a:ext cx="907832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 / ΔFULL</a:t>
            </a:r>
          </a:p>
        </p:txBody>
      </p:sp>
      <p:sp>
        <p:nvSpPr>
          <p:cNvPr id="234" name="polygon 233"/>
          <p:cNvSpPr/>
          <p:nvPr/>
        </p:nvSpPr>
        <p:spPr>
          <a:xfrm>
            <a:off x="5420415" y="6693225"/>
            <a:ext cx="1097250" cy="416955"/>
          </a:xfrm>
          <a:custGeom>
            <a:avLst/>
            <a:gdLst/>
            <a:ahLst/>
            <a:cxnLst/>
            <a:rect l="l" t="t" r="r" b="b"/>
            <a:pathLst>
              <a:path w="150" h="57">
                <a:moveTo>
                  <a:pt x="75" y="0"/>
                </a:moveTo>
                <a:lnTo>
                  <a:pt x="150" y="28"/>
                </a:lnTo>
                <a:lnTo>
                  <a:pt x="75" y="57"/>
                </a:lnTo>
                <a:lnTo>
                  <a:pt x="0" y="28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τ"/>
          <p:cNvSpPr txBox="1"/>
          <p:nvPr/>
        </p:nvSpPr>
        <p:spPr>
          <a:xfrm>
            <a:off x="5743232" y="6781125"/>
            <a:ext cx="163702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236" name=" ≤ "/>
          <p:cNvSpPr txBox="1"/>
          <p:nvPr/>
        </p:nvSpPr>
        <p:spPr>
          <a:xfrm>
            <a:off x="5819154" y="6781125"/>
            <a:ext cx="310287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 ≤ </a:t>
            </a:r>
          </a:p>
        </p:txBody>
      </p:sp>
      <p:sp>
        <p:nvSpPr>
          <p:cNvPr id="237" name="H"/>
          <p:cNvSpPr txBox="1"/>
          <p:nvPr/>
        </p:nvSpPr>
        <p:spPr>
          <a:xfrm>
            <a:off x="6041661" y="6781125"/>
            <a:ext cx="240966" cy="2669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H</a:t>
            </a:r>
          </a:p>
        </p:txBody>
      </p:sp>
      <p:sp>
        <p:nvSpPr>
          <p:cNvPr id="238" name="PREPARE"/>
          <p:cNvSpPr txBox="1"/>
          <p:nvPr/>
        </p:nvSpPr>
        <p:spPr>
          <a:xfrm>
            <a:off x="3825745" y="7156019"/>
            <a:ext cx="814108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PREPARE</a:t>
            </a:r>
          </a:p>
        </p:txBody>
      </p:sp>
      <p:sp>
        <p:nvSpPr>
          <p:cNvPr id="239" name="PREFETCH"/>
          <p:cNvSpPr txBox="1"/>
          <p:nvPr/>
        </p:nvSpPr>
        <p:spPr>
          <a:xfrm>
            <a:off x="5361895" y="7156019"/>
            <a:ext cx="919976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PREFETCH</a:t>
            </a:r>
          </a:p>
        </p:txBody>
      </p:sp>
      <p:sp>
        <p:nvSpPr>
          <p:cNvPr id="240" name="rect 239"/>
          <p:cNvSpPr/>
          <p:nvPr/>
        </p:nvSpPr>
        <p:spPr>
          <a:xfrm>
            <a:off x="3847690" y="7571145"/>
            <a:ext cx="285285" cy="256025"/>
          </a:xfrm>
          <a:prstGeom prst="roundRect">
            <a:avLst>
              <a:gd name="adj" fmla="val 5714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 240"/>
          <p:cNvSpPr/>
          <p:nvPr/>
        </p:nvSpPr>
        <p:spPr>
          <a:xfrm>
            <a:off x="3862320" y="7585775"/>
            <a:ext cx="256025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polygon 241"/>
          <p:cNvSpPr/>
          <p:nvPr/>
        </p:nvSpPr>
        <p:spPr>
          <a:xfrm>
            <a:off x="4228070" y="7592970"/>
            <a:ext cx="395010" cy="204820"/>
          </a:xfrm>
          <a:custGeom>
            <a:avLst/>
            <a:gdLst/>
            <a:ahLst/>
            <a:cxnLst/>
            <a:rect l="l" t="t" r="r" b="b"/>
            <a:pathLst>
              <a:path w="54" h="28">
                <a:moveTo>
                  <a:pt x="0" y="7"/>
                </a:moveTo>
                <a:lnTo>
                  <a:pt x="35" y="7"/>
                </a:lnTo>
                <a:lnTo>
                  <a:pt x="35" y="0"/>
                </a:lnTo>
                <a:lnTo>
                  <a:pt x="54" y="14"/>
                </a:lnTo>
                <a:lnTo>
                  <a:pt x="35" y="28"/>
                </a:lnTo>
                <a:lnTo>
                  <a:pt x="35" y="21"/>
                </a:lnTo>
                <a:lnTo>
                  <a:pt x="0" y="21"/>
                </a:lnTo>
                <a:close/>
              </a:path>
            </a:pathLst>
          </a:custGeom>
          <a:solidFill>
            <a:srgbClr val="F2AA84"/>
          </a:solidFill>
          <a:ln w="10241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 242"/>
          <p:cNvSpPr/>
          <p:nvPr/>
        </p:nvSpPr>
        <p:spPr>
          <a:xfrm>
            <a:off x="4718175" y="7571145"/>
            <a:ext cx="285285" cy="256025"/>
          </a:xfrm>
          <a:prstGeom prst="roundRect">
            <a:avLst>
              <a:gd name="adj" fmla="val 5714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 243"/>
          <p:cNvSpPr/>
          <p:nvPr/>
        </p:nvSpPr>
        <p:spPr>
          <a:xfrm>
            <a:off x="4732805" y="7585775"/>
            <a:ext cx="256025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 244"/>
          <p:cNvSpPr/>
          <p:nvPr/>
        </p:nvSpPr>
        <p:spPr>
          <a:xfrm>
            <a:off x="5383840" y="7571145"/>
            <a:ext cx="285285" cy="256025"/>
          </a:xfrm>
          <a:prstGeom prst="roundRect">
            <a:avLst>
              <a:gd name="adj" fmla="val 5714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 245"/>
          <p:cNvSpPr/>
          <p:nvPr/>
        </p:nvSpPr>
        <p:spPr>
          <a:xfrm>
            <a:off x="5398470" y="7585775"/>
            <a:ext cx="256025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polygon 246"/>
          <p:cNvSpPr/>
          <p:nvPr/>
        </p:nvSpPr>
        <p:spPr>
          <a:xfrm>
            <a:off x="5764220" y="7592970"/>
            <a:ext cx="395010" cy="204820"/>
          </a:xfrm>
          <a:custGeom>
            <a:avLst/>
            <a:gdLst/>
            <a:ahLst/>
            <a:cxnLst/>
            <a:rect l="l" t="t" r="r" b="b"/>
            <a:pathLst>
              <a:path w="54" h="28">
                <a:moveTo>
                  <a:pt x="0" y="7"/>
                </a:moveTo>
                <a:lnTo>
                  <a:pt x="35" y="7"/>
                </a:lnTo>
                <a:lnTo>
                  <a:pt x="35" y="0"/>
                </a:lnTo>
                <a:lnTo>
                  <a:pt x="54" y="14"/>
                </a:lnTo>
                <a:lnTo>
                  <a:pt x="35" y="28"/>
                </a:lnTo>
                <a:lnTo>
                  <a:pt x="35" y="21"/>
                </a:lnTo>
                <a:lnTo>
                  <a:pt x="0" y="21"/>
                </a:lnTo>
                <a:close/>
              </a:path>
            </a:pathLst>
          </a:custGeom>
          <a:solidFill>
            <a:srgbClr val="F2AA84"/>
          </a:solidFill>
          <a:ln w="10241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 247"/>
          <p:cNvSpPr/>
          <p:nvPr/>
        </p:nvSpPr>
        <p:spPr>
          <a:xfrm>
            <a:off x="6254325" y="7571145"/>
            <a:ext cx="285285" cy="256025"/>
          </a:xfrm>
          <a:prstGeom prst="roundRect">
            <a:avLst>
              <a:gd name="adj" fmla="val 5714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 248"/>
          <p:cNvSpPr/>
          <p:nvPr/>
        </p:nvSpPr>
        <p:spPr>
          <a:xfrm>
            <a:off x="6268955" y="7585775"/>
            <a:ext cx="256025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0" name="path 249"/>
          <p:cNvCxnSpPr/>
          <p:nvPr/>
        </p:nvCxnSpPr>
        <p:spPr>
          <a:xfrm>
            <a:off x="1806805" y="4710980"/>
            <a:ext cx="0" cy="168245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path 250"/>
          <p:cNvCxnSpPr/>
          <p:nvPr/>
        </p:nvCxnSpPr>
        <p:spPr>
          <a:xfrm>
            <a:off x="1806805" y="4710980"/>
            <a:ext cx="0" cy="168245"/>
          </a:xfrm>
          <a:prstGeom prst="line">
            <a:avLst/>
          </a:prstGeom>
          <a:ln w="3511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2" name="arrowhead 251"/>
          <p:cNvSpPr/>
          <p:nvPr/>
        </p:nvSpPr>
        <p:spPr>
          <a:xfrm>
            <a:off x="1762915" y="479132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0" y="0"/>
                </a:moveTo>
                <a:lnTo>
                  <a:pt x="6" y="12"/>
                </a:lnTo>
                <a:lnTo>
                  <a:pt x="12" y="0"/>
                </a:lnTo>
              </a:path>
            </a:pathLst>
          </a:custGeom>
          <a:noFill/>
          <a:ln w="137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3" name="path 252"/>
          <p:cNvCxnSpPr/>
          <p:nvPr/>
        </p:nvCxnSpPr>
        <p:spPr>
          <a:xfrm>
            <a:off x="5164390" y="4710980"/>
            <a:ext cx="0" cy="168245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path 253"/>
          <p:cNvCxnSpPr/>
          <p:nvPr/>
        </p:nvCxnSpPr>
        <p:spPr>
          <a:xfrm>
            <a:off x="5164390" y="4710980"/>
            <a:ext cx="0" cy="168245"/>
          </a:xfrm>
          <a:prstGeom prst="line">
            <a:avLst/>
          </a:prstGeom>
          <a:ln w="3511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arrowhead 254"/>
          <p:cNvSpPr/>
          <p:nvPr/>
        </p:nvSpPr>
        <p:spPr>
          <a:xfrm>
            <a:off x="5120500" y="479132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0" y="0"/>
                </a:moveTo>
                <a:lnTo>
                  <a:pt x="6" y="12"/>
                </a:lnTo>
                <a:lnTo>
                  <a:pt x="12" y="0"/>
                </a:lnTo>
              </a:path>
            </a:pathLst>
          </a:custGeom>
          <a:noFill/>
          <a:ln w="137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6" name="path 255"/>
          <p:cNvCxnSpPr/>
          <p:nvPr/>
        </p:nvCxnSpPr>
        <p:spPr>
          <a:xfrm>
            <a:off x="3518515" y="6861590"/>
            <a:ext cx="10241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path 256"/>
          <p:cNvCxnSpPr/>
          <p:nvPr/>
        </p:nvCxnSpPr>
        <p:spPr>
          <a:xfrm>
            <a:off x="3518515" y="6861590"/>
            <a:ext cx="102410" cy="0"/>
          </a:xfrm>
          <a:prstGeom prst="line">
            <a:avLst/>
          </a:prstGeom>
          <a:ln w="3511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arrowhead 257"/>
          <p:cNvSpPr/>
          <p:nvPr/>
        </p:nvSpPr>
        <p:spPr>
          <a:xfrm>
            <a:off x="3533145" y="681758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3" y="6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 258"/>
          <p:cNvSpPr/>
          <p:nvPr/>
        </p:nvSpPr>
        <p:spPr>
          <a:xfrm>
            <a:off x="7212590" y="2560370"/>
            <a:ext cx="5588660" cy="14630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609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 259"/>
          <p:cNvSpPr/>
          <p:nvPr/>
        </p:nvSpPr>
        <p:spPr>
          <a:xfrm>
            <a:off x="7219905" y="2567685"/>
            <a:ext cx="5574030" cy="270655"/>
          </a:xfrm>
          <a:prstGeom prst="roundRect">
            <a:avLst>
              <a:gd name="adj" fmla="val 18918"/>
            </a:avLst>
          </a:prstGeom>
          <a:solidFill>
            <a:srgbClr val="D7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 260"/>
          <p:cNvSpPr/>
          <p:nvPr/>
        </p:nvSpPr>
        <p:spPr>
          <a:xfrm>
            <a:off x="7219905" y="2706670"/>
            <a:ext cx="5574030" cy="131670"/>
          </a:xfrm>
          <a:prstGeom prst="rect">
            <a:avLst/>
          </a:prstGeom>
          <a:solidFill>
            <a:srgbClr val="D7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2" name="line 261"/>
          <p:cNvCxnSpPr/>
          <p:nvPr/>
        </p:nvCxnSpPr>
        <p:spPr>
          <a:xfrm>
            <a:off x="7219905" y="2838340"/>
            <a:ext cx="5574030" cy="0"/>
          </a:xfrm>
          <a:prstGeom prst="line">
            <a:avLst/>
          </a:prstGeom>
          <a:ln w="8778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HBM pool"/>
          <p:cNvSpPr txBox="1"/>
          <p:nvPr/>
        </p:nvSpPr>
        <p:spPr>
          <a:xfrm>
            <a:off x="7329630" y="2534767"/>
            <a:ext cx="1021757" cy="31820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HBM pool</a:t>
            </a:r>
          </a:p>
        </p:txBody>
      </p:sp>
      <p:sp>
        <p:nvSpPr>
          <p:cNvPr id="264" name="FULL"/>
          <p:cNvSpPr txBox="1"/>
          <p:nvPr/>
        </p:nvSpPr>
        <p:spPr>
          <a:xfrm>
            <a:off x="7351575" y="3028530"/>
            <a:ext cx="524737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FULL</a:t>
            </a:r>
          </a:p>
        </p:txBody>
      </p:sp>
      <p:sp>
        <p:nvSpPr>
          <p:cNvPr id="265" name="rect 264"/>
          <p:cNvSpPr/>
          <p:nvPr/>
        </p:nvSpPr>
        <p:spPr>
          <a:xfrm>
            <a:off x="8229375" y="30358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 265"/>
          <p:cNvSpPr/>
          <p:nvPr/>
        </p:nvSpPr>
        <p:spPr>
          <a:xfrm>
            <a:off x="8244005" y="30504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 266"/>
          <p:cNvSpPr/>
          <p:nvPr/>
        </p:nvSpPr>
        <p:spPr>
          <a:xfrm>
            <a:off x="8660960" y="30358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 267"/>
          <p:cNvSpPr/>
          <p:nvPr/>
        </p:nvSpPr>
        <p:spPr>
          <a:xfrm>
            <a:off x="8675590" y="30504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 268"/>
          <p:cNvSpPr/>
          <p:nvPr/>
        </p:nvSpPr>
        <p:spPr>
          <a:xfrm>
            <a:off x="9092545" y="30358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 269"/>
          <p:cNvSpPr/>
          <p:nvPr/>
        </p:nvSpPr>
        <p:spPr>
          <a:xfrm>
            <a:off x="9107175" y="30504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 270"/>
          <p:cNvSpPr/>
          <p:nvPr/>
        </p:nvSpPr>
        <p:spPr>
          <a:xfrm>
            <a:off x="9524130" y="30358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 271"/>
          <p:cNvSpPr/>
          <p:nvPr/>
        </p:nvSpPr>
        <p:spPr>
          <a:xfrm>
            <a:off x="9538760" y="30504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 272"/>
          <p:cNvSpPr/>
          <p:nvPr/>
        </p:nvSpPr>
        <p:spPr>
          <a:xfrm>
            <a:off x="9955715" y="30358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 273"/>
          <p:cNvSpPr/>
          <p:nvPr/>
        </p:nvSpPr>
        <p:spPr>
          <a:xfrm>
            <a:off x="9970345" y="30504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 274"/>
          <p:cNvSpPr/>
          <p:nvPr/>
        </p:nvSpPr>
        <p:spPr>
          <a:xfrm>
            <a:off x="10387300" y="30358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 275"/>
          <p:cNvSpPr/>
          <p:nvPr/>
        </p:nvSpPr>
        <p:spPr>
          <a:xfrm>
            <a:off x="10401930" y="30504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 276"/>
          <p:cNvSpPr/>
          <p:nvPr/>
        </p:nvSpPr>
        <p:spPr>
          <a:xfrm>
            <a:off x="10818885" y="30358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 277"/>
          <p:cNvSpPr/>
          <p:nvPr/>
        </p:nvSpPr>
        <p:spPr>
          <a:xfrm>
            <a:off x="10833515" y="30504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 278"/>
          <p:cNvSpPr/>
          <p:nvPr/>
        </p:nvSpPr>
        <p:spPr>
          <a:xfrm>
            <a:off x="11250470" y="3035845"/>
            <a:ext cx="380380" cy="285285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 279"/>
          <p:cNvSpPr/>
          <p:nvPr/>
        </p:nvSpPr>
        <p:spPr>
          <a:xfrm>
            <a:off x="11682055" y="3035845"/>
            <a:ext cx="380380" cy="285285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 280"/>
          <p:cNvSpPr/>
          <p:nvPr/>
        </p:nvSpPr>
        <p:spPr>
          <a:xfrm>
            <a:off x="12113640" y="3035845"/>
            <a:ext cx="380380" cy="285285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Mamba"/>
          <p:cNvSpPr txBox="1"/>
          <p:nvPr/>
        </p:nvSpPr>
        <p:spPr>
          <a:xfrm>
            <a:off x="7351575" y="3564354"/>
            <a:ext cx="698354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Mamba</a:t>
            </a:r>
          </a:p>
        </p:txBody>
      </p:sp>
      <p:sp>
        <p:nvSpPr>
          <p:cNvPr id="283" name="polygon 282"/>
          <p:cNvSpPr/>
          <p:nvPr/>
        </p:nvSpPr>
        <p:spPr>
          <a:xfrm>
            <a:off x="8251320" y="3511200"/>
            <a:ext cx="343805" cy="256025"/>
          </a:xfrm>
          <a:custGeom>
            <a:avLst/>
            <a:gdLst/>
            <a:ahLst/>
            <a:cxnLst/>
            <a:rect l="l" t="t" r="r" b="b"/>
            <a:pathLst>
              <a:path w="47" h="35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5"/>
                </a:lnTo>
                <a:lnTo>
                  <a:pt x="7" y="35"/>
                </a:lnTo>
                <a:lnTo>
                  <a:pt x="0" y="18"/>
                </a:lnTo>
                <a:close/>
              </a:path>
            </a:pathLst>
          </a:custGeom>
          <a:solidFill>
            <a:srgbClr val="D7AE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S"/>
          <p:cNvSpPr txBox="1"/>
          <p:nvPr/>
        </p:nvSpPr>
        <p:spPr>
          <a:xfrm>
            <a:off x="8335720" y="3518635"/>
            <a:ext cx="177932" cy="2395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S</a:t>
            </a:r>
          </a:p>
        </p:txBody>
      </p:sp>
      <p:sp>
        <p:nvSpPr>
          <p:cNvPr id="285" name="rect 284"/>
          <p:cNvSpPr/>
          <p:nvPr/>
        </p:nvSpPr>
        <p:spPr>
          <a:xfrm>
            <a:off x="8312766" y="3542043"/>
            <a:ext cx="223839" cy="21945"/>
          </a:xfrm>
          <a:prstGeom prst="roundRect">
            <a:avLst>
              <a:gd name="adj" fmla="val 33333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P"/>
          <p:cNvSpPr txBox="1"/>
          <p:nvPr/>
        </p:nvSpPr>
        <p:spPr>
          <a:xfrm>
            <a:off x="8697535" y="3513149"/>
            <a:ext cx="194276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287" name="polygon 286"/>
          <p:cNvSpPr/>
          <p:nvPr/>
        </p:nvSpPr>
        <p:spPr>
          <a:xfrm>
            <a:off x="9377830" y="3511200"/>
            <a:ext cx="343805" cy="256025"/>
          </a:xfrm>
          <a:custGeom>
            <a:avLst/>
            <a:gdLst/>
            <a:ahLst/>
            <a:cxnLst/>
            <a:rect l="l" t="t" r="r" b="b"/>
            <a:pathLst>
              <a:path w="47" h="35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5"/>
                </a:lnTo>
                <a:lnTo>
                  <a:pt x="7" y="35"/>
                </a:lnTo>
                <a:lnTo>
                  <a:pt x="0" y="18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∅"/>
          <p:cNvSpPr txBox="1"/>
          <p:nvPr/>
        </p:nvSpPr>
        <p:spPr>
          <a:xfrm>
            <a:off x="9435070" y="3518635"/>
            <a:ext cx="232251" cy="2395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∅</a:t>
            </a:r>
          </a:p>
        </p:txBody>
      </p:sp>
      <p:sp>
        <p:nvSpPr>
          <p:cNvPr id="289" name="C1"/>
          <p:cNvSpPr txBox="1"/>
          <p:nvPr/>
        </p:nvSpPr>
        <p:spPr>
          <a:xfrm>
            <a:off x="9824045" y="3513149"/>
            <a:ext cx="288514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290" name="polygon 289"/>
          <p:cNvSpPr/>
          <p:nvPr/>
        </p:nvSpPr>
        <p:spPr>
          <a:xfrm>
            <a:off x="10504340" y="3511200"/>
            <a:ext cx="343805" cy="256025"/>
          </a:xfrm>
          <a:custGeom>
            <a:avLst/>
            <a:gdLst/>
            <a:ahLst/>
            <a:cxnLst/>
            <a:rect l="l" t="t" r="r" b="b"/>
            <a:pathLst>
              <a:path w="47" h="35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5"/>
                </a:lnTo>
                <a:lnTo>
                  <a:pt x="7" y="35"/>
                </a:lnTo>
                <a:lnTo>
                  <a:pt x="0" y="18"/>
                </a:lnTo>
                <a:close/>
              </a:path>
            </a:pathLst>
          </a:custGeom>
          <a:solidFill>
            <a:srgbClr val="D7AE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S"/>
          <p:cNvSpPr txBox="1"/>
          <p:nvPr/>
        </p:nvSpPr>
        <p:spPr>
          <a:xfrm>
            <a:off x="10588740" y="3518635"/>
            <a:ext cx="177932" cy="2395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S</a:t>
            </a:r>
          </a:p>
        </p:txBody>
      </p:sp>
      <p:sp>
        <p:nvSpPr>
          <p:cNvPr id="292" name="rect 291"/>
          <p:cNvSpPr/>
          <p:nvPr/>
        </p:nvSpPr>
        <p:spPr>
          <a:xfrm>
            <a:off x="10565786" y="3542043"/>
            <a:ext cx="223839" cy="21945"/>
          </a:xfrm>
          <a:prstGeom prst="roundRect">
            <a:avLst>
              <a:gd name="adj" fmla="val 33333"/>
            </a:avLst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C2"/>
          <p:cNvSpPr txBox="1"/>
          <p:nvPr/>
        </p:nvSpPr>
        <p:spPr>
          <a:xfrm>
            <a:off x="10950555" y="3513149"/>
            <a:ext cx="288514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294" name="polygon 293"/>
          <p:cNvSpPr/>
          <p:nvPr/>
        </p:nvSpPr>
        <p:spPr>
          <a:xfrm>
            <a:off x="11630850" y="3511200"/>
            <a:ext cx="343805" cy="256025"/>
          </a:xfrm>
          <a:custGeom>
            <a:avLst/>
            <a:gdLst/>
            <a:ahLst/>
            <a:cxnLst/>
            <a:rect l="l" t="t" r="r" b="b"/>
            <a:pathLst>
              <a:path w="47" h="35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5"/>
                </a:lnTo>
                <a:lnTo>
                  <a:pt x="7" y="35"/>
                </a:lnTo>
                <a:lnTo>
                  <a:pt x="0" y="18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∅"/>
          <p:cNvSpPr txBox="1"/>
          <p:nvPr/>
        </p:nvSpPr>
        <p:spPr>
          <a:xfrm>
            <a:off x="11688090" y="3518635"/>
            <a:ext cx="232251" cy="2395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∅</a:t>
            </a:r>
          </a:p>
        </p:txBody>
      </p:sp>
      <p:sp>
        <p:nvSpPr>
          <p:cNvPr id="296" name="rect 295"/>
          <p:cNvSpPr/>
          <p:nvPr/>
        </p:nvSpPr>
        <p:spPr>
          <a:xfrm>
            <a:off x="7212590" y="5340070"/>
            <a:ext cx="5588660" cy="1463000"/>
          </a:xfrm>
          <a:prstGeom prst="roundRect">
            <a:avLst>
              <a:gd name="adj" fmla="val 4000"/>
            </a:avLst>
          </a:prstGeom>
          <a:solidFill>
            <a:srgbClr val="FBE3D6"/>
          </a:solidFill>
          <a:ln w="1609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 296"/>
          <p:cNvSpPr/>
          <p:nvPr/>
        </p:nvSpPr>
        <p:spPr>
          <a:xfrm>
            <a:off x="7219905" y="5347385"/>
            <a:ext cx="5574030" cy="270655"/>
          </a:xfrm>
          <a:prstGeom prst="roundRect">
            <a:avLst>
              <a:gd name="adj" fmla="val 18918"/>
            </a:avLst>
          </a:prstGeom>
          <a:solidFill>
            <a:srgbClr val="FFD5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 297"/>
          <p:cNvSpPr/>
          <p:nvPr/>
        </p:nvSpPr>
        <p:spPr>
          <a:xfrm>
            <a:off x="7219905" y="5486370"/>
            <a:ext cx="5574030" cy="131670"/>
          </a:xfrm>
          <a:prstGeom prst="rect">
            <a:avLst/>
          </a:prstGeom>
          <a:solidFill>
            <a:srgbClr val="FFD5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9" name="line 298"/>
          <p:cNvCxnSpPr/>
          <p:nvPr/>
        </p:nvCxnSpPr>
        <p:spPr>
          <a:xfrm>
            <a:off x="7219905" y="5618040"/>
            <a:ext cx="5574030" cy="0"/>
          </a:xfrm>
          <a:prstGeom prst="line">
            <a:avLst/>
          </a:prstGeom>
          <a:ln w="8778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Host pool"/>
          <p:cNvSpPr txBox="1"/>
          <p:nvPr/>
        </p:nvSpPr>
        <p:spPr>
          <a:xfrm>
            <a:off x="7329630" y="5314468"/>
            <a:ext cx="1017785" cy="31820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Host pool</a:t>
            </a:r>
          </a:p>
        </p:txBody>
      </p:sp>
      <p:sp>
        <p:nvSpPr>
          <p:cNvPr id="301" name="FULL"/>
          <p:cNvSpPr txBox="1"/>
          <p:nvPr/>
        </p:nvSpPr>
        <p:spPr>
          <a:xfrm>
            <a:off x="7351575" y="5808230"/>
            <a:ext cx="524737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FULL</a:t>
            </a:r>
          </a:p>
        </p:txBody>
      </p:sp>
      <p:sp>
        <p:nvSpPr>
          <p:cNvPr id="302" name="rect 301"/>
          <p:cNvSpPr/>
          <p:nvPr/>
        </p:nvSpPr>
        <p:spPr>
          <a:xfrm>
            <a:off x="8229375" y="58155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 302"/>
          <p:cNvSpPr/>
          <p:nvPr/>
        </p:nvSpPr>
        <p:spPr>
          <a:xfrm>
            <a:off x="8244005" y="58301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 303"/>
          <p:cNvSpPr/>
          <p:nvPr/>
        </p:nvSpPr>
        <p:spPr>
          <a:xfrm>
            <a:off x="8660960" y="58155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 304"/>
          <p:cNvSpPr/>
          <p:nvPr/>
        </p:nvSpPr>
        <p:spPr>
          <a:xfrm>
            <a:off x="8675590" y="58301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 305"/>
          <p:cNvSpPr/>
          <p:nvPr/>
        </p:nvSpPr>
        <p:spPr>
          <a:xfrm>
            <a:off x="9092545" y="58155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 306"/>
          <p:cNvSpPr/>
          <p:nvPr/>
        </p:nvSpPr>
        <p:spPr>
          <a:xfrm>
            <a:off x="9107175" y="58301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 307"/>
          <p:cNvSpPr/>
          <p:nvPr/>
        </p:nvSpPr>
        <p:spPr>
          <a:xfrm>
            <a:off x="9524130" y="58155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 308"/>
          <p:cNvSpPr/>
          <p:nvPr/>
        </p:nvSpPr>
        <p:spPr>
          <a:xfrm>
            <a:off x="9538760" y="58301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 309"/>
          <p:cNvSpPr/>
          <p:nvPr/>
        </p:nvSpPr>
        <p:spPr>
          <a:xfrm>
            <a:off x="9955715" y="58155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 310"/>
          <p:cNvSpPr/>
          <p:nvPr/>
        </p:nvSpPr>
        <p:spPr>
          <a:xfrm>
            <a:off x="9970345" y="58301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 311"/>
          <p:cNvSpPr/>
          <p:nvPr/>
        </p:nvSpPr>
        <p:spPr>
          <a:xfrm>
            <a:off x="10387300" y="58155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 312"/>
          <p:cNvSpPr/>
          <p:nvPr/>
        </p:nvSpPr>
        <p:spPr>
          <a:xfrm>
            <a:off x="10401930" y="58301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 313"/>
          <p:cNvSpPr/>
          <p:nvPr/>
        </p:nvSpPr>
        <p:spPr>
          <a:xfrm>
            <a:off x="10818885" y="58155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 314"/>
          <p:cNvSpPr/>
          <p:nvPr/>
        </p:nvSpPr>
        <p:spPr>
          <a:xfrm>
            <a:off x="10833515" y="58301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 315"/>
          <p:cNvSpPr/>
          <p:nvPr/>
        </p:nvSpPr>
        <p:spPr>
          <a:xfrm>
            <a:off x="11250470" y="5815545"/>
            <a:ext cx="380380" cy="285285"/>
          </a:xfrm>
          <a:prstGeom prst="roundRect">
            <a:avLst>
              <a:gd name="adj" fmla="val 5128"/>
            </a:avLst>
          </a:prstGeom>
          <a:solidFill>
            <a:srgbClr val="FFD579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 316"/>
          <p:cNvSpPr/>
          <p:nvPr/>
        </p:nvSpPr>
        <p:spPr>
          <a:xfrm>
            <a:off x="11265100" y="5830175"/>
            <a:ext cx="351120" cy="36575"/>
          </a:xfrm>
          <a:prstGeom prst="roundRect">
            <a:avLst>
              <a:gd name="adj" fmla="val 20000"/>
            </a:avLst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 317"/>
          <p:cNvSpPr/>
          <p:nvPr/>
        </p:nvSpPr>
        <p:spPr>
          <a:xfrm>
            <a:off x="11682055" y="5815545"/>
            <a:ext cx="380380" cy="285285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 318"/>
          <p:cNvSpPr/>
          <p:nvPr/>
        </p:nvSpPr>
        <p:spPr>
          <a:xfrm>
            <a:off x="12113640" y="5815545"/>
            <a:ext cx="380380" cy="285285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Mamba"/>
          <p:cNvSpPr txBox="1"/>
          <p:nvPr/>
        </p:nvSpPr>
        <p:spPr>
          <a:xfrm>
            <a:off x="7351575" y="6344054"/>
            <a:ext cx="698354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Mamba</a:t>
            </a:r>
          </a:p>
        </p:txBody>
      </p:sp>
      <p:sp>
        <p:nvSpPr>
          <p:cNvPr id="321" name="polygon 320"/>
          <p:cNvSpPr/>
          <p:nvPr/>
        </p:nvSpPr>
        <p:spPr>
          <a:xfrm>
            <a:off x="8251320" y="6290900"/>
            <a:ext cx="343805" cy="256025"/>
          </a:xfrm>
          <a:custGeom>
            <a:avLst/>
            <a:gdLst/>
            <a:ahLst/>
            <a:cxnLst/>
            <a:rect l="l" t="t" r="r" b="b"/>
            <a:pathLst>
              <a:path w="47" h="35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5"/>
                </a:lnTo>
                <a:lnTo>
                  <a:pt x="7" y="35"/>
                </a:lnTo>
                <a:lnTo>
                  <a:pt x="0" y="18"/>
                </a:lnTo>
                <a:close/>
              </a:path>
            </a:pathLst>
          </a:custGeom>
          <a:solidFill>
            <a:srgbClr val="FFD579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S"/>
          <p:cNvSpPr txBox="1"/>
          <p:nvPr/>
        </p:nvSpPr>
        <p:spPr>
          <a:xfrm>
            <a:off x="8335720" y="6298335"/>
            <a:ext cx="177932" cy="2395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S</a:t>
            </a:r>
          </a:p>
        </p:txBody>
      </p:sp>
      <p:sp>
        <p:nvSpPr>
          <p:cNvPr id="323" name="rect 322"/>
          <p:cNvSpPr/>
          <p:nvPr/>
        </p:nvSpPr>
        <p:spPr>
          <a:xfrm>
            <a:off x="8312766" y="6321743"/>
            <a:ext cx="223839" cy="21945"/>
          </a:xfrm>
          <a:prstGeom prst="roundRect">
            <a:avLst>
              <a:gd name="adj" fmla="val 33333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P"/>
          <p:cNvSpPr txBox="1"/>
          <p:nvPr/>
        </p:nvSpPr>
        <p:spPr>
          <a:xfrm>
            <a:off x="8697535" y="6292849"/>
            <a:ext cx="194276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325" name="polygon 324"/>
          <p:cNvSpPr/>
          <p:nvPr/>
        </p:nvSpPr>
        <p:spPr>
          <a:xfrm>
            <a:off x="9377830" y="6290900"/>
            <a:ext cx="343805" cy="256025"/>
          </a:xfrm>
          <a:custGeom>
            <a:avLst/>
            <a:gdLst/>
            <a:ahLst/>
            <a:cxnLst/>
            <a:rect l="l" t="t" r="r" b="b"/>
            <a:pathLst>
              <a:path w="47" h="35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5"/>
                </a:lnTo>
                <a:lnTo>
                  <a:pt x="7" y="35"/>
                </a:lnTo>
                <a:lnTo>
                  <a:pt x="0" y="18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∅"/>
          <p:cNvSpPr txBox="1"/>
          <p:nvPr/>
        </p:nvSpPr>
        <p:spPr>
          <a:xfrm>
            <a:off x="9435070" y="6298335"/>
            <a:ext cx="232251" cy="2395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∅</a:t>
            </a:r>
          </a:p>
        </p:txBody>
      </p:sp>
      <p:sp>
        <p:nvSpPr>
          <p:cNvPr id="327" name="C1"/>
          <p:cNvSpPr txBox="1"/>
          <p:nvPr/>
        </p:nvSpPr>
        <p:spPr>
          <a:xfrm>
            <a:off x="9824045" y="6292849"/>
            <a:ext cx="288514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328" name="polygon 327"/>
          <p:cNvSpPr/>
          <p:nvPr/>
        </p:nvSpPr>
        <p:spPr>
          <a:xfrm>
            <a:off x="10504340" y="6290900"/>
            <a:ext cx="343805" cy="256025"/>
          </a:xfrm>
          <a:custGeom>
            <a:avLst/>
            <a:gdLst/>
            <a:ahLst/>
            <a:cxnLst/>
            <a:rect l="l" t="t" r="r" b="b"/>
            <a:pathLst>
              <a:path w="47" h="35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5"/>
                </a:lnTo>
                <a:lnTo>
                  <a:pt x="7" y="35"/>
                </a:lnTo>
                <a:lnTo>
                  <a:pt x="0" y="18"/>
                </a:lnTo>
                <a:close/>
              </a:path>
            </a:pathLst>
          </a:custGeom>
          <a:solidFill>
            <a:srgbClr val="FFD579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S"/>
          <p:cNvSpPr txBox="1"/>
          <p:nvPr/>
        </p:nvSpPr>
        <p:spPr>
          <a:xfrm>
            <a:off x="10588740" y="6298335"/>
            <a:ext cx="177932" cy="2395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S</a:t>
            </a:r>
          </a:p>
        </p:txBody>
      </p:sp>
      <p:sp>
        <p:nvSpPr>
          <p:cNvPr id="330" name="rect 329"/>
          <p:cNvSpPr/>
          <p:nvPr/>
        </p:nvSpPr>
        <p:spPr>
          <a:xfrm>
            <a:off x="10565786" y="6321743"/>
            <a:ext cx="223839" cy="21945"/>
          </a:xfrm>
          <a:prstGeom prst="roundRect">
            <a:avLst>
              <a:gd name="adj" fmla="val 33333"/>
            </a:avLst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C2"/>
          <p:cNvSpPr txBox="1"/>
          <p:nvPr/>
        </p:nvSpPr>
        <p:spPr>
          <a:xfrm>
            <a:off x="10950555" y="6292849"/>
            <a:ext cx="288514" cy="2743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332" name="polygon 331"/>
          <p:cNvSpPr/>
          <p:nvPr/>
        </p:nvSpPr>
        <p:spPr>
          <a:xfrm>
            <a:off x="11630850" y="6290900"/>
            <a:ext cx="343805" cy="256025"/>
          </a:xfrm>
          <a:custGeom>
            <a:avLst/>
            <a:gdLst/>
            <a:ahLst/>
            <a:cxnLst/>
            <a:rect l="l" t="t" r="r" b="b"/>
            <a:pathLst>
              <a:path w="47" h="35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5"/>
                </a:lnTo>
                <a:lnTo>
                  <a:pt x="7" y="35"/>
                </a:lnTo>
                <a:lnTo>
                  <a:pt x="0" y="18"/>
                </a:lnTo>
                <a:close/>
              </a:path>
            </a:pathLst>
          </a:custGeom>
          <a:solidFill>
            <a:srgbClr val="FFFFFF"/>
          </a:solidFill>
          <a:ln w="1097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∅"/>
          <p:cNvSpPr txBox="1"/>
          <p:nvPr/>
        </p:nvSpPr>
        <p:spPr>
          <a:xfrm>
            <a:off x="11688090" y="6298335"/>
            <a:ext cx="232251" cy="2395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∅</a:t>
            </a:r>
          </a:p>
        </p:txBody>
      </p:sp>
      <p:sp>
        <p:nvSpPr>
          <p:cNvPr id="334" name="rect 333"/>
          <p:cNvSpPr/>
          <p:nvPr/>
        </p:nvSpPr>
        <p:spPr>
          <a:xfrm>
            <a:off x="7212590" y="4125780"/>
            <a:ext cx="2413950" cy="106799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 w="1463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 334"/>
          <p:cNvSpPr/>
          <p:nvPr/>
        </p:nvSpPr>
        <p:spPr>
          <a:xfrm>
            <a:off x="7219905" y="4133095"/>
            <a:ext cx="2399320" cy="226765"/>
          </a:xfrm>
          <a:prstGeom prst="roundRect">
            <a:avLst>
              <a:gd name="adj" fmla="val 2258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 335"/>
          <p:cNvSpPr/>
          <p:nvPr/>
        </p:nvSpPr>
        <p:spPr>
          <a:xfrm>
            <a:off x="7219905" y="4242820"/>
            <a:ext cx="2399320" cy="1170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7" name="line 336"/>
          <p:cNvCxnSpPr/>
          <p:nvPr/>
        </p:nvCxnSpPr>
        <p:spPr>
          <a:xfrm>
            <a:off x="7219905" y="4359860"/>
            <a:ext cx="2399320" cy="0"/>
          </a:xfrm>
          <a:prstGeom prst="line">
            <a:avLst/>
          </a:prstGeom>
          <a:ln w="8778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前缀索引"/>
          <p:cNvSpPr txBox="1"/>
          <p:nvPr/>
        </p:nvSpPr>
        <p:spPr>
          <a:xfrm>
            <a:off x="7315000" y="4118758"/>
            <a:ext cx="790020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前缀索引</a:t>
            </a:r>
          </a:p>
        </p:txBody>
      </p:sp>
      <p:sp>
        <p:nvSpPr>
          <p:cNvPr id="339" name="rect 338"/>
          <p:cNvSpPr/>
          <p:nvPr/>
        </p:nvSpPr>
        <p:spPr>
          <a:xfrm>
            <a:off x="7358890" y="4740240"/>
            <a:ext cx="395010" cy="234080"/>
          </a:xfrm>
          <a:prstGeom prst="roundRect">
            <a:avLst>
              <a:gd name="adj" fmla="val 3125"/>
            </a:avLst>
          </a:prstGeom>
          <a:solidFill>
            <a:srgbClr val="D9D9D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p0"/>
          <p:cNvSpPr txBox="1"/>
          <p:nvPr/>
        </p:nvSpPr>
        <p:spPr>
          <a:xfrm>
            <a:off x="7413210" y="4723635"/>
            <a:ext cx="286371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341" name="rect 340"/>
          <p:cNvSpPr/>
          <p:nvPr/>
        </p:nvSpPr>
        <p:spPr>
          <a:xfrm>
            <a:off x="8148910" y="4484215"/>
            <a:ext cx="395010" cy="234080"/>
          </a:xfrm>
          <a:prstGeom prst="roundRect">
            <a:avLst>
              <a:gd name="adj" fmla="val 3125"/>
            </a:avLst>
          </a:prstGeom>
          <a:solidFill>
            <a:srgbClr val="A6CAEC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P"/>
          <p:cNvSpPr txBox="1"/>
          <p:nvPr/>
        </p:nvSpPr>
        <p:spPr>
          <a:xfrm>
            <a:off x="8248848" y="4467610"/>
            <a:ext cx="195133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343" name="rect 342"/>
          <p:cNvSpPr/>
          <p:nvPr/>
        </p:nvSpPr>
        <p:spPr>
          <a:xfrm>
            <a:off x="8148910" y="4930430"/>
            <a:ext cx="395010" cy="234080"/>
          </a:xfrm>
          <a:prstGeom prst="roundRect">
            <a:avLst>
              <a:gd name="adj" fmla="val 3125"/>
            </a:avLst>
          </a:prstGeom>
          <a:solidFill>
            <a:srgbClr val="F6C6AD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C2"/>
          <p:cNvSpPr txBox="1"/>
          <p:nvPr/>
        </p:nvSpPr>
        <p:spPr>
          <a:xfrm>
            <a:off x="8202258" y="4913825"/>
            <a:ext cx="288314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345" name="rect 344"/>
          <p:cNvSpPr/>
          <p:nvPr/>
        </p:nvSpPr>
        <p:spPr>
          <a:xfrm>
            <a:off x="8975505" y="4484215"/>
            <a:ext cx="395010" cy="234080"/>
          </a:xfrm>
          <a:prstGeom prst="roundRect">
            <a:avLst>
              <a:gd name="adj" fmla="val 3125"/>
            </a:avLst>
          </a:prstGeom>
          <a:solidFill>
            <a:srgbClr val="A6CAEC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c*"/>
          <p:cNvSpPr txBox="1"/>
          <p:nvPr/>
        </p:nvSpPr>
        <p:spPr>
          <a:xfrm>
            <a:off x="9045926" y="4467610"/>
            <a:ext cx="254168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c*</a:t>
            </a:r>
          </a:p>
        </p:txBody>
      </p:sp>
      <p:cxnSp>
        <p:nvCxnSpPr>
          <p:cNvPr id="347" name="line 346"/>
          <p:cNvCxnSpPr/>
          <p:nvPr/>
        </p:nvCxnSpPr>
        <p:spPr>
          <a:xfrm flipV="1">
            <a:off x="7775845" y="4601255"/>
            <a:ext cx="343805" cy="234080"/>
          </a:xfrm>
          <a:prstGeom prst="line">
            <a:avLst/>
          </a:prstGeom>
          <a:ln w="1243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line 347"/>
          <p:cNvCxnSpPr/>
          <p:nvPr/>
        </p:nvCxnSpPr>
        <p:spPr>
          <a:xfrm>
            <a:off x="7775845" y="4908485"/>
            <a:ext cx="343805" cy="138985"/>
          </a:xfrm>
          <a:prstGeom prst="line">
            <a:avLst/>
          </a:prstGeom>
          <a:ln w="1243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path 348"/>
          <p:cNvCxnSpPr/>
          <p:nvPr/>
        </p:nvCxnSpPr>
        <p:spPr>
          <a:xfrm>
            <a:off x="8580495" y="4601255"/>
            <a:ext cx="36575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path 349"/>
          <p:cNvCxnSpPr/>
          <p:nvPr/>
        </p:nvCxnSpPr>
        <p:spPr>
          <a:xfrm>
            <a:off x="8580495" y="4601255"/>
            <a:ext cx="365750" cy="0"/>
          </a:xfrm>
          <a:prstGeom prst="line">
            <a:avLst/>
          </a:prstGeom>
          <a:ln w="3511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arrowhead 350"/>
          <p:cNvSpPr/>
          <p:nvPr/>
        </p:nvSpPr>
        <p:spPr>
          <a:xfrm>
            <a:off x="8814575" y="453530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5" y="9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HiCache"/>
          <p:cNvSpPr txBox="1"/>
          <p:nvPr/>
        </p:nvSpPr>
        <p:spPr>
          <a:xfrm>
            <a:off x="10849931" y="4100177"/>
            <a:ext cx="888858" cy="31820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HiCache</a:t>
            </a:r>
          </a:p>
        </p:txBody>
      </p:sp>
      <p:sp>
        <p:nvSpPr>
          <p:cNvPr id="353" name="polygon 352"/>
          <p:cNvSpPr/>
          <p:nvPr/>
        </p:nvSpPr>
        <p:spPr>
          <a:xfrm>
            <a:off x="10782310" y="4579190"/>
            <a:ext cx="1024100" cy="482790"/>
          </a:xfrm>
          <a:custGeom>
            <a:avLst/>
            <a:gdLst/>
            <a:ahLst/>
            <a:cxnLst/>
            <a:rect l="l" t="t" r="r" b="b"/>
            <a:pathLst>
              <a:path w="140" h="66">
                <a:moveTo>
                  <a:pt x="12" y="0"/>
                </a:moveTo>
                <a:lnTo>
                  <a:pt x="128" y="0"/>
                </a:lnTo>
                <a:lnTo>
                  <a:pt x="140" y="12"/>
                </a:lnTo>
                <a:lnTo>
                  <a:pt x="140" y="54"/>
                </a:lnTo>
                <a:lnTo>
                  <a:pt x="128" y="66"/>
                </a:lnTo>
                <a:lnTo>
                  <a:pt x="12" y="66"/>
                </a:lnTo>
                <a:lnTo>
                  <a:pt x="0" y="54"/>
                </a:lnTo>
                <a:lnTo>
                  <a:pt x="0" y="12"/>
                </a:lnTo>
                <a:close/>
              </a:path>
            </a:pathLst>
          </a:custGeom>
          <a:solidFill>
            <a:srgbClr val="D9D9D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DMA"/>
          <p:cNvSpPr txBox="1"/>
          <p:nvPr/>
        </p:nvSpPr>
        <p:spPr>
          <a:xfrm>
            <a:off x="11040492" y="4599426"/>
            <a:ext cx="507735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DMA</a:t>
            </a:r>
          </a:p>
        </p:txBody>
      </p:sp>
      <p:cxnSp>
        <p:nvCxnSpPr>
          <p:cNvPr id="355" name="line 354"/>
          <p:cNvCxnSpPr/>
          <p:nvPr/>
        </p:nvCxnSpPr>
        <p:spPr>
          <a:xfrm>
            <a:off x="10723790" y="4844844"/>
            <a:ext cx="109725" cy="0"/>
          </a:xfrm>
          <a:prstGeom prst="line">
            <a:avLst/>
          </a:prstGeom>
          <a:ln w="1463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line 355"/>
          <p:cNvCxnSpPr/>
          <p:nvPr/>
        </p:nvCxnSpPr>
        <p:spPr>
          <a:xfrm>
            <a:off x="11755205" y="4844844"/>
            <a:ext cx="109725" cy="0"/>
          </a:xfrm>
          <a:prstGeom prst="line">
            <a:avLst/>
          </a:prstGeom>
          <a:ln w="1463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line 356"/>
          <p:cNvCxnSpPr/>
          <p:nvPr/>
        </p:nvCxnSpPr>
        <p:spPr>
          <a:xfrm>
            <a:off x="10723790" y="4896049"/>
            <a:ext cx="109725" cy="0"/>
          </a:xfrm>
          <a:prstGeom prst="line">
            <a:avLst/>
          </a:prstGeom>
          <a:ln w="1463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line 357"/>
          <p:cNvCxnSpPr/>
          <p:nvPr/>
        </p:nvCxnSpPr>
        <p:spPr>
          <a:xfrm>
            <a:off x="11755205" y="4896049"/>
            <a:ext cx="109725" cy="0"/>
          </a:xfrm>
          <a:prstGeom prst="line">
            <a:avLst/>
          </a:prstGeom>
          <a:ln w="1463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line 358"/>
          <p:cNvCxnSpPr/>
          <p:nvPr/>
        </p:nvCxnSpPr>
        <p:spPr>
          <a:xfrm>
            <a:off x="10723790" y="4947254"/>
            <a:ext cx="109725" cy="0"/>
          </a:xfrm>
          <a:prstGeom prst="line">
            <a:avLst/>
          </a:prstGeom>
          <a:ln w="1463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line 359"/>
          <p:cNvCxnSpPr/>
          <p:nvPr/>
        </p:nvCxnSpPr>
        <p:spPr>
          <a:xfrm>
            <a:off x="11755205" y="4947254"/>
            <a:ext cx="109725" cy="0"/>
          </a:xfrm>
          <a:prstGeom prst="line">
            <a:avLst/>
          </a:prstGeom>
          <a:ln w="14630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curve 360"/>
          <p:cNvSpPr/>
          <p:nvPr/>
        </p:nvSpPr>
        <p:spPr>
          <a:xfrm>
            <a:off x="9787470" y="3993990"/>
            <a:ext cx="460845" cy="1331330"/>
          </a:xfrm>
          <a:custGeom>
            <a:avLst/>
            <a:gdLst/>
            <a:ahLst/>
            <a:cxnLst/>
            <a:rect l="l" t="t" r="r" b="b"/>
            <a:pathLst>
              <a:path w="63" h="182">
                <a:moveTo>
                  <a:pt x="51" y="0"/>
                </a:moveTo>
                <a:cubicBezTo>
                  <a:pt x="0" y="58"/>
                  <a:pt x="7" y="138"/>
                  <a:pt x="32" y="167"/>
                </a:cubicBezTo>
                <a:lnTo>
                  <a:pt x="26" y="172"/>
                </a:lnTo>
                <a:lnTo>
                  <a:pt x="57" y="182"/>
                </a:lnTo>
                <a:lnTo>
                  <a:pt x="51" y="150"/>
                </a:lnTo>
                <a:lnTo>
                  <a:pt x="45" y="155"/>
                </a:lnTo>
                <a:cubicBezTo>
                  <a:pt x="20" y="127"/>
                  <a:pt x="12" y="70"/>
                  <a:pt x="63" y="12"/>
                </a:cubicBezTo>
                <a:close/>
              </a:path>
            </a:pathLst>
          </a:custGeom>
          <a:solidFill>
            <a:srgbClr val="F2AA84"/>
          </a:solidFill>
          <a:ln w="1097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curve 361"/>
          <p:cNvSpPr/>
          <p:nvPr/>
        </p:nvSpPr>
        <p:spPr>
          <a:xfrm>
            <a:off x="12340405" y="4037880"/>
            <a:ext cx="446215" cy="1324015"/>
          </a:xfrm>
          <a:custGeom>
            <a:avLst/>
            <a:gdLst/>
            <a:ahLst/>
            <a:cxnLst/>
            <a:rect l="l" t="t" r="r" b="b"/>
            <a:pathLst>
              <a:path w="61" h="181">
                <a:moveTo>
                  <a:pt x="14" y="181"/>
                </a:moveTo>
                <a:cubicBezTo>
                  <a:pt x="61" y="123"/>
                  <a:pt x="55" y="46"/>
                  <a:pt x="31" y="16"/>
                </a:cubicBezTo>
                <a:lnTo>
                  <a:pt x="38" y="11"/>
                </a:lnTo>
                <a:lnTo>
                  <a:pt x="7" y="0"/>
                </a:lnTo>
                <a:lnTo>
                  <a:pt x="11" y="32"/>
                </a:lnTo>
                <a:lnTo>
                  <a:pt x="18" y="27"/>
                </a:lnTo>
                <a:cubicBezTo>
                  <a:pt x="42" y="57"/>
                  <a:pt x="47" y="113"/>
                  <a:pt x="0" y="171"/>
                </a:cubicBezTo>
                <a:close/>
              </a:path>
            </a:pathLst>
          </a:custGeom>
          <a:solidFill>
            <a:srgbClr val="F2AA84"/>
          </a:solidFill>
          <a:ln w="1097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D2H"/>
          <p:cNvSpPr txBox="1"/>
          <p:nvPr/>
        </p:nvSpPr>
        <p:spPr>
          <a:xfrm>
            <a:off x="10154949" y="4198930"/>
            <a:ext cx="464703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D2H</a:t>
            </a:r>
          </a:p>
        </p:txBody>
      </p:sp>
      <p:sp>
        <p:nvSpPr>
          <p:cNvPr id="364" name="H2D"/>
          <p:cNvSpPr txBox="1"/>
          <p:nvPr/>
        </p:nvSpPr>
        <p:spPr>
          <a:xfrm>
            <a:off x="11881289" y="4198930"/>
            <a:ext cx="464703" cy="2944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sp>
        <p:nvSpPr>
          <p:cNvPr id="365" name="curve 364"/>
          <p:cNvSpPr/>
          <p:nvPr/>
        </p:nvSpPr>
        <p:spPr>
          <a:xfrm>
            <a:off x="9399775" y="4601135"/>
            <a:ext cx="1287440" cy="204820"/>
          </a:xfrm>
          <a:custGeom>
            <a:avLst/>
            <a:gdLst/>
            <a:ahLst/>
            <a:cxnLst/>
            <a:rect l="l" t="t" r="r" b="b"/>
            <a:pathLst>
              <a:path w="176" h="28">
                <a:moveTo>
                  <a:pt x="0" y="0"/>
                </a:moveTo>
                <a:lnTo>
                  <a:pt x="32" y="0"/>
                </a:lnTo>
                <a:cubicBezTo>
                  <a:pt x="37" y="0"/>
                  <a:pt x="41" y="4"/>
                  <a:pt x="41" y="9"/>
                </a:cubicBezTo>
                <a:lnTo>
                  <a:pt x="41" y="19"/>
                </a:lnTo>
                <a:cubicBezTo>
                  <a:pt x="41" y="24"/>
                  <a:pt x="45" y="28"/>
                  <a:pt x="50" y="28"/>
                </a:cubicBezTo>
                <a:lnTo>
                  <a:pt x="176" y="28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curve 365"/>
          <p:cNvSpPr/>
          <p:nvPr/>
        </p:nvSpPr>
        <p:spPr>
          <a:xfrm>
            <a:off x="9399775" y="4601135"/>
            <a:ext cx="1287440" cy="204820"/>
          </a:xfrm>
          <a:custGeom>
            <a:avLst/>
            <a:gdLst/>
            <a:ahLst/>
            <a:cxnLst/>
            <a:rect l="l" t="t" r="r" b="b"/>
            <a:pathLst>
              <a:path w="176" h="28">
                <a:moveTo>
                  <a:pt x="0" y="0"/>
                </a:moveTo>
                <a:lnTo>
                  <a:pt x="32" y="0"/>
                </a:lnTo>
                <a:cubicBezTo>
                  <a:pt x="37" y="0"/>
                  <a:pt x="41" y="4"/>
                  <a:pt x="41" y="9"/>
                </a:cubicBezTo>
                <a:lnTo>
                  <a:pt x="41" y="19"/>
                </a:lnTo>
                <a:cubicBezTo>
                  <a:pt x="41" y="24"/>
                  <a:pt x="45" y="28"/>
                  <a:pt x="50" y="28"/>
                </a:cubicBezTo>
                <a:lnTo>
                  <a:pt x="176" y="28"/>
                </a:lnTo>
              </a:path>
            </a:pathLst>
          </a:custGeom>
          <a:noFill/>
          <a:ln w="3511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arrowhead 366"/>
          <p:cNvSpPr/>
          <p:nvPr/>
        </p:nvSpPr>
        <p:spPr>
          <a:xfrm>
            <a:off x="10511655" y="4718175"/>
            <a:ext cx="175560" cy="17556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12"/>
                </a:moveTo>
                <a:lnTo>
                  <a:pt x="0" y="24"/>
                </a:lnTo>
                <a:lnTo>
                  <a:pt x="6" y="12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curve 367"/>
          <p:cNvSpPr/>
          <p:nvPr/>
        </p:nvSpPr>
        <p:spPr>
          <a:xfrm>
            <a:off x="6802950" y="5105870"/>
            <a:ext cx="4491410" cy="2392005"/>
          </a:xfrm>
          <a:custGeom>
            <a:avLst/>
            <a:gdLst/>
            <a:ahLst/>
            <a:cxnLst/>
            <a:rect l="l" t="t" r="r" b="b"/>
            <a:pathLst>
              <a:path w="614" h="327">
                <a:moveTo>
                  <a:pt x="0" y="327"/>
                </a:moveTo>
                <a:lnTo>
                  <a:pt x="16" y="327"/>
                </a:lnTo>
                <a:cubicBezTo>
                  <a:pt x="20" y="327"/>
                  <a:pt x="24" y="323"/>
                  <a:pt x="24" y="319"/>
                </a:cubicBezTo>
                <a:lnTo>
                  <a:pt x="24" y="42"/>
                </a:lnTo>
                <a:cubicBezTo>
                  <a:pt x="24" y="32"/>
                  <a:pt x="32" y="24"/>
                  <a:pt x="42" y="24"/>
                </a:cubicBezTo>
                <a:lnTo>
                  <a:pt x="606" y="24"/>
                </a:lnTo>
                <a:cubicBezTo>
                  <a:pt x="610" y="24"/>
                  <a:pt x="614" y="20"/>
                  <a:pt x="614" y="16"/>
                </a:cubicBezTo>
                <a:lnTo>
                  <a:pt x="614" y="0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curve 368"/>
          <p:cNvSpPr/>
          <p:nvPr/>
        </p:nvSpPr>
        <p:spPr>
          <a:xfrm>
            <a:off x="6802950" y="5105870"/>
            <a:ext cx="4491410" cy="2392005"/>
          </a:xfrm>
          <a:custGeom>
            <a:avLst/>
            <a:gdLst/>
            <a:ahLst/>
            <a:cxnLst/>
            <a:rect l="l" t="t" r="r" b="b"/>
            <a:pathLst>
              <a:path w="614" h="327">
                <a:moveTo>
                  <a:pt x="0" y="327"/>
                </a:moveTo>
                <a:lnTo>
                  <a:pt x="16" y="327"/>
                </a:lnTo>
                <a:cubicBezTo>
                  <a:pt x="20" y="327"/>
                  <a:pt x="24" y="323"/>
                  <a:pt x="24" y="319"/>
                </a:cubicBezTo>
                <a:lnTo>
                  <a:pt x="24" y="42"/>
                </a:lnTo>
                <a:cubicBezTo>
                  <a:pt x="24" y="32"/>
                  <a:pt x="32" y="24"/>
                  <a:pt x="42" y="24"/>
                </a:cubicBezTo>
                <a:lnTo>
                  <a:pt x="606" y="24"/>
                </a:lnTo>
                <a:cubicBezTo>
                  <a:pt x="610" y="24"/>
                  <a:pt x="614" y="20"/>
                  <a:pt x="614" y="16"/>
                </a:cubicBezTo>
                <a:lnTo>
                  <a:pt x="614" y="0"/>
                </a:lnTo>
              </a:path>
            </a:pathLst>
          </a:custGeom>
          <a:noFill/>
          <a:ln w="3511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arrowhead 369"/>
          <p:cNvSpPr/>
          <p:nvPr/>
        </p:nvSpPr>
        <p:spPr>
          <a:xfrm>
            <a:off x="11250470" y="5105870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6" y="0"/>
                </a:moveTo>
                <a:lnTo>
                  <a:pt x="12" y="12"/>
                </a:lnTo>
                <a:lnTo>
                  <a:pt x="6" y="9"/>
                </a:lnTo>
                <a:lnTo>
                  <a:pt x="0" y="12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 370"/>
          <p:cNvSpPr/>
          <p:nvPr/>
        </p:nvSpPr>
        <p:spPr>
          <a:xfrm>
            <a:off x="7212590" y="6920110"/>
            <a:ext cx="5588660" cy="108262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4630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 371"/>
          <p:cNvSpPr/>
          <p:nvPr/>
        </p:nvSpPr>
        <p:spPr>
          <a:xfrm>
            <a:off x="7219905" y="6927425"/>
            <a:ext cx="5574030" cy="263340"/>
          </a:xfrm>
          <a:prstGeom prst="roundRect">
            <a:avLst>
              <a:gd name="adj" fmla="val 19444"/>
            </a:avLst>
          </a:prstGeom>
          <a:solidFill>
            <a:srgbClr val="D9F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 372"/>
          <p:cNvSpPr/>
          <p:nvPr/>
        </p:nvSpPr>
        <p:spPr>
          <a:xfrm>
            <a:off x="7219905" y="7055438"/>
            <a:ext cx="5574030" cy="135328"/>
          </a:xfrm>
          <a:prstGeom prst="rect">
            <a:avLst/>
          </a:prstGeom>
          <a:solidFill>
            <a:srgbClr val="D9F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4" name="line 373"/>
          <p:cNvCxnSpPr/>
          <p:nvPr/>
        </p:nvCxnSpPr>
        <p:spPr>
          <a:xfrm>
            <a:off x="7219905" y="7190765"/>
            <a:ext cx="5574030" cy="0"/>
          </a:xfrm>
          <a:prstGeom prst="line">
            <a:avLst/>
          </a:prstGeom>
          <a:ln w="8778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原生准入"/>
          <p:cNvSpPr txBox="1"/>
          <p:nvPr/>
        </p:nvSpPr>
        <p:spPr>
          <a:xfrm>
            <a:off x="7315000" y="6922963"/>
            <a:ext cx="848540" cy="3054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原生准入</a:t>
            </a:r>
          </a:p>
        </p:txBody>
      </p:sp>
      <p:sp>
        <p:nvSpPr>
          <p:cNvPr id="376" name="rect 375"/>
          <p:cNvSpPr/>
          <p:nvPr/>
        </p:nvSpPr>
        <p:spPr>
          <a:xfrm>
            <a:off x="7336945" y="7307805"/>
            <a:ext cx="1521520" cy="182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 376"/>
          <p:cNvSpPr/>
          <p:nvPr/>
        </p:nvSpPr>
        <p:spPr>
          <a:xfrm>
            <a:off x="7344260" y="7315120"/>
            <a:ext cx="73150" cy="168245"/>
          </a:xfrm>
          <a:prstGeom prst="rect">
            <a:avLst/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P"/>
          <p:cNvSpPr txBox="1"/>
          <p:nvPr/>
        </p:nvSpPr>
        <p:spPr>
          <a:xfrm>
            <a:off x="7597828" y="7283739"/>
            <a:ext cx="180475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379" name="rect 378"/>
          <p:cNvSpPr/>
          <p:nvPr/>
        </p:nvSpPr>
        <p:spPr>
          <a:xfrm>
            <a:off x="8309840" y="733706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 379"/>
          <p:cNvSpPr/>
          <p:nvPr/>
        </p:nvSpPr>
        <p:spPr>
          <a:xfrm>
            <a:off x="8324470" y="7351695"/>
            <a:ext cx="80465" cy="18653"/>
          </a:xfrm>
          <a:prstGeom prst="roundRect">
            <a:avLst>
              <a:gd name="adj" fmla="val 3921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 380"/>
          <p:cNvSpPr/>
          <p:nvPr/>
        </p:nvSpPr>
        <p:spPr>
          <a:xfrm>
            <a:off x="8456140" y="733706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 381"/>
          <p:cNvSpPr/>
          <p:nvPr/>
        </p:nvSpPr>
        <p:spPr>
          <a:xfrm>
            <a:off x="8470770" y="7351695"/>
            <a:ext cx="80465" cy="18653"/>
          </a:xfrm>
          <a:prstGeom prst="roundRect">
            <a:avLst>
              <a:gd name="adj" fmla="val 3921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 382"/>
          <p:cNvSpPr/>
          <p:nvPr/>
        </p:nvSpPr>
        <p:spPr>
          <a:xfrm>
            <a:off x="8602440" y="733706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 383"/>
          <p:cNvSpPr/>
          <p:nvPr/>
        </p:nvSpPr>
        <p:spPr>
          <a:xfrm>
            <a:off x="8617070" y="7351695"/>
            <a:ext cx="80465" cy="18653"/>
          </a:xfrm>
          <a:prstGeom prst="roundRect">
            <a:avLst>
              <a:gd name="adj" fmla="val 39215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 384"/>
          <p:cNvSpPr/>
          <p:nvPr/>
        </p:nvSpPr>
        <p:spPr>
          <a:xfrm>
            <a:off x="7336945" y="7541885"/>
            <a:ext cx="1521520" cy="182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 385"/>
          <p:cNvSpPr/>
          <p:nvPr/>
        </p:nvSpPr>
        <p:spPr>
          <a:xfrm>
            <a:off x="7344260" y="7549200"/>
            <a:ext cx="73150" cy="168245"/>
          </a:xfrm>
          <a:prstGeom prst="rect">
            <a:avLst/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hit"/>
          <p:cNvSpPr txBox="1"/>
          <p:nvPr/>
        </p:nvSpPr>
        <p:spPr>
          <a:xfrm>
            <a:off x="7549309" y="7517819"/>
            <a:ext cx="277513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hit</a:t>
            </a:r>
          </a:p>
        </p:txBody>
      </p:sp>
      <p:sp>
        <p:nvSpPr>
          <p:cNvPr id="388" name="rect 387"/>
          <p:cNvSpPr/>
          <p:nvPr/>
        </p:nvSpPr>
        <p:spPr>
          <a:xfrm>
            <a:off x="8309840" y="757114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 388"/>
          <p:cNvSpPr/>
          <p:nvPr/>
        </p:nvSpPr>
        <p:spPr>
          <a:xfrm>
            <a:off x="8324470" y="7585775"/>
            <a:ext cx="80465" cy="18653"/>
          </a:xfrm>
          <a:prstGeom prst="roundRect">
            <a:avLst>
              <a:gd name="adj" fmla="val 39215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 389"/>
          <p:cNvSpPr/>
          <p:nvPr/>
        </p:nvSpPr>
        <p:spPr>
          <a:xfrm>
            <a:off x="8456140" y="757114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 390"/>
          <p:cNvSpPr/>
          <p:nvPr/>
        </p:nvSpPr>
        <p:spPr>
          <a:xfrm>
            <a:off x="8470770" y="7585775"/>
            <a:ext cx="80465" cy="18653"/>
          </a:xfrm>
          <a:prstGeom prst="roundRect">
            <a:avLst>
              <a:gd name="adj" fmla="val 39215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 391"/>
          <p:cNvSpPr/>
          <p:nvPr/>
        </p:nvSpPr>
        <p:spPr>
          <a:xfrm>
            <a:off x="8602440" y="757114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170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 392"/>
          <p:cNvSpPr/>
          <p:nvPr/>
        </p:nvSpPr>
        <p:spPr>
          <a:xfrm>
            <a:off x="8617070" y="7585775"/>
            <a:ext cx="80465" cy="18653"/>
          </a:xfrm>
          <a:prstGeom prst="roundRect">
            <a:avLst>
              <a:gd name="adj" fmla="val 39215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 393"/>
          <p:cNvSpPr/>
          <p:nvPr/>
        </p:nvSpPr>
        <p:spPr>
          <a:xfrm>
            <a:off x="7336945" y="7775965"/>
            <a:ext cx="1521520" cy="182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 394"/>
          <p:cNvSpPr/>
          <p:nvPr/>
        </p:nvSpPr>
        <p:spPr>
          <a:xfrm>
            <a:off x="7344260" y="7783280"/>
            <a:ext cx="73150" cy="16824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ld"/>
          <p:cNvSpPr txBox="1"/>
          <p:nvPr/>
        </p:nvSpPr>
        <p:spPr>
          <a:xfrm>
            <a:off x="7534036" y="7751899"/>
            <a:ext cx="308059" cy="23225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old</a:t>
            </a:r>
          </a:p>
        </p:txBody>
      </p:sp>
      <p:sp>
        <p:nvSpPr>
          <p:cNvPr id="397" name="rect 396"/>
          <p:cNvSpPr/>
          <p:nvPr/>
        </p:nvSpPr>
        <p:spPr>
          <a:xfrm>
            <a:off x="8309840" y="780522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704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 397"/>
          <p:cNvSpPr/>
          <p:nvPr/>
        </p:nvSpPr>
        <p:spPr>
          <a:xfrm>
            <a:off x="8324470" y="7819855"/>
            <a:ext cx="80465" cy="18653"/>
          </a:xfrm>
          <a:prstGeom prst="roundRect">
            <a:avLst>
              <a:gd name="adj" fmla="val 39215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 398"/>
          <p:cNvSpPr/>
          <p:nvPr/>
        </p:nvSpPr>
        <p:spPr>
          <a:xfrm>
            <a:off x="8456140" y="780522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704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 399"/>
          <p:cNvSpPr/>
          <p:nvPr/>
        </p:nvSpPr>
        <p:spPr>
          <a:xfrm>
            <a:off x="8470770" y="7819855"/>
            <a:ext cx="80465" cy="18653"/>
          </a:xfrm>
          <a:prstGeom prst="roundRect">
            <a:avLst>
              <a:gd name="adj" fmla="val 39215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 400"/>
          <p:cNvSpPr/>
          <p:nvPr/>
        </p:nvSpPr>
        <p:spPr>
          <a:xfrm>
            <a:off x="8602440" y="7805225"/>
            <a:ext cx="109725" cy="12435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704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 401"/>
          <p:cNvSpPr/>
          <p:nvPr/>
        </p:nvSpPr>
        <p:spPr>
          <a:xfrm>
            <a:off x="8617070" y="7819855"/>
            <a:ext cx="80465" cy="18653"/>
          </a:xfrm>
          <a:prstGeom prst="roundRect">
            <a:avLst>
              <a:gd name="adj" fmla="val 39215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curve 402"/>
          <p:cNvSpPr/>
          <p:nvPr/>
        </p:nvSpPr>
        <p:spPr>
          <a:xfrm>
            <a:off x="8902355" y="7402780"/>
            <a:ext cx="563255" cy="226765"/>
          </a:xfrm>
          <a:custGeom>
            <a:avLst/>
            <a:gdLst/>
            <a:ahLst/>
            <a:cxnLst/>
            <a:rect l="l" t="t" r="r" b="b"/>
            <a:pathLst>
              <a:path w="77" h="31">
                <a:moveTo>
                  <a:pt x="0" y="0"/>
                </a:moveTo>
                <a:lnTo>
                  <a:pt x="23" y="0"/>
                </a:lnTo>
                <a:cubicBezTo>
                  <a:pt x="28" y="0"/>
                  <a:pt x="33" y="5"/>
                  <a:pt x="33" y="10"/>
                </a:cubicBezTo>
                <a:lnTo>
                  <a:pt x="33" y="21"/>
                </a:lnTo>
                <a:cubicBezTo>
                  <a:pt x="33" y="26"/>
                  <a:pt x="38" y="31"/>
                  <a:pt x="43" y="31"/>
                </a:cubicBezTo>
                <a:lnTo>
                  <a:pt x="77" y="31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curve 403"/>
          <p:cNvSpPr/>
          <p:nvPr/>
        </p:nvSpPr>
        <p:spPr>
          <a:xfrm>
            <a:off x="8902355" y="7402780"/>
            <a:ext cx="563255" cy="226765"/>
          </a:xfrm>
          <a:custGeom>
            <a:avLst/>
            <a:gdLst/>
            <a:ahLst/>
            <a:cxnLst/>
            <a:rect l="l" t="t" r="r" b="b"/>
            <a:pathLst>
              <a:path w="77" h="31">
                <a:moveTo>
                  <a:pt x="0" y="0"/>
                </a:moveTo>
                <a:lnTo>
                  <a:pt x="23" y="0"/>
                </a:lnTo>
                <a:cubicBezTo>
                  <a:pt x="28" y="0"/>
                  <a:pt x="33" y="5"/>
                  <a:pt x="33" y="10"/>
                </a:cubicBezTo>
                <a:lnTo>
                  <a:pt x="33" y="21"/>
                </a:lnTo>
                <a:cubicBezTo>
                  <a:pt x="33" y="26"/>
                  <a:pt x="38" y="31"/>
                  <a:pt x="43" y="31"/>
                </a:cubicBezTo>
                <a:lnTo>
                  <a:pt x="77" y="31"/>
                </a:lnTo>
              </a:path>
            </a:pathLst>
          </a:custGeom>
          <a:noFill/>
          <a:ln w="3511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arrowhead 404"/>
          <p:cNvSpPr/>
          <p:nvPr/>
        </p:nvSpPr>
        <p:spPr>
          <a:xfrm>
            <a:off x="9333940" y="756371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4" y="9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6" name="path 405"/>
          <p:cNvCxnSpPr/>
          <p:nvPr/>
        </p:nvCxnSpPr>
        <p:spPr>
          <a:xfrm>
            <a:off x="8902355" y="7629665"/>
            <a:ext cx="563255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path 406"/>
          <p:cNvCxnSpPr/>
          <p:nvPr/>
        </p:nvCxnSpPr>
        <p:spPr>
          <a:xfrm>
            <a:off x="8902355" y="7629665"/>
            <a:ext cx="563255" cy="0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8" name="arrowhead 407"/>
          <p:cNvSpPr/>
          <p:nvPr/>
        </p:nvSpPr>
        <p:spPr>
          <a:xfrm>
            <a:off x="9333940" y="756371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curve 408"/>
          <p:cNvSpPr/>
          <p:nvPr/>
        </p:nvSpPr>
        <p:spPr>
          <a:xfrm>
            <a:off x="8902355" y="7717325"/>
            <a:ext cx="563255" cy="153615"/>
          </a:xfrm>
          <a:custGeom>
            <a:avLst/>
            <a:gdLst/>
            <a:ahLst/>
            <a:cxnLst/>
            <a:rect l="l" t="t" r="r" b="b"/>
            <a:pathLst>
              <a:path w="77" h="21">
                <a:moveTo>
                  <a:pt x="0" y="21"/>
                </a:moveTo>
                <a:lnTo>
                  <a:pt x="26" y="21"/>
                </a:lnTo>
                <a:cubicBezTo>
                  <a:pt x="30" y="21"/>
                  <a:pt x="33" y="18"/>
                  <a:pt x="33" y="14"/>
                </a:cubicBezTo>
                <a:lnTo>
                  <a:pt x="33" y="7"/>
                </a:lnTo>
                <a:cubicBezTo>
                  <a:pt x="33" y="3"/>
                  <a:pt x="36" y="0"/>
                  <a:pt x="40" y="0"/>
                </a:cubicBezTo>
                <a:lnTo>
                  <a:pt x="77" y="0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curve 409"/>
          <p:cNvSpPr/>
          <p:nvPr/>
        </p:nvSpPr>
        <p:spPr>
          <a:xfrm>
            <a:off x="8902355" y="7717325"/>
            <a:ext cx="563255" cy="153615"/>
          </a:xfrm>
          <a:custGeom>
            <a:avLst/>
            <a:gdLst/>
            <a:ahLst/>
            <a:cxnLst/>
            <a:rect l="l" t="t" r="r" b="b"/>
            <a:pathLst>
              <a:path w="77" h="21">
                <a:moveTo>
                  <a:pt x="0" y="21"/>
                </a:moveTo>
                <a:lnTo>
                  <a:pt x="26" y="21"/>
                </a:lnTo>
                <a:cubicBezTo>
                  <a:pt x="30" y="21"/>
                  <a:pt x="33" y="18"/>
                  <a:pt x="33" y="14"/>
                </a:cubicBezTo>
                <a:lnTo>
                  <a:pt x="33" y="7"/>
                </a:lnTo>
                <a:cubicBezTo>
                  <a:pt x="33" y="3"/>
                  <a:pt x="36" y="0"/>
                  <a:pt x="40" y="0"/>
                </a:cubicBezTo>
                <a:lnTo>
                  <a:pt x="77" y="0"/>
                </a:lnTo>
              </a:path>
            </a:pathLst>
          </a:custGeom>
          <a:noFill/>
          <a:ln w="3511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arrowhead 410"/>
          <p:cNvSpPr/>
          <p:nvPr/>
        </p:nvSpPr>
        <p:spPr>
          <a:xfrm>
            <a:off x="9333940" y="765149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18"/>
                </a:moveTo>
                <a:lnTo>
                  <a:pt x="18" y="9"/>
                </a:lnTo>
                <a:lnTo>
                  <a:pt x="0" y="0"/>
                </a:lnTo>
              </a:path>
            </a:pathLst>
          </a:custGeom>
          <a:noFill/>
          <a:ln w="20574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KV ∧ slot"/>
          <p:cNvSpPr txBox="1"/>
          <p:nvPr/>
        </p:nvSpPr>
        <p:spPr>
          <a:xfrm>
            <a:off x="9546075" y="7455934"/>
            <a:ext cx="1057018" cy="33831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KV ∧ slot</a:t>
            </a:r>
          </a:p>
        </p:txBody>
      </p:sp>
      <p:cxnSp>
        <p:nvCxnSpPr>
          <p:cNvPr id="413" name="path 412"/>
          <p:cNvCxnSpPr/>
          <p:nvPr/>
        </p:nvCxnSpPr>
        <p:spPr>
          <a:xfrm>
            <a:off x="10723790" y="7629665"/>
            <a:ext cx="70224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path 413"/>
          <p:cNvCxnSpPr/>
          <p:nvPr/>
        </p:nvCxnSpPr>
        <p:spPr>
          <a:xfrm>
            <a:off x="10723790" y="7629665"/>
            <a:ext cx="702240" cy="0"/>
          </a:xfrm>
          <a:prstGeom prst="line">
            <a:avLst/>
          </a:prstGeom>
          <a:ln w="3511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arrowhead 414"/>
          <p:cNvSpPr/>
          <p:nvPr/>
        </p:nvSpPr>
        <p:spPr>
          <a:xfrm>
            <a:off x="11294360" y="756371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6" name="line 415"/>
          <p:cNvCxnSpPr/>
          <p:nvPr/>
        </p:nvCxnSpPr>
        <p:spPr>
          <a:xfrm>
            <a:off x="11660110" y="7241970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line 416"/>
          <p:cNvCxnSpPr/>
          <p:nvPr/>
        </p:nvCxnSpPr>
        <p:spPr>
          <a:xfrm>
            <a:off x="11660110" y="7951525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line 417"/>
          <p:cNvCxnSpPr/>
          <p:nvPr/>
        </p:nvCxnSpPr>
        <p:spPr>
          <a:xfrm>
            <a:off x="11806410" y="7241970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line 418"/>
          <p:cNvCxnSpPr/>
          <p:nvPr/>
        </p:nvCxnSpPr>
        <p:spPr>
          <a:xfrm>
            <a:off x="11806410" y="7951525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line 419"/>
          <p:cNvCxnSpPr/>
          <p:nvPr/>
        </p:nvCxnSpPr>
        <p:spPr>
          <a:xfrm>
            <a:off x="11952710" y="7241970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line 420"/>
          <p:cNvCxnSpPr/>
          <p:nvPr/>
        </p:nvCxnSpPr>
        <p:spPr>
          <a:xfrm>
            <a:off x="11952710" y="7951525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line 421"/>
          <p:cNvCxnSpPr/>
          <p:nvPr/>
        </p:nvCxnSpPr>
        <p:spPr>
          <a:xfrm>
            <a:off x="12099010" y="7241970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line 422"/>
          <p:cNvCxnSpPr/>
          <p:nvPr/>
        </p:nvCxnSpPr>
        <p:spPr>
          <a:xfrm>
            <a:off x="12099010" y="7951525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line 423"/>
          <p:cNvCxnSpPr/>
          <p:nvPr/>
        </p:nvCxnSpPr>
        <p:spPr>
          <a:xfrm>
            <a:off x="12245310" y="7241970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line 424"/>
          <p:cNvCxnSpPr/>
          <p:nvPr/>
        </p:nvCxnSpPr>
        <p:spPr>
          <a:xfrm>
            <a:off x="12245310" y="7951525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line 425"/>
          <p:cNvCxnSpPr/>
          <p:nvPr/>
        </p:nvCxnSpPr>
        <p:spPr>
          <a:xfrm>
            <a:off x="12391610" y="7241970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line 426"/>
          <p:cNvCxnSpPr/>
          <p:nvPr/>
        </p:nvCxnSpPr>
        <p:spPr>
          <a:xfrm>
            <a:off x="12391610" y="7951525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line 427"/>
          <p:cNvCxnSpPr/>
          <p:nvPr/>
        </p:nvCxnSpPr>
        <p:spPr>
          <a:xfrm>
            <a:off x="12537910" y="7241970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line 428"/>
          <p:cNvCxnSpPr/>
          <p:nvPr/>
        </p:nvCxnSpPr>
        <p:spPr>
          <a:xfrm>
            <a:off x="12537910" y="7951525"/>
            <a:ext cx="0" cy="7315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line 429"/>
          <p:cNvCxnSpPr/>
          <p:nvPr/>
        </p:nvCxnSpPr>
        <p:spPr>
          <a:xfrm>
            <a:off x="11484550" y="7424845"/>
            <a:ext cx="7315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line 430"/>
          <p:cNvCxnSpPr/>
          <p:nvPr/>
        </p:nvCxnSpPr>
        <p:spPr>
          <a:xfrm>
            <a:off x="12625690" y="7424845"/>
            <a:ext cx="7315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line 431"/>
          <p:cNvCxnSpPr/>
          <p:nvPr/>
        </p:nvCxnSpPr>
        <p:spPr>
          <a:xfrm>
            <a:off x="11484550" y="7571145"/>
            <a:ext cx="7315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line 432"/>
          <p:cNvCxnSpPr/>
          <p:nvPr/>
        </p:nvCxnSpPr>
        <p:spPr>
          <a:xfrm>
            <a:off x="12625690" y="7571145"/>
            <a:ext cx="7315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line 433"/>
          <p:cNvCxnSpPr/>
          <p:nvPr/>
        </p:nvCxnSpPr>
        <p:spPr>
          <a:xfrm>
            <a:off x="11484550" y="7717445"/>
            <a:ext cx="7315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line 434"/>
          <p:cNvCxnSpPr/>
          <p:nvPr/>
        </p:nvCxnSpPr>
        <p:spPr>
          <a:xfrm>
            <a:off x="12625690" y="7717445"/>
            <a:ext cx="7315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line 435"/>
          <p:cNvCxnSpPr/>
          <p:nvPr/>
        </p:nvCxnSpPr>
        <p:spPr>
          <a:xfrm>
            <a:off x="11484550" y="7863745"/>
            <a:ext cx="7315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7" name="line 436"/>
          <p:cNvCxnSpPr/>
          <p:nvPr/>
        </p:nvCxnSpPr>
        <p:spPr>
          <a:xfrm>
            <a:off x="12625690" y="7863745"/>
            <a:ext cx="73150" cy="0"/>
          </a:xfrm>
          <a:prstGeom prst="line">
            <a:avLst/>
          </a:prstGeom>
          <a:ln w="1463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8" name="rect 437"/>
          <p:cNvSpPr/>
          <p:nvPr/>
        </p:nvSpPr>
        <p:spPr>
          <a:xfrm>
            <a:off x="11557700" y="7315120"/>
            <a:ext cx="1067990" cy="636405"/>
          </a:xfrm>
          <a:prstGeom prst="roundRect">
            <a:avLst>
              <a:gd name="adj" fmla="val 2298"/>
            </a:avLst>
          </a:prstGeom>
          <a:solidFill>
            <a:srgbClr val="A6CAEC"/>
          </a:solidFill>
          <a:ln w="146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PU"/>
          <p:cNvSpPr txBox="1"/>
          <p:nvPr/>
        </p:nvSpPr>
        <p:spPr>
          <a:xfrm>
            <a:off x="11860658" y="7322435"/>
            <a:ext cx="462074" cy="28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GPU</a:t>
            </a:r>
          </a:p>
        </p:txBody>
      </p:sp>
      <p:sp>
        <p:nvSpPr>
          <p:cNvPr id="440" name="rect 439"/>
          <p:cNvSpPr/>
          <p:nvPr/>
        </p:nvSpPr>
        <p:spPr>
          <a:xfrm>
            <a:off x="11652795" y="7622350"/>
            <a:ext cx="270655" cy="76808"/>
          </a:xfrm>
          <a:prstGeom prst="roundRect">
            <a:avLst>
              <a:gd name="adj" fmla="val 9523"/>
            </a:avLst>
          </a:prstGeom>
          <a:solidFill>
            <a:srgbClr val="A6CAEC"/>
          </a:solidFill>
          <a:ln w="804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 440"/>
          <p:cNvSpPr/>
          <p:nvPr/>
        </p:nvSpPr>
        <p:spPr>
          <a:xfrm>
            <a:off x="11955148" y="7622350"/>
            <a:ext cx="270655" cy="76808"/>
          </a:xfrm>
          <a:prstGeom prst="roundRect">
            <a:avLst>
              <a:gd name="adj" fmla="val 9523"/>
            </a:avLst>
          </a:prstGeom>
          <a:solidFill>
            <a:srgbClr val="84E291"/>
          </a:solidFill>
          <a:ln w="804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 441"/>
          <p:cNvSpPr/>
          <p:nvPr/>
        </p:nvSpPr>
        <p:spPr>
          <a:xfrm>
            <a:off x="12257502" y="7622350"/>
            <a:ext cx="270655" cy="76808"/>
          </a:xfrm>
          <a:prstGeom prst="roundRect">
            <a:avLst>
              <a:gd name="adj" fmla="val 9523"/>
            </a:avLst>
          </a:prstGeom>
          <a:solidFill>
            <a:srgbClr val="F6C6AD"/>
          </a:solidFill>
          <a:ln w="804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 442"/>
          <p:cNvSpPr/>
          <p:nvPr/>
        </p:nvSpPr>
        <p:spPr>
          <a:xfrm>
            <a:off x="11652795" y="7746705"/>
            <a:ext cx="270655" cy="76808"/>
          </a:xfrm>
          <a:prstGeom prst="roundRect">
            <a:avLst>
              <a:gd name="adj" fmla="val 9523"/>
            </a:avLst>
          </a:prstGeom>
          <a:solidFill>
            <a:srgbClr val="A6CAEC"/>
          </a:solidFill>
          <a:ln w="804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 443"/>
          <p:cNvSpPr/>
          <p:nvPr/>
        </p:nvSpPr>
        <p:spPr>
          <a:xfrm>
            <a:off x="11955148" y="7746705"/>
            <a:ext cx="270655" cy="76808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804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 444"/>
          <p:cNvSpPr/>
          <p:nvPr/>
        </p:nvSpPr>
        <p:spPr>
          <a:xfrm>
            <a:off x="12257502" y="7746705"/>
            <a:ext cx="270655" cy="76808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804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6" name="path 445"/>
          <p:cNvCxnSpPr/>
          <p:nvPr/>
        </p:nvCxnSpPr>
        <p:spPr>
          <a:xfrm>
            <a:off x="6802950" y="7871060"/>
            <a:ext cx="380380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path 446"/>
          <p:cNvCxnSpPr/>
          <p:nvPr/>
        </p:nvCxnSpPr>
        <p:spPr>
          <a:xfrm>
            <a:off x="6802950" y="7871060"/>
            <a:ext cx="380380" cy="0"/>
          </a:xfrm>
          <a:prstGeom prst="line">
            <a:avLst/>
          </a:prstGeom>
          <a:ln w="3511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arrowhead 447"/>
          <p:cNvSpPr/>
          <p:nvPr/>
        </p:nvSpPr>
        <p:spPr>
          <a:xfrm>
            <a:off x="7051660" y="780510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4" y="9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9" name="line 448"/>
          <p:cNvCxnSpPr/>
          <p:nvPr/>
        </p:nvCxnSpPr>
        <p:spPr>
          <a:xfrm>
            <a:off x="292600" y="8178290"/>
            <a:ext cx="12581800" cy="0"/>
          </a:xfrm>
          <a:prstGeom prst="line">
            <a:avLst/>
          </a:prstGeom>
          <a:ln w="8778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circle 449"/>
          <p:cNvSpPr/>
          <p:nvPr/>
        </p:nvSpPr>
        <p:spPr>
          <a:xfrm>
            <a:off x="314545" y="8295330"/>
            <a:ext cx="307230" cy="307230"/>
          </a:xfrm>
          <a:prstGeom prst="ellipse">
            <a:avLst/>
          </a:prstGeom>
          <a:solidFill>
            <a:srgbClr val="000000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D1"/>
          <p:cNvSpPr txBox="1"/>
          <p:nvPr/>
        </p:nvSpPr>
        <p:spPr>
          <a:xfrm>
            <a:off x="324117" y="8320932"/>
            <a:ext cx="28808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D1</a:t>
            </a:r>
          </a:p>
        </p:txBody>
      </p:sp>
      <p:sp>
        <p:nvSpPr>
          <p:cNvPr id="452" name="执行需求预测"/>
          <p:cNvSpPr txBox="1"/>
          <p:nvPr/>
        </p:nvSpPr>
        <p:spPr>
          <a:xfrm>
            <a:off x="702240" y="8319104"/>
            <a:ext cx="105336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执行需求预测</a:t>
            </a:r>
          </a:p>
        </p:txBody>
      </p:sp>
      <p:sp>
        <p:nvSpPr>
          <p:cNvPr id="453" name="circle 452"/>
          <p:cNvSpPr/>
          <p:nvPr/>
        </p:nvSpPr>
        <p:spPr>
          <a:xfrm>
            <a:off x="5515510" y="8295330"/>
            <a:ext cx="307230" cy="307230"/>
          </a:xfrm>
          <a:prstGeom prst="ellipse">
            <a:avLst/>
          </a:prstGeom>
          <a:solidFill>
            <a:srgbClr val="000000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D3"/>
          <p:cNvSpPr txBox="1"/>
          <p:nvPr/>
        </p:nvSpPr>
        <p:spPr>
          <a:xfrm>
            <a:off x="5525082" y="8320932"/>
            <a:ext cx="28808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D3</a:t>
            </a:r>
          </a:p>
        </p:txBody>
      </p:sp>
      <p:sp>
        <p:nvSpPr>
          <p:cNvPr id="455" name="预取与准入"/>
          <p:cNvSpPr txBox="1"/>
          <p:nvPr/>
        </p:nvSpPr>
        <p:spPr>
          <a:xfrm>
            <a:off x="5903205" y="8319104"/>
            <a:ext cx="892430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预取与准入</a:t>
            </a:r>
          </a:p>
        </p:txBody>
      </p:sp>
      <p:sp>
        <p:nvSpPr>
          <p:cNvPr id="456" name="circle 455"/>
          <p:cNvSpPr/>
          <p:nvPr/>
        </p:nvSpPr>
        <p:spPr>
          <a:xfrm>
            <a:off x="10336095" y="8295330"/>
            <a:ext cx="307230" cy="307230"/>
          </a:xfrm>
          <a:prstGeom prst="ellipse">
            <a:avLst/>
          </a:prstGeom>
          <a:solidFill>
            <a:srgbClr val="000000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D2"/>
          <p:cNvSpPr txBox="1"/>
          <p:nvPr/>
        </p:nvSpPr>
        <p:spPr>
          <a:xfrm>
            <a:off x="10345667" y="8320932"/>
            <a:ext cx="288085" cy="25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D2</a:t>
            </a:r>
          </a:p>
        </p:txBody>
      </p:sp>
      <p:sp>
        <p:nvSpPr>
          <p:cNvPr id="458" name="KV 生命周期"/>
          <p:cNvSpPr txBox="1"/>
          <p:nvPr/>
        </p:nvSpPr>
        <p:spPr>
          <a:xfrm>
            <a:off x="10723790" y="8319104"/>
            <a:ext cx="974981" cy="26516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KV 生命周期</a:t>
            </a:r>
          </a:p>
        </p:txBody>
      </p:sp>
      <p:cxnSp>
        <p:nvCxnSpPr>
          <p:cNvPr id="459" name="path 458"/>
          <p:cNvCxnSpPr/>
          <p:nvPr/>
        </p:nvCxnSpPr>
        <p:spPr>
          <a:xfrm>
            <a:off x="2501730" y="8448945"/>
            <a:ext cx="2947945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path 459"/>
          <p:cNvCxnSpPr/>
          <p:nvPr/>
        </p:nvCxnSpPr>
        <p:spPr>
          <a:xfrm>
            <a:off x="2501730" y="8448945"/>
            <a:ext cx="2947945" cy="0"/>
          </a:xfrm>
          <a:prstGeom prst="line">
            <a:avLst/>
          </a:prstGeom>
          <a:ln w="3511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arrowhead 460"/>
          <p:cNvSpPr/>
          <p:nvPr/>
        </p:nvSpPr>
        <p:spPr>
          <a:xfrm>
            <a:off x="5318005" y="838299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18"/>
                </a:moveTo>
                <a:lnTo>
                  <a:pt x="18" y="9"/>
                </a:lnTo>
                <a:lnTo>
                  <a:pt x="0" y="0"/>
                </a:lnTo>
              </a:path>
            </a:pathLst>
          </a:custGeom>
          <a:noFill/>
          <a:ln w="20574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候选 + 时机"/>
          <p:cNvSpPr txBox="1"/>
          <p:nvPr/>
        </p:nvSpPr>
        <p:spPr>
          <a:xfrm>
            <a:off x="3595137" y="8194749"/>
            <a:ext cx="709926" cy="21030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9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候选 + 时机</a:t>
            </a:r>
          </a:p>
        </p:txBody>
      </p:sp>
      <p:cxnSp>
        <p:nvCxnSpPr>
          <p:cNvPr id="463" name="path 462"/>
          <p:cNvCxnSpPr/>
          <p:nvPr/>
        </p:nvCxnSpPr>
        <p:spPr>
          <a:xfrm flipH="1">
            <a:off x="8156225" y="8448945"/>
            <a:ext cx="2114035" cy="0"/>
          </a:xfrm>
          <a:prstGeom prst="line">
            <a:avLst/>
          </a:prstGeom>
          <a:ln w="49743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path 463"/>
          <p:cNvCxnSpPr/>
          <p:nvPr/>
        </p:nvCxnSpPr>
        <p:spPr>
          <a:xfrm flipH="1">
            <a:off x="8156225" y="8448945"/>
            <a:ext cx="2114035" cy="0"/>
          </a:xfrm>
          <a:prstGeom prst="line">
            <a:avLst/>
          </a:prstGeom>
          <a:ln w="3511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5" name="arrowhead 464"/>
          <p:cNvSpPr/>
          <p:nvPr/>
        </p:nvSpPr>
        <p:spPr>
          <a:xfrm>
            <a:off x="8156225" y="8361045"/>
            <a:ext cx="175560" cy="17556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0" y="12"/>
                </a:moveTo>
                <a:lnTo>
                  <a:pt x="24" y="0"/>
                </a:lnTo>
                <a:lnTo>
                  <a:pt x="18" y="12"/>
                </a:lnTo>
                <a:lnTo>
                  <a:pt x="24" y="24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checkpoint / 缺页 / 容量"/>
          <p:cNvSpPr txBox="1"/>
          <p:nvPr/>
        </p:nvSpPr>
        <p:spPr>
          <a:xfrm>
            <a:off x="8535048" y="8202064"/>
            <a:ext cx="1363705" cy="2011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1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checkpoint / 缺页 / 容量</a:t>
            </a:r>
          </a:p>
        </p:txBody>
      </p:sp>
      <p:sp>
        <p:nvSpPr>
          <p:cNvPr id="467" name="curve 466"/>
          <p:cNvSpPr/>
          <p:nvPr/>
        </p:nvSpPr>
        <p:spPr>
          <a:xfrm>
            <a:off x="8156225" y="8587810"/>
            <a:ext cx="2172555" cy="138985"/>
          </a:xfrm>
          <a:custGeom>
            <a:avLst/>
            <a:gdLst/>
            <a:ahLst/>
            <a:cxnLst/>
            <a:rect l="l" t="t" r="r" b="b"/>
            <a:pathLst>
              <a:path w="297" h="19">
                <a:moveTo>
                  <a:pt x="0" y="7"/>
                </a:moveTo>
                <a:cubicBezTo>
                  <a:pt x="105" y="19"/>
                  <a:pt x="260" y="19"/>
                  <a:pt x="297" y="0"/>
                </a:cubicBezTo>
              </a:path>
            </a:pathLst>
          </a:custGeom>
          <a:noFill/>
          <a:ln w="5486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curve 467"/>
          <p:cNvSpPr/>
          <p:nvPr/>
        </p:nvSpPr>
        <p:spPr>
          <a:xfrm>
            <a:off x="8156225" y="8587810"/>
            <a:ext cx="2172555" cy="138985"/>
          </a:xfrm>
          <a:custGeom>
            <a:avLst/>
            <a:gdLst/>
            <a:ahLst/>
            <a:cxnLst/>
            <a:rect l="l" t="t" r="r" b="b"/>
            <a:pathLst>
              <a:path w="297" h="19">
                <a:moveTo>
                  <a:pt x="0" y="7"/>
                </a:moveTo>
                <a:cubicBezTo>
                  <a:pt x="105" y="19"/>
                  <a:pt x="260" y="19"/>
                  <a:pt x="297" y="0"/>
                </a:cubicBezTo>
              </a:path>
            </a:pathLst>
          </a:custGeom>
          <a:noFill/>
          <a:ln w="40233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arrowhead 468"/>
          <p:cNvSpPr/>
          <p:nvPr/>
        </p:nvSpPr>
        <p:spPr>
          <a:xfrm>
            <a:off x="10182480" y="8587810"/>
            <a:ext cx="146300" cy="117040"/>
          </a:xfrm>
          <a:custGeom>
            <a:avLst/>
            <a:gdLst/>
            <a:ahLst/>
            <a:cxnLst/>
            <a:rect l="l" t="t" r="r" b="b"/>
            <a:pathLst>
              <a:path w="20" h="16">
                <a:moveTo>
                  <a:pt x="20" y="0"/>
                </a:moveTo>
                <a:lnTo>
                  <a:pt x="8" y="16"/>
                </a:lnTo>
                <a:lnTo>
                  <a:pt x="8" y="6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物理动作"/>
          <p:cNvSpPr txBox="1"/>
          <p:nvPr/>
        </p:nvSpPr>
        <p:spPr>
          <a:xfrm>
            <a:off x="8938930" y="8494664"/>
            <a:ext cx="555940" cy="2011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1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物理动作</a:t>
            </a:r>
          </a:p>
        </p:txBody>
      </p:sp>
      <p:sp>
        <p:nvSpPr>
          <p:cNvPr id="471" name="curve 470"/>
          <p:cNvSpPr/>
          <p:nvPr/>
        </p:nvSpPr>
        <p:spPr>
          <a:xfrm>
            <a:off x="468160" y="8624385"/>
            <a:ext cx="5200965" cy="109725"/>
          </a:xfrm>
          <a:custGeom>
            <a:avLst/>
            <a:gdLst/>
            <a:ahLst/>
            <a:cxnLst/>
            <a:rect l="l" t="t" r="r" b="b"/>
            <a:pathLst>
              <a:path w="711" h="15">
                <a:moveTo>
                  <a:pt x="711" y="0"/>
                </a:moveTo>
                <a:lnTo>
                  <a:pt x="711" y="10"/>
                </a:lnTo>
                <a:cubicBezTo>
                  <a:pt x="711" y="13"/>
                  <a:pt x="709" y="15"/>
                  <a:pt x="706" y="15"/>
                </a:cubicBezTo>
                <a:lnTo>
                  <a:pt x="5" y="15"/>
                </a:lnTo>
                <a:cubicBezTo>
                  <a:pt x="2" y="15"/>
                  <a:pt x="0" y="13"/>
                  <a:pt x="0" y="10"/>
                </a:cubicBezTo>
                <a:lnTo>
                  <a:pt x="0" y="0"/>
                </a:lnTo>
              </a:path>
            </a:pathLst>
          </a:custGeom>
          <a:noFill/>
          <a:ln w="49743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curve 471"/>
          <p:cNvSpPr/>
          <p:nvPr/>
        </p:nvSpPr>
        <p:spPr>
          <a:xfrm>
            <a:off x="468160" y="8624385"/>
            <a:ext cx="5200965" cy="109725"/>
          </a:xfrm>
          <a:custGeom>
            <a:avLst/>
            <a:gdLst/>
            <a:ahLst/>
            <a:cxnLst/>
            <a:rect l="l" t="t" r="r" b="b"/>
            <a:pathLst>
              <a:path w="711" h="15">
                <a:moveTo>
                  <a:pt x="711" y="0"/>
                </a:moveTo>
                <a:lnTo>
                  <a:pt x="711" y="10"/>
                </a:lnTo>
                <a:cubicBezTo>
                  <a:pt x="711" y="13"/>
                  <a:pt x="709" y="15"/>
                  <a:pt x="706" y="15"/>
                </a:cubicBezTo>
                <a:lnTo>
                  <a:pt x="5" y="15"/>
                </a:lnTo>
                <a:cubicBezTo>
                  <a:pt x="2" y="15"/>
                  <a:pt x="0" y="13"/>
                  <a:pt x="0" y="10"/>
                </a:cubicBezTo>
                <a:lnTo>
                  <a:pt x="0" y="0"/>
                </a:lnTo>
              </a:path>
            </a:pathLst>
          </a:custGeom>
          <a:noFill/>
          <a:ln w="3511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arrowhead 472"/>
          <p:cNvSpPr/>
          <p:nvPr/>
        </p:nvSpPr>
        <p:spPr>
          <a:xfrm>
            <a:off x="424270" y="8624385"/>
            <a:ext cx="87780" cy="8778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12"/>
                </a:moveTo>
                <a:lnTo>
                  <a:pt x="6" y="0"/>
                </a:lnTo>
                <a:lnTo>
                  <a:pt x="0" y="12"/>
                </a:lnTo>
              </a:path>
            </a:pathLst>
          </a:custGeom>
          <a:noFill/>
          <a:ln w="1371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服务 / 进度 / 完成事件"/>
          <p:cNvSpPr txBox="1"/>
          <p:nvPr/>
        </p:nvSpPr>
        <p:spPr>
          <a:xfrm>
            <a:off x="2418008" y="8531239"/>
            <a:ext cx="1220805" cy="2011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1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服务 / 进度 / 完成事件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1"/>
          <p:cNvSpPr txBox="1"/>
          <p:nvPr/>
        </p:nvSpPr>
        <p:spPr>
          <a:xfrm>
            <a:off x="263328" y="1731153"/>
            <a:ext cx="431380" cy="4032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8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D1</a:t>
            </a:r>
          </a:p>
        </p:txBody>
      </p:sp>
      <p:sp>
        <p:nvSpPr>
          <p:cNvPr id="3" name="从完成信号推断近期执行需求"/>
          <p:cNvSpPr txBox="1"/>
          <p:nvPr/>
        </p:nvSpPr>
        <p:spPr>
          <a:xfrm>
            <a:off x="888732" y="1731153"/>
            <a:ext cx="3415035" cy="4032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8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从完成信号推断近期执行需求</a:t>
            </a:r>
          </a:p>
        </p:txBody>
      </p:sp>
      <p:sp>
        <p:nvSpPr>
          <p:cNvPr id="4" name="rect 3"/>
          <p:cNvSpPr/>
          <p:nvPr/>
        </p:nvSpPr>
        <p:spPr>
          <a:xfrm>
            <a:off x="5406453" y="3121854"/>
            <a:ext cx="1892670" cy="2427555"/>
          </a:xfrm>
          <a:prstGeom prst="roundRect">
            <a:avLst>
              <a:gd name="adj" fmla="val 3478"/>
            </a:avLst>
          </a:prstGeom>
          <a:solidFill>
            <a:srgbClr val="DCEAF7"/>
          </a:solidFill>
          <a:ln w="13167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ircle 4"/>
          <p:cNvSpPr/>
          <p:nvPr/>
        </p:nvSpPr>
        <p:spPr>
          <a:xfrm>
            <a:off x="320931" y="3261747"/>
            <a:ext cx="411450" cy="411450"/>
          </a:xfrm>
          <a:prstGeom prst="ellipse">
            <a:avLst/>
          </a:prstGeom>
          <a:solidFill>
            <a:srgbClr val="A6CAEC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"/>
          <p:cNvSpPr txBox="1"/>
          <p:nvPr/>
        </p:nvSpPr>
        <p:spPr>
          <a:xfrm>
            <a:off x="408669" y="3298778"/>
            <a:ext cx="235973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7" name="circle 6"/>
          <p:cNvSpPr/>
          <p:nvPr/>
        </p:nvSpPr>
        <p:spPr>
          <a:xfrm>
            <a:off x="1250808" y="2611656"/>
            <a:ext cx="411450" cy="411450"/>
          </a:xfrm>
          <a:prstGeom prst="ellipse">
            <a:avLst/>
          </a:prstGeom>
          <a:solidFill>
            <a:srgbClr val="84E291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1"/>
          <p:cNvSpPr txBox="1"/>
          <p:nvPr/>
        </p:nvSpPr>
        <p:spPr>
          <a:xfrm>
            <a:off x="1278999" y="2648686"/>
            <a:ext cx="35506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9" name="circle 8"/>
          <p:cNvSpPr/>
          <p:nvPr/>
        </p:nvSpPr>
        <p:spPr>
          <a:xfrm>
            <a:off x="1250808" y="3928296"/>
            <a:ext cx="411450" cy="411450"/>
          </a:xfrm>
          <a:prstGeom prst="ellipse">
            <a:avLst/>
          </a:prstGeom>
          <a:solidFill>
            <a:srgbClr val="F6C6AD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2"/>
          <p:cNvSpPr txBox="1"/>
          <p:nvPr/>
        </p:nvSpPr>
        <p:spPr>
          <a:xfrm>
            <a:off x="1278999" y="3965326"/>
            <a:ext cx="35506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11" name="path 10"/>
          <p:cNvSpPr/>
          <p:nvPr/>
        </p:nvSpPr>
        <p:spPr>
          <a:xfrm>
            <a:off x="1703403" y="2575677"/>
            <a:ext cx="156351" cy="156351"/>
          </a:xfrm>
          <a:custGeom>
            <a:avLst/>
            <a:gdLst/>
            <a:ahLst/>
            <a:cxnLst/>
            <a:rect l="l" t="t" r="r" b="b"/>
            <a:pathLst>
              <a:path w="19" h="19">
                <a:moveTo>
                  <a:pt x="0" y="10"/>
                </a:moveTo>
                <a:lnTo>
                  <a:pt x="7" y="19"/>
                </a:lnTo>
                <a:lnTo>
                  <a:pt x="19" y="0"/>
                </a:lnTo>
              </a:path>
            </a:pathLst>
          </a:custGeom>
          <a:noFill/>
          <a:ln w="2304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olygon 11"/>
          <p:cNvSpPr/>
          <p:nvPr/>
        </p:nvSpPr>
        <p:spPr>
          <a:xfrm>
            <a:off x="2106624" y="3184623"/>
            <a:ext cx="707694" cy="567801"/>
          </a:xfrm>
          <a:custGeom>
            <a:avLst/>
            <a:gdLst/>
            <a:ahLst/>
            <a:cxnLst/>
            <a:rect l="l" t="t" r="r" b="b"/>
            <a:pathLst>
              <a:path w="86" h="69">
                <a:moveTo>
                  <a:pt x="43" y="0"/>
                </a:moveTo>
                <a:lnTo>
                  <a:pt x="86" y="34"/>
                </a:lnTo>
                <a:lnTo>
                  <a:pt x="43" y="69"/>
                </a:lnTo>
                <a:lnTo>
                  <a:pt x="0" y="34"/>
                </a:lnTo>
                <a:close/>
              </a:path>
            </a:pathLst>
          </a:custGeom>
          <a:solidFill>
            <a:srgbClr val="FFFFFF"/>
          </a:solidFill>
          <a:ln w="1234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LL"/>
          <p:cNvSpPr txBox="1"/>
          <p:nvPr/>
        </p:nvSpPr>
        <p:spPr>
          <a:xfrm>
            <a:off x="2226266" y="3302892"/>
            <a:ext cx="468410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ALL</a:t>
            </a:r>
          </a:p>
        </p:txBody>
      </p:sp>
      <p:cxnSp>
        <p:nvCxnSpPr>
          <p:cNvPr id="14" name="path 13"/>
          <p:cNvCxnSpPr/>
          <p:nvPr/>
        </p:nvCxnSpPr>
        <p:spPr>
          <a:xfrm flipV="1">
            <a:off x="748839" y="2965503"/>
            <a:ext cx="477282" cy="353847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path 14"/>
          <p:cNvCxnSpPr/>
          <p:nvPr/>
        </p:nvCxnSpPr>
        <p:spPr>
          <a:xfrm flipV="1">
            <a:off x="748839" y="2965503"/>
            <a:ext cx="477282" cy="353847"/>
          </a:xfrm>
          <a:prstGeom prst="line">
            <a:avLst/>
          </a:prstGeom>
          <a:ln w="3950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head 15"/>
          <p:cNvSpPr/>
          <p:nvPr/>
        </p:nvSpPr>
        <p:spPr>
          <a:xfrm>
            <a:off x="1061541" y="2962440"/>
            <a:ext cx="164580" cy="14812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20" y="0"/>
                </a:moveTo>
                <a:lnTo>
                  <a:pt x="11" y="18"/>
                </a:lnTo>
                <a:lnTo>
                  <a:pt x="0" y="4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path 16"/>
          <p:cNvCxnSpPr/>
          <p:nvPr/>
        </p:nvCxnSpPr>
        <p:spPr>
          <a:xfrm>
            <a:off x="748839" y="3623823"/>
            <a:ext cx="477282" cy="370305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ath 17"/>
          <p:cNvCxnSpPr/>
          <p:nvPr/>
        </p:nvCxnSpPr>
        <p:spPr>
          <a:xfrm>
            <a:off x="748839" y="3623823"/>
            <a:ext cx="477282" cy="370305"/>
          </a:xfrm>
          <a:prstGeom prst="line">
            <a:avLst/>
          </a:prstGeom>
          <a:ln w="3950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head 18"/>
          <p:cNvSpPr/>
          <p:nvPr/>
        </p:nvSpPr>
        <p:spPr>
          <a:xfrm>
            <a:off x="1061541" y="3842943"/>
            <a:ext cx="164580" cy="14812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20" y="18"/>
                </a:moveTo>
                <a:lnTo>
                  <a:pt x="0" y="14"/>
                </a:lnTo>
                <a:lnTo>
                  <a:pt x="11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urve 19"/>
          <p:cNvSpPr/>
          <p:nvPr/>
        </p:nvSpPr>
        <p:spPr>
          <a:xfrm>
            <a:off x="1686945" y="2814318"/>
            <a:ext cx="427908" cy="485511"/>
          </a:xfrm>
          <a:custGeom>
            <a:avLst/>
            <a:gdLst/>
            <a:ahLst/>
            <a:cxnLst/>
            <a:rect l="l" t="t" r="r" b="b"/>
            <a:pathLst>
              <a:path w="52" h="59">
                <a:moveTo>
                  <a:pt x="0" y="0"/>
                </a:moveTo>
                <a:cubicBezTo>
                  <a:pt x="39" y="0"/>
                  <a:pt x="36" y="42"/>
                  <a:pt x="52" y="59"/>
                </a:cubicBezTo>
              </a:path>
            </a:pathLst>
          </a:custGeom>
          <a:noFill/>
          <a:ln w="61722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urve 20"/>
          <p:cNvSpPr/>
          <p:nvPr/>
        </p:nvSpPr>
        <p:spPr>
          <a:xfrm>
            <a:off x="1686945" y="2814318"/>
            <a:ext cx="427908" cy="485511"/>
          </a:xfrm>
          <a:custGeom>
            <a:avLst/>
            <a:gdLst/>
            <a:ahLst/>
            <a:cxnLst/>
            <a:rect l="l" t="t" r="r" b="b"/>
            <a:pathLst>
              <a:path w="52" h="59">
                <a:moveTo>
                  <a:pt x="0" y="0"/>
                </a:moveTo>
                <a:cubicBezTo>
                  <a:pt x="39" y="0"/>
                  <a:pt x="36" y="42"/>
                  <a:pt x="52" y="59"/>
                </a:cubicBezTo>
              </a:path>
            </a:pathLst>
          </a:custGeom>
          <a:noFill/>
          <a:ln w="45262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rowhead 21"/>
          <p:cNvSpPr/>
          <p:nvPr/>
        </p:nvSpPr>
        <p:spPr>
          <a:xfrm>
            <a:off x="2007876" y="3201081"/>
            <a:ext cx="106977" cy="98748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8"/>
                </a:moveTo>
                <a:lnTo>
                  <a:pt x="13" y="12"/>
                </a:lnTo>
                <a:lnTo>
                  <a:pt x="9" y="0"/>
                </a:lnTo>
              </a:path>
            </a:pathLst>
          </a:custGeom>
          <a:noFill/>
          <a:ln w="1543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urve 22"/>
          <p:cNvSpPr/>
          <p:nvPr/>
        </p:nvSpPr>
        <p:spPr>
          <a:xfrm>
            <a:off x="1686945" y="3628989"/>
            <a:ext cx="427908" cy="501969"/>
          </a:xfrm>
          <a:custGeom>
            <a:avLst/>
            <a:gdLst/>
            <a:ahLst/>
            <a:cxnLst/>
            <a:rect l="l" t="t" r="r" b="b"/>
            <a:pathLst>
              <a:path w="52" h="61">
                <a:moveTo>
                  <a:pt x="0" y="61"/>
                </a:moveTo>
                <a:cubicBezTo>
                  <a:pt x="39" y="61"/>
                  <a:pt x="36" y="16"/>
                  <a:pt x="52" y="0"/>
                </a:cubicBezTo>
              </a:path>
            </a:pathLst>
          </a:custGeom>
          <a:noFill/>
          <a:ln w="61722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urve 23"/>
          <p:cNvSpPr/>
          <p:nvPr/>
        </p:nvSpPr>
        <p:spPr>
          <a:xfrm>
            <a:off x="1686945" y="3628989"/>
            <a:ext cx="427908" cy="501969"/>
          </a:xfrm>
          <a:custGeom>
            <a:avLst/>
            <a:gdLst/>
            <a:ahLst/>
            <a:cxnLst/>
            <a:rect l="l" t="t" r="r" b="b"/>
            <a:pathLst>
              <a:path w="52" h="61">
                <a:moveTo>
                  <a:pt x="0" y="61"/>
                </a:moveTo>
                <a:cubicBezTo>
                  <a:pt x="39" y="61"/>
                  <a:pt x="36" y="16"/>
                  <a:pt x="52" y="0"/>
                </a:cubicBezTo>
              </a:path>
            </a:pathLst>
          </a:custGeom>
          <a:noFill/>
          <a:ln w="4526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rrowhead 24"/>
          <p:cNvSpPr/>
          <p:nvPr/>
        </p:nvSpPr>
        <p:spPr>
          <a:xfrm>
            <a:off x="2007876" y="3628989"/>
            <a:ext cx="106977" cy="106977"/>
          </a:xfrm>
          <a:custGeom>
            <a:avLst/>
            <a:gdLst/>
            <a:ahLst/>
            <a:cxnLst/>
            <a:rect l="l" t="t" r="r" b="b"/>
            <a:pathLst>
              <a:path w="13" h="13">
                <a:moveTo>
                  <a:pt x="9" y="13"/>
                </a:moveTo>
                <a:lnTo>
                  <a:pt x="13" y="0"/>
                </a:lnTo>
                <a:lnTo>
                  <a:pt x="0" y="5"/>
                </a:lnTo>
              </a:path>
            </a:pathLst>
          </a:custGeom>
          <a:noFill/>
          <a:ln w="1543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ending = {C2}"/>
          <p:cNvSpPr txBox="1"/>
          <p:nvPr/>
        </p:nvSpPr>
        <p:spPr>
          <a:xfrm>
            <a:off x="353847" y="4522841"/>
            <a:ext cx="1442229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pending = {C2}</a:t>
            </a:r>
          </a:p>
        </p:txBody>
      </p:sp>
      <p:sp>
        <p:nvSpPr>
          <p:cNvPr id="27" name="curve 26"/>
          <p:cNvSpPr/>
          <p:nvPr/>
        </p:nvSpPr>
        <p:spPr>
          <a:xfrm>
            <a:off x="2839005" y="2509845"/>
            <a:ext cx="8640450" cy="954564"/>
          </a:xfrm>
          <a:custGeom>
            <a:avLst/>
            <a:gdLst/>
            <a:ahLst/>
            <a:cxnLst/>
            <a:rect l="l" t="t" r="r" b="b"/>
            <a:pathLst>
              <a:path w="1050" h="116">
                <a:moveTo>
                  <a:pt x="0" y="116"/>
                </a:moveTo>
                <a:lnTo>
                  <a:pt x="8" y="116"/>
                </a:lnTo>
                <a:cubicBezTo>
                  <a:pt x="10" y="116"/>
                  <a:pt x="12" y="115"/>
                  <a:pt x="12" y="112"/>
                </a:cubicBezTo>
                <a:lnTo>
                  <a:pt x="12" y="18"/>
                </a:lnTo>
                <a:cubicBezTo>
                  <a:pt x="12" y="8"/>
                  <a:pt x="20" y="0"/>
                  <a:pt x="30" y="0"/>
                </a:cubicBezTo>
                <a:lnTo>
                  <a:pt x="1032" y="0"/>
                </a:lnTo>
                <a:cubicBezTo>
                  <a:pt x="1042" y="0"/>
                  <a:pt x="1050" y="8"/>
                  <a:pt x="1050" y="18"/>
                </a:cubicBezTo>
                <a:lnTo>
                  <a:pt x="1050" y="62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urve 27"/>
          <p:cNvSpPr/>
          <p:nvPr/>
        </p:nvSpPr>
        <p:spPr>
          <a:xfrm>
            <a:off x="2839005" y="2509845"/>
            <a:ext cx="8640450" cy="954564"/>
          </a:xfrm>
          <a:custGeom>
            <a:avLst/>
            <a:gdLst/>
            <a:ahLst/>
            <a:cxnLst/>
            <a:rect l="l" t="t" r="r" b="b"/>
            <a:pathLst>
              <a:path w="1050" h="116">
                <a:moveTo>
                  <a:pt x="0" y="116"/>
                </a:moveTo>
                <a:lnTo>
                  <a:pt x="8" y="116"/>
                </a:lnTo>
                <a:cubicBezTo>
                  <a:pt x="10" y="116"/>
                  <a:pt x="12" y="115"/>
                  <a:pt x="12" y="112"/>
                </a:cubicBezTo>
                <a:lnTo>
                  <a:pt x="12" y="18"/>
                </a:lnTo>
                <a:cubicBezTo>
                  <a:pt x="12" y="8"/>
                  <a:pt x="20" y="0"/>
                  <a:pt x="30" y="0"/>
                </a:cubicBezTo>
                <a:lnTo>
                  <a:pt x="1032" y="0"/>
                </a:lnTo>
                <a:cubicBezTo>
                  <a:pt x="1042" y="0"/>
                  <a:pt x="1050" y="8"/>
                  <a:pt x="1050" y="18"/>
                </a:cubicBezTo>
                <a:lnTo>
                  <a:pt x="1050" y="62"/>
                </a:lnTo>
              </a:path>
            </a:pathLst>
          </a:custGeom>
          <a:noFill/>
          <a:ln w="3950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rrowhead 28"/>
          <p:cNvSpPr/>
          <p:nvPr/>
        </p:nvSpPr>
        <p:spPr>
          <a:xfrm>
            <a:off x="11405394" y="2871921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0"/>
                </a:moveTo>
                <a:lnTo>
                  <a:pt x="9" y="18"/>
                </a:lnTo>
                <a:lnTo>
                  <a:pt x="18" y="0"/>
                </a:lnTo>
              </a:path>
            </a:pathLst>
          </a:custGeom>
          <a:noFill/>
          <a:ln w="2314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ircle 29"/>
          <p:cNvSpPr/>
          <p:nvPr/>
        </p:nvSpPr>
        <p:spPr>
          <a:xfrm>
            <a:off x="5686239" y="2356557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1"/>
          <p:cNvSpPr txBox="1"/>
          <p:nvPr/>
        </p:nvSpPr>
        <p:spPr>
          <a:xfrm>
            <a:off x="5737381" y="2354500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1</a:t>
            </a:r>
          </a:p>
        </p:txBody>
      </p:sp>
      <p:sp>
        <p:nvSpPr>
          <p:cNvPr id="32" name="确定等待对象"/>
          <p:cNvSpPr txBox="1"/>
          <p:nvPr/>
        </p:nvSpPr>
        <p:spPr>
          <a:xfrm>
            <a:off x="6953505" y="2202263"/>
            <a:ext cx="1234350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确定等待对象</a:t>
            </a:r>
          </a:p>
        </p:txBody>
      </p:sp>
      <p:sp>
        <p:nvSpPr>
          <p:cNvPr id="33" name="circle 32"/>
          <p:cNvSpPr/>
          <p:nvPr/>
        </p:nvSpPr>
        <p:spPr>
          <a:xfrm>
            <a:off x="11249043" y="3056022"/>
            <a:ext cx="460824" cy="460824"/>
          </a:xfrm>
          <a:prstGeom prst="ellipse">
            <a:avLst/>
          </a:prstGeom>
          <a:solidFill>
            <a:srgbClr val="A6CAEC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P"/>
          <p:cNvSpPr txBox="1"/>
          <p:nvPr/>
        </p:nvSpPr>
        <p:spPr>
          <a:xfrm>
            <a:off x="11361468" y="3117740"/>
            <a:ext cx="235973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35" name="rect 34"/>
          <p:cNvSpPr/>
          <p:nvPr/>
        </p:nvSpPr>
        <p:spPr>
          <a:xfrm>
            <a:off x="3168165" y="3697884"/>
            <a:ext cx="1094457" cy="979251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1563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olygon 35"/>
          <p:cNvSpPr/>
          <p:nvPr/>
        </p:nvSpPr>
        <p:spPr>
          <a:xfrm>
            <a:off x="4065126" y="3694821"/>
            <a:ext cx="197496" cy="197496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0" y="0"/>
                </a:moveTo>
                <a:lnTo>
                  <a:pt x="24" y="24"/>
                </a:lnTo>
                <a:lnTo>
                  <a:pt x="0" y="24"/>
                </a:lnTo>
                <a:close/>
              </a:path>
            </a:pathLst>
          </a:cu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… 证据"/>
          <p:cNvSpPr txBox="1"/>
          <p:nvPr/>
        </p:nvSpPr>
        <p:spPr>
          <a:xfrm>
            <a:off x="3250455" y="3804861"/>
            <a:ext cx="576287" cy="24892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3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… 证据</a:t>
            </a:r>
          </a:p>
        </p:txBody>
      </p:sp>
      <p:sp>
        <p:nvSpPr>
          <p:cNvPr id="38" name="… 验证"/>
          <p:cNvSpPr txBox="1"/>
          <p:nvPr/>
        </p:nvSpPr>
        <p:spPr>
          <a:xfrm>
            <a:off x="3250455" y="3961212"/>
            <a:ext cx="576287" cy="24892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3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… 验证</a:t>
            </a:r>
          </a:p>
        </p:txBody>
      </p:sp>
      <p:sp>
        <p:nvSpPr>
          <p:cNvPr id="39" name="… 总结"/>
          <p:cNvSpPr txBox="1"/>
          <p:nvPr/>
        </p:nvSpPr>
        <p:spPr>
          <a:xfrm>
            <a:off x="3250455" y="4117563"/>
            <a:ext cx="576287" cy="24892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3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… 总结</a:t>
            </a:r>
          </a:p>
        </p:txBody>
      </p:sp>
      <p:sp>
        <p:nvSpPr>
          <p:cNvPr id="40" name="rect 39"/>
          <p:cNvSpPr/>
          <p:nvPr/>
        </p:nvSpPr>
        <p:spPr>
          <a:xfrm>
            <a:off x="3266913" y="4364433"/>
            <a:ext cx="684324" cy="82290"/>
          </a:xfrm>
          <a:prstGeom prst="rect">
            <a:avLst/>
          </a:prstGeom>
          <a:solidFill>
            <a:srgbClr val="F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path 40"/>
          <p:cNvCxnSpPr/>
          <p:nvPr/>
        </p:nvCxnSpPr>
        <p:spPr>
          <a:xfrm>
            <a:off x="1686945" y="4134021"/>
            <a:ext cx="1431846" cy="0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path 41"/>
          <p:cNvCxnSpPr/>
          <p:nvPr/>
        </p:nvCxnSpPr>
        <p:spPr>
          <a:xfrm>
            <a:off x="1686945" y="4134021"/>
            <a:ext cx="1431846" cy="0"/>
          </a:xfrm>
          <a:prstGeom prst="line">
            <a:avLst/>
          </a:prstGeom>
          <a:ln w="3950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head 42"/>
          <p:cNvSpPr/>
          <p:nvPr/>
        </p:nvSpPr>
        <p:spPr>
          <a:xfrm>
            <a:off x="2970669" y="4056897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polygon 43"/>
          <p:cNvSpPr/>
          <p:nvPr/>
        </p:nvSpPr>
        <p:spPr>
          <a:xfrm>
            <a:off x="3176394" y="4937400"/>
            <a:ext cx="1069770" cy="411450"/>
          </a:xfrm>
          <a:custGeom>
            <a:avLst/>
            <a:gdLst/>
            <a:ahLst/>
            <a:cxnLst/>
            <a:rect l="l" t="t" r="r" b="b"/>
            <a:pathLst>
              <a:path w="130" h="50">
                <a:moveTo>
                  <a:pt x="0" y="0"/>
                </a:moveTo>
                <a:lnTo>
                  <a:pt x="130" y="0"/>
                </a:lnTo>
                <a:lnTo>
                  <a:pt x="130" y="37"/>
                </a:lnTo>
                <a:lnTo>
                  <a:pt x="67" y="37"/>
                </a:lnTo>
                <a:lnTo>
                  <a:pt x="51" y="50"/>
                </a:lnTo>
                <a:lnTo>
                  <a:pt x="51" y="37"/>
                </a:lnTo>
                <a:lnTo>
                  <a:pt x="0" y="37"/>
                </a:lnTo>
                <a:close/>
              </a:path>
            </a:pathLst>
          </a:custGeom>
          <a:solidFill>
            <a:srgbClr val="F6C6AD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OTICE"/>
          <p:cNvSpPr txBox="1"/>
          <p:nvPr/>
        </p:nvSpPr>
        <p:spPr>
          <a:xfrm>
            <a:off x="3340990" y="4961036"/>
            <a:ext cx="740578" cy="2859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NOTICE</a:t>
            </a:r>
          </a:p>
        </p:txBody>
      </p:sp>
      <p:sp>
        <p:nvSpPr>
          <p:cNvPr id="46" name="curve 45"/>
          <p:cNvSpPr/>
          <p:nvPr/>
        </p:nvSpPr>
        <p:spPr>
          <a:xfrm>
            <a:off x="4287309" y="3735966"/>
            <a:ext cx="1152060" cy="427908"/>
          </a:xfrm>
          <a:custGeom>
            <a:avLst/>
            <a:gdLst/>
            <a:ahLst/>
            <a:cxnLst/>
            <a:rect l="l" t="t" r="r" b="b"/>
            <a:pathLst>
              <a:path w="140" h="52">
                <a:moveTo>
                  <a:pt x="0" y="52"/>
                </a:moveTo>
                <a:lnTo>
                  <a:pt x="56" y="52"/>
                </a:lnTo>
                <a:cubicBezTo>
                  <a:pt x="65" y="52"/>
                  <a:pt x="73" y="45"/>
                  <a:pt x="73" y="35"/>
                </a:cubicBezTo>
                <a:lnTo>
                  <a:pt x="73" y="18"/>
                </a:lnTo>
                <a:cubicBezTo>
                  <a:pt x="73" y="8"/>
                  <a:pt x="81" y="0"/>
                  <a:pt x="90" y="0"/>
                </a:cubicBezTo>
                <a:lnTo>
                  <a:pt x="140" y="0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urve 46"/>
          <p:cNvSpPr/>
          <p:nvPr/>
        </p:nvSpPr>
        <p:spPr>
          <a:xfrm>
            <a:off x="4287309" y="3735966"/>
            <a:ext cx="1152060" cy="427908"/>
          </a:xfrm>
          <a:custGeom>
            <a:avLst/>
            <a:gdLst/>
            <a:ahLst/>
            <a:cxnLst/>
            <a:rect l="l" t="t" r="r" b="b"/>
            <a:pathLst>
              <a:path w="140" h="52">
                <a:moveTo>
                  <a:pt x="0" y="52"/>
                </a:moveTo>
                <a:lnTo>
                  <a:pt x="56" y="52"/>
                </a:lnTo>
                <a:cubicBezTo>
                  <a:pt x="65" y="52"/>
                  <a:pt x="73" y="45"/>
                  <a:pt x="73" y="35"/>
                </a:cubicBezTo>
                <a:lnTo>
                  <a:pt x="73" y="18"/>
                </a:lnTo>
                <a:cubicBezTo>
                  <a:pt x="73" y="8"/>
                  <a:pt x="81" y="0"/>
                  <a:pt x="90" y="0"/>
                </a:cubicBezTo>
                <a:lnTo>
                  <a:pt x="140" y="0"/>
                </a:lnTo>
              </a:path>
            </a:pathLst>
          </a:custGeom>
          <a:noFill/>
          <a:ln w="39502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rrowhead 47"/>
          <p:cNvSpPr/>
          <p:nvPr/>
        </p:nvSpPr>
        <p:spPr>
          <a:xfrm>
            <a:off x="5291247" y="3661905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urve 48"/>
          <p:cNvSpPr/>
          <p:nvPr/>
        </p:nvSpPr>
        <p:spPr>
          <a:xfrm>
            <a:off x="4888026" y="4163874"/>
            <a:ext cx="551343" cy="510198"/>
          </a:xfrm>
          <a:custGeom>
            <a:avLst/>
            <a:gdLst/>
            <a:ahLst/>
            <a:cxnLst/>
            <a:rect l="l" t="t" r="r" b="b"/>
            <a:pathLst>
              <a:path w="67" h="62">
                <a:moveTo>
                  <a:pt x="0" y="0"/>
                </a:moveTo>
                <a:lnTo>
                  <a:pt x="0" y="44"/>
                </a:lnTo>
                <a:cubicBezTo>
                  <a:pt x="0" y="54"/>
                  <a:pt x="8" y="62"/>
                  <a:pt x="18" y="62"/>
                </a:cubicBezTo>
                <a:lnTo>
                  <a:pt x="67" y="62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urve 49"/>
          <p:cNvSpPr/>
          <p:nvPr/>
        </p:nvSpPr>
        <p:spPr>
          <a:xfrm>
            <a:off x="4888026" y="4163874"/>
            <a:ext cx="551343" cy="510198"/>
          </a:xfrm>
          <a:custGeom>
            <a:avLst/>
            <a:gdLst/>
            <a:ahLst/>
            <a:cxnLst/>
            <a:rect l="l" t="t" r="r" b="b"/>
            <a:pathLst>
              <a:path w="67" h="62">
                <a:moveTo>
                  <a:pt x="0" y="0"/>
                </a:moveTo>
                <a:lnTo>
                  <a:pt x="0" y="44"/>
                </a:lnTo>
                <a:cubicBezTo>
                  <a:pt x="0" y="54"/>
                  <a:pt x="8" y="62"/>
                  <a:pt x="18" y="62"/>
                </a:cubicBezTo>
                <a:lnTo>
                  <a:pt x="67" y="62"/>
                </a:lnTo>
              </a:path>
            </a:pathLst>
          </a:custGeom>
          <a:noFill/>
          <a:ln w="39502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arrowhead 50"/>
          <p:cNvSpPr/>
          <p:nvPr/>
        </p:nvSpPr>
        <p:spPr>
          <a:xfrm>
            <a:off x="5291247" y="4600011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curve 51"/>
          <p:cNvSpPr/>
          <p:nvPr/>
        </p:nvSpPr>
        <p:spPr>
          <a:xfrm>
            <a:off x="4279080" y="4163874"/>
            <a:ext cx="452595" cy="913419"/>
          </a:xfrm>
          <a:custGeom>
            <a:avLst/>
            <a:gdLst/>
            <a:ahLst/>
            <a:cxnLst/>
            <a:rect l="l" t="t" r="r" b="b"/>
            <a:pathLst>
              <a:path w="55" h="111">
                <a:moveTo>
                  <a:pt x="0" y="111"/>
                </a:moveTo>
                <a:lnTo>
                  <a:pt x="23" y="111"/>
                </a:lnTo>
                <a:cubicBezTo>
                  <a:pt x="29" y="111"/>
                  <a:pt x="34" y="106"/>
                  <a:pt x="34" y="100"/>
                </a:cubicBezTo>
                <a:lnTo>
                  <a:pt x="34" y="7"/>
                </a:lnTo>
                <a:cubicBezTo>
                  <a:pt x="34" y="4"/>
                  <a:pt x="37" y="0"/>
                  <a:pt x="41" y="0"/>
                </a:cubicBezTo>
                <a:lnTo>
                  <a:pt x="55" y="0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urve 52"/>
          <p:cNvSpPr/>
          <p:nvPr/>
        </p:nvSpPr>
        <p:spPr>
          <a:xfrm>
            <a:off x="4279080" y="4163874"/>
            <a:ext cx="452595" cy="913419"/>
          </a:xfrm>
          <a:custGeom>
            <a:avLst/>
            <a:gdLst/>
            <a:ahLst/>
            <a:cxnLst/>
            <a:rect l="l" t="t" r="r" b="b"/>
            <a:pathLst>
              <a:path w="55" h="111">
                <a:moveTo>
                  <a:pt x="0" y="111"/>
                </a:moveTo>
                <a:lnTo>
                  <a:pt x="23" y="111"/>
                </a:lnTo>
                <a:cubicBezTo>
                  <a:pt x="29" y="111"/>
                  <a:pt x="34" y="106"/>
                  <a:pt x="34" y="100"/>
                </a:cubicBezTo>
                <a:lnTo>
                  <a:pt x="34" y="7"/>
                </a:lnTo>
                <a:cubicBezTo>
                  <a:pt x="34" y="4"/>
                  <a:pt x="37" y="0"/>
                  <a:pt x="41" y="0"/>
                </a:cubicBezTo>
                <a:lnTo>
                  <a:pt x="55" y="0"/>
                </a:lnTo>
              </a:path>
            </a:pathLst>
          </a:custGeom>
          <a:noFill/>
          <a:ln w="39502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arrowhead 53"/>
          <p:cNvSpPr/>
          <p:nvPr/>
        </p:nvSpPr>
        <p:spPr>
          <a:xfrm>
            <a:off x="4632927" y="4114500"/>
            <a:ext cx="98748" cy="98748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0" y="12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ircle 54"/>
          <p:cNvSpPr/>
          <p:nvPr/>
        </p:nvSpPr>
        <p:spPr>
          <a:xfrm>
            <a:off x="4567095" y="4010586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2"/>
          <p:cNvSpPr txBox="1"/>
          <p:nvPr/>
        </p:nvSpPr>
        <p:spPr>
          <a:xfrm>
            <a:off x="4618237" y="4008529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2</a:t>
            </a:r>
          </a:p>
        </p:txBody>
      </p:sp>
      <p:sp>
        <p:nvSpPr>
          <p:cNvPr id="57" name="推断"/>
          <p:cNvSpPr txBox="1"/>
          <p:nvPr/>
        </p:nvSpPr>
        <p:spPr>
          <a:xfrm>
            <a:off x="4460118" y="3171228"/>
            <a:ext cx="493740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推断</a:t>
            </a:r>
          </a:p>
        </p:txBody>
      </p:sp>
      <p:sp>
        <p:nvSpPr>
          <p:cNvPr id="58" name="p"/>
          <p:cNvSpPr txBox="1"/>
          <p:nvPr/>
        </p:nvSpPr>
        <p:spPr>
          <a:xfrm>
            <a:off x="6078740" y="3239117"/>
            <a:ext cx="226298" cy="316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8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p</a:t>
            </a:r>
          </a:p>
        </p:txBody>
      </p:sp>
      <p:sp>
        <p:nvSpPr>
          <p:cNvPr id="59" name="final"/>
          <p:cNvSpPr txBox="1"/>
          <p:nvPr/>
        </p:nvSpPr>
        <p:spPr>
          <a:xfrm>
            <a:off x="6214518" y="3381068"/>
            <a:ext cx="404089" cy="22012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5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final</a:t>
            </a:r>
          </a:p>
        </p:txBody>
      </p:sp>
      <p:sp>
        <p:nvSpPr>
          <p:cNvPr id="60" name="rect 59"/>
          <p:cNvSpPr/>
          <p:nvPr/>
        </p:nvSpPr>
        <p:spPr>
          <a:xfrm>
            <a:off x="5595720" y="3623823"/>
            <a:ext cx="1440075" cy="213954"/>
          </a:xfrm>
          <a:prstGeom prst="rect">
            <a:avLst/>
          </a:prstGeom>
          <a:solidFill>
            <a:srgbClr val="FFFFFF"/>
          </a:solidFill>
          <a:ln w="9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 60"/>
          <p:cNvSpPr/>
          <p:nvPr/>
        </p:nvSpPr>
        <p:spPr>
          <a:xfrm>
            <a:off x="5595720" y="3623823"/>
            <a:ext cx="1028625" cy="213954"/>
          </a:xfrm>
          <a:prstGeom prst="rect">
            <a:avLst/>
          </a:prstGeom>
          <a:solidFill>
            <a:srgbClr val="A6CAEC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line 61"/>
          <p:cNvCxnSpPr/>
          <p:nvPr/>
        </p:nvCxnSpPr>
        <p:spPr>
          <a:xfrm>
            <a:off x="5595720" y="4677135"/>
            <a:ext cx="1440075" cy="0"/>
          </a:xfrm>
          <a:prstGeom prst="line">
            <a:avLst/>
          </a:prstGeom>
          <a:ln w="20574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line 62"/>
          <p:cNvCxnSpPr/>
          <p:nvPr/>
        </p:nvCxnSpPr>
        <p:spPr>
          <a:xfrm>
            <a:off x="5595720" y="4603074"/>
            <a:ext cx="0" cy="148122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line 63"/>
          <p:cNvCxnSpPr/>
          <p:nvPr/>
        </p:nvCxnSpPr>
        <p:spPr>
          <a:xfrm>
            <a:off x="7035795" y="4603074"/>
            <a:ext cx="0" cy="148122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circle 64"/>
          <p:cNvSpPr/>
          <p:nvPr/>
        </p:nvSpPr>
        <p:spPr>
          <a:xfrm>
            <a:off x="6344559" y="4635990"/>
            <a:ext cx="82290" cy="82290"/>
          </a:xfrm>
          <a:prstGeom prst="ellipse">
            <a:avLst/>
          </a:prstGeom>
          <a:solidFill>
            <a:srgbClr val="000000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W"/>
          <p:cNvSpPr txBox="1"/>
          <p:nvPr/>
        </p:nvSpPr>
        <p:spPr>
          <a:xfrm>
            <a:off x="5805624" y="4825257"/>
            <a:ext cx="297530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67" name="lo"/>
          <p:cNvSpPr txBox="1"/>
          <p:nvPr/>
        </p:nvSpPr>
        <p:spPr>
          <a:xfrm>
            <a:off x="6012635" y="4961036"/>
            <a:ext cx="218776" cy="2057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1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lo</a:t>
            </a:r>
          </a:p>
        </p:txBody>
      </p:sp>
      <p:sp>
        <p:nvSpPr>
          <p:cNvPr id="68" name=" … "/>
          <p:cNvSpPr txBox="1"/>
          <p:nvPr/>
        </p:nvSpPr>
        <p:spPr>
          <a:xfrm>
            <a:off x="6140891" y="4825257"/>
            <a:ext cx="456710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 … </a:t>
            </a:r>
          </a:p>
        </p:txBody>
      </p:sp>
      <p:sp>
        <p:nvSpPr>
          <p:cNvPr id="69" name="W"/>
          <p:cNvSpPr txBox="1"/>
          <p:nvPr/>
        </p:nvSpPr>
        <p:spPr>
          <a:xfrm>
            <a:off x="6498853" y="4825257"/>
            <a:ext cx="297530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70" name="hi"/>
          <p:cNvSpPr txBox="1"/>
          <p:nvPr/>
        </p:nvSpPr>
        <p:spPr>
          <a:xfrm>
            <a:off x="6705864" y="4961036"/>
            <a:ext cx="218776" cy="2057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1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hi</a:t>
            </a:r>
          </a:p>
        </p:txBody>
      </p:sp>
      <p:sp>
        <p:nvSpPr>
          <p:cNvPr id="71" name="终态剩余 token"/>
          <p:cNvSpPr txBox="1"/>
          <p:nvPr/>
        </p:nvSpPr>
        <p:spPr>
          <a:xfrm>
            <a:off x="5618655" y="5156474"/>
            <a:ext cx="1402434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终态剩余 token</a:t>
            </a:r>
          </a:p>
        </p:txBody>
      </p:sp>
      <p:sp>
        <p:nvSpPr>
          <p:cNvPr id="72" name="curve 71"/>
          <p:cNvSpPr/>
          <p:nvPr/>
        </p:nvSpPr>
        <p:spPr>
          <a:xfrm>
            <a:off x="7101627" y="3727737"/>
            <a:ext cx="551343" cy="584259"/>
          </a:xfrm>
          <a:custGeom>
            <a:avLst/>
            <a:gdLst/>
            <a:ahLst/>
            <a:cxnLst/>
            <a:rect l="l" t="t" r="r" b="b"/>
            <a:pathLst>
              <a:path w="67" h="71">
                <a:moveTo>
                  <a:pt x="0" y="0"/>
                </a:moveTo>
                <a:lnTo>
                  <a:pt x="49" y="0"/>
                </a:lnTo>
                <a:cubicBezTo>
                  <a:pt x="59" y="0"/>
                  <a:pt x="67" y="8"/>
                  <a:pt x="67" y="18"/>
                </a:cubicBezTo>
                <a:lnTo>
                  <a:pt x="67" y="71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urve 72"/>
          <p:cNvSpPr/>
          <p:nvPr/>
        </p:nvSpPr>
        <p:spPr>
          <a:xfrm>
            <a:off x="7101627" y="3727737"/>
            <a:ext cx="551343" cy="584259"/>
          </a:xfrm>
          <a:custGeom>
            <a:avLst/>
            <a:gdLst/>
            <a:ahLst/>
            <a:cxnLst/>
            <a:rect l="l" t="t" r="r" b="b"/>
            <a:pathLst>
              <a:path w="67" h="71">
                <a:moveTo>
                  <a:pt x="0" y="0"/>
                </a:moveTo>
                <a:lnTo>
                  <a:pt x="49" y="0"/>
                </a:lnTo>
                <a:cubicBezTo>
                  <a:pt x="59" y="0"/>
                  <a:pt x="67" y="8"/>
                  <a:pt x="67" y="18"/>
                </a:cubicBezTo>
                <a:lnTo>
                  <a:pt x="67" y="71"/>
                </a:lnTo>
              </a:path>
            </a:pathLst>
          </a:custGeom>
          <a:noFill/>
          <a:ln w="3950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arrowhead 73"/>
          <p:cNvSpPr/>
          <p:nvPr/>
        </p:nvSpPr>
        <p:spPr>
          <a:xfrm>
            <a:off x="7578909" y="4163874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9" y="18"/>
                </a:moveTo>
                <a:lnTo>
                  <a:pt x="0" y="0"/>
                </a:lnTo>
                <a:lnTo>
                  <a:pt x="9" y="5"/>
                </a:lnTo>
                <a:lnTo>
                  <a:pt x="18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curve 74"/>
          <p:cNvSpPr/>
          <p:nvPr/>
        </p:nvSpPr>
        <p:spPr>
          <a:xfrm>
            <a:off x="7109856" y="4163874"/>
            <a:ext cx="1398930" cy="510198"/>
          </a:xfrm>
          <a:custGeom>
            <a:avLst/>
            <a:gdLst/>
            <a:ahLst/>
            <a:cxnLst/>
            <a:rect l="l" t="t" r="r" b="b"/>
            <a:pathLst>
              <a:path w="170" h="62">
                <a:moveTo>
                  <a:pt x="0" y="62"/>
                </a:moveTo>
                <a:lnTo>
                  <a:pt x="48" y="62"/>
                </a:lnTo>
                <a:cubicBezTo>
                  <a:pt x="58" y="62"/>
                  <a:pt x="66" y="54"/>
                  <a:pt x="66" y="44"/>
                </a:cubicBezTo>
                <a:lnTo>
                  <a:pt x="66" y="18"/>
                </a:lnTo>
                <a:cubicBezTo>
                  <a:pt x="66" y="8"/>
                  <a:pt x="74" y="0"/>
                  <a:pt x="84" y="0"/>
                </a:cubicBezTo>
                <a:lnTo>
                  <a:pt x="170" y="0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urve 75"/>
          <p:cNvSpPr/>
          <p:nvPr/>
        </p:nvSpPr>
        <p:spPr>
          <a:xfrm>
            <a:off x="7109856" y="4163874"/>
            <a:ext cx="1398930" cy="510198"/>
          </a:xfrm>
          <a:custGeom>
            <a:avLst/>
            <a:gdLst/>
            <a:ahLst/>
            <a:cxnLst/>
            <a:rect l="l" t="t" r="r" b="b"/>
            <a:pathLst>
              <a:path w="170" h="62">
                <a:moveTo>
                  <a:pt x="0" y="62"/>
                </a:moveTo>
                <a:lnTo>
                  <a:pt x="48" y="62"/>
                </a:lnTo>
                <a:cubicBezTo>
                  <a:pt x="58" y="62"/>
                  <a:pt x="66" y="54"/>
                  <a:pt x="66" y="44"/>
                </a:cubicBezTo>
                <a:lnTo>
                  <a:pt x="66" y="18"/>
                </a:lnTo>
                <a:cubicBezTo>
                  <a:pt x="66" y="8"/>
                  <a:pt x="74" y="0"/>
                  <a:pt x="84" y="0"/>
                </a:cubicBezTo>
                <a:lnTo>
                  <a:pt x="170" y="0"/>
                </a:lnTo>
              </a:path>
            </a:pathLst>
          </a:custGeom>
          <a:noFill/>
          <a:ln w="3950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arrowhead 76"/>
          <p:cNvSpPr/>
          <p:nvPr/>
        </p:nvSpPr>
        <p:spPr>
          <a:xfrm>
            <a:off x="8311290" y="4065126"/>
            <a:ext cx="197496" cy="197496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12"/>
                </a:moveTo>
                <a:lnTo>
                  <a:pt x="0" y="24"/>
                </a:lnTo>
                <a:lnTo>
                  <a:pt x="6" y="12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ircle 77"/>
          <p:cNvSpPr/>
          <p:nvPr/>
        </p:nvSpPr>
        <p:spPr>
          <a:xfrm>
            <a:off x="7924527" y="4010586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3"/>
          <p:cNvSpPr txBox="1"/>
          <p:nvPr/>
        </p:nvSpPr>
        <p:spPr>
          <a:xfrm>
            <a:off x="7975669" y="4008529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3</a:t>
            </a:r>
          </a:p>
        </p:txBody>
      </p:sp>
      <p:sp>
        <p:nvSpPr>
          <p:cNvPr id="80" name="滚动更新"/>
          <p:cNvSpPr txBox="1"/>
          <p:nvPr/>
        </p:nvSpPr>
        <p:spPr>
          <a:xfrm>
            <a:off x="7908069" y="3302892"/>
            <a:ext cx="888732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滚动更新</a:t>
            </a:r>
          </a:p>
        </p:txBody>
      </p:sp>
      <p:sp>
        <p:nvSpPr>
          <p:cNvPr id="81" name="circle 80"/>
          <p:cNvSpPr/>
          <p:nvPr/>
        </p:nvSpPr>
        <p:spPr>
          <a:xfrm>
            <a:off x="8566389" y="3969441"/>
            <a:ext cx="394992" cy="394992"/>
          </a:xfrm>
          <a:prstGeom prst="ellipse">
            <a:avLst/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path 81"/>
          <p:cNvSpPr/>
          <p:nvPr/>
        </p:nvSpPr>
        <p:spPr>
          <a:xfrm>
            <a:off x="8763885" y="4040439"/>
            <a:ext cx="106977" cy="172809"/>
          </a:xfrm>
          <a:custGeom>
            <a:avLst/>
            <a:gdLst/>
            <a:ahLst/>
            <a:cxnLst/>
            <a:rect l="l" t="t" r="r" b="b"/>
            <a:pathLst>
              <a:path w="13" h="21">
                <a:moveTo>
                  <a:pt x="0" y="0"/>
                </a:moveTo>
                <a:lnTo>
                  <a:pt x="0" y="15"/>
                </a:lnTo>
                <a:lnTo>
                  <a:pt x="13" y="21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path 82"/>
          <p:cNvCxnSpPr/>
          <p:nvPr/>
        </p:nvCxnSpPr>
        <p:spPr>
          <a:xfrm>
            <a:off x="9010755" y="4166937"/>
            <a:ext cx="1654029" cy="0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path 83"/>
          <p:cNvCxnSpPr/>
          <p:nvPr/>
        </p:nvCxnSpPr>
        <p:spPr>
          <a:xfrm>
            <a:off x="9010755" y="4166937"/>
            <a:ext cx="1654029" cy="0"/>
          </a:xfrm>
          <a:prstGeom prst="line">
            <a:avLst/>
          </a:prstGeom>
          <a:ln w="3950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arrowhead 84"/>
          <p:cNvSpPr/>
          <p:nvPr/>
        </p:nvSpPr>
        <p:spPr>
          <a:xfrm>
            <a:off x="10516662" y="4089813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18"/>
                </a:moveTo>
                <a:lnTo>
                  <a:pt x="18" y="9"/>
                </a:lnTo>
                <a:lnTo>
                  <a:pt x="0" y="0"/>
                </a:lnTo>
              </a:path>
            </a:pathLst>
          </a:custGeom>
          <a:noFill/>
          <a:ln w="2314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τ"/>
          <p:cNvSpPr txBox="1"/>
          <p:nvPr/>
        </p:nvSpPr>
        <p:spPr>
          <a:xfrm>
            <a:off x="10922262" y="4728566"/>
            <a:ext cx="192996" cy="3271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3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87" name=" ≈ "/>
          <p:cNvSpPr txBox="1"/>
          <p:nvPr/>
        </p:nvSpPr>
        <p:spPr>
          <a:xfrm>
            <a:off x="11016509" y="4728566"/>
            <a:ext cx="374934" cy="3271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3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 ≈ </a:t>
            </a:r>
          </a:p>
        </p:txBody>
      </p:sp>
      <p:sp>
        <p:nvSpPr>
          <p:cNvPr id="88" name="W"/>
          <p:cNvSpPr txBox="1"/>
          <p:nvPr/>
        </p:nvSpPr>
        <p:spPr>
          <a:xfrm>
            <a:off x="11292695" y="4728566"/>
            <a:ext cx="318102" cy="3271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3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W</a:t>
            </a:r>
          </a:p>
        </p:txBody>
      </p:sp>
      <p:sp>
        <p:nvSpPr>
          <p:cNvPr id="89" name=" / "/>
          <p:cNvSpPr txBox="1"/>
          <p:nvPr/>
        </p:nvSpPr>
        <p:spPr>
          <a:xfrm>
            <a:off x="11512050" y="4728566"/>
            <a:ext cx="303573" cy="3271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3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 / </a:t>
            </a:r>
          </a:p>
        </p:txBody>
      </p:sp>
      <p:sp>
        <p:nvSpPr>
          <p:cNvPr id="90" name="v"/>
          <p:cNvSpPr txBox="1"/>
          <p:nvPr/>
        </p:nvSpPr>
        <p:spPr>
          <a:xfrm>
            <a:off x="11716875" y="4728566"/>
            <a:ext cx="215626" cy="3271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3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v</a:t>
            </a:r>
          </a:p>
        </p:txBody>
      </p:sp>
      <p:sp>
        <p:nvSpPr>
          <p:cNvPr id="91" name="eff"/>
          <p:cNvSpPr txBox="1"/>
          <p:nvPr/>
        </p:nvSpPr>
        <p:spPr>
          <a:xfrm>
            <a:off x="11841981" y="4878746"/>
            <a:ext cx="285186" cy="2221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7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eff</a:t>
            </a:r>
          </a:p>
        </p:txBody>
      </p:sp>
      <p:sp>
        <p:nvSpPr>
          <p:cNvPr id="92" name="rect 91"/>
          <p:cNvSpPr/>
          <p:nvPr/>
        </p:nvSpPr>
        <p:spPr>
          <a:xfrm>
            <a:off x="8327748" y="5129730"/>
            <a:ext cx="205725" cy="123435"/>
          </a:xfrm>
          <a:prstGeom prst="rect">
            <a:avLst/>
          </a:prstGeom>
          <a:solidFill>
            <a:srgbClr val="A6CAEC"/>
          </a:solidFill>
          <a:ln w="740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 92"/>
          <p:cNvSpPr/>
          <p:nvPr/>
        </p:nvSpPr>
        <p:spPr>
          <a:xfrm>
            <a:off x="8969610" y="5129730"/>
            <a:ext cx="320931" cy="123435"/>
          </a:xfrm>
          <a:prstGeom prst="rect">
            <a:avLst/>
          </a:prstGeom>
          <a:solidFill>
            <a:srgbClr val="A6CAEC"/>
          </a:solidFill>
          <a:ln w="740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 93"/>
          <p:cNvSpPr/>
          <p:nvPr/>
        </p:nvSpPr>
        <p:spPr>
          <a:xfrm>
            <a:off x="9611472" y="5129730"/>
            <a:ext cx="477282" cy="123435"/>
          </a:xfrm>
          <a:prstGeom prst="rect">
            <a:avLst/>
          </a:prstGeom>
          <a:solidFill>
            <a:srgbClr val="A6CAEC"/>
          </a:solidFill>
          <a:ln w="740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已观测服务进度"/>
          <p:cNvSpPr txBox="1"/>
          <p:nvPr/>
        </p:nvSpPr>
        <p:spPr>
          <a:xfrm>
            <a:off x="8681595" y="5419802"/>
            <a:ext cx="1366014" cy="2983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已观测服务进度</a:t>
            </a:r>
          </a:p>
        </p:txBody>
      </p:sp>
      <p:cxnSp>
        <p:nvCxnSpPr>
          <p:cNvPr id="96" name="path 95"/>
          <p:cNvCxnSpPr/>
          <p:nvPr/>
        </p:nvCxnSpPr>
        <p:spPr>
          <a:xfrm flipV="1">
            <a:off x="8763885" y="4430265"/>
            <a:ext cx="0" cy="641862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path 96"/>
          <p:cNvCxnSpPr/>
          <p:nvPr/>
        </p:nvCxnSpPr>
        <p:spPr>
          <a:xfrm flipV="1">
            <a:off x="8763885" y="4430265"/>
            <a:ext cx="0" cy="641862"/>
          </a:xfrm>
          <a:prstGeom prst="line">
            <a:avLst/>
          </a:prstGeom>
          <a:ln w="3950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arrowhead 97"/>
          <p:cNvSpPr/>
          <p:nvPr/>
        </p:nvSpPr>
        <p:spPr>
          <a:xfrm>
            <a:off x="8689824" y="4427202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18"/>
                </a:moveTo>
                <a:lnTo>
                  <a:pt x="9" y="0"/>
                </a:lnTo>
                <a:lnTo>
                  <a:pt x="0" y="18"/>
                </a:lnTo>
              </a:path>
            </a:pathLst>
          </a:custGeom>
          <a:noFill/>
          <a:ln w="2314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line 98"/>
          <p:cNvCxnSpPr/>
          <p:nvPr/>
        </p:nvCxnSpPr>
        <p:spPr>
          <a:xfrm>
            <a:off x="10779990" y="4166937"/>
            <a:ext cx="1398930" cy="0"/>
          </a:xfrm>
          <a:prstGeom prst="line">
            <a:avLst/>
          </a:prstGeom>
          <a:ln w="20574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line 99"/>
          <p:cNvCxnSpPr/>
          <p:nvPr/>
        </p:nvCxnSpPr>
        <p:spPr>
          <a:xfrm>
            <a:off x="10779990" y="4092876"/>
            <a:ext cx="0" cy="148122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line 100"/>
          <p:cNvCxnSpPr/>
          <p:nvPr/>
        </p:nvCxnSpPr>
        <p:spPr>
          <a:xfrm>
            <a:off x="12178920" y="4092876"/>
            <a:ext cx="0" cy="148122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circle 101"/>
          <p:cNvSpPr/>
          <p:nvPr/>
        </p:nvSpPr>
        <p:spPr>
          <a:xfrm>
            <a:off x="11520600" y="4125792"/>
            <a:ext cx="82290" cy="82290"/>
          </a:xfrm>
          <a:prstGeom prst="ellipse">
            <a:avLst/>
          </a:prstGeom>
          <a:solidFill>
            <a:srgbClr val="000000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line 102"/>
          <p:cNvCxnSpPr/>
          <p:nvPr/>
        </p:nvCxnSpPr>
        <p:spPr>
          <a:xfrm>
            <a:off x="11479455" y="3541533"/>
            <a:ext cx="0" cy="543114"/>
          </a:xfrm>
          <a:prstGeom prst="line">
            <a:avLst/>
          </a:prstGeom>
          <a:ln w="12344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TURN"/>
          <p:cNvSpPr txBox="1"/>
          <p:nvPr/>
        </p:nvSpPr>
        <p:spPr>
          <a:xfrm>
            <a:off x="10779990" y="4317116"/>
            <a:ext cx="805156" cy="2983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RETURN</a:t>
            </a:r>
          </a:p>
        </p:txBody>
      </p:sp>
      <p:sp>
        <p:nvSpPr>
          <p:cNvPr id="105" name="rect 104"/>
          <p:cNvSpPr/>
          <p:nvPr/>
        </p:nvSpPr>
        <p:spPr>
          <a:xfrm>
            <a:off x="427908" y="5952630"/>
            <a:ext cx="724152" cy="510198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line 105"/>
          <p:cNvCxnSpPr/>
          <p:nvPr/>
        </p:nvCxnSpPr>
        <p:spPr>
          <a:xfrm>
            <a:off x="436137" y="6059772"/>
            <a:ext cx="707694" cy="0"/>
          </a:xfrm>
          <a:prstGeom prst="line">
            <a:avLst/>
          </a:prstGeom>
          <a:ln w="822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path 106"/>
          <p:cNvSpPr/>
          <p:nvPr/>
        </p:nvSpPr>
        <p:spPr>
          <a:xfrm>
            <a:off x="559572" y="6171750"/>
            <a:ext cx="90519" cy="181038"/>
          </a:xfrm>
          <a:custGeom>
            <a:avLst/>
            <a:gdLst/>
            <a:ahLst/>
            <a:cxnLst/>
            <a:rect l="l" t="t" r="r" b="b"/>
            <a:pathLst>
              <a:path w="11" h="22">
                <a:moveTo>
                  <a:pt x="0" y="0"/>
                </a:moveTo>
                <a:lnTo>
                  <a:pt x="11" y="11"/>
                </a:lnTo>
                <a:lnTo>
                  <a:pt x="0" y="22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line 107"/>
          <p:cNvCxnSpPr/>
          <p:nvPr/>
        </p:nvCxnSpPr>
        <p:spPr>
          <a:xfrm>
            <a:off x="740610" y="6350584"/>
            <a:ext cx="296244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circle 108"/>
          <p:cNvSpPr/>
          <p:nvPr/>
        </p:nvSpPr>
        <p:spPr>
          <a:xfrm>
            <a:off x="1357785" y="5993775"/>
            <a:ext cx="411450" cy="411450"/>
          </a:xfrm>
          <a:prstGeom prst="ellipse">
            <a:avLst/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path 109"/>
          <p:cNvSpPr/>
          <p:nvPr/>
        </p:nvSpPr>
        <p:spPr>
          <a:xfrm>
            <a:off x="1563510" y="6064773"/>
            <a:ext cx="115206" cy="189267"/>
          </a:xfrm>
          <a:custGeom>
            <a:avLst/>
            <a:gdLst/>
            <a:ahLst/>
            <a:cxnLst/>
            <a:rect l="l" t="t" r="r" b="b"/>
            <a:pathLst>
              <a:path w="14" h="23">
                <a:moveTo>
                  <a:pt x="0" y="0"/>
                </a:moveTo>
                <a:lnTo>
                  <a:pt x="0" y="16"/>
                </a:lnTo>
                <a:lnTo>
                  <a:pt x="14" y="23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工具 + 已耗时"/>
          <p:cNvSpPr txBox="1"/>
          <p:nvPr/>
        </p:nvSpPr>
        <p:spPr>
          <a:xfrm>
            <a:off x="460535" y="6578034"/>
            <a:ext cx="1284303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工具 + 已耗时</a:t>
            </a:r>
          </a:p>
        </p:txBody>
      </p:sp>
      <p:cxnSp>
        <p:nvCxnSpPr>
          <p:cNvPr id="112" name="path 111"/>
          <p:cNvCxnSpPr/>
          <p:nvPr/>
        </p:nvCxnSpPr>
        <p:spPr>
          <a:xfrm>
            <a:off x="1818609" y="6199500"/>
            <a:ext cx="510198" cy="0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path 112"/>
          <p:cNvCxnSpPr/>
          <p:nvPr/>
        </p:nvCxnSpPr>
        <p:spPr>
          <a:xfrm>
            <a:off x="1818609" y="6199500"/>
            <a:ext cx="510198" cy="0"/>
          </a:xfrm>
          <a:prstGeom prst="line">
            <a:avLst/>
          </a:prstGeom>
          <a:ln w="3950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arrowhead 113"/>
          <p:cNvSpPr/>
          <p:nvPr/>
        </p:nvSpPr>
        <p:spPr>
          <a:xfrm>
            <a:off x="2180685" y="6122376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 114"/>
          <p:cNvSpPr/>
          <p:nvPr/>
        </p:nvSpPr>
        <p:spPr>
          <a:xfrm>
            <a:off x="3291600" y="5820966"/>
            <a:ext cx="1003938" cy="683007"/>
          </a:xfrm>
          <a:prstGeom prst="rect">
            <a:avLst/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path 115"/>
          <p:cNvSpPr/>
          <p:nvPr/>
        </p:nvSpPr>
        <p:spPr>
          <a:xfrm>
            <a:off x="2411097" y="5875506"/>
            <a:ext cx="1884441" cy="617175"/>
          </a:xfrm>
          <a:custGeom>
            <a:avLst/>
            <a:gdLst/>
            <a:ahLst/>
            <a:cxnLst/>
            <a:rect l="l" t="t" r="r" b="b"/>
            <a:pathLst>
              <a:path w="229" h="75">
                <a:moveTo>
                  <a:pt x="0" y="75"/>
                </a:moveTo>
                <a:lnTo>
                  <a:pt x="49" y="75"/>
                </a:lnTo>
                <a:lnTo>
                  <a:pt x="49" y="58"/>
                </a:lnTo>
                <a:lnTo>
                  <a:pt x="107" y="58"/>
                </a:lnTo>
                <a:lnTo>
                  <a:pt x="107" y="28"/>
                </a:lnTo>
                <a:lnTo>
                  <a:pt x="164" y="28"/>
                </a:lnTo>
                <a:lnTo>
                  <a:pt x="164" y="0"/>
                </a:lnTo>
                <a:lnTo>
                  <a:pt x="229" y="0"/>
                </a:lnTo>
              </a:path>
            </a:pathLst>
          </a:custGeom>
          <a:noFill/>
          <a:ln w="2057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line 116"/>
          <p:cNvCxnSpPr/>
          <p:nvPr/>
        </p:nvCxnSpPr>
        <p:spPr>
          <a:xfrm>
            <a:off x="3291600" y="5804508"/>
            <a:ext cx="0" cy="724152"/>
          </a:xfrm>
          <a:prstGeom prst="line">
            <a:avLst/>
          </a:prstGeom>
          <a:ln w="12344">
            <a:solidFill>
              <a:srgbClr val="27531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历史 | 仍未结束"/>
          <p:cNvSpPr txBox="1"/>
          <p:nvPr/>
        </p:nvSpPr>
        <p:spPr>
          <a:xfrm>
            <a:off x="2688761" y="6588320"/>
            <a:ext cx="1370257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历史 | 仍未结束</a:t>
            </a:r>
          </a:p>
        </p:txBody>
      </p:sp>
      <p:cxnSp>
        <p:nvCxnSpPr>
          <p:cNvPr id="119" name="path 118"/>
          <p:cNvCxnSpPr/>
          <p:nvPr/>
        </p:nvCxnSpPr>
        <p:spPr>
          <a:xfrm>
            <a:off x="4402515" y="6199500"/>
            <a:ext cx="1645800" cy="0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path 119"/>
          <p:cNvCxnSpPr/>
          <p:nvPr/>
        </p:nvCxnSpPr>
        <p:spPr>
          <a:xfrm>
            <a:off x="4402515" y="6199500"/>
            <a:ext cx="1645800" cy="0"/>
          </a:xfrm>
          <a:prstGeom prst="line">
            <a:avLst/>
          </a:prstGeom>
          <a:ln w="3950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arrowhead 120"/>
          <p:cNvSpPr/>
          <p:nvPr/>
        </p:nvSpPr>
        <p:spPr>
          <a:xfrm>
            <a:off x="5850819" y="6097689"/>
            <a:ext cx="197496" cy="197496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12"/>
                </a:moveTo>
                <a:lnTo>
                  <a:pt x="0" y="24"/>
                </a:lnTo>
                <a:lnTo>
                  <a:pt x="6" y="12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circle 121"/>
          <p:cNvSpPr/>
          <p:nvPr/>
        </p:nvSpPr>
        <p:spPr>
          <a:xfrm>
            <a:off x="6138834" y="6002004"/>
            <a:ext cx="394992" cy="394992"/>
          </a:xfrm>
          <a:prstGeom prst="ellipse">
            <a:avLst/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path 122"/>
          <p:cNvSpPr/>
          <p:nvPr/>
        </p:nvSpPr>
        <p:spPr>
          <a:xfrm>
            <a:off x="6336330" y="6073002"/>
            <a:ext cx="106977" cy="172809"/>
          </a:xfrm>
          <a:custGeom>
            <a:avLst/>
            <a:gdLst/>
            <a:ahLst/>
            <a:cxnLst/>
            <a:rect l="l" t="t" r="r" b="b"/>
            <a:pathLst>
              <a:path w="13" h="21">
                <a:moveTo>
                  <a:pt x="0" y="0"/>
                </a:moveTo>
                <a:lnTo>
                  <a:pt x="0" y="15"/>
                </a:lnTo>
                <a:lnTo>
                  <a:pt x="13" y="21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τ"/>
          <p:cNvSpPr txBox="1"/>
          <p:nvPr/>
        </p:nvSpPr>
        <p:spPr>
          <a:xfrm>
            <a:off x="6152849" y="6423740"/>
            <a:ext cx="190038" cy="316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8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τ</a:t>
            </a:r>
          </a:p>
        </p:txBody>
      </p:sp>
      <p:sp>
        <p:nvSpPr>
          <p:cNvPr id="125" name="tool"/>
          <p:cNvSpPr txBox="1"/>
          <p:nvPr/>
        </p:nvSpPr>
        <p:spPr>
          <a:xfrm>
            <a:off x="6252368" y="6565690"/>
            <a:ext cx="357962" cy="22012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5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tool</a:t>
            </a:r>
          </a:p>
        </p:txBody>
      </p:sp>
      <p:cxnSp>
        <p:nvCxnSpPr>
          <p:cNvPr id="126" name="path 125"/>
          <p:cNvCxnSpPr/>
          <p:nvPr/>
        </p:nvCxnSpPr>
        <p:spPr>
          <a:xfrm>
            <a:off x="6583200" y="6199500"/>
            <a:ext cx="4081584" cy="0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path 126"/>
          <p:cNvCxnSpPr/>
          <p:nvPr/>
        </p:nvCxnSpPr>
        <p:spPr>
          <a:xfrm>
            <a:off x="6583200" y="6199500"/>
            <a:ext cx="4081584" cy="0"/>
          </a:xfrm>
          <a:prstGeom prst="line">
            <a:avLst/>
          </a:prstGeom>
          <a:ln w="39502">
            <a:solidFill>
              <a:srgbClr val="215F9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arrowhead 127"/>
          <p:cNvSpPr/>
          <p:nvPr/>
        </p:nvSpPr>
        <p:spPr>
          <a:xfrm>
            <a:off x="10516662" y="6122376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18"/>
                </a:moveTo>
                <a:lnTo>
                  <a:pt x="18" y="9"/>
                </a:lnTo>
                <a:lnTo>
                  <a:pt x="0" y="0"/>
                </a:lnTo>
              </a:path>
            </a:pathLst>
          </a:custGeom>
          <a:noFill/>
          <a:ln w="2314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circle 128"/>
          <p:cNvSpPr/>
          <p:nvPr/>
        </p:nvSpPr>
        <p:spPr>
          <a:xfrm>
            <a:off x="11257272" y="5409516"/>
            <a:ext cx="444366" cy="444366"/>
          </a:xfrm>
          <a:prstGeom prst="ellipse">
            <a:avLst/>
          </a:prstGeom>
          <a:solidFill>
            <a:srgbClr val="84E291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A"/>
          <p:cNvSpPr txBox="1"/>
          <p:nvPr/>
        </p:nvSpPr>
        <p:spPr>
          <a:xfrm>
            <a:off x="11364153" y="5463004"/>
            <a:ext cx="230605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A</a:t>
            </a:r>
          </a:p>
        </p:txBody>
      </p:sp>
      <p:cxnSp>
        <p:nvCxnSpPr>
          <p:cNvPr id="131" name="line 130"/>
          <p:cNvCxnSpPr/>
          <p:nvPr/>
        </p:nvCxnSpPr>
        <p:spPr>
          <a:xfrm>
            <a:off x="11479455" y="5878569"/>
            <a:ext cx="0" cy="238641"/>
          </a:xfrm>
          <a:prstGeom prst="line">
            <a:avLst/>
          </a:prstGeom>
          <a:ln w="12344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line 131"/>
          <p:cNvCxnSpPr/>
          <p:nvPr/>
        </p:nvCxnSpPr>
        <p:spPr>
          <a:xfrm>
            <a:off x="10779990" y="6199500"/>
            <a:ext cx="1398930" cy="0"/>
          </a:xfrm>
          <a:prstGeom prst="line">
            <a:avLst/>
          </a:prstGeom>
          <a:ln w="20574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line 132"/>
          <p:cNvCxnSpPr/>
          <p:nvPr/>
        </p:nvCxnSpPr>
        <p:spPr>
          <a:xfrm>
            <a:off x="10779990" y="6125439"/>
            <a:ext cx="0" cy="148122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line 133"/>
          <p:cNvCxnSpPr/>
          <p:nvPr/>
        </p:nvCxnSpPr>
        <p:spPr>
          <a:xfrm>
            <a:off x="12178920" y="6125439"/>
            <a:ext cx="0" cy="148122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circle 134"/>
          <p:cNvSpPr/>
          <p:nvPr/>
        </p:nvSpPr>
        <p:spPr>
          <a:xfrm>
            <a:off x="11520600" y="6158355"/>
            <a:ext cx="82290" cy="82290"/>
          </a:xfrm>
          <a:prstGeom prst="ellipse">
            <a:avLst/>
          </a:prstGeom>
          <a:solidFill>
            <a:srgbClr val="000000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OOL_END"/>
          <p:cNvSpPr txBox="1"/>
          <p:nvPr/>
        </p:nvSpPr>
        <p:spPr>
          <a:xfrm>
            <a:off x="10963182" y="6522488"/>
            <a:ext cx="1032547" cy="2983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TOOL_END</a:t>
            </a:r>
          </a:p>
        </p:txBody>
      </p:sp>
      <p:sp>
        <p:nvSpPr>
          <p:cNvPr id="137" name="curve 136"/>
          <p:cNvSpPr/>
          <p:nvPr/>
        </p:nvSpPr>
        <p:spPr>
          <a:xfrm>
            <a:off x="12294126" y="4163874"/>
            <a:ext cx="394992" cy="1028625"/>
          </a:xfrm>
          <a:custGeom>
            <a:avLst/>
            <a:gdLst/>
            <a:ahLst/>
            <a:cxnLst/>
            <a:rect l="l" t="t" r="r" b="b"/>
            <a:pathLst>
              <a:path w="48" h="125">
                <a:moveTo>
                  <a:pt x="0" y="0"/>
                </a:moveTo>
                <a:lnTo>
                  <a:pt x="17" y="0"/>
                </a:lnTo>
                <a:cubicBezTo>
                  <a:pt x="22" y="0"/>
                  <a:pt x="26" y="4"/>
                  <a:pt x="26" y="9"/>
                </a:cubicBezTo>
                <a:lnTo>
                  <a:pt x="26" y="118"/>
                </a:lnTo>
                <a:cubicBezTo>
                  <a:pt x="26" y="122"/>
                  <a:pt x="29" y="125"/>
                  <a:pt x="33" y="125"/>
                </a:cubicBezTo>
                <a:lnTo>
                  <a:pt x="48" y="125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curve 137"/>
          <p:cNvSpPr/>
          <p:nvPr/>
        </p:nvSpPr>
        <p:spPr>
          <a:xfrm>
            <a:off x="12294126" y="4163874"/>
            <a:ext cx="394992" cy="1028625"/>
          </a:xfrm>
          <a:custGeom>
            <a:avLst/>
            <a:gdLst/>
            <a:ahLst/>
            <a:cxnLst/>
            <a:rect l="l" t="t" r="r" b="b"/>
            <a:pathLst>
              <a:path w="48" h="125">
                <a:moveTo>
                  <a:pt x="0" y="0"/>
                </a:moveTo>
                <a:lnTo>
                  <a:pt x="17" y="0"/>
                </a:lnTo>
                <a:cubicBezTo>
                  <a:pt x="22" y="0"/>
                  <a:pt x="26" y="4"/>
                  <a:pt x="26" y="9"/>
                </a:cubicBezTo>
                <a:lnTo>
                  <a:pt x="26" y="118"/>
                </a:lnTo>
                <a:cubicBezTo>
                  <a:pt x="26" y="122"/>
                  <a:pt x="29" y="125"/>
                  <a:pt x="33" y="125"/>
                </a:cubicBezTo>
                <a:lnTo>
                  <a:pt x="48" y="125"/>
                </a:lnTo>
              </a:path>
            </a:pathLst>
          </a:custGeom>
          <a:noFill/>
          <a:ln w="3950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arrowhead 138"/>
          <p:cNvSpPr/>
          <p:nvPr/>
        </p:nvSpPr>
        <p:spPr>
          <a:xfrm>
            <a:off x="12590370" y="5143125"/>
            <a:ext cx="98748" cy="98748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0" y="12"/>
                </a:moveTo>
                <a:lnTo>
                  <a:pt x="12" y="6"/>
                </a:lnTo>
                <a:lnTo>
                  <a:pt x="0" y="0"/>
                </a:lnTo>
              </a:path>
            </a:pathLst>
          </a:custGeom>
          <a:noFill/>
          <a:ln w="1543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curve 139"/>
          <p:cNvSpPr/>
          <p:nvPr/>
        </p:nvSpPr>
        <p:spPr>
          <a:xfrm>
            <a:off x="12294126" y="5192499"/>
            <a:ext cx="394992" cy="1003938"/>
          </a:xfrm>
          <a:custGeom>
            <a:avLst/>
            <a:gdLst/>
            <a:ahLst/>
            <a:cxnLst/>
            <a:rect l="l" t="t" r="r" b="b"/>
            <a:pathLst>
              <a:path w="48" h="122">
                <a:moveTo>
                  <a:pt x="0" y="122"/>
                </a:moveTo>
                <a:lnTo>
                  <a:pt x="17" y="122"/>
                </a:lnTo>
                <a:cubicBezTo>
                  <a:pt x="22" y="122"/>
                  <a:pt x="26" y="118"/>
                  <a:pt x="26" y="114"/>
                </a:cubicBezTo>
                <a:lnTo>
                  <a:pt x="26" y="8"/>
                </a:lnTo>
                <a:cubicBezTo>
                  <a:pt x="26" y="4"/>
                  <a:pt x="29" y="0"/>
                  <a:pt x="33" y="0"/>
                </a:cubicBezTo>
                <a:lnTo>
                  <a:pt x="48" y="0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curve 140"/>
          <p:cNvSpPr/>
          <p:nvPr/>
        </p:nvSpPr>
        <p:spPr>
          <a:xfrm>
            <a:off x="12294126" y="5192499"/>
            <a:ext cx="394992" cy="1003938"/>
          </a:xfrm>
          <a:custGeom>
            <a:avLst/>
            <a:gdLst/>
            <a:ahLst/>
            <a:cxnLst/>
            <a:rect l="l" t="t" r="r" b="b"/>
            <a:pathLst>
              <a:path w="48" h="122">
                <a:moveTo>
                  <a:pt x="0" y="122"/>
                </a:moveTo>
                <a:lnTo>
                  <a:pt x="17" y="122"/>
                </a:lnTo>
                <a:cubicBezTo>
                  <a:pt x="22" y="122"/>
                  <a:pt x="26" y="118"/>
                  <a:pt x="26" y="114"/>
                </a:cubicBezTo>
                <a:lnTo>
                  <a:pt x="26" y="8"/>
                </a:lnTo>
                <a:cubicBezTo>
                  <a:pt x="26" y="4"/>
                  <a:pt x="29" y="0"/>
                  <a:pt x="33" y="0"/>
                </a:cubicBezTo>
                <a:lnTo>
                  <a:pt x="48" y="0"/>
                </a:lnTo>
              </a:path>
            </a:pathLst>
          </a:custGeom>
          <a:noFill/>
          <a:ln w="3950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arrowhead 141"/>
          <p:cNvSpPr/>
          <p:nvPr/>
        </p:nvSpPr>
        <p:spPr>
          <a:xfrm>
            <a:off x="12590370" y="5143125"/>
            <a:ext cx="98748" cy="98748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0" y="12"/>
                </a:moveTo>
                <a:lnTo>
                  <a:pt x="12" y="6"/>
                </a:lnTo>
                <a:lnTo>
                  <a:pt x="0" y="0"/>
                </a:lnTo>
              </a:path>
            </a:pathLst>
          </a:custGeom>
          <a:noFill/>
          <a:ln w="1543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circle 142"/>
          <p:cNvSpPr/>
          <p:nvPr/>
        </p:nvSpPr>
        <p:spPr>
          <a:xfrm>
            <a:off x="12705576" y="4981608"/>
            <a:ext cx="427908" cy="427908"/>
          </a:xfrm>
          <a:prstGeom prst="ellipse">
            <a:avLst/>
          </a:prstGeom>
          <a:solidFill>
            <a:srgbClr val="D9D9D9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D3"/>
          <p:cNvSpPr txBox="1"/>
          <p:nvPr/>
        </p:nvSpPr>
        <p:spPr>
          <a:xfrm>
            <a:off x="12757489" y="5043326"/>
            <a:ext cx="324081" cy="2859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D3</a:t>
            </a:r>
          </a:p>
        </p:txBody>
      </p:sp>
      <p:sp>
        <p:nvSpPr>
          <p:cNvPr id="145" name="circle 144"/>
          <p:cNvSpPr/>
          <p:nvPr/>
        </p:nvSpPr>
        <p:spPr>
          <a:xfrm>
            <a:off x="12351729" y="5039211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4"/>
          <p:cNvSpPr txBox="1"/>
          <p:nvPr/>
        </p:nvSpPr>
        <p:spPr>
          <a:xfrm>
            <a:off x="12402871" y="5037154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2"/>
          <p:cNvSpPr txBox="1"/>
          <p:nvPr/>
        </p:nvSpPr>
        <p:spPr>
          <a:xfrm>
            <a:off x="263328" y="1813443"/>
            <a:ext cx="431380" cy="4032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8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D2</a:t>
            </a:r>
          </a:p>
        </p:txBody>
      </p:sp>
      <p:sp>
        <p:nvSpPr>
          <p:cNvPr id="3" name="按工作流状态备份、保留与释放 KV"/>
          <p:cNvSpPr txBox="1"/>
          <p:nvPr/>
        </p:nvSpPr>
        <p:spPr>
          <a:xfrm>
            <a:off x="888732" y="1813443"/>
            <a:ext cx="4056061" cy="4032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8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按工作流状态备份、保留与释放 KV</a:t>
            </a:r>
          </a:p>
        </p:txBody>
      </p:sp>
      <p:sp>
        <p:nvSpPr>
          <p:cNvPr id="4" name="rect 3"/>
          <p:cNvSpPr/>
          <p:nvPr/>
        </p:nvSpPr>
        <p:spPr>
          <a:xfrm>
            <a:off x="1728090" y="2611656"/>
            <a:ext cx="7241520" cy="806442"/>
          </a:xfrm>
          <a:prstGeom prst="roundRect">
            <a:avLst>
              <a:gd name="adj" fmla="val 8163"/>
            </a:avLst>
          </a:prstGeom>
          <a:solidFill>
            <a:srgbClr val="F2F2F2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 4"/>
          <p:cNvSpPr/>
          <p:nvPr/>
        </p:nvSpPr>
        <p:spPr>
          <a:xfrm>
            <a:off x="1728090" y="4208082"/>
            <a:ext cx="7241520" cy="806442"/>
          </a:xfrm>
          <a:prstGeom prst="roundRect">
            <a:avLst>
              <a:gd name="adj" fmla="val 8163"/>
            </a:avLst>
          </a:prstGeom>
          <a:solidFill>
            <a:srgbClr val="FBE3D6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 5"/>
          <p:cNvSpPr/>
          <p:nvPr/>
        </p:nvSpPr>
        <p:spPr>
          <a:xfrm>
            <a:off x="2633280" y="5458890"/>
            <a:ext cx="6336330" cy="814671"/>
          </a:xfrm>
          <a:prstGeom prst="roundRect">
            <a:avLst>
              <a:gd name="adj" fmla="val 8080"/>
            </a:avLst>
          </a:prstGeom>
          <a:solidFill>
            <a:srgbClr val="F2F2F2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 6"/>
          <p:cNvSpPr/>
          <p:nvPr/>
        </p:nvSpPr>
        <p:spPr>
          <a:xfrm>
            <a:off x="9792510" y="2611656"/>
            <a:ext cx="1793922" cy="3925233"/>
          </a:xfrm>
          <a:prstGeom prst="roundRect">
            <a:avLst>
              <a:gd name="adj" fmla="val 3669"/>
            </a:avLst>
          </a:prstGeom>
          <a:solidFill>
            <a:srgbClr val="F2F2F2"/>
          </a:solidFill>
          <a:ln w="1399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ircle 7"/>
          <p:cNvSpPr/>
          <p:nvPr/>
        </p:nvSpPr>
        <p:spPr>
          <a:xfrm>
            <a:off x="469053" y="3335808"/>
            <a:ext cx="460824" cy="460824"/>
          </a:xfrm>
          <a:prstGeom prst="ellipse">
            <a:avLst/>
          </a:prstGeom>
          <a:solidFill>
            <a:srgbClr val="A6CAEC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"/>
          <p:cNvSpPr txBox="1"/>
          <p:nvPr/>
        </p:nvSpPr>
        <p:spPr>
          <a:xfrm>
            <a:off x="581478" y="3397526"/>
            <a:ext cx="235973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0" name="等待中"/>
          <p:cNvSpPr txBox="1"/>
          <p:nvPr/>
        </p:nvSpPr>
        <p:spPr>
          <a:xfrm>
            <a:off x="341504" y="3813090"/>
            <a:ext cx="715923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等待中</a:t>
            </a:r>
          </a:p>
        </p:txBody>
      </p:sp>
      <p:sp>
        <p:nvSpPr>
          <p:cNvPr id="11" name="HBM"/>
          <p:cNvSpPr txBox="1"/>
          <p:nvPr/>
        </p:nvSpPr>
        <p:spPr>
          <a:xfrm>
            <a:off x="1793922" y="2813266"/>
            <a:ext cx="607757" cy="3579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49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HBM</a:t>
            </a:r>
          </a:p>
        </p:txBody>
      </p:sp>
      <p:sp>
        <p:nvSpPr>
          <p:cNvPr id="12" name="Host"/>
          <p:cNvSpPr txBox="1"/>
          <p:nvPr/>
        </p:nvSpPr>
        <p:spPr>
          <a:xfrm>
            <a:off x="1793922" y="4335632"/>
            <a:ext cx="603289" cy="3579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49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Host</a:t>
            </a:r>
          </a:p>
        </p:txBody>
      </p:sp>
      <p:sp>
        <p:nvSpPr>
          <p:cNvPr id="13" name="rect 12"/>
          <p:cNvSpPr/>
          <p:nvPr/>
        </p:nvSpPr>
        <p:spPr>
          <a:xfrm>
            <a:off x="2921295" y="2809152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 13"/>
          <p:cNvSpPr/>
          <p:nvPr/>
        </p:nvSpPr>
        <p:spPr>
          <a:xfrm>
            <a:off x="2937753" y="2825610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0"/>
          <p:cNvSpPr txBox="1"/>
          <p:nvPr/>
        </p:nvSpPr>
        <p:spPr>
          <a:xfrm>
            <a:off x="3013389" y="2847005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16" name="rect 15"/>
          <p:cNvSpPr/>
          <p:nvPr/>
        </p:nvSpPr>
        <p:spPr>
          <a:xfrm>
            <a:off x="2921295" y="4331517"/>
            <a:ext cx="526656" cy="378534"/>
          </a:xfrm>
          <a:prstGeom prst="roundRect">
            <a:avLst>
              <a:gd name="adj" fmla="val 4347"/>
            </a:avLst>
          </a:prstGeom>
          <a:solidFill>
            <a:srgbClr val="FFD57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 16"/>
          <p:cNvSpPr/>
          <p:nvPr/>
        </p:nvSpPr>
        <p:spPr>
          <a:xfrm>
            <a:off x="2937753" y="4347975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0"/>
          <p:cNvSpPr txBox="1"/>
          <p:nvPr/>
        </p:nvSpPr>
        <p:spPr>
          <a:xfrm>
            <a:off x="3013389" y="4369370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19" name="rect 18"/>
          <p:cNvSpPr/>
          <p:nvPr/>
        </p:nvSpPr>
        <p:spPr>
          <a:xfrm>
            <a:off x="3645447" y="2809152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 19"/>
          <p:cNvSpPr/>
          <p:nvPr/>
        </p:nvSpPr>
        <p:spPr>
          <a:xfrm>
            <a:off x="3661905" y="2825610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1"/>
          <p:cNvSpPr txBox="1"/>
          <p:nvPr/>
        </p:nvSpPr>
        <p:spPr>
          <a:xfrm>
            <a:off x="3737541" y="2847005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22" name="rect 21"/>
          <p:cNvSpPr/>
          <p:nvPr/>
        </p:nvSpPr>
        <p:spPr>
          <a:xfrm>
            <a:off x="3645447" y="4331517"/>
            <a:ext cx="526656" cy="378534"/>
          </a:xfrm>
          <a:prstGeom prst="roundRect">
            <a:avLst>
              <a:gd name="adj" fmla="val 4347"/>
            </a:avLst>
          </a:prstGeom>
          <a:solidFill>
            <a:srgbClr val="FFD57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 22"/>
          <p:cNvSpPr/>
          <p:nvPr/>
        </p:nvSpPr>
        <p:spPr>
          <a:xfrm>
            <a:off x="3661905" y="4347975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1"/>
          <p:cNvSpPr txBox="1"/>
          <p:nvPr/>
        </p:nvSpPr>
        <p:spPr>
          <a:xfrm>
            <a:off x="3737541" y="4369370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25" name="rect 24"/>
          <p:cNvSpPr/>
          <p:nvPr/>
        </p:nvSpPr>
        <p:spPr>
          <a:xfrm>
            <a:off x="4369599" y="2809152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 25"/>
          <p:cNvSpPr/>
          <p:nvPr/>
        </p:nvSpPr>
        <p:spPr>
          <a:xfrm>
            <a:off x="4386057" y="2825610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2"/>
          <p:cNvSpPr txBox="1"/>
          <p:nvPr/>
        </p:nvSpPr>
        <p:spPr>
          <a:xfrm>
            <a:off x="4461693" y="2847005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sp>
        <p:nvSpPr>
          <p:cNvPr id="28" name="rect 27"/>
          <p:cNvSpPr/>
          <p:nvPr/>
        </p:nvSpPr>
        <p:spPr>
          <a:xfrm>
            <a:off x="4369599" y="4331517"/>
            <a:ext cx="526656" cy="378534"/>
          </a:xfrm>
          <a:prstGeom prst="roundRect">
            <a:avLst>
              <a:gd name="adj" fmla="val 4347"/>
            </a:avLst>
          </a:prstGeom>
          <a:solidFill>
            <a:srgbClr val="FFD57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 28"/>
          <p:cNvSpPr/>
          <p:nvPr/>
        </p:nvSpPr>
        <p:spPr>
          <a:xfrm>
            <a:off x="4386057" y="4347975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2"/>
          <p:cNvSpPr txBox="1"/>
          <p:nvPr/>
        </p:nvSpPr>
        <p:spPr>
          <a:xfrm>
            <a:off x="4461693" y="4369370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sp>
        <p:nvSpPr>
          <p:cNvPr id="31" name="rect 30"/>
          <p:cNvSpPr/>
          <p:nvPr/>
        </p:nvSpPr>
        <p:spPr>
          <a:xfrm>
            <a:off x="5093751" y="2809152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 31"/>
          <p:cNvSpPr/>
          <p:nvPr/>
        </p:nvSpPr>
        <p:spPr>
          <a:xfrm>
            <a:off x="5110209" y="2825610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3"/>
          <p:cNvSpPr txBox="1"/>
          <p:nvPr/>
        </p:nvSpPr>
        <p:spPr>
          <a:xfrm>
            <a:off x="5185845" y="2847005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sp>
        <p:nvSpPr>
          <p:cNvPr id="34" name="rect 33"/>
          <p:cNvSpPr/>
          <p:nvPr/>
        </p:nvSpPr>
        <p:spPr>
          <a:xfrm>
            <a:off x="5093751" y="4331517"/>
            <a:ext cx="526656" cy="378534"/>
          </a:xfrm>
          <a:prstGeom prst="roundRect">
            <a:avLst>
              <a:gd name="adj" fmla="val 4347"/>
            </a:avLst>
          </a:prstGeom>
          <a:solidFill>
            <a:srgbClr val="FFD57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 34"/>
          <p:cNvSpPr/>
          <p:nvPr/>
        </p:nvSpPr>
        <p:spPr>
          <a:xfrm>
            <a:off x="5110209" y="4347975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3"/>
          <p:cNvSpPr txBox="1"/>
          <p:nvPr/>
        </p:nvSpPr>
        <p:spPr>
          <a:xfrm>
            <a:off x="5185845" y="4369370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sp>
        <p:nvSpPr>
          <p:cNvPr id="37" name="rect 36"/>
          <p:cNvSpPr/>
          <p:nvPr/>
        </p:nvSpPr>
        <p:spPr>
          <a:xfrm>
            <a:off x="5817903" y="2809152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 37"/>
          <p:cNvSpPr/>
          <p:nvPr/>
        </p:nvSpPr>
        <p:spPr>
          <a:xfrm>
            <a:off x="5834361" y="2825610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4"/>
          <p:cNvSpPr txBox="1"/>
          <p:nvPr/>
        </p:nvSpPr>
        <p:spPr>
          <a:xfrm>
            <a:off x="5909997" y="2847005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p4</a:t>
            </a:r>
          </a:p>
        </p:txBody>
      </p:sp>
      <p:sp>
        <p:nvSpPr>
          <p:cNvPr id="40" name="rect 39"/>
          <p:cNvSpPr/>
          <p:nvPr/>
        </p:nvSpPr>
        <p:spPr>
          <a:xfrm>
            <a:off x="5817903" y="4331517"/>
            <a:ext cx="526656" cy="378534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3167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 40"/>
          <p:cNvSpPr/>
          <p:nvPr/>
        </p:nvSpPr>
        <p:spPr>
          <a:xfrm>
            <a:off x="5834361" y="4347975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4"/>
          <p:cNvSpPr txBox="1"/>
          <p:nvPr/>
        </p:nvSpPr>
        <p:spPr>
          <a:xfrm>
            <a:off x="5909997" y="4369370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p4</a:t>
            </a:r>
          </a:p>
        </p:txBody>
      </p:sp>
      <p:cxnSp>
        <p:nvCxnSpPr>
          <p:cNvPr id="43" name="path 42"/>
          <p:cNvCxnSpPr/>
          <p:nvPr/>
        </p:nvCxnSpPr>
        <p:spPr>
          <a:xfrm>
            <a:off x="6081231" y="3237060"/>
            <a:ext cx="0" cy="1036854"/>
          </a:xfrm>
          <a:prstGeom prst="line">
            <a:avLst/>
          </a:prstGeom>
          <a:ln w="8641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path 43"/>
          <p:cNvCxnSpPr/>
          <p:nvPr/>
        </p:nvCxnSpPr>
        <p:spPr>
          <a:xfrm>
            <a:off x="6081231" y="3237060"/>
            <a:ext cx="0" cy="1036854"/>
          </a:xfrm>
          <a:prstGeom prst="line">
            <a:avLst/>
          </a:prstGeom>
          <a:ln w="69951">
            <a:solidFill>
              <a:srgbClr val="3550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head 44"/>
          <p:cNvSpPr/>
          <p:nvPr/>
        </p:nvSpPr>
        <p:spPr>
          <a:xfrm>
            <a:off x="5949567" y="4007523"/>
            <a:ext cx="263328" cy="263328"/>
          </a:xfrm>
          <a:custGeom>
            <a:avLst/>
            <a:gdLst/>
            <a:ahLst/>
            <a:cxnLst/>
            <a:rect l="l" t="t" r="r" b="b"/>
            <a:pathLst>
              <a:path w="32" h="32">
                <a:moveTo>
                  <a:pt x="16" y="32"/>
                </a:moveTo>
                <a:lnTo>
                  <a:pt x="0" y="0"/>
                </a:lnTo>
                <a:lnTo>
                  <a:pt x="32" y="0"/>
                </a:lnTo>
                <a:close/>
              </a:path>
            </a:pathLst>
          </a:custGeom>
          <a:solidFill>
            <a:srgbClr val="3550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 45"/>
          <p:cNvSpPr/>
          <p:nvPr/>
        </p:nvSpPr>
        <p:spPr>
          <a:xfrm>
            <a:off x="6542055" y="2809152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 46"/>
          <p:cNvSpPr/>
          <p:nvPr/>
        </p:nvSpPr>
        <p:spPr>
          <a:xfrm>
            <a:off x="6558513" y="2825610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p5"/>
          <p:cNvSpPr txBox="1"/>
          <p:nvPr/>
        </p:nvSpPr>
        <p:spPr>
          <a:xfrm>
            <a:off x="6634149" y="2847005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sp>
        <p:nvSpPr>
          <p:cNvPr id="49" name="rect 48"/>
          <p:cNvSpPr/>
          <p:nvPr/>
        </p:nvSpPr>
        <p:spPr>
          <a:xfrm>
            <a:off x="6542055" y="4331517"/>
            <a:ext cx="526656" cy="378534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3167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 49"/>
          <p:cNvSpPr/>
          <p:nvPr/>
        </p:nvSpPr>
        <p:spPr>
          <a:xfrm>
            <a:off x="6558513" y="4347975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5"/>
          <p:cNvSpPr txBox="1"/>
          <p:nvPr/>
        </p:nvSpPr>
        <p:spPr>
          <a:xfrm>
            <a:off x="6634149" y="4369370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cxnSp>
        <p:nvCxnSpPr>
          <p:cNvPr id="52" name="path 51"/>
          <p:cNvCxnSpPr/>
          <p:nvPr/>
        </p:nvCxnSpPr>
        <p:spPr>
          <a:xfrm>
            <a:off x="6805383" y="3237060"/>
            <a:ext cx="0" cy="1036854"/>
          </a:xfrm>
          <a:prstGeom prst="line">
            <a:avLst/>
          </a:prstGeom>
          <a:ln w="8641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path 52"/>
          <p:cNvCxnSpPr/>
          <p:nvPr/>
        </p:nvCxnSpPr>
        <p:spPr>
          <a:xfrm>
            <a:off x="6805383" y="3237060"/>
            <a:ext cx="0" cy="1036854"/>
          </a:xfrm>
          <a:prstGeom prst="line">
            <a:avLst/>
          </a:prstGeom>
          <a:ln w="69951">
            <a:solidFill>
              <a:srgbClr val="3550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arrowhead 53"/>
          <p:cNvSpPr/>
          <p:nvPr/>
        </p:nvSpPr>
        <p:spPr>
          <a:xfrm>
            <a:off x="6673719" y="4007523"/>
            <a:ext cx="263328" cy="263328"/>
          </a:xfrm>
          <a:custGeom>
            <a:avLst/>
            <a:gdLst/>
            <a:ahLst/>
            <a:cxnLst/>
            <a:rect l="l" t="t" r="r" b="b"/>
            <a:pathLst>
              <a:path w="32" h="32">
                <a:moveTo>
                  <a:pt x="16" y="32"/>
                </a:moveTo>
                <a:lnTo>
                  <a:pt x="0" y="0"/>
                </a:lnTo>
                <a:lnTo>
                  <a:pt x="32" y="0"/>
                </a:lnTo>
                <a:close/>
              </a:path>
            </a:pathLst>
          </a:custGeom>
          <a:solidFill>
            <a:srgbClr val="3550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ath 54"/>
          <p:cNvSpPr/>
          <p:nvPr/>
        </p:nvSpPr>
        <p:spPr>
          <a:xfrm>
            <a:off x="3044730" y="3275142"/>
            <a:ext cx="65832" cy="49374"/>
          </a:xfrm>
          <a:custGeom>
            <a:avLst/>
            <a:gdLst/>
            <a:ahLst/>
            <a:cxnLst/>
            <a:rect l="l" t="t" r="r" b="b"/>
            <a:pathLst>
              <a:path w="8" h="6">
                <a:moveTo>
                  <a:pt x="0" y="6"/>
                </a:moveTo>
                <a:lnTo>
                  <a:pt x="0" y="0"/>
                </a:lnTo>
                <a:lnTo>
                  <a:pt x="8" y="0"/>
                </a:lnTo>
                <a:lnTo>
                  <a:pt x="8" y="6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 55"/>
          <p:cNvSpPr/>
          <p:nvPr/>
        </p:nvSpPr>
        <p:spPr>
          <a:xfrm>
            <a:off x="3020043" y="3325933"/>
            <a:ext cx="118498" cy="9874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ircle 56"/>
          <p:cNvSpPr/>
          <p:nvPr/>
        </p:nvSpPr>
        <p:spPr>
          <a:xfrm>
            <a:off x="3069417" y="3355558"/>
            <a:ext cx="19750" cy="19750"/>
          </a:xfrm>
          <a:prstGeom prst="ellipse">
            <a:avLst/>
          </a:prstGeom>
          <a:solidFill>
            <a:srgbClr val="000000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共享：保留"/>
          <p:cNvSpPr txBox="1"/>
          <p:nvPr/>
        </p:nvSpPr>
        <p:spPr>
          <a:xfrm>
            <a:off x="2863692" y="3485987"/>
            <a:ext cx="1003938" cy="2983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共享：保留</a:t>
            </a:r>
          </a:p>
        </p:txBody>
      </p:sp>
      <p:sp>
        <p:nvSpPr>
          <p:cNvPr id="59" name="path 58"/>
          <p:cNvSpPr/>
          <p:nvPr/>
        </p:nvSpPr>
        <p:spPr>
          <a:xfrm>
            <a:off x="4369599" y="2674425"/>
            <a:ext cx="1250808" cy="57603"/>
          </a:xfrm>
          <a:custGeom>
            <a:avLst/>
            <a:gdLst/>
            <a:ahLst/>
            <a:cxnLst/>
            <a:rect l="l" t="t" r="r" b="b"/>
            <a:pathLst>
              <a:path w="152" h="7">
                <a:moveTo>
                  <a:pt x="0" y="7"/>
                </a:moveTo>
                <a:lnTo>
                  <a:pt x="0" y="0"/>
                </a:lnTo>
                <a:lnTo>
                  <a:pt x="152" y="0"/>
                </a:lnTo>
                <a:lnTo>
                  <a:pt x="152" y="7"/>
                </a:lnTo>
              </a:path>
            </a:pathLst>
          </a:custGeom>
          <a:noFill/>
          <a:ln w="13167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urve 59"/>
          <p:cNvSpPr/>
          <p:nvPr/>
        </p:nvSpPr>
        <p:spPr>
          <a:xfrm>
            <a:off x="4995003" y="2666196"/>
            <a:ext cx="5003232" cy="320931"/>
          </a:xfrm>
          <a:custGeom>
            <a:avLst/>
            <a:gdLst/>
            <a:ahLst/>
            <a:cxnLst/>
            <a:rect l="l" t="t" r="r" b="b"/>
            <a:pathLst>
              <a:path w="608" h="39">
                <a:moveTo>
                  <a:pt x="0" y="0"/>
                </a:moveTo>
                <a:cubicBezTo>
                  <a:pt x="243" y="0"/>
                  <a:pt x="483" y="39"/>
                  <a:pt x="608" y="39"/>
                </a:cubicBezTo>
              </a:path>
            </a:pathLst>
          </a:custGeom>
          <a:noFill/>
          <a:ln w="65836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urve 60"/>
          <p:cNvSpPr/>
          <p:nvPr/>
        </p:nvSpPr>
        <p:spPr>
          <a:xfrm>
            <a:off x="4995003" y="2666196"/>
            <a:ext cx="5003232" cy="320931"/>
          </a:xfrm>
          <a:custGeom>
            <a:avLst/>
            <a:gdLst/>
            <a:ahLst/>
            <a:cxnLst/>
            <a:rect l="l" t="t" r="r" b="b"/>
            <a:pathLst>
              <a:path w="608" h="39">
                <a:moveTo>
                  <a:pt x="0" y="0"/>
                </a:moveTo>
                <a:cubicBezTo>
                  <a:pt x="243" y="0"/>
                  <a:pt x="483" y="39"/>
                  <a:pt x="608" y="39"/>
                </a:cubicBezTo>
              </a:path>
            </a:pathLst>
          </a:custGeom>
          <a:noFill/>
          <a:ln w="49377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arrowhead 61"/>
          <p:cNvSpPr/>
          <p:nvPr/>
        </p:nvSpPr>
        <p:spPr>
          <a:xfrm>
            <a:off x="9800739" y="2888379"/>
            <a:ext cx="197496" cy="197496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12"/>
                </a:moveTo>
                <a:lnTo>
                  <a:pt x="0" y="24"/>
                </a:lnTo>
                <a:lnTo>
                  <a:pt x="6" y="12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ircle 62"/>
          <p:cNvSpPr/>
          <p:nvPr/>
        </p:nvSpPr>
        <p:spPr>
          <a:xfrm>
            <a:off x="7784634" y="2693946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2"/>
          <p:cNvSpPr txBox="1"/>
          <p:nvPr/>
        </p:nvSpPr>
        <p:spPr>
          <a:xfrm>
            <a:off x="7835776" y="2691889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2</a:t>
            </a:r>
          </a:p>
        </p:txBody>
      </p:sp>
      <p:sp>
        <p:nvSpPr>
          <p:cNvPr id="65" name="冷页且已备份"/>
          <p:cNvSpPr txBox="1"/>
          <p:nvPr/>
        </p:nvSpPr>
        <p:spPr>
          <a:xfrm>
            <a:off x="8171397" y="2257809"/>
            <a:ext cx="1283724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冷页且已备份</a:t>
            </a:r>
          </a:p>
        </p:txBody>
      </p:sp>
      <p:sp>
        <p:nvSpPr>
          <p:cNvPr id="66" name="rect 65"/>
          <p:cNvSpPr/>
          <p:nvPr/>
        </p:nvSpPr>
        <p:spPr>
          <a:xfrm>
            <a:off x="10129899" y="2809152"/>
            <a:ext cx="370305" cy="378534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 66"/>
          <p:cNvSpPr/>
          <p:nvPr/>
        </p:nvSpPr>
        <p:spPr>
          <a:xfrm>
            <a:off x="10640097" y="2809152"/>
            <a:ext cx="370305" cy="378534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+ 可用容量"/>
          <p:cNvSpPr txBox="1"/>
          <p:nvPr/>
        </p:nvSpPr>
        <p:spPr>
          <a:xfrm>
            <a:off x="10118809" y="3294663"/>
            <a:ext cx="1042576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+ 可用容量</a:t>
            </a:r>
          </a:p>
        </p:txBody>
      </p:sp>
      <p:sp>
        <p:nvSpPr>
          <p:cNvPr id="69" name="仅传增量"/>
          <p:cNvSpPr txBox="1"/>
          <p:nvPr/>
        </p:nvSpPr>
        <p:spPr>
          <a:xfrm>
            <a:off x="4344912" y="3664968"/>
            <a:ext cx="888732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仅传增量</a:t>
            </a:r>
          </a:p>
        </p:txBody>
      </p:sp>
      <p:sp>
        <p:nvSpPr>
          <p:cNvPr id="70" name="D2H"/>
          <p:cNvSpPr txBox="1"/>
          <p:nvPr/>
        </p:nvSpPr>
        <p:spPr>
          <a:xfrm>
            <a:off x="4536124" y="3944754"/>
            <a:ext cx="522767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D2H</a:t>
            </a:r>
          </a:p>
        </p:txBody>
      </p:sp>
      <p:sp>
        <p:nvSpPr>
          <p:cNvPr id="71" name="circle 70"/>
          <p:cNvSpPr/>
          <p:nvPr/>
        </p:nvSpPr>
        <p:spPr>
          <a:xfrm>
            <a:off x="6649032" y="3656739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1"/>
          <p:cNvSpPr txBox="1"/>
          <p:nvPr/>
        </p:nvSpPr>
        <p:spPr>
          <a:xfrm>
            <a:off x="6700174" y="3654682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1</a:t>
            </a:r>
          </a:p>
        </p:txBody>
      </p:sp>
      <p:sp>
        <p:nvSpPr>
          <p:cNvPr id="73" name="path 72"/>
          <p:cNvSpPr/>
          <p:nvPr/>
        </p:nvSpPr>
        <p:spPr>
          <a:xfrm>
            <a:off x="2921295" y="4904484"/>
            <a:ext cx="4147416" cy="57603"/>
          </a:xfrm>
          <a:custGeom>
            <a:avLst/>
            <a:gdLst/>
            <a:ahLst/>
            <a:cxnLst/>
            <a:rect l="l" t="t" r="r" b="b"/>
            <a:pathLst>
              <a:path w="504" h="7">
                <a:moveTo>
                  <a:pt x="0" y="7"/>
                </a:moveTo>
                <a:lnTo>
                  <a:pt x="0" y="0"/>
                </a:lnTo>
                <a:lnTo>
                  <a:pt x="504" y="0"/>
                </a:lnTo>
                <a:lnTo>
                  <a:pt x="504" y="7"/>
                </a:lnTo>
              </a:path>
            </a:pathLst>
          </a:custGeom>
          <a:noFill/>
          <a:ln w="13167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c"/>
          <p:cNvSpPr txBox="1"/>
          <p:nvPr/>
        </p:nvSpPr>
        <p:spPr>
          <a:xfrm>
            <a:off x="4428584" y="5121501"/>
            <a:ext cx="201032" cy="2900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14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75" name="*"/>
          <p:cNvSpPr txBox="1"/>
          <p:nvPr/>
        </p:nvSpPr>
        <p:spPr>
          <a:xfrm>
            <a:off x="4539097" y="5071633"/>
            <a:ext cx="173838" cy="2016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9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76" name=" : stable FULL"/>
          <p:cNvSpPr txBox="1"/>
          <p:nvPr/>
        </p:nvSpPr>
        <p:spPr>
          <a:xfrm>
            <a:off x="4622416" y="5121501"/>
            <a:ext cx="1449204" cy="2900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14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 : stable FULL</a:t>
            </a:r>
          </a:p>
        </p:txBody>
      </p:sp>
      <p:sp>
        <p:nvSpPr>
          <p:cNvPr id="77" name="polygon 76"/>
          <p:cNvSpPr/>
          <p:nvPr/>
        </p:nvSpPr>
        <p:spPr>
          <a:xfrm>
            <a:off x="7751718" y="4320225"/>
            <a:ext cx="485511" cy="370305"/>
          </a:xfrm>
          <a:custGeom>
            <a:avLst/>
            <a:gdLst/>
            <a:ahLst/>
            <a:cxnLst/>
            <a:rect l="l" t="t" r="r" b="b"/>
            <a:pathLst>
              <a:path w="59" h="45">
                <a:moveTo>
                  <a:pt x="9" y="0"/>
                </a:moveTo>
                <a:lnTo>
                  <a:pt x="50" y="0"/>
                </a:lnTo>
                <a:lnTo>
                  <a:pt x="59" y="22"/>
                </a:lnTo>
                <a:lnTo>
                  <a:pt x="50" y="45"/>
                </a:lnTo>
                <a:lnTo>
                  <a:pt x="9" y="45"/>
                </a:lnTo>
                <a:lnTo>
                  <a:pt x="0" y="22"/>
                </a:lnTo>
                <a:close/>
              </a:path>
            </a:pathLst>
          </a:custGeom>
          <a:solidFill>
            <a:srgbClr val="FFD579"/>
          </a:solidFill>
          <a:ln w="1234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S"/>
          <p:cNvSpPr txBox="1"/>
          <p:nvPr/>
        </p:nvSpPr>
        <p:spPr>
          <a:xfrm>
            <a:off x="7882578" y="4333574"/>
            <a:ext cx="225847" cy="329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3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S</a:t>
            </a:r>
          </a:p>
        </p:txBody>
      </p:sp>
      <p:sp>
        <p:nvSpPr>
          <p:cNvPr id="79" name="rect 78"/>
          <p:cNvSpPr/>
          <p:nvPr/>
        </p:nvSpPr>
        <p:spPr>
          <a:xfrm>
            <a:off x="7838122" y="4366490"/>
            <a:ext cx="314759" cy="30859"/>
          </a:xfrm>
          <a:prstGeom prst="roundRect">
            <a:avLst>
              <a:gd name="adj" fmla="val 26666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s"/>
          <p:cNvSpPr txBox="1"/>
          <p:nvPr/>
        </p:nvSpPr>
        <p:spPr>
          <a:xfrm>
            <a:off x="7838765" y="5113272"/>
            <a:ext cx="191614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81" name="("/>
          <p:cNvSpPr txBox="1"/>
          <p:nvPr/>
        </p:nvSpPr>
        <p:spPr>
          <a:xfrm>
            <a:off x="7931631" y="5113272"/>
            <a:ext cx="178209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(</a:t>
            </a:r>
          </a:p>
        </p:txBody>
      </p:sp>
      <p:sp>
        <p:nvSpPr>
          <p:cNvPr id="82" name="c"/>
          <p:cNvSpPr txBox="1"/>
          <p:nvPr/>
        </p:nvSpPr>
        <p:spPr>
          <a:xfrm>
            <a:off x="8011092" y="5113272"/>
            <a:ext cx="204664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83" name="*"/>
          <p:cNvSpPr txBox="1"/>
          <p:nvPr/>
        </p:nvSpPr>
        <p:spPr>
          <a:xfrm>
            <a:off x="8125237" y="5065297"/>
            <a:ext cx="175895" cy="2057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1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84" name=")"/>
          <p:cNvSpPr txBox="1"/>
          <p:nvPr/>
        </p:nvSpPr>
        <p:spPr>
          <a:xfrm>
            <a:off x="8210613" y="5113272"/>
            <a:ext cx="178209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)</a:t>
            </a:r>
          </a:p>
        </p:txBody>
      </p:sp>
      <p:sp>
        <p:nvSpPr>
          <p:cNvPr id="85" name="需要时匹配"/>
          <p:cNvSpPr txBox="1"/>
          <p:nvPr/>
        </p:nvSpPr>
        <p:spPr>
          <a:xfrm>
            <a:off x="7685886" y="3798689"/>
            <a:ext cx="1045083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需要时匹配</a:t>
            </a:r>
          </a:p>
        </p:txBody>
      </p:sp>
      <p:sp>
        <p:nvSpPr>
          <p:cNvPr id="86" name="circle 85"/>
          <p:cNvSpPr/>
          <p:nvPr/>
        </p:nvSpPr>
        <p:spPr>
          <a:xfrm>
            <a:off x="485511" y="5623470"/>
            <a:ext cx="444366" cy="444366"/>
          </a:xfrm>
          <a:prstGeom prst="ellipse">
            <a:avLst/>
          </a:prstGeom>
          <a:solidFill>
            <a:srgbClr val="84E291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1"/>
          <p:cNvSpPr txBox="1"/>
          <p:nvPr/>
        </p:nvSpPr>
        <p:spPr>
          <a:xfrm>
            <a:off x="530160" y="5676958"/>
            <a:ext cx="35506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C1</a:t>
            </a:r>
          </a:p>
        </p:txBody>
      </p:sp>
      <p:sp>
        <p:nvSpPr>
          <p:cNvPr id="88" name="path 87"/>
          <p:cNvSpPr/>
          <p:nvPr/>
        </p:nvSpPr>
        <p:spPr>
          <a:xfrm>
            <a:off x="979251" y="5571033"/>
            <a:ext cx="156351" cy="156351"/>
          </a:xfrm>
          <a:custGeom>
            <a:avLst/>
            <a:gdLst/>
            <a:ahLst/>
            <a:cxnLst/>
            <a:rect l="l" t="t" r="r" b="b"/>
            <a:pathLst>
              <a:path w="19" h="19">
                <a:moveTo>
                  <a:pt x="0" y="10"/>
                </a:moveTo>
                <a:lnTo>
                  <a:pt x="7" y="19"/>
                </a:lnTo>
                <a:lnTo>
                  <a:pt x="19" y="0"/>
                </a:lnTo>
              </a:path>
            </a:pathLst>
          </a:custGeom>
          <a:noFill/>
          <a:ln w="2304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TURN"/>
          <p:cNvSpPr txBox="1"/>
          <p:nvPr/>
        </p:nvSpPr>
        <p:spPr>
          <a:xfrm>
            <a:off x="1110915" y="5681073"/>
            <a:ext cx="942446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RETURN</a:t>
            </a:r>
          </a:p>
        </p:txBody>
      </p:sp>
      <p:cxnSp>
        <p:nvCxnSpPr>
          <p:cNvPr id="90" name="path 89"/>
          <p:cNvCxnSpPr/>
          <p:nvPr/>
        </p:nvCxnSpPr>
        <p:spPr>
          <a:xfrm>
            <a:off x="2139540" y="5845653"/>
            <a:ext cx="658320" cy="0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path 90"/>
          <p:cNvCxnSpPr/>
          <p:nvPr/>
        </p:nvCxnSpPr>
        <p:spPr>
          <a:xfrm>
            <a:off x="2139540" y="5845653"/>
            <a:ext cx="658320" cy="0"/>
          </a:xfrm>
          <a:prstGeom prst="line">
            <a:avLst/>
          </a:prstGeom>
          <a:ln w="39502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arrowhead 91"/>
          <p:cNvSpPr/>
          <p:nvPr/>
        </p:nvSpPr>
        <p:spPr>
          <a:xfrm>
            <a:off x="2649738" y="5768529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 92"/>
          <p:cNvSpPr/>
          <p:nvPr/>
        </p:nvSpPr>
        <p:spPr>
          <a:xfrm>
            <a:off x="2921295" y="5656386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 93"/>
          <p:cNvSpPr/>
          <p:nvPr/>
        </p:nvSpPr>
        <p:spPr>
          <a:xfrm>
            <a:off x="2937753" y="5672844"/>
            <a:ext cx="493740" cy="41145"/>
          </a:xfrm>
          <a:prstGeom prst="roundRect">
            <a:avLst>
              <a:gd name="adj" fmla="val 20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p0"/>
          <p:cNvSpPr txBox="1"/>
          <p:nvPr/>
        </p:nvSpPr>
        <p:spPr>
          <a:xfrm>
            <a:off x="3013389" y="5694239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96" name="rect 95"/>
          <p:cNvSpPr/>
          <p:nvPr/>
        </p:nvSpPr>
        <p:spPr>
          <a:xfrm>
            <a:off x="3645447" y="5656386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 96"/>
          <p:cNvSpPr/>
          <p:nvPr/>
        </p:nvSpPr>
        <p:spPr>
          <a:xfrm>
            <a:off x="3661905" y="5672844"/>
            <a:ext cx="493740" cy="41145"/>
          </a:xfrm>
          <a:prstGeom prst="roundRect">
            <a:avLst>
              <a:gd name="adj" fmla="val 20000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p1"/>
          <p:cNvSpPr txBox="1"/>
          <p:nvPr/>
        </p:nvSpPr>
        <p:spPr>
          <a:xfrm>
            <a:off x="3737541" y="5694239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99" name="rect 98"/>
          <p:cNvSpPr/>
          <p:nvPr/>
        </p:nvSpPr>
        <p:spPr>
          <a:xfrm>
            <a:off x="4369599" y="5656386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 99"/>
          <p:cNvSpPr/>
          <p:nvPr/>
        </p:nvSpPr>
        <p:spPr>
          <a:xfrm>
            <a:off x="4386057" y="5672844"/>
            <a:ext cx="493740" cy="41145"/>
          </a:xfrm>
          <a:prstGeom prst="roundRect">
            <a:avLst>
              <a:gd name="adj" fmla="val 20000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p2"/>
          <p:cNvSpPr txBox="1"/>
          <p:nvPr/>
        </p:nvSpPr>
        <p:spPr>
          <a:xfrm>
            <a:off x="4461693" y="5694239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sp>
        <p:nvSpPr>
          <p:cNvPr id="102" name="rect 101"/>
          <p:cNvSpPr/>
          <p:nvPr/>
        </p:nvSpPr>
        <p:spPr>
          <a:xfrm>
            <a:off x="5093751" y="5656386"/>
            <a:ext cx="526656" cy="378534"/>
          </a:xfrm>
          <a:prstGeom prst="roundRect">
            <a:avLst>
              <a:gd name="adj" fmla="val 4347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 102"/>
          <p:cNvSpPr/>
          <p:nvPr/>
        </p:nvSpPr>
        <p:spPr>
          <a:xfrm>
            <a:off x="5110209" y="5672844"/>
            <a:ext cx="493740" cy="41145"/>
          </a:xfrm>
          <a:prstGeom prst="roundRect">
            <a:avLst>
              <a:gd name="adj" fmla="val 20000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p3"/>
          <p:cNvSpPr txBox="1"/>
          <p:nvPr/>
        </p:nvSpPr>
        <p:spPr>
          <a:xfrm>
            <a:off x="5185845" y="5694239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sp>
        <p:nvSpPr>
          <p:cNvPr id="105" name="path 104"/>
          <p:cNvSpPr/>
          <p:nvPr/>
        </p:nvSpPr>
        <p:spPr>
          <a:xfrm>
            <a:off x="3094104" y="6130605"/>
            <a:ext cx="65832" cy="49374"/>
          </a:xfrm>
          <a:custGeom>
            <a:avLst/>
            <a:gdLst/>
            <a:ahLst/>
            <a:cxnLst/>
            <a:rect l="l" t="t" r="r" b="b"/>
            <a:pathLst>
              <a:path w="8" h="6">
                <a:moveTo>
                  <a:pt x="0" y="6"/>
                </a:moveTo>
                <a:lnTo>
                  <a:pt x="0" y="0"/>
                </a:lnTo>
                <a:lnTo>
                  <a:pt x="8" y="0"/>
                </a:lnTo>
                <a:lnTo>
                  <a:pt x="8" y="6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 105"/>
          <p:cNvSpPr/>
          <p:nvPr/>
        </p:nvSpPr>
        <p:spPr>
          <a:xfrm>
            <a:off x="3069417" y="6181396"/>
            <a:ext cx="118498" cy="9874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circle 106"/>
          <p:cNvSpPr/>
          <p:nvPr/>
        </p:nvSpPr>
        <p:spPr>
          <a:xfrm>
            <a:off x="3118791" y="6211021"/>
            <a:ext cx="19750" cy="19750"/>
          </a:xfrm>
          <a:prstGeom prst="ellipse">
            <a:avLst/>
          </a:prstGeom>
          <a:solidFill>
            <a:srgbClr val="000000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path 107"/>
          <p:cNvSpPr/>
          <p:nvPr/>
        </p:nvSpPr>
        <p:spPr>
          <a:xfrm>
            <a:off x="3645447" y="6171750"/>
            <a:ext cx="1974960" cy="57603"/>
          </a:xfrm>
          <a:custGeom>
            <a:avLst/>
            <a:gdLst/>
            <a:ahLst/>
            <a:cxnLst/>
            <a:rect l="l" t="t" r="r" b="b"/>
            <a:pathLst>
              <a:path w="240" h="7">
                <a:moveTo>
                  <a:pt x="0" y="7"/>
                </a:moveTo>
                <a:lnTo>
                  <a:pt x="0" y="0"/>
                </a:lnTo>
                <a:lnTo>
                  <a:pt x="240" y="0"/>
                </a:lnTo>
                <a:lnTo>
                  <a:pt x="240" y="7"/>
                </a:lnTo>
              </a:path>
            </a:pathLst>
          </a:custGeom>
          <a:noFill/>
          <a:ln w="13167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无用私有后缀"/>
          <p:cNvSpPr txBox="1"/>
          <p:nvPr/>
        </p:nvSpPr>
        <p:spPr>
          <a:xfrm>
            <a:off x="4015752" y="6248874"/>
            <a:ext cx="1283724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无用私有后缀</a:t>
            </a:r>
          </a:p>
        </p:txBody>
      </p:sp>
      <p:cxnSp>
        <p:nvCxnSpPr>
          <p:cNvPr id="110" name="path 109"/>
          <p:cNvCxnSpPr/>
          <p:nvPr/>
        </p:nvCxnSpPr>
        <p:spPr>
          <a:xfrm>
            <a:off x="5760300" y="5845653"/>
            <a:ext cx="4180332" cy="0"/>
          </a:xfrm>
          <a:prstGeom prst="line">
            <a:avLst/>
          </a:prstGeom>
          <a:ln w="65836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path 110"/>
          <p:cNvCxnSpPr/>
          <p:nvPr/>
        </p:nvCxnSpPr>
        <p:spPr>
          <a:xfrm>
            <a:off x="5760300" y="5845653"/>
            <a:ext cx="4180332" cy="0"/>
          </a:xfrm>
          <a:prstGeom prst="line">
            <a:avLst/>
          </a:prstGeom>
          <a:ln w="49377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arrowhead 111"/>
          <p:cNvSpPr/>
          <p:nvPr/>
        </p:nvSpPr>
        <p:spPr>
          <a:xfrm>
            <a:off x="9743136" y="5743842"/>
            <a:ext cx="197496" cy="197496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12"/>
                </a:moveTo>
                <a:lnTo>
                  <a:pt x="0" y="24"/>
                </a:lnTo>
                <a:lnTo>
                  <a:pt x="6" y="12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circle 112"/>
          <p:cNvSpPr/>
          <p:nvPr/>
        </p:nvSpPr>
        <p:spPr>
          <a:xfrm>
            <a:off x="7784634" y="5689302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3"/>
          <p:cNvSpPr txBox="1"/>
          <p:nvPr/>
        </p:nvSpPr>
        <p:spPr>
          <a:xfrm>
            <a:off x="7835776" y="5687245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3</a:t>
            </a:r>
          </a:p>
        </p:txBody>
      </p:sp>
      <p:sp>
        <p:nvSpPr>
          <p:cNvPr id="115" name="直接释放，无须 D2H"/>
          <p:cNvSpPr txBox="1"/>
          <p:nvPr/>
        </p:nvSpPr>
        <p:spPr>
          <a:xfrm>
            <a:off x="6843731" y="5886798"/>
            <a:ext cx="1914721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直接释放，无须 D2H</a:t>
            </a:r>
          </a:p>
        </p:txBody>
      </p:sp>
      <p:sp>
        <p:nvSpPr>
          <p:cNvPr id="116" name="rect 115"/>
          <p:cNvSpPr/>
          <p:nvPr/>
        </p:nvSpPr>
        <p:spPr>
          <a:xfrm>
            <a:off x="10129899" y="5656386"/>
            <a:ext cx="337389" cy="378534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 116"/>
          <p:cNvSpPr/>
          <p:nvPr/>
        </p:nvSpPr>
        <p:spPr>
          <a:xfrm>
            <a:off x="10582494" y="5656386"/>
            <a:ext cx="337389" cy="378534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 117"/>
          <p:cNvSpPr/>
          <p:nvPr/>
        </p:nvSpPr>
        <p:spPr>
          <a:xfrm>
            <a:off x="11035089" y="5656386"/>
            <a:ext cx="337389" cy="378534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+ 可用容量"/>
          <p:cNvSpPr txBox="1"/>
          <p:nvPr/>
        </p:nvSpPr>
        <p:spPr>
          <a:xfrm>
            <a:off x="10209328" y="6125439"/>
            <a:ext cx="1042576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+ 可用容量</a:t>
            </a:r>
          </a:p>
        </p:txBody>
      </p:sp>
      <p:sp>
        <p:nvSpPr>
          <p:cNvPr id="120" name="circle 119"/>
          <p:cNvSpPr/>
          <p:nvPr/>
        </p:nvSpPr>
        <p:spPr>
          <a:xfrm>
            <a:off x="501969" y="6462828"/>
            <a:ext cx="411450" cy="411450"/>
          </a:xfrm>
          <a:prstGeom prst="ellipse">
            <a:avLst/>
          </a:prstGeom>
          <a:solidFill>
            <a:srgbClr val="F6C6AD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C2"/>
          <p:cNvSpPr txBox="1"/>
          <p:nvPr/>
        </p:nvSpPr>
        <p:spPr>
          <a:xfrm>
            <a:off x="530160" y="6499858"/>
            <a:ext cx="35506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sp>
        <p:nvSpPr>
          <p:cNvPr id="122" name="path 121"/>
          <p:cNvSpPr/>
          <p:nvPr/>
        </p:nvSpPr>
        <p:spPr>
          <a:xfrm>
            <a:off x="1119144" y="6533826"/>
            <a:ext cx="82290" cy="57603"/>
          </a:xfrm>
          <a:custGeom>
            <a:avLst/>
            <a:gdLst/>
            <a:ahLst/>
            <a:cxnLst/>
            <a:rect l="l" t="t" r="r" b="b"/>
            <a:pathLst>
              <a:path w="10" h="7">
                <a:moveTo>
                  <a:pt x="0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 122"/>
          <p:cNvSpPr/>
          <p:nvPr/>
        </p:nvSpPr>
        <p:spPr>
          <a:xfrm>
            <a:off x="1094457" y="6595315"/>
            <a:ext cx="138247" cy="115206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circle 123"/>
          <p:cNvSpPr/>
          <p:nvPr/>
        </p:nvSpPr>
        <p:spPr>
          <a:xfrm>
            <a:off x="1152060" y="6629877"/>
            <a:ext cx="23041" cy="23041"/>
          </a:xfrm>
          <a:prstGeom prst="ellipse">
            <a:avLst/>
          </a:prstGeom>
          <a:solidFill>
            <a:srgbClr val="000000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执行中：保留活跃 KV"/>
          <p:cNvSpPr txBox="1"/>
          <p:nvPr/>
        </p:nvSpPr>
        <p:spPr>
          <a:xfrm>
            <a:off x="1481220" y="6503973"/>
            <a:ext cx="203892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执行中：保留活跃 KV</a:t>
            </a:r>
          </a:p>
        </p:txBody>
      </p:sp>
      <p:sp>
        <p:nvSpPr>
          <p:cNvPr id="126" name="path 125"/>
          <p:cNvSpPr/>
          <p:nvPr/>
        </p:nvSpPr>
        <p:spPr>
          <a:xfrm>
            <a:off x="7068711" y="4525950"/>
            <a:ext cx="1448304" cy="378534"/>
          </a:xfrm>
          <a:custGeom>
            <a:avLst/>
            <a:gdLst/>
            <a:ahLst/>
            <a:cxnLst/>
            <a:rect l="l" t="t" r="r" b="b"/>
            <a:pathLst>
              <a:path w="176" h="46">
                <a:moveTo>
                  <a:pt x="0" y="46"/>
                </a:moveTo>
                <a:lnTo>
                  <a:pt x="176" y="46"/>
                </a:lnTo>
                <a:lnTo>
                  <a:pt x="176" y="0"/>
                </a:lnTo>
              </a:path>
            </a:pathLst>
          </a:custGeom>
          <a:noFill/>
          <a:ln w="3950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path 126"/>
          <p:cNvCxnSpPr/>
          <p:nvPr/>
        </p:nvCxnSpPr>
        <p:spPr>
          <a:xfrm>
            <a:off x="8286603" y="4529013"/>
            <a:ext cx="3612531" cy="0"/>
          </a:xfrm>
          <a:prstGeom prst="line">
            <a:avLst/>
          </a:prstGeom>
          <a:ln w="3950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path 127"/>
          <p:cNvSpPr/>
          <p:nvPr/>
        </p:nvSpPr>
        <p:spPr>
          <a:xfrm>
            <a:off x="11183211" y="2987127"/>
            <a:ext cx="608946" cy="1538823"/>
          </a:xfrm>
          <a:custGeom>
            <a:avLst/>
            <a:gdLst/>
            <a:ahLst/>
            <a:cxnLst/>
            <a:rect l="l" t="t" r="r" b="b"/>
            <a:pathLst>
              <a:path w="74" h="187">
                <a:moveTo>
                  <a:pt x="0" y="0"/>
                </a:moveTo>
                <a:lnTo>
                  <a:pt x="74" y="0"/>
                </a:lnTo>
                <a:lnTo>
                  <a:pt x="74" y="187"/>
                </a:lnTo>
              </a:path>
            </a:pathLst>
          </a:custGeom>
          <a:noFill/>
          <a:ln w="3950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path 128"/>
          <p:cNvSpPr/>
          <p:nvPr/>
        </p:nvSpPr>
        <p:spPr>
          <a:xfrm>
            <a:off x="11462997" y="4525950"/>
            <a:ext cx="329160" cy="1316640"/>
          </a:xfrm>
          <a:custGeom>
            <a:avLst/>
            <a:gdLst/>
            <a:ahLst/>
            <a:cxnLst/>
            <a:rect l="l" t="t" r="r" b="b"/>
            <a:pathLst>
              <a:path w="40" h="160">
                <a:moveTo>
                  <a:pt x="0" y="160"/>
                </a:moveTo>
                <a:lnTo>
                  <a:pt x="40" y="160"/>
                </a:lnTo>
                <a:lnTo>
                  <a:pt x="40" y="0"/>
                </a:lnTo>
              </a:path>
            </a:pathLst>
          </a:custGeom>
          <a:noFill/>
          <a:ln w="3950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path 129"/>
          <p:cNvCxnSpPr/>
          <p:nvPr/>
        </p:nvCxnSpPr>
        <p:spPr>
          <a:xfrm>
            <a:off x="11899134" y="4529013"/>
            <a:ext cx="526656" cy="0"/>
          </a:xfrm>
          <a:prstGeom prst="line">
            <a:avLst/>
          </a:prstGeom>
          <a:ln w="55961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path 130"/>
          <p:cNvCxnSpPr/>
          <p:nvPr/>
        </p:nvCxnSpPr>
        <p:spPr>
          <a:xfrm>
            <a:off x="11899134" y="4529013"/>
            <a:ext cx="526656" cy="0"/>
          </a:xfrm>
          <a:prstGeom prst="line">
            <a:avLst/>
          </a:prstGeom>
          <a:ln w="39502">
            <a:solidFill>
              <a:srgbClr val="27531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arrowhead 131"/>
          <p:cNvSpPr/>
          <p:nvPr/>
        </p:nvSpPr>
        <p:spPr>
          <a:xfrm>
            <a:off x="12277668" y="4451889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4" y="9"/>
                </a:lnTo>
                <a:lnTo>
                  <a:pt x="0" y="0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circle 132"/>
          <p:cNvSpPr/>
          <p:nvPr/>
        </p:nvSpPr>
        <p:spPr>
          <a:xfrm>
            <a:off x="11742783" y="4372662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4"/>
          <p:cNvSpPr txBox="1"/>
          <p:nvPr/>
        </p:nvSpPr>
        <p:spPr>
          <a:xfrm>
            <a:off x="11793925" y="4370605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4</a:t>
            </a:r>
          </a:p>
        </p:txBody>
      </p:sp>
      <p:sp>
        <p:nvSpPr>
          <p:cNvPr id="135" name="恢复视图"/>
          <p:cNvSpPr txBox="1"/>
          <p:nvPr/>
        </p:nvSpPr>
        <p:spPr>
          <a:xfrm>
            <a:off x="9586785" y="4035273"/>
            <a:ext cx="92164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恢复视图</a:t>
            </a:r>
          </a:p>
        </p:txBody>
      </p:sp>
      <p:sp>
        <p:nvSpPr>
          <p:cNvPr id="136" name="circle 135"/>
          <p:cNvSpPr/>
          <p:nvPr/>
        </p:nvSpPr>
        <p:spPr>
          <a:xfrm>
            <a:off x="12499851" y="4298601"/>
            <a:ext cx="460824" cy="460824"/>
          </a:xfrm>
          <a:prstGeom prst="ellipse">
            <a:avLst/>
          </a:prstGeom>
          <a:solidFill>
            <a:srgbClr val="D9D9D9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D3"/>
          <p:cNvSpPr txBox="1"/>
          <p:nvPr/>
        </p:nvSpPr>
        <p:spPr>
          <a:xfrm>
            <a:off x="12568222" y="4376776"/>
            <a:ext cx="324081" cy="2859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3"/>
          <p:cNvSpPr txBox="1"/>
          <p:nvPr/>
        </p:nvSpPr>
        <p:spPr>
          <a:xfrm>
            <a:off x="263328" y="1895733"/>
            <a:ext cx="431380" cy="4032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8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D3</a:t>
            </a:r>
          </a:p>
        </p:txBody>
      </p:sp>
      <p:sp>
        <p:nvSpPr>
          <p:cNvPr id="3" name="提前恢复，协同准入与首次消费"/>
          <p:cNvSpPr txBox="1"/>
          <p:nvPr/>
        </p:nvSpPr>
        <p:spPr>
          <a:xfrm>
            <a:off x="888732" y="1895733"/>
            <a:ext cx="3670134" cy="4032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8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提前恢复，协同准入与首次消费</a:t>
            </a:r>
          </a:p>
        </p:txBody>
      </p:sp>
      <p:sp>
        <p:nvSpPr>
          <p:cNvPr id="4" name="rect 3"/>
          <p:cNvSpPr/>
          <p:nvPr/>
        </p:nvSpPr>
        <p:spPr>
          <a:xfrm>
            <a:off x="1086228" y="3664968"/>
            <a:ext cx="3637218" cy="1110915"/>
          </a:xfrm>
          <a:prstGeom prst="roundRect">
            <a:avLst>
              <a:gd name="adj" fmla="val 5925"/>
            </a:avLst>
          </a:prstGeom>
          <a:solidFill>
            <a:srgbClr val="FBE3D6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 4"/>
          <p:cNvSpPr/>
          <p:nvPr/>
        </p:nvSpPr>
        <p:spPr>
          <a:xfrm>
            <a:off x="9027213" y="3664968"/>
            <a:ext cx="3933462" cy="1110915"/>
          </a:xfrm>
          <a:prstGeom prst="roundRect">
            <a:avLst>
              <a:gd name="adj" fmla="val 5925"/>
            </a:avLst>
          </a:prstGeom>
          <a:solidFill>
            <a:srgbClr val="F2F2F2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 5"/>
          <p:cNvSpPr/>
          <p:nvPr/>
        </p:nvSpPr>
        <p:spPr>
          <a:xfrm>
            <a:off x="5859048" y="3319350"/>
            <a:ext cx="2304120" cy="534885"/>
          </a:xfrm>
          <a:prstGeom prst="roundRect">
            <a:avLst>
              <a:gd name="adj" fmla="val 12307"/>
            </a:avLst>
          </a:prstGeom>
          <a:solidFill>
            <a:srgbClr val="DCEAF7"/>
          </a:solidFill>
          <a:ln w="13167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 6"/>
          <p:cNvSpPr/>
          <p:nvPr/>
        </p:nvSpPr>
        <p:spPr>
          <a:xfrm>
            <a:off x="1086228" y="5318997"/>
            <a:ext cx="3637218" cy="1193205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13167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 7"/>
          <p:cNvSpPr/>
          <p:nvPr/>
        </p:nvSpPr>
        <p:spPr>
          <a:xfrm>
            <a:off x="9027213" y="4998066"/>
            <a:ext cx="3933462" cy="1662258"/>
          </a:xfrm>
          <a:prstGeom prst="roundRect">
            <a:avLst>
              <a:gd name="adj" fmla="val 3960"/>
            </a:avLst>
          </a:prstGeom>
          <a:solidFill>
            <a:srgbClr val="D9F2D0"/>
          </a:solidFill>
          <a:ln w="14813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le 8"/>
          <p:cNvSpPr/>
          <p:nvPr/>
        </p:nvSpPr>
        <p:spPr>
          <a:xfrm>
            <a:off x="362076" y="2702175"/>
            <a:ext cx="460824" cy="460824"/>
          </a:xfrm>
          <a:prstGeom prst="ellipse">
            <a:avLst/>
          </a:prstGeom>
          <a:solidFill>
            <a:srgbClr val="F6C6AD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2"/>
          <p:cNvSpPr txBox="1"/>
          <p:nvPr/>
        </p:nvSpPr>
        <p:spPr>
          <a:xfrm>
            <a:off x="414954" y="2763892"/>
            <a:ext cx="35506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C2</a:t>
            </a:r>
          </a:p>
        </p:txBody>
      </p:sp>
      <p:cxnSp>
        <p:nvCxnSpPr>
          <p:cNvPr id="11" name="line 10"/>
          <p:cNvCxnSpPr/>
          <p:nvPr/>
        </p:nvCxnSpPr>
        <p:spPr>
          <a:xfrm>
            <a:off x="962793" y="2932587"/>
            <a:ext cx="7266207" cy="0"/>
          </a:xfrm>
          <a:prstGeom prst="line">
            <a:avLst/>
          </a:prstGeom>
          <a:ln w="10698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 11"/>
          <p:cNvSpPr/>
          <p:nvPr/>
        </p:nvSpPr>
        <p:spPr>
          <a:xfrm>
            <a:off x="4048668" y="2768007"/>
            <a:ext cx="4180332" cy="329160"/>
          </a:xfrm>
          <a:prstGeom prst="rect">
            <a:avLst/>
          </a:prstGeom>
          <a:solidFill>
            <a:srgbClr val="F6C6AD"/>
          </a:solidFill>
          <a:ln w="1234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最终报告生成"/>
          <p:cNvSpPr txBox="1"/>
          <p:nvPr/>
        </p:nvSpPr>
        <p:spPr>
          <a:xfrm>
            <a:off x="5447598" y="2749492"/>
            <a:ext cx="1382472" cy="34356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84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最终报告生成</a:t>
            </a:r>
          </a:p>
        </p:txBody>
      </p:sp>
      <p:sp>
        <p:nvSpPr>
          <p:cNvPr id="14" name="circle 13"/>
          <p:cNvSpPr/>
          <p:nvPr/>
        </p:nvSpPr>
        <p:spPr>
          <a:xfrm>
            <a:off x="3398577" y="2874984"/>
            <a:ext cx="115206" cy="115206"/>
          </a:xfrm>
          <a:prstGeom prst="ellipse">
            <a:avLst/>
          </a:prstGeom>
          <a:solidFill>
            <a:srgbClr val="215F9A"/>
          </a:solidFill>
          <a:ln w="11521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OTICE"/>
          <p:cNvSpPr txBox="1"/>
          <p:nvPr/>
        </p:nvSpPr>
        <p:spPr>
          <a:xfrm>
            <a:off x="3110562" y="2414160"/>
            <a:ext cx="832286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NOTICE</a:t>
            </a:r>
          </a:p>
        </p:txBody>
      </p:sp>
      <p:cxnSp>
        <p:nvCxnSpPr>
          <p:cNvPr id="16" name="line 15"/>
          <p:cNvCxnSpPr/>
          <p:nvPr/>
        </p:nvCxnSpPr>
        <p:spPr>
          <a:xfrm>
            <a:off x="8229000" y="2595198"/>
            <a:ext cx="0" cy="3917004"/>
          </a:xfrm>
          <a:prstGeom prst="line">
            <a:avLst/>
          </a:prstGeom>
          <a:ln w="13990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TURN / JOIN"/>
          <p:cNvSpPr txBox="1"/>
          <p:nvPr/>
        </p:nvSpPr>
        <p:spPr>
          <a:xfrm>
            <a:off x="8401809" y="2743320"/>
            <a:ext cx="1612723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RETURN / JOIN</a:t>
            </a:r>
          </a:p>
        </p:txBody>
      </p:sp>
      <p:sp>
        <p:nvSpPr>
          <p:cNvPr id="18" name="circle 17"/>
          <p:cNvSpPr/>
          <p:nvPr/>
        </p:nvSpPr>
        <p:spPr>
          <a:xfrm>
            <a:off x="2806089" y="3212373"/>
            <a:ext cx="378534" cy="378534"/>
          </a:xfrm>
          <a:prstGeom prst="ellipse">
            <a:avLst/>
          </a:prstGeom>
          <a:solidFill>
            <a:srgbClr val="A6CAEC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1"/>
          <p:cNvSpPr txBox="1"/>
          <p:nvPr/>
        </p:nvSpPr>
        <p:spPr>
          <a:xfrm>
            <a:off x="2833315" y="3249404"/>
            <a:ext cx="324081" cy="2859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D1</a:t>
            </a:r>
          </a:p>
        </p:txBody>
      </p:sp>
      <p:sp>
        <p:nvSpPr>
          <p:cNvPr id="20" name="curve 19"/>
          <p:cNvSpPr/>
          <p:nvPr/>
        </p:nvSpPr>
        <p:spPr>
          <a:xfrm>
            <a:off x="3456180" y="3127020"/>
            <a:ext cx="2575677" cy="979251"/>
          </a:xfrm>
          <a:custGeom>
            <a:avLst/>
            <a:gdLst/>
            <a:ahLst/>
            <a:cxnLst/>
            <a:rect l="l" t="t" r="r" b="b"/>
            <a:pathLst>
              <a:path w="313" h="119">
                <a:moveTo>
                  <a:pt x="0" y="0"/>
                </a:moveTo>
                <a:lnTo>
                  <a:pt x="0" y="6"/>
                </a:lnTo>
                <a:cubicBezTo>
                  <a:pt x="0" y="8"/>
                  <a:pt x="1" y="9"/>
                  <a:pt x="3" y="9"/>
                </a:cubicBezTo>
                <a:lnTo>
                  <a:pt x="295" y="9"/>
                </a:lnTo>
                <a:cubicBezTo>
                  <a:pt x="305" y="9"/>
                  <a:pt x="313" y="17"/>
                  <a:pt x="313" y="27"/>
                </a:cubicBezTo>
                <a:lnTo>
                  <a:pt x="313" y="119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urve 20"/>
          <p:cNvSpPr/>
          <p:nvPr/>
        </p:nvSpPr>
        <p:spPr>
          <a:xfrm>
            <a:off x="3456180" y="3127020"/>
            <a:ext cx="2575677" cy="979251"/>
          </a:xfrm>
          <a:custGeom>
            <a:avLst/>
            <a:gdLst/>
            <a:ahLst/>
            <a:cxnLst/>
            <a:rect l="l" t="t" r="r" b="b"/>
            <a:pathLst>
              <a:path w="313" h="119">
                <a:moveTo>
                  <a:pt x="0" y="0"/>
                </a:moveTo>
                <a:lnTo>
                  <a:pt x="0" y="6"/>
                </a:lnTo>
                <a:cubicBezTo>
                  <a:pt x="0" y="8"/>
                  <a:pt x="1" y="9"/>
                  <a:pt x="3" y="9"/>
                </a:cubicBezTo>
                <a:lnTo>
                  <a:pt x="295" y="9"/>
                </a:lnTo>
                <a:cubicBezTo>
                  <a:pt x="305" y="9"/>
                  <a:pt x="313" y="17"/>
                  <a:pt x="313" y="27"/>
                </a:cubicBezTo>
                <a:lnTo>
                  <a:pt x="313" y="119"/>
                </a:lnTo>
              </a:path>
            </a:pathLst>
          </a:custGeom>
          <a:noFill/>
          <a:ln w="3950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rowhead 21"/>
          <p:cNvSpPr/>
          <p:nvPr/>
        </p:nvSpPr>
        <p:spPr>
          <a:xfrm>
            <a:off x="5957796" y="3958149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0"/>
                </a:moveTo>
                <a:lnTo>
                  <a:pt x="9" y="18"/>
                </a:lnTo>
                <a:lnTo>
                  <a:pt x="18" y="0"/>
                </a:lnTo>
              </a:path>
            </a:pathLst>
          </a:custGeom>
          <a:noFill/>
          <a:ln w="23145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ircle 22"/>
          <p:cNvSpPr/>
          <p:nvPr/>
        </p:nvSpPr>
        <p:spPr>
          <a:xfrm>
            <a:off x="4583553" y="3047793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1"/>
          <p:cNvSpPr txBox="1"/>
          <p:nvPr/>
        </p:nvSpPr>
        <p:spPr>
          <a:xfrm>
            <a:off x="4634695" y="3045736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1</a:t>
            </a:r>
          </a:p>
        </p:txBody>
      </p:sp>
      <p:sp>
        <p:nvSpPr>
          <p:cNvPr id="25" name="决定启动时机"/>
          <p:cNvSpPr txBox="1"/>
          <p:nvPr/>
        </p:nvSpPr>
        <p:spPr>
          <a:xfrm>
            <a:off x="6410391" y="3418098"/>
            <a:ext cx="133309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决定启动时机</a:t>
            </a:r>
          </a:p>
        </p:txBody>
      </p:sp>
      <p:sp>
        <p:nvSpPr>
          <p:cNvPr id="26" name="circle 25"/>
          <p:cNvSpPr/>
          <p:nvPr/>
        </p:nvSpPr>
        <p:spPr>
          <a:xfrm>
            <a:off x="7776405" y="3442785"/>
            <a:ext cx="296244" cy="296244"/>
          </a:xfrm>
          <a:prstGeom prst="ellipse">
            <a:avLst/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ath 26"/>
          <p:cNvSpPr/>
          <p:nvPr/>
        </p:nvSpPr>
        <p:spPr>
          <a:xfrm>
            <a:off x="7924527" y="3497325"/>
            <a:ext cx="82290" cy="131664"/>
          </a:xfrm>
          <a:custGeom>
            <a:avLst/>
            <a:gdLst/>
            <a:ahLst/>
            <a:cxnLst/>
            <a:rect l="l" t="t" r="r" b="b"/>
            <a:pathLst>
              <a:path w="10" h="16">
                <a:moveTo>
                  <a:pt x="0" y="0"/>
                </a:moveTo>
                <a:lnTo>
                  <a:pt x="0" y="11"/>
                </a:lnTo>
                <a:lnTo>
                  <a:pt x="10" y="16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ircle 27"/>
          <p:cNvSpPr/>
          <p:nvPr/>
        </p:nvSpPr>
        <p:spPr>
          <a:xfrm>
            <a:off x="362076" y="4076418"/>
            <a:ext cx="460824" cy="460824"/>
          </a:xfrm>
          <a:prstGeom prst="ellipse">
            <a:avLst/>
          </a:prstGeom>
          <a:solidFill>
            <a:srgbClr val="A6CAEC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"/>
          <p:cNvSpPr txBox="1"/>
          <p:nvPr/>
        </p:nvSpPr>
        <p:spPr>
          <a:xfrm>
            <a:off x="474501" y="4138136"/>
            <a:ext cx="235973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30" name="Host"/>
          <p:cNvSpPr txBox="1"/>
          <p:nvPr/>
        </p:nvSpPr>
        <p:spPr>
          <a:xfrm>
            <a:off x="1217892" y="3660854"/>
            <a:ext cx="603289" cy="3579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49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Host</a:t>
            </a:r>
          </a:p>
        </p:txBody>
      </p:sp>
      <p:sp>
        <p:nvSpPr>
          <p:cNvPr id="31" name="rect 30"/>
          <p:cNvSpPr/>
          <p:nvPr/>
        </p:nvSpPr>
        <p:spPr>
          <a:xfrm>
            <a:off x="2131311" y="4117563"/>
            <a:ext cx="534885" cy="378534"/>
          </a:xfrm>
          <a:prstGeom prst="roundRect">
            <a:avLst>
              <a:gd name="adj" fmla="val 4347"/>
            </a:avLst>
          </a:prstGeom>
          <a:solidFill>
            <a:srgbClr val="FFD57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 31"/>
          <p:cNvSpPr/>
          <p:nvPr/>
        </p:nvSpPr>
        <p:spPr>
          <a:xfrm>
            <a:off x="2147769" y="4134021"/>
            <a:ext cx="501969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2"/>
          <p:cNvSpPr txBox="1"/>
          <p:nvPr/>
        </p:nvSpPr>
        <p:spPr>
          <a:xfrm>
            <a:off x="2227520" y="4155416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sp>
        <p:nvSpPr>
          <p:cNvPr id="34" name="rect 33"/>
          <p:cNvSpPr/>
          <p:nvPr/>
        </p:nvSpPr>
        <p:spPr>
          <a:xfrm>
            <a:off x="2839005" y="4117563"/>
            <a:ext cx="534885" cy="378534"/>
          </a:xfrm>
          <a:prstGeom prst="roundRect">
            <a:avLst>
              <a:gd name="adj" fmla="val 4347"/>
            </a:avLst>
          </a:prstGeom>
          <a:solidFill>
            <a:srgbClr val="FFD579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 34"/>
          <p:cNvSpPr/>
          <p:nvPr/>
        </p:nvSpPr>
        <p:spPr>
          <a:xfrm>
            <a:off x="2855463" y="4134021"/>
            <a:ext cx="501969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3"/>
          <p:cNvSpPr txBox="1"/>
          <p:nvPr/>
        </p:nvSpPr>
        <p:spPr>
          <a:xfrm>
            <a:off x="2935214" y="4155416"/>
            <a:ext cx="342468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sp>
        <p:nvSpPr>
          <p:cNvPr id="37" name="path 36"/>
          <p:cNvSpPr/>
          <p:nvPr/>
        </p:nvSpPr>
        <p:spPr>
          <a:xfrm>
            <a:off x="2131311" y="4665843"/>
            <a:ext cx="1242579" cy="57603"/>
          </a:xfrm>
          <a:custGeom>
            <a:avLst/>
            <a:gdLst/>
            <a:ahLst/>
            <a:cxnLst/>
            <a:rect l="l" t="t" r="r" b="b"/>
            <a:pathLst>
              <a:path w="151" h="7">
                <a:moveTo>
                  <a:pt x="0" y="7"/>
                </a:moveTo>
                <a:lnTo>
                  <a:pt x="0" y="0"/>
                </a:lnTo>
                <a:lnTo>
                  <a:pt x="151" y="0"/>
                </a:lnTo>
                <a:lnTo>
                  <a:pt x="151" y="7"/>
                </a:lnTo>
              </a:path>
            </a:pathLst>
          </a:custGeom>
          <a:noFill/>
          <a:ln w="13167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ΔFULL"/>
          <p:cNvSpPr txBox="1"/>
          <p:nvPr/>
        </p:nvSpPr>
        <p:spPr>
          <a:xfrm>
            <a:off x="2373456" y="4817028"/>
            <a:ext cx="848808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ΔFULL</a:t>
            </a:r>
          </a:p>
        </p:txBody>
      </p:sp>
      <p:sp>
        <p:nvSpPr>
          <p:cNvPr id="39" name="polygon 38"/>
          <p:cNvSpPr/>
          <p:nvPr/>
        </p:nvSpPr>
        <p:spPr>
          <a:xfrm>
            <a:off x="3810027" y="4122729"/>
            <a:ext cx="485511" cy="370305"/>
          </a:xfrm>
          <a:custGeom>
            <a:avLst/>
            <a:gdLst/>
            <a:ahLst/>
            <a:cxnLst/>
            <a:rect l="l" t="t" r="r" b="b"/>
            <a:pathLst>
              <a:path w="59" h="45">
                <a:moveTo>
                  <a:pt x="9" y="0"/>
                </a:moveTo>
                <a:lnTo>
                  <a:pt x="50" y="0"/>
                </a:lnTo>
                <a:lnTo>
                  <a:pt x="59" y="22"/>
                </a:lnTo>
                <a:lnTo>
                  <a:pt x="50" y="45"/>
                </a:lnTo>
                <a:lnTo>
                  <a:pt x="9" y="45"/>
                </a:lnTo>
                <a:lnTo>
                  <a:pt x="0" y="22"/>
                </a:lnTo>
                <a:close/>
              </a:path>
            </a:pathLst>
          </a:custGeom>
          <a:solidFill>
            <a:srgbClr val="FFD579"/>
          </a:solidFill>
          <a:ln w="1234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"/>
          <p:cNvSpPr txBox="1"/>
          <p:nvPr/>
        </p:nvSpPr>
        <p:spPr>
          <a:xfrm>
            <a:off x="3940887" y="4136078"/>
            <a:ext cx="225847" cy="329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3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S</a:t>
            </a:r>
          </a:p>
        </p:txBody>
      </p:sp>
      <p:sp>
        <p:nvSpPr>
          <p:cNvPr id="41" name="rect 40"/>
          <p:cNvSpPr/>
          <p:nvPr/>
        </p:nvSpPr>
        <p:spPr>
          <a:xfrm>
            <a:off x="3896432" y="4168994"/>
            <a:ext cx="314759" cy="30859"/>
          </a:xfrm>
          <a:prstGeom prst="roundRect">
            <a:avLst>
              <a:gd name="adj" fmla="val 26666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"/>
          <p:cNvSpPr txBox="1"/>
          <p:nvPr/>
        </p:nvSpPr>
        <p:spPr>
          <a:xfrm>
            <a:off x="3838411" y="4808799"/>
            <a:ext cx="188431" cy="2900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14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s</a:t>
            </a:r>
          </a:p>
        </p:txBody>
      </p:sp>
      <p:sp>
        <p:nvSpPr>
          <p:cNvPr id="43" name="("/>
          <p:cNvSpPr txBox="1"/>
          <p:nvPr/>
        </p:nvSpPr>
        <p:spPr>
          <a:xfrm>
            <a:off x="3928094" y="4808799"/>
            <a:ext cx="175477" cy="2900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14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(</a:t>
            </a:r>
          </a:p>
        </p:txBody>
      </p:sp>
      <p:sp>
        <p:nvSpPr>
          <p:cNvPr id="44" name="c"/>
          <p:cNvSpPr txBox="1"/>
          <p:nvPr/>
        </p:nvSpPr>
        <p:spPr>
          <a:xfrm>
            <a:off x="4004823" y="4808799"/>
            <a:ext cx="201032" cy="2900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14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45" name="*"/>
          <p:cNvSpPr txBox="1"/>
          <p:nvPr/>
        </p:nvSpPr>
        <p:spPr>
          <a:xfrm>
            <a:off x="4115336" y="4758931"/>
            <a:ext cx="173838" cy="2016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9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46" name=")"/>
          <p:cNvSpPr txBox="1"/>
          <p:nvPr/>
        </p:nvSpPr>
        <p:spPr>
          <a:xfrm>
            <a:off x="4198654" y="4808799"/>
            <a:ext cx="175477" cy="2900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14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)</a:t>
            </a:r>
          </a:p>
        </p:txBody>
      </p:sp>
      <p:sp>
        <p:nvSpPr>
          <p:cNvPr id="47" name="必要时"/>
          <p:cNvSpPr txBox="1"/>
          <p:nvPr/>
        </p:nvSpPr>
        <p:spPr>
          <a:xfrm>
            <a:off x="3703050" y="3765773"/>
            <a:ext cx="641862" cy="2983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必要时</a:t>
            </a:r>
          </a:p>
        </p:txBody>
      </p:sp>
      <p:sp>
        <p:nvSpPr>
          <p:cNvPr id="48" name="path 47"/>
          <p:cNvSpPr/>
          <p:nvPr/>
        </p:nvSpPr>
        <p:spPr>
          <a:xfrm>
            <a:off x="3373890" y="4303767"/>
            <a:ext cx="1152060" cy="362076"/>
          </a:xfrm>
          <a:custGeom>
            <a:avLst/>
            <a:gdLst/>
            <a:ahLst/>
            <a:cxnLst/>
            <a:rect l="l" t="t" r="r" b="b"/>
            <a:pathLst>
              <a:path w="140" h="44">
                <a:moveTo>
                  <a:pt x="0" y="44"/>
                </a:moveTo>
                <a:lnTo>
                  <a:pt x="140" y="44"/>
                </a:lnTo>
                <a:lnTo>
                  <a:pt x="140" y="0"/>
                </a:lnTo>
              </a:path>
            </a:pathLst>
          </a:custGeom>
          <a:noFill/>
          <a:ln w="41148">
            <a:solidFill>
              <a:srgbClr val="3550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path 48"/>
          <p:cNvCxnSpPr/>
          <p:nvPr/>
        </p:nvCxnSpPr>
        <p:spPr>
          <a:xfrm>
            <a:off x="4361370" y="4306830"/>
            <a:ext cx="1160289" cy="0"/>
          </a:xfrm>
          <a:prstGeom prst="line">
            <a:avLst/>
          </a:prstGeom>
          <a:ln w="8641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path 49"/>
          <p:cNvCxnSpPr/>
          <p:nvPr/>
        </p:nvCxnSpPr>
        <p:spPr>
          <a:xfrm>
            <a:off x="4361370" y="4306830"/>
            <a:ext cx="1160289" cy="0"/>
          </a:xfrm>
          <a:prstGeom prst="line">
            <a:avLst/>
          </a:prstGeom>
          <a:ln w="69951">
            <a:solidFill>
              <a:srgbClr val="3550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arrowhead 50"/>
          <p:cNvSpPr/>
          <p:nvPr/>
        </p:nvSpPr>
        <p:spPr>
          <a:xfrm>
            <a:off x="5258331" y="4172103"/>
            <a:ext cx="263328" cy="263328"/>
          </a:xfrm>
          <a:custGeom>
            <a:avLst/>
            <a:gdLst/>
            <a:ahLst/>
            <a:cxnLst/>
            <a:rect l="l" t="t" r="r" b="b"/>
            <a:pathLst>
              <a:path w="32" h="32">
                <a:moveTo>
                  <a:pt x="32" y="16"/>
                </a:moveTo>
                <a:lnTo>
                  <a:pt x="0" y="32"/>
                </a:lnTo>
                <a:lnTo>
                  <a:pt x="0" y="0"/>
                </a:lnTo>
                <a:close/>
              </a:path>
            </a:pathLst>
          </a:custGeom>
          <a:solidFill>
            <a:srgbClr val="3550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olygon 51"/>
          <p:cNvSpPr/>
          <p:nvPr/>
        </p:nvSpPr>
        <p:spPr>
          <a:xfrm>
            <a:off x="5587491" y="4139187"/>
            <a:ext cx="3225768" cy="329160"/>
          </a:xfrm>
          <a:custGeom>
            <a:avLst/>
            <a:gdLst/>
            <a:ahLst/>
            <a:cxnLst/>
            <a:rect l="l" t="t" r="r" b="b"/>
            <a:pathLst>
              <a:path w="392" h="40">
                <a:moveTo>
                  <a:pt x="0" y="0"/>
                </a:moveTo>
                <a:lnTo>
                  <a:pt x="375" y="0"/>
                </a:lnTo>
                <a:lnTo>
                  <a:pt x="392" y="20"/>
                </a:lnTo>
                <a:lnTo>
                  <a:pt x="375" y="40"/>
                </a:lnTo>
                <a:lnTo>
                  <a:pt x="0" y="40"/>
                </a:lnTo>
                <a:close/>
              </a:path>
            </a:pathLst>
          </a:custGeom>
          <a:solidFill>
            <a:srgbClr val="F2AA84"/>
          </a:solidFill>
          <a:ln w="9875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H2D"/>
          <p:cNvSpPr txBox="1"/>
          <p:nvPr/>
        </p:nvSpPr>
        <p:spPr>
          <a:xfrm>
            <a:off x="7316786" y="4113448"/>
            <a:ext cx="573619" cy="36824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14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H2D</a:t>
            </a:r>
          </a:p>
        </p:txBody>
      </p:sp>
      <p:sp>
        <p:nvSpPr>
          <p:cNvPr id="54" name="circle 53"/>
          <p:cNvSpPr/>
          <p:nvPr/>
        </p:nvSpPr>
        <p:spPr>
          <a:xfrm>
            <a:off x="6632574" y="4150479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3"/>
          <p:cNvSpPr txBox="1"/>
          <p:nvPr/>
        </p:nvSpPr>
        <p:spPr>
          <a:xfrm>
            <a:off x="6683716" y="4148422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3</a:t>
            </a:r>
          </a:p>
        </p:txBody>
      </p:sp>
      <p:sp>
        <p:nvSpPr>
          <p:cNvPr id="56" name="HBM"/>
          <p:cNvSpPr txBox="1"/>
          <p:nvPr/>
        </p:nvSpPr>
        <p:spPr>
          <a:xfrm>
            <a:off x="9142419" y="3660854"/>
            <a:ext cx="607757" cy="3579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49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HBM</a:t>
            </a:r>
          </a:p>
        </p:txBody>
      </p:sp>
      <p:sp>
        <p:nvSpPr>
          <p:cNvPr id="57" name="rect 56"/>
          <p:cNvSpPr/>
          <p:nvPr/>
        </p:nvSpPr>
        <p:spPr>
          <a:xfrm>
            <a:off x="9150648" y="4125792"/>
            <a:ext cx="460824" cy="370305"/>
          </a:xfrm>
          <a:prstGeom prst="roundRect">
            <a:avLst>
              <a:gd name="adj" fmla="val 4444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 57"/>
          <p:cNvSpPr/>
          <p:nvPr/>
        </p:nvSpPr>
        <p:spPr>
          <a:xfrm>
            <a:off x="9167106" y="4142250"/>
            <a:ext cx="427908" cy="41145"/>
          </a:xfrm>
          <a:prstGeom prst="roundRect">
            <a:avLst>
              <a:gd name="adj" fmla="val 20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p0"/>
          <p:cNvSpPr txBox="1"/>
          <p:nvPr/>
        </p:nvSpPr>
        <p:spPr>
          <a:xfrm>
            <a:off x="9214905" y="4166526"/>
            <a:ext cx="332310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p0</a:t>
            </a:r>
          </a:p>
        </p:txBody>
      </p:sp>
      <p:sp>
        <p:nvSpPr>
          <p:cNvPr id="60" name="rect 59"/>
          <p:cNvSpPr/>
          <p:nvPr/>
        </p:nvSpPr>
        <p:spPr>
          <a:xfrm>
            <a:off x="9743136" y="4125792"/>
            <a:ext cx="460824" cy="370305"/>
          </a:xfrm>
          <a:prstGeom prst="roundRect">
            <a:avLst>
              <a:gd name="adj" fmla="val 4444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 60"/>
          <p:cNvSpPr/>
          <p:nvPr/>
        </p:nvSpPr>
        <p:spPr>
          <a:xfrm>
            <a:off x="9759594" y="4142250"/>
            <a:ext cx="427908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1"/>
          <p:cNvSpPr txBox="1"/>
          <p:nvPr/>
        </p:nvSpPr>
        <p:spPr>
          <a:xfrm>
            <a:off x="9807393" y="4166526"/>
            <a:ext cx="332310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p1</a:t>
            </a:r>
          </a:p>
        </p:txBody>
      </p:sp>
      <p:sp>
        <p:nvSpPr>
          <p:cNvPr id="63" name="rect 62"/>
          <p:cNvSpPr/>
          <p:nvPr/>
        </p:nvSpPr>
        <p:spPr>
          <a:xfrm>
            <a:off x="10335624" y="4125792"/>
            <a:ext cx="460824" cy="370305"/>
          </a:xfrm>
          <a:prstGeom prst="roundRect">
            <a:avLst>
              <a:gd name="adj" fmla="val 4444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 63"/>
          <p:cNvSpPr/>
          <p:nvPr/>
        </p:nvSpPr>
        <p:spPr>
          <a:xfrm>
            <a:off x="10352082" y="4142250"/>
            <a:ext cx="427908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p2"/>
          <p:cNvSpPr txBox="1"/>
          <p:nvPr/>
        </p:nvSpPr>
        <p:spPr>
          <a:xfrm>
            <a:off x="10399881" y="4166526"/>
            <a:ext cx="332310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p2</a:t>
            </a:r>
          </a:p>
        </p:txBody>
      </p:sp>
      <p:sp>
        <p:nvSpPr>
          <p:cNvPr id="66" name="rect 65"/>
          <p:cNvSpPr/>
          <p:nvPr/>
        </p:nvSpPr>
        <p:spPr>
          <a:xfrm>
            <a:off x="10928112" y="4125792"/>
            <a:ext cx="460824" cy="370305"/>
          </a:xfrm>
          <a:prstGeom prst="roundRect">
            <a:avLst>
              <a:gd name="adj" fmla="val 4444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 66"/>
          <p:cNvSpPr/>
          <p:nvPr/>
        </p:nvSpPr>
        <p:spPr>
          <a:xfrm>
            <a:off x="10944570" y="4142250"/>
            <a:ext cx="427908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p3"/>
          <p:cNvSpPr txBox="1"/>
          <p:nvPr/>
        </p:nvSpPr>
        <p:spPr>
          <a:xfrm>
            <a:off x="10992369" y="4166526"/>
            <a:ext cx="332310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p3</a:t>
            </a:r>
          </a:p>
        </p:txBody>
      </p:sp>
      <p:sp>
        <p:nvSpPr>
          <p:cNvPr id="69" name="rect 68"/>
          <p:cNvSpPr/>
          <p:nvPr/>
        </p:nvSpPr>
        <p:spPr>
          <a:xfrm>
            <a:off x="11520600" y="4125792"/>
            <a:ext cx="460824" cy="370305"/>
          </a:xfrm>
          <a:prstGeom prst="roundRect">
            <a:avLst>
              <a:gd name="adj" fmla="val 4444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 69"/>
          <p:cNvSpPr/>
          <p:nvPr/>
        </p:nvSpPr>
        <p:spPr>
          <a:xfrm>
            <a:off x="11537058" y="4142250"/>
            <a:ext cx="427908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4"/>
          <p:cNvSpPr txBox="1"/>
          <p:nvPr/>
        </p:nvSpPr>
        <p:spPr>
          <a:xfrm>
            <a:off x="11584857" y="4166526"/>
            <a:ext cx="332310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p4</a:t>
            </a:r>
          </a:p>
        </p:txBody>
      </p:sp>
      <p:sp>
        <p:nvSpPr>
          <p:cNvPr id="72" name="rect 71"/>
          <p:cNvSpPr/>
          <p:nvPr/>
        </p:nvSpPr>
        <p:spPr>
          <a:xfrm>
            <a:off x="12113088" y="4125792"/>
            <a:ext cx="460824" cy="370305"/>
          </a:xfrm>
          <a:prstGeom prst="roundRect">
            <a:avLst>
              <a:gd name="adj" fmla="val 4444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 72"/>
          <p:cNvSpPr/>
          <p:nvPr/>
        </p:nvSpPr>
        <p:spPr>
          <a:xfrm>
            <a:off x="12129546" y="4142250"/>
            <a:ext cx="427908" cy="41145"/>
          </a:xfrm>
          <a:prstGeom prst="roundRect">
            <a:avLst>
              <a:gd name="adj" fmla="val 20000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p5"/>
          <p:cNvSpPr txBox="1"/>
          <p:nvPr/>
        </p:nvSpPr>
        <p:spPr>
          <a:xfrm>
            <a:off x="12177345" y="4166526"/>
            <a:ext cx="332310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p5</a:t>
            </a:r>
          </a:p>
        </p:txBody>
      </p:sp>
      <p:sp>
        <p:nvSpPr>
          <p:cNvPr id="75" name="path 74"/>
          <p:cNvSpPr/>
          <p:nvPr/>
        </p:nvSpPr>
        <p:spPr>
          <a:xfrm>
            <a:off x="10335624" y="4032210"/>
            <a:ext cx="1053312" cy="57603"/>
          </a:xfrm>
          <a:custGeom>
            <a:avLst/>
            <a:gdLst/>
            <a:ahLst/>
            <a:cxnLst/>
            <a:rect l="l" t="t" r="r" b="b"/>
            <a:pathLst>
              <a:path w="128" h="7">
                <a:moveTo>
                  <a:pt x="0" y="7"/>
                </a:moveTo>
                <a:lnTo>
                  <a:pt x="0" y="0"/>
                </a:lnTo>
                <a:lnTo>
                  <a:pt x="128" y="0"/>
                </a:lnTo>
                <a:lnTo>
                  <a:pt x="128" y="7"/>
                </a:lnTo>
              </a:path>
            </a:pathLst>
          </a:custGeom>
          <a:noFill/>
          <a:ln w="13167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polygon 75"/>
          <p:cNvSpPr/>
          <p:nvPr/>
        </p:nvSpPr>
        <p:spPr>
          <a:xfrm>
            <a:off x="11882676" y="3735966"/>
            <a:ext cx="386763" cy="296244"/>
          </a:xfrm>
          <a:custGeom>
            <a:avLst/>
            <a:gdLst/>
            <a:ahLst/>
            <a:cxnLst/>
            <a:rect l="l" t="t" r="r" b="b"/>
            <a:pathLst>
              <a:path w="47" h="36">
                <a:moveTo>
                  <a:pt x="7" y="0"/>
                </a:moveTo>
                <a:lnTo>
                  <a:pt x="40" y="0"/>
                </a:lnTo>
                <a:lnTo>
                  <a:pt x="47" y="18"/>
                </a:lnTo>
                <a:lnTo>
                  <a:pt x="40" y="36"/>
                </a:lnTo>
                <a:lnTo>
                  <a:pt x="7" y="36"/>
                </a:lnTo>
                <a:lnTo>
                  <a:pt x="0" y="18"/>
                </a:lnTo>
                <a:close/>
              </a:path>
            </a:pathLst>
          </a:custGeom>
          <a:solidFill>
            <a:srgbClr val="D7AEFF"/>
          </a:solidFill>
          <a:ln w="12344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S"/>
          <p:cNvSpPr txBox="1"/>
          <p:nvPr/>
        </p:nvSpPr>
        <p:spPr>
          <a:xfrm>
            <a:off x="11977621" y="3747258"/>
            <a:ext cx="200164" cy="26950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3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S</a:t>
            </a:r>
          </a:p>
        </p:txBody>
      </p:sp>
      <p:sp>
        <p:nvSpPr>
          <p:cNvPr id="78" name="rect 77"/>
          <p:cNvSpPr/>
          <p:nvPr/>
        </p:nvSpPr>
        <p:spPr>
          <a:xfrm>
            <a:off x="11951800" y="3773591"/>
            <a:ext cx="251807" cy="24687"/>
          </a:xfrm>
          <a:prstGeom prst="roundRect">
            <a:avLst>
              <a:gd name="adj" fmla="val 33333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c"/>
          <p:cNvSpPr txBox="1"/>
          <p:nvPr/>
        </p:nvSpPr>
        <p:spPr>
          <a:xfrm>
            <a:off x="12572899" y="3747258"/>
            <a:ext cx="204664" cy="3003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79" b="0" i="1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c</a:t>
            </a:r>
          </a:p>
        </p:txBody>
      </p:sp>
      <p:sp>
        <p:nvSpPr>
          <p:cNvPr id="80" name="*"/>
          <p:cNvSpPr txBox="1"/>
          <p:nvPr/>
        </p:nvSpPr>
        <p:spPr>
          <a:xfrm>
            <a:off x="12687045" y="3699283"/>
            <a:ext cx="175895" cy="2057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1" b="0" i="0" lang="zh-CN" spc="0">
                <a:solidFill>
                  <a:srgbClr val="000000"/>
                </a:solidFill>
                <a:latin typeface="Liberation Serif"/>
                <a:ea typeface="Liberation Serif"/>
                <a:effectLst/>
              </a:rPr>
              <a:t>*</a:t>
            </a:r>
          </a:p>
        </p:txBody>
      </p:sp>
      <p:sp>
        <p:nvSpPr>
          <p:cNvPr id="81" name="path 80"/>
          <p:cNvSpPr/>
          <p:nvPr/>
        </p:nvSpPr>
        <p:spPr>
          <a:xfrm>
            <a:off x="11306646" y="4550637"/>
            <a:ext cx="74061" cy="57603"/>
          </a:xfrm>
          <a:custGeom>
            <a:avLst/>
            <a:gdLst/>
            <a:ahLst/>
            <a:cxnLst/>
            <a:rect l="l" t="t" r="r" b="b"/>
            <a:pathLst>
              <a:path w="9" h="7">
                <a:moveTo>
                  <a:pt x="0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 81"/>
          <p:cNvSpPr/>
          <p:nvPr/>
        </p:nvSpPr>
        <p:spPr>
          <a:xfrm>
            <a:off x="11281959" y="4606777"/>
            <a:ext cx="128372" cy="106977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circle 82"/>
          <p:cNvSpPr/>
          <p:nvPr/>
        </p:nvSpPr>
        <p:spPr>
          <a:xfrm>
            <a:off x="11335448" y="4638870"/>
            <a:ext cx="21395" cy="21395"/>
          </a:xfrm>
          <a:prstGeom prst="ellipse">
            <a:avLst/>
          </a:prstGeom>
          <a:solidFill>
            <a:srgbClr val="000000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有界驻留"/>
          <p:cNvSpPr txBox="1"/>
          <p:nvPr/>
        </p:nvSpPr>
        <p:spPr>
          <a:xfrm>
            <a:off x="11602890" y="4506383"/>
            <a:ext cx="822900" cy="2983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有界驻留</a:t>
            </a:r>
          </a:p>
        </p:txBody>
      </p:sp>
      <p:sp>
        <p:nvSpPr>
          <p:cNvPr id="85" name="circle 84"/>
          <p:cNvSpPr/>
          <p:nvPr/>
        </p:nvSpPr>
        <p:spPr>
          <a:xfrm>
            <a:off x="411450" y="5450661"/>
            <a:ext cx="378534" cy="378534"/>
          </a:xfrm>
          <a:prstGeom prst="ellipse">
            <a:avLst/>
          </a:prstGeom>
          <a:solidFill>
            <a:srgbClr val="84E291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2"/>
          <p:cNvSpPr txBox="1"/>
          <p:nvPr/>
        </p:nvSpPr>
        <p:spPr>
          <a:xfrm>
            <a:off x="438676" y="5487692"/>
            <a:ext cx="324081" cy="2859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D2</a:t>
            </a:r>
          </a:p>
        </p:txBody>
      </p:sp>
      <p:sp>
        <p:nvSpPr>
          <p:cNvPr id="87" name="rect 86"/>
          <p:cNvSpPr/>
          <p:nvPr/>
        </p:nvSpPr>
        <p:spPr>
          <a:xfrm>
            <a:off x="1168518" y="5467119"/>
            <a:ext cx="403221" cy="329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 87"/>
          <p:cNvSpPr/>
          <p:nvPr/>
        </p:nvSpPr>
        <p:spPr>
          <a:xfrm>
            <a:off x="1670487" y="5467119"/>
            <a:ext cx="403221" cy="329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 88"/>
          <p:cNvSpPr/>
          <p:nvPr/>
        </p:nvSpPr>
        <p:spPr>
          <a:xfrm>
            <a:off x="2172456" y="5467119"/>
            <a:ext cx="403221" cy="329160"/>
          </a:xfrm>
          <a:prstGeom prst="roundRect">
            <a:avLst>
              <a:gd name="adj" fmla="val 2500"/>
            </a:avLst>
          </a:prstGeom>
          <a:solidFill>
            <a:srgbClr val="84E291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 89"/>
          <p:cNvSpPr/>
          <p:nvPr/>
        </p:nvSpPr>
        <p:spPr>
          <a:xfrm>
            <a:off x="2674425" y="5467119"/>
            <a:ext cx="403221" cy="329160"/>
          </a:xfrm>
          <a:prstGeom prst="roundRect">
            <a:avLst>
              <a:gd name="adj" fmla="val 2500"/>
            </a:avLst>
          </a:prstGeom>
          <a:solidFill>
            <a:srgbClr val="D9D9D9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path 90"/>
          <p:cNvSpPr/>
          <p:nvPr/>
        </p:nvSpPr>
        <p:spPr>
          <a:xfrm>
            <a:off x="2732028" y="5250102"/>
            <a:ext cx="65832" cy="49374"/>
          </a:xfrm>
          <a:custGeom>
            <a:avLst/>
            <a:gdLst/>
            <a:ahLst/>
            <a:cxnLst/>
            <a:rect l="l" t="t" r="r" b="b"/>
            <a:pathLst>
              <a:path w="8" h="6">
                <a:moveTo>
                  <a:pt x="0" y="6"/>
                </a:moveTo>
                <a:lnTo>
                  <a:pt x="0" y="0"/>
                </a:lnTo>
                <a:lnTo>
                  <a:pt x="8" y="0"/>
                </a:lnTo>
                <a:lnTo>
                  <a:pt x="8" y="6"/>
                </a:lnTo>
              </a:path>
            </a:pathLst>
          </a:custGeom>
          <a:noFill/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 91"/>
          <p:cNvSpPr/>
          <p:nvPr/>
        </p:nvSpPr>
        <p:spPr>
          <a:xfrm>
            <a:off x="2707341" y="5300893"/>
            <a:ext cx="118498" cy="9874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circle 92"/>
          <p:cNvSpPr/>
          <p:nvPr/>
        </p:nvSpPr>
        <p:spPr>
          <a:xfrm>
            <a:off x="2756715" y="5330518"/>
            <a:ext cx="19750" cy="19750"/>
          </a:xfrm>
          <a:prstGeom prst="ellipse">
            <a:avLst/>
          </a:prstGeom>
          <a:solidFill>
            <a:srgbClr val="000000"/>
          </a:solidFill>
          <a:ln w="822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空闲 / 可回收 / 增长预留"/>
          <p:cNvSpPr txBox="1"/>
          <p:nvPr/>
        </p:nvSpPr>
        <p:spPr>
          <a:xfrm>
            <a:off x="1217892" y="5960859"/>
            <a:ext cx="2207944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空闲 / 可回收 / 增长预留</a:t>
            </a:r>
          </a:p>
        </p:txBody>
      </p:sp>
      <p:sp>
        <p:nvSpPr>
          <p:cNvPr id="95" name="curve 94"/>
          <p:cNvSpPr/>
          <p:nvPr/>
        </p:nvSpPr>
        <p:spPr>
          <a:xfrm>
            <a:off x="3225768" y="4501263"/>
            <a:ext cx="2468700" cy="1119144"/>
          </a:xfrm>
          <a:custGeom>
            <a:avLst/>
            <a:gdLst/>
            <a:ahLst/>
            <a:cxnLst/>
            <a:rect l="l" t="t" r="r" b="b"/>
            <a:pathLst>
              <a:path w="300" h="136">
                <a:moveTo>
                  <a:pt x="0" y="136"/>
                </a:moveTo>
                <a:lnTo>
                  <a:pt x="190" y="136"/>
                </a:lnTo>
                <a:cubicBezTo>
                  <a:pt x="200" y="136"/>
                  <a:pt x="208" y="128"/>
                  <a:pt x="208" y="118"/>
                </a:cubicBezTo>
                <a:lnTo>
                  <a:pt x="208" y="34"/>
                </a:lnTo>
                <a:cubicBezTo>
                  <a:pt x="208" y="24"/>
                  <a:pt x="216" y="16"/>
                  <a:pt x="226" y="16"/>
                </a:cubicBezTo>
                <a:lnTo>
                  <a:pt x="295" y="16"/>
                </a:lnTo>
                <a:cubicBezTo>
                  <a:pt x="298" y="16"/>
                  <a:pt x="300" y="14"/>
                  <a:pt x="300" y="11"/>
                </a:cubicBezTo>
                <a:lnTo>
                  <a:pt x="300" y="0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curve 95"/>
          <p:cNvSpPr/>
          <p:nvPr/>
        </p:nvSpPr>
        <p:spPr>
          <a:xfrm>
            <a:off x="3225768" y="4501263"/>
            <a:ext cx="2468700" cy="1119144"/>
          </a:xfrm>
          <a:custGeom>
            <a:avLst/>
            <a:gdLst/>
            <a:ahLst/>
            <a:cxnLst/>
            <a:rect l="l" t="t" r="r" b="b"/>
            <a:pathLst>
              <a:path w="300" h="136">
                <a:moveTo>
                  <a:pt x="0" y="136"/>
                </a:moveTo>
                <a:lnTo>
                  <a:pt x="190" y="136"/>
                </a:lnTo>
                <a:cubicBezTo>
                  <a:pt x="200" y="136"/>
                  <a:pt x="208" y="128"/>
                  <a:pt x="208" y="118"/>
                </a:cubicBezTo>
                <a:lnTo>
                  <a:pt x="208" y="34"/>
                </a:lnTo>
                <a:cubicBezTo>
                  <a:pt x="208" y="24"/>
                  <a:pt x="216" y="16"/>
                  <a:pt x="226" y="16"/>
                </a:cubicBezTo>
                <a:lnTo>
                  <a:pt x="295" y="16"/>
                </a:lnTo>
                <a:cubicBezTo>
                  <a:pt x="298" y="16"/>
                  <a:pt x="300" y="14"/>
                  <a:pt x="300" y="11"/>
                </a:cubicBezTo>
                <a:lnTo>
                  <a:pt x="300" y="0"/>
                </a:lnTo>
              </a:path>
            </a:pathLst>
          </a:custGeom>
          <a:noFill/>
          <a:ln w="39502">
            <a:solidFill>
              <a:srgbClr val="2753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arrowhead 96"/>
          <p:cNvSpPr/>
          <p:nvPr/>
        </p:nvSpPr>
        <p:spPr>
          <a:xfrm>
            <a:off x="5645094" y="4501263"/>
            <a:ext cx="98748" cy="98748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6" y="0"/>
                </a:moveTo>
                <a:lnTo>
                  <a:pt x="12" y="12"/>
                </a:lnTo>
                <a:lnTo>
                  <a:pt x="6" y="9"/>
                </a:lnTo>
                <a:lnTo>
                  <a:pt x="0" y="12"/>
                </a:lnTo>
                <a:close/>
              </a:path>
            </a:pathLst>
          </a:custGeom>
          <a:solidFill>
            <a:srgbClr val="275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circle 97"/>
          <p:cNvSpPr/>
          <p:nvPr/>
        </p:nvSpPr>
        <p:spPr>
          <a:xfrm>
            <a:off x="4781049" y="5014524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2"/>
          <p:cNvSpPr txBox="1"/>
          <p:nvPr/>
        </p:nvSpPr>
        <p:spPr>
          <a:xfrm>
            <a:off x="4832191" y="5012467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2</a:t>
            </a:r>
          </a:p>
        </p:txBody>
      </p:sp>
      <p:sp>
        <p:nvSpPr>
          <p:cNvPr id="100" name="按容量预算选择"/>
          <p:cNvSpPr txBox="1"/>
          <p:nvPr/>
        </p:nvSpPr>
        <p:spPr>
          <a:xfrm>
            <a:off x="5603949" y="5294310"/>
            <a:ext cx="1538823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按容量预算选择</a:t>
            </a:r>
          </a:p>
        </p:txBody>
      </p:sp>
      <p:sp>
        <p:nvSpPr>
          <p:cNvPr id="101" name="原生队列"/>
          <p:cNvSpPr txBox="1"/>
          <p:nvPr/>
        </p:nvSpPr>
        <p:spPr>
          <a:xfrm>
            <a:off x="9142419" y="5006295"/>
            <a:ext cx="921648" cy="3312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原生队列</a:t>
            </a:r>
          </a:p>
        </p:txBody>
      </p:sp>
      <p:sp>
        <p:nvSpPr>
          <p:cNvPr id="102" name="rect 101"/>
          <p:cNvSpPr/>
          <p:nvPr/>
        </p:nvSpPr>
        <p:spPr>
          <a:xfrm>
            <a:off x="9150648" y="5351913"/>
            <a:ext cx="1785693" cy="2633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 102"/>
          <p:cNvSpPr/>
          <p:nvPr/>
        </p:nvSpPr>
        <p:spPr>
          <a:xfrm>
            <a:off x="9158877" y="5360142"/>
            <a:ext cx="82290" cy="246870"/>
          </a:xfrm>
          <a:prstGeom prst="rect">
            <a:avLst/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P"/>
          <p:cNvSpPr txBox="1"/>
          <p:nvPr/>
        </p:nvSpPr>
        <p:spPr>
          <a:xfrm>
            <a:off x="9444128" y="5353641"/>
            <a:ext cx="203025" cy="2612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1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P</a:t>
            </a:r>
          </a:p>
        </p:txBody>
      </p:sp>
      <p:sp>
        <p:nvSpPr>
          <p:cNvPr id="105" name="rect 104"/>
          <p:cNvSpPr/>
          <p:nvPr/>
        </p:nvSpPr>
        <p:spPr>
          <a:xfrm>
            <a:off x="10319166" y="5393058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 105"/>
          <p:cNvSpPr/>
          <p:nvPr/>
        </p:nvSpPr>
        <p:spPr>
          <a:xfrm>
            <a:off x="10335624" y="5409516"/>
            <a:ext cx="90519" cy="27156"/>
          </a:xfrm>
          <a:prstGeom prst="roundRect">
            <a:avLst>
              <a:gd name="adj" fmla="val 30303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 106"/>
          <p:cNvSpPr/>
          <p:nvPr/>
        </p:nvSpPr>
        <p:spPr>
          <a:xfrm>
            <a:off x="10483746" y="5393058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 107"/>
          <p:cNvSpPr/>
          <p:nvPr/>
        </p:nvSpPr>
        <p:spPr>
          <a:xfrm>
            <a:off x="10500204" y="5409516"/>
            <a:ext cx="90519" cy="27156"/>
          </a:xfrm>
          <a:prstGeom prst="roundRect">
            <a:avLst>
              <a:gd name="adj" fmla="val 30303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 108"/>
          <p:cNvSpPr/>
          <p:nvPr/>
        </p:nvSpPr>
        <p:spPr>
          <a:xfrm>
            <a:off x="10648326" y="5393058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 109"/>
          <p:cNvSpPr/>
          <p:nvPr/>
        </p:nvSpPr>
        <p:spPr>
          <a:xfrm>
            <a:off x="10664784" y="5409516"/>
            <a:ext cx="90519" cy="27156"/>
          </a:xfrm>
          <a:prstGeom prst="roundRect">
            <a:avLst>
              <a:gd name="adj" fmla="val 30303"/>
            </a:avLst>
          </a:prstGeom>
          <a:solidFill>
            <a:srgbClr val="A6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 110"/>
          <p:cNvSpPr/>
          <p:nvPr/>
        </p:nvSpPr>
        <p:spPr>
          <a:xfrm>
            <a:off x="9150648" y="5713989"/>
            <a:ext cx="1785693" cy="2633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 111"/>
          <p:cNvSpPr/>
          <p:nvPr/>
        </p:nvSpPr>
        <p:spPr>
          <a:xfrm>
            <a:off x="9158877" y="5722218"/>
            <a:ext cx="82290" cy="246870"/>
          </a:xfrm>
          <a:prstGeom prst="rect">
            <a:avLst/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hit"/>
          <p:cNvSpPr txBox="1"/>
          <p:nvPr/>
        </p:nvSpPr>
        <p:spPr>
          <a:xfrm>
            <a:off x="9389546" y="5715717"/>
            <a:ext cx="312188" cy="2612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1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hit</a:t>
            </a:r>
          </a:p>
        </p:txBody>
      </p:sp>
      <p:sp>
        <p:nvSpPr>
          <p:cNvPr id="114" name="rect 113"/>
          <p:cNvSpPr/>
          <p:nvPr/>
        </p:nvSpPr>
        <p:spPr>
          <a:xfrm>
            <a:off x="10319166" y="5755134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 114"/>
          <p:cNvSpPr/>
          <p:nvPr/>
        </p:nvSpPr>
        <p:spPr>
          <a:xfrm>
            <a:off x="10335624" y="5771592"/>
            <a:ext cx="90519" cy="27156"/>
          </a:xfrm>
          <a:prstGeom prst="roundRect">
            <a:avLst>
              <a:gd name="adj" fmla="val 30303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 115"/>
          <p:cNvSpPr/>
          <p:nvPr/>
        </p:nvSpPr>
        <p:spPr>
          <a:xfrm>
            <a:off x="10483746" y="5755134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 116"/>
          <p:cNvSpPr/>
          <p:nvPr/>
        </p:nvSpPr>
        <p:spPr>
          <a:xfrm>
            <a:off x="10500204" y="5771592"/>
            <a:ext cx="90519" cy="27156"/>
          </a:xfrm>
          <a:prstGeom prst="roundRect">
            <a:avLst>
              <a:gd name="adj" fmla="val 30303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 117"/>
          <p:cNvSpPr/>
          <p:nvPr/>
        </p:nvSpPr>
        <p:spPr>
          <a:xfrm>
            <a:off x="10648326" y="5755134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D7AEFF"/>
          </a:solidFill>
          <a:ln w="13167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 118"/>
          <p:cNvSpPr/>
          <p:nvPr/>
        </p:nvSpPr>
        <p:spPr>
          <a:xfrm>
            <a:off x="10664784" y="5771592"/>
            <a:ext cx="90519" cy="27156"/>
          </a:xfrm>
          <a:prstGeom prst="roundRect">
            <a:avLst>
              <a:gd name="adj" fmla="val 30303"/>
            </a:avLst>
          </a:prstGeom>
          <a:solidFill>
            <a:srgbClr val="84E2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 119"/>
          <p:cNvSpPr/>
          <p:nvPr/>
        </p:nvSpPr>
        <p:spPr>
          <a:xfrm>
            <a:off x="9150648" y="6076065"/>
            <a:ext cx="1785693" cy="2633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481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 120"/>
          <p:cNvSpPr/>
          <p:nvPr/>
        </p:nvSpPr>
        <p:spPr>
          <a:xfrm>
            <a:off x="9158877" y="6084294"/>
            <a:ext cx="82290" cy="2468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ld"/>
          <p:cNvSpPr txBox="1"/>
          <p:nvPr/>
        </p:nvSpPr>
        <p:spPr>
          <a:xfrm>
            <a:off x="9372365" y="6077793"/>
            <a:ext cx="346550" cy="2612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1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old</a:t>
            </a:r>
          </a:p>
        </p:txBody>
      </p:sp>
      <p:sp>
        <p:nvSpPr>
          <p:cNvPr id="123" name="rect 122"/>
          <p:cNvSpPr/>
          <p:nvPr/>
        </p:nvSpPr>
        <p:spPr>
          <a:xfrm>
            <a:off x="10319166" y="6117210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167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 123"/>
          <p:cNvSpPr/>
          <p:nvPr/>
        </p:nvSpPr>
        <p:spPr>
          <a:xfrm>
            <a:off x="10335624" y="6133668"/>
            <a:ext cx="90519" cy="27156"/>
          </a:xfrm>
          <a:prstGeom prst="roundRect">
            <a:avLst>
              <a:gd name="adj" fmla="val 30303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 124"/>
          <p:cNvSpPr/>
          <p:nvPr/>
        </p:nvSpPr>
        <p:spPr>
          <a:xfrm>
            <a:off x="10483746" y="6117210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167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 125"/>
          <p:cNvSpPr/>
          <p:nvPr/>
        </p:nvSpPr>
        <p:spPr>
          <a:xfrm>
            <a:off x="10500204" y="6133668"/>
            <a:ext cx="90519" cy="27156"/>
          </a:xfrm>
          <a:prstGeom prst="roundRect">
            <a:avLst>
              <a:gd name="adj" fmla="val 30303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 126"/>
          <p:cNvSpPr/>
          <p:nvPr/>
        </p:nvSpPr>
        <p:spPr>
          <a:xfrm>
            <a:off x="10648326" y="6117210"/>
            <a:ext cx="123435" cy="181038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167">
            <a:solidFill>
              <a:srgbClr val="0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 127"/>
          <p:cNvSpPr/>
          <p:nvPr/>
        </p:nvSpPr>
        <p:spPr>
          <a:xfrm>
            <a:off x="10664784" y="6133668"/>
            <a:ext cx="90519" cy="27156"/>
          </a:xfrm>
          <a:prstGeom prst="roundRect">
            <a:avLst>
              <a:gd name="adj" fmla="val 30303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curve 128"/>
          <p:cNvSpPr/>
          <p:nvPr/>
        </p:nvSpPr>
        <p:spPr>
          <a:xfrm>
            <a:off x="8475870" y="5480514"/>
            <a:ext cx="641862" cy="724152"/>
          </a:xfrm>
          <a:custGeom>
            <a:avLst/>
            <a:gdLst/>
            <a:ahLst/>
            <a:cxnLst/>
            <a:rect l="l" t="t" r="r" b="b"/>
            <a:pathLst>
              <a:path w="78" h="88">
                <a:moveTo>
                  <a:pt x="0" y="88"/>
                </a:moveTo>
                <a:lnTo>
                  <a:pt x="27" y="88"/>
                </a:lnTo>
                <a:cubicBezTo>
                  <a:pt x="34" y="88"/>
                  <a:pt x="40" y="82"/>
                  <a:pt x="40" y="75"/>
                </a:cubicBezTo>
                <a:lnTo>
                  <a:pt x="40" y="13"/>
                </a:lnTo>
                <a:cubicBezTo>
                  <a:pt x="40" y="6"/>
                  <a:pt x="46" y="0"/>
                  <a:pt x="53" y="0"/>
                </a:cubicBezTo>
                <a:lnTo>
                  <a:pt x="78" y="0"/>
                </a:lnTo>
              </a:path>
            </a:pathLst>
          </a:custGeom>
          <a:noFill/>
          <a:ln w="55961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curve 129"/>
          <p:cNvSpPr/>
          <p:nvPr/>
        </p:nvSpPr>
        <p:spPr>
          <a:xfrm>
            <a:off x="8475870" y="5480514"/>
            <a:ext cx="641862" cy="724152"/>
          </a:xfrm>
          <a:custGeom>
            <a:avLst/>
            <a:gdLst/>
            <a:ahLst/>
            <a:cxnLst/>
            <a:rect l="l" t="t" r="r" b="b"/>
            <a:pathLst>
              <a:path w="78" h="88">
                <a:moveTo>
                  <a:pt x="0" y="88"/>
                </a:moveTo>
                <a:lnTo>
                  <a:pt x="27" y="88"/>
                </a:lnTo>
                <a:cubicBezTo>
                  <a:pt x="34" y="88"/>
                  <a:pt x="40" y="82"/>
                  <a:pt x="40" y="75"/>
                </a:cubicBezTo>
                <a:lnTo>
                  <a:pt x="40" y="13"/>
                </a:lnTo>
                <a:cubicBezTo>
                  <a:pt x="40" y="6"/>
                  <a:pt x="46" y="0"/>
                  <a:pt x="53" y="0"/>
                </a:cubicBezTo>
                <a:lnTo>
                  <a:pt x="78" y="0"/>
                </a:lnTo>
              </a:path>
            </a:pathLst>
          </a:custGeom>
          <a:noFill/>
          <a:ln w="39502">
            <a:solidFill>
              <a:srgbClr val="215F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arrowhead 130"/>
          <p:cNvSpPr/>
          <p:nvPr/>
        </p:nvSpPr>
        <p:spPr>
          <a:xfrm>
            <a:off x="9018984" y="5431140"/>
            <a:ext cx="98748" cy="98748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0" y="12"/>
                </a:moveTo>
                <a:lnTo>
                  <a:pt x="12" y="6"/>
                </a:lnTo>
                <a:lnTo>
                  <a:pt x="0" y="0"/>
                </a:lnTo>
              </a:path>
            </a:pathLst>
          </a:custGeom>
          <a:noFill/>
          <a:ln w="1543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JOIN + request"/>
          <p:cNvSpPr txBox="1"/>
          <p:nvPr/>
        </p:nvSpPr>
        <p:spPr>
          <a:xfrm>
            <a:off x="7393274" y="6555404"/>
            <a:ext cx="1391665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JOIN + request</a:t>
            </a:r>
          </a:p>
        </p:txBody>
      </p:sp>
      <p:cxnSp>
        <p:nvCxnSpPr>
          <p:cNvPr id="133" name="line 132"/>
          <p:cNvCxnSpPr/>
          <p:nvPr/>
        </p:nvCxnSpPr>
        <p:spPr>
          <a:xfrm>
            <a:off x="11989653" y="5212020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line 133"/>
          <p:cNvCxnSpPr/>
          <p:nvPr/>
        </p:nvCxnSpPr>
        <p:spPr>
          <a:xfrm>
            <a:off x="11989653" y="6108981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line 134"/>
          <p:cNvCxnSpPr/>
          <p:nvPr/>
        </p:nvCxnSpPr>
        <p:spPr>
          <a:xfrm>
            <a:off x="12154233" y="5212020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line 135"/>
          <p:cNvCxnSpPr/>
          <p:nvPr/>
        </p:nvCxnSpPr>
        <p:spPr>
          <a:xfrm>
            <a:off x="12154233" y="6108981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line 136"/>
          <p:cNvCxnSpPr/>
          <p:nvPr/>
        </p:nvCxnSpPr>
        <p:spPr>
          <a:xfrm>
            <a:off x="12318813" y="5212020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line 137"/>
          <p:cNvCxnSpPr/>
          <p:nvPr/>
        </p:nvCxnSpPr>
        <p:spPr>
          <a:xfrm>
            <a:off x="12318813" y="6108981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line 138"/>
          <p:cNvCxnSpPr/>
          <p:nvPr/>
        </p:nvCxnSpPr>
        <p:spPr>
          <a:xfrm>
            <a:off x="12483393" y="5212020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line 139"/>
          <p:cNvCxnSpPr/>
          <p:nvPr/>
        </p:nvCxnSpPr>
        <p:spPr>
          <a:xfrm>
            <a:off x="12483393" y="6108981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line 140"/>
          <p:cNvCxnSpPr/>
          <p:nvPr/>
        </p:nvCxnSpPr>
        <p:spPr>
          <a:xfrm>
            <a:off x="12647973" y="5212020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line 141"/>
          <p:cNvCxnSpPr/>
          <p:nvPr/>
        </p:nvCxnSpPr>
        <p:spPr>
          <a:xfrm>
            <a:off x="12647973" y="6108981"/>
            <a:ext cx="0" cy="8229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line 142"/>
          <p:cNvCxnSpPr/>
          <p:nvPr/>
        </p:nvCxnSpPr>
        <p:spPr>
          <a:xfrm>
            <a:off x="11792157" y="5417745"/>
            <a:ext cx="82290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line 143"/>
          <p:cNvCxnSpPr/>
          <p:nvPr/>
        </p:nvCxnSpPr>
        <p:spPr>
          <a:xfrm>
            <a:off x="12829011" y="5417745"/>
            <a:ext cx="82290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line 144"/>
          <p:cNvCxnSpPr/>
          <p:nvPr/>
        </p:nvCxnSpPr>
        <p:spPr>
          <a:xfrm>
            <a:off x="11792157" y="5582325"/>
            <a:ext cx="82290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line 145"/>
          <p:cNvCxnSpPr/>
          <p:nvPr/>
        </p:nvCxnSpPr>
        <p:spPr>
          <a:xfrm>
            <a:off x="12829011" y="5582325"/>
            <a:ext cx="82290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line 146"/>
          <p:cNvCxnSpPr/>
          <p:nvPr/>
        </p:nvCxnSpPr>
        <p:spPr>
          <a:xfrm>
            <a:off x="11792157" y="5746905"/>
            <a:ext cx="82290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line 147"/>
          <p:cNvCxnSpPr/>
          <p:nvPr/>
        </p:nvCxnSpPr>
        <p:spPr>
          <a:xfrm>
            <a:off x="12829011" y="5746905"/>
            <a:ext cx="82290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line 148"/>
          <p:cNvCxnSpPr/>
          <p:nvPr/>
        </p:nvCxnSpPr>
        <p:spPr>
          <a:xfrm>
            <a:off x="11792157" y="5911485"/>
            <a:ext cx="82290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line 149"/>
          <p:cNvCxnSpPr/>
          <p:nvPr/>
        </p:nvCxnSpPr>
        <p:spPr>
          <a:xfrm>
            <a:off x="12829011" y="5911485"/>
            <a:ext cx="82290" cy="0"/>
          </a:xfrm>
          <a:prstGeom prst="line">
            <a:avLst/>
          </a:prstGeom>
          <a:ln w="16459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 150"/>
          <p:cNvSpPr/>
          <p:nvPr/>
        </p:nvSpPr>
        <p:spPr>
          <a:xfrm>
            <a:off x="11874447" y="5294310"/>
            <a:ext cx="954564" cy="814671"/>
          </a:xfrm>
          <a:prstGeom prst="roundRect">
            <a:avLst>
              <a:gd name="adj" fmla="val 2020"/>
            </a:avLst>
          </a:prstGeom>
          <a:solidFill>
            <a:srgbClr val="A6CAEC"/>
          </a:solidFill>
          <a:ln w="16459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PU"/>
          <p:cNvSpPr txBox="1"/>
          <p:nvPr/>
        </p:nvSpPr>
        <p:spPr>
          <a:xfrm>
            <a:off x="12091824" y="5302539"/>
            <a:ext cx="519809" cy="3209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GPU</a:t>
            </a:r>
          </a:p>
        </p:txBody>
      </p:sp>
      <p:sp>
        <p:nvSpPr>
          <p:cNvPr id="153" name="rect 152"/>
          <p:cNvSpPr/>
          <p:nvPr/>
        </p:nvSpPr>
        <p:spPr>
          <a:xfrm>
            <a:off x="11981424" y="5639928"/>
            <a:ext cx="222183" cy="135778"/>
          </a:xfrm>
          <a:prstGeom prst="roundRect">
            <a:avLst>
              <a:gd name="adj" fmla="val 6060"/>
            </a:avLst>
          </a:prstGeom>
          <a:solidFill>
            <a:srgbClr val="A6CAEC"/>
          </a:solidFill>
          <a:ln w="905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 153"/>
          <p:cNvSpPr/>
          <p:nvPr/>
        </p:nvSpPr>
        <p:spPr>
          <a:xfrm>
            <a:off x="12239266" y="5639928"/>
            <a:ext cx="222183" cy="135778"/>
          </a:xfrm>
          <a:prstGeom prst="roundRect">
            <a:avLst>
              <a:gd name="adj" fmla="val 6060"/>
            </a:avLst>
          </a:prstGeom>
          <a:solidFill>
            <a:srgbClr val="84E291"/>
          </a:solidFill>
          <a:ln w="905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 154"/>
          <p:cNvSpPr/>
          <p:nvPr/>
        </p:nvSpPr>
        <p:spPr>
          <a:xfrm>
            <a:off x="12497108" y="5639928"/>
            <a:ext cx="222183" cy="135778"/>
          </a:xfrm>
          <a:prstGeom prst="roundRect">
            <a:avLst>
              <a:gd name="adj" fmla="val 6060"/>
            </a:avLst>
          </a:prstGeom>
          <a:solidFill>
            <a:srgbClr val="A6CAEC"/>
          </a:solidFill>
          <a:ln w="905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 155"/>
          <p:cNvSpPr/>
          <p:nvPr/>
        </p:nvSpPr>
        <p:spPr>
          <a:xfrm>
            <a:off x="11981424" y="5829195"/>
            <a:ext cx="222183" cy="135778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905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 156"/>
          <p:cNvSpPr/>
          <p:nvPr/>
        </p:nvSpPr>
        <p:spPr>
          <a:xfrm>
            <a:off x="12239266" y="5829195"/>
            <a:ext cx="222183" cy="135778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905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 157"/>
          <p:cNvSpPr/>
          <p:nvPr/>
        </p:nvSpPr>
        <p:spPr>
          <a:xfrm>
            <a:off x="12497108" y="5829195"/>
            <a:ext cx="222183" cy="135778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9052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path 158"/>
          <p:cNvCxnSpPr/>
          <p:nvPr/>
        </p:nvCxnSpPr>
        <p:spPr>
          <a:xfrm>
            <a:off x="10993944" y="5483577"/>
            <a:ext cx="773526" cy="0"/>
          </a:xfrm>
          <a:prstGeom prst="line">
            <a:avLst/>
          </a:prstGeom>
          <a:ln w="65836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path 159"/>
          <p:cNvCxnSpPr/>
          <p:nvPr/>
        </p:nvCxnSpPr>
        <p:spPr>
          <a:xfrm>
            <a:off x="10993944" y="5483577"/>
            <a:ext cx="773526" cy="0"/>
          </a:xfrm>
          <a:prstGeom prst="line">
            <a:avLst/>
          </a:prstGeom>
          <a:ln w="49377">
            <a:solidFill>
              <a:srgbClr val="1560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arrowhead 160"/>
          <p:cNvSpPr/>
          <p:nvPr/>
        </p:nvSpPr>
        <p:spPr>
          <a:xfrm>
            <a:off x="11619348" y="5406453"/>
            <a:ext cx="148122" cy="14812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18" y="9"/>
                </a:moveTo>
                <a:lnTo>
                  <a:pt x="0" y="18"/>
                </a:lnTo>
                <a:lnTo>
                  <a:pt x="0" y="0"/>
                </a:lnTo>
                <a:close/>
              </a:path>
            </a:pathLst>
          </a:cu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circle 161"/>
          <p:cNvSpPr/>
          <p:nvPr/>
        </p:nvSpPr>
        <p:spPr>
          <a:xfrm>
            <a:off x="11224356" y="5327226"/>
            <a:ext cx="312702" cy="312702"/>
          </a:xfrm>
          <a:prstGeom prst="ellipse">
            <a:avLst/>
          </a:prstGeom>
          <a:solidFill>
            <a:srgbClr val="000000"/>
          </a:solidFill>
          <a:ln w="24688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4"/>
          <p:cNvSpPr txBox="1"/>
          <p:nvPr/>
        </p:nvSpPr>
        <p:spPr>
          <a:xfrm>
            <a:off x="11275498" y="5325169"/>
            <a:ext cx="210418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1" i="0" lang="zh-CN" spc="0">
                <a:solidFill>
                  <a:srgbClr val="FFFFFF"/>
                </a:solidFill>
                <a:latin typeface="Noto Sans CJK SC"/>
                <a:ea typeface="Noto Sans CJK SC"/>
                <a:effectLst/>
              </a:rPr>
              <a:t>4</a:t>
            </a:r>
          </a:p>
        </p:txBody>
      </p:sp>
      <p:sp>
        <p:nvSpPr>
          <p:cNvPr id="164" name="数据 + slot"/>
          <p:cNvSpPr txBox="1"/>
          <p:nvPr/>
        </p:nvSpPr>
        <p:spPr>
          <a:xfrm>
            <a:off x="11339562" y="6308534"/>
            <a:ext cx="991916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数据 + slot</a:t>
            </a:r>
          </a:p>
        </p:txBody>
      </p:sp>
      <p:sp>
        <p:nvSpPr>
          <p:cNvPr id="165" name="有界优先 + 老化"/>
          <p:cNvSpPr txBox="1"/>
          <p:nvPr/>
        </p:nvSpPr>
        <p:spPr>
          <a:xfrm>
            <a:off x="9142419" y="6308534"/>
            <a:ext cx="1424196" cy="3085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0" b="0" i="0" lang="zh-CN" spc="0">
                <a:solidFill>
                  <a:srgbClr val="000000"/>
                </a:solidFill>
                <a:latin typeface="Noto Sans CJK SC"/>
                <a:ea typeface="Noto Sans CJK SC"/>
                <a:effectLst/>
              </a:rPr>
              <a:t>有界优先 + 老化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BeliefKV 系统架构图</dc:title>
  <dc:subject>Current development architecture as of 2026-10-15</dc:subject>
  <dc:creator>BeliefKV</dc:creator>
  <cp:keywords>BeliefKV, dynamic agent workflows, KV cache, native editable diagrams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