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3167360" cy="92354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系统架构。运行时事件构建动态工作流依赖图；模型估计 child/tool 完成进度，runtime 决定迁移与准入。SGLang 负责物理缓存有效性、分配和执行。架构图不代表已经取得吞吐提升。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时序为机制示意，不是实测加速。Child 模型使用已送达正文、收尾通知及已观测进度，不将未来服务时间用作在线输入。工具模型以已执行时长为条件滚动预测。部分传输重叠也可利用；是否能开始执行由原生逐层数据依赖决定。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PREPARE_HOST 仅增量备份缺失 FULL，不释放 HBM、不投机备份 Mamba；恢复时选择目标 checkpoint 必需的状态。仅回收终态 child 的私有、无引用、无在途使用页面。较早返回的 sibling 可在最后一个 child 运行时为预测 H2D 提供容量；最后一个 child 自身容量只能在完成后使用。容量交接不要求复用相同物理页号。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eliefKV：面向动态 Agent 工作流的 KV 管理"/>
          <p:cNvSpPr txBox="1"/>
          <p:nvPr/>
        </p:nvSpPr>
        <p:spPr>
          <a:xfrm>
            <a:off x="365760" y="498348"/>
            <a:ext cx="6380833" cy="4892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48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BeliefKV：面向动态 Agent 工作流的 KV 管理</a:t>
            </a:r>
          </a:p>
        </p:txBody>
      </p:sp>
      <p:sp>
        <p:nvSpPr>
          <p:cNvPr id="3" name="动态依赖感知  /  预测性迁移  /  原生执行协同"/>
          <p:cNvSpPr txBox="1"/>
          <p:nvPr/>
        </p:nvSpPr>
        <p:spPr>
          <a:xfrm>
            <a:off x="365760" y="916686"/>
            <a:ext cx="4047934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动态依赖感知  /  预测性迁移  /  原生执行协同</a:t>
            </a:r>
          </a:p>
        </p:txBody>
      </p:sp>
      <p:sp>
        <p:nvSpPr>
          <p:cNvPr id="4" name="rect 3"/>
          <p:cNvSpPr/>
          <p:nvPr/>
        </p:nvSpPr>
        <p:spPr>
          <a:xfrm>
            <a:off x="365760" y="1426464"/>
            <a:ext cx="12435840" cy="1609344"/>
          </a:xfrm>
          <a:prstGeom prst="roundRect">
            <a:avLst>
              <a:gd name="adj" fmla="val 1704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line 4"/>
          <p:cNvCxnSpPr/>
          <p:nvPr/>
        </p:nvCxnSpPr>
        <p:spPr>
          <a:xfrm>
            <a:off x="374904" y="1435608"/>
            <a:ext cx="12417552" cy="0"/>
          </a:xfrm>
          <a:prstGeom prst="line">
            <a:avLst/>
          </a:prstGeom>
          <a:ln w="27432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(a) Agent 执行框架"/>
          <p:cNvSpPr txBox="1"/>
          <p:nvPr/>
        </p:nvSpPr>
        <p:spPr>
          <a:xfrm>
            <a:off x="566928" y="1515618"/>
            <a:ext cx="2169378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(a) Agent 执行框架</a:t>
            </a:r>
          </a:p>
        </p:txBody>
      </p:sp>
      <p:sp>
        <p:nvSpPr>
          <p:cNvPr id="7" name="circle 6"/>
          <p:cNvSpPr/>
          <p:nvPr/>
        </p:nvSpPr>
        <p:spPr>
          <a:xfrm>
            <a:off x="731520" y="2148840"/>
            <a:ext cx="438912" cy="438912"/>
          </a:xfrm>
          <a:prstGeom prst="ellipse">
            <a:avLst/>
          </a:prstGeom>
          <a:solidFill>
            <a:srgbClr val="EDF3F8"/>
          </a:solidFill>
          <a:ln w="1280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"/>
          <p:cNvSpPr txBox="1"/>
          <p:nvPr/>
        </p:nvSpPr>
        <p:spPr>
          <a:xfrm>
            <a:off x="819870" y="2183130"/>
            <a:ext cx="262211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9" name="circle 8"/>
          <p:cNvSpPr/>
          <p:nvPr/>
        </p:nvSpPr>
        <p:spPr>
          <a:xfrm>
            <a:off x="2048256" y="1938528"/>
            <a:ext cx="420624" cy="420624"/>
          </a:xfrm>
          <a:prstGeom prst="ellipse">
            <a:avLst/>
          </a:prstGeom>
          <a:solidFill>
            <a:srgbClr val="FFFFFF"/>
          </a:solidFill>
          <a:ln w="1280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1"/>
          <p:cNvSpPr txBox="1"/>
          <p:nvPr/>
        </p:nvSpPr>
        <p:spPr>
          <a:xfrm>
            <a:off x="2084064" y="1992020"/>
            <a:ext cx="34900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C1</a:t>
            </a:r>
          </a:p>
        </p:txBody>
      </p:sp>
      <p:sp>
        <p:nvSpPr>
          <p:cNvPr id="11" name="circle 10"/>
          <p:cNvSpPr/>
          <p:nvPr/>
        </p:nvSpPr>
        <p:spPr>
          <a:xfrm>
            <a:off x="2048256" y="2487168"/>
            <a:ext cx="420624" cy="420624"/>
          </a:xfrm>
          <a:prstGeom prst="ellipse">
            <a:avLst/>
          </a:prstGeom>
          <a:solidFill>
            <a:srgbClr val="FFFFFF"/>
          </a:solidFill>
          <a:ln w="1280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2"/>
          <p:cNvSpPr txBox="1"/>
          <p:nvPr/>
        </p:nvSpPr>
        <p:spPr>
          <a:xfrm>
            <a:off x="2084064" y="2540660"/>
            <a:ext cx="34900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C2</a:t>
            </a:r>
          </a:p>
        </p:txBody>
      </p:sp>
      <p:sp>
        <p:nvSpPr>
          <p:cNvPr id="13" name="polygon 12"/>
          <p:cNvSpPr/>
          <p:nvPr/>
        </p:nvSpPr>
        <p:spPr>
          <a:xfrm>
            <a:off x="3145536" y="2121408"/>
            <a:ext cx="841248" cy="603504"/>
          </a:xfrm>
          <a:custGeom>
            <a:avLst/>
            <a:gdLst/>
            <a:ahLst/>
            <a:cxnLst/>
            <a:rect l="l" t="t" r="r" b="b"/>
            <a:pathLst>
              <a:path w="92" h="66">
                <a:moveTo>
                  <a:pt x="46" y="0"/>
                </a:moveTo>
                <a:lnTo>
                  <a:pt x="92" y="33"/>
                </a:lnTo>
                <a:lnTo>
                  <a:pt x="46" y="66"/>
                </a:lnTo>
                <a:lnTo>
                  <a:pt x="0" y="33"/>
                </a:lnTo>
                <a:close/>
              </a:path>
            </a:pathLst>
          </a:custGeom>
          <a:solidFill>
            <a:srgbClr val="FBF2E3"/>
          </a:solidFill>
          <a:ln w="13716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JOIN"/>
          <p:cNvSpPr txBox="1"/>
          <p:nvPr/>
        </p:nvSpPr>
        <p:spPr>
          <a:xfrm>
            <a:off x="3279213" y="2253996"/>
            <a:ext cx="573893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JOIN</a:t>
            </a:r>
          </a:p>
        </p:txBody>
      </p:sp>
      <p:cxnSp>
        <p:nvCxnSpPr>
          <p:cNvPr id="15" name="path 14"/>
          <p:cNvCxnSpPr/>
          <p:nvPr/>
        </p:nvCxnSpPr>
        <p:spPr>
          <a:xfrm flipV="1">
            <a:off x="1170432" y="2167128"/>
            <a:ext cx="850392" cy="13716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path 15"/>
          <p:cNvCxnSpPr/>
          <p:nvPr/>
        </p:nvCxnSpPr>
        <p:spPr>
          <a:xfrm>
            <a:off x="1170432" y="2432304"/>
            <a:ext cx="850392" cy="237744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ath 16"/>
          <p:cNvSpPr/>
          <p:nvPr/>
        </p:nvSpPr>
        <p:spPr>
          <a:xfrm>
            <a:off x="2487168" y="2148840"/>
            <a:ext cx="740664" cy="128016"/>
          </a:xfrm>
          <a:custGeom>
            <a:avLst/>
            <a:gdLst/>
            <a:ahLst/>
            <a:cxnLst/>
            <a:rect l="l" t="t" r="r" b="b"/>
            <a:pathLst>
              <a:path w="81" h="14">
                <a:moveTo>
                  <a:pt x="0" y="0"/>
                </a:moveTo>
                <a:lnTo>
                  <a:pt x="51" y="0"/>
                </a:lnTo>
                <a:lnTo>
                  <a:pt x="81" y="14"/>
                </a:lnTo>
              </a:path>
            </a:pathLst>
          </a:custGeom>
          <a:noFill/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th 17"/>
          <p:cNvSpPr/>
          <p:nvPr/>
        </p:nvSpPr>
        <p:spPr>
          <a:xfrm>
            <a:off x="2487168" y="2569464"/>
            <a:ext cx="740664" cy="128016"/>
          </a:xfrm>
          <a:custGeom>
            <a:avLst/>
            <a:gdLst/>
            <a:ahLst/>
            <a:cxnLst/>
            <a:rect l="l" t="t" r="r" b="b"/>
            <a:pathLst>
              <a:path w="81" h="14">
                <a:moveTo>
                  <a:pt x="0" y="14"/>
                </a:moveTo>
                <a:lnTo>
                  <a:pt x="51" y="14"/>
                </a:lnTo>
                <a:lnTo>
                  <a:pt x="81" y="0"/>
                </a:lnTo>
              </a:path>
            </a:pathLst>
          </a:custGeom>
          <a:noFill/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path 18"/>
          <p:cNvCxnSpPr/>
          <p:nvPr/>
        </p:nvCxnSpPr>
        <p:spPr>
          <a:xfrm>
            <a:off x="3986784" y="2423160"/>
            <a:ext cx="685800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ircle 19"/>
          <p:cNvSpPr/>
          <p:nvPr/>
        </p:nvSpPr>
        <p:spPr>
          <a:xfrm>
            <a:off x="4700016" y="2203704"/>
            <a:ext cx="438912" cy="438912"/>
          </a:xfrm>
          <a:prstGeom prst="ellipse">
            <a:avLst/>
          </a:prstGeom>
          <a:solidFill>
            <a:srgbClr val="EDF3F8"/>
          </a:solidFill>
          <a:ln w="1280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"/>
          <p:cNvSpPr txBox="1"/>
          <p:nvPr/>
        </p:nvSpPr>
        <p:spPr>
          <a:xfrm>
            <a:off x="4788366" y="2237994"/>
            <a:ext cx="262211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22" name="SPAWN"/>
          <p:cNvSpPr txBox="1"/>
          <p:nvPr/>
        </p:nvSpPr>
        <p:spPr>
          <a:xfrm>
            <a:off x="1163592" y="1876806"/>
            <a:ext cx="635472" cy="2628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SPAWN</a:t>
            </a:r>
          </a:p>
        </p:txBody>
      </p:sp>
      <p:sp>
        <p:nvSpPr>
          <p:cNvPr id="23" name="RETURN"/>
          <p:cNvSpPr txBox="1"/>
          <p:nvPr/>
        </p:nvSpPr>
        <p:spPr>
          <a:xfrm>
            <a:off x="2531334" y="2736342"/>
            <a:ext cx="716340" cy="2628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RETURN</a:t>
            </a:r>
          </a:p>
        </p:txBody>
      </p:sp>
      <p:cxnSp>
        <p:nvCxnSpPr>
          <p:cNvPr id="24" name="line 23"/>
          <p:cNvCxnSpPr/>
          <p:nvPr/>
        </p:nvCxnSpPr>
        <p:spPr>
          <a:xfrm>
            <a:off x="5504688" y="2002536"/>
            <a:ext cx="0" cy="850392"/>
          </a:xfrm>
          <a:prstGeom prst="line">
            <a:avLst/>
          </a:prstGeom>
          <a:ln w="13716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事件：SPAWN、工具调用、RETURN、JOIN"/>
          <p:cNvSpPr txBox="1"/>
          <p:nvPr/>
        </p:nvSpPr>
        <p:spPr>
          <a:xfrm>
            <a:off x="5760720" y="1901952"/>
            <a:ext cx="4405979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事件：SPAWN、工具调用、RETURN、JOIN</a:t>
            </a:r>
          </a:p>
        </p:txBody>
      </p:sp>
      <p:sp>
        <p:nvSpPr>
          <p:cNvPr id="26" name="信号：收尾通知、已输出正文"/>
          <p:cNvSpPr txBox="1"/>
          <p:nvPr/>
        </p:nvSpPr>
        <p:spPr>
          <a:xfrm>
            <a:off x="5760720" y="2221992"/>
            <a:ext cx="296265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信号：收尾通知、已输出正文</a:t>
            </a:r>
          </a:p>
        </p:txBody>
      </p:sp>
      <p:sp>
        <p:nvSpPr>
          <p:cNvPr id="27" name="进度：已观测 decode 与 GPU 服务"/>
          <p:cNvSpPr txBox="1"/>
          <p:nvPr/>
        </p:nvSpPr>
        <p:spPr>
          <a:xfrm>
            <a:off x="5760720" y="2542032"/>
            <a:ext cx="348468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进度：已观测 decode 与 GPU 服务</a:t>
            </a:r>
          </a:p>
        </p:txBody>
      </p:sp>
      <p:sp>
        <p:nvSpPr>
          <p:cNvPr id="28" name="因果状态更新"/>
          <p:cNvSpPr txBox="1"/>
          <p:nvPr/>
        </p:nvSpPr>
        <p:spPr>
          <a:xfrm>
            <a:off x="1499616" y="3104388"/>
            <a:ext cx="1261872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因果状态更新</a:t>
            </a:r>
          </a:p>
        </p:txBody>
      </p:sp>
      <p:cxnSp>
        <p:nvCxnSpPr>
          <p:cNvPr id="29" name="path 28"/>
          <p:cNvCxnSpPr/>
          <p:nvPr/>
        </p:nvCxnSpPr>
        <p:spPr>
          <a:xfrm>
            <a:off x="2130552" y="3035808"/>
            <a:ext cx="0" cy="566928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在线观测"/>
          <p:cNvSpPr txBox="1"/>
          <p:nvPr/>
        </p:nvSpPr>
        <p:spPr>
          <a:xfrm>
            <a:off x="5742432" y="3104388"/>
            <a:ext cx="877824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在线观测</a:t>
            </a:r>
          </a:p>
        </p:txBody>
      </p:sp>
      <p:cxnSp>
        <p:nvCxnSpPr>
          <p:cNvPr id="31" name="path 30"/>
          <p:cNvCxnSpPr/>
          <p:nvPr/>
        </p:nvCxnSpPr>
        <p:spPr>
          <a:xfrm>
            <a:off x="6181344" y="3035808"/>
            <a:ext cx="0" cy="566928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 31"/>
          <p:cNvSpPr/>
          <p:nvPr/>
        </p:nvSpPr>
        <p:spPr>
          <a:xfrm>
            <a:off x="365760" y="3621024"/>
            <a:ext cx="3602736" cy="2350008"/>
          </a:xfrm>
          <a:prstGeom prst="roundRect">
            <a:avLst>
              <a:gd name="adj" fmla="val 1167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line 32"/>
          <p:cNvCxnSpPr/>
          <p:nvPr/>
        </p:nvCxnSpPr>
        <p:spPr>
          <a:xfrm>
            <a:off x="374904" y="3630168"/>
            <a:ext cx="3584448" cy="0"/>
          </a:xfrm>
          <a:prstGeom prst="line">
            <a:avLst/>
          </a:prstGeom>
          <a:ln w="27432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(b) 因果状态"/>
          <p:cNvSpPr txBox="1"/>
          <p:nvPr/>
        </p:nvSpPr>
        <p:spPr>
          <a:xfrm>
            <a:off x="566928" y="3710178"/>
            <a:ext cx="1447502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(b) 因果状态</a:t>
            </a:r>
          </a:p>
        </p:txBody>
      </p:sp>
      <p:sp>
        <p:nvSpPr>
          <p:cNvPr id="35" name="运行时工作流依赖图"/>
          <p:cNvSpPr txBox="1"/>
          <p:nvPr/>
        </p:nvSpPr>
        <p:spPr>
          <a:xfrm>
            <a:off x="576072" y="4114800"/>
            <a:ext cx="208483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运行时工作流依赖图</a:t>
            </a:r>
          </a:p>
        </p:txBody>
      </p:sp>
      <p:sp>
        <p:nvSpPr>
          <p:cNvPr id="36" name="JOIN_ALL / 工具等待 / 可执行"/>
          <p:cNvSpPr txBox="1"/>
          <p:nvPr/>
        </p:nvSpPr>
        <p:spPr>
          <a:xfrm>
            <a:off x="576072" y="4471416"/>
            <a:ext cx="301216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JOIN_ALL / 工具等待 / 可执行</a:t>
            </a:r>
          </a:p>
        </p:txBody>
      </p:sp>
      <p:sp>
        <p:nvSpPr>
          <p:cNvPr id="37" name="Context 身份与版本"/>
          <p:cNvSpPr txBox="1"/>
          <p:nvPr/>
        </p:nvSpPr>
        <p:spPr>
          <a:xfrm>
            <a:off x="576072" y="4828032"/>
            <a:ext cx="2048399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Context 身份与版本</a:t>
            </a:r>
          </a:p>
        </p:txBody>
      </p:sp>
      <p:sp>
        <p:nvSpPr>
          <p:cNvPr id="38" name="rect 37"/>
          <p:cNvSpPr/>
          <p:nvPr/>
        </p:nvSpPr>
        <p:spPr>
          <a:xfrm>
            <a:off x="576072" y="5394960"/>
            <a:ext cx="1472184" cy="356616"/>
          </a:xfrm>
          <a:prstGeom prst="roundRect">
            <a:avLst>
              <a:gd name="adj" fmla="val 5128"/>
            </a:avLst>
          </a:prstGeom>
          <a:solidFill>
            <a:srgbClr val="FBF2E3"/>
          </a:solidFill>
          <a:ln w="11887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WAIT_JOIN"/>
          <p:cNvSpPr txBox="1"/>
          <p:nvPr/>
        </p:nvSpPr>
        <p:spPr>
          <a:xfrm>
            <a:off x="754826" y="5422849"/>
            <a:ext cx="1114675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WAIT_JOIN</a:t>
            </a:r>
          </a:p>
        </p:txBody>
      </p:sp>
      <p:sp>
        <p:nvSpPr>
          <p:cNvPr id="40" name="rect 39"/>
          <p:cNvSpPr/>
          <p:nvPr/>
        </p:nvSpPr>
        <p:spPr>
          <a:xfrm>
            <a:off x="2212848" y="5394960"/>
            <a:ext cx="1472184" cy="356616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188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ADY"/>
          <p:cNvSpPr txBox="1"/>
          <p:nvPr/>
        </p:nvSpPr>
        <p:spPr>
          <a:xfrm>
            <a:off x="2600629" y="5422849"/>
            <a:ext cx="696623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READY</a:t>
            </a:r>
          </a:p>
        </p:txBody>
      </p:sp>
      <p:sp>
        <p:nvSpPr>
          <p:cNvPr id="42" name="rect 41"/>
          <p:cNvSpPr/>
          <p:nvPr/>
        </p:nvSpPr>
        <p:spPr>
          <a:xfrm>
            <a:off x="4297680" y="3621024"/>
            <a:ext cx="3785616" cy="2350008"/>
          </a:xfrm>
          <a:prstGeom prst="roundRect">
            <a:avLst>
              <a:gd name="adj" fmla="val 1167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line 42"/>
          <p:cNvCxnSpPr/>
          <p:nvPr/>
        </p:nvCxnSpPr>
        <p:spPr>
          <a:xfrm>
            <a:off x="4306824" y="3630168"/>
            <a:ext cx="3767328" cy="0"/>
          </a:xfrm>
          <a:prstGeom prst="line">
            <a:avLst/>
          </a:prstGeom>
          <a:ln w="2743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(c) 预测模块"/>
          <p:cNvSpPr txBox="1"/>
          <p:nvPr/>
        </p:nvSpPr>
        <p:spPr>
          <a:xfrm>
            <a:off x="4498848" y="3710178"/>
            <a:ext cx="1419713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(c) 预测模块</a:t>
            </a:r>
          </a:p>
        </p:txBody>
      </p:sp>
      <p:sp>
        <p:nvSpPr>
          <p:cNvPr id="45" name="Child 阶段与剩余工作量"/>
          <p:cNvSpPr txBox="1"/>
          <p:nvPr/>
        </p:nvSpPr>
        <p:spPr>
          <a:xfrm>
            <a:off x="4498848" y="4165092"/>
            <a:ext cx="218088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Child 阶段与剩余工作量</a:t>
            </a:r>
          </a:p>
        </p:txBody>
      </p:sp>
      <p:sp>
        <p:nvSpPr>
          <p:cNvPr id="46" name="正文、通知与 decode 进度"/>
          <p:cNvSpPr txBox="1"/>
          <p:nvPr/>
        </p:nvSpPr>
        <p:spPr>
          <a:xfrm>
            <a:off x="4498848" y="4475988"/>
            <a:ext cx="239247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正文、通知与 decode 进度</a:t>
            </a:r>
          </a:p>
        </p:txBody>
      </p:sp>
      <p:cxnSp>
        <p:nvCxnSpPr>
          <p:cNvPr id="47" name="line 46"/>
          <p:cNvCxnSpPr/>
          <p:nvPr/>
        </p:nvCxnSpPr>
        <p:spPr>
          <a:xfrm>
            <a:off x="4498848" y="4919472"/>
            <a:ext cx="3374136" cy="0"/>
          </a:xfrm>
          <a:prstGeom prst="line">
            <a:avLst/>
          </a:prstGeom>
          <a:ln w="12801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工具剩余时间分布"/>
          <p:cNvSpPr txBox="1"/>
          <p:nvPr/>
        </p:nvSpPr>
        <p:spPr>
          <a:xfrm>
            <a:off x="4498848" y="5033772"/>
            <a:ext cx="164592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工具剩余时间分布</a:t>
            </a:r>
          </a:p>
        </p:txBody>
      </p:sp>
      <p:sp>
        <p:nvSpPr>
          <p:cNvPr id="49" name="类型、已执行时间与历史"/>
          <p:cNvSpPr txBox="1"/>
          <p:nvPr/>
        </p:nvSpPr>
        <p:spPr>
          <a:xfrm>
            <a:off x="4498848" y="5344668"/>
            <a:ext cx="2221992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类型、已执行时间与历史</a:t>
            </a:r>
          </a:p>
        </p:txBody>
      </p:sp>
      <p:cxnSp>
        <p:nvCxnSpPr>
          <p:cNvPr id="50" name="path 49"/>
          <p:cNvCxnSpPr/>
          <p:nvPr/>
        </p:nvCxnSpPr>
        <p:spPr>
          <a:xfrm>
            <a:off x="3968496" y="4846320"/>
            <a:ext cx="320040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path 50"/>
          <p:cNvCxnSpPr/>
          <p:nvPr/>
        </p:nvCxnSpPr>
        <p:spPr>
          <a:xfrm>
            <a:off x="8083296" y="4846320"/>
            <a:ext cx="411480" cy="0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提示"/>
          <p:cNvSpPr txBox="1"/>
          <p:nvPr/>
        </p:nvSpPr>
        <p:spPr>
          <a:xfrm>
            <a:off x="8083296" y="4473702"/>
            <a:ext cx="420624" cy="2628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4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提示</a:t>
            </a:r>
          </a:p>
        </p:txBody>
      </p:sp>
      <p:sp>
        <p:nvSpPr>
          <p:cNvPr id="53" name="rect 52"/>
          <p:cNvSpPr/>
          <p:nvPr/>
        </p:nvSpPr>
        <p:spPr>
          <a:xfrm>
            <a:off x="8503920" y="3621024"/>
            <a:ext cx="4297680" cy="2350008"/>
          </a:xfrm>
          <a:prstGeom prst="roundRect">
            <a:avLst>
              <a:gd name="adj" fmla="val 1167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line 53"/>
          <p:cNvCxnSpPr/>
          <p:nvPr/>
        </p:nvCxnSpPr>
        <p:spPr>
          <a:xfrm>
            <a:off x="8513064" y="3630168"/>
            <a:ext cx="4279392" cy="0"/>
          </a:xfrm>
          <a:prstGeom prst="line">
            <a:avLst/>
          </a:prstGeom>
          <a:ln w="27432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(d) Runtime 决策"/>
          <p:cNvSpPr txBox="1"/>
          <p:nvPr/>
        </p:nvSpPr>
        <p:spPr>
          <a:xfrm>
            <a:off x="8705088" y="3710178"/>
            <a:ext cx="2031611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(d) Runtime 决策</a:t>
            </a:r>
          </a:p>
        </p:txBody>
      </p:sp>
      <p:sp>
        <p:nvSpPr>
          <p:cNvPr id="56" name="安全 checkpoint 与有效 Host 副本"/>
          <p:cNvSpPr txBox="1"/>
          <p:nvPr/>
        </p:nvSpPr>
        <p:spPr>
          <a:xfrm>
            <a:off x="8705088" y="4078224"/>
            <a:ext cx="346157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安全 checkpoint 与有效 Host 副本</a:t>
            </a:r>
          </a:p>
        </p:txBody>
      </p:sp>
      <p:sp>
        <p:nvSpPr>
          <p:cNvPr id="57" name="容量与传输服务成本"/>
          <p:cNvSpPr txBox="1"/>
          <p:nvPr/>
        </p:nvSpPr>
        <p:spPr>
          <a:xfrm>
            <a:off x="8705088" y="4453128"/>
            <a:ext cx="208483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容量与传输服务成本</a:t>
            </a:r>
          </a:p>
        </p:txBody>
      </p:sp>
      <p:sp>
        <p:nvSpPr>
          <p:cNvPr id="58" name="缺失页迁移规划"/>
          <p:cNvSpPr txBox="1"/>
          <p:nvPr/>
        </p:nvSpPr>
        <p:spPr>
          <a:xfrm>
            <a:off x="8705088" y="4828032"/>
            <a:ext cx="164592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缺失页迁移规划</a:t>
            </a:r>
          </a:p>
        </p:txBody>
      </p:sp>
      <p:sp>
        <p:nvSpPr>
          <p:cNvPr id="59" name="准入、驻留保护与请求老化"/>
          <p:cNvSpPr txBox="1"/>
          <p:nvPr/>
        </p:nvSpPr>
        <p:spPr>
          <a:xfrm>
            <a:off x="8705088" y="5202936"/>
            <a:ext cx="27432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准入、驻留保护与请求老化</a:t>
            </a:r>
          </a:p>
        </p:txBody>
      </p:sp>
      <p:cxnSp>
        <p:nvCxnSpPr>
          <p:cNvPr id="60" name="path 59"/>
          <p:cNvCxnSpPr/>
          <p:nvPr/>
        </p:nvCxnSpPr>
        <p:spPr>
          <a:xfrm>
            <a:off x="10652760" y="5971032"/>
            <a:ext cx="0" cy="713232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调度意图"/>
          <p:cNvSpPr txBox="1"/>
          <p:nvPr/>
        </p:nvSpPr>
        <p:spPr>
          <a:xfrm>
            <a:off x="10835640" y="6158484"/>
            <a:ext cx="877824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调度意图</a:t>
            </a:r>
          </a:p>
        </p:txBody>
      </p:sp>
      <p:sp>
        <p:nvSpPr>
          <p:cNvPr id="62" name="path 61"/>
          <p:cNvSpPr/>
          <p:nvPr/>
        </p:nvSpPr>
        <p:spPr>
          <a:xfrm>
            <a:off x="6089904" y="5971032"/>
            <a:ext cx="2916936" cy="713232"/>
          </a:xfrm>
          <a:custGeom>
            <a:avLst/>
            <a:gdLst/>
            <a:ahLst/>
            <a:cxnLst/>
            <a:rect l="l" t="t" r="r" b="b"/>
            <a:pathLst>
              <a:path w="319" h="78">
                <a:moveTo>
                  <a:pt x="0" y="78"/>
                </a:moveTo>
                <a:lnTo>
                  <a:pt x="0" y="38"/>
                </a:lnTo>
                <a:lnTo>
                  <a:pt x="319" y="38"/>
                </a:lnTo>
                <a:lnTo>
                  <a:pt x="319" y="0"/>
                </a:lnTo>
              </a:path>
            </a:pathLst>
          </a:custGeom>
          <a:noFill/>
          <a:ln w="21945">
            <a:solidFill>
              <a:srgbClr val="3D6F9F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容量 / ACK / 首次复用"/>
          <p:cNvSpPr txBox="1"/>
          <p:nvPr/>
        </p:nvSpPr>
        <p:spPr>
          <a:xfrm>
            <a:off x="6263640" y="6003036"/>
            <a:ext cx="194563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容量 / ACK / 首次复用</a:t>
            </a:r>
          </a:p>
        </p:txBody>
      </p:sp>
      <p:sp>
        <p:nvSpPr>
          <p:cNvPr id="64" name="rect 63"/>
          <p:cNvSpPr/>
          <p:nvPr/>
        </p:nvSpPr>
        <p:spPr>
          <a:xfrm>
            <a:off x="365760" y="6702552"/>
            <a:ext cx="12435840" cy="1627632"/>
          </a:xfrm>
          <a:prstGeom prst="roundRect">
            <a:avLst>
              <a:gd name="adj" fmla="val 1685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line 64"/>
          <p:cNvCxnSpPr/>
          <p:nvPr/>
        </p:nvCxnSpPr>
        <p:spPr>
          <a:xfrm>
            <a:off x="374904" y="6711696"/>
            <a:ext cx="12417552" cy="0"/>
          </a:xfrm>
          <a:prstGeom prst="line">
            <a:avLst/>
          </a:prstGeom>
          <a:ln w="27432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(e) SGLang：物理缓存与执行事实源"/>
          <p:cNvSpPr txBox="1"/>
          <p:nvPr/>
        </p:nvSpPr>
        <p:spPr>
          <a:xfrm>
            <a:off x="566928" y="6791706"/>
            <a:ext cx="3987820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(e) SGLang：物理缓存与执行事实源</a:t>
            </a:r>
          </a:p>
        </p:txBody>
      </p:sp>
      <p:sp>
        <p:nvSpPr>
          <p:cNvPr id="67" name="rect 66"/>
          <p:cNvSpPr/>
          <p:nvPr/>
        </p:nvSpPr>
        <p:spPr>
          <a:xfrm>
            <a:off x="566928" y="7379208"/>
            <a:ext cx="2432304" cy="685800"/>
          </a:xfrm>
          <a:prstGeom prst="roundRect">
            <a:avLst>
              <a:gd name="adj" fmla="val 2666"/>
            </a:avLst>
          </a:prstGeom>
          <a:solidFill>
            <a:srgbClr val="EDF3F8"/>
          </a:solidFill>
          <a:ln w="1188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原生 GPU 批处理"/>
          <p:cNvSpPr txBox="1"/>
          <p:nvPr/>
        </p:nvSpPr>
        <p:spPr>
          <a:xfrm>
            <a:off x="999875" y="7563368"/>
            <a:ext cx="156641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原生 GPU 批处理</a:t>
            </a:r>
          </a:p>
        </p:txBody>
      </p:sp>
      <p:sp>
        <p:nvSpPr>
          <p:cNvPr id="69" name="rect 68"/>
          <p:cNvSpPr/>
          <p:nvPr/>
        </p:nvSpPr>
        <p:spPr>
          <a:xfrm>
            <a:off x="3630168" y="7379208"/>
            <a:ext cx="3749040" cy="685800"/>
          </a:xfrm>
          <a:prstGeom prst="roundRect">
            <a:avLst>
              <a:gd name="adj" fmla="val 2666"/>
            </a:avLst>
          </a:prstGeom>
          <a:solidFill>
            <a:srgbClr val="F2F4F5"/>
          </a:solidFill>
          <a:ln w="11887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adix / HiCache / Allocators"/>
          <p:cNvSpPr txBox="1"/>
          <p:nvPr/>
        </p:nvSpPr>
        <p:spPr>
          <a:xfrm>
            <a:off x="4035612" y="7549012"/>
            <a:ext cx="2938153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Radix / HiCache / Allocators</a:t>
            </a:r>
          </a:p>
        </p:txBody>
      </p:sp>
      <p:cxnSp>
        <p:nvCxnSpPr>
          <p:cNvPr id="71" name="path 70"/>
          <p:cNvCxnSpPr/>
          <p:nvPr/>
        </p:nvCxnSpPr>
        <p:spPr>
          <a:xfrm>
            <a:off x="3008376" y="7717536"/>
            <a:ext cx="612648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path 71"/>
          <p:cNvCxnSpPr/>
          <p:nvPr/>
        </p:nvCxnSpPr>
        <p:spPr>
          <a:xfrm>
            <a:off x="7388352" y="7717536"/>
            <a:ext cx="539496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 72"/>
          <p:cNvSpPr/>
          <p:nvPr/>
        </p:nvSpPr>
        <p:spPr>
          <a:xfrm>
            <a:off x="7927848" y="7333488"/>
            <a:ext cx="1719072" cy="758952"/>
          </a:xfrm>
          <a:prstGeom prst="roundRect">
            <a:avLst>
              <a:gd name="adj" fmla="val 2409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HBM"/>
          <p:cNvSpPr txBox="1"/>
          <p:nvPr/>
        </p:nvSpPr>
        <p:spPr>
          <a:xfrm>
            <a:off x="8470666" y="7370064"/>
            <a:ext cx="633436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75" name="FULL + Mamba"/>
          <p:cNvSpPr txBox="1"/>
          <p:nvPr/>
        </p:nvSpPr>
        <p:spPr>
          <a:xfrm>
            <a:off x="8139374" y="7715250"/>
            <a:ext cx="1296019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FULL + Mamba</a:t>
            </a:r>
          </a:p>
        </p:txBody>
      </p:sp>
      <p:sp>
        <p:nvSpPr>
          <p:cNvPr id="76" name="rect 75"/>
          <p:cNvSpPr/>
          <p:nvPr/>
        </p:nvSpPr>
        <p:spPr>
          <a:xfrm>
            <a:off x="10881360" y="7333488"/>
            <a:ext cx="1719072" cy="758952"/>
          </a:xfrm>
          <a:prstGeom prst="roundRect">
            <a:avLst>
              <a:gd name="adj" fmla="val 2409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Host"/>
          <p:cNvSpPr txBox="1"/>
          <p:nvPr/>
        </p:nvSpPr>
        <p:spPr>
          <a:xfrm>
            <a:off x="11426464" y="7370064"/>
            <a:ext cx="628864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Host</a:t>
            </a:r>
          </a:p>
        </p:txBody>
      </p:sp>
      <p:sp>
        <p:nvSpPr>
          <p:cNvPr id="78" name="FULL + Mamba"/>
          <p:cNvSpPr txBox="1"/>
          <p:nvPr/>
        </p:nvSpPr>
        <p:spPr>
          <a:xfrm>
            <a:off x="11092886" y="7715250"/>
            <a:ext cx="1296019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FULL + Mamba</a:t>
            </a:r>
          </a:p>
        </p:txBody>
      </p:sp>
      <p:cxnSp>
        <p:nvCxnSpPr>
          <p:cNvPr id="79" name="path 78"/>
          <p:cNvCxnSpPr/>
          <p:nvPr/>
        </p:nvCxnSpPr>
        <p:spPr>
          <a:xfrm>
            <a:off x="9656064" y="7534656"/>
            <a:ext cx="1216152" cy="0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D2H"/>
          <p:cNvSpPr txBox="1"/>
          <p:nvPr/>
        </p:nvSpPr>
        <p:spPr>
          <a:xfrm>
            <a:off x="10033361" y="7242048"/>
            <a:ext cx="434126" cy="276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D2H</a:t>
            </a:r>
          </a:p>
        </p:txBody>
      </p:sp>
      <p:cxnSp>
        <p:nvCxnSpPr>
          <p:cNvPr id="81" name="path 80"/>
          <p:cNvCxnSpPr/>
          <p:nvPr/>
        </p:nvCxnSpPr>
        <p:spPr>
          <a:xfrm flipH="1">
            <a:off x="9656064" y="7936992"/>
            <a:ext cx="1225296" cy="0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H2D"/>
          <p:cNvSpPr txBox="1"/>
          <p:nvPr/>
        </p:nvSpPr>
        <p:spPr>
          <a:xfrm>
            <a:off x="10033361" y="7653528"/>
            <a:ext cx="434126" cy="276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H2D</a:t>
            </a:r>
          </a:p>
        </p:txBody>
      </p:sp>
      <p:sp>
        <p:nvSpPr>
          <p:cNvPr id="83" name="模型估计完成进度，runtime 决定动作，原生数据依赖决定执行。"/>
          <p:cNvSpPr txBox="1"/>
          <p:nvPr/>
        </p:nvSpPr>
        <p:spPr>
          <a:xfrm>
            <a:off x="365760" y="8405622"/>
            <a:ext cx="5935778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模型估计完成进度，runtime 决定动作，原生数据依赖决定执行。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从完成信号到可被执行消费的预取"/>
          <p:cNvSpPr txBox="1"/>
          <p:nvPr/>
        </p:nvSpPr>
        <p:spPr>
          <a:xfrm>
            <a:off x="365760" y="86868"/>
            <a:ext cx="4773168" cy="4892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48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从完成信号到可被执行消费的预取</a:t>
            </a:r>
          </a:p>
        </p:txBody>
      </p:sp>
      <p:sp>
        <p:nvSpPr>
          <p:cNvPr id="3" name="分离剩余工作量、调度机会与物理数据依赖"/>
          <p:cNvSpPr txBox="1"/>
          <p:nvPr/>
        </p:nvSpPr>
        <p:spPr>
          <a:xfrm>
            <a:off x="365760" y="514350"/>
            <a:ext cx="39319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分离剩余工作量、调度机会与物理数据依赖</a:t>
            </a:r>
          </a:p>
        </p:txBody>
      </p:sp>
      <p:sp>
        <p:nvSpPr>
          <p:cNvPr id="4" name="rect 3"/>
          <p:cNvSpPr/>
          <p:nvPr/>
        </p:nvSpPr>
        <p:spPr>
          <a:xfrm>
            <a:off x="365760" y="1106424"/>
            <a:ext cx="3264408" cy="1179576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line 4"/>
          <p:cNvCxnSpPr/>
          <p:nvPr/>
        </p:nvCxnSpPr>
        <p:spPr>
          <a:xfrm>
            <a:off x="374904" y="1115568"/>
            <a:ext cx="3246120" cy="0"/>
          </a:xfrm>
          <a:prstGeom prst="line">
            <a:avLst/>
          </a:prstGeom>
          <a:ln w="27432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hild 在线观测"/>
          <p:cNvSpPr txBox="1"/>
          <p:nvPr/>
        </p:nvSpPr>
        <p:spPr>
          <a:xfrm>
            <a:off x="566928" y="1195578"/>
            <a:ext cx="1723037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Child 在线观测</a:t>
            </a:r>
          </a:p>
        </p:txBody>
      </p:sp>
      <p:sp>
        <p:nvSpPr>
          <p:cNvPr id="7" name="通知、正文与 decode 进度"/>
          <p:cNvSpPr txBox="1"/>
          <p:nvPr/>
        </p:nvSpPr>
        <p:spPr>
          <a:xfrm>
            <a:off x="576072" y="1604772"/>
            <a:ext cx="239247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通知、正文与 decode 进度</a:t>
            </a:r>
          </a:p>
        </p:txBody>
      </p:sp>
      <p:sp>
        <p:nvSpPr>
          <p:cNvPr id="8" name="仅使用已经送达的信息"/>
          <p:cNvSpPr txBox="1"/>
          <p:nvPr/>
        </p:nvSpPr>
        <p:spPr>
          <a:xfrm>
            <a:off x="576072" y="1879092"/>
            <a:ext cx="202996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仅使用已经送达的信息</a:t>
            </a:r>
          </a:p>
        </p:txBody>
      </p:sp>
      <p:sp>
        <p:nvSpPr>
          <p:cNvPr id="9" name="rect 8"/>
          <p:cNvSpPr/>
          <p:nvPr/>
        </p:nvSpPr>
        <p:spPr>
          <a:xfrm>
            <a:off x="4325112" y="1106424"/>
            <a:ext cx="3465576" cy="1179576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line 9"/>
          <p:cNvCxnSpPr/>
          <p:nvPr/>
        </p:nvCxnSpPr>
        <p:spPr>
          <a:xfrm>
            <a:off x="4334256" y="1115568"/>
            <a:ext cx="3447288" cy="0"/>
          </a:xfrm>
          <a:prstGeom prst="line">
            <a:avLst/>
          </a:prstGeom>
          <a:ln w="2743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阶段 / 工作量模型"/>
          <p:cNvSpPr txBox="1"/>
          <p:nvPr/>
        </p:nvSpPr>
        <p:spPr>
          <a:xfrm>
            <a:off x="4526280" y="1195578"/>
            <a:ext cx="1973890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阶段 / 工作量模型</a:t>
            </a:r>
          </a:p>
        </p:txBody>
      </p:sp>
      <p:sp>
        <p:nvSpPr>
          <p:cNvPr id="12" name="最终报告或继续调用工具"/>
          <p:cNvSpPr txBox="1"/>
          <p:nvPr/>
        </p:nvSpPr>
        <p:spPr>
          <a:xfrm>
            <a:off x="4535424" y="1604772"/>
            <a:ext cx="2221992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最终报告或继续调用工具</a:t>
            </a:r>
          </a:p>
        </p:txBody>
      </p:sp>
      <p:sp>
        <p:nvSpPr>
          <p:cNvPr id="13" name="条件剩余生成工作量"/>
          <p:cNvSpPr txBox="1"/>
          <p:nvPr/>
        </p:nvSpPr>
        <p:spPr>
          <a:xfrm>
            <a:off x="4535424" y="1879092"/>
            <a:ext cx="1837944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条件剩余生成工作量</a:t>
            </a:r>
          </a:p>
        </p:txBody>
      </p:sp>
      <p:sp>
        <p:nvSpPr>
          <p:cNvPr id="14" name="rect 13"/>
          <p:cNvSpPr/>
          <p:nvPr/>
        </p:nvSpPr>
        <p:spPr>
          <a:xfrm>
            <a:off x="8485632" y="1106424"/>
            <a:ext cx="4315968" cy="1179576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line 14"/>
          <p:cNvCxnSpPr/>
          <p:nvPr/>
        </p:nvCxnSpPr>
        <p:spPr>
          <a:xfrm>
            <a:off x="8494776" y="1115568"/>
            <a:ext cx="4297680" cy="0"/>
          </a:xfrm>
          <a:prstGeom prst="line">
            <a:avLst/>
          </a:prstGeom>
          <a:ln w="2743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预测输出"/>
          <p:cNvSpPr txBox="1"/>
          <p:nvPr/>
        </p:nvSpPr>
        <p:spPr>
          <a:xfrm>
            <a:off x="8686800" y="1195578"/>
            <a:ext cx="1060704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预测输出</a:t>
            </a:r>
          </a:p>
        </p:txBody>
      </p:sp>
      <p:sp>
        <p:nvSpPr>
          <p:cNvPr id="17" name="阶段分数与剩余 token 区间"/>
          <p:cNvSpPr txBox="1"/>
          <p:nvPr/>
        </p:nvSpPr>
        <p:spPr>
          <a:xfrm>
            <a:off x="8695944" y="1604772"/>
            <a:ext cx="2435483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阶段分数与剩余 token 区间</a:t>
            </a:r>
          </a:p>
        </p:txBody>
      </p:sp>
      <p:sp>
        <p:nvSpPr>
          <p:cNvPr id="18" name="已观测 EOS 作为独立信号"/>
          <p:cNvSpPr txBox="1"/>
          <p:nvPr/>
        </p:nvSpPr>
        <p:spPr>
          <a:xfrm>
            <a:off x="8695944" y="1879092"/>
            <a:ext cx="2293965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已观测 EOS 作为独立信号</a:t>
            </a:r>
          </a:p>
        </p:txBody>
      </p:sp>
      <p:cxnSp>
        <p:nvCxnSpPr>
          <p:cNvPr id="19" name="path 18"/>
          <p:cNvCxnSpPr/>
          <p:nvPr/>
        </p:nvCxnSpPr>
        <p:spPr>
          <a:xfrm>
            <a:off x="3630168" y="1828800"/>
            <a:ext cx="685800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ath 19"/>
          <p:cNvCxnSpPr/>
          <p:nvPr/>
        </p:nvCxnSpPr>
        <p:spPr>
          <a:xfrm>
            <a:off x="7790688" y="1828800"/>
            <a:ext cx="685800" cy="0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ath 20"/>
          <p:cNvSpPr/>
          <p:nvPr/>
        </p:nvSpPr>
        <p:spPr>
          <a:xfrm>
            <a:off x="11521440" y="1828800"/>
            <a:ext cx="1463040" cy="2258568"/>
          </a:xfrm>
          <a:custGeom>
            <a:avLst/>
            <a:gdLst/>
            <a:ahLst/>
            <a:cxnLst/>
            <a:rect l="l" t="t" r="r" b="b"/>
            <a:pathLst>
              <a:path w="160" h="247">
                <a:moveTo>
                  <a:pt x="140" y="0"/>
                </a:moveTo>
                <a:lnTo>
                  <a:pt x="160" y="0"/>
                </a:lnTo>
                <a:lnTo>
                  <a:pt x="160" y="227"/>
                </a:lnTo>
                <a:lnTo>
                  <a:pt x="0" y="227"/>
                </a:lnTo>
                <a:lnTo>
                  <a:pt x="0" y="247"/>
                </a:lnTo>
              </a:path>
            </a:pathLst>
          </a:custGeom>
          <a:noFill/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 21"/>
          <p:cNvSpPr/>
          <p:nvPr/>
        </p:nvSpPr>
        <p:spPr>
          <a:xfrm>
            <a:off x="365760" y="2587752"/>
            <a:ext cx="3264408" cy="1115568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line 22"/>
          <p:cNvCxnSpPr/>
          <p:nvPr/>
        </p:nvCxnSpPr>
        <p:spPr>
          <a:xfrm>
            <a:off x="374904" y="2596896"/>
            <a:ext cx="3246120" cy="0"/>
          </a:xfrm>
          <a:prstGeom prst="line">
            <a:avLst/>
          </a:prstGeom>
          <a:ln w="27432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工具在线观测"/>
          <p:cNvSpPr txBox="1"/>
          <p:nvPr/>
        </p:nvSpPr>
        <p:spPr>
          <a:xfrm>
            <a:off x="566928" y="2676906"/>
            <a:ext cx="1536192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工具在线观测</a:t>
            </a:r>
          </a:p>
        </p:txBody>
      </p:sp>
      <p:sp>
        <p:nvSpPr>
          <p:cNvPr id="25" name="工具类型、已执行时间、历史"/>
          <p:cNvSpPr txBox="1"/>
          <p:nvPr/>
        </p:nvSpPr>
        <p:spPr>
          <a:xfrm>
            <a:off x="576072" y="3031236"/>
            <a:ext cx="260604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工具类型、已执行时间、历史</a:t>
            </a:r>
          </a:p>
        </p:txBody>
      </p:sp>
      <p:sp>
        <p:nvSpPr>
          <p:cNvPr id="26" name="历史仅来自已完成调用"/>
          <p:cNvSpPr txBox="1"/>
          <p:nvPr/>
        </p:nvSpPr>
        <p:spPr>
          <a:xfrm>
            <a:off x="576072" y="3305556"/>
            <a:ext cx="202996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历史仅来自已完成调用</a:t>
            </a:r>
          </a:p>
        </p:txBody>
      </p:sp>
      <p:sp>
        <p:nvSpPr>
          <p:cNvPr id="27" name="rect 26"/>
          <p:cNvSpPr/>
          <p:nvPr/>
        </p:nvSpPr>
        <p:spPr>
          <a:xfrm>
            <a:off x="4325112" y="2587752"/>
            <a:ext cx="3465576" cy="1115568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line 27"/>
          <p:cNvCxnSpPr/>
          <p:nvPr/>
        </p:nvCxnSpPr>
        <p:spPr>
          <a:xfrm>
            <a:off x="4334256" y="2596896"/>
            <a:ext cx="3447288" cy="0"/>
          </a:xfrm>
          <a:prstGeom prst="line">
            <a:avLst/>
          </a:prstGeom>
          <a:ln w="2743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剩余时间模型"/>
          <p:cNvSpPr txBox="1"/>
          <p:nvPr/>
        </p:nvSpPr>
        <p:spPr>
          <a:xfrm>
            <a:off x="4526280" y="2676906"/>
            <a:ext cx="1536192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剩余时间模型</a:t>
            </a:r>
          </a:p>
        </p:txBody>
      </p:sp>
      <p:sp>
        <p:nvSpPr>
          <p:cNvPr id="30" name="以工具仍在执行为条件"/>
          <p:cNvSpPr txBox="1"/>
          <p:nvPr/>
        </p:nvSpPr>
        <p:spPr>
          <a:xfrm>
            <a:off x="4535424" y="3031236"/>
            <a:ext cx="202996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以工具仍在执行为条件</a:t>
            </a:r>
          </a:p>
        </p:txBody>
      </p:sp>
      <p:sp>
        <p:nvSpPr>
          <p:cNvPr id="31" name="随新观测滚动更新"/>
          <p:cNvSpPr txBox="1"/>
          <p:nvPr/>
        </p:nvSpPr>
        <p:spPr>
          <a:xfrm>
            <a:off x="4535424" y="3305556"/>
            <a:ext cx="164592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随新观测滚动更新</a:t>
            </a:r>
          </a:p>
        </p:txBody>
      </p:sp>
      <p:sp>
        <p:nvSpPr>
          <p:cNvPr id="32" name="rect 31"/>
          <p:cNvSpPr/>
          <p:nvPr/>
        </p:nvSpPr>
        <p:spPr>
          <a:xfrm>
            <a:off x="8485632" y="2587752"/>
            <a:ext cx="4315968" cy="1115568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line 32"/>
          <p:cNvCxnSpPr/>
          <p:nvPr/>
        </p:nvCxnSpPr>
        <p:spPr>
          <a:xfrm>
            <a:off x="8494776" y="2596896"/>
            <a:ext cx="4297680" cy="0"/>
          </a:xfrm>
          <a:prstGeom prst="line">
            <a:avLst/>
          </a:prstGeom>
          <a:ln w="2743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预测输出"/>
          <p:cNvSpPr txBox="1"/>
          <p:nvPr/>
        </p:nvSpPr>
        <p:spPr>
          <a:xfrm>
            <a:off x="8686800" y="2676906"/>
            <a:ext cx="1060704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预测输出</a:t>
            </a:r>
          </a:p>
        </p:txBody>
      </p:sp>
      <p:sp>
        <p:nvSpPr>
          <p:cNvPr id="35" name="剩余时间 CDF / 时间区间"/>
          <p:cNvSpPr txBox="1"/>
          <p:nvPr/>
        </p:nvSpPr>
        <p:spPr>
          <a:xfrm>
            <a:off x="8695944" y="3031236"/>
            <a:ext cx="221084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剩余时间 CDF / 时间区间</a:t>
            </a:r>
          </a:p>
        </p:txBody>
      </p:sp>
      <p:sp>
        <p:nvSpPr>
          <p:cNvPr id="36" name="不学习离线不可识别的净收益"/>
          <p:cNvSpPr txBox="1"/>
          <p:nvPr/>
        </p:nvSpPr>
        <p:spPr>
          <a:xfrm>
            <a:off x="8695944" y="3305556"/>
            <a:ext cx="260604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不学习离线不可识别的净收益</a:t>
            </a:r>
          </a:p>
        </p:txBody>
      </p:sp>
      <p:cxnSp>
        <p:nvCxnSpPr>
          <p:cNvPr id="37" name="path 36"/>
          <p:cNvCxnSpPr/>
          <p:nvPr/>
        </p:nvCxnSpPr>
        <p:spPr>
          <a:xfrm>
            <a:off x="3630168" y="3255264"/>
            <a:ext cx="685800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ath 37"/>
          <p:cNvCxnSpPr/>
          <p:nvPr/>
        </p:nvCxnSpPr>
        <p:spPr>
          <a:xfrm>
            <a:off x="7790688" y="3255264"/>
            <a:ext cx="685800" cy="0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ath 38"/>
          <p:cNvCxnSpPr/>
          <p:nvPr/>
        </p:nvCxnSpPr>
        <p:spPr>
          <a:xfrm>
            <a:off x="10643616" y="3703320"/>
            <a:ext cx="0" cy="384048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 39"/>
          <p:cNvSpPr/>
          <p:nvPr/>
        </p:nvSpPr>
        <p:spPr>
          <a:xfrm>
            <a:off x="365760" y="4105656"/>
            <a:ext cx="12435840" cy="1261872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line 40"/>
          <p:cNvCxnSpPr/>
          <p:nvPr/>
        </p:nvCxnSpPr>
        <p:spPr>
          <a:xfrm>
            <a:off x="374904" y="4114800"/>
            <a:ext cx="12417552" cy="0"/>
          </a:xfrm>
          <a:prstGeom prst="line">
            <a:avLst/>
          </a:prstGeom>
          <a:ln w="27432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(a) Runtime 将预测提示转为有界动作"/>
          <p:cNvSpPr txBox="1"/>
          <p:nvPr/>
        </p:nvSpPr>
        <p:spPr>
          <a:xfrm>
            <a:off x="566928" y="4194810"/>
            <a:ext cx="4158734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(a) Runtime 将预测提示转为有界动作</a:t>
            </a:r>
          </a:p>
        </p:txBody>
      </p:sp>
      <p:sp>
        <p:nvSpPr>
          <p:cNvPr id="43" name="因果就绪"/>
          <p:cNvSpPr txBox="1"/>
          <p:nvPr/>
        </p:nvSpPr>
        <p:spPr>
          <a:xfrm>
            <a:off x="576072" y="4610862"/>
            <a:ext cx="950976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因果就绪</a:t>
            </a:r>
          </a:p>
        </p:txBody>
      </p:sp>
      <p:sp>
        <p:nvSpPr>
          <p:cNvPr id="44" name="JOIN / 工具状态"/>
          <p:cNvSpPr txBox="1"/>
          <p:nvPr/>
        </p:nvSpPr>
        <p:spPr>
          <a:xfrm>
            <a:off x="576072" y="4935474"/>
            <a:ext cx="1414212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JOIN / 工具状态</a:t>
            </a:r>
          </a:p>
        </p:txBody>
      </p:sp>
      <p:sp>
        <p:nvSpPr>
          <p:cNvPr id="45" name="可复用 checkpoint"/>
          <p:cNvSpPr txBox="1"/>
          <p:nvPr/>
        </p:nvSpPr>
        <p:spPr>
          <a:xfrm>
            <a:off x="3575304" y="4610862"/>
            <a:ext cx="1948279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可复用 checkpoint</a:t>
            </a:r>
          </a:p>
        </p:txBody>
      </p:sp>
      <p:sp>
        <p:nvSpPr>
          <p:cNvPr id="46" name="有效 Host 缺失页"/>
          <p:cNvSpPr txBox="1"/>
          <p:nvPr/>
        </p:nvSpPr>
        <p:spPr>
          <a:xfrm>
            <a:off x="3575304" y="4935474"/>
            <a:ext cx="1500509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有效 Host 缺失页</a:t>
            </a:r>
          </a:p>
        </p:txBody>
      </p:sp>
      <p:sp>
        <p:nvSpPr>
          <p:cNvPr id="47" name="容量与传输成本"/>
          <p:cNvSpPr txBox="1"/>
          <p:nvPr/>
        </p:nvSpPr>
        <p:spPr>
          <a:xfrm>
            <a:off x="6693408" y="4610862"/>
            <a:ext cx="1581912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容量与传输成本</a:t>
            </a:r>
          </a:p>
        </p:txBody>
      </p:sp>
      <p:sp>
        <p:nvSpPr>
          <p:cNvPr id="48" name="FULL / Mamba / H2D"/>
          <p:cNvSpPr txBox="1"/>
          <p:nvPr/>
        </p:nvSpPr>
        <p:spPr>
          <a:xfrm>
            <a:off x="6693408" y="4935474"/>
            <a:ext cx="1842730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FULL / Mamba / H2D</a:t>
            </a:r>
          </a:p>
        </p:txBody>
      </p:sp>
      <p:sp>
        <p:nvSpPr>
          <p:cNvPr id="49" name="执行机会"/>
          <p:cNvSpPr txBox="1"/>
          <p:nvPr/>
        </p:nvSpPr>
        <p:spPr>
          <a:xfrm>
            <a:off x="9802368" y="4610862"/>
            <a:ext cx="950976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执行机会</a:t>
            </a:r>
          </a:p>
        </p:txBody>
      </p:sp>
      <p:sp>
        <p:nvSpPr>
          <p:cNvPr id="50" name="准入与驻留保护"/>
          <p:cNvSpPr txBox="1"/>
          <p:nvPr/>
        </p:nvSpPr>
        <p:spPr>
          <a:xfrm>
            <a:off x="9802368" y="4935474"/>
            <a:ext cx="1389888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准入与驻留保护</a:t>
            </a:r>
          </a:p>
        </p:txBody>
      </p:sp>
      <p:sp>
        <p:nvSpPr>
          <p:cNvPr id="51" name="(b) 与工具等待或最终生成区间重叠"/>
          <p:cNvSpPr txBox="1"/>
          <p:nvPr/>
        </p:nvSpPr>
        <p:spPr>
          <a:xfrm>
            <a:off x="365760" y="5566410"/>
            <a:ext cx="3824942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(b) 与工具等待或最终生成区间重叠</a:t>
            </a:r>
          </a:p>
        </p:txBody>
      </p:sp>
      <p:cxnSp>
        <p:nvCxnSpPr>
          <p:cNvPr id="52" name="line 51"/>
          <p:cNvCxnSpPr/>
          <p:nvPr/>
        </p:nvCxnSpPr>
        <p:spPr>
          <a:xfrm>
            <a:off x="8979408" y="6163056"/>
            <a:ext cx="0" cy="2395728"/>
          </a:xfrm>
          <a:prstGeom prst="line">
            <a:avLst/>
          </a:prstGeom>
          <a:ln w="16459">
            <a:solidFill>
              <a:srgbClr val="89959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line 52"/>
          <p:cNvCxnSpPr/>
          <p:nvPr/>
        </p:nvCxnSpPr>
        <p:spPr>
          <a:xfrm>
            <a:off x="9601200" y="6839712"/>
            <a:ext cx="0" cy="932688"/>
          </a:xfrm>
          <a:prstGeom prst="line">
            <a:avLst/>
          </a:prstGeom>
          <a:ln w="14630">
            <a:solidFill>
              <a:srgbClr val="357B7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TURN / TOOL_END"/>
          <p:cNvSpPr txBox="1"/>
          <p:nvPr/>
        </p:nvSpPr>
        <p:spPr>
          <a:xfrm>
            <a:off x="7982819" y="5904738"/>
            <a:ext cx="1993178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RETURN / TOOL_END</a:t>
            </a:r>
          </a:p>
        </p:txBody>
      </p:sp>
      <p:sp>
        <p:nvSpPr>
          <p:cNvPr id="55" name="Child / 工具"/>
          <p:cNvSpPr txBox="1"/>
          <p:nvPr/>
        </p:nvSpPr>
        <p:spPr>
          <a:xfrm>
            <a:off x="402336" y="6382512"/>
            <a:ext cx="1294805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Child / 工具</a:t>
            </a:r>
          </a:p>
        </p:txBody>
      </p:sp>
      <p:sp>
        <p:nvSpPr>
          <p:cNvPr id="56" name="预测路径"/>
          <p:cNvSpPr txBox="1"/>
          <p:nvPr/>
        </p:nvSpPr>
        <p:spPr>
          <a:xfrm>
            <a:off x="402336" y="7214616"/>
            <a:ext cx="98755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预测路径</a:t>
            </a:r>
          </a:p>
        </p:txBody>
      </p:sp>
      <p:sp>
        <p:nvSpPr>
          <p:cNvPr id="57" name="需求恢复路径"/>
          <p:cNvSpPr txBox="1"/>
          <p:nvPr/>
        </p:nvSpPr>
        <p:spPr>
          <a:xfrm>
            <a:off x="402336" y="8046720"/>
            <a:ext cx="1426464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需求恢复路径</a:t>
            </a:r>
          </a:p>
        </p:txBody>
      </p:sp>
      <p:cxnSp>
        <p:nvCxnSpPr>
          <p:cNvPr id="58" name="line 57"/>
          <p:cNvCxnSpPr/>
          <p:nvPr/>
        </p:nvCxnSpPr>
        <p:spPr>
          <a:xfrm>
            <a:off x="2880360" y="6519672"/>
            <a:ext cx="9738360" cy="0"/>
          </a:xfrm>
          <a:prstGeom prst="line">
            <a:avLst/>
          </a:prstGeom>
          <a:ln w="10972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line 58"/>
          <p:cNvCxnSpPr/>
          <p:nvPr/>
        </p:nvCxnSpPr>
        <p:spPr>
          <a:xfrm>
            <a:off x="2880360" y="7351776"/>
            <a:ext cx="9738360" cy="0"/>
          </a:xfrm>
          <a:prstGeom prst="line">
            <a:avLst/>
          </a:prstGeom>
          <a:ln w="10972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line 59"/>
          <p:cNvCxnSpPr/>
          <p:nvPr/>
        </p:nvCxnSpPr>
        <p:spPr>
          <a:xfrm>
            <a:off x="2880360" y="8183880"/>
            <a:ext cx="9738360" cy="0"/>
          </a:xfrm>
          <a:prstGeom prst="line">
            <a:avLst/>
          </a:prstGeom>
          <a:ln w="10972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 60"/>
          <p:cNvSpPr/>
          <p:nvPr/>
        </p:nvSpPr>
        <p:spPr>
          <a:xfrm>
            <a:off x="2880360" y="6291072"/>
            <a:ext cx="6099048" cy="393192"/>
          </a:xfrm>
          <a:prstGeom prst="roundRect">
            <a:avLst>
              <a:gd name="adj" fmla="val 4651"/>
            </a:avLst>
          </a:prstGeom>
          <a:solidFill>
            <a:srgbClr val="EDF3F8"/>
          </a:solidFill>
          <a:ln w="15544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最终报告生成 / 外部工具执行"/>
          <p:cNvSpPr txBox="1"/>
          <p:nvPr/>
        </p:nvSpPr>
        <p:spPr>
          <a:xfrm>
            <a:off x="4583501" y="6311646"/>
            <a:ext cx="269276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最终报告生成 / 外部工具执行</a:t>
            </a:r>
          </a:p>
        </p:txBody>
      </p:sp>
      <p:sp>
        <p:nvSpPr>
          <p:cNvPr id="63" name="circle 62"/>
          <p:cNvSpPr/>
          <p:nvPr/>
        </p:nvSpPr>
        <p:spPr>
          <a:xfrm>
            <a:off x="3451860" y="6853428"/>
            <a:ext cx="82296" cy="82296"/>
          </a:xfrm>
          <a:prstGeom prst="ellipse">
            <a:avLst/>
          </a:prstGeom>
          <a:solidFill>
            <a:srgbClr val="A96F1F"/>
          </a:solidFill>
          <a:ln w="9144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ircle 63"/>
          <p:cNvSpPr/>
          <p:nvPr/>
        </p:nvSpPr>
        <p:spPr>
          <a:xfrm>
            <a:off x="4210812" y="6853428"/>
            <a:ext cx="82296" cy="82296"/>
          </a:xfrm>
          <a:prstGeom prst="ellipse">
            <a:avLst/>
          </a:prstGeom>
          <a:solidFill>
            <a:srgbClr val="A96F1F"/>
          </a:solidFill>
          <a:ln w="9144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ircle 64"/>
          <p:cNvSpPr/>
          <p:nvPr/>
        </p:nvSpPr>
        <p:spPr>
          <a:xfrm>
            <a:off x="4969764" y="6853428"/>
            <a:ext cx="82296" cy="82296"/>
          </a:xfrm>
          <a:prstGeom prst="ellipse">
            <a:avLst/>
          </a:prstGeom>
          <a:solidFill>
            <a:srgbClr val="A96F1F"/>
          </a:solidFill>
          <a:ln w="9144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ircle 65"/>
          <p:cNvSpPr/>
          <p:nvPr/>
        </p:nvSpPr>
        <p:spPr>
          <a:xfrm>
            <a:off x="5728716" y="6853428"/>
            <a:ext cx="82296" cy="82296"/>
          </a:xfrm>
          <a:prstGeom prst="ellipse">
            <a:avLst/>
          </a:prstGeom>
          <a:solidFill>
            <a:srgbClr val="A96F1F"/>
          </a:solidFill>
          <a:ln w="9144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path 66"/>
          <p:cNvCxnSpPr/>
          <p:nvPr/>
        </p:nvCxnSpPr>
        <p:spPr>
          <a:xfrm>
            <a:off x="5934456" y="6894576"/>
            <a:ext cx="502920" cy="0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滚动观测"/>
          <p:cNvSpPr txBox="1"/>
          <p:nvPr/>
        </p:nvSpPr>
        <p:spPr>
          <a:xfrm>
            <a:off x="3429000" y="6919722"/>
            <a:ext cx="841248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滚动观测</a:t>
            </a:r>
          </a:p>
        </p:txBody>
      </p:sp>
      <p:sp>
        <p:nvSpPr>
          <p:cNvPr id="69" name="rect 68"/>
          <p:cNvSpPr/>
          <p:nvPr/>
        </p:nvSpPr>
        <p:spPr>
          <a:xfrm>
            <a:off x="6583680" y="7132320"/>
            <a:ext cx="3017520" cy="457200"/>
          </a:xfrm>
          <a:prstGeom prst="roundRect">
            <a:avLst>
              <a:gd name="adj" fmla="val 4000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缺失页 H2D"/>
          <p:cNvSpPr txBox="1"/>
          <p:nvPr/>
        </p:nvSpPr>
        <p:spPr>
          <a:xfrm>
            <a:off x="7515029" y="7189470"/>
            <a:ext cx="1154823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缺失页 H2D</a:t>
            </a:r>
          </a:p>
        </p:txBody>
      </p:sp>
      <p:sp>
        <p:nvSpPr>
          <p:cNvPr id="71" name="rect 70"/>
          <p:cNvSpPr/>
          <p:nvPr/>
        </p:nvSpPr>
        <p:spPr>
          <a:xfrm>
            <a:off x="9601200" y="7132320"/>
            <a:ext cx="914400" cy="457200"/>
          </a:xfrm>
          <a:prstGeom prst="roundRect">
            <a:avLst>
              <a:gd name="adj" fmla="val 2000"/>
            </a:avLst>
          </a:prstGeom>
          <a:solidFill>
            <a:srgbClr val="F2F4F5"/>
          </a:solidFill>
          <a:ln w="12801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 71"/>
          <p:cNvSpPr/>
          <p:nvPr/>
        </p:nvSpPr>
        <p:spPr>
          <a:xfrm>
            <a:off x="10515600" y="7132320"/>
            <a:ext cx="2103120" cy="457200"/>
          </a:xfrm>
          <a:prstGeom prst="roundRect">
            <a:avLst>
              <a:gd name="adj" fmla="val 4000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PU 服务"/>
          <p:cNvSpPr txBox="1"/>
          <p:nvPr/>
        </p:nvSpPr>
        <p:spPr>
          <a:xfrm>
            <a:off x="11083100" y="7189470"/>
            <a:ext cx="968121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GPU 服务</a:t>
            </a:r>
          </a:p>
        </p:txBody>
      </p:sp>
      <p:sp>
        <p:nvSpPr>
          <p:cNvPr id="74" name="ACK"/>
          <p:cNvSpPr txBox="1"/>
          <p:nvPr/>
        </p:nvSpPr>
        <p:spPr>
          <a:xfrm>
            <a:off x="9382958" y="7632954"/>
            <a:ext cx="436483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ACK</a:t>
            </a:r>
          </a:p>
        </p:txBody>
      </p:sp>
      <p:sp>
        <p:nvSpPr>
          <p:cNvPr id="75" name="首次复用"/>
          <p:cNvSpPr txBox="1"/>
          <p:nvPr/>
        </p:nvSpPr>
        <p:spPr>
          <a:xfrm>
            <a:off x="10634472" y="7605522"/>
            <a:ext cx="841248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首次复用</a:t>
            </a:r>
          </a:p>
        </p:txBody>
      </p:sp>
      <p:cxnSp>
        <p:nvCxnSpPr>
          <p:cNvPr id="76" name="line 75"/>
          <p:cNvCxnSpPr/>
          <p:nvPr/>
        </p:nvCxnSpPr>
        <p:spPr>
          <a:xfrm>
            <a:off x="6583680" y="6949440"/>
            <a:ext cx="2395728" cy="0"/>
          </a:xfrm>
          <a:prstGeom prst="line">
            <a:avLst/>
          </a:prstGeom>
          <a:ln w="18288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line 76"/>
          <p:cNvCxnSpPr/>
          <p:nvPr/>
        </p:nvCxnSpPr>
        <p:spPr>
          <a:xfrm>
            <a:off x="6583680" y="6894576"/>
            <a:ext cx="0" cy="109728"/>
          </a:xfrm>
          <a:prstGeom prst="line">
            <a:avLst/>
          </a:prstGeom>
          <a:ln w="18288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line 77"/>
          <p:cNvCxnSpPr/>
          <p:nvPr/>
        </p:nvCxnSpPr>
        <p:spPr>
          <a:xfrm>
            <a:off x="8979408" y="6894576"/>
            <a:ext cx="0" cy="109728"/>
          </a:xfrm>
          <a:prstGeom prst="line">
            <a:avLst/>
          </a:prstGeom>
          <a:ln w="18288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提前量"/>
          <p:cNvSpPr txBox="1"/>
          <p:nvPr/>
        </p:nvSpPr>
        <p:spPr>
          <a:xfrm>
            <a:off x="7466076" y="6654546"/>
            <a:ext cx="630936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提前量</a:t>
            </a:r>
          </a:p>
        </p:txBody>
      </p:sp>
      <p:sp>
        <p:nvSpPr>
          <p:cNvPr id="80" name="rect 79"/>
          <p:cNvSpPr/>
          <p:nvPr/>
        </p:nvSpPr>
        <p:spPr>
          <a:xfrm>
            <a:off x="8979408" y="7964424"/>
            <a:ext cx="2862072" cy="457200"/>
          </a:xfrm>
          <a:prstGeom prst="roundRect">
            <a:avLst>
              <a:gd name="adj" fmla="val 4000"/>
            </a:avLst>
          </a:prstGeom>
          <a:solidFill>
            <a:srgbClr val="F2F4F5"/>
          </a:solidFill>
          <a:ln w="1645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需求 H2D"/>
          <p:cNvSpPr txBox="1"/>
          <p:nvPr/>
        </p:nvSpPr>
        <p:spPr>
          <a:xfrm>
            <a:off x="9933617" y="8030718"/>
            <a:ext cx="9536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需求 H2D</a:t>
            </a:r>
          </a:p>
        </p:txBody>
      </p:sp>
      <p:sp>
        <p:nvSpPr>
          <p:cNvPr id="82" name="rect 81"/>
          <p:cNvSpPr/>
          <p:nvPr/>
        </p:nvSpPr>
        <p:spPr>
          <a:xfrm>
            <a:off x="11841480" y="7964424"/>
            <a:ext cx="777240" cy="457200"/>
          </a:xfrm>
          <a:prstGeom prst="roundRect">
            <a:avLst>
              <a:gd name="adj" fmla="val 4000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服务"/>
          <p:cNvSpPr txBox="1"/>
          <p:nvPr/>
        </p:nvSpPr>
        <p:spPr>
          <a:xfrm>
            <a:off x="12001500" y="8044434"/>
            <a:ext cx="457200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服务</a:t>
            </a:r>
          </a:p>
        </p:txBody>
      </p:sp>
      <p:sp>
        <p:nvSpPr>
          <p:cNvPr id="84" name="示意图，非实测加速。部分传输重叠也可利用；执行遵循原生数据依赖。"/>
          <p:cNvSpPr txBox="1"/>
          <p:nvPr/>
        </p:nvSpPr>
        <p:spPr>
          <a:xfrm>
            <a:off x="365760" y="8634222"/>
            <a:ext cx="6547104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示意图，非实测加速。部分传输重叠也可利用；执行遵循原生数据依赖。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增量迁移与 Child → Parent 容量交接"/>
          <p:cNvSpPr txBox="1"/>
          <p:nvPr/>
        </p:nvSpPr>
        <p:spPr>
          <a:xfrm>
            <a:off x="365760" y="187452"/>
            <a:ext cx="4858000" cy="4480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3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增量迁移与 Child → Parent 容量交接</a:t>
            </a:r>
          </a:p>
        </p:txBody>
      </p:sp>
      <p:sp>
        <p:nvSpPr>
          <p:cNvPr id="3" name="Agent 语义选择受益对象，原生页决定实际迁移范围"/>
          <p:cNvSpPr txBox="1"/>
          <p:nvPr/>
        </p:nvSpPr>
        <p:spPr>
          <a:xfrm>
            <a:off x="365760" y="582930"/>
            <a:ext cx="4720911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Agent 语义选择受益对象，原生页决定实际迁移范围</a:t>
            </a:r>
          </a:p>
        </p:txBody>
      </p:sp>
      <p:sp>
        <p:nvSpPr>
          <p:cNvPr id="4" name="rect 3"/>
          <p:cNvSpPr/>
          <p:nvPr/>
        </p:nvSpPr>
        <p:spPr>
          <a:xfrm>
            <a:off x="365760" y="1193292"/>
            <a:ext cx="6867144" cy="2724912"/>
          </a:xfrm>
          <a:prstGeom prst="roundRect">
            <a:avLst>
              <a:gd name="adj" fmla="val 1006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line 4"/>
          <p:cNvCxnSpPr/>
          <p:nvPr/>
        </p:nvCxnSpPr>
        <p:spPr>
          <a:xfrm>
            <a:off x="374904" y="1202436"/>
            <a:ext cx="6848856" cy="0"/>
          </a:xfrm>
          <a:prstGeom prst="line">
            <a:avLst/>
          </a:prstGeom>
          <a:ln w="27432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(a) FULL 增量备份"/>
          <p:cNvSpPr txBox="1"/>
          <p:nvPr/>
        </p:nvSpPr>
        <p:spPr>
          <a:xfrm>
            <a:off x="566928" y="1282446"/>
            <a:ext cx="2080653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(a) FULL 增量备份</a:t>
            </a:r>
          </a:p>
        </p:txBody>
      </p:sp>
      <p:sp>
        <p:nvSpPr>
          <p:cNvPr id="7" name="HBM"/>
          <p:cNvSpPr txBox="1"/>
          <p:nvPr/>
        </p:nvSpPr>
        <p:spPr>
          <a:xfrm>
            <a:off x="566928" y="1979676"/>
            <a:ext cx="633436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8" name="Host"/>
          <p:cNvSpPr txBox="1"/>
          <p:nvPr/>
        </p:nvSpPr>
        <p:spPr>
          <a:xfrm>
            <a:off x="566928" y="2912364"/>
            <a:ext cx="628864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Host</a:t>
            </a:r>
          </a:p>
        </p:txBody>
      </p:sp>
      <p:sp>
        <p:nvSpPr>
          <p:cNvPr id="9" name="rect 8"/>
          <p:cNvSpPr/>
          <p:nvPr/>
        </p:nvSpPr>
        <p:spPr>
          <a:xfrm>
            <a:off x="2157984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0"/>
          <p:cNvSpPr txBox="1"/>
          <p:nvPr/>
        </p:nvSpPr>
        <p:spPr>
          <a:xfrm>
            <a:off x="2231529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11" name="rect 10"/>
          <p:cNvSpPr/>
          <p:nvPr/>
        </p:nvSpPr>
        <p:spPr>
          <a:xfrm>
            <a:off x="2157984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0"/>
          <p:cNvSpPr txBox="1"/>
          <p:nvPr/>
        </p:nvSpPr>
        <p:spPr>
          <a:xfrm>
            <a:off x="2231529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13" name="rect 12"/>
          <p:cNvSpPr/>
          <p:nvPr/>
        </p:nvSpPr>
        <p:spPr>
          <a:xfrm>
            <a:off x="2743200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1"/>
          <p:cNvSpPr txBox="1"/>
          <p:nvPr/>
        </p:nvSpPr>
        <p:spPr>
          <a:xfrm>
            <a:off x="2816745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15" name="rect 14"/>
          <p:cNvSpPr/>
          <p:nvPr/>
        </p:nvSpPr>
        <p:spPr>
          <a:xfrm>
            <a:off x="2743200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1"/>
          <p:cNvSpPr txBox="1"/>
          <p:nvPr/>
        </p:nvSpPr>
        <p:spPr>
          <a:xfrm>
            <a:off x="2816745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17" name="rect 16"/>
          <p:cNvSpPr/>
          <p:nvPr/>
        </p:nvSpPr>
        <p:spPr>
          <a:xfrm>
            <a:off x="3328416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2"/>
          <p:cNvSpPr txBox="1"/>
          <p:nvPr/>
        </p:nvSpPr>
        <p:spPr>
          <a:xfrm>
            <a:off x="3401961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9" name="rect 18"/>
          <p:cNvSpPr/>
          <p:nvPr/>
        </p:nvSpPr>
        <p:spPr>
          <a:xfrm>
            <a:off x="3328416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2"/>
          <p:cNvSpPr txBox="1"/>
          <p:nvPr/>
        </p:nvSpPr>
        <p:spPr>
          <a:xfrm>
            <a:off x="3401961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21" name="rect 20"/>
          <p:cNvSpPr/>
          <p:nvPr/>
        </p:nvSpPr>
        <p:spPr>
          <a:xfrm>
            <a:off x="3913632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3"/>
          <p:cNvSpPr txBox="1"/>
          <p:nvPr/>
        </p:nvSpPr>
        <p:spPr>
          <a:xfrm>
            <a:off x="3987177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23" name="rect 22"/>
          <p:cNvSpPr/>
          <p:nvPr/>
        </p:nvSpPr>
        <p:spPr>
          <a:xfrm>
            <a:off x="3913632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3"/>
          <p:cNvSpPr txBox="1"/>
          <p:nvPr/>
        </p:nvSpPr>
        <p:spPr>
          <a:xfrm>
            <a:off x="3987177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25" name="rect 24"/>
          <p:cNvSpPr/>
          <p:nvPr/>
        </p:nvSpPr>
        <p:spPr>
          <a:xfrm>
            <a:off x="4498848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4"/>
          <p:cNvSpPr txBox="1"/>
          <p:nvPr/>
        </p:nvSpPr>
        <p:spPr>
          <a:xfrm>
            <a:off x="4572393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7" name="rect 26"/>
          <p:cNvSpPr/>
          <p:nvPr/>
        </p:nvSpPr>
        <p:spPr>
          <a:xfrm>
            <a:off x="4498848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6459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4"/>
          <p:cNvSpPr txBox="1"/>
          <p:nvPr/>
        </p:nvSpPr>
        <p:spPr>
          <a:xfrm>
            <a:off x="4572393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p4</a:t>
            </a:r>
          </a:p>
        </p:txBody>
      </p:sp>
      <p:cxnSp>
        <p:nvCxnSpPr>
          <p:cNvPr id="29" name="path 28"/>
          <p:cNvCxnSpPr/>
          <p:nvPr/>
        </p:nvCxnSpPr>
        <p:spPr>
          <a:xfrm>
            <a:off x="4745736" y="2427732"/>
            <a:ext cx="0" cy="283464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 29"/>
          <p:cNvSpPr/>
          <p:nvPr/>
        </p:nvSpPr>
        <p:spPr>
          <a:xfrm>
            <a:off x="5084064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5"/>
          <p:cNvSpPr txBox="1"/>
          <p:nvPr/>
        </p:nvSpPr>
        <p:spPr>
          <a:xfrm>
            <a:off x="5157609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32" name="rect 31"/>
          <p:cNvSpPr/>
          <p:nvPr/>
        </p:nvSpPr>
        <p:spPr>
          <a:xfrm>
            <a:off x="5084064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6459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5"/>
          <p:cNvSpPr txBox="1"/>
          <p:nvPr/>
        </p:nvSpPr>
        <p:spPr>
          <a:xfrm>
            <a:off x="5157609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p5</a:t>
            </a:r>
          </a:p>
        </p:txBody>
      </p:sp>
      <p:cxnSp>
        <p:nvCxnSpPr>
          <p:cNvPr id="34" name="path 33"/>
          <p:cNvCxnSpPr/>
          <p:nvPr/>
        </p:nvCxnSpPr>
        <p:spPr>
          <a:xfrm>
            <a:off x="5330952" y="2427732"/>
            <a:ext cx="0" cy="283464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 34"/>
          <p:cNvSpPr/>
          <p:nvPr/>
        </p:nvSpPr>
        <p:spPr>
          <a:xfrm>
            <a:off x="5669280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6"/>
          <p:cNvSpPr txBox="1"/>
          <p:nvPr/>
        </p:nvSpPr>
        <p:spPr>
          <a:xfrm>
            <a:off x="5742825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37" name="rect 36"/>
          <p:cNvSpPr/>
          <p:nvPr/>
        </p:nvSpPr>
        <p:spPr>
          <a:xfrm>
            <a:off x="5669280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6459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6"/>
          <p:cNvSpPr txBox="1"/>
          <p:nvPr/>
        </p:nvSpPr>
        <p:spPr>
          <a:xfrm>
            <a:off x="5742825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p6</a:t>
            </a:r>
          </a:p>
        </p:txBody>
      </p:sp>
      <p:cxnSp>
        <p:nvCxnSpPr>
          <p:cNvPr id="39" name="path 38"/>
          <p:cNvCxnSpPr/>
          <p:nvPr/>
        </p:nvCxnSpPr>
        <p:spPr>
          <a:xfrm>
            <a:off x="5916168" y="2427732"/>
            <a:ext cx="0" cy="283464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 39"/>
          <p:cNvSpPr/>
          <p:nvPr/>
        </p:nvSpPr>
        <p:spPr>
          <a:xfrm>
            <a:off x="6254496" y="1952244"/>
            <a:ext cx="493776" cy="429768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p7"/>
          <p:cNvSpPr txBox="1"/>
          <p:nvPr/>
        </p:nvSpPr>
        <p:spPr>
          <a:xfrm>
            <a:off x="6328041" y="2011680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p7</a:t>
            </a:r>
          </a:p>
        </p:txBody>
      </p:sp>
      <p:sp>
        <p:nvSpPr>
          <p:cNvPr id="42" name="rect 41"/>
          <p:cNvSpPr/>
          <p:nvPr/>
        </p:nvSpPr>
        <p:spPr>
          <a:xfrm>
            <a:off x="6254496" y="2766060"/>
            <a:ext cx="493776" cy="42976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6459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7"/>
          <p:cNvSpPr txBox="1"/>
          <p:nvPr/>
        </p:nvSpPr>
        <p:spPr>
          <a:xfrm>
            <a:off x="6328041" y="2825496"/>
            <a:ext cx="34668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p7</a:t>
            </a:r>
          </a:p>
        </p:txBody>
      </p:sp>
      <p:cxnSp>
        <p:nvCxnSpPr>
          <p:cNvPr id="44" name="path 43"/>
          <p:cNvCxnSpPr/>
          <p:nvPr/>
        </p:nvCxnSpPr>
        <p:spPr>
          <a:xfrm>
            <a:off x="6501384" y="2427732"/>
            <a:ext cx="0" cy="283464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已有有效副本：跳过"/>
          <p:cNvSpPr txBox="1"/>
          <p:nvPr/>
        </p:nvSpPr>
        <p:spPr>
          <a:xfrm>
            <a:off x="2327148" y="3273552"/>
            <a:ext cx="1837944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已有有效副本：跳过</a:t>
            </a:r>
          </a:p>
        </p:txBody>
      </p:sp>
      <p:sp>
        <p:nvSpPr>
          <p:cNvPr id="46" name="仅复制缺失段"/>
          <p:cNvSpPr txBox="1"/>
          <p:nvPr/>
        </p:nvSpPr>
        <p:spPr>
          <a:xfrm>
            <a:off x="4974336" y="3284982"/>
            <a:ext cx="1207008" cy="304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仅复制缺失段</a:t>
            </a:r>
          </a:p>
        </p:txBody>
      </p:sp>
      <p:sp>
        <p:nvSpPr>
          <p:cNvPr id="47" name="PREPARE_HOST 仅备份缺失 FULL；备份本身不释放 HBM。"/>
          <p:cNvSpPr txBox="1"/>
          <p:nvPr/>
        </p:nvSpPr>
        <p:spPr>
          <a:xfrm>
            <a:off x="566928" y="3566160"/>
            <a:ext cx="523597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PREPARE_HOST 仅备份缺失 FULL；备份本身不释放 HBM。</a:t>
            </a:r>
          </a:p>
        </p:txBody>
      </p:sp>
      <p:sp>
        <p:nvSpPr>
          <p:cNvPr id="48" name="rect 47"/>
          <p:cNvSpPr/>
          <p:nvPr/>
        </p:nvSpPr>
        <p:spPr>
          <a:xfrm>
            <a:off x="7589520" y="1193292"/>
            <a:ext cx="5212080" cy="2724912"/>
          </a:xfrm>
          <a:prstGeom prst="roundRect">
            <a:avLst>
              <a:gd name="adj" fmla="val 1006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line 48"/>
          <p:cNvCxnSpPr/>
          <p:nvPr/>
        </p:nvCxnSpPr>
        <p:spPr>
          <a:xfrm>
            <a:off x="7598664" y="1202436"/>
            <a:ext cx="5193792" cy="0"/>
          </a:xfrm>
          <a:prstGeom prst="line">
            <a:avLst/>
          </a:prstGeom>
          <a:ln w="2743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(b) 必要 Mamba checkpoint"/>
          <p:cNvSpPr txBox="1"/>
          <p:nvPr/>
        </p:nvSpPr>
        <p:spPr>
          <a:xfrm>
            <a:off x="7790688" y="1282446"/>
            <a:ext cx="3253907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(b) 必要 Mamba checkpoint</a:t>
            </a:r>
          </a:p>
        </p:txBody>
      </p:sp>
      <p:sp>
        <p:nvSpPr>
          <p:cNvPr id="51" name="rect 50"/>
          <p:cNvSpPr/>
          <p:nvPr/>
        </p:nvSpPr>
        <p:spPr>
          <a:xfrm>
            <a:off x="7936992" y="1952244"/>
            <a:ext cx="1188720" cy="621792"/>
          </a:xfrm>
          <a:prstGeom prst="roundRect">
            <a:avLst>
              <a:gd name="adj" fmla="val 2941"/>
            </a:avLst>
          </a:prstGeom>
          <a:solidFill>
            <a:srgbClr val="F2F4F5"/>
          </a:solidFill>
          <a:ln w="11887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0"/>
          <p:cNvSpPr txBox="1"/>
          <p:nvPr/>
        </p:nvSpPr>
        <p:spPr>
          <a:xfrm>
            <a:off x="8352472" y="2075688"/>
            <a:ext cx="357759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s0</a:t>
            </a:r>
          </a:p>
        </p:txBody>
      </p:sp>
      <p:sp>
        <p:nvSpPr>
          <p:cNvPr id="53" name="rect 52"/>
          <p:cNvSpPr/>
          <p:nvPr/>
        </p:nvSpPr>
        <p:spPr>
          <a:xfrm>
            <a:off x="9464040" y="1952244"/>
            <a:ext cx="1188720" cy="621792"/>
          </a:xfrm>
          <a:prstGeom prst="roundRect">
            <a:avLst>
              <a:gd name="adj" fmla="val 2941"/>
            </a:avLst>
          </a:prstGeom>
          <a:solidFill>
            <a:srgbClr val="F2F4F5"/>
          </a:solidFill>
          <a:ln w="11887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1"/>
          <p:cNvSpPr txBox="1"/>
          <p:nvPr/>
        </p:nvSpPr>
        <p:spPr>
          <a:xfrm>
            <a:off x="9879520" y="2075688"/>
            <a:ext cx="357759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55" name="rect 54"/>
          <p:cNvSpPr/>
          <p:nvPr/>
        </p:nvSpPr>
        <p:spPr>
          <a:xfrm>
            <a:off x="10991088" y="1952244"/>
            <a:ext cx="1188720" cy="621792"/>
          </a:xfrm>
          <a:prstGeom prst="roundRect">
            <a:avLst>
              <a:gd name="adj" fmla="val 2941"/>
            </a:avLst>
          </a:prstGeom>
          <a:solidFill>
            <a:srgbClr val="FBF2E3"/>
          </a:solidFill>
          <a:ln w="11887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2"/>
          <p:cNvSpPr txBox="1"/>
          <p:nvPr/>
        </p:nvSpPr>
        <p:spPr>
          <a:xfrm>
            <a:off x="11406568" y="2075688"/>
            <a:ext cx="357759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s2</a:t>
            </a:r>
          </a:p>
        </p:txBody>
      </p:sp>
      <p:cxnSp>
        <p:nvCxnSpPr>
          <p:cNvPr id="57" name="path 56"/>
          <p:cNvCxnSpPr/>
          <p:nvPr/>
        </p:nvCxnSpPr>
        <p:spPr>
          <a:xfrm>
            <a:off x="9153144" y="2263140"/>
            <a:ext cx="292608" cy="0"/>
          </a:xfrm>
          <a:prstGeom prst="line">
            <a:avLst/>
          </a:prstGeom>
          <a:ln w="21945">
            <a:solidFill>
              <a:srgbClr val="687680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path 57"/>
          <p:cNvCxnSpPr/>
          <p:nvPr/>
        </p:nvCxnSpPr>
        <p:spPr>
          <a:xfrm>
            <a:off x="10680192" y="2263140"/>
            <a:ext cx="292608" cy="0"/>
          </a:xfrm>
          <a:prstGeom prst="line">
            <a:avLst/>
          </a:prstGeom>
          <a:ln w="21945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选择目标 checkpoint 所需状态"/>
          <p:cNvSpPr txBox="1"/>
          <p:nvPr/>
        </p:nvSpPr>
        <p:spPr>
          <a:xfrm>
            <a:off x="8610344" y="2676906"/>
            <a:ext cx="2859536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选择目标 checkpoint 所需状态</a:t>
            </a:r>
          </a:p>
        </p:txBody>
      </p:sp>
      <p:sp>
        <p:nvSpPr>
          <p:cNvPr id="60" name="PREPARE_HOST 不投机备份 Mamba。"/>
          <p:cNvSpPr txBox="1"/>
          <p:nvPr/>
        </p:nvSpPr>
        <p:spPr>
          <a:xfrm>
            <a:off x="7790688" y="3079242"/>
            <a:ext cx="3606451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PREPARE_HOST 不投机备份 Mamba。</a:t>
            </a:r>
          </a:p>
        </p:txBody>
      </p:sp>
      <p:sp>
        <p:nvSpPr>
          <p:cNvPr id="61" name="其他有效状态仍由原生缓存管理。"/>
          <p:cNvSpPr txBox="1"/>
          <p:nvPr/>
        </p:nvSpPr>
        <p:spPr>
          <a:xfrm>
            <a:off x="7790688" y="3380994"/>
            <a:ext cx="3127248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其他有效状态仍由原生缓存管理。</a:t>
            </a:r>
          </a:p>
        </p:txBody>
      </p:sp>
      <p:sp>
        <p:nvSpPr>
          <p:cNvPr id="62" name="rect 61"/>
          <p:cNvSpPr/>
          <p:nvPr/>
        </p:nvSpPr>
        <p:spPr>
          <a:xfrm>
            <a:off x="365760" y="4311396"/>
            <a:ext cx="12435840" cy="4023360"/>
          </a:xfrm>
          <a:prstGeom prst="roundRect">
            <a:avLst>
              <a:gd name="adj" fmla="val 681"/>
            </a:avLst>
          </a:prstGeom>
          <a:solidFill>
            <a:srgbClr val="FFFFFF"/>
          </a:solidFill>
          <a:ln w="15544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line 62"/>
          <p:cNvCxnSpPr/>
          <p:nvPr/>
        </p:nvCxnSpPr>
        <p:spPr>
          <a:xfrm>
            <a:off x="374904" y="4320540"/>
            <a:ext cx="12417552" cy="0"/>
          </a:xfrm>
          <a:prstGeom prst="line">
            <a:avLst/>
          </a:prstGeom>
          <a:ln w="27432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(c) 协同 Child 回收、Parent 恢复与准入"/>
          <p:cNvSpPr txBox="1"/>
          <p:nvPr/>
        </p:nvSpPr>
        <p:spPr>
          <a:xfrm>
            <a:off x="566928" y="4400550"/>
            <a:ext cx="4397228" cy="381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(c) 协同 Child 回收、Parent 恢复与准入</a:t>
            </a:r>
          </a:p>
        </p:txBody>
      </p:sp>
      <p:sp>
        <p:nvSpPr>
          <p:cNvPr id="65" name="circle 64"/>
          <p:cNvSpPr/>
          <p:nvPr/>
        </p:nvSpPr>
        <p:spPr>
          <a:xfrm>
            <a:off x="841248" y="5317236"/>
            <a:ext cx="457200" cy="457200"/>
          </a:xfrm>
          <a:prstGeom prst="ellipse">
            <a:avLst/>
          </a:prstGeom>
          <a:solidFill>
            <a:srgbClr val="EDF3F8"/>
          </a:solidFill>
          <a:ln w="1280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P"/>
          <p:cNvSpPr txBox="1"/>
          <p:nvPr/>
        </p:nvSpPr>
        <p:spPr>
          <a:xfrm>
            <a:off x="938742" y="5360670"/>
            <a:ext cx="262211" cy="3680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67" name="circle 66"/>
          <p:cNvSpPr/>
          <p:nvPr/>
        </p:nvSpPr>
        <p:spPr>
          <a:xfrm>
            <a:off x="2167128" y="5024628"/>
            <a:ext cx="475488" cy="475488"/>
          </a:xfrm>
          <a:prstGeom prst="ellipse">
            <a:avLst/>
          </a:prstGeom>
          <a:solidFill>
            <a:srgbClr val="EAF3F1"/>
          </a:solidFill>
          <a:ln w="1280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1"/>
          <p:cNvSpPr txBox="1"/>
          <p:nvPr/>
        </p:nvSpPr>
        <p:spPr>
          <a:xfrm>
            <a:off x="2224671" y="5097323"/>
            <a:ext cx="360402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C1</a:t>
            </a:r>
          </a:p>
        </p:txBody>
      </p:sp>
      <p:sp>
        <p:nvSpPr>
          <p:cNvPr id="69" name="circle 68"/>
          <p:cNvSpPr/>
          <p:nvPr/>
        </p:nvSpPr>
        <p:spPr>
          <a:xfrm>
            <a:off x="2167128" y="5792724"/>
            <a:ext cx="475488" cy="475488"/>
          </a:xfrm>
          <a:prstGeom prst="ellipse">
            <a:avLst/>
          </a:prstGeom>
          <a:solidFill>
            <a:srgbClr val="FBF2E3"/>
          </a:solidFill>
          <a:ln w="1280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2"/>
          <p:cNvSpPr txBox="1"/>
          <p:nvPr/>
        </p:nvSpPr>
        <p:spPr>
          <a:xfrm>
            <a:off x="2224671" y="5865419"/>
            <a:ext cx="360402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C2</a:t>
            </a:r>
          </a:p>
        </p:txBody>
      </p:sp>
      <p:cxnSp>
        <p:nvCxnSpPr>
          <p:cNvPr id="71" name="path 70"/>
          <p:cNvCxnSpPr/>
          <p:nvPr/>
        </p:nvCxnSpPr>
        <p:spPr>
          <a:xfrm flipV="1">
            <a:off x="1298448" y="5244084"/>
            <a:ext cx="850392" cy="219456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path 71"/>
          <p:cNvCxnSpPr/>
          <p:nvPr/>
        </p:nvCxnSpPr>
        <p:spPr>
          <a:xfrm>
            <a:off x="1298448" y="5646420"/>
            <a:ext cx="850392" cy="329184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WAIT_JOIN"/>
          <p:cNvSpPr txBox="1"/>
          <p:nvPr/>
        </p:nvSpPr>
        <p:spPr>
          <a:xfrm>
            <a:off x="557141" y="5838444"/>
            <a:ext cx="970550" cy="276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WAIT_JOIN</a:t>
            </a:r>
          </a:p>
        </p:txBody>
      </p:sp>
      <p:sp>
        <p:nvSpPr>
          <p:cNvPr id="74" name="RETURN"/>
          <p:cNvSpPr txBox="1"/>
          <p:nvPr/>
        </p:nvSpPr>
        <p:spPr>
          <a:xfrm>
            <a:off x="1994214" y="4732020"/>
            <a:ext cx="784741" cy="2766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RETURN</a:t>
            </a:r>
          </a:p>
        </p:txBody>
      </p:sp>
      <p:sp>
        <p:nvSpPr>
          <p:cNvPr id="75" name="仍在运行"/>
          <p:cNvSpPr txBox="1"/>
          <p:nvPr/>
        </p:nvSpPr>
        <p:spPr>
          <a:xfrm>
            <a:off x="2020824" y="6302502"/>
            <a:ext cx="804672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仍在运行</a:t>
            </a:r>
          </a:p>
        </p:txBody>
      </p:sp>
      <p:cxnSp>
        <p:nvCxnSpPr>
          <p:cNvPr id="76" name="path 75"/>
          <p:cNvCxnSpPr/>
          <p:nvPr/>
        </p:nvCxnSpPr>
        <p:spPr>
          <a:xfrm>
            <a:off x="2660904" y="5262372"/>
            <a:ext cx="731520" cy="0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 76"/>
          <p:cNvSpPr/>
          <p:nvPr/>
        </p:nvSpPr>
        <p:spPr>
          <a:xfrm>
            <a:off x="3419856" y="4933188"/>
            <a:ext cx="2642616" cy="1609344"/>
          </a:xfrm>
          <a:prstGeom prst="roundRect">
            <a:avLst>
              <a:gd name="adj" fmla="val 1136"/>
            </a:avLst>
          </a:prstGeom>
          <a:solidFill>
            <a:srgbClr val="EAF3F1"/>
          </a:solidFill>
          <a:ln w="1645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回收私有页"/>
          <p:cNvSpPr txBox="1"/>
          <p:nvPr/>
        </p:nvSpPr>
        <p:spPr>
          <a:xfrm>
            <a:off x="4201668" y="5047488"/>
            <a:ext cx="1069848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回收私有页</a:t>
            </a:r>
          </a:p>
        </p:txBody>
      </p:sp>
      <p:sp>
        <p:nvSpPr>
          <p:cNvPr id="79" name="无活跃或共享引用"/>
          <p:cNvSpPr txBox="1"/>
          <p:nvPr/>
        </p:nvSpPr>
        <p:spPr>
          <a:xfrm>
            <a:off x="3611880" y="5442966"/>
            <a:ext cx="1499616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无活跃或共享引用</a:t>
            </a:r>
          </a:p>
        </p:txBody>
      </p:sp>
      <p:sp>
        <p:nvSpPr>
          <p:cNvPr id="80" name="无在途传输依赖"/>
          <p:cNvSpPr txBox="1"/>
          <p:nvPr/>
        </p:nvSpPr>
        <p:spPr>
          <a:xfrm>
            <a:off x="3611880" y="5744718"/>
            <a:ext cx="1325880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无在途传输依赖</a:t>
            </a:r>
          </a:p>
        </p:txBody>
      </p:sp>
      <p:sp>
        <p:nvSpPr>
          <p:cNvPr id="81" name="保留共享前缀"/>
          <p:cNvSpPr txBox="1"/>
          <p:nvPr/>
        </p:nvSpPr>
        <p:spPr>
          <a:xfrm>
            <a:off x="3611880" y="6046470"/>
            <a:ext cx="1152144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保留共享前缀</a:t>
            </a:r>
          </a:p>
        </p:txBody>
      </p:sp>
      <p:cxnSp>
        <p:nvCxnSpPr>
          <p:cNvPr id="82" name="path 81"/>
          <p:cNvCxnSpPr/>
          <p:nvPr/>
        </p:nvCxnSpPr>
        <p:spPr>
          <a:xfrm>
            <a:off x="6071616" y="5737860"/>
            <a:ext cx="521208" cy="0"/>
          </a:xfrm>
          <a:prstGeom prst="line">
            <a:avLst/>
          </a:prstGeom>
          <a:ln w="21945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 82"/>
          <p:cNvSpPr/>
          <p:nvPr/>
        </p:nvSpPr>
        <p:spPr>
          <a:xfrm>
            <a:off x="6611112" y="4933188"/>
            <a:ext cx="2441448" cy="1609344"/>
          </a:xfrm>
          <a:prstGeom prst="roundRect">
            <a:avLst>
              <a:gd name="adj" fmla="val 1136"/>
            </a:avLst>
          </a:prstGeom>
          <a:solidFill>
            <a:srgbClr val="F2F4F5"/>
          </a:solidFill>
          <a:ln w="1645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原生空闲列表"/>
          <p:cNvSpPr txBox="1"/>
          <p:nvPr/>
        </p:nvSpPr>
        <p:spPr>
          <a:xfrm>
            <a:off x="7141464" y="5036058"/>
            <a:ext cx="13716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原生空闲列表</a:t>
            </a:r>
          </a:p>
        </p:txBody>
      </p:sp>
      <p:sp>
        <p:nvSpPr>
          <p:cNvPr id="85" name="rect 84"/>
          <p:cNvSpPr/>
          <p:nvPr/>
        </p:nvSpPr>
        <p:spPr>
          <a:xfrm>
            <a:off x="6821424" y="5536692"/>
            <a:ext cx="2020824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188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ULL 页"/>
          <p:cNvSpPr txBox="1"/>
          <p:nvPr/>
        </p:nvSpPr>
        <p:spPr>
          <a:xfrm>
            <a:off x="7420213" y="5556260"/>
            <a:ext cx="823246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FULL 页</a:t>
            </a:r>
          </a:p>
        </p:txBody>
      </p:sp>
      <p:sp>
        <p:nvSpPr>
          <p:cNvPr id="87" name="rect 86"/>
          <p:cNvSpPr/>
          <p:nvPr/>
        </p:nvSpPr>
        <p:spPr>
          <a:xfrm>
            <a:off x="6821424" y="6012180"/>
            <a:ext cx="2020824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1887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Mamba 槽位"/>
          <p:cNvSpPr txBox="1"/>
          <p:nvPr/>
        </p:nvSpPr>
        <p:spPr>
          <a:xfrm>
            <a:off x="7214741" y="6031748"/>
            <a:ext cx="123419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Mamba 槽位</a:t>
            </a:r>
          </a:p>
        </p:txBody>
      </p:sp>
      <p:cxnSp>
        <p:nvCxnSpPr>
          <p:cNvPr id="89" name="path 88"/>
          <p:cNvCxnSpPr/>
          <p:nvPr/>
        </p:nvCxnSpPr>
        <p:spPr>
          <a:xfrm>
            <a:off x="9061704" y="5737860"/>
            <a:ext cx="502920" cy="0"/>
          </a:xfrm>
          <a:prstGeom prst="line">
            <a:avLst/>
          </a:prstGeom>
          <a:ln w="21945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 89"/>
          <p:cNvSpPr/>
          <p:nvPr/>
        </p:nvSpPr>
        <p:spPr>
          <a:xfrm>
            <a:off x="9582912" y="4933188"/>
            <a:ext cx="2962656" cy="1609344"/>
          </a:xfrm>
          <a:prstGeom prst="roundRect">
            <a:avLst>
              <a:gd name="adj" fmla="val 1136"/>
            </a:avLst>
          </a:prstGeom>
          <a:solidFill>
            <a:srgbClr val="EDF3F8"/>
          </a:solidFill>
          <a:ln w="1645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Parent 恢复与执行"/>
          <p:cNvSpPr txBox="1"/>
          <p:nvPr/>
        </p:nvSpPr>
        <p:spPr>
          <a:xfrm>
            <a:off x="10192238" y="5056632"/>
            <a:ext cx="1744004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Parent 恢复与执行</a:t>
            </a:r>
          </a:p>
        </p:txBody>
      </p:sp>
      <p:sp>
        <p:nvSpPr>
          <p:cNvPr id="92" name="加载缺失 checkpoint 页"/>
          <p:cNvSpPr txBox="1"/>
          <p:nvPr/>
        </p:nvSpPr>
        <p:spPr>
          <a:xfrm>
            <a:off x="9784080" y="5442966"/>
            <a:ext cx="1963424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加载缺失 checkpoint 页</a:t>
            </a:r>
          </a:p>
        </p:txBody>
      </p:sp>
      <p:sp>
        <p:nvSpPr>
          <p:cNvPr id="93" name="预留输入与 decode 增长"/>
          <p:cNvSpPr txBox="1"/>
          <p:nvPr/>
        </p:nvSpPr>
        <p:spPr>
          <a:xfrm>
            <a:off x="9784080" y="5744718"/>
            <a:ext cx="2001464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预留输入与 decode 增长</a:t>
            </a:r>
          </a:p>
        </p:txBody>
      </p:sp>
      <p:sp>
        <p:nvSpPr>
          <p:cNvPr id="94" name="有界恢复感知准入"/>
          <p:cNvSpPr txBox="1"/>
          <p:nvPr/>
        </p:nvSpPr>
        <p:spPr>
          <a:xfrm>
            <a:off x="9784080" y="6046470"/>
            <a:ext cx="1499616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有界恢复感知准入</a:t>
            </a:r>
          </a:p>
        </p:txBody>
      </p:sp>
      <p:cxnSp>
        <p:nvCxnSpPr>
          <p:cNvPr id="95" name="line 94"/>
          <p:cNvCxnSpPr/>
          <p:nvPr/>
        </p:nvCxnSpPr>
        <p:spPr>
          <a:xfrm>
            <a:off x="1133856" y="6899148"/>
            <a:ext cx="11356848" cy="0"/>
          </a:xfrm>
          <a:prstGeom prst="line">
            <a:avLst/>
          </a:prstGeom>
          <a:ln w="11887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较早结束的 Child"/>
          <p:cNvSpPr txBox="1"/>
          <p:nvPr/>
        </p:nvSpPr>
        <p:spPr>
          <a:xfrm>
            <a:off x="594360" y="7093458"/>
            <a:ext cx="167599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较早结束的 Child</a:t>
            </a:r>
          </a:p>
        </p:txBody>
      </p:sp>
      <p:sp>
        <p:nvSpPr>
          <p:cNvPr id="97" name="最后一个 Child"/>
          <p:cNvSpPr txBox="1"/>
          <p:nvPr/>
        </p:nvSpPr>
        <p:spPr>
          <a:xfrm>
            <a:off x="594360" y="7541514"/>
            <a:ext cx="1474827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最后一个 Child</a:t>
            </a:r>
          </a:p>
        </p:txBody>
      </p:sp>
      <p:sp>
        <p:nvSpPr>
          <p:cNvPr id="98" name="circle 97"/>
          <p:cNvSpPr/>
          <p:nvPr/>
        </p:nvSpPr>
        <p:spPr>
          <a:xfrm>
            <a:off x="3136392" y="7200900"/>
            <a:ext cx="91440" cy="91440"/>
          </a:xfrm>
          <a:prstGeom prst="ellipse">
            <a:avLst/>
          </a:prstGeom>
          <a:solidFill>
            <a:srgbClr val="357B73"/>
          </a:solidFill>
          <a:ln w="914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TURN → 释放容量"/>
          <p:cNvSpPr txBox="1"/>
          <p:nvPr/>
        </p:nvSpPr>
        <p:spPr>
          <a:xfrm>
            <a:off x="3364992" y="7104888"/>
            <a:ext cx="1905131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RETURN → 释放容量</a:t>
            </a:r>
          </a:p>
        </p:txBody>
      </p:sp>
      <p:sp>
        <p:nvSpPr>
          <p:cNvPr id="100" name="rect 99"/>
          <p:cNvSpPr/>
          <p:nvPr/>
        </p:nvSpPr>
        <p:spPr>
          <a:xfrm>
            <a:off x="6400800" y="7054596"/>
            <a:ext cx="3282696" cy="374904"/>
          </a:xfrm>
          <a:prstGeom prst="roundRect">
            <a:avLst>
              <a:gd name="adj" fmla="val 4878"/>
            </a:avLst>
          </a:prstGeom>
          <a:solidFill>
            <a:srgbClr val="EAF3F1"/>
          </a:solidFill>
          <a:ln w="14630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Parent 预测性 H2D"/>
          <p:cNvSpPr txBox="1"/>
          <p:nvPr/>
        </p:nvSpPr>
        <p:spPr>
          <a:xfrm>
            <a:off x="7168039" y="7086600"/>
            <a:ext cx="1739074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Parent 预测性 H2D</a:t>
            </a:r>
          </a:p>
        </p:txBody>
      </p:sp>
      <p:sp>
        <p:nvSpPr>
          <p:cNvPr id="102" name="rect 101"/>
          <p:cNvSpPr/>
          <p:nvPr/>
        </p:nvSpPr>
        <p:spPr>
          <a:xfrm>
            <a:off x="3191256" y="7539228"/>
            <a:ext cx="7232904" cy="356616"/>
          </a:xfrm>
          <a:prstGeom prst="roundRect">
            <a:avLst>
              <a:gd name="adj" fmla="val 5128"/>
            </a:avLst>
          </a:prstGeom>
          <a:solidFill>
            <a:srgbClr val="FBF2E3"/>
          </a:solidFill>
          <a:ln w="14630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最后生成仍在继续"/>
          <p:cNvSpPr txBox="1"/>
          <p:nvPr/>
        </p:nvSpPr>
        <p:spPr>
          <a:xfrm>
            <a:off x="5980176" y="7562088"/>
            <a:ext cx="1645920" cy="3177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最后生成仍在继续</a:t>
            </a:r>
          </a:p>
        </p:txBody>
      </p:sp>
      <p:cxnSp>
        <p:nvCxnSpPr>
          <p:cNvPr id="104" name="line 103"/>
          <p:cNvCxnSpPr/>
          <p:nvPr/>
        </p:nvCxnSpPr>
        <p:spPr>
          <a:xfrm>
            <a:off x="10433304" y="6972300"/>
            <a:ext cx="0" cy="1051560"/>
          </a:xfrm>
          <a:prstGeom prst="line">
            <a:avLst/>
          </a:prstGeom>
          <a:ln w="14630">
            <a:solidFill>
              <a:srgbClr val="89959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TURN"/>
          <p:cNvSpPr txBox="1"/>
          <p:nvPr/>
        </p:nvSpPr>
        <p:spPr>
          <a:xfrm>
            <a:off x="10570464" y="7555230"/>
            <a:ext cx="822174" cy="290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8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RETURN</a:t>
            </a:r>
          </a:p>
        </p:txBody>
      </p:sp>
      <p:sp>
        <p:nvSpPr>
          <p:cNvPr id="106" name="较早结束的 sibling 可支持 RETURN 前预取；最后一个 child 的容量只能在结束后使用。"/>
          <p:cNvSpPr txBox="1"/>
          <p:nvPr/>
        </p:nvSpPr>
        <p:spPr>
          <a:xfrm>
            <a:off x="365760" y="8538210"/>
            <a:ext cx="7882164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较早结束的 sibling 可支持 RETURN 前预取；最后一个 child 的容量只能在结束后使用。</a:t>
            </a:r>
          </a:p>
        </p:txBody>
      </p:sp>
      <p:sp>
        <p:nvSpPr>
          <p:cNvPr id="107" name="回收容量通过原生分配器使用；共享页与仍在执行的页面保留。"/>
          <p:cNvSpPr txBox="1"/>
          <p:nvPr/>
        </p:nvSpPr>
        <p:spPr>
          <a:xfrm>
            <a:off x="365760" y="8821674"/>
            <a:ext cx="5742432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回收容量通过原生分配器使用；共享页与仍在执行的页面保留。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BeliefKV 系统架构图</dc:title>
  <dc:subject>2026-08-15 through 2026-10-11</dc:subject>
  <dc:creator>BeliefKV</dc:creator>
  <cp:keywords>BeliefKV, dynamic agent workflows, KV cache, native editable diagrams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