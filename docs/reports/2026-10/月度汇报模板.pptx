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0"/>
  </p:notesMasterIdLst>
  <p:handoutMasterIdLst>
    <p:handoutMasterId r:id="rId11"/>
  </p:handoutMasterIdLst>
  <p:sldIdLst>
    <p:sldId id="259" r:id="rId6"/>
    <p:sldId id="945" r:id="rId7"/>
    <p:sldId id="791" r:id="rId8"/>
    <p:sldId id="784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FE5"/>
    <a:srgbClr val="FFA6B5"/>
    <a:srgbClr val="CC75E1"/>
    <a:srgbClr val="0169A0"/>
    <a:srgbClr val="162A46"/>
    <a:srgbClr val="88C1EC"/>
    <a:srgbClr val="0553A0"/>
    <a:srgbClr val="006DDA"/>
    <a:srgbClr val="004B95"/>
    <a:srgbClr val="608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1" autoAdjust="0"/>
    <p:restoredTop sz="95238" autoAdjust="0"/>
  </p:normalViewPr>
  <p:slideViewPr>
    <p:cSldViewPr>
      <p:cViewPr varScale="1">
        <p:scale>
          <a:sx n="95" d="100"/>
          <a:sy n="95" d="100"/>
        </p:scale>
        <p:origin x="104" y="2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28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36" d="100"/>
        <a:sy n="13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994" y="102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67A72C1-0D2A-41F5-8ED0-3D3DC9E977B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1883E6-6D95-453C-9681-87383D52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64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DE8C108-AB7E-41F9-BE29-EE918610279B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455AFA1-5136-4BEA-AE07-EA9BE3943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1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7BDC6-3B02-47EA-A92B-8996557DDF1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79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F4309-C550-B335-782E-B0BC8872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28C39-7039-ECA0-00EB-2ACDA1E7A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9C10D-9C2D-6B56-F59B-B5AF269A0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D359E-D83A-C3F3-B31C-884FCA573C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55AFA1-5136-4BEA-AE07-EA9BE39431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15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2EE93-3D6B-2AF6-B141-639FDA83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E262C-F72F-FCBF-779F-27D4D1CCA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EDE3F-4F31-388E-EE6A-D9B15BDC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B591-F872-946A-58C3-0490EBA9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55AFA1-5136-4BEA-AE07-EA9BE39431F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922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C2B0-6A38-5FE3-5037-622A26F0F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4A204-EBA6-FFED-0962-42E5767DF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1A150-652F-55EF-469E-1D93FC3FD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682CC-073A-48D9-B9B1-BC5266145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55AFA1-5136-4BEA-AE07-EA9BE39431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9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2590800"/>
          </a:xfrm>
          <a:prstGeom prst="rect">
            <a:avLst/>
          </a:prstGeom>
          <a:solidFill>
            <a:srgbClr val="162A46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400" y="304800"/>
            <a:ext cx="11473200" cy="1981200"/>
          </a:xfrm>
        </p:spPr>
        <p:txBody>
          <a:bodyPr anchor="ctr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956143"/>
            <a:ext cx="8534400" cy="2006781"/>
          </a:xfrm>
        </p:spPr>
        <p:txBody>
          <a:bodyPr>
            <a:normAutofit/>
          </a:bodyPr>
          <a:lstStyle>
            <a:lvl1pPr marL="0" indent="0" algn="ctr">
              <a:buNone/>
              <a:defRPr sz="3000" baseline="0">
                <a:solidFill>
                  <a:srgbClr val="6365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3086100" y="5256000"/>
            <a:ext cx="6019800" cy="1295400"/>
          </a:xfrm>
        </p:spPr>
        <p:txBody>
          <a:bodyPr/>
          <a:lstStyle>
            <a:lvl1pPr marL="0" indent="0" algn="ctr">
              <a:buFontTx/>
              <a:buNone/>
              <a:defRPr kumimoji="0" lang="en-US" sz="2000" b="0" i="1" u="none" strike="noStrike" kern="1200" cap="none" spc="0" normalizeH="0" baseline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  <p:pic>
        <p:nvPicPr>
          <p:cNvPr id="10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68A4E8E0-956F-4B42-BCA0-C4A1FEED84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左字右图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 Semibold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5040000" cy="432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9656" y="6480663"/>
            <a:ext cx="9144000" cy="332713"/>
          </a:xfrm>
          <a:prstGeom prst="rect">
            <a:avLst/>
          </a:prstGeom>
        </p:spPr>
      </p:pic>
      <p:pic>
        <p:nvPicPr>
          <p:cNvPr id="10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9DE355F3-1C7E-453F-8996-4E9C0F0CB8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全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10800000" cy="432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0FB50A6-5F13-47F8-8C74-32578AE90B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9656" y="6480663"/>
            <a:ext cx="9144000" cy="332713"/>
          </a:xfrm>
          <a:prstGeom prst="rect">
            <a:avLst/>
          </a:prstGeom>
        </p:spPr>
      </p:pic>
      <p:pic>
        <p:nvPicPr>
          <p:cNvPr id="11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8072A93C-11D2-4FD8-B68A-79E01FF862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609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左字右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 Semibold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5040000" cy="432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9656" y="6480663"/>
            <a:ext cx="9144000" cy="33271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C7977CF-E535-4706-A621-AB9404772C1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20000" y="1620000"/>
            <a:ext cx="5040000" cy="432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10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B781631F-7FA3-48B1-B02A-BCE65DC72F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473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全图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9656" y="6480663"/>
            <a:ext cx="9144000" cy="332713"/>
          </a:xfrm>
          <a:prstGeom prst="rect">
            <a:avLst/>
          </a:prstGeom>
        </p:spPr>
      </p:pic>
      <p:pic>
        <p:nvPicPr>
          <p:cNvPr id="9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C1294E90-04DC-4A40-BC0F-CFC3C9A8C0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125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D1DFBCB-D8A9-4C0E-856D-452D5BDC22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9656" y="6480663"/>
            <a:ext cx="9144000" cy="3327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F3830A5-6239-4FBD-821C-0EBE607A3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ctr">
              <a:defRPr sz="4400" b="1" i="0" baseline="0">
                <a:solidFill>
                  <a:srgbClr val="162A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6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1D6838B1-EEC9-4255-AAD7-AE50C50027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220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2590800"/>
          </a:xfrm>
          <a:prstGeom prst="rect">
            <a:avLst/>
          </a:prstGeom>
          <a:solidFill>
            <a:srgbClr val="162A46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400" y="304800"/>
            <a:ext cx="11473200" cy="1981200"/>
          </a:xfrm>
        </p:spPr>
        <p:txBody>
          <a:bodyPr anchor="ctr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956143"/>
            <a:ext cx="8534400" cy="2006781"/>
          </a:xfrm>
        </p:spPr>
        <p:txBody>
          <a:bodyPr>
            <a:normAutofit/>
          </a:bodyPr>
          <a:lstStyle>
            <a:lvl1pPr marL="0" indent="0" algn="ctr">
              <a:buNone/>
              <a:defRPr sz="3000" baseline="0">
                <a:solidFill>
                  <a:srgbClr val="6365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3086100" y="5256000"/>
            <a:ext cx="6019800" cy="1295400"/>
          </a:xfrm>
        </p:spPr>
        <p:txBody>
          <a:bodyPr/>
          <a:lstStyle>
            <a:lvl1pPr marL="0" indent="0" algn="ctr">
              <a:buFontTx/>
              <a:buNone/>
              <a:defRPr kumimoji="0" lang="en-US" sz="2000" b="0" i="1" u="none" strike="noStrike" kern="1200" cap="none" spc="0" normalizeH="0" baseline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8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左字右图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 Semibold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5040000" cy="504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A274AD-187A-4D93-94F5-764C8215407F}"/>
              </a:ext>
            </a:extLst>
          </p:cNvPr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118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全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A71D2520-8403-4383-825D-09D4403793D8}"/>
              </a:ext>
            </a:extLst>
          </p:cNvPr>
          <p:cNvSpPr/>
          <p:nvPr userDrawn="1"/>
        </p:nvSpPr>
        <p:spPr>
          <a:xfrm>
            <a:off x="11568608" y="6453336"/>
            <a:ext cx="623392" cy="40466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FB8AD1B3-C348-496E-B394-095458C50AB0}"/>
              </a:ext>
            </a:extLst>
          </p:cNvPr>
          <p:cNvSpPr txBox="1"/>
          <p:nvPr userDrawn="1"/>
        </p:nvSpPr>
        <p:spPr>
          <a:xfrm>
            <a:off x="11582424" y="64008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F923FAA-E6BC-4A3B-B771-C476DAE0801B}" type="slidenum">
              <a:rPr lang="en-US" sz="1800" b="0" i="0" smtClean="0">
                <a:solidFill>
                  <a:schemeClr val="tx1"/>
                </a:solidFill>
                <a:latin typeface="Myriad Pro" charset="0"/>
                <a:ea typeface="Myriad Pro" charset="0"/>
                <a:cs typeface="Myriad Pro" charset="0"/>
              </a:rPr>
              <a:pPr/>
              <a:t>‹#›</a:t>
            </a:fld>
            <a:endParaRPr lang="en-US" sz="1800" b="0" i="0" dirty="0">
              <a:solidFill>
                <a:schemeClr val="tx1"/>
              </a:solidFill>
              <a:latin typeface="Myriad Pro" charset="0"/>
              <a:ea typeface="Myriad Pro" charset="0"/>
              <a:cs typeface="Myriad Pro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D8ABD7-7FE0-40F3-AB63-F772B0B8AA7B}"/>
              </a:ext>
            </a:extLst>
          </p:cNvPr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10800000" cy="504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82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左字右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 Semibold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5040000" cy="504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31B36C-363D-477F-B81C-E3BCBAD8A703}"/>
              </a:ext>
            </a:extLst>
          </p:cNvPr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C7977CF-E535-4706-A621-AB9404772C1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20000" y="1620000"/>
            <a:ext cx="5040000" cy="504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334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全图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344D62-4B6F-42F9-AA4D-8B3C4ACF68A5}"/>
              </a:ext>
            </a:extLst>
          </p:cNvPr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093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F201BF-3700-48EC-805B-8CA03140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ctr">
              <a:defRPr sz="4400" b="1" i="0" baseline="0">
                <a:solidFill>
                  <a:srgbClr val="162A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DB3E73-A622-4F77-9D65-DD58B5389B43}"/>
              </a:ext>
            </a:extLst>
          </p:cNvPr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3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1582424" y="64008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F923FAA-E6BC-4A3B-B771-C476DAE0801B}" type="slidenum">
              <a:rPr lang="en-US" sz="1800" b="0" i="0" smtClean="0">
                <a:solidFill>
                  <a:schemeClr val="tx1"/>
                </a:solidFill>
                <a:latin typeface="Myriad Pro" charset="0"/>
                <a:ea typeface="Myriad Pro" charset="0"/>
                <a:cs typeface="Myriad Pro" charset="0"/>
              </a:rPr>
              <a:pPr/>
              <a:t>‹#›</a:t>
            </a:fld>
            <a:endParaRPr lang="en-US" sz="1800" b="0" i="0" dirty="0">
              <a:solidFill>
                <a:schemeClr val="tx1"/>
              </a:solidFill>
              <a:latin typeface="Myriad Pro" charset="0"/>
              <a:ea typeface="Myriad Pro" charset="0"/>
              <a:cs typeface="Myriad Pro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70" r:id="rId3"/>
    <p:sldLayoutId id="2147483671" r:id="rId4"/>
    <p:sldLayoutId id="2147483672" r:id="rId5"/>
    <p:sldLayoutId id="2147483668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3" r:id="rId12"/>
  </p:sldLayoutIdLst>
  <p:hf hdr="0" ftr="0" dt="0"/>
  <p:txStyles>
    <p:titleStyle>
      <a:lvl1pPr algn="ctr" defTabSz="914377" rtl="0" eaLnBrk="1" latinLnBrk="0" hangingPunct="1">
        <a:spcBef>
          <a:spcPct val="0"/>
        </a:spcBef>
        <a:buNone/>
        <a:defRPr sz="4400" b="1" i="0" kern="1200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b="0" i="0" kern="1200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b="0" i="0" kern="1200" baseline="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b="0" i="0" kern="1200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b="0" i="0" kern="1200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b="0" i="0" kern="1200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6000" dirty="0"/>
              <a:t>朱龙浩月度</a:t>
            </a:r>
            <a:r>
              <a:rPr lang="zh-CN" altLang="en-US" dirty="0"/>
              <a:t>汇报</a:t>
            </a:r>
            <a:endParaRPr lang="en-US" sz="4000" dirty="0"/>
          </a:p>
        </p:txBody>
      </p:sp>
      <p:sp>
        <p:nvSpPr>
          <p:cNvPr id="10" name="Subtitle 8">
            <a:extLst>
              <a:ext uri="{FF2B5EF4-FFF2-40B4-BE49-F238E27FC236}">
                <a16:creationId xmlns:a16="http://schemas.microsoft.com/office/drawing/2014/main" id="{EF6758A0-E7CE-41E3-BAD5-9DB6C1004FAE}"/>
              </a:ext>
            </a:extLst>
          </p:cNvPr>
          <p:cNvSpPr txBox="1">
            <a:spLocks/>
          </p:cNvSpPr>
          <p:nvPr/>
        </p:nvSpPr>
        <p:spPr>
          <a:xfrm>
            <a:off x="723900" y="3366435"/>
            <a:ext cx="10744200" cy="2654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0" i="0" kern="1200" baseline="0">
                <a:solidFill>
                  <a:srgbClr val="6365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457189" indent="0" algn="ctr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i="0" kern="1200" baseline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914377" indent="0" algn="ctr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0" i="0" kern="1200" baseline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371566" indent="0" algn="ctr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0" i="0" kern="1200" baseline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828754" indent="0" algn="ctr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0" i="0" kern="1200" baseline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85943" indent="0" algn="ctr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  <a:p>
            <a:r>
              <a:rPr lang="zh-CN" altLang="en-US" dirty="0"/>
              <a:t>朱龙浩</a:t>
            </a:r>
            <a:endParaRPr lang="en-US" altLang="zh-CN" dirty="0"/>
          </a:p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12</a:t>
            </a:r>
            <a:r>
              <a:rPr lang="zh-CN" altLang="en-US" dirty="0"/>
              <a:t>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7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F8ED2-5CA1-2274-3035-75CBB59C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CE67-EC87-5950-3D76-36FCDB14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上月总结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68F8B50-8E42-9CC5-60EC-2D8C7C60B2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91344" y="1412776"/>
            <a:ext cx="11881320" cy="49685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/>
              <a:t>1</a:t>
            </a:r>
            <a:r>
              <a:rPr lang="zh-CN" altLang="en-US" sz="2000" dirty="0"/>
              <a:t>、推进</a:t>
            </a:r>
            <a:r>
              <a:rPr lang="en-US" altLang="zh-CN" sz="2000" dirty="0" err="1"/>
              <a:t>MoE</a:t>
            </a:r>
            <a:r>
              <a:rPr lang="zh-CN" altLang="en-US" sz="2000" dirty="0"/>
              <a:t>工作的深入探究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/>
              <a:t> 3</a:t>
            </a:r>
            <a:r>
              <a:rPr lang="zh-CN" altLang="en-US" sz="2000" dirty="0"/>
              <a:t>、推进</a:t>
            </a:r>
            <a:r>
              <a:rPr lang="en-US" altLang="zh-CN" sz="2000" dirty="0"/>
              <a:t>GPU</a:t>
            </a:r>
            <a:r>
              <a:rPr lang="zh-CN" altLang="en-US" sz="2000" dirty="0"/>
              <a:t>加速</a:t>
            </a:r>
            <a:r>
              <a:rPr lang="en-US" altLang="zh-CN" sz="2000" dirty="0"/>
              <a:t>ANNS</a:t>
            </a:r>
            <a:r>
              <a:rPr lang="zh-CN" altLang="en-US" sz="2000" dirty="0"/>
              <a:t>场景和目标的深入研究，研究高维数据集高</a:t>
            </a:r>
            <a:r>
              <a:rPr lang="en-US" altLang="zh-CN" sz="2000" dirty="0"/>
              <a:t>graph k</a:t>
            </a:r>
            <a:r>
              <a:rPr lang="zh-CN" altLang="en-US" sz="2000" dirty="0"/>
              <a:t>的</a:t>
            </a:r>
            <a:r>
              <a:rPr lang="en-US" altLang="zh-CN" sz="2000" dirty="0"/>
              <a:t>oracle</a:t>
            </a:r>
            <a:r>
              <a:rPr lang="zh-CN" altLang="en-US" sz="2000" dirty="0"/>
              <a:t>的情况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/>
              <a:t> 4</a:t>
            </a:r>
            <a:r>
              <a:rPr lang="zh-CN" altLang="en-US" sz="2000" dirty="0"/>
              <a:t>、探索</a:t>
            </a:r>
            <a:r>
              <a:rPr lang="en-US" altLang="zh-CN" sz="2000" dirty="0"/>
              <a:t>PIM</a:t>
            </a:r>
            <a:r>
              <a:rPr lang="zh-CN" altLang="en-US" sz="2000" dirty="0"/>
              <a:t>加速端侧大模型推理，完成了阶段性方案的验证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/>
              <a:t> 5</a:t>
            </a:r>
            <a:r>
              <a:rPr lang="zh-CN" altLang="en-US" sz="2000" dirty="0"/>
              <a:t>、推进期刊修改的工作，完成代码和基本实验探索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61687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D9D2-5C1D-3D43-8397-E7CF354C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C237-DEE0-CCE2-14E6-3D168B16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关键进展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0CBC22-48F1-5531-586C-BC3590FA5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1621472"/>
            <a:ext cx="3312368" cy="4416491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E417AF9-A30F-99D0-0DF8-D9ED8A7153FA}"/>
              </a:ext>
            </a:extLst>
          </p:cNvPr>
          <p:cNvCxnSpPr>
            <a:cxnSpLocks/>
          </p:cNvCxnSpPr>
          <p:nvPr/>
        </p:nvCxnSpPr>
        <p:spPr>
          <a:xfrm>
            <a:off x="4151784" y="1507797"/>
            <a:ext cx="0" cy="4779633"/>
          </a:xfrm>
          <a:prstGeom prst="line">
            <a:avLst/>
          </a:prstGeom>
          <a:ln w="76200" cap="rnd">
            <a:solidFill>
              <a:schemeClr val="accent2">
                <a:lumMod val="60000"/>
                <a:lumOff val="4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253947BD-3D8B-2971-152E-5890B633D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715" y="4287284"/>
            <a:ext cx="3528391" cy="21170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AF88631-3654-5E4D-C426-36CA7F410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8174" y="1613497"/>
            <a:ext cx="4019447" cy="241166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8EA3D23-E976-C188-BD09-4CC73D435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635" y="1607509"/>
            <a:ext cx="3621471" cy="241431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7F1211F-3E1E-94C6-C3CC-A7BD87D162AF}"/>
              </a:ext>
            </a:extLst>
          </p:cNvPr>
          <p:cNvSpPr txBox="1"/>
          <p:nvPr/>
        </p:nvSpPr>
        <p:spPr>
          <a:xfrm>
            <a:off x="6023992" y="3917952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(a)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62A4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06DBF0-7532-9AB4-2028-B34A614382B9}"/>
              </a:ext>
            </a:extLst>
          </p:cNvPr>
          <p:cNvSpPr txBox="1"/>
          <p:nvPr/>
        </p:nvSpPr>
        <p:spPr>
          <a:xfrm>
            <a:off x="9984432" y="3933020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(b)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62A4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7FC6FF-C44C-E9E7-2900-F945A4C34BCA}"/>
              </a:ext>
            </a:extLst>
          </p:cNvPr>
          <p:cNvSpPr txBox="1"/>
          <p:nvPr/>
        </p:nvSpPr>
        <p:spPr>
          <a:xfrm>
            <a:off x="6023992" y="6301334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(c)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62A4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76B279F-D919-203F-D7A9-DB9933432958}"/>
              </a:ext>
            </a:extLst>
          </p:cNvPr>
          <p:cNvSpPr txBox="1"/>
          <p:nvPr/>
        </p:nvSpPr>
        <p:spPr>
          <a:xfrm>
            <a:off x="8015726" y="4705894"/>
            <a:ext cx="41960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复现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PathWeaver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的结果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162A4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PathWeaver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方向权重剪枝：学习率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PathWeaver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方向权重剪枝：学习率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62A4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62A4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62A4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85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7BE9-2BC3-20E0-7516-F541559E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970D-E55A-EB8A-43F8-B0E65397E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下月目标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90433B5-83B4-1191-9828-029AE9010D4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91344" y="1412776"/>
            <a:ext cx="11881320" cy="49685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/>
              <a:t>下月目标：</a:t>
            </a:r>
            <a:endParaRPr lang="en-US" altLang="zh-CN" sz="2400" b="1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 </a:t>
            </a:r>
            <a:r>
              <a:rPr lang="en-US" altLang="zh-CN" sz="2000" dirty="0"/>
              <a:t>1</a:t>
            </a:r>
            <a:r>
              <a:rPr lang="zh-CN" altLang="en-US" sz="2000" dirty="0"/>
              <a:t>、继续推进</a:t>
            </a:r>
            <a:r>
              <a:rPr lang="en-US" altLang="zh-CN" sz="2000" dirty="0"/>
              <a:t>PIM</a:t>
            </a:r>
            <a:r>
              <a:rPr lang="zh-CN" altLang="en-US" sz="2000" dirty="0"/>
              <a:t>加速向量数据库搜索的期刊修改工作，思考创新点和方案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 </a:t>
            </a:r>
            <a:r>
              <a:rPr lang="en-US" altLang="zh-CN" sz="2000" dirty="0"/>
              <a:t>2</a:t>
            </a:r>
            <a:r>
              <a:rPr lang="zh-CN" altLang="en-US" sz="2000" dirty="0"/>
              <a:t>、继续探索</a:t>
            </a:r>
            <a:r>
              <a:rPr lang="en-US" altLang="zh-CN" sz="2000" dirty="0" err="1"/>
              <a:t>MoE</a:t>
            </a:r>
            <a:r>
              <a:rPr lang="zh-CN" altLang="en-US" sz="2000" dirty="0"/>
              <a:t>卸载工作的优化</a:t>
            </a:r>
            <a:endParaRPr lang="en-US" altLang="zh-CN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 </a:t>
            </a:r>
            <a:r>
              <a:rPr lang="en-US" altLang="zh-CN" sz="2000" dirty="0"/>
              <a:t>3</a:t>
            </a:r>
            <a:r>
              <a:rPr lang="zh-CN" altLang="en-US" sz="2000" dirty="0"/>
              <a:t>、继续推进</a:t>
            </a:r>
            <a:r>
              <a:rPr lang="en-US" altLang="zh-CN" sz="2000" dirty="0"/>
              <a:t>PIM</a:t>
            </a:r>
            <a:r>
              <a:rPr lang="zh-CN" altLang="en-US" sz="2000" dirty="0"/>
              <a:t>加速端侧大模型推理和稀疏值激活工作，思考创新点和方案</a:t>
            </a:r>
            <a:endParaRPr lang="en-US" altLang="zh-CN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/>
              <a:t> 4</a:t>
            </a:r>
            <a:r>
              <a:rPr lang="zh-CN" altLang="en-US" sz="2000" dirty="0"/>
              <a:t>、继续推进期刊修改的实验工作</a:t>
            </a:r>
            <a:endParaRPr lang="en-US" altLang="zh-CN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62051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UCSD Colors">
      <a:dk1>
        <a:srgbClr val="162A46"/>
      </a:dk1>
      <a:lt1>
        <a:srgbClr val="FFFFFF"/>
      </a:lt1>
      <a:dk2>
        <a:srgbClr val="01639C"/>
      </a:dk2>
      <a:lt2>
        <a:srgbClr val="FFFFFF"/>
      </a:lt2>
      <a:accent1>
        <a:srgbClr val="23B8D1"/>
      </a:accent1>
      <a:accent2>
        <a:srgbClr val="73953E"/>
      </a:accent2>
      <a:accent3>
        <a:srgbClr val="FEE70C"/>
      </a:accent3>
      <a:accent4>
        <a:srgbClr val="EE8F00"/>
      </a:accent4>
      <a:accent5>
        <a:srgbClr val="B3ACA3"/>
      </a:accent5>
      <a:accent6>
        <a:srgbClr val="C79100"/>
      </a:accent6>
      <a:hlink>
        <a:srgbClr val="0329D7"/>
      </a:hlink>
      <a:folHlink>
        <a:srgbClr val="0229D7"/>
      </a:folHlink>
    </a:clrScheme>
    <a:fontScheme name="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F5A96"/>
        </a:solidFill>
        <a:ln w="19050">
          <a:noFill/>
        </a:ln>
      </a:spPr>
      <a:bodyPr rtlCol="0" anchor="ctr"/>
      <a:lstStyle>
        <a:defPPr algn="ctr">
          <a:defRPr sz="16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0" cap="rnd">
          <a:solidFill>
            <a:schemeClr val="tx1">
              <a:lumMod val="75000"/>
              <a:lumOff val="25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VSL Theme 2017" id="{DE8EA867-0853-494F-A09B-B10C013CFBD5}" vid="{D842794D-E2C9-9E4F-BE0C-DC063DA5B8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>
  <documentManagement>
    <EmailTo xmlns="http://schemas.microsoft.com/sharepoint/v3">docs@archpoint.sctechies.com &amp;lt;docs@archpoint.sctechies.com&amp;gt;</EmailTo>
    <EmailSender xmlns="http://schemas.microsoft.com/sharepoint/v3">&lt;a href="mailto:acaulfie@cs.ucsd.edu"&gt;acaulfie@cs.ucsd.edu&lt;/a&gt;</EmailSender>
    <EmailFrom xmlns="http://schemas.microsoft.com/sharepoint/v3">Adrian Caulfield &lt;acaulfie@cs.ucsd.edu&gt;</EmailFrom>
    <EmailSubject xmlns="http://schemas.microsoft.com/sharepoint/v3">NVSL Slides Template</EmailSubject>
    <EmailCc xmlns="http://schemas.microsoft.com/sharepoint/v3" xsi:nil="true"/>
    <PublishingExpirationDate xmlns="http://schemas.microsoft.com/sharepoint/v3" xsi:nil="true"/>
    <PublishingStartDate xmlns="http://schemas.microsoft.com/sharepoint/v3" xsi:nil="true"/>
    <_dlc_DocId xmlns="38f6e7a2-40cf-4302-a1d0-9363e537b5a7">N65K4UY2P6DZ-8-1712</_dlc_DocId>
    <_dlc_DocIdUrl xmlns="38f6e7a2-40cf-4302-a1d0-9363e537b5a7">
      <Url>http://bit.ucsd.edu/Docs/_layouts/DocIdRedir.aspx?ID=N65K4UY2P6DZ-8-1712</Url>
      <Description>N65K4UY2P6DZ-8-1712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DBABC677EAC4EB89D0E5813CE1C97" ma:contentTypeVersion="6" ma:contentTypeDescription="Create a new document." ma:contentTypeScope="" ma:versionID="358351ca2fb9834b45991cd07a49fd66">
  <xsd:schema xmlns:xsd="http://www.w3.org/2001/XMLSchema" xmlns:xs="http://www.w3.org/2001/XMLSchema" xmlns:p="http://schemas.microsoft.com/office/2006/metadata/properties" xmlns:ns1="http://schemas.microsoft.com/sharepoint/v3" xmlns:ns2="38f6e7a2-40cf-4302-a1d0-9363e537b5a7" targetNamespace="http://schemas.microsoft.com/office/2006/metadata/properties" ma:root="true" ma:fieldsID="4bd887af3a8eb19969b1c3516fc1fc7f" ns1:_="" ns2:_="">
    <xsd:import namespace="http://schemas.microsoft.com/sharepoint/v3"/>
    <xsd:import namespace="38f6e7a2-40cf-4302-a1d0-9363e537b5a7"/>
    <xsd:element name="properties">
      <xsd:complexType>
        <xsd:sequence>
          <xsd:element name="documentManagement">
            <xsd:complexType>
              <xsd:all>
                <xsd:element ref="ns1:EmailSender" minOccurs="0"/>
                <xsd:element ref="ns1:EmailTo" minOccurs="0"/>
                <xsd:element ref="ns1:EmailCc" minOccurs="0"/>
                <xsd:element ref="ns1:EmailFrom" minOccurs="0"/>
                <xsd:element ref="ns1:EmailSubject" minOccurs="0"/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EmailSender" ma:index="8" nillable="true" ma:displayName="E-Mail Sender" ma:hidden="true" ma:internalName="EmailSender">
      <xsd:simpleType>
        <xsd:restriction base="dms:Note">
          <xsd:maxLength value="255"/>
        </xsd:restriction>
      </xsd:simpleType>
    </xsd:element>
    <xsd:element name="EmailTo" ma:index="9" nillable="true" ma:displayName="E-Mail To" ma:hidden="true" ma:internalName="EmailTo">
      <xsd:simpleType>
        <xsd:restriction base="dms:Note">
          <xsd:maxLength value="255"/>
        </xsd:restriction>
      </xsd:simpleType>
    </xsd:element>
    <xsd:element name="EmailCc" ma:index="10" nillable="true" ma:displayName="E-Mail Cc" ma:hidden="true" ma:internalName="EmailCc">
      <xsd:simpleType>
        <xsd:restriction base="dms:Note">
          <xsd:maxLength value="255"/>
        </xsd:restriction>
      </xsd:simpleType>
    </xsd:element>
    <xsd:element name="EmailFrom" ma:index="11" nillable="true" ma:displayName="E-Mail From" ma:hidden="true" ma:internalName="EmailFrom">
      <xsd:simpleType>
        <xsd:restriction base="dms:Text"/>
      </xsd:simpleType>
    </xsd:element>
    <xsd:element name="EmailSubject" ma:index="12" nillable="true" ma:displayName="E-Mail Subject" ma:hidden="true" ma:internalName="EmailSubject">
      <xsd:simpleType>
        <xsd:restriction base="dms:Text"/>
      </xsd:simpleType>
    </xsd:element>
    <xsd:element name="PublishingStartDate" ma:index="13" nillable="true" ma:displayName="Scheduling Start Date" ma:internalName="PublishingStartDate">
      <xsd:simpleType>
        <xsd:restriction base="dms:Unknown"/>
      </xsd:simpleType>
    </xsd:element>
    <xsd:element name="PublishingExpirationDate" ma:index="14" nillable="true" ma:displayName="Scheduling End Dat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f6e7a2-40cf-4302-a1d0-9363e537b5a7" elementFormDefault="qualified">
    <xsd:import namespace="http://schemas.microsoft.com/office/2006/documentManagement/types"/>
    <xsd:import namespace="http://schemas.microsoft.com/office/infopath/2007/PartnerControls"/>
    <xsd:element name="_dlc_DocId" ma:index="15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6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7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4E55384-0535-4827-BEC9-C0AA0AB52BCA}">
  <ds:schemaRefs>
    <ds:schemaRef ds:uri="http://schemas.microsoft.com/office/2006/metadata/properties"/>
    <ds:schemaRef ds:uri="http://schemas.microsoft.com/sharepoint/v3"/>
    <ds:schemaRef ds:uri="38f6e7a2-40cf-4302-a1d0-9363e537b5a7"/>
  </ds:schemaRefs>
</ds:datastoreItem>
</file>

<file path=customXml/itemProps2.xml><?xml version="1.0" encoding="utf-8"?>
<ds:datastoreItem xmlns:ds="http://schemas.openxmlformats.org/officeDocument/2006/customXml" ds:itemID="{D0700612-5548-4C5F-B85B-1C0CBC7D8F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8f6e7a2-40cf-4302-a1d0-9363e537b5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B7DEAC-7366-45DE-8D92-51FE4698563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BF90320-62F0-4599-85DC-D14AF5AC78B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16392</TotalTime>
  <Words>274</Words>
  <Application>Microsoft Office PowerPoint</Application>
  <PresentationFormat>宽屏</PresentationFormat>
  <Paragraphs>26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Myriad Pro</vt:lpstr>
      <vt:lpstr>黑体</vt:lpstr>
      <vt:lpstr>微软雅黑</vt:lpstr>
      <vt:lpstr>Arial</vt:lpstr>
      <vt:lpstr>Calibri</vt:lpstr>
      <vt:lpstr>Office 主题​​</vt:lpstr>
      <vt:lpstr>朱龙浩月度汇报</vt:lpstr>
      <vt:lpstr>上月总结</vt:lpstr>
      <vt:lpstr>关键进展</vt:lpstr>
      <vt:lpstr>下月目标</vt:lpstr>
    </vt:vector>
  </TitlesOfParts>
  <Company>Shanghai Jiao 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NVSL Powerpoint Template</dc:title>
  <dc:creator>Zheng, Shengan</dc:creator>
  <cp:lastModifiedBy>龙浩 朱</cp:lastModifiedBy>
  <cp:revision>770</cp:revision>
  <cp:lastPrinted>2017-05-11T20:43:55Z</cp:lastPrinted>
  <dcterms:created xsi:type="dcterms:W3CDTF">2017-10-16T21:31:54Z</dcterms:created>
  <dcterms:modified xsi:type="dcterms:W3CDTF">2026-10-11T10:37:08Z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0x0101002F3DBABC677EAC4EB89D0E5813CE1C97</vt:lpwstr>
  </property>
  <property fmtid="{D5CDD505-2E9C-101B-9397-08002B2CF9AE}" pid="3" name="_dlc_DocIdItemGuid">
    <vt:lpwstr>672fea0e-6365-4b73-84cc-a1c7a9616c94</vt:lpwstr>
  </property>
</Properties>
</file>